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7" r:id="rId9"/>
    <p:sldId id="263" r:id="rId10"/>
    <p:sldId id="264" r:id="rId11"/>
    <p:sldId id="265" r:id="rId12"/>
    <p:sldId id="266" r:id="rId13"/>
    <p:sldId id="269" r:id="rId14"/>
    <p:sldId id="272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82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4DDC-486E-7421-82BF-8DA8F459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C3DC3-7E19-623D-531E-51A8938E8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05207-7F6A-6249-EE04-30E737CDB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11F7F-B0A1-1B0C-30D3-74D641462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44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18EC2-307D-4B02-87B1-A2A1A096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64A77-C86C-A51A-9BA5-A8ABDD365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23E70-3492-EEB1-F97D-93B167694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072E7-BDB7-4B24-512B-9FB476EA1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41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E8F60-D55D-A993-3D32-2D9110E3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80731-0E5C-4E24-D917-B5262B368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8D7AE-F0D6-4EDF-E165-64C3AADB7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B9A4-FFCB-55AC-0262-B1D353012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8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RNGD · furiosa-llm 2026.2.0 · 2026.05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338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4000" kern="0" spc="-8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 RNGD 모델 준비</a:t>
            </a:r>
            <a:endParaRPr lang="en-US" sz="40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4000" kern="0" spc="-8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SDK 내부 구조와 빌드 에러 분석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furiosa-llm build 의 내부 동작(검증·preset·버킷·컴파일)을 SDK 소스로 직접 확인하고,</a:t>
            </a:r>
            <a:endParaRPr lang="en-US" sz="15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모델을 NPU 아티팩트로 준비하며 실제로 마주친 빌드 에러를 정리합니다.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SDK 소스 직접 분석 (artifact/builder.py · validator.py · resolver.py · presets.py · parallelize/block_slicer.py) + 실측 빌드 로그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4807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전체 흐름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artifact/builder.py:116(__init__) · :315(build)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23567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build 한 줄이 하는 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250545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준비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296265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__init__ 단계 (수 초)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3073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Validate — 설정·HF config·버킷이 규칙에 맞는지 검사</a:t>
            </a:r>
            <a:endParaRPr lang="en-US" sz="11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Resolve — 안 준 값(max_model_len·버킷)을 config·preset에서 채움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738" y="228600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307738" y="25146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63770" y="250545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빌드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63770" y="296265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build 단계 (수 시간, 메모리 위험)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3770" y="3520440"/>
            <a:ext cx="3073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Tracing — 버킷마다 FX 그래프 생성 (weight+IR 메모리 ★)</a:t>
            </a:r>
            <a:endParaRPr lang="en-US" sz="11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④ Compile — supertask마다 NPU 컴파일러로 EDF 바이너리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228600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58277" y="25146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4309" y="250545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저장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4309" y="296265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결과물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4309" y="3520440"/>
            <a:ext cx="3073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artifact.json (메타·parallel_config)</a:t>
            </a:r>
            <a:endParaRPr lang="en-US" sz="11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binary_bundle.zip (EDF) · config · tokenizer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① 검증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artifact/validator.py:234-267 · device.py:6 (NUM_PES_PER_NPU=8)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tp / pp 규칙 — 입구에서 막는다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validate_parallel_config 가 비싼 빌드 전에 잘못된 병렬 설정을 즉시 거부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검증 규칙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tensor parallel(tp) ∈ {4, 8, 32} — 그 외 값은 거부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pipeline parallel(pp) ≥ 1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필요 디바이스 = ceil(tp/8) × pp ≤ 8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1장 = 8 PE (NUM_PES_PER_NPU)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tp</a:t>
            </a: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=4 → 1장 </a:t>
            </a:r>
            <a:r>
              <a:rPr lang="en-US" sz="1250" dirty="0" err="1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안</a:t>
            </a: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PE 4개만 / </a:t>
            </a:r>
            <a:r>
              <a:rPr lang="en-US" sz="1250" dirty="0" err="1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tp</a:t>
            </a: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=8 → 1장 </a:t>
            </a:r>
            <a:r>
              <a:rPr lang="en-US" sz="1250" dirty="0" err="1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풀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77440"/>
          <a:ext cx="5239512" cy="2011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pp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카드 수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비고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4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PE 4개만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1장 풀 PE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456F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4~8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4장에 분산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17920" y="452628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prebuilt 32B·70B 아티팩트가 tp=32 — 그래서 RNGD 4장(32 PE)이 있어야 </a:t>
            </a:r>
            <a:r>
              <a:rPr lang="en-US" sz="1150" dirty="0" err="1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서빙됨</a:t>
            </a: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b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</a:b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(2장에선 "Required PEs: 32" 거부)</a:t>
            </a:r>
            <a:endParaRPr lang="en-US" sz="115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7689DB6-4356-B9CF-3725-A0C758A3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720"/>
          <a:stretch>
            <a:fillRect/>
          </a:stretch>
        </p:blipFill>
        <p:spPr>
          <a:xfrm>
            <a:off x="5637107" y="196773"/>
            <a:ext cx="6401137" cy="6673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② 채움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artifact/resolver.py:34-122 · presets.py:372 find_preset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버킷 자동 선택 — find_preset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버킷을 직접 안 주면 모델에 맞는 preset을 SDK가 골라줌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77295" cy="1554480"/>
          </a:xfrm>
          <a:prstGeom prst="roundRect">
            <a:avLst>
              <a:gd name="adj" fmla="val 7059"/>
            </a:avLst>
          </a:prstGeom>
          <a:solidFill>
            <a:srgbClr val="F0F0F0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2단계 매칭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1단계  </a:t>
            </a:r>
            <a:r>
              <a:rPr lang="en-US" sz="13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model_type 으로 후보 필터 (llama·qwen2·qwen3·qwen3_moe·exaone4 …)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2단계  </a:t>
            </a:r>
            <a:r>
              <a:rPr lang="en-US" sz="13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(hidden_size, intermediate_size)로 layer당 파라미터 수 계산 → log-distance가 가장 가까운 preset 선택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크기가 정확히 같지 않아도 됨 — 가장 가까운 항목이 잡힘 (같은 architecture의 fine-tune 모델은 대체로 자동 매칭)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예: qwen3_moe(2048,6144)=Qwen3-Coder-30B vs (6144,8192)=Qwen3-Coder-480B → per-layer 0.042B vs 0.252B, log-distance로 명확히 구분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preset이 아예 없는 model_type(mistral·phi3·gpt_oss 등)은 -pb/-db로 버킷을 직접 줘야 빌드 가능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E421EB-CDFA-0160-4197-3118C476A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7384"/>
            <a:ext cx="5823062" cy="17664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16027BE-6221-F32E-FF34-8CE5B8566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09" y="1785747"/>
            <a:ext cx="4165600" cy="15621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D271B6-AD3B-73D3-D258-C3DD3F6C93D1}"/>
              </a:ext>
            </a:extLst>
          </p:cNvPr>
          <p:cNvSpPr/>
          <p:nvPr/>
        </p:nvSpPr>
        <p:spPr>
          <a:xfrm>
            <a:off x="9324870" y="2240280"/>
            <a:ext cx="733530" cy="2416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333E24E-F84C-CA9F-AD91-8AF57C223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590" y="1965960"/>
            <a:ext cx="21590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PRESET 함정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presets.py:393 min(candidates) · PRESET_REFS 등록 순서 (실측 확인)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함정 — (h,i)가 같으면 "등록 순서"가 결정한다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log-distance가 동점일 때 min()은 먼저 등록된 항목을 고름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760720" cy="2743200"/>
          </a:xfrm>
          <a:prstGeom prst="roundRect">
            <a:avLst>
              <a:gd name="adj" fmla="val 3333"/>
            </a:avLst>
          </a:prstGeom>
          <a:solidFill>
            <a:srgbClr val="181E2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23591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PRESET_REFS — qwen3_moe (2048, 6144) 3개 중복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670048"/>
            <a:ext cx="53035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먼저 등록된 일반 preset (decode 8192)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QWEN_3_30B_A3B_PRESET        ← 먼저 → 선택됨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QWEN_3_CODER_30B_A3B_PRESET  (decode 256K)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QWEN_3_CODER_30B_A3B_PRESET  (중복)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Qwen3-Coder가 8192 preset에 매칭됨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333695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0" y="242316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7512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증상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48764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Qwen3-Coder-30B(256K 모델)이 컨텍스트 8192로만 빌드됨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preset의 (h,i)가 완전히 동일 → log-distance=0 동점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해결: 일반 entry 제거 → Coder preset(256K)로 통일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1BC5EA4-CBD1-7252-AD9A-CAB8DE18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23" y="0"/>
            <a:ext cx="6308160" cy="6858000"/>
          </a:xfrm>
          <a:prstGeom prst="rect">
            <a:avLst/>
          </a:prstGeom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0639D408-917B-60F8-2CF6-8644BFC0912D}"/>
              </a:ext>
            </a:extLst>
          </p:cNvPr>
          <p:cNvSpPr/>
          <p:nvPr/>
        </p:nvSpPr>
        <p:spPr>
          <a:xfrm>
            <a:off x="6999246" y="1898576"/>
            <a:ext cx="5303520" cy="92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 err="1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ForCausalLM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은 </a:t>
            </a:r>
            <a:r>
              <a:rPr lang="en-US" sz="1400" dirty="0" err="1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HuggingFace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Transformers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의 명명 규칙</a:t>
            </a:r>
            <a:endParaRPr lang="en-US" altLang="ko-KR" sz="1400" dirty="0">
              <a:latin typeface="Paperlogy 4 Regular" pitchFamily="34" charset="0"/>
              <a:ea typeface="Paperlogy 4 Regular" pitchFamily="34" charset="-122"/>
              <a:cs typeface="Paperlogy 4 Regular" pitchFamily="34" charset="-120"/>
            </a:endParaRPr>
          </a:p>
          <a:p>
            <a:pPr marL="0" indent="0">
              <a:lnSpc>
                <a:spcPct val="132000"/>
              </a:lnSpc>
              <a:buNone/>
            </a:pPr>
            <a:r>
              <a:rPr lang="en-US" altLang="ko-KR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  <a:sym typeface="Wingdings" pitchFamily="2" charset="2"/>
              </a:rPr>
              <a:t> </a:t>
            </a:r>
            <a:r>
              <a:rPr lang="en-US" altLang="ko-KR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Causal Language Modeling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용으로 </a:t>
            </a:r>
            <a:br>
              <a:rPr lang="en-US" altLang="ko-KR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</a:br>
            <a:r>
              <a:rPr lang="en-US" altLang="ko-KR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 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wrapping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된 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model class"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라는 뜻</a:t>
            </a:r>
          </a:p>
          <a:p>
            <a:pPr marL="0" indent="0">
              <a:lnSpc>
                <a:spcPct val="132000"/>
              </a:lnSpc>
              <a:buNone/>
            </a:pPr>
            <a:endParaRPr lang="ko-KR" altLang="en-US" sz="1400" dirty="0">
              <a:latin typeface="Paperlogy 4 Regular" pitchFamily="34" charset="0"/>
              <a:ea typeface="Paperlogy 4 Regular" pitchFamily="34" charset="-122"/>
              <a:cs typeface="Paperlogy 4 Regular" pitchFamily="34" charset="-12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D76416F-7744-DAC4-4FC5-79DE3A7EDCE0}"/>
              </a:ext>
            </a:extLst>
          </p:cNvPr>
          <p:cNvSpPr/>
          <p:nvPr/>
        </p:nvSpPr>
        <p:spPr>
          <a:xfrm>
            <a:off x="6999246" y="3185219"/>
            <a:ext cx="4556358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각 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architecture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마다 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task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별 </a:t>
            </a:r>
            <a:r>
              <a:rPr 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wrapper class</a:t>
            </a:r>
            <a:r>
              <a:rPr lang="ko-KR" altLang="en-US" sz="1400" dirty="0"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 따로 있음</a:t>
            </a:r>
            <a:endParaRPr lang="en-US" sz="1400" dirty="0" err="1">
              <a:latin typeface="Paperlogy 4 Regular" pitchFamily="34" charset="0"/>
              <a:ea typeface="Paperlogy 4 Regular" pitchFamily="34" charset="-122"/>
              <a:cs typeface="Paperlogy 4 Regular" pitchFamily="34" charset="-12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EEE62E-7E66-075B-20CF-488EB0DAB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246" y="3555894"/>
            <a:ext cx="4568383" cy="2331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29A7CD0-0404-1B27-4DCE-42A5E9E15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25" y="236182"/>
            <a:ext cx="2311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1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C54B68E-AC03-9927-5B9A-E65D410AA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667" y="353064"/>
            <a:ext cx="8296294" cy="61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1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정리 · 매트릭스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본 캠페인 실측 빌드 결과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빌드 성공 · 실패 매트릭스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모델도 dtype·tp 조합에 따라 결과가 갈림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7295" cy="336499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8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모델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dtype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결과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원인 / 비고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Qwen2.5-Coder-1.5B/7B/14B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1장 적재 (max 32K)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Qwen3-32B-FP8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1장 적재 (max 40960)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Qwen3-Coder-30B-A3B-FP8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MoE, 1장 적재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 / Qwen2.5-Coder-32B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embedding_table (에러①)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Qwen3-Coder-30B-A3B-FP8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reshape mapping (에러②)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EXAONE-4.0-32B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OOM + 디스크 풀 (에러③④)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CodeLlama-70B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vocab 패딩 mismatch (에러④)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실측 빌드 로그 (Qwen3-32B · Qwen2.5-Coder-32B, BF16 tp=32)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① — BF16 32B를 tp=32로 빌드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Tracing은 통과하지만 Compile 진입 직후 컴파일러가 거부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77295" cy="1371600"/>
          </a:xfrm>
          <a:prstGeom prst="roundRect">
            <a:avLst>
              <a:gd name="adj" fmla="val 6667"/>
            </a:avLst>
          </a:prstGeom>
          <a:solidFill>
            <a:srgbClr val="181E2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2404872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Compile 단계 에러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715768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RuntimeError: Compilation error: fail to compile: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Graph input#0 must have Broadcast or Fixed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DramShapeGuide (Name: embedding_table)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11277295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32B dense 모델의 BF16 임베딩을 tp=32로 분할할 때 컴파일러가 DRAM shape guide를 만들지 못함 — SDK 한계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재현: Qwen3-32B(BF16,tp32) · Qwen2.5-Coder-32B(BF16,tp32) 둘 다 동일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A34A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회피: 같은 모델의 FP8 변종 사용 — 양자화 메타가 임베딩에 함께 들어가 컴파일 가능 (FP8 빌드는 성공)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실측 빌드 로그 (Qwen3-Coder-30B-A3B-FP8, tp=32) + config.json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② — FP8을 tp=32로 분할 (block 정렬 깨짐)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FP8 양자화 블록(128×128)이 tp 분할 후 차원과 안 맞음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81E2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24048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Compile stage_2 에러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71576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RuntimeError: Compilation error: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impossible to apply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reshape mapping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240280"/>
            <a:ext cx="5333695" cy="13716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4876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hidden 2048 ÷ tp 32 = 64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&lt; FP8 block_size 128 → 정렬 불가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11277296" cy="1828800"/>
        </p:xfrm>
        <a:graphic>
          <a:graphicData uri="http://schemas.openxmlformats.org/drawingml/2006/table">
            <a:tbl>
              <a:tblPr/>
              <a:tblGrid>
                <a:gridCol w="2819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hidden ÷ tp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block(128) 정렬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결과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256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≥ 128 OK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16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128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= 128 경계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이론상 가능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64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&lt; 128 깨짐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56235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hidden이 작은 MoE 모델(Qwen3-Coder-30B, hidden 2048)은 tp=32에서 FP8 블록 정렬이 깨짐 — tp=8로는 정상 빌드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journalctl (커널 OOM killer) + free/swapon 실측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③ — OOM, swap이 있어도 못 막는다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Tracing의 working set이 RAM을 넘으면 커널 OOM killer가 발동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77295" cy="1097280"/>
          </a:xfrm>
          <a:prstGeom prst="roundRect">
            <a:avLst>
              <a:gd name="adj" fmla="val 8333"/>
            </a:avLst>
          </a:prstGeom>
          <a:solidFill>
            <a:srgbClr val="181E2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2359152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journalctl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67004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tmux-spawn-...scope: A process of this unit has been</a:t>
            </a:r>
            <a:endParaRPr lang="en-US" sz="11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killed by the OOM killer.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45576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swap이 안 통하나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Tracing 메모리는 계속 쓰이는 active working set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active 페이지는 swap으로 못 빠짐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실측: swap 207GB 중 1.5GB만 쓰고 OOM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520440"/>
            <a:ext cx="545576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53048" y="370332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진짜 해결책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3048" y="416052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--max-model-len 축소 → working set 자체를 줄임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FP8로 weight 절반 (60GB→30GB)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systemd-oomd 꺼도 커널 OOM은 별개 (못 끔)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실측 로그 (EXAONE 빌드) · vocab_embedding.py:20 pad_vocab_size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④ — 그 외 자주 막히는 것들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컴파일 이전 단계에서 빌드를 멈추는 환경·모델 제약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225709" y="228600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25709" y="248716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481741" y="24688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디스크 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81741" y="2852928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 space left on device → 빌드가 import 단계에서 즉시 종료(임시 디렉토리 못 만듦). 앞 모델 다운로드가 디스크를 채운 게 원인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56870" y="393192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56870" y="413308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212902" y="41148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pp 미지원 architecture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12902" y="4498848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-pp는 block_slicer.py에 등록된 4종(Llama·GPTJ·Bert·Roberta)만 가능. 그 외는 NotImplementedError → dp로 우회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31B1E-05B2-7F1D-00F8-235BE843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6945F3-702A-89A0-1029-70969549F801}"/>
              </a:ext>
            </a:extLst>
          </p:cNvPr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</a:rPr>
              <a:t>모델 리스트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393F-F7D6-0CA8-19CB-7F4259759313}"/>
              </a:ext>
            </a:extLst>
          </p:cNvPr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리스트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E5815-8641-CA21-BB65-2A7425B5CBFF}"/>
              </a:ext>
            </a:extLst>
          </p:cNvPr>
          <p:cNvSpPr/>
          <p:nvPr/>
        </p:nvSpPr>
        <p:spPr>
          <a:xfrm>
            <a:off x="457200" y="21945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F9E017-6888-C31F-BF7F-55BB97C2C415}"/>
              </a:ext>
            </a:extLst>
          </p:cNvPr>
          <p:cNvSpPr/>
          <p:nvPr/>
        </p:nvSpPr>
        <p:spPr>
          <a:xfrm>
            <a:off x="457200" y="23957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1848B4-505E-23F5-F2A9-4C73EA8D82BB}"/>
              </a:ext>
            </a:extLst>
          </p:cNvPr>
          <p:cNvSpPr/>
          <p:nvPr/>
        </p:nvSpPr>
        <p:spPr>
          <a:xfrm>
            <a:off x="713232" y="23774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</a:rPr>
              <a:t>Qwen2.5-Coder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172F75-6E17-46A6-34C0-E3A300CB9112}"/>
              </a:ext>
            </a:extLst>
          </p:cNvPr>
          <p:cNvSpPr/>
          <p:nvPr/>
        </p:nvSpPr>
        <p:spPr>
          <a:xfrm>
            <a:off x="713231" y="2779776"/>
            <a:ext cx="33262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qwen2.5-coder-1.5b-tp8 (3GB)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qwen2.5-coder-7b-tp8 (15GB)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qwen2.5-coder-14b-tp8 (28GB) #default 32k </a:t>
            </a:r>
            <a:endParaRPr lang="en-US" sz="10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F8319A2-E427-838F-DE73-1291AAE28679}"/>
              </a:ext>
            </a:extLst>
          </p:cNvPr>
          <p:cNvSpPr/>
          <p:nvPr/>
        </p:nvSpPr>
        <p:spPr>
          <a:xfrm>
            <a:off x="6233008" y="21945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7BFAC5-D4E2-1843-BB3A-E82F76CBD997}"/>
              </a:ext>
            </a:extLst>
          </p:cNvPr>
          <p:cNvSpPr/>
          <p:nvPr/>
        </p:nvSpPr>
        <p:spPr>
          <a:xfrm>
            <a:off x="6233008" y="23957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CA633D-EF76-841D-3427-67A708288DB7}"/>
              </a:ext>
            </a:extLst>
          </p:cNvPr>
          <p:cNvSpPr/>
          <p:nvPr/>
        </p:nvSpPr>
        <p:spPr>
          <a:xfrm>
            <a:off x="6489040" y="23774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D75053D-6994-11D3-68C0-4636130CBF4D}"/>
              </a:ext>
            </a:extLst>
          </p:cNvPr>
          <p:cNvSpPr/>
          <p:nvPr/>
        </p:nvSpPr>
        <p:spPr>
          <a:xfrm>
            <a:off x="457200" y="3794759"/>
            <a:ext cx="5501488" cy="17720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F304396-C9D1-053F-CB6C-5ECA7EA12A21}"/>
              </a:ext>
            </a:extLst>
          </p:cNvPr>
          <p:cNvSpPr/>
          <p:nvPr/>
        </p:nvSpPr>
        <p:spPr>
          <a:xfrm>
            <a:off x="457200" y="39959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D86F67-C116-A920-6B60-91D40B8D1FEB}"/>
              </a:ext>
            </a:extLst>
          </p:cNvPr>
          <p:cNvSpPr/>
          <p:nvPr/>
        </p:nvSpPr>
        <p:spPr>
          <a:xfrm>
            <a:off x="713232" y="39776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</a:rPr>
              <a:t>Qwen3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31087E-E641-1897-3B99-45D173E6E6DF}"/>
              </a:ext>
            </a:extLst>
          </p:cNvPr>
          <p:cNvSpPr/>
          <p:nvPr/>
        </p:nvSpPr>
        <p:spPr>
          <a:xfrm>
            <a:off x="713232" y="4379975"/>
            <a:ext cx="4998568" cy="108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2">
                    <a:lumMod val="2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qwen3-32b-fp8-tp8 (33GB) #default 40k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qwen3-32b-tp32(61GB)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2"/>
                </a:solidFill>
                <a:latin typeface="Paperlogy 4 Regular" pitchFamily="2" charset="-127"/>
                <a:ea typeface="Paperlogy 4 Regular" pitchFamily="2" charset="-127"/>
              </a:rPr>
              <a:t>qwen3-Coder-30b-a3b-Instruct-fp8-tp8(32GB) #default 262k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FF0000"/>
                </a:solidFill>
                <a:latin typeface="Paperlogy 4 Regular" pitchFamily="2" charset="-127"/>
                <a:ea typeface="Paperlogy 4 Regular" pitchFamily="2" charset="-127"/>
              </a:rPr>
              <a:t>qwen3-Coder-30b-a3b-Instruct-fp8-tp8(32GB)</a:t>
            </a:r>
            <a:endParaRPr lang="en-US" sz="1050" dirty="0">
              <a:solidFill>
                <a:srgbClr val="FF0000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2"/>
                </a:solidFill>
                <a:latin typeface="Paperlogy 4 Regular" pitchFamily="2" charset="-127"/>
                <a:ea typeface="Paperlogy 4 Regular" pitchFamily="2" charset="-127"/>
              </a:rPr>
              <a:t>qwen3-Coder-30b-a3b-instruct-tp32-</a:t>
            </a:r>
            <a:r>
              <a:rPr lang="en-US" altLang="ko-KR" sz="1050" dirty="0">
                <a:solidFill>
                  <a:schemeClr val="accent2"/>
                </a:solidFill>
                <a:latin typeface="Paperlogy 4 Regular" pitchFamily="2" charset="-127"/>
                <a:ea typeface="Paperlogy 4 Regular" pitchFamily="2" charset="-127"/>
              </a:rPr>
              <a:t>16k</a:t>
            </a:r>
            <a:r>
              <a:rPr lang="en-US" sz="1050" dirty="0">
                <a:solidFill>
                  <a:schemeClr val="accent2"/>
                </a:solidFill>
                <a:latin typeface="Paperlogy 4 Regular" pitchFamily="2" charset="-127"/>
                <a:ea typeface="Paperlogy 4 Regular" pitchFamily="2" charset="-127"/>
              </a:rPr>
              <a:t>(56.9GB) </a:t>
            </a:r>
            <a:r>
              <a:rPr lang="en-US" altLang="ko-KR" sz="1050" dirty="0">
                <a:solidFill>
                  <a:schemeClr val="accent2"/>
                </a:solidFill>
                <a:latin typeface="Paperlogy 4 Regular" pitchFamily="2" charset="-127"/>
                <a:ea typeface="Paperlogy 4 Regular" pitchFamily="2" charset="-127"/>
              </a:rPr>
              <a:t>#default 262k</a:t>
            </a:r>
            <a:endParaRPr lang="en-US" sz="1050" dirty="0">
              <a:solidFill>
                <a:schemeClr val="accent2"/>
              </a:solidFill>
              <a:latin typeface="Paperlogy 4 Regular" pitchFamily="2" charset="-127"/>
              <a:ea typeface="Paperlogy 4 Regular" pitchFamily="2" charset="-127"/>
            </a:endParaRP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bg2">
                  <a:lumMod val="2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E39C125-A8FD-B077-5E1E-5773E6E97354}"/>
              </a:ext>
            </a:extLst>
          </p:cNvPr>
          <p:cNvSpPr/>
          <p:nvPr/>
        </p:nvSpPr>
        <p:spPr>
          <a:xfrm>
            <a:off x="6233008" y="37947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DFBA26C-A453-C3D6-21DE-CED078A8C319}"/>
              </a:ext>
            </a:extLst>
          </p:cNvPr>
          <p:cNvSpPr/>
          <p:nvPr/>
        </p:nvSpPr>
        <p:spPr>
          <a:xfrm>
            <a:off x="6233008" y="39959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5945C0-9D99-C5F9-AA65-9941EA3DA5D6}"/>
              </a:ext>
            </a:extLst>
          </p:cNvPr>
          <p:cNvSpPr/>
          <p:nvPr/>
        </p:nvSpPr>
        <p:spPr>
          <a:xfrm>
            <a:off x="6489040" y="39776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</a:rPr>
              <a:t>EXAONE-4.0</a:t>
            </a: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943DB93-9667-8441-F65D-266FF78DFCBB}"/>
              </a:ext>
            </a:extLst>
          </p:cNvPr>
          <p:cNvSpPr/>
          <p:nvPr/>
        </p:nvSpPr>
        <p:spPr>
          <a:xfrm>
            <a:off x="3182722" y="2789824"/>
            <a:ext cx="25290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qwen2.5-Coder-32b-tp32(61GB)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9AF2D7FF-31D8-4A20-1DB3-49620BA2A98D}"/>
              </a:ext>
            </a:extLst>
          </p:cNvPr>
          <p:cNvSpPr/>
          <p:nvPr/>
        </p:nvSpPr>
        <p:spPr>
          <a:xfrm>
            <a:off x="6492728" y="2781453"/>
            <a:ext cx="476142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Llama-3.1-8b-instruct-tp8(16GB)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Llama-3.3-70b-instruct-tp32(131.4GB) #default 131k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Llama-3.3-70b-instruct-fp8-tp32 (68GB)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C0B30D77-F628-4054-467A-636AF5354758}"/>
              </a:ext>
            </a:extLst>
          </p:cNvPr>
          <p:cNvSpPr/>
          <p:nvPr/>
        </p:nvSpPr>
        <p:spPr>
          <a:xfrm>
            <a:off x="6494404" y="4360716"/>
            <a:ext cx="36745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0000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EXAONE-4-32b-tp32(59.6GB) 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2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EXAONE-4-32b-fp8-tp8(33.1GB)</a:t>
            </a:r>
          </a:p>
          <a:p>
            <a:pPr marL="171450" indent="-17145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EXAONE-4-32b-fp8-tp32(33.1GB) #default 131k</a:t>
            </a:r>
          </a:p>
        </p:txBody>
      </p:sp>
    </p:spTree>
    <p:extLst>
      <p:ext uri="{BB962C8B-B14F-4D97-AF65-F5344CB8AC3E}">
        <p14:creationId xmlns:p14="http://schemas.microsoft.com/office/powerpoint/2010/main" val="239076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3A67F-1274-BB9A-BAFE-B1A25140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1DAE2C-E7BD-726C-E3CA-CBB91C5F2809}"/>
              </a:ext>
            </a:extLst>
          </p:cNvPr>
          <p:cNvSpPr/>
          <p:nvPr/>
        </p:nvSpPr>
        <p:spPr>
          <a:xfrm>
            <a:off x="393241" y="37132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kern="0" spc="8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</a:rPr>
              <a:t>KV cache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5A69D1-93F0-1E4C-0563-8AC8004CDD52}"/>
              </a:ext>
            </a:extLst>
          </p:cNvPr>
          <p:cNvSpPr/>
          <p:nvPr/>
        </p:nvSpPr>
        <p:spPr>
          <a:xfrm>
            <a:off x="393241" y="846809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altLang="ko-KR" sz="3000" kern="0" spc="-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KV cache</a:t>
            </a:r>
            <a:endParaRPr lang="en-US" sz="30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986D135-C407-F14B-D42B-EE213D85B642}"/>
              </a:ext>
            </a:extLst>
          </p:cNvPr>
          <p:cNvSpPr/>
          <p:nvPr/>
        </p:nvSpPr>
        <p:spPr>
          <a:xfrm>
            <a:off x="393241" y="1523465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KV cache = </a:t>
            </a:r>
            <a:r>
              <a:rPr lang="ko-KR" alt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이미 처리한 과거 토큰들의 </a:t>
            </a: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attention</a:t>
            </a:r>
            <a:r>
              <a:rPr lang="ko-KR" alt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용 중간 결과를 저장해서</a:t>
            </a:r>
            <a:r>
              <a:rPr lang="en-US" altLang="ko-KR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, </a:t>
            </a:r>
            <a:r>
              <a:rPr lang="ko-KR" alt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다음 토큰 생성 때 재계산하지 않게 하는 메모리</a:t>
            </a:r>
            <a:endParaRPr lang="en-US" sz="14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B470663-2353-CEF1-CC29-D8F1F3319EE5}"/>
              </a:ext>
            </a:extLst>
          </p:cNvPr>
          <p:cNvSpPr/>
          <p:nvPr/>
        </p:nvSpPr>
        <p:spPr>
          <a:xfrm>
            <a:off x="393241" y="1989726"/>
            <a:ext cx="11277295" cy="94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빌드는 </a:t>
            </a:r>
            <a:r>
              <a:rPr lang="en-US" altLang="ko-KR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"</a:t>
            </a:r>
            <a:r>
              <a:rPr 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KV 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슬롯 규격</a:t>
            </a:r>
            <a:r>
              <a:rPr lang="en-US" altLang="ko-KR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"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을 굽고</a:t>
            </a:r>
            <a:r>
              <a:rPr lang="en-US" altLang="ko-KR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, 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서버가 뜰 때 </a:t>
            </a:r>
            <a:r>
              <a:rPr lang="en-US" altLang="ko-KR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"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남은 </a:t>
            </a:r>
            <a:r>
              <a:rPr 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HBM = KV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</a:t>
            </a:r>
            <a:r>
              <a:rPr 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cache 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블록 수</a:t>
            </a:r>
            <a:r>
              <a:rPr lang="en-US" altLang="ko-KR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"</a:t>
            </a:r>
            <a:r>
              <a:rPr lang="ko-KR" altLang="en-US" sz="16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로 실제 채움</a:t>
            </a:r>
            <a:endParaRPr lang="en-US" sz="1600" dirty="0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B63C259-B91B-AC5A-A558-68E0DF392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81240"/>
              </p:ext>
            </p:extLst>
          </p:nvPr>
        </p:nvGraphicFramePr>
        <p:xfrm>
          <a:off x="393240" y="2933493"/>
          <a:ext cx="10678414" cy="1894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99036">
                  <a:extLst>
                    <a:ext uri="{9D8B030D-6E8A-4147-A177-3AD203B41FA5}">
                      <a16:colId xmlns:a16="http://schemas.microsoft.com/office/drawing/2014/main" val="91820463"/>
                    </a:ext>
                  </a:extLst>
                </a:gridCol>
                <a:gridCol w="6779378">
                  <a:extLst>
                    <a:ext uri="{9D8B030D-6E8A-4147-A177-3AD203B41FA5}">
                      <a16:colId xmlns:a16="http://schemas.microsoft.com/office/drawing/2014/main" val="1244452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KV cache </a:t>
                      </a:r>
                      <a:r>
                        <a:rPr lang="ko-KR" altLang="en-US" dirty="0" err="1"/>
                        <a:t>와의</a:t>
                      </a:r>
                      <a:r>
                        <a:rPr lang="ko-KR" altLang="en-US" dirty="0"/>
                        <a:t> 관계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04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build /compile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KV cache </a:t>
                      </a:r>
                      <a:r>
                        <a:rPr lang="ko-KR" altLang="en-US" dirty="0"/>
                        <a:t>모양만 결정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 </a:t>
                      </a:r>
                      <a:r>
                        <a:rPr lang="en-US" altLang="ko-KR" sz="1400" dirty="0" err="1"/>
                        <a:t>dtype</a:t>
                      </a:r>
                      <a:r>
                        <a:rPr lang="en-US" altLang="ko-KR" sz="1400" dirty="0"/>
                        <a:t>(KV16=BF16, artifact </a:t>
                      </a:r>
                      <a:r>
                        <a:rPr lang="ko-KR" altLang="en-US" sz="1400" dirty="0"/>
                        <a:t>파일명에 박힘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과 어느 버킷의   </a:t>
                      </a:r>
                      <a:r>
                        <a:rPr lang="en-US" altLang="ko-KR" sz="1400" dirty="0" err="1"/>
                        <a:t>kv_cache_size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까지 처리할지</a:t>
                      </a:r>
                      <a:r>
                        <a:rPr lang="en-US" altLang="ko-KR" sz="140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796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serve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여기서 실제 할당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 </a:t>
                      </a:r>
                      <a:r>
                        <a:rPr lang="ko-KR" altLang="en-US" sz="1600" dirty="0"/>
                        <a:t>공식 문서</a:t>
                      </a:r>
                      <a:r>
                        <a:rPr lang="en-US" altLang="ko-KR" sz="1600" dirty="0"/>
                        <a:t>: "initialization, Furiosa-LLM partitions KV  cache memory". 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weight </a:t>
                      </a:r>
                      <a:r>
                        <a:rPr lang="ko-KR" altLang="en-US" sz="1600" dirty="0"/>
                        <a:t>적재 후 남은 </a:t>
                      </a:r>
                      <a:r>
                        <a:rPr lang="en-US" altLang="ko-KR" sz="1600" dirty="0"/>
                        <a:t>NPU HBM</a:t>
                      </a:r>
                      <a:r>
                        <a:rPr lang="ko-KR" altLang="en-US" sz="1600" dirty="0"/>
                        <a:t>을 </a:t>
                      </a:r>
                      <a:r>
                        <a:rPr lang="en-US" altLang="ko-KR" sz="1600" dirty="0"/>
                        <a:t>KV cache </a:t>
                      </a:r>
                      <a:r>
                        <a:rPr lang="ko-KR" altLang="en-US" sz="1600" dirty="0"/>
                        <a:t>블록으로 분할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634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127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500">
        <p159:morph option="byObject"/>
      </p:transition>
    </mc:Choice>
    <mc:Fallback>
      <p:transition spd="med" advClick="0" advTm="5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37773-25E7-C4C9-976C-AD4484B5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4">
            <a:extLst>
              <a:ext uri="{FF2B5EF4-FFF2-40B4-BE49-F238E27FC236}">
                <a16:creationId xmlns:a16="http://schemas.microsoft.com/office/drawing/2014/main" id="{11F4C359-FBB3-8D2A-2335-8500A7FDCC90}"/>
              </a:ext>
            </a:extLst>
          </p:cNvPr>
          <p:cNvSpPr/>
          <p:nvPr/>
        </p:nvSpPr>
        <p:spPr>
          <a:xfrm>
            <a:off x="457352" y="1620135"/>
            <a:ext cx="11277295" cy="452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방법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--max-model-</a:t>
            </a:r>
            <a:r>
              <a:rPr lang="en-US" altLang="ko-KR" sz="1400" dirty="0" err="1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len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(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작게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단계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build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효과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큰 버킷 제외 → 토큰당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KV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점유 한도↓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────────────────────────────────────────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방법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--max-batch-size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단계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serve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효과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동시 슬롯↓ →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KV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압박↓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────────────────────────────────────────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방법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--spare-blocks-ratio(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스케줄러가 예약하는 여유 블록 비율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단계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serve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효과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블록을 미리 </a:t>
            </a:r>
            <a:r>
              <a:rPr lang="ko-KR" altLang="en-US" sz="1400" dirty="0" err="1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비워둠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→ 새 요청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/</a:t>
            </a:r>
            <a:r>
              <a:rPr lang="ko-KR" altLang="en-US" sz="1400" dirty="0" err="1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디코드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확장 시 즉시 쓸 여유 확보 → 성능↑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,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  그만큼 활성 가용 블록↓ →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OOM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위험↑ </a:t>
            </a:r>
            <a:endParaRPr lang="en-US" altLang="ko-KR" sz="1400" dirty="0">
              <a:latin typeface="Paperlogy 5 Medium" pitchFamily="34" charset="0"/>
              <a:ea typeface="Paperlogy 5 Medium" pitchFamily="34" charset="-122"/>
              <a:cs typeface="Paperlogy 5 Medium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────────────────────────────────────────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방법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--max-io-memory-mb (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기본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2048)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단계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serve(API)</a:t>
            </a: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효과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: I/O </a:t>
            </a:r>
            <a:r>
              <a:rPr lang="ko-KR" altLang="en-US" sz="1400" dirty="0" err="1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텐서용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NPU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메모리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— 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이걸 줄이면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KV </a:t>
            </a:r>
            <a:r>
              <a:rPr lang="ko-KR" altLang="en-US" sz="1400" dirty="0" err="1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가용분</a:t>
            </a:r>
            <a:r>
              <a:rPr lang="ko-KR" altLang="en-US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↑ </a:t>
            </a:r>
            <a:r>
              <a:rPr lang="en-US" altLang="ko-KR" sz="1400" dirty="0"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(0~48GB)</a:t>
            </a:r>
            <a:endParaRPr 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98649A-9337-8137-950B-122DA043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52" y="618456"/>
            <a:ext cx="4977847" cy="50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01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500">
        <p159:morph option="byObject"/>
      </p:transition>
    </mc:Choice>
    <mc:Fallback>
      <p:transition spd="med" advClick="0" advTm="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1671</Words>
  <Application>Microsoft Macintosh PowerPoint</Application>
  <PresentationFormat>와이드스크린</PresentationFormat>
  <Paragraphs>244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Paperlogy 4 Regular</vt:lpstr>
      <vt:lpstr>Paperlogy 5 Medium</vt:lpstr>
      <vt:lpstr>Paperlogy 6 SemiBold</vt:lpstr>
      <vt:lpstr>Paperlogy 7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Model Prep</dc:creator>
  <cp:lastModifiedBy>a68330</cp:lastModifiedBy>
  <cp:revision>10</cp:revision>
  <dcterms:created xsi:type="dcterms:W3CDTF">2026-05-28T08:26:22Z</dcterms:created>
  <dcterms:modified xsi:type="dcterms:W3CDTF">2026-05-28T17:20:21Z</dcterms:modified>
</cp:coreProperties>
</file>