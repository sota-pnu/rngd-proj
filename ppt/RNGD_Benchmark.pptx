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필요 PE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22222"/>
                    </a:solidFill>
                    <a:latin typeface="Paperlogy 6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56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ec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5ec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a5ec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Qwen2.5-0.5B</c:v>
                  </c:pt>
                  <c:pt idx="1">
                    <c:v>Llama-3.1-8B</c:v>
                  </c:pt>
                  <c:pt idx="2">
                    <c:v>Qwen3-Embed-8B</c:v>
                  </c:pt>
                  <c:pt idx="3">
                    <c:v>Qwen3-Rerank-8B</c:v>
                  </c:pt>
                  <c:pt idx="4">
                    <c:v>Qwen3-32B-FP8</c:v>
                  </c:pt>
                  <c:pt idx="5">
                    <c:v>EXAONE-4.0-32B</c:v>
                  </c:pt>
                  <c:pt idx="6">
                    <c:v>Llama-3.3-70B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32</c:v>
                </c:pt>
                <c:pt idx="5">
                  <c:v>32</c:v>
                </c:pt>
                <c:pt idx="6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22222"/>
                  </a:solidFill>
                  <a:latin typeface="Paperlogy 6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NPU (RNGD)</c:v>
                </c:pt>
              </c:strCache>
            </c:strRef>
          </c:tx>
          <c:spPr>
            <a:solidFill>
              <a:srgbClr val="1456F0"/>
            </a:solidFill>
            <a:ln w="34925" cap="flat">
              <a:solidFill>
                <a:srgbClr val="1456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  <c:pt idx="7">
                    <c:v>128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</c:v>
                </c:pt>
                <c:pt idx="1">
                  <c:v>100</c:v>
                </c:pt>
                <c:pt idx="2">
                  <c:v>192</c:v>
                </c:pt>
                <c:pt idx="3">
                  <c:v>335</c:v>
                </c:pt>
                <c:pt idx="4">
                  <c:v>637</c:v>
                </c:pt>
                <c:pt idx="5">
                  <c:v>1091</c:v>
                </c:pt>
                <c:pt idx="6">
                  <c:v>1647</c:v>
                </c:pt>
                <c:pt idx="7">
                  <c:v>2192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(A6000)</c:v>
                </c:pt>
              </c:strCache>
            </c:strRef>
          </c:tx>
          <c:spPr>
            <a:solidFill>
              <a:srgbClr val="F97316"/>
            </a:solidFill>
            <a:ln w="34925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  <c:pt idx="7">
                    <c:v>128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41</c:v>
                </c:pt>
                <c:pt idx="1">
                  <c:v>80</c:v>
                </c:pt>
                <c:pt idx="2">
                  <c:v>151</c:v>
                </c:pt>
                <c:pt idx="3">
                  <c:v>272</c:v>
                </c:pt>
                <c:pt idx="4">
                  <c:v>580</c:v>
                </c:pt>
                <c:pt idx="5">
                  <c:v>1122</c:v>
                </c:pt>
                <c:pt idx="6">
                  <c:v>2048</c:v>
                </c:pt>
                <c:pt idx="7">
                  <c:v>3634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E8E93"/>
                    </a:solidFill>
                    <a:latin typeface="Paperlogy 5 Medium"/>
                  </a:defRPr>
                </a:pPr>
                <a:r>
                  <a:rPr sz="900" b="0" i="0" u="none" strike="noStrike">
                    <a:solidFill>
                      <a:srgbClr val="8E8E93"/>
                    </a:solidFill>
                    <a:latin typeface="Paperlogy 5 Medium"/>
                  </a:rPr>
                  <a:t>동시 요청 수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NPU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Paperlogy 6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max-model-len 4096</c:v>
                  </c:pt>
                  <c:pt idx="2">
                    <c:v>max-num-batched 16384</c:v>
                  </c:pt>
                  <c:pt idx="3">
                    <c:v>배치 슬롯 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2251</c:v>
                </c:pt>
                <c:pt idx="1">
                  <c:v>2272</c:v>
                </c:pt>
                <c:pt idx="2">
                  <c:v>2139</c:v>
                </c:pt>
                <c:pt idx="3">
                  <c:v>2232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22222"/>
                    </a:solidFill>
                    <a:latin typeface="Paperlogy 6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max-model-len 4096</c:v>
                  </c:pt>
                  <c:pt idx="2">
                    <c:v>max-num-batched 16384</c:v>
                  </c:pt>
                  <c:pt idx="3">
                    <c:v>배치 슬롯 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3616</c:v>
                </c:pt>
                <c:pt idx="1">
                  <c:v>3671</c:v>
                </c:pt>
                <c:pt idx="2">
                  <c:v>3613</c:v>
                </c:pt>
                <c:pt idx="3">
                  <c:v>306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22222"/>
                  </a:solidFill>
                  <a:latin typeface="Paperlogy 6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40" b="0" i="0" u="none" strike="noStrike">
                <a:solidFill>
                  <a:srgbClr val="45515E"/>
                </a:solidFill>
                <a:latin typeface="Paperlogy 5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E8E93"/>
                </a:solidFill>
                <a:latin typeface="Paperlogy 4 Regula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 RNGD vs NVIDIA A6000 · 2026.05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338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spc="-8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NPU vs NVIDIA GPU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spc="-8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코드 생성 모델 서빙 벤치마크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모델·같은 조건으로 Furiosa RNGD와 NVIDIA A6000에서 5개 테스트를 측정·비교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310128"/>
            <a:ext cx="11277295" cy="1627632"/>
          </a:xfrm>
          <a:prstGeom prst="roundRect">
            <a:avLst>
              <a:gd name="adj" fmla="val 12360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584448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84448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핵심 결론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877056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8B 모델 단일 속도는 </a:t>
            </a:r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NPU가 30% 빠르다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Llama-3.1-8B 단일 출력 NPU 54.5 vs GPU 41.9 tok/s · 동시 사용자 32명 부근에서 GPU 역전 · 코드 정확도(SWE-bench)는 두 디바이스 모두 0% — 정확도는 하드웨어가 아닌 모델 크기가 결정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5138928"/>
            <a:ext cx="363717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5266944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측정 테스트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545896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" y="5870448"/>
            <a:ext cx="323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속도 · 동시성 · serve옵션 · SWE-bench · 임베딩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77258" y="5138928"/>
            <a:ext cx="363717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78426" y="5266944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측정 디바이스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8426" y="545896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78426" y="5870448"/>
            <a:ext cx="323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 RNGD NPU · NVIDIA A6000 GPU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7317" y="5138928"/>
            <a:ext cx="363717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98485" y="5266944"/>
            <a:ext cx="32348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비교 모델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98485" y="5458968"/>
            <a:ext cx="323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98485" y="5870448"/>
            <a:ext cx="3234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Qwen2.5-0.5B(smoke) · Llama-3.1-8B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NPU: furiosa-llm 2026.2.0 · RNGD 1카드   |   GPU: vLLM 0.10.0 · RTX A6000 48GB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무엇을, 어떤 기준으로 검증했나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RNGD NPU와 A6000 GPU에서 코드 생성 모델 서빙을 4개 축으로 측정·비교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31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6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검증 목표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694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 RNGD NPU가 코드 생성 워크로드에서 NVIDIA GPU 대비 어느 지점에 강하고 어느 지점에 약한지를, 같은 모델·같은 조건의 정량 측정으로 가려낸다.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328416"/>
            <a:ext cx="2682164" cy="2935224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547872"/>
            <a:ext cx="64008" cy="38404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529584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" y="389534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토큰 생성 속도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" y="4206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속도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" y="4553712"/>
            <a:ext cx="22615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단일 요청에서 첫 토큰 지연(TTFT)과 초당 생성 토큰 수(tok/s)를 NPU·GPU 각각 측정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5660136"/>
            <a:ext cx="2243252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5769864"/>
            <a:ext cx="2261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해당 테스트 · 테스트 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22244" y="3328416"/>
            <a:ext cx="2682164" cy="2935224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22244" y="3547872"/>
            <a:ext cx="64008" cy="384048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541700" y="3529584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82F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41700" y="389534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동시 접속 확장성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41700" y="4206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동시성·배치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41700" y="4553712"/>
            <a:ext cx="22615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요청을 1→128로 늘리며 합산 처리량을 측정 — NPU·GPU의 교차점을 찾는다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41700" y="5660136"/>
            <a:ext cx="2243252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1700" y="5769864"/>
            <a:ext cx="2261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해당 테스트 · 테스트 2 · 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7288" y="3328416"/>
            <a:ext cx="2682164" cy="2935224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7288" y="3547872"/>
            <a:ext cx="64008" cy="384048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6744" y="3529584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6744" y="389534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SWE-bench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6744" y="4206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정확도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6744" y="4553712"/>
            <a:ext cx="22615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실제 GitHub 이슈를 코드 패치로 해결하는 정확도 — 하드웨어 의존성 검증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6744" y="5660136"/>
            <a:ext cx="2243252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6744" y="5769864"/>
            <a:ext cx="2261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해당 테스트 · 테스트 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52331" y="3328416"/>
            <a:ext cx="2682164" cy="2935224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52331" y="3547872"/>
            <a:ext cx="64008" cy="3840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6" name="Text 34"/>
          <p:cNvSpPr/>
          <p:nvPr/>
        </p:nvSpPr>
        <p:spPr>
          <a:xfrm>
            <a:off x="9271787" y="3529584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71787" y="3895344"/>
            <a:ext cx="227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서빙·자동화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271787" y="4206240"/>
            <a:ext cx="22798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EC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환경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71787" y="4553712"/>
            <a:ext cx="22615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furiosa-llm·vLLM 서빙 구성과 모델 추가만으로 도는 측정 파이프라인 구축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71787" y="5660136"/>
            <a:ext cx="2243252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71787" y="5769864"/>
            <a:ext cx="2261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5EC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해당 테스트 · 테스트 5 · 전반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환경 — 같은 클라이언트, 다른 디바이스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측정 도구는 OpenAI 호환 API만 호출 → 서버 계층만 바꿔 NPU·GPU를 같은 코드로 측정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017520" cy="148132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23744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4551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054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클라이언트 (공통)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httpx 비동기 스트리밍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/v1/chat/completions 호출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tps·sweep·swebench 코드 100% 공유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4572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86784" y="2286000"/>
            <a:ext cx="3931920" cy="148132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12700">
            <a:solidFill>
              <a:srgbClr val="145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86784" y="2523744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4" name="Text 12"/>
          <p:cNvSpPr/>
          <p:nvPr/>
        </p:nvSpPr>
        <p:spPr>
          <a:xfrm>
            <a:off x="4261104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 경로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61104" y="2743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serve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61104" y="30906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NPU · prebuilt 아티팩트 실행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01584" y="2286000"/>
            <a:ext cx="3931920" cy="148132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2523744"/>
            <a:ext cx="64008" cy="100584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GPU 경로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5904" y="27432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vllm serve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30906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A6000 GPU · 원본 HF 모델 실행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968496"/>
            <a:ext cx="3637178" cy="2295144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" y="4169664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4169664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서빙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6656" y="4498848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OpenAI 호환 API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" y="4809744"/>
            <a:ext cx="321655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furiosa-llm·vLLM 모두 동일한 /v1 endpoint를 제공 → 측정 도구가 디바이스를 구분하지 않는다.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77258" y="3968496"/>
            <a:ext cx="3637178" cy="2295144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96714" y="4169664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496714" y="4169664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측정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96714" y="4498848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스트리밍 클라이언트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496714" y="4809744"/>
            <a:ext cx="321655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응답을 토큰 단위 스트림으로 받아 TTFT·토큰 간 지연을 실측. 동시 요청은 비동기로 발생.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7317" y="3968496"/>
            <a:ext cx="3637178" cy="2295144"/>
          </a:xfrm>
          <a:prstGeom prst="roundRect">
            <a:avLst>
              <a:gd name="adj" fmla="val 51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16773" y="4169664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/>
        </p:spPr>
      </p:sp>
      <p:sp>
        <p:nvSpPr>
          <p:cNvPr id="34" name="Text 32"/>
          <p:cNvSpPr/>
          <p:nvPr/>
        </p:nvSpPr>
        <p:spPr>
          <a:xfrm>
            <a:off x="8316773" y="4169664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채점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16773" y="4498848"/>
            <a:ext cx="321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Docker harness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16773" y="4809744"/>
            <a:ext cx="321655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SWE-bench 채점에만 Docker 사용 — NPU·GPU 동일하게 인스턴스별 격리 컨테이너에서 테스트 실행.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각 모델 artifact.json · model.parallel_config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7종 중 4종만 RNGD 2-카드에서 측정 가능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prebuilt 아티팩트의 tensor-parallel 크기가 필요 NPU 수를 고정한다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6858000" cy="4078224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50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모델별 필요 PE (RNGD 1카드 = 8 PE)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688336"/>
          <a:ext cx="6583680" cy="3163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85800" y="5934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파랑 = 2카드(16 PE)로 측정 가능 · 분홍 = 4카드 필요 → 측정 불가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34656" y="2185416"/>
            <a:ext cx="4199839" cy="1249680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34656" y="2386584"/>
            <a:ext cx="64008" cy="847344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3" name="Text 10"/>
          <p:cNvSpPr/>
          <p:nvPr/>
        </p:nvSpPr>
        <p:spPr>
          <a:xfrm>
            <a:off x="7790688" y="2368296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대상 4종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90688" y="2679192"/>
            <a:ext cx="3742639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Qwen2.5-0.5B · Llama-3.1-8B · Qwen3-Embedding-8B · Qwen3-Reranker-8B — 모두 1카드(≤8 PE)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34656" y="3599688"/>
            <a:ext cx="4199839" cy="1249680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534656" y="3800856"/>
            <a:ext cx="64008" cy="84734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17" name="Text 14"/>
          <p:cNvSpPr/>
          <p:nvPr/>
        </p:nvSpPr>
        <p:spPr>
          <a:xfrm>
            <a:off x="7790688" y="3782568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제외 3종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90688" y="4093464"/>
            <a:ext cx="3742639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Qwen3-32B-FP8 · EXAONE-4.0-32B-FP8 · Llama-3.3-70B — 아티팩트가 tp=32(4카드)로 컴파일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534656" y="5013960"/>
            <a:ext cx="4199839" cy="1249680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534656" y="5215128"/>
            <a:ext cx="64008" cy="847344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7790688" y="519684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NPU↔GPU 비교 모델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90688" y="5507736"/>
            <a:ext cx="3742639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생성 모델 Qwen2.5-0.5B·Llama-3.1-8B 2종을 GPU에서도 동일 측정 — 이 덱의 비교 대상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FAIR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5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rngd-npu·bench-gpu configs/models.yaml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공정 비교 — 엔진 외 모든 변수를 일치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서빙 엔진(furiosa-llm vs vLLM)만 다르고, 나머지 측정 조건은 NPU·GPU 동일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7040880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591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조건 정렬 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670048"/>
            <a:ext cx="6583680" cy="324612"/>
          </a:xfrm>
          <a:prstGeom prst="rect">
            <a:avLst/>
          </a:prstGeom>
          <a:solidFill>
            <a:srgbClr val="F2F3F5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670048"/>
            <a:ext cx="2240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항목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3072384" y="2670048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 (RNGD)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5266944" y="2670048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GPU (A6000)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740664" y="2994660"/>
            <a:ext cx="2240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측정 모델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3072384" y="2994660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Qwen2.5-0.5B · Llama-3.1-8B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266944" y="2994660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동일 (원본 HF)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85800" y="3319272"/>
            <a:ext cx="6583680" cy="32461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" y="3319272"/>
            <a:ext cx="2240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정밀도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3072384" y="3319272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bf16 (양자화 없음)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5266944" y="3319272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bf16 (양자화 없음)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740664" y="3643884"/>
            <a:ext cx="2240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컨텍스트 — Qwen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3072384" y="3643884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4,096 (artifact 한도)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5266944" y="3643884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4,096 (--max-model-len)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85800" y="3968496"/>
            <a:ext cx="6583680" cy="32461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" y="3968496"/>
            <a:ext cx="2240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컨텍스트 — Llama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072384" y="3968496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32,768 (artifact 한도)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5266944" y="3968496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32,768 (--max-model-len)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740664" y="4293108"/>
            <a:ext cx="2240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prefix caching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3072384" y="4293108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ON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5266944" y="4293108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ON (--enable-prefix-caching)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85800" y="4617720"/>
            <a:ext cx="6583680" cy="32461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" y="4617720"/>
            <a:ext cx="2240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sweep 그리드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3072384" y="4617720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동시성 1–128 × prompt 256/1K/4K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5266944" y="4617720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동일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740664" y="4942332"/>
            <a:ext cx="2240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3072384" y="4942332"/>
            <a:ext cx="21031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Lite oracle · single-shot · 50건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5266944" y="4942332"/>
            <a:ext cx="2057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동일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717536" y="2212848"/>
            <a:ext cx="4016959" cy="1865376"/>
          </a:xfrm>
          <a:prstGeom prst="roundRect">
            <a:avLst>
              <a:gd name="adj" fmla="val 7843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973568" y="239572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정렬이 실제로 됐다는 증거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73568" y="2706624"/>
            <a:ext cx="3504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sweep에서 prompt=4096 셀은 NPU·GPU 모두 전건 실패한다 (prompt 4096 + max_tokens 256 &gt; 4096 한도). 양쪽이 똑같이 실패했다는 것이 4K 컨텍스트가 동일하게 적용됐다는 직접 증거다.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17536" y="4224528"/>
            <a:ext cx="4016959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717536" y="4407408"/>
            <a:ext cx="64008" cy="822960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42" name="Text 40"/>
          <p:cNvSpPr/>
          <p:nvPr/>
        </p:nvSpPr>
        <p:spPr>
          <a:xfrm>
            <a:off x="7973568" y="4389120"/>
            <a:ext cx="3559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— 성능 비교만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973568" y="4681728"/>
            <a:ext cx="354147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A6000과 RNGD는 가격·소비전력 제품군이 다르다. 이 덱은 동일 SW 조건의 처리 성능만 비교하며, 전력당·비용당 성능(TCO)은 별도 측정 과제다.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457200" y="5779008"/>
            <a:ext cx="11277295" cy="457200"/>
          </a:xfrm>
          <a:prstGeom prst="roundRect">
            <a:avLst>
              <a:gd name="adj" fmla="val 26000"/>
            </a:avLst>
          </a:prstGeom>
          <a:solidFill>
            <a:srgbClr val="F0F0F0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처음 GPU 측정은 컨텍스트가 8배(32K) 차이 나 불공정했다  </a:t>
            </a:r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 NPU artifact 한도(4K·32K)에 맞춰 재측정한 결과가 이 덱의 데이터다.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파이프라인 — 모델 추가만으로 자동화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configs/models.yaml에 모델을 등록하면 서버 기동부터 리포트까지 자동 실행 (NPU·GPU 동일)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2551176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정의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models.yaml에 모델 id·역할·serve 옵션 등록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2515149" y="233172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52893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2349" y="2551176"/>
            <a:ext cx="457200" cy="45720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5" name="Text 13"/>
          <p:cNvSpPr/>
          <p:nvPr/>
        </p:nvSpPr>
        <p:spPr>
          <a:xfrm>
            <a:off x="2972349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54061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서버 기동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54061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furiosa-llm / vllm serve 실행, 헬스체크 통과까지 대기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810841" y="233172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48585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68041" y="2551176"/>
            <a:ext cx="457200" cy="45720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21" name="Text 19"/>
          <p:cNvSpPr/>
          <p:nvPr/>
        </p:nvSpPr>
        <p:spPr>
          <a:xfrm>
            <a:off x="5268041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49753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실행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49753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테스트 1~5를 순차 측정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106534" y="233172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44278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63734" y="2551176"/>
            <a:ext cx="457200" cy="45720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27" name="Text 25"/>
          <p:cNvSpPr/>
          <p:nvPr/>
        </p:nvSpPr>
        <p:spPr>
          <a:xfrm>
            <a:off x="7563734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45446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저장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545446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results/&lt;모델&gt;/&lt;테스트&gt;/*.json 자동 기록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402227" y="2331720"/>
            <a:ext cx="274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639971" y="2331720"/>
            <a:ext cx="2094525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59427" y="2551176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9859427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41139" y="3118104"/>
            <a:ext cx="17287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집계·리포트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841139" y="3429000"/>
            <a:ext cx="1710477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analyze · report로 비교표·종합 리포트 생성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57200" y="4315968"/>
            <a:ext cx="11277295" cy="1947672"/>
          </a:xfrm>
          <a:prstGeom prst="roundRect">
            <a:avLst>
              <a:gd name="adj" fmla="val 6103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" y="4535424"/>
            <a:ext cx="64008" cy="150876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451713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코드는 NPU·GPU 100% 공유 — server 계층만 다름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9808" y="4864608"/>
            <a:ext cx="10698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모델의 서버를 띄워 테스트 1·2·4를 측정하고, 테스트 3(memsweep)은 serve 옵션을 바꿔 서버를 재기동하며 측정한다. NPU는 furiosa-llm, GPU는 vLLM으로 서버만 갈아끼울 뿐 tps·sweep·swebench·embed 측정 코드는 같다 — 그래서 두 디바이스 결과를 같은 표에 올릴 수 있다. 새 모델은 models.yaml에 한 줄 추가하면 전 과정이 자동 반복된다.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7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테스트 5종 한눈에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각 모델·각 디바이스에 대해 아래 5개 테스트를 순차 수행 — 이후 슬라이드는 테스트 번호 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1456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78024"/>
            <a:ext cx="2123785" cy="274320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토큰 생성 속도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단일 요청 스트리밍으로 첫 토큰 지연·생성 속도 측정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TTFT · tok/s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745577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5577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5577" y="2478024"/>
            <a:ext cx="2123785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2928457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8457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동시성 스케일링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8457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요청을 1→128로 늘리며 처리량·지연 변화 측정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8457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8457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3B82F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합산 TPS · 실패율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033955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33955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60A5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33955" y="2478024"/>
            <a:ext cx="2123785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5216835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6835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serve 옵션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6835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serve 인자를 바꿔가며 처리량 영향 측정 (memsweep)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6835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6835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60A5F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조합별 합산 TPS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322332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22332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EA5EC1"/>
          </a:solidFill>
          <a:ln/>
        </p:spPr>
      </p:sp>
      <p:sp>
        <p:nvSpPr>
          <p:cNvPr id="33" name="Shape 31"/>
          <p:cNvSpPr/>
          <p:nvPr/>
        </p:nvSpPr>
        <p:spPr>
          <a:xfrm>
            <a:off x="7322332" y="2478024"/>
            <a:ext cx="2123785" cy="274320"/>
          </a:xfrm>
          <a:prstGeom prst="rect">
            <a:avLst/>
          </a:prstGeom>
          <a:solidFill>
            <a:srgbClr val="EA5EC1"/>
          </a:solidFill>
          <a:ln/>
        </p:spPr>
      </p:sp>
      <p:sp>
        <p:nvSpPr>
          <p:cNvPr id="34" name="Text 32"/>
          <p:cNvSpPr/>
          <p:nvPr/>
        </p:nvSpPr>
        <p:spPr>
          <a:xfrm>
            <a:off x="7505212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05212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SWE-bench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05212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실제 GitHub 이슈를 코드 패치로 해결, 테스트 통과 채점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05212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05212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EA5EC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resolved %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9610710" y="2185416"/>
            <a:ext cx="2123785" cy="4078224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10710" y="2185416"/>
            <a:ext cx="2123785" cy="566928"/>
          </a:xfrm>
          <a:prstGeom prst="roundRect">
            <a:avLst>
              <a:gd name="adj" fmla="val 20968"/>
            </a:avLst>
          </a:prstGeom>
          <a:solidFill>
            <a:srgbClr val="8E8E93"/>
          </a:solidFill>
          <a:ln/>
        </p:spPr>
      </p:sp>
      <p:sp>
        <p:nvSpPr>
          <p:cNvPr id="41" name="Shape 39"/>
          <p:cNvSpPr/>
          <p:nvPr/>
        </p:nvSpPr>
        <p:spPr>
          <a:xfrm>
            <a:off x="9610710" y="2478024"/>
            <a:ext cx="2123785" cy="274320"/>
          </a:xfrm>
          <a:prstGeom prst="rect">
            <a:avLst/>
          </a:prstGeom>
          <a:solidFill>
            <a:srgbClr val="8E8E93"/>
          </a:solidFill>
          <a:ln/>
        </p:spPr>
      </p:sp>
      <p:sp>
        <p:nvSpPr>
          <p:cNvPr id="42" name="Text 40"/>
          <p:cNvSpPr/>
          <p:nvPr/>
        </p:nvSpPr>
        <p:spPr>
          <a:xfrm>
            <a:off x="9793590" y="2185416"/>
            <a:ext cx="17580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793590" y="2916936"/>
            <a:ext cx="17580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임베딩·리랭커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793590" y="3557016"/>
            <a:ext cx="175802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검색 보조 모델의 배치별 처리량 측정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793590" y="5696712"/>
            <a:ext cx="1758025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93590" y="5806440"/>
            <a:ext cx="17580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지표 inputs/s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1 · SPEED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8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rngd-npu·bench-gpu results · tps task (concurrency=1)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1 — 토큰 생성 속도 (NPU vs GPU)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요청 스트리밍 — 8B는 NPU가, 0.5B는 GPU가 빠르다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57984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04288"/>
            <a:ext cx="490118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04288"/>
            <a:ext cx="4901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15184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사용자 1명일 때 체감 속도 — 코드 자동완성·대화형 보조의 핵심 지표.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77258" y="2157984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0138" y="2304288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13" name="Text 11"/>
          <p:cNvSpPr/>
          <p:nvPr/>
        </p:nvSpPr>
        <p:spPr>
          <a:xfrm>
            <a:off x="4460138" y="2304288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0138" y="2615184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고정 프롬프트를 /v1/chat/completions에 스트리밍 요청. max_tokens 256, 워밍업 5 + 측정 50회.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97317" y="2157984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0197" y="23042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7" y="23042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출력·분석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80197" y="2615184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요청별 TTFT·ITL(토큰 간 간격)·출력 tok/s를 NPU·GPU 각각 p50으로 집계.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419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5528920" cy="2551176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95344"/>
            <a:ext cx="388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Llama-3.1-8B-Instruct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1520" y="4151376"/>
            <a:ext cx="388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코드 생성 후보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5960" y="3931920"/>
            <a:ext cx="910742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24" name="Text 22"/>
          <p:cNvSpPr/>
          <p:nvPr/>
        </p:nvSpPr>
        <p:spPr>
          <a:xfrm>
            <a:off x="4705960" y="3931920"/>
            <a:ext cx="910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 +30%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5537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791456"/>
            <a:ext cx="2398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54.5</a:t>
            </a:r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tok/s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3221660" y="45537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GPU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21660" y="4791456"/>
            <a:ext cx="2398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41.9</a:t>
            </a:r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tok/s</a:t>
            </a:r>
            <a:endParaRPr lang="en-US" sz="4000" dirty="0"/>
          </a:p>
        </p:txBody>
      </p:sp>
      <p:sp>
        <p:nvSpPr>
          <p:cNvPr id="29" name="Shape 27"/>
          <p:cNvSpPr/>
          <p:nvPr/>
        </p:nvSpPr>
        <p:spPr>
          <a:xfrm>
            <a:off x="3221660" y="4581144"/>
            <a:ext cx="0" cy="868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68112"/>
            <a:ext cx="498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요청 출력 토큰 처리량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5760720"/>
            <a:ext cx="4980280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870448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TTFT  NPU 32.6ms / GPU 35.9ms      ITL  NPU 18.3ms / GPU 23.9ms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05576" y="3712464"/>
            <a:ext cx="5528920" cy="2551176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79896" y="3895344"/>
            <a:ext cx="388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Qwen2.5-0.5B-Instruct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479896" y="4151376"/>
            <a:ext cx="388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smoke · 검증용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454335" y="3931920"/>
            <a:ext cx="910742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10454335" y="3931920"/>
            <a:ext cx="910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GPU 3.0×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79896" y="45537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79896" y="4791456"/>
            <a:ext cx="2398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84.5</a:t>
            </a:r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tok/s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8970035" y="4553712"/>
            <a:ext cx="230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GPU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70035" y="4791456"/>
            <a:ext cx="2398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249</a:t>
            </a:r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tok/s</a:t>
            </a:r>
            <a:endParaRPr lang="en-US" sz="4000" dirty="0"/>
          </a:p>
        </p:txBody>
      </p:sp>
      <p:sp>
        <p:nvSpPr>
          <p:cNvPr id="42" name="Shape 40"/>
          <p:cNvSpPr/>
          <p:nvPr/>
        </p:nvSpPr>
        <p:spPr>
          <a:xfrm>
            <a:off x="8970035" y="4581144"/>
            <a:ext cx="0" cy="8686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9896" y="5468112"/>
            <a:ext cx="498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요청 출력 토큰 처리량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79896" y="5760720"/>
            <a:ext cx="4980280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9896" y="5870448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TTFT  NPU 30.6ms / GPU 13.5ms      ITL  NPU 11.9ms / GPU 4.0ms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5779008"/>
            <a:ext cx="11277295" cy="457200"/>
          </a:xfrm>
          <a:prstGeom prst="roundRect">
            <a:avLst>
              <a:gd name="adj" fmla="val 26000"/>
            </a:avLst>
          </a:prstGeom>
          <a:solidFill>
            <a:srgbClr val="F0F0F0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갈리나  </a:t>
            </a:r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RNGD는 수 B 이상 모델에서 연산 파이프라인 효율이 살아난다 — 8B는 NPU 우위, 0.5B는 너무 작아 메모리 대역폭 싸움이 되어 GPU 우위.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2 · CONCURRENCY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9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 · sweep task (Llama-3.1-8B, prompt 1024)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2 — 동시성 스케일링 (NPU vs GPU)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동시 요청 1→128 — c16까지 NPU 우세, c32 교차, c128은 GPU가 66% 앞선다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6858000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68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동시성별 합산 처리량 (tok/s)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2423160"/>
            <a:ext cx="201168" cy="118872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2350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 (RNGD)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2423160"/>
            <a:ext cx="201168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350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GPU (A6000)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697480"/>
          <a:ext cx="6583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534656" y="2240280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34656" y="2404872"/>
            <a:ext cx="64008" cy="91440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2386584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c1–c16 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NPU 우세 구간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0" y="2697480"/>
            <a:ext cx="3742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16명까지 NPU가 빠르다 (c8: 335 vs 272 tok/s, +23%). 소수 사용자 코드 어시스턴트·IDE 플러그인에 적합.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7534656" y="3630168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534656" y="3794760"/>
            <a:ext cx="64008" cy="914400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3776472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c32 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교차점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72400" y="4087368"/>
            <a:ext cx="3742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32명 부근에서 역전 (1091 vs 1122). 이 지점이 NPU·GPU 선택 기준선.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7534656" y="5020056"/>
            <a:ext cx="4199839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34656" y="5184648"/>
            <a:ext cx="64008" cy="91440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0" y="516636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c64–c128 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GPU 우세 구간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772400" y="5477256"/>
            <a:ext cx="3742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GPU의 배치 처리량이 앞선다 (c128: 3634 vs 2192, +66%). 대규모 동시 트래픽 공용 API에 적합.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3 · SERVE OPTIONS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10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 · memsweep task (Llama-3.1-8B, 동시성 128)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3 — serve 옵션 튜닝 (NPU vs GPU)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서버 옵션을 한 축씩 바꿔(OFAT) 합산 처리량 영향 측정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57984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04288"/>
            <a:ext cx="490118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04288"/>
            <a:ext cx="4901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15184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KV cache·배치 관련 serve 옵션이 처리량에 주는 영향을 NPU·GPU 각각 측정.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77258" y="2157984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0138" y="2304288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4460138" y="2304288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0138" y="2615184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baseline + max-model-len·배치 슬롯·max-num-batched-tokens 한 축씩 변경, 조합마다 서버 재기동.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97317" y="2157984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0197" y="230428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7" y="23042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출력·분석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80197" y="2615184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조합별 합산 처리량 비교 → 어떤 옵션이 유의미한지, 디바이스별 민감도 차이 판단.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419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6858000" cy="2551176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8313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serve 옵션별 합산 처리량 (tok/s)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11880" y="3877056"/>
            <a:ext cx="201168" cy="118872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23" name="Text 21"/>
          <p:cNvSpPr/>
          <p:nvPr/>
        </p:nvSpPr>
        <p:spPr>
          <a:xfrm>
            <a:off x="388620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NPU (RNGD)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94960" y="3877056"/>
            <a:ext cx="201168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GPU (A6000)</a:t>
            </a:r>
            <a:endParaRPr 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8640" y="4133088"/>
          <a:ext cx="6583680" cy="1801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7534656" y="3712464"/>
            <a:ext cx="4199839" cy="75285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534656" y="3858768"/>
            <a:ext cx="64008" cy="460248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0" y="3840480"/>
            <a:ext cx="37426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정상 옵션은 튜닝 효과 작음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772400" y="4242816"/>
            <a:ext cx="3742639" cy="94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max-model-len·max-num-batched-tokens를 바꿔도 처리량 변동은 양쪽 모두 수 % 이내. 기본값 서빙으로 충분하다.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534656" y="4611624"/>
            <a:ext cx="4199839" cy="75285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534656" y="4757928"/>
            <a:ext cx="64008" cy="4602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0" y="4739640"/>
            <a:ext cx="37426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배치 슬롯 축소 — 결정적 차이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772400" y="5141976"/>
            <a:ext cx="3742639" cy="94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슬롯을 8로 줄이면 GPU(vLLM)는 처리량이 92% 붕괴(3616→306). NPU(furiosa-llm)는 −1%로 거의 무영향.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534656" y="5510784"/>
            <a:ext cx="4199839" cy="75285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534656" y="5657088"/>
            <a:ext cx="64008" cy="460248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7772400" y="5638800"/>
            <a:ext cx="37426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 시사점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772400" y="6041136"/>
            <a:ext cx="3742639" cy="94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GPU는 max-num-seqs를 충분히 크게 둬야 한다. NPU는 이 옵션에 둔감 — 튜닝 부담이 작다.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11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SWE-bench (Princeton NLP) · arXiv 2310.06770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①: 정의 &amp; 종류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GitHub 이슈를 패치로 해결하고 실제 repo 테스트 통과 여부로 채점하는 벤치마크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4937760" cy="4078224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3682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채점 방식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2880360"/>
            <a:ext cx="329184" cy="329184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8437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입력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88720" y="3072384"/>
            <a:ext cx="39776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GitHub 이슈 본문 + 해당 시점 repo 코드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3191256"/>
            <a:ext cx="182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" y="3762756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7627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7261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출력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88720" y="3954780"/>
            <a:ext cx="39776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이슈를 해결하는 unified diff (패치)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4073652"/>
            <a:ext cx="182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" y="4645152"/>
            <a:ext cx="329184" cy="32918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608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88720" y="4837176"/>
            <a:ext cx="39776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Docker 컨테이너에서 repo에 패치 적용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4956048"/>
            <a:ext cx="182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" y="5527548"/>
            <a:ext cx="329184" cy="329184"/>
          </a:xfrm>
          <a:prstGeom prst="ellipse">
            <a:avLst/>
          </a:prstGeom>
          <a:solidFill>
            <a:srgbClr val="EA5EC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55275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54909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채점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88720" y="5719572"/>
            <a:ext cx="39776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테스트 실행 — FAIL→PASS 통과 시 resolved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14416" y="2185416"/>
            <a:ext cx="6120079" cy="2432304"/>
          </a:xfrm>
          <a:prstGeom prst="roundRect">
            <a:avLst>
              <a:gd name="adj" fmla="val 488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52160" y="2350008"/>
            <a:ext cx="5662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데이터셋 종류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07024" y="26609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 (full)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03336" y="2660904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2,294건 · 원본 12개 repo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97296" y="3118104"/>
            <a:ext cx="5754319" cy="4572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/>
          <p:nvPr/>
        </p:nvSpPr>
        <p:spPr>
          <a:xfrm>
            <a:off x="5907024" y="31181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 Lite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03336" y="3118104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300건 · 저비용 평가용 subset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07024" y="3575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 Verified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03336" y="3575304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500건 · 사람 검증, 신뢰도 최상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7296" y="4032504"/>
            <a:ext cx="5754319" cy="4572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5907024" y="4032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SWE-bench Multimodal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03336" y="4032504"/>
            <a:ext cx="31482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517건 · 시각 요소 포함(JS/UI)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14416" y="4764024"/>
            <a:ext cx="6120079" cy="1499616"/>
          </a:xfrm>
          <a:prstGeom prst="roundRect">
            <a:avLst>
              <a:gd name="adj" fmla="val 9756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70448" y="496519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870448" y="4965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본 측정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70448" y="5276088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SWE-bench Lite · oracle · single-shot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870448" y="5605272"/>
            <a:ext cx="56080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030" dirty="0">
                <a:solidFill>
                  <a:srgbClr val="DBE6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Lite 300건 중 12개 repo(astropy·django·matplotlib·sympy 등)에 고르게 50건 추출. context는 oracle(정답 파일 제공), 호출은 single-shot(1회 생성) — 에이전트 반복 없이 순수 코드 편집 능력을 본다. NPU·GPU 동일 구성.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12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swebench.com/guides/quickstart · docs/SWEBENCH_SETUP.md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②: 시작 가이드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Docker 기반 채점 — 인스턴스별 격리 컨테이너에서 repo 테스트 실행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6400800" cy="1517904"/>
          </a:xfrm>
          <a:prstGeom prst="roundRect">
            <a:avLst>
              <a:gd name="adj" fmla="val 6024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2331720"/>
            <a:ext cx="5961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① 설치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2624328"/>
            <a:ext cx="59618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$ git clone https://github.com/SWE-bench/SWE-bench.git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$ cd SWE-bench &amp;&amp; pip install -e 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$ docker --version    # Docker 동작 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49624"/>
            <a:ext cx="6400800" cy="2414016"/>
          </a:xfrm>
          <a:prstGeom prst="roundRect">
            <a:avLst>
              <a:gd name="adj" fmla="val 3788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3995928"/>
            <a:ext cx="5961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② 채점 실행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" y="4288536"/>
            <a:ext cx="596188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$ python -m swebench.harness.run_evaluation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--dataset_name princeton-nlp/SWE-bench_Lite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--predictions_path predictions.jsonl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--max_workers 8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--namespace swebench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--run_id my_run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--namespace swebench → prebuilt 이미지 pull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결과: &lt;model&gt;.&lt;run_id&gt;.json (resolved 카운트)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77456" y="2185416"/>
            <a:ext cx="4657039" cy="18288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2350008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요구사항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51776" y="2715768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6" name="Text 14"/>
          <p:cNvSpPr/>
          <p:nvPr/>
        </p:nvSpPr>
        <p:spPr>
          <a:xfrm>
            <a:off x="7552944" y="2606040"/>
            <a:ext cx="3925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x86_64 Linux · Docker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351776" y="3099816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8" name="Text 16"/>
          <p:cNvSpPr/>
          <p:nvPr/>
        </p:nvSpPr>
        <p:spPr>
          <a:xfrm>
            <a:off x="7552944" y="2990088"/>
            <a:ext cx="3925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디스크 수십~120GB (인스턴스 이미지)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351776" y="3483864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20" name="Text 18"/>
          <p:cNvSpPr/>
          <p:nvPr/>
        </p:nvSpPr>
        <p:spPr>
          <a:xfrm>
            <a:off x="7552944" y="3374136"/>
            <a:ext cx="3925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3.10+ · swebench 패키지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077456" y="4160520"/>
            <a:ext cx="465703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4306824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예측 파일 (predictions.jsonl)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4562856"/>
            <a:ext cx="4199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줄 = 한 인스턴스. 모델이 만든 패치를 model_patch에 담는다: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4983480"/>
            <a:ext cx="4181551" cy="1097280"/>
          </a:xfrm>
          <a:prstGeom prst="roundRect">
            <a:avLst>
              <a:gd name="adj" fmla="val 8333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34656" y="5129784"/>
            <a:ext cx="37426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{"instance_id": "astropy__..."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"model_name_or_path": "8B",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"model_patch": "diff --git ..."}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13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예시: astropy__astropy-12907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③: 측정 방법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oracle 프롬프트를 로컬 서버(furiosa-llm/vLLM)에 보내 diff를 받고 harness로 채점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3624986" cy="4078224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36829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36829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67919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oracle 프롬프트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95351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이슈 설명 + 수정 대상 파일 코드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58368" y="3264408"/>
            <a:ext cx="3222650" cy="2798064"/>
          </a:xfrm>
          <a:prstGeom prst="roundRect">
            <a:avLst>
              <a:gd name="adj" fmla="val 3268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3410712"/>
            <a:ext cx="278373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&lt;issue&gt;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separability_matrix 가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nested CompoundModel 에서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분리성을 잘못 계산함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&lt;/issue&gt;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[start of separable.py]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def _separable(transform):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...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83354" y="2185416"/>
            <a:ext cx="3624986" cy="4078224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4522" y="236829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84522" y="236829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4522" y="267919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모델 생성 diff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4522" y="295351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Llama-3.1-8B single-shot 응답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84522" y="3264408"/>
            <a:ext cx="3222650" cy="2798064"/>
          </a:xfrm>
          <a:prstGeom prst="roundRect">
            <a:avLst>
              <a:gd name="adj" fmla="val 3268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3978" y="3410712"/>
            <a:ext cx="278373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--- a/.../separable.py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+++ b/.../separable.py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@@ -304,6 +304,10 @@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elif isinstance(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    transform, Compound):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  if isinstance(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      transform.left,...):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    sepleft =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      _separable(...)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09509" y="2185416"/>
            <a:ext cx="3624986" cy="4078224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10677" y="2368296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/>
        </p:spPr>
      </p:sp>
      <p:sp>
        <p:nvSpPr>
          <p:cNvPr id="23" name="Text 21"/>
          <p:cNvSpPr/>
          <p:nvPr/>
        </p:nvSpPr>
        <p:spPr>
          <a:xfrm>
            <a:off x="8310677" y="2368296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10677" y="267919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Docker harness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10677" y="2953512"/>
            <a:ext cx="3222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패치 적용 후 테스트 실행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310677" y="3282696"/>
            <a:ext cx="3222650" cy="822960"/>
          </a:xfrm>
          <a:prstGeom prst="roundRect">
            <a:avLst>
              <a:gd name="adj" fmla="val 14444"/>
            </a:avLst>
          </a:prstGeom>
          <a:solidFill>
            <a:srgbClr val="FAFAFA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10677" y="3429000"/>
            <a:ext cx="64008" cy="530352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8511845" y="3392424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resolved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11845" y="3666744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패치 적용 + 테스트 통과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10677" y="4233672"/>
            <a:ext cx="3222650" cy="822960"/>
          </a:xfrm>
          <a:prstGeom prst="roundRect">
            <a:avLst>
              <a:gd name="adj" fmla="val 14444"/>
            </a:avLst>
          </a:prstGeom>
          <a:solidFill>
            <a:srgbClr val="FAFAFA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0677" y="4379976"/>
            <a:ext cx="64008" cy="530352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32" name="Text 30"/>
          <p:cNvSpPr/>
          <p:nvPr/>
        </p:nvSpPr>
        <p:spPr>
          <a:xfrm>
            <a:off x="8511845" y="43434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unresolved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11845" y="4617720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적용됐으나 테스트 미통과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10677" y="5184648"/>
            <a:ext cx="3222650" cy="822960"/>
          </a:xfrm>
          <a:prstGeom prst="roundRect">
            <a:avLst>
              <a:gd name="adj" fmla="val 14444"/>
            </a:avLst>
          </a:prstGeom>
          <a:solidFill>
            <a:srgbClr val="FAFAFA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0677" y="5330952"/>
            <a:ext cx="64008" cy="530352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6" name="Text 34"/>
          <p:cNvSpPr/>
          <p:nvPr/>
        </p:nvSpPr>
        <p:spPr>
          <a:xfrm>
            <a:off x="8511845" y="5294376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적용실패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11845" y="5568696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malformed diff — 적용 불가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14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SWE-bench Lite oracle 50건 · Docker harness 채점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④: 결과 (NPU vs GPU)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두 디바이스 모두 resolved 0% — 같은 모델은 디바이스가 달라도 같은 정확도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731520"/>
          </a:xfrm>
          <a:prstGeom prst="roundRect">
            <a:avLst>
              <a:gd name="adj" fmla="val 20000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404872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0487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결론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8541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NPU·GPU 4개 조합 전부 resolved 0 — 정확도는 디바이스가 아니라 모델 크기·방식이 결정한다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3099816"/>
            <a:ext cx="6949440" cy="3163824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461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채점 결과 — 4개 조합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575304"/>
            <a:ext cx="6492240" cy="475488"/>
          </a:xfrm>
          <a:prstGeom prst="rect">
            <a:avLst/>
          </a:prstGeom>
          <a:solidFill>
            <a:srgbClr val="F2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" y="3575304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모델 · 디바이스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72384" y="3575304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resolved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78224" y="3575304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미해결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9784" y="3575304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적용실패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72784" y="3575304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평가건수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0664" y="4050792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Llama-3.1-8B · NPU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72384" y="40507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5EC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78224" y="4050792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29784" y="4050792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72784" y="4050792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649224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" y="4526280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Llama-3.1-8B · GPU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72384" y="452628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5EC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78224" y="4526280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29784" y="4526280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72784" y="452628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0664" y="5001768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Qwen2.5-0.5B · NPU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72384" y="5001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5EC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78224" y="5001768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29784" y="5001768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2784" y="5001768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" y="5477256"/>
            <a:ext cx="6492240" cy="4754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" y="5477256"/>
            <a:ext cx="2258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Qwen2.5-0.5B · GPU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72384" y="5477256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5EC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78224" y="5477256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29784" y="5477256"/>
            <a:ext cx="1069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72784" y="5477256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5800" y="602589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6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미해결 = 적용됐으나 테스트 실패 · 적용실패 = malformed diff. Qwen은 4K 컨텍스트라 47건이 평가 불가(제외) → 3건만 채점.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7626096" y="3099816"/>
            <a:ext cx="4108399" cy="957072"/>
          </a:xfrm>
          <a:prstGeom prst="roundRect">
            <a:avLst>
              <a:gd name="adj" fmla="val 1242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26096" y="3246120"/>
            <a:ext cx="64008" cy="66446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44" name="Text 42"/>
          <p:cNvSpPr/>
          <p:nvPr/>
        </p:nvSpPr>
        <p:spPr>
          <a:xfrm>
            <a:off x="7863840" y="3236976"/>
            <a:ext cx="3669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resolved 0 — 모델 한계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63840" y="3529584"/>
            <a:ext cx="3651199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8B·0.5B를 single-shot으로 돌리면 어느 하드웨어에서도 SWE-bench Lite를 못 푼다.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7626096" y="4203192"/>
            <a:ext cx="4108399" cy="957072"/>
          </a:xfrm>
          <a:prstGeom prst="roundRect">
            <a:avLst>
              <a:gd name="adj" fmla="val 1242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26096" y="4349496"/>
            <a:ext cx="64008" cy="664464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48" name="Text 46"/>
          <p:cNvSpPr/>
          <p:nvPr/>
        </p:nvSpPr>
        <p:spPr>
          <a:xfrm>
            <a:off x="7863840" y="4340352"/>
            <a:ext cx="3669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적용실패율 60~70%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63840" y="4632960"/>
            <a:ext cx="3651199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NPU Llama 36/50, GPU Llama 29/47 — 모델이 구조적으로 올바른 diff를 잘 못 만든다.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7626096" y="5306568"/>
            <a:ext cx="4108399" cy="957072"/>
          </a:xfrm>
          <a:prstGeom prst="roundRect">
            <a:avLst>
              <a:gd name="adj" fmla="val 1242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626096" y="5452872"/>
            <a:ext cx="64008" cy="664464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0" y="5443728"/>
            <a:ext cx="3669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디바이스 독립 확인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863840" y="5736336"/>
            <a:ext cx="3651199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모델의 NPU·GPU 결과가 거의 일치 → NPU 전환에 따른 정확도 손해는 없다.</a:t>
            </a:r>
            <a:endParaRPr lang="en-US" sz="9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4 · SWE-BENCH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15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예측 jsonl 분석 · SWE-bench·SWE-RL 논문(공개 GPU 수치)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4 — SWE-bench ⑤: 왜 0%인가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single-shot 8B의 한계 — 같은 방식이면 GPU·프런티어 모델도 한 자릿수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731520"/>
          </a:xfrm>
          <a:prstGeom prst="roundRect">
            <a:avLst>
              <a:gd name="adj" fmla="val 20000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404872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0487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결론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8541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정확도를 가르는 건 하드웨어가 아니라 모델 크기·스캐폴드 — 개선은 32B/70B 또는 에이전트로만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" y="30998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Llama-3.1-8B 두 실패 유형 — 모두 모델 역량 문제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212080" cy="1344168"/>
          </a:xfrm>
          <a:prstGeom prst="roundRect">
            <a:avLst>
              <a:gd name="adj" fmla="val 8844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93592"/>
            <a:ext cx="64008" cy="101498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753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적용실패 (NPU 36 · GPU 29)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모델이 diff의 @@ hunk 헤더 줄 수를 잘못 계산 → patch 도구가 거부. 8B가 정확한 unified diff 포맷을 못 맞춘다.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919472"/>
            <a:ext cx="5212080" cy="1344168"/>
          </a:xfrm>
          <a:prstGeom prst="roundRect">
            <a:avLst>
              <a:gd name="adj" fmla="val 8844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5084064"/>
            <a:ext cx="64008" cy="1014984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657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미해결 (NPU 14 · GPU 18)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376672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문법이 맞는 패치가 적용됐으나 테스트 미통과 — 수정 위치·내용이 틀림. 단발 8B 코드 추론의 한계.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70448" y="3099816"/>
            <a:ext cx="5864047" cy="3163824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9904" y="3236976"/>
            <a:ext cx="5425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공개 SWE-bench 결과 — 단발 생성(에이전트 없음)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9904" y="3575304"/>
            <a:ext cx="5425135" cy="365760"/>
          </a:xfrm>
          <a:prstGeom prst="rect">
            <a:avLst/>
          </a:prstGeom>
          <a:solidFill>
            <a:srgbClr val="F2F3F5"/>
          </a:solidFill>
          <a:ln/>
        </p:spPr>
      </p:sp>
      <p:sp>
        <p:nvSpPr>
          <p:cNvPr id="23" name="Text 21"/>
          <p:cNvSpPr/>
          <p:nvPr/>
        </p:nvSpPr>
        <p:spPr>
          <a:xfrm>
            <a:off x="6163056" y="357530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모델 (규모)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43416" y="357530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벤치 · 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506456" y="3575304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resolved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3941064"/>
            <a:ext cx="5425135" cy="365760"/>
          </a:xfrm>
          <a:prstGeom prst="roundRect">
            <a:avLst>
              <a:gd name="adj" fmla="val 10000"/>
            </a:avLst>
          </a:prstGeom>
          <a:solidFill>
            <a:srgbClr val="FDEEF7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394106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Llama-3.1-8B (본 측정·8B)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9043416" y="394106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Lite · 50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10506456" y="3941064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0 %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6163056" y="430682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GPT-4 (프런티어)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9043416" y="430682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full · 2294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0506456" y="4306824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1.7 %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089904" y="4672584"/>
            <a:ext cx="5425135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/>
          <p:nvPr/>
        </p:nvSpPr>
        <p:spPr>
          <a:xfrm>
            <a:off x="6163056" y="467258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Claude 2 (프런티어)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9043416" y="467258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full · 2294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10506456" y="4672584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4.8 %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6163056" y="5038344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Llama-3.3-70B (70B)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9043416" y="503834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Verified · 500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0506456" y="5038344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5.4 %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089904" y="5477256"/>
            <a:ext cx="5425135" cy="640080"/>
          </a:xfrm>
          <a:prstGeom prst="roundRect">
            <a:avLst>
              <a:gd name="adj" fmla="val 18571"/>
            </a:avLst>
          </a:prstGeom>
          <a:solidFill>
            <a:srgbClr val="F0F0F0"/>
          </a:solidFill>
          <a:ln/>
        </p:spPr>
      </p:sp>
      <p:sp>
        <p:nvSpPr>
          <p:cNvPr id="41" name="Text 39"/>
          <p:cNvSpPr/>
          <p:nvPr/>
        </p:nvSpPr>
        <p:spPr>
          <a:xfrm>
            <a:off x="6254496" y="5477256"/>
            <a:ext cx="50959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 </a:t>
            </a:r>
            <a:pPr indent="0" marL="0">
              <a:lnSpc>
                <a:spcPct val="132000"/>
              </a:lnSpc>
              <a:buNone/>
            </a:pPr>
            <a:r>
              <a:rPr lang="en-US" sz="93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single-shot이면 8B보다 큰 GPT-4·Claude 2·70B도 1.7~5.4%. 정확도는 더 큰 모델(4카드 32B·70B)이나 에이전트 스캐폴드로만 오른다.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TEST 5 · EMBEDDING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16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rngd-npu/results · embed / rerank task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테스트 5 — 임베딩 · 리랭커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검색 보조 모델(Qwen3-Embedding-8B · Qwen3-Reranker-8B)의 처리량 측정 — NPU 단독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490118" cy="256032"/>
          </a:xfrm>
          <a:prstGeom prst="roundRect">
            <a:avLst>
              <a:gd name="adj" fmla="val 50000"/>
            </a:avLst>
          </a:prstGeom>
          <a:solidFill>
            <a:srgbClr val="8E8E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4901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임베딩/리랭킹 처리량 — SWE-bench 검색 보조(RAG)에 쓰이는 모델.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77258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0138" y="2331720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8E8E93"/>
          </a:solidFill>
          <a:ln/>
        </p:spPr>
      </p:sp>
      <p:sp>
        <p:nvSpPr>
          <p:cNvPr id="13" name="Text 11"/>
          <p:cNvSpPr/>
          <p:nvPr/>
        </p:nvSpPr>
        <p:spPr>
          <a:xfrm>
            <a:off x="4460138" y="2331720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0138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/v1/embeddings·/v1/rerank에 batch {1·4·16·64}개 입력.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97317" y="2185416"/>
            <a:ext cx="3637178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0197" y="233172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8E8E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7" y="2331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출력·분석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80197" y="2642616"/>
            <a:ext cx="327141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초당 처리 건수(inputs/s), 배치 크기별 효율.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3566160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9867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Qwen3-Embedding-8B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" y="429768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1.17</a:t>
            </a:r>
            <a:pPr indent="0" marL="0">
              <a:buNone/>
            </a:pPr>
            <a:r>
              <a:rPr lang="en-US" sz="13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 inputs/s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13232" y="501091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batch 1·16·64 모두 동일 — 배치 이득 없음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206240" y="3767328"/>
            <a:ext cx="3566160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62272" y="398678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Qwen3-Reranker-8B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62272" y="429768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1.17</a:t>
            </a:r>
            <a:pPr indent="0" marL="0">
              <a:buNone/>
            </a:pPr>
            <a:r>
              <a:rPr lang="en-US" sz="130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 pairs/s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4462272" y="501091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쿼리당 100문서 ≈ 85초 — 항목당 약 0.85초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955280" y="3767328"/>
            <a:ext cx="3779215" cy="249631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0" y="4005072"/>
            <a:ext cx="64008" cy="2020824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3986784"/>
            <a:ext cx="3276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처리량 이상 — 별도 점검 필요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4352544"/>
            <a:ext cx="3230575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두 모델 모두 항목당 약 0.85초 — 8B 생성 모델의 단일 prefill(수십 ms) 대비 수십 배 느리다. batch size를 키워도 처리량이 1.17/s로 고정돼 배칭이 동작하지 않는다. prebuilt 아티팩트가 단일 배치(batch=1)로 컴파일된 것으로 추정 — 대량 검색에 부적합하며 배칭 지원 아티팩트 재컴파일이 후속 과제. GPU 측은 미측정(embedding 모델 보류).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MODEL NOTE · 0.5B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17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 · Qwen2.5-0.5B-Instruct (NPU·GPU)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측정 모델 노트 — Qwen2.5-0.5B-Instruct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속도는 GPU가 압도하지만 컨텍스트 4,096 한계로 코드 작업엔 부적합 — smoke 전용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749808"/>
          </a:xfrm>
          <a:prstGeom prst="roundRect">
            <a:avLst>
              <a:gd name="adj" fmla="val 19512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414016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14016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smoke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75104" y="2185416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자동화 파이프라인(서빙→측정→채점)이 정상 동작하는지 빠르게 확인하는 검증용 모델 — models.yaml에 role: smoke로 지정된, 코드 생성 후보가 아닌 모델.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99816"/>
            <a:ext cx="5538064" cy="2660904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" y="3246120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731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속도 — 0.5B는 GPU가 압도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" y="375970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648456"/>
            <a:ext cx="187452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249 / 84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3648456"/>
            <a:ext cx="293202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단일 출력 tok/s (GPU / NPU) — 작은 모델은 메모리 대역폭 싸움 → GPU 3배.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94944" y="4309872"/>
            <a:ext cx="5062576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447598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364736"/>
            <a:ext cx="187452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11.4K / 4.1K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88920" y="4364736"/>
            <a:ext cx="293202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동시성 c128 합산 tok/s (GPU / NPU) — 전 구간 GPU 우세.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94944" y="5026152"/>
            <a:ext cx="5062576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519226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081016"/>
            <a:ext cx="187452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13 / 31 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88920" y="5081016"/>
            <a:ext cx="293202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TTFT p50 (GPU / NPU) — 첫 토큰도 GPU가 빠르다.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196432" y="3099816"/>
            <a:ext cx="5538064" cy="2660904"/>
          </a:xfrm>
          <a:prstGeom prst="roundRect">
            <a:avLst>
              <a:gd name="adj" fmla="val 446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34176" y="3246120"/>
            <a:ext cx="508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5EC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한계 — 컨텍스트 4,096 토큰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34176" y="375970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0480" y="3648456"/>
            <a:ext cx="187452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4,096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28152" y="3648456"/>
            <a:ext cx="293202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max_context_len — NPU prebuilt 아티팩트의 고정 버킷. GPU도 동일하게 맞춤.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434176" y="4309872"/>
            <a:ext cx="5062576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4176" y="447598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1" name="Text 29"/>
          <p:cNvSpPr/>
          <p:nvPr/>
        </p:nvSpPr>
        <p:spPr>
          <a:xfrm>
            <a:off x="6580480" y="4364736"/>
            <a:ext cx="187452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 /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28152" y="4364736"/>
            <a:ext cx="293202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SWE-bench — oracle 프롬프트 47건이 4096 초과로 평가 불가, 3건만 채점.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434176" y="5026152"/>
            <a:ext cx="5062576" cy="0"/>
          </a:xfrm>
          <a:prstGeom prst="line">
            <a:avLst/>
          </a:prstGeom>
          <a:noFill/>
          <a:ln w="12700">
            <a:solidFill>
              <a:srgbClr val="F2F3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4176" y="5192268"/>
            <a:ext cx="64008" cy="384048"/>
          </a:xfrm>
          <a:prstGeom prst="roundRect">
            <a:avLst>
              <a:gd name="adj" fmla="val 42857"/>
            </a:avLst>
          </a:prstGeom>
          <a:solidFill>
            <a:srgbClr val="EA5EC1"/>
          </a:solidFill>
          <a:ln/>
        </p:spPr>
      </p:sp>
      <p:sp>
        <p:nvSpPr>
          <p:cNvPr id="35" name="Text 33"/>
          <p:cNvSpPr/>
          <p:nvPr/>
        </p:nvSpPr>
        <p:spPr>
          <a:xfrm>
            <a:off x="6580480" y="5081016"/>
            <a:ext cx="1874520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5EC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sweep 4096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28152" y="5081016"/>
            <a:ext cx="293202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96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prompt=4096 셀은 NPU·GPU 모두 전 동시성 실패 — 버킷 초과.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457200" y="5779008"/>
            <a:ext cx="11277295" cy="457200"/>
          </a:xfrm>
          <a:prstGeom prst="roundRect">
            <a:avLst>
              <a:gd name="adj" fmla="val 26000"/>
            </a:avLst>
          </a:prstGeom>
          <a:solidFill>
            <a:srgbClr val="F0F0F0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7790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시사점  </a:t>
            </a:r>
            <a:pPr indent="0" marL="0">
              <a:buNone/>
            </a:pPr>
            <a:r>
              <a:rPr lang="en-US" sz="10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smoke·단문 고처리량 데모엔 적합 · 코드 생성·긴 컨텍스트 작업엔 부적합 — 실사용하려면 아티팩트를 더 큰 컨텍스트 버킷으로 재컴파일해야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18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README_npu_gpu_result.md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종합 — NPU와 GPU는 성격이 다른 디바이스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RNGD = 지연(latency) 최적화 · A6000 = 처리량(throughput) 최적화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5538064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145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12848"/>
            <a:ext cx="5538064" cy="512064"/>
          </a:xfrm>
          <a:prstGeom prst="roundRect">
            <a:avLst>
              <a:gd name="adj" fmla="val 23214"/>
            </a:avLst>
          </a:prstGeom>
          <a:solidFill>
            <a:srgbClr val="1456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68880"/>
            <a:ext cx="5538064" cy="256032"/>
          </a:xfrm>
          <a:prstGeom prst="rect">
            <a:avLst/>
          </a:prstGeom>
          <a:solidFill>
            <a:srgbClr val="1456F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498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NPU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지연(latency) 머신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" y="2935224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2871216"/>
            <a:ext cx="480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8B 단일 출력 속도 +30% (54.5 vs 41.9 tok/s)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49808" y="3319272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3255264"/>
            <a:ext cx="480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토큰 간 지연(ITL)·첫 토큰(TTFT) 모두 짧음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49808" y="3703320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3639312"/>
            <a:ext cx="480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동시성 c16까지 합산 처리량 우세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49808" y="4087368"/>
            <a:ext cx="91440" cy="91440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4023360"/>
            <a:ext cx="480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serve 옵션(배치 슬롯)에 둔감 — 튜닝 부담 작음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196432" y="2212848"/>
            <a:ext cx="5538064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6432" y="2212848"/>
            <a:ext cx="5538064" cy="512064"/>
          </a:xfrm>
          <a:prstGeom prst="roundRect">
            <a:avLst>
              <a:gd name="adj" fmla="val 23214"/>
            </a:avLst>
          </a:prstGeom>
          <a:solidFill>
            <a:srgbClr val="F97316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6432" y="2468880"/>
            <a:ext cx="5538064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470752" y="2212848"/>
            <a:ext cx="498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NVIDIA A6000 GPU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처리량(throughput) 머신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89040" y="2935224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690208" y="2871216"/>
            <a:ext cx="480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동시성 c128 합산 처리량 +66% (3634 vs 2192)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489040" y="3319272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690208" y="3255264"/>
            <a:ext cx="480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0.5B 같은 소형 모델 전 구간 우세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489040" y="370332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6690208" y="3639312"/>
            <a:ext cx="480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32명 이상 대규모 트래픽에 강함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489040" y="408736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6690208" y="4023360"/>
            <a:ext cx="480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max-num-seqs 충분히 키워야 처리량 유지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57200" y="4681728"/>
            <a:ext cx="11277295" cy="1581912"/>
          </a:xfrm>
          <a:prstGeom prst="roundRect">
            <a:avLst>
              <a:gd name="adj" fmla="val 7514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480974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워크로드별 권장 디바이스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5120640"/>
            <a:ext cx="10820095" cy="224942"/>
          </a:xfrm>
          <a:prstGeom prst="rect">
            <a:avLst/>
          </a:prstGeom>
          <a:solidFill>
            <a:srgbClr val="F2F3F5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" y="5120640"/>
            <a:ext cx="555955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워크로드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28232" y="5120640"/>
            <a:ext cx="153619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권장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74152" y="5120640"/>
            <a:ext cx="3392424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근거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" y="5345582"/>
            <a:ext cx="555955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IDE 자동완성·소수 사용자 코드 어시스턴트 (동시 ≤16)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6428232" y="5345582"/>
            <a:ext cx="153619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NPU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8074152" y="5345582"/>
            <a:ext cx="3392424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8B 단일 +30%, c16까지 처리량 우세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85800" y="5570525"/>
            <a:ext cx="10820095" cy="22494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" y="5570525"/>
            <a:ext cx="555955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대화형 챗봇 — 낮은 지연 우선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6428232" y="5570525"/>
            <a:ext cx="153619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NPU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074152" y="5570525"/>
            <a:ext cx="3392424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TTFT·ITL 모두 NPU가 짧음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758952" y="5795467"/>
            <a:ext cx="555955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대규모 공용 API (동시 ≥32)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6428232" y="5795467"/>
            <a:ext cx="153619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9731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A6000 GPU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8074152" y="5795467"/>
            <a:ext cx="3392424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c32 이후 처리량 역전, c128 +66%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85800" y="6020410"/>
            <a:ext cx="10820095" cy="22494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/>
          <p:nvPr/>
        </p:nvSpPr>
        <p:spPr>
          <a:xfrm>
            <a:off x="758952" y="6020410"/>
            <a:ext cx="555955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코드 정확도가 핵심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428232" y="6020410"/>
            <a:ext cx="1536192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8E8E93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디바이스 무관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8074152" y="6020410"/>
            <a:ext cx="3392424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8B는 둘 다 0% — 32B/70B·에이전트 필요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19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19295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rngd-npu·bench-gpu REPORT.md · README_npu_gpu_result.md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결론 — 8B 코드 서빙, 동시성으로 디바이스를 고른다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소수~중간 규모는 RNGD NPU, 대규모 동시 트래픽은 A6000 GPU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85416"/>
            <a:ext cx="11277295" cy="950976"/>
          </a:xfrm>
          <a:prstGeom prst="roundRect">
            <a:avLst>
              <a:gd name="adj" fmla="val 15385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49631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496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최종 결론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185416"/>
            <a:ext cx="9235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8B급 코드 생성 모델을 동시 16~32명 이하로 서빙하면 RNGD NPU가 GPU보다 빠르고 안정적이다. 동시 사용자가 수십 명을 넘으면 GPU의 배치 처리량이 앞선다. 코드 정확도는 두 디바이스가 동일 — NPU 전환에 따른 정확도 손해는 없다.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19272"/>
            <a:ext cx="3637178" cy="2944368"/>
          </a:xfrm>
          <a:prstGeom prst="roundRect">
            <a:avLst>
              <a:gd name="adj" fmla="val 4969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6656" y="353872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538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" y="3922776"/>
            <a:ext cx="31982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소수 사용자 = RNGD NPU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6656" y="4526280"/>
            <a:ext cx="317997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030" dirty="0">
                <a:solidFill>
                  <a:srgbClr val="DBE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8B 단일 속도 +30%, c16까지 처리량 우세. 코드 자동완성·대화형 보조에 적합하며 serve 옵션은 기본값으로 충분.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277258" y="3319272"/>
            <a:ext cx="3637178" cy="2944368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96714" y="3538728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496714" y="3538728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분담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96714" y="3922776"/>
            <a:ext cx="31982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대규모 트래픽 = A6000 GPU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96714" y="4526280"/>
            <a:ext cx="317997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동시 32명 이상에서 GPU 처리량이 역전(c128 +66%). 공용 API는 GPU, 저지연 구간은 NPU로 분담 가능.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097317" y="3319272"/>
            <a:ext cx="3637178" cy="2944368"/>
          </a:xfrm>
          <a:prstGeom prst="roundRect">
            <a:avLst>
              <a:gd name="adj" fmla="val 4037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16773" y="3538728"/>
            <a:ext cx="405994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/>
        </p:spPr>
      </p:sp>
      <p:sp>
        <p:nvSpPr>
          <p:cNvPr id="23" name="Text 21"/>
          <p:cNvSpPr/>
          <p:nvPr/>
        </p:nvSpPr>
        <p:spPr>
          <a:xfrm>
            <a:off x="8316773" y="3538728"/>
            <a:ext cx="405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과제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16773" y="3922776"/>
            <a:ext cx="31982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정확도·임베딩 후속 측정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16773" y="4526280"/>
            <a:ext cx="317997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6000"/>
              </a:lnSpc>
              <a:buNone/>
            </a:pPr>
            <a:r>
              <a:rPr lang="en-US" sz="103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정확도는 4카드 32B·70B 측정 필요. NPU 임베딩 1.17/s 이상 현상은 배칭 아티팩트 재컴파일로 점검.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Benchmark</dc:creator>
  <cp:lastModifiedBy>RNGD Benchmark</cp:lastModifiedBy>
  <cp:revision>1</cp:revision>
  <dcterms:created xsi:type="dcterms:W3CDTF">2026-05-22T02:28:38Z</dcterms:created>
  <dcterms:modified xsi:type="dcterms:W3CDTF">2026-05-22T02:28:38Z</dcterms:modified>
</cp:coreProperties>
</file>