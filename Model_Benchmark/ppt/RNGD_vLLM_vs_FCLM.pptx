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20" kern="0" dirty="0">
                <a:solidFill>
                  <a:srgbClr val="5FC6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· 운영 관점 비교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vLLM</a:t>
            </a:r>
            <a:pPr indent="0" marL="0">
              <a:buNone/>
            </a:pPr>
            <a:r>
              <a:rPr lang="en-US" sz="3000" dirty="0">
                <a:solidFill>
                  <a:srgbClr val="8EA0B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vs  </a:t>
            </a:r>
            <a:pPr indent="0" marL="0">
              <a:buNone/>
            </a:pPr>
            <a:r>
              <a:rPr lang="en-US" sz="5200" dirty="0">
                <a:solidFill>
                  <a:srgbClr val="60A5FA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furiosa-llm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5E9E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OpenAI 호환 API, 정반대 실행 모델 — 설치 · 빌드 · serve · 호출 · 튜닝을 실제 명령어로 비교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furiosa-llm 2026.2.0</a:t>
            </a:r>
            <a:pPr indent="0" marL="0">
              <a:buNone/>
            </a:pPr>
            <a:r>
              <a:rPr lang="en-US" sz="12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·   </a:t>
            </a:r>
            <a:pPr indent="0" marL="0">
              <a:buNone/>
            </a:pPr>
            <a:r>
              <a:rPr lang="en-US" sz="1200" dirty="0">
                <a:solidFill>
                  <a:srgbClr val="E5E9E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vLLM 0.10.0 (V1)</a:t>
            </a:r>
            <a:pPr indent="0" marL="0">
              <a:buNone/>
            </a:pPr>
            <a:r>
              <a:rPr lang="en-US" sz="12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·   설치본 소스 + repo 실제 스크립트 기반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B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2026-06-09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한눈에 · 실행 모델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api.py · cli/convert.py · cli/serve.py · BUILD_FLOW.md · vllm/entrypoints/llm.py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 줄 차이 — 2단계 AOT vs 1단계 JIT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furiosa는 먼저 컴파일해 “아티팩트”를 만든 뒤 그걸 띄웁니다. vLLM은 띄우는 순간 로드·컴파일까지 한 번에.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697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HF 모델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31720" y="26974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15768" y="269748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1456F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15768" y="2697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furiosa-llm build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0288" y="26974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74336" y="269748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EEF3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74336" y="2697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아티팩트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(EDF 바이너리)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48856" y="26974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32904" y="269748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32904" y="2697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furiosa-llm serve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07424" y="26974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1472" y="269748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91472" y="2697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353872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느린 오프라인 빌드 1회  →  저장된 바이너리 로드(빠름) · shape·tp·양자화가 빌드에 “박힘”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28D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846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HF 모델 (또는 로컬)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484632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493008" y="484632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6D28D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93008" y="48463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 serve  =  로드 + torch.compile + CUDA그래프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45168" y="484632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729216" y="484632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729216" y="4846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서버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5687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별도 빌드 단계 없음  →  매 기동마다 가중치 로드·JIT 컴파일(시작 느림) · tp·양자화·shape를 기동마다 자유 선택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1. 설치 · 환경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furiosa-llm METADATA(Requires-Dist) · vLLM 0.10.0+cu126 · info/README_build.md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설치와 전제 — 전용 SDK vs pip 한 줄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1456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RNGD NPU 전용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5455768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063240"/>
            <a:ext cx="4998568" cy="1371600"/>
          </a:xfrm>
          <a:prstGeom prst="roundRect">
            <a:avLst>
              <a:gd name="adj" fmla="val 6667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23544" y="3227832"/>
            <a:ext cx="454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 (Furiosa SDK 저장소)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23544" y="3538728"/>
            <a:ext cx="4541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NPU 드라이버 · 펌웨어 · 컴파일러 선설치 필요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E0A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install furiosa-llm \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--extra-index-url &lt;furiosa-pypi&gt;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furiosa-smi info   # NPU 인식 확인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4617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torch 2.10 · transformers 5.1 등 버전 고정(pin)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500176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956048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furiosa-native-runtime / -compiler 동반 설치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538581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340096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 카드 + 드라이버 없으면 serve 불가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6461608" y="22860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1608" y="228600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NVIDIA GPU (CUDA)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78728" y="2852928"/>
            <a:ext cx="5455768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07328" y="3063240"/>
            <a:ext cx="4998568" cy="1371600"/>
          </a:xfrm>
          <a:prstGeom prst="roundRect">
            <a:avLst>
              <a:gd name="adj" fmla="val 6667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45072" y="3227832"/>
            <a:ext cx="454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 (PyPI)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45072" y="3538728"/>
            <a:ext cx="4541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CUDA 런타임만 있으면 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E0A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install vllm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nvidia-smi   # GPU 인식 확인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4760" y="4617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35928" y="457200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PyPI 한 줄(+ROCm/TPU/CPU 등 다중 백엔드 휠)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4760" y="500176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35928" y="4956048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임의 HF 체크포인트 즉시 사용 가능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4760" y="538581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35928" y="5340096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GPU만 있으면 어디서나 동일하게 동작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2. 모델 준비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cli/convert.py(build 플래그) · BUILD_FLOW.md · BUILD_COMPIL.md · vLLM은 별도 준비 단계 없음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준비 — furiosa만 “빌드”가 필요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vLLM에는 이 단계 자체가 없습니다. 그래서 furiosa는 첫 준비가 무겁고, 대신 serve가 가볍습니다.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1456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AOT 컴파일 → 아티팩트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07208"/>
            <a:ext cx="5455768" cy="1737360"/>
          </a:xfrm>
          <a:prstGeom prst="roundRect">
            <a:avLst>
              <a:gd name="adj" fmla="val 5263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" y="2971800"/>
            <a:ext cx="499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furiosa-llm build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" y="3282696"/>
            <a:ext cx="49985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E0A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furiosa-llm build Qwen/Qwen3-32B-FP8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./artifacts/qwen3-32b-fp8-tp8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-tp 8 \            # PE 8개 = 카드 1장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--prefill-buckets ... --decode-buckets ...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# 수 분~수십 분 (그래프 분할+컴파일)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672584"/>
            <a:ext cx="545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56F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산출물: artifact.json + EDF 바이너리 + param.safetensors + tokenizer  →  디스크에 저장, 재사용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5303520"/>
            <a:ext cx="5455768" cy="868680"/>
          </a:xfrm>
          <a:prstGeom prst="roundRect">
            <a:avLst>
              <a:gd name="adj" fmla="val 12632"/>
            </a:avLst>
          </a:prstGeom>
          <a:solidFill>
            <a:srgbClr val="FEF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440680"/>
            <a:ext cx="64008" cy="59436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394960"/>
            <a:ext cx="504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770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tp · 양자화 · shape(버킷)가 여기서 “박힘”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나중에 바꾸려면 이 build를 다시 돌려야 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8728" y="224028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61608" y="22402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1608" y="224028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준비 단계 없음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78728" y="2807208"/>
            <a:ext cx="5455768" cy="173736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78728" y="2807208"/>
            <a:ext cx="545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(해당 없음)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53048" y="3383280"/>
            <a:ext cx="490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모델 경로(HF id)를 serve에 바로 넘기면 됩니다.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가중치 로드·컴파일은 모두 기동 시점에 일어납니다.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8728" y="4672584"/>
            <a:ext cx="545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장점 vs 비용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78728" y="4983480"/>
            <a:ext cx="5455768" cy="118872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34760" y="5093208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+  사전 빌드 필요 없음 — 어떤 모델이든 즉시 시도
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+  tp·양자화·shape를 기동마다 자유 변경
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DC262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−  대신 매 기동마다 컴파일/그래프 캡처 비용 발생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 서버 실행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5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bench-blog/run_rngd.sh:41 · bench-gpu/runners/server.py:59 · configs/models.yaml · cli/serve.py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서버 실행 — 양쪽 다 OpenAI 호환 HTTP 서버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명령 모양은 닮았지만, furiosa는 “아티팩트 경로 + --devices”, vLLM은 “HF id + GPU” 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1456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serve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입력 = 빌드된 아티팩트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5455768" cy="2331720"/>
          </a:xfrm>
          <a:prstGeom prst="roundRect">
            <a:avLst>
              <a:gd name="adj" fmla="val 3922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" y="3017520"/>
            <a:ext cx="499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실제 사용 예 (run_rngd.sh)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" y="3328416"/>
            <a:ext cx="499856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E0A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furiosa-llm serve ./artifacts/qwen3-32b-fp8-tp8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--devices npu:0 \        # 어느 NPU 카드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--host 0.0.0.0 --port 8000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--max-concurrency 32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--reasoning-parser qwen3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--enable-prefix-caching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545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56F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입력이 “모델 이름”이 아니라 “빌드 산출물 폴더” · NPU 카드는 --devices npu:N 으로 지정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8728" y="228600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6461608" y="22860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 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61608" y="228600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입력 = HF 모델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78728" y="2852928"/>
            <a:ext cx="5455768" cy="2331720"/>
          </a:xfrm>
          <a:prstGeom prst="roundRect">
            <a:avLst>
              <a:gd name="adj" fmla="val 3922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16472" y="3017520"/>
            <a:ext cx="499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실제 사용 예 (runners/server.py + models.yaml)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16472" y="3328416"/>
            <a:ext cx="499856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CUDA_VISIBLE_DEVICES=2 \   # 어느 GPU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E0A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vllm serve Qwen/Qwen3-32B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--host 0.0.0.0 --port 8000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--max-num-seqs 32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--tensor-parallel-size 2 \  # 기동 시 결정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--enable-prefix-caching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8728" y="5303520"/>
            <a:ext cx="545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D28D9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입력이 “HF 모델 id”(없으면 자동 다운로드) · GPU는 CUDA_VISIBLE_DEVICES 로 지정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806440"/>
            <a:ext cx="11277295" cy="502920"/>
          </a:xfrm>
          <a:prstGeom prst="roundRect">
            <a:avLst>
              <a:gd name="adj" fmla="val 21818"/>
            </a:avLst>
          </a:prstGeom>
          <a:solidFill>
            <a:srgbClr val="EEF3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80644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공통: </a:t>
            </a:r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둘 다 기동 후 </a:t>
            </a:r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GET /v1/models</a:t>
            </a:r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로 헬스 체크 → 같은 OpenAI HTTP 엔드포인트(/v1/chat/completions 등) 제공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4. 오프라인 PYTHON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6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furiosa_llm api.py:90/115/419 (LLM, generate) · vllm/entrypoints/llm.py (LLM, generate)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코드로 직접 호출 — from … import LLM, SamplingParams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클래스 이름·메서드까지 닮았습니다. 차이는 LLM()에 “무엇을 넘기느냐”입니다.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1456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LLM(아티팩트 경로)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98648"/>
            <a:ext cx="5455768" cy="3108960"/>
          </a:xfrm>
          <a:prstGeom prst="roundRect">
            <a:avLst>
              <a:gd name="adj" fmla="val 2941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" y="3063240"/>
            <a:ext cx="499856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E0A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from furiosa_llm import LLM, SamplingParams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인자 = 빌드된 아티팩트 경로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llm = LLM("./artifacts/qwen3-32b-fp8-tp8",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      devices="npu:0")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sp = SamplingParams(temperature=0.7,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                max_tokens=256)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out = llm.generate("프롬프트", sp)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(HF id로 쓰려면 fxb= 로 v3 엔진 경로)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8728" y="233172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233172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1608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LLM(model=HF id)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78728" y="2898648"/>
            <a:ext cx="5455768" cy="3108960"/>
          </a:xfrm>
          <a:prstGeom prst="roundRect">
            <a:avLst>
              <a:gd name="adj" fmla="val 2941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6472" y="3063240"/>
            <a:ext cx="499856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E0A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from vllm import LLM, SamplingParams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인자 = HF 모델 id (런타임 로드)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llm = LLM(model="Qwen/Qwen3-32B",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      tensor_parallel_size=2)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sp = SamplingParams(temperature=0.7,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                max_tokens=256)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out = llm.generate(["프롬프트"], sp)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tp·양자화 등을 생성자 인자로 바로 지정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5. 클라이언트 호출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7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server/protocol.py:1-2 · chat_utils.py:2-3 (“Adapted from vLLM”) · sampling 필드 드롭은 §본문 검증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클라이언트는 동일 — 단, furiosa는 일부 필드를 조용히 버림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 서버 코드 상단에 “Adapted from vLLM” 이 명시돼 있을 만큼 API 표면이 같습니다.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77295" cy="1691640"/>
          </a:xfrm>
          <a:prstGeom prst="roundRect">
            <a:avLst>
              <a:gd name="adj" fmla="val 5405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450592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동일한 OpenAI 클라이언트 — 서버만 바꾸면 됨 (base_url)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761488"/>
            <a:ext cx="1082009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E0A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from openai import OpenAI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client = OpenAI(base_url="http://HOST:8000/v1", api_key="-")   # furiosa·vLLM 동일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client.chat.completions.create(model=MODEL, messages=[...], temperature=0.7, stream=True)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5455768" cy="1828800"/>
          </a:xfrm>
          <a:prstGeom prst="roundRect">
            <a:avLst>
              <a:gd name="adj" fmla="val 6000"/>
            </a:avLst>
          </a:prstGeom>
          <a:solidFill>
            <a:srgbClr val="E8FFE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4389120"/>
            <a:ext cx="64008" cy="146304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370832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양쪽 모두 그대로 동작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4773168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model · messages/prompt · temperature · top_p · top_k · max_tokens · stop_token_ids · stream · logprobs · 구조화 출력(JSON/grammar)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8728" y="4206240"/>
            <a:ext cx="5455768" cy="1828800"/>
          </a:xfrm>
          <a:prstGeom prst="roundRect">
            <a:avLst>
              <a:gd name="adj" fmla="val 6000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8728" y="4389120"/>
            <a:ext cx="64008" cy="146304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534760" y="4370832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furiosa가 받지만 “무시”하는 필드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4760" y="4773168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presence_penalty · frequency_penalty · seed · logit_bias · stop(문자열)
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요청은 200 OK지만 효과 없음(to_sampling_params에서 드롭). n&gt;1·투기적 디코딩은 아예 미지원.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6. 튜닝 노브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8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configs/models.yaml(실측 매핑) · cli/serve.py · EngineArgs(llm_engine.py:54-211) · vllm EngineArgs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튜닝 노브 대응표 — 이름까지 일부러 맞춰 놓음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벤치 비교용으로 정렬해 둔 매핑(models.yaml)을 그대로 옮긴 표입니다.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926080" cy="457200"/>
          </a:xfrm>
          <a:prstGeom prst="rect">
            <a:avLst/>
          </a:prstGeom>
          <a:solidFill>
            <a:srgbClr val="181E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항목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240280"/>
            <a:ext cx="3657600" cy="457200"/>
          </a:xfrm>
          <a:prstGeom prst="rect">
            <a:avLst/>
          </a:prstGeom>
          <a:solidFill>
            <a:srgbClr val="1456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2240280"/>
            <a:ext cx="27889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240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29800" y="2240280"/>
            <a:ext cx="1901952" cy="457200"/>
          </a:xfrm>
          <a:prstGeom prst="rect">
            <a:avLst/>
          </a:prstGeom>
          <a:solidFill>
            <a:srgbClr val="181E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29800" y="2240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974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동시 처리 시퀀스 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69748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6974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--max-concurrency / --max-batch-size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40880" y="2697480"/>
            <a:ext cx="2788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2697480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--max-num-seqs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829800" y="2697480"/>
            <a:ext cx="19019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02952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개념 동일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292608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1546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배치 토큰 예산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154680"/>
            <a:ext cx="365760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1546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--max-num-batched-tokens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40880" y="3154680"/>
            <a:ext cx="278892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3154680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--max-num-batched-tokens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29800" y="3154680"/>
            <a:ext cx="1901952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02952" y="31546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키 이름 동일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61188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6118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최대 컨텍스트 길이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61188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36118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--max-model-len (버킷 상한)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40880" y="3611880"/>
            <a:ext cx="2788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3611880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--max-model-len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829800" y="3611880"/>
            <a:ext cx="19019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02952" y="36118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furiosa는 버킷 범위 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069080"/>
            <a:ext cx="292608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069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프리픽스 캐싱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4069080"/>
            <a:ext cx="365760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40690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--enable-prefix-caching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40880" y="4069080"/>
            <a:ext cx="278892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4069080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--enable-prefix-caching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29800" y="4069080"/>
            <a:ext cx="1901952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02952" y="40690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둘 다 기본 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526280"/>
            <a:ext cx="29260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45262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텐서 병렬(TP)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83280" y="4526280"/>
            <a:ext cx="365760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56432" y="45262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빌드에 고정 (serve에선 무시)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40880" y="4526280"/>
            <a:ext cx="278892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4526280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--tensor-parallel-size (기동 시)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829800" y="4526280"/>
            <a:ext cx="1901952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02952" y="45262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770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★ 가장 큰 차이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983480"/>
            <a:ext cx="292608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49834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메모리 점유율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83280" y="4983480"/>
            <a:ext cx="365760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56432" y="49834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(등가 없음) · --spare-blocks-ratio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040880" y="4983480"/>
            <a:ext cx="278892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14032" y="4983480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--gpu-memory-utilization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829800" y="4983480"/>
            <a:ext cx="1901952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902952" y="4983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NPU엔 직접 등가 없음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544068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0352" y="54406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NPU 전용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383280" y="544068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56432" y="54406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--devices npu:N · --npu-queue-limit · 버킷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040880" y="5440680"/>
            <a:ext cx="2788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14032" y="5440680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829800" y="5440680"/>
            <a:ext cx="19019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02952" y="54406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하드웨어 종속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57200" y="6007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tp는 furiosa에선 빌드에 박혀 serve 플래그가 무시됨(다음 장). pp·dp는 serve에서 변경 가능.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7. CLI 플래그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9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furiosa-llm cli/serve.py (전체 플래그 추출) · vLLM EngineArgs/cli_args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 serve = vLLM 플래그 미러링 + NPU 전용 추가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furiosa는 vLLM 사용자가 그대로 옮겨올 수 있게 같은 플래그를 많이 채택했습니다.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55768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2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양쪽 공통 (furiosa가 vLLM서 채택)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--host / --port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22244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50844" y="292608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--max-model-len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41071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410712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--max-num-batched-tokens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2244" y="341071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50844" y="3410712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--enable-prefix-caching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389534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895344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--tensor-parallel-size *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22244" y="389534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50844" y="3895344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--pipeline-parallel-size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437997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379976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--data-parallel-size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22244" y="437997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50844" y="4379976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--reasoning-parser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48646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864608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--tool-call-parser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22244" y="48646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50844" y="4864608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--structured-outputs-backend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" y="5349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534924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--served-model-name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22244" y="5349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50844" y="534924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--api-key / --chat-template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" y="5596128"/>
            <a:ext cx="509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* --tensor-parallel-size 는 plumbing만 같고, prebuilt 아티팩트에선 무시됨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78728" y="2286000"/>
            <a:ext cx="5455768" cy="3657600"/>
          </a:xfrm>
          <a:prstGeom prst="roundRect">
            <a:avLst>
              <a:gd name="adj" fmla="val 3000"/>
            </a:avLst>
          </a:prstGeom>
          <a:solidFill>
            <a:srgbClr val="EEF3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78728" y="2286000"/>
            <a:ext cx="5455768" cy="457200"/>
          </a:xfrm>
          <a:prstGeom prst="roundRect">
            <a:avLst>
              <a:gd name="adj" fmla="val 20000"/>
            </a:avLst>
          </a:prstGeom>
          <a:solidFill>
            <a:srgbClr val="1456F0"/>
          </a:solidFill>
          <a:ln/>
        </p:spPr>
      </p:sp>
      <p:sp>
        <p:nvSpPr>
          <p:cNvPr id="37" name="Text 35"/>
          <p:cNvSpPr/>
          <p:nvPr/>
        </p:nvSpPr>
        <p:spPr>
          <a:xfrm>
            <a:off x="6461608" y="22860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 전용 (vLLM엔 없음)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34760" y="290779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--devices npu:N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34760" y="2907792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어느 NPU 카드/PE에 올릴지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4760" y="332841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--prefill-buckets / --decode-buckets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34760" y="3328416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정적 shape 버킷 지정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34760" y="374904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--max-batch-size / --min-batch-size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34760" y="374904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 배치 경계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34760" y="4169664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--npu-queue-limit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34760" y="4169664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 큐 깊이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34760" y="4590288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--spare-blocks-ratio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34760" y="459028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KV 예약 블록 비율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34760" y="501091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--enable-jit-compilation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34760" y="5010912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기동 시 재컴파일(opt-in)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34760" y="543153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--scheduler-kind / -loop-type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534760" y="5431536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네이티브 스케줄러 선택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8. 운영 함정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10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README_runcode.md:499 · server/models.py:38 · api.py:383 · artifact/builder.py · presets.py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실전에서 부딪히는 차이 5가지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주로 furiosa의 “정적·사전 컴파일” 성격에서 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7729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86584"/>
            <a:ext cx="64008" cy="493776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C2626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tp는 serve에서 못 바꾼다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09160" y="2331720"/>
            <a:ext cx="6842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prebuilt 아티팩트는 tp가 바이너리에 박혀 있어 --tensor-parallel-size 가 무시됨(WARNING). 바꾸려면 그 값으로 build 재실행. (vLLM은 기동 플래그로 즉시 변경)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1127729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9544"/>
            <a:ext cx="64008" cy="493776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31821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프롬프트 길이 = 버킷 상한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09160" y="3154680"/>
            <a:ext cx="6842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정적 shape이라 최대 prefill 버킷을 넘는 프롬프트는 거부됨. (vLLM은 동적 shape이라 --max-model-len 까지 자유)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1127729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32504"/>
            <a:ext cx="64008" cy="493776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56F0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40050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gpu-memory-utilization 등가 없음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09160" y="3977640"/>
            <a:ext cx="6842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NPU는 메모리 자동 프로파일링 노브가 없음 — --spare-blocks-ratio 가 가장 근접. (vLLM은 0.9로 HBM 점유율 직접 조절)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1127729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855464"/>
            <a:ext cx="64008" cy="493776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0916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34A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48280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첫 준비는 무겁고, 기동은 가볍다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09160" y="4800600"/>
            <a:ext cx="6842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furiosa: build 한 번(수십 분) → serve는 로드만(빠름·결정적). vLLM: build 없음 → 매 기동마다 컴파일/캡처 비용.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57200" y="5532120"/>
            <a:ext cx="1127729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678424"/>
            <a:ext cx="64008" cy="493776"/>
          </a:xfrm>
          <a:prstGeom prst="roundRect">
            <a:avLst>
              <a:gd name="adj" fmla="val 42857"/>
            </a:avLst>
          </a:prstGeom>
          <a:solidFill>
            <a:srgbClr val="6D28D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53212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D28D9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188720" y="56509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아티팩트 이동성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709160" y="5623560"/>
            <a:ext cx="6842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 아티팩트는 특정 모델·tp·SDK 버전에 묶임. vLLM은 HF 체크포인트만 있으면 어느 GPU에서나 동일 기동.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11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정리 — 무엇을 언제 쓰나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4557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55768" cy="502920"/>
          </a:xfrm>
          <a:prstGeom prst="roundRect">
            <a:avLst>
              <a:gd name="adj" fmla="val 18182"/>
            </a:avLst>
          </a:prstGeom>
          <a:solidFill>
            <a:srgbClr val="1456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509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이 맞는 경우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2852928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 RNGD NPU에 배포가 전제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3328416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모델·구성이 고정 — 한 번 빌드해 오래 서빙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85876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3803904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빠르고 결정적인 기동, 사전 최적화가 중요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33425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427939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AOT로 굳힌 정적 파이프라인이 잘 맞는 워크로드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8728" y="2194560"/>
            <a:ext cx="54557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8728" y="2194560"/>
            <a:ext cx="5455768" cy="502920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61608" y="2194560"/>
            <a:ext cx="509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 이 맞는 경우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53048" y="29077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72504" y="2852928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GPU 환경 · 다양한 모델을 자주 바꿔 실험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53048" y="3383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72504" y="3328416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tp·양자화·shape를 기동마다 유연하게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53048" y="385876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72504" y="3803904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투기적 디코딩·전체 샘플링 기능이 필요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53048" y="433425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72504" y="427939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엔진 내부를 읽고·고치고·검증해야 함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257800"/>
            <a:ext cx="11277295" cy="868680"/>
          </a:xfrm>
          <a:prstGeom prst="roundRect">
            <a:avLst>
              <a:gd name="adj" fmla="val 12632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C6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 줄 요약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9E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furiosa-llm = 미리 컴파일해 얼린 아티팩트 + 네이티브 런타임(NPU)   ·   vLLM = 기동마다 로드·컴파일하는 열린 Python 런타임(GPU)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vLLM vs FCLM</dc:creator>
  <cp:lastModifiedBy>RNGD vLLM vs FCLM</cp:lastModifiedBy>
  <cp:revision>1</cp:revision>
  <dcterms:created xsi:type="dcterms:W3CDTF">2026-06-09T08:24:18Z</dcterms:created>
  <dcterms:modified xsi:type="dcterms:W3CDTF">2026-06-09T08:24:18Z</dcterms:modified>
</cp:coreProperties>
</file>