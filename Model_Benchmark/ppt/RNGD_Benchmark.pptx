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필요 PE</c:v>
                </c:pt>
              </c:strCache>
            </c:strRef>
          </c:tx>
          <c:spPr>
            <a:solidFill>
              <a:srgbClr val="1456F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50" u="none">
                    <a:solidFill>
                      <a:srgbClr val="222222"/>
                    </a:solidFill>
                    <a:latin typeface="Paperlogy 6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456f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56f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456f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456f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ec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ec1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a5ec1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Qwen2.5-0.5B</c:v>
                  </c:pt>
                  <c:pt idx="1">
                    <c:v>Llama-3.1-8B</c:v>
                  </c:pt>
                  <c:pt idx="2">
                    <c:v>Qwen3-Embed-8B</c:v>
                  </c:pt>
                  <c:pt idx="3">
                    <c:v>Qwen3-Rerank-8B</c:v>
                  </c:pt>
                  <c:pt idx="4">
                    <c:v>Qwen3-32B-FP8</c:v>
                  </c:pt>
                  <c:pt idx="5">
                    <c:v>EXAONE-4.0-32B</c:v>
                  </c:pt>
                  <c:pt idx="6">
                    <c:v>Llama-3.3-70B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32</c:v>
                </c:pt>
                <c:pt idx="5">
                  <c:v>32</c:v>
                </c:pt>
                <c:pt idx="6">
                  <c:v>32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50" u="none">
                  <a:solidFill>
                    <a:srgbClr val="222222"/>
                  </a:solidFill>
                  <a:latin typeface="Paperlogy 6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5E7EB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45515E"/>
                </a:solidFill>
                <a:latin typeface="Paperlogy 5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E5E7EB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E8E93"/>
                </a:solidFill>
                <a:latin typeface="Paperlogy 4 Regula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합산 TPS</c:v>
                </c:pt>
              </c:strCache>
            </c:strRef>
          </c:tx>
          <c:spPr>
            <a:solidFill>
              <a:srgbClr val="1456F0"/>
            </a:solidFill>
            <a:ln w="31750" cap="flat">
              <a:solidFill>
                <a:srgbClr val="1456F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222222"/>
                    </a:solidFill>
                    <a:latin typeface="Paperlogy 6 SemiBold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456F0"/>
              </a:solidFill>
              <a:ln w="9525" cap="flat">
                <a:solidFill>
                  <a:srgbClr val="1456F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</c:v>
                  </c:pt>
                  <c:pt idx="1">
                    <c:v>2</c:v>
                  </c:pt>
                  <c:pt idx="2">
                    <c:v>4</c:v>
                  </c:pt>
                  <c:pt idx="3">
                    <c:v>8</c:v>
                  </c:pt>
                  <c:pt idx="4">
                    <c:v>16</c:v>
                  </c:pt>
                  <c:pt idx="5">
                    <c:v>32</c:v>
                  </c:pt>
                  <c:pt idx="6">
                    <c:v>64</c:v>
                  </c:pt>
                  <c:pt idx="7">
                    <c:v>128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52</c:v>
                </c:pt>
                <c:pt idx="1">
                  <c:v>101</c:v>
                </c:pt>
                <c:pt idx="2">
                  <c:v>191</c:v>
                </c:pt>
                <c:pt idx="3">
                  <c:v>344</c:v>
                </c:pt>
                <c:pt idx="4">
                  <c:v>649</c:v>
                </c:pt>
                <c:pt idx="5">
                  <c:v>1090</c:v>
                </c:pt>
                <c:pt idx="6">
                  <c:v>1636</c:v>
                </c:pt>
                <c:pt idx="7">
                  <c:v>2197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222222"/>
                  </a:solidFill>
                  <a:latin typeface="Paperlogy 6 SemiBold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5E7EB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5515E"/>
                </a:solidFill>
                <a:latin typeface="Paperlogy 5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60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E5E7EB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E8E93"/>
                </a:solidFill>
                <a:latin typeface="Paperlogy 4 Regula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tok/s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22222"/>
                    </a:solidFill>
                    <a:latin typeface="Paperlogy 6 SemiBold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baseline</c:v>
                  </c:pt>
                  <c:pt idx="1">
                    <c:v>max-model-len 4096</c:v>
                  </c:pt>
                  <c:pt idx="2">
                    <c:v>max-model-len 16384</c:v>
                  </c:pt>
                  <c:pt idx="3">
                    <c:v>max-batch-size 32</c:v>
                  </c:pt>
                  <c:pt idx="4">
                    <c:v>max-num-batched 16384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2276</c:v>
                </c:pt>
                <c:pt idx="1">
                  <c:v>2294</c:v>
                </c:pt>
                <c:pt idx="2">
                  <c:v>2133</c:v>
                </c:pt>
                <c:pt idx="3">
                  <c:v>2265</c:v>
                </c:pt>
                <c:pt idx="4">
                  <c:v>2266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222222"/>
                  </a:solidFill>
                  <a:latin typeface="Paperlogy 6 SemiBold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5E7EB"/>
            </a:solidFill>
            <a:prstDash val="solid"/>
            <a:round/>
          </a:ln>
        </c:spPr>
        <c:txPr>
          <a:bodyPr/>
          <a:lstStyle/>
          <a:p>
            <a:pPr>
              <a:defRPr sz="880" b="0" i="0" u="none" strike="noStrike">
                <a:solidFill>
                  <a:srgbClr val="45515E"/>
                </a:solidFill>
                <a:latin typeface="Paperlogy 5 Medium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0"/>
          <c:min val="180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E5E7EB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E8E93"/>
                </a:solidFill>
                <a:latin typeface="Paperlogy 4 Regula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결과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8E8E93"/>
              </a:solidFill>
              <a:effectLst/>
            </c:spPr>
          </c:dPt>
          <c:dPt>
            <c:idx val="2"/>
            <c:bubble3D val="0"/>
            <c:spPr>
              <a:solidFill>
                <a:srgbClr val="EA5EC1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resolved 0</c:v>
                </c:pt>
                <c:pt idx="1">
                  <c:v>unresolved 23</c:v>
                </c:pt>
                <c:pt idx="2">
                  <c:v>적용실패 27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0.001</c:v>
                </c:pt>
                <c:pt idx="1">
                  <c:v>23</c:v>
                </c:pt>
                <c:pt idx="2">
                  <c:v>27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45515E"/>
              </a:solidFill>
              <a:latin typeface="Paperlogy 5 Medium"/>
              <a:cs typeface="Paperlogy 5 Medium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FURIOSA RNGD · 2026.05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spc="-80" kern="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Furiosa RNGD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spc="-80" kern="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코드 생성 모델 벤치마크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5515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측정 기준 · 5개 테스트 방법 · 과정 · 결과 — RNGD 2-카드 환경에서 서빙 가능한 4개 모델 검증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3383280"/>
            <a:ext cx="11277295" cy="1600200"/>
          </a:xfrm>
          <a:prstGeom prst="roundRect">
            <a:avLst>
              <a:gd name="adj" fmla="val 12571"/>
            </a:avLst>
          </a:prstGeom>
          <a:solidFill>
            <a:srgbClr val="1456F0"/>
          </a:solidFill>
          <a:ln/>
          <a:effectLst>
            <a:outerShdw sx="100000" sy="100000" kx="0" ky="0" algn="bl" rotWithShape="0" blurRad="190500" dist="50800" dir="5400000">
              <a:srgbClr val="2c1e74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3657600"/>
            <a:ext cx="106070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657600"/>
            <a:ext cx="1060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456F0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핵심 결론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3968496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BE6FF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코드 생성 후보 = </a:t>
            </a:r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Llama-3.1-8B-Instruct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22960" y="4498848"/>
            <a:ext cx="105457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BE6FF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단일 55 tok/s · 동시성 c128까지 요청 실패 0 · RNGD 1카드 — 단, 강력 후보 32B·70B는 4카드 필요로 제외돼 모델 간 비교는 불성립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5193792"/>
            <a:ext cx="3637178" cy="1024128"/>
          </a:xfrm>
          <a:prstGeom prst="roundRect">
            <a:avLst>
              <a:gd name="adj" fmla="val 11607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58368" y="5321808"/>
            <a:ext cx="32348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측정 테스트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5504688"/>
            <a:ext cx="32348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56F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5종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58368" y="5916168"/>
            <a:ext cx="32348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속도·동시성·serve옵션·SWE-bench·임베딩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277258" y="5193792"/>
            <a:ext cx="3637178" cy="1024128"/>
          </a:xfrm>
          <a:prstGeom prst="roundRect">
            <a:avLst>
              <a:gd name="adj" fmla="val 11607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478426" y="5321808"/>
            <a:ext cx="32348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측정 모델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78426" y="5504688"/>
            <a:ext cx="32348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56F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 / 7종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478426" y="5916168"/>
            <a:ext cx="32348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2카드 서빙 가능 모델만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097317" y="5193792"/>
            <a:ext cx="3637178" cy="1024128"/>
          </a:xfrm>
          <a:prstGeom prst="roundRect">
            <a:avLst>
              <a:gd name="adj" fmla="val 11607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98485" y="5321808"/>
            <a:ext cx="32348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자동화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98485" y="5504688"/>
            <a:ext cx="323484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456F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 YAML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298485" y="5916168"/>
            <a:ext cx="323484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모델 추가 시 전 과정 자동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419295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E8E93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furiosa-llm 2026.2.0 · RNGD npu0/npu1 (firmware 2026.2.0)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80" kern="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OBJECTIVE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 /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19295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100" spc="-60" kern="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무엇을, 어떤 기준으로 검증했나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57200" y="158191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5515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RNGD prebuilt 모델 중 코드 생성에 가장 적합한 모델을 4개 축으로 평가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185416"/>
            <a:ext cx="11277295" cy="960120"/>
          </a:xfrm>
          <a:prstGeom prst="roundRect">
            <a:avLst>
              <a:gd name="adj" fmla="val 15238"/>
            </a:avLst>
          </a:prstGeom>
          <a:solidFill>
            <a:srgbClr val="1456F0"/>
          </a:solidFill>
          <a:ln/>
          <a:effectLst>
            <a:outerShdw sx="100000" sy="100000" kx="0" ky="0" algn="bl" rotWithShape="0" blurRad="190500" dist="50800" dir="5400000">
              <a:srgbClr val="2c1e74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23317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BE6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검증 목표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569464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Furiosa RNGD에서 제공되는 prebuilt 모델을 대상으로 코드 생성 작업에 가장 적합한 모델을 가려내고, 그 판단 근거를 정량 측정으로 확보한다.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328416"/>
            <a:ext cx="2682164" cy="2935224"/>
          </a:xfrm>
          <a:prstGeom prst="roundRect">
            <a:avLst>
              <a:gd name="adj" fmla="val 4432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3547872"/>
            <a:ext cx="64008" cy="384048"/>
          </a:xfrm>
          <a:prstGeom prst="roundRect">
            <a:avLst>
              <a:gd name="adj" fmla="val 42857"/>
            </a:avLst>
          </a:prstGeom>
          <a:solidFill>
            <a:srgbClr val="1456F0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" y="3529584"/>
            <a:ext cx="231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56F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76656" y="3895344"/>
            <a:ext cx="22798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토큰 생성 속도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" y="4206240"/>
            <a:ext cx="22798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56F0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속도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76656" y="4553712"/>
            <a:ext cx="22615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단일 요청에서 첫 토큰 지연(TTFT)과 초당 생성 토큰 수(tok/s)를 측정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6656" y="5660136"/>
            <a:ext cx="2243252" cy="0"/>
          </a:xfrm>
          <a:prstGeom prst="line">
            <a:avLst/>
          </a:prstGeom>
          <a:noFill/>
          <a:ln w="12700">
            <a:solidFill>
              <a:srgbClr val="F2F3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5769864"/>
            <a:ext cx="22615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456F0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해당 테스트 · 테스트 1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22244" y="3328416"/>
            <a:ext cx="2682164" cy="2935224"/>
          </a:xfrm>
          <a:prstGeom prst="roundRect">
            <a:avLst>
              <a:gd name="adj" fmla="val 4432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322244" y="3547872"/>
            <a:ext cx="64008" cy="384048"/>
          </a:xfrm>
          <a:prstGeom prst="roundRect">
            <a:avLst>
              <a:gd name="adj" fmla="val 42857"/>
            </a:avLst>
          </a:prstGeom>
          <a:solidFill>
            <a:srgbClr val="3B82F6"/>
          </a:solidFill>
          <a:ln/>
        </p:spPr>
      </p:sp>
      <p:sp>
        <p:nvSpPr>
          <p:cNvPr id="20" name="Text 18"/>
          <p:cNvSpPr/>
          <p:nvPr/>
        </p:nvSpPr>
        <p:spPr>
          <a:xfrm>
            <a:off x="3541700" y="3529584"/>
            <a:ext cx="231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82F6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541700" y="3895344"/>
            <a:ext cx="22798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동시 접속 확장성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541700" y="4206240"/>
            <a:ext cx="22798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B82F6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동시성·배치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541700" y="4553712"/>
            <a:ext cx="22615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동시 요청을 늘리며 합산 처리량·요청당 지연·실패율의 변화를 측정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541700" y="5660136"/>
            <a:ext cx="2243252" cy="0"/>
          </a:xfrm>
          <a:prstGeom prst="line">
            <a:avLst/>
          </a:prstGeom>
          <a:noFill/>
          <a:ln w="12700">
            <a:solidFill>
              <a:srgbClr val="F2F3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41700" y="5769864"/>
            <a:ext cx="22615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B82F6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해당 테스트 · 테스트 2 · 3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87288" y="3328416"/>
            <a:ext cx="2682164" cy="2935224"/>
          </a:xfrm>
          <a:prstGeom prst="roundRect">
            <a:avLst>
              <a:gd name="adj" fmla="val 4432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187288" y="3547872"/>
            <a:ext cx="64008" cy="384048"/>
          </a:xfrm>
          <a:prstGeom prst="roundRect">
            <a:avLst>
              <a:gd name="adj" fmla="val 42857"/>
            </a:avLst>
          </a:prstGeom>
          <a:solidFill>
            <a:srgbClr val="60A5FA"/>
          </a:solidFill>
          <a:ln/>
        </p:spPr>
      </p:sp>
      <p:sp>
        <p:nvSpPr>
          <p:cNvPr id="28" name="Text 26"/>
          <p:cNvSpPr/>
          <p:nvPr/>
        </p:nvSpPr>
        <p:spPr>
          <a:xfrm>
            <a:off x="6406744" y="3529584"/>
            <a:ext cx="231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0A5F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03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406744" y="3895344"/>
            <a:ext cx="22798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SWE-bench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406744" y="4206240"/>
            <a:ext cx="22798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0A5FA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정확도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406744" y="4553712"/>
            <a:ext cx="22615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실제 GitHub 이슈를 코드 패치로 해결하는 정확도를 테스트 통과로 채점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406744" y="5660136"/>
            <a:ext cx="2243252" cy="0"/>
          </a:xfrm>
          <a:prstGeom prst="line">
            <a:avLst/>
          </a:prstGeom>
          <a:noFill/>
          <a:ln w="12700">
            <a:solidFill>
              <a:srgbClr val="F2F3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6744" y="5769864"/>
            <a:ext cx="22615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0A5FA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해당 테스트 · 테스트 4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052331" y="3328416"/>
            <a:ext cx="2682164" cy="2935224"/>
          </a:xfrm>
          <a:prstGeom prst="roundRect">
            <a:avLst>
              <a:gd name="adj" fmla="val 4432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052331" y="3547872"/>
            <a:ext cx="64008" cy="384048"/>
          </a:xfrm>
          <a:prstGeom prst="roundRect">
            <a:avLst>
              <a:gd name="adj" fmla="val 42857"/>
            </a:avLst>
          </a:prstGeom>
          <a:solidFill>
            <a:srgbClr val="EA5EC1"/>
          </a:solidFill>
          <a:ln/>
        </p:spPr>
      </p:sp>
      <p:sp>
        <p:nvSpPr>
          <p:cNvPr id="36" name="Text 34"/>
          <p:cNvSpPr/>
          <p:nvPr/>
        </p:nvSpPr>
        <p:spPr>
          <a:xfrm>
            <a:off x="9271787" y="3529584"/>
            <a:ext cx="231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5EC1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04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271787" y="3895344"/>
            <a:ext cx="22798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서빙·자동화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271787" y="4206240"/>
            <a:ext cx="22798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A5EC1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환경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9271787" y="4553712"/>
            <a:ext cx="226154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furiosa-llm 서빙 구성과 신규 모델 자동 분석 파이프라인 구축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9271787" y="5660136"/>
            <a:ext cx="2243252" cy="0"/>
          </a:xfrm>
          <a:prstGeom prst="line">
            <a:avLst/>
          </a:prstGeom>
          <a:noFill/>
          <a:ln w="12700">
            <a:solidFill>
              <a:srgbClr val="F2F3F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271787" y="5769864"/>
            <a:ext cx="22615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A5EC1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해당 테스트 · 테스트 5 · 전반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80" kern="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3 /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19295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100" spc="-60" kern="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측정 환경 — furiosa-llm OpenAI 호환 서버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57200" y="158191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5515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vLLM은 RNGD에 직접 붙지 않음 → furiosa-llm이 vLLM 호환 OpenAI API를 제공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3200400" cy="1554480"/>
          </a:xfrm>
          <a:prstGeom prst="roundRect">
            <a:avLst>
              <a:gd name="adj" fmla="val 7647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569464"/>
            <a:ext cx="64008" cy="1078992"/>
          </a:xfrm>
          <a:prstGeom prst="roundRect">
            <a:avLst>
              <a:gd name="adj" fmla="val 42857"/>
            </a:avLst>
          </a:prstGeom>
          <a:solidFill>
            <a:srgbClr val="1456F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56946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측정 클라이언트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2935224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httpx 비동기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/v1/chat/completions 호출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657600" y="2331720"/>
            <a:ext cx="8380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E8E93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495648" y="2331720"/>
            <a:ext cx="3200400" cy="1554480"/>
          </a:xfrm>
          <a:prstGeom prst="roundRect">
            <a:avLst>
              <a:gd name="adj" fmla="val 7647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495648" y="2569464"/>
            <a:ext cx="64008" cy="1078992"/>
          </a:xfrm>
          <a:prstGeom prst="roundRect">
            <a:avLst>
              <a:gd name="adj" fmla="val 42857"/>
            </a:avLst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4769968" y="256946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furiosa-llm serve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69968" y="2935224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OpenAI 호환 API 서버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(vLLM과 동일 스펙)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696048" y="2331720"/>
            <a:ext cx="83804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8E8E93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534095" y="2331720"/>
            <a:ext cx="3200400" cy="1554480"/>
          </a:xfrm>
          <a:prstGeom prst="roundRect">
            <a:avLst>
              <a:gd name="adj" fmla="val 7647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534095" y="2569464"/>
            <a:ext cx="64008" cy="1078992"/>
          </a:xfrm>
          <a:prstGeom prst="roundRect">
            <a:avLst>
              <a:gd name="adj" fmla="val 42857"/>
            </a:avLst>
          </a:prstGeom>
          <a:solidFill>
            <a:srgbClr val="60A5FA"/>
          </a:solidFill>
          <a:ln/>
        </p:spPr>
      </p:sp>
      <p:sp>
        <p:nvSpPr>
          <p:cNvPr id="19" name="Text 17"/>
          <p:cNvSpPr/>
          <p:nvPr/>
        </p:nvSpPr>
        <p:spPr>
          <a:xfrm>
            <a:off x="8808415" y="256946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RNGD NPU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808415" y="2935224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prebuilt 아티팩트 실행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npu0 / npu1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4087368"/>
            <a:ext cx="3637178" cy="2176272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76656" y="4288536"/>
            <a:ext cx="405994" cy="256032"/>
          </a:xfrm>
          <a:prstGeom prst="roundRect">
            <a:avLst>
              <a:gd name="adj" fmla="val 50000"/>
            </a:avLst>
          </a:prstGeom>
          <a:solidFill>
            <a:srgbClr val="1456F0"/>
          </a:solidFill>
          <a:ln/>
        </p:spPr>
      </p:sp>
      <p:sp>
        <p:nvSpPr>
          <p:cNvPr id="23" name="Text 21"/>
          <p:cNvSpPr/>
          <p:nvPr/>
        </p:nvSpPr>
        <p:spPr>
          <a:xfrm>
            <a:off x="676656" y="4288536"/>
            <a:ext cx="405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서빙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76656" y="4617720"/>
            <a:ext cx="32165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furiosa-llm serve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76656" y="4928616"/>
            <a:ext cx="321655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각 모델을 OpenAI 호환 서버로 기동. 측정 도구는 vLLM과 동일한 /v1 endpoint를 그대로 사용.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277258" y="4087368"/>
            <a:ext cx="3637178" cy="2176272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496714" y="4288536"/>
            <a:ext cx="405994" cy="25603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28" name="Text 26"/>
          <p:cNvSpPr/>
          <p:nvPr/>
        </p:nvSpPr>
        <p:spPr>
          <a:xfrm>
            <a:off x="4496714" y="4288536"/>
            <a:ext cx="405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측정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496714" y="4617720"/>
            <a:ext cx="32165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스트리밍 클라이언트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4496714" y="4928616"/>
            <a:ext cx="321655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응답을 토큰 단위 스트림으로 받아 TTFT·토큰 간 지연을 실측. 동시 요청은 비동기로 발생.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8097317" y="4087368"/>
            <a:ext cx="3637178" cy="2176272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16773" y="4288536"/>
            <a:ext cx="405994" cy="256032"/>
          </a:xfrm>
          <a:prstGeom prst="roundRect">
            <a:avLst>
              <a:gd name="adj" fmla="val 50000"/>
            </a:avLst>
          </a:prstGeom>
          <a:solidFill>
            <a:srgbClr val="EA5EC1"/>
          </a:solidFill>
          <a:ln/>
        </p:spPr>
      </p:sp>
      <p:sp>
        <p:nvSpPr>
          <p:cNvPr id="33" name="Text 31"/>
          <p:cNvSpPr/>
          <p:nvPr/>
        </p:nvSpPr>
        <p:spPr>
          <a:xfrm>
            <a:off x="8316773" y="4288536"/>
            <a:ext cx="405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채점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8316773" y="4617720"/>
            <a:ext cx="32165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Docker harness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8316773" y="4928616"/>
            <a:ext cx="3216554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5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SWE-bench 채점에만 Docker 사용 — 인스턴스별 격리 컨테이너에서 테스트 실행.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80" kern="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TARGETS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4 /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19295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E8E93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출처: 각 모델 artifact.json · model.parallel_config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100" spc="-60" kern="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7종 중 4종만 2-카드에서 측정 가능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57200" y="158191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5515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prebuilt 아티팩트의 tensor-parallel 크기가 필요 NPU 수를 고정한다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185416"/>
            <a:ext cx="6858000" cy="4078224"/>
          </a:xfrm>
          <a:prstGeom prst="roundRect">
            <a:avLst>
              <a:gd name="adj" fmla="val 2915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35000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모델별 필요 PE (RNGD 1카드 = 8 PE)</a:t>
            </a:r>
            <a:endParaRPr lang="en-US" sz="1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2688336"/>
          <a:ext cx="6583680" cy="316382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685800" y="5934456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8E93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파랑 = 2카드(16 PE)로 측정 가능 · 분홍 = 4카드 필요 → 측정 불가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534656" y="2185416"/>
            <a:ext cx="4199839" cy="1249680"/>
          </a:xfrm>
          <a:prstGeom prst="roundRect">
            <a:avLst>
              <a:gd name="adj" fmla="val 9512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534656" y="2386584"/>
            <a:ext cx="64008" cy="847344"/>
          </a:xfrm>
          <a:prstGeom prst="roundRect">
            <a:avLst>
              <a:gd name="adj" fmla="val 42857"/>
            </a:avLst>
          </a:prstGeom>
          <a:solidFill>
            <a:srgbClr val="1456F0"/>
          </a:solidFill>
          <a:ln/>
        </p:spPr>
      </p:sp>
      <p:sp>
        <p:nvSpPr>
          <p:cNvPr id="13" name="Text 10"/>
          <p:cNvSpPr/>
          <p:nvPr/>
        </p:nvSpPr>
        <p:spPr>
          <a:xfrm>
            <a:off x="7790688" y="2368296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측정 대상 4종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790688" y="2679192"/>
            <a:ext cx="3742639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Qwen2.5-0.5B · Llama-3.1-8B · Qwen3-Embedding-8B · Qwen3-Reranker-8B — 모두 1카드(≤8 PE)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534656" y="3599688"/>
            <a:ext cx="4199839" cy="1249680"/>
          </a:xfrm>
          <a:prstGeom prst="roundRect">
            <a:avLst>
              <a:gd name="adj" fmla="val 9512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534656" y="3800856"/>
            <a:ext cx="64008" cy="847344"/>
          </a:xfrm>
          <a:prstGeom prst="roundRect">
            <a:avLst>
              <a:gd name="adj" fmla="val 42857"/>
            </a:avLst>
          </a:prstGeom>
          <a:solidFill>
            <a:srgbClr val="EA5EC1"/>
          </a:solidFill>
          <a:ln/>
        </p:spPr>
      </p:sp>
      <p:sp>
        <p:nvSpPr>
          <p:cNvPr id="17" name="Text 14"/>
          <p:cNvSpPr/>
          <p:nvPr/>
        </p:nvSpPr>
        <p:spPr>
          <a:xfrm>
            <a:off x="7790688" y="3782568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측정 제외 3종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7790688" y="4093464"/>
            <a:ext cx="3742639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Qwen3-32B-FP8 · EXAONE-4.0-32B-FP8 · Llama-3.3-70B — 아티팩트가 tp=32(4카드)로 컴파일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534656" y="5013960"/>
            <a:ext cx="4199839" cy="1249680"/>
          </a:xfrm>
          <a:prstGeom prst="roundRect">
            <a:avLst>
              <a:gd name="adj" fmla="val 9512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534656" y="5215128"/>
            <a:ext cx="64008" cy="847344"/>
          </a:xfrm>
          <a:prstGeom prst="roundRect">
            <a:avLst>
              <a:gd name="adj" fmla="val 42857"/>
            </a:avLst>
          </a:prstGeom>
          <a:solidFill>
            <a:srgbClr val="60A5FA"/>
          </a:solidFill>
          <a:ln/>
        </p:spPr>
      </p:sp>
      <p:sp>
        <p:nvSpPr>
          <p:cNvPr id="21" name="Text 18"/>
          <p:cNvSpPr/>
          <p:nvPr/>
        </p:nvSpPr>
        <p:spPr>
          <a:xfrm>
            <a:off x="7790688" y="5196840"/>
            <a:ext cx="37426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코드 생성 후보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7790688" y="5507736"/>
            <a:ext cx="3742639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측정 가능 생성 모델은 Llama-3.1-8B 단독 (0.5B는 검증용) → 모델 간 비교 불성립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80" kern="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5 /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19295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100" spc="-60" kern="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측정 파이프라인 — 모델 추가만으로 자동화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57200" y="158191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5515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configs/models.yaml에 모델을 등록하면 서버 기동부터 리포트까지 자동 실행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331720"/>
            <a:ext cx="2094525" cy="17830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76656" y="2551176"/>
            <a:ext cx="457200" cy="457200"/>
          </a:xfrm>
          <a:prstGeom prst="ellipse">
            <a:avLst/>
          </a:prstGeom>
          <a:solidFill>
            <a:srgbClr val="60A5FA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" y="2551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8368" y="3118104"/>
            <a:ext cx="172876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모델 정의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" y="3429000"/>
            <a:ext cx="171047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models.yaml에 모델 id·역할·serve 옵션 등록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2515149" y="2331720"/>
            <a:ext cx="274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E8E93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›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752893" y="2331720"/>
            <a:ext cx="2094525" cy="17830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972349" y="2551176"/>
            <a:ext cx="457200" cy="457200"/>
          </a:xfrm>
          <a:prstGeom prst="ellipse">
            <a:avLst/>
          </a:prstGeom>
          <a:solidFill>
            <a:srgbClr val="1456F0"/>
          </a:solidFill>
          <a:ln/>
        </p:spPr>
      </p:sp>
      <p:sp>
        <p:nvSpPr>
          <p:cNvPr id="15" name="Text 13"/>
          <p:cNvSpPr/>
          <p:nvPr/>
        </p:nvSpPr>
        <p:spPr>
          <a:xfrm>
            <a:off x="2972349" y="2551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954061" y="3118104"/>
            <a:ext cx="172876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서버 기동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954061" y="3429000"/>
            <a:ext cx="171047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furiosa-llm serve 실행, 헬스체크 통과까지 대기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4810841" y="2331720"/>
            <a:ext cx="274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E8E93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048585" y="2331720"/>
            <a:ext cx="2094525" cy="17830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268041" y="2551176"/>
            <a:ext cx="457200" cy="457200"/>
          </a:xfrm>
          <a:prstGeom prst="ellipse">
            <a:avLst/>
          </a:prstGeom>
          <a:solidFill>
            <a:srgbClr val="1456F0"/>
          </a:solidFill>
          <a:ln/>
        </p:spPr>
      </p:sp>
      <p:sp>
        <p:nvSpPr>
          <p:cNvPr id="21" name="Text 19"/>
          <p:cNvSpPr/>
          <p:nvPr/>
        </p:nvSpPr>
        <p:spPr>
          <a:xfrm>
            <a:off x="5268041" y="2551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249753" y="3118104"/>
            <a:ext cx="172876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테스트 실행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49753" y="3429000"/>
            <a:ext cx="171047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테스트 1~5를 순차 측정</a:t>
            </a:r>
            <a:endParaRPr lang="en-US" sz="980" dirty="0"/>
          </a:p>
        </p:txBody>
      </p:sp>
      <p:sp>
        <p:nvSpPr>
          <p:cNvPr id="24" name="Text 22"/>
          <p:cNvSpPr/>
          <p:nvPr/>
        </p:nvSpPr>
        <p:spPr>
          <a:xfrm>
            <a:off x="7106534" y="2331720"/>
            <a:ext cx="274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E8E93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›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7344278" y="2331720"/>
            <a:ext cx="2094525" cy="17830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563734" y="2551176"/>
            <a:ext cx="457200" cy="457200"/>
          </a:xfrm>
          <a:prstGeom prst="ellipse">
            <a:avLst/>
          </a:prstGeom>
          <a:solidFill>
            <a:srgbClr val="1456F0"/>
          </a:solidFill>
          <a:ln/>
        </p:spPr>
      </p:sp>
      <p:sp>
        <p:nvSpPr>
          <p:cNvPr id="27" name="Text 25"/>
          <p:cNvSpPr/>
          <p:nvPr/>
        </p:nvSpPr>
        <p:spPr>
          <a:xfrm>
            <a:off x="7563734" y="2551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04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545446" y="3118104"/>
            <a:ext cx="172876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결과 저장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545446" y="3429000"/>
            <a:ext cx="171047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results/&lt;모델&gt;/&lt;테스트&gt;/*.json 자동 기록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9402227" y="2331720"/>
            <a:ext cx="2743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E8E93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›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9639971" y="2331720"/>
            <a:ext cx="2094525" cy="17830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9859427" y="2551176"/>
            <a:ext cx="457200" cy="457200"/>
          </a:xfrm>
          <a:prstGeom prst="ellipse">
            <a:avLst/>
          </a:prstGeom>
          <a:solidFill>
            <a:srgbClr val="60A5FA"/>
          </a:solidFill>
          <a:ln/>
        </p:spPr>
      </p:sp>
      <p:sp>
        <p:nvSpPr>
          <p:cNvPr id="33" name="Text 31"/>
          <p:cNvSpPr/>
          <p:nvPr/>
        </p:nvSpPr>
        <p:spPr>
          <a:xfrm>
            <a:off x="9859427" y="2551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05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841139" y="3118104"/>
            <a:ext cx="172876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집계·리포트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841139" y="3429000"/>
            <a:ext cx="1710477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analyze · report로 비교표·종합 리포트 생성</a:t>
            </a:r>
            <a:endParaRPr lang="en-US" sz="980" dirty="0"/>
          </a:p>
        </p:txBody>
      </p:sp>
      <p:sp>
        <p:nvSpPr>
          <p:cNvPr id="36" name="Shape 34"/>
          <p:cNvSpPr/>
          <p:nvPr/>
        </p:nvSpPr>
        <p:spPr>
          <a:xfrm>
            <a:off x="457200" y="4315968"/>
            <a:ext cx="11277295" cy="1947672"/>
          </a:xfrm>
          <a:prstGeom prst="roundRect">
            <a:avLst>
              <a:gd name="adj" fmla="val 6103"/>
            </a:avLst>
          </a:prstGeom>
          <a:solidFill>
            <a:srgbClr val="F0F0F0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75488" y="4535424"/>
            <a:ext cx="64008" cy="1508760"/>
          </a:xfrm>
          <a:prstGeom prst="roundRect">
            <a:avLst>
              <a:gd name="adj" fmla="val 42857"/>
            </a:avLst>
          </a:prstGeom>
          <a:solidFill>
            <a:srgbClr val="1456F0"/>
          </a:solidFill>
          <a:ln/>
        </p:spPr>
      </p:sp>
      <p:sp>
        <p:nvSpPr>
          <p:cNvPr id="38" name="Text 36"/>
          <p:cNvSpPr/>
          <p:nvPr/>
        </p:nvSpPr>
        <p:spPr>
          <a:xfrm>
            <a:off x="749808" y="4517136"/>
            <a:ext cx="10607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02–04 단계는 모델마다 반복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49808" y="4864608"/>
            <a:ext cx="1069848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한 모델의 서버를 띄워 테스트 1·2·4를 측정하고, 테스트 3(memsweep)은 serve 옵션을 바꿔 서버를 재기동하며 측정한다. 측정이 끝나면 서버를 내리고 다음 모델로 — 7종이든 새 모델이든 동일 흐름. 측정 도구 코드는 수정 불필요, models.yaml만 바꾸면 된다.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80" kern="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TEST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6 /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19295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100" spc="-60" kern="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측정 테스트 5종 한눈에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57200" y="158191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5515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각 모델에 대해 아래 5개 테스트를 순차 수행 — 이후 슬라이드는 테스트 번호 순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185416"/>
            <a:ext cx="2123785" cy="4078224"/>
          </a:xfrm>
          <a:prstGeom prst="roundRect">
            <a:avLst>
              <a:gd name="adj" fmla="val 5597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2185416"/>
            <a:ext cx="2123785" cy="566928"/>
          </a:xfrm>
          <a:prstGeom prst="roundRect">
            <a:avLst>
              <a:gd name="adj" fmla="val 20968"/>
            </a:avLst>
          </a:prstGeom>
          <a:solidFill>
            <a:srgbClr val="1456F0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478024"/>
            <a:ext cx="2123785" cy="274320"/>
          </a:xfrm>
          <a:prstGeom prst="rect">
            <a:avLst/>
          </a:prstGeom>
          <a:solidFill>
            <a:srgbClr val="1456F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185416"/>
            <a:ext cx="17580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테스트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916936"/>
            <a:ext cx="17580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토큰 생성 속도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557016"/>
            <a:ext cx="175802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단일 요청 스트리밍으로 첫 토큰 지연·생성 속도 측정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40080" y="5696712"/>
            <a:ext cx="1758025" cy="0"/>
          </a:xfrm>
          <a:prstGeom prst="line">
            <a:avLst/>
          </a:prstGeom>
          <a:noFill/>
          <a:ln w="12700">
            <a:solidFill>
              <a:srgbClr val="F2F3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5806440"/>
            <a:ext cx="17580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1456F0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지표 TTFT · tok/s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2745577" y="2185416"/>
            <a:ext cx="2123785" cy="4078224"/>
          </a:xfrm>
          <a:prstGeom prst="roundRect">
            <a:avLst>
              <a:gd name="adj" fmla="val 5597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5577" y="2185416"/>
            <a:ext cx="2123785" cy="566928"/>
          </a:xfrm>
          <a:prstGeom prst="roundRect">
            <a:avLst>
              <a:gd name="adj" fmla="val 20968"/>
            </a:avLst>
          </a:prstGeom>
          <a:solidFill>
            <a:srgbClr val="3B82F6"/>
          </a:solidFill>
          <a:ln/>
        </p:spPr>
      </p:sp>
      <p:sp>
        <p:nvSpPr>
          <p:cNvPr id="17" name="Shape 15"/>
          <p:cNvSpPr/>
          <p:nvPr/>
        </p:nvSpPr>
        <p:spPr>
          <a:xfrm>
            <a:off x="2745577" y="2478024"/>
            <a:ext cx="2123785" cy="274320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2928457" y="2185416"/>
            <a:ext cx="17580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테스트 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928457" y="2916936"/>
            <a:ext cx="17580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동시성 스케일링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2928457" y="3557016"/>
            <a:ext cx="175802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동시 요청을 1→128로 늘리며 처리량·지연 변화 측정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928457" y="5696712"/>
            <a:ext cx="1758025" cy="0"/>
          </a:xfrm>
          <a:prstGeom prst="line">
            <a:avLst/>
          </a:prstGeom>
          <a:noFill/>
          <a:ln w="12700">
            <a:solidFill>
              <a:srgbClr val="F2F3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28457" y="5806440"/>
            <a:ext cx="17580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3B82F6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지표 합산 TPS · 실패율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5033955" y="2185416"/>
            <a:ext cx="2123785" cy="4078224"/>
          </a:xfrm>
          <a:prstGeom prst="roundRect">
            <a:avLst>
              <a:gd name="adj" fmla="val 5597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033955" y="2185416"/>
            <a:ext cx="2123785" cy="566928"/>
          </a:xfrm>
          <a:prstGeom prst="roundRect">
            <a:avLst>
              <a:gd name="adj" fmla="val 20968"/>
            </a:avLst>
          </a:prstGeom>
          <a:solidFill>
            <a:srgbClr val="60A5FA"/>
          </a:solidFill>
          <a:ln/>
        </p:spPr>
      </p:sp>
      <p:sp>
        <p:nvSpPr>
          <p:cNvPr id="25" name="Shape 23"/>
          <p:cNvSpPr/>
          <p:nvPr/>
        </p:nvSpPr>
        <p:spPr>
          <a:xfrm>
            <a:off x="5033955" y="2478024"/>
            <a:ext cx="2123785" cy="274320"/>
          </a:xfrm>
          <a:prstGeom prst="rect">
            <a:avLst/>
          </a:prstGeom>
          <a:solidFill>
            <a:srgbClr val="60A5FA"/>
          </a:solidFill>
          <a:ln/>
        </p:spPr>
      </p:sp>
      <p:sp>
        <p:nvSpPr>
          <p:cNvPr id="26" name="Text 24"/>
          <p:cNvSpPr/>
          <p:nvPr/>
        </p:nvSpPr>
        <p:spPr>
          <a:xfrm>
            <a:off x="5216835" y="2185416"/>
            <a:ext cx="17580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테스트 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216835" y="2916936"/>
            <a:ext cx="17580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serve 옵션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216835" y="3557016"/>
            <a:ext cx="175802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serve 인자를 바꿔가며 처리량 영향 측정 (memsweep)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216835" y="5696712"/>
            <a:ext cx="1758025" cy="0"/>
          </a:xfrm>
          <a:prstGeom prst="line">
            <a:avLst/>
          </a:prstGeom>
          <a:noFill/>
          <a:ln w="12700">
            <a:solidFill>
              <a:srgbClr val="F2F3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16835" y="5806440"/>
            <a:ext cx="17580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60A5FA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지표 조합별 합산 TPS</a:t>
            </a:r>
            <a:endParaRPr lang="en-US" sz="930" dirty="0"/>
          </a:p>
        </p:txBody>
      </p:sp>
      <p:sp>
        <p:nvSpPr>
          <p:cNvPr id="31" name="Shape 29"/>
          <p:cNvSpPr/>
          <p:nvPr/>
        </p:nvSpPr>
        <p:spPr>
          <a:xfrm>
            <a:off x="7322332" y="2185416"/>
            <a:ext cx="2123785" cy="4078224"/>
          </a:xfrm>
          <a:prstGeom prst="roundRect">
            <a:avLst>
              <a:gd name="adj" fmla="val 5597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322332" y="2185416"/>
            <a:ext cx="2123785" cy="566928"/>
          </a:xfrm>
          <a:prstGeom prst="roundRect">
            <a:avLst>
              <a:gd name="adj" fmla="val 20968"/>
            </a:avLst>
          </a:prstGeom>
          <a:solidFill>
            <a:srgbClr val="EA5EC1"/>
          </a:solidFill>
          <a:ln/>
        </p:spPr>
      </p:sp>
      <p:sp>
        <p:nvSpPr>
          <p:cNvPr id="33" name="Shape 31"/>
          <p:cNvSpPr/>
          <p:nvPr/>
        </p:nvSpPr>
        <p:spPr>
          <a:xfrm>
            <a:off x="7322332" y="2478024"/>
            <a:ext cx="2123785" cy="274320"/>
          </a:xfrm>
          <a:prstGeom prst="rect">
            <a:avLst/>
          </a:prstGeom>
          <a:solidFill>
            <a:srgbClr val="EA5EC1"/>
          </a:solidFill>
          <a:ln/>
        </p:spPr>
      </p:sp>
      <p:sp>
        <p:nvSpPr>
          <p:cNvPr id="34" name="Text 32"/>
          <p:cNvSpPr/>
          <p:nvPr/>
        </p:nvSpPr>
        <p:spPr>
          <a:xfrm>
            <a:off x="7505212" y="2185416"/>
            <a:ext cx="17580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테스트 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505212" y="2916936"/>
            <a:ext cx="17580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SWE-bench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505212" y="3557016"/>
            <a:ext cx="175802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실제 GitHub 이슈를 코드 패치로 해결, 테스트 통과 채점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505212" y="5696712"/>
            <a:ext cx="1758025" cy="0"/>
          </a:xfrm>
          <a:prstGeom prst="line">
            <a:avLst/>
          </a:prstGeom>
          <a:noFill/>
          <a:ln w="12700">
            <a:solidFill>
              <a:srgbClr val="F2F3F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505212" y="5806440"/>
            <a:ext cx="17580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EA5EC1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지표 resolved %</a:t>
            </a:r>
            <a:endParaRPr lang="en-US" sz="930" dirty="0"/>
          </a:p>
        </p:txBody>
      </p:sp>
      <p:sp>
        <p:nvSpPr>
          <p:cNvPr id="39" name="Shape 37"/>
          <p:cNvSpPr/>
          <p:nvPr/>
        </p:nvSpPr>
        <p:spPr>
          <a:xfrm>
            <a:off x="9610710" y="2185416"/>
            <a:ext cx="2123785" cy="4078224"/>
          </a:xfrm>
          <a:prstGeom prst="roundRect">
            <a:avLst>
              <a:gd name="adj" fmla="val 5597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610710" y="2185416"/>
            <a:ext cx="2123785" cy="566928"/>
          </a:xfrm>
          <a:prstGeom prst="roundRect">
            <a:avLst>
              <a:gd name="adj" fmla="val 20968"/>
            </a:avLst>
          </a:prstGeom>
          <a:solidFill>
            <a:srgbClr val="8E8E93"/>
          </a:solidFill>
          <a:ln/>
        </p:spPr>
      </p:sp>
      <p:sp>
        <p:nvSpPr>
          <p:cNvPr id="41" name="Shape 39"/>
          <p:cNvSpPr/>
          <p:nvPr/>
        </p:nvSpPr>
        <p:spPr>
          <a:xfrm>
            <a:off x="9610710" y="2478024"/>
            <a:ext cx="2123785" cy="274320"/>
          </a:xfrm>
          <a:prstGeom prst="rect">
            <a:avLst/>
          </a:prstGeom>
          <a:solidFill>
            <a:srgbClr val="8E8E93"/>
          </a:solidFill>
          <a:ln/>
        </p:spPr>
      </p:sp>
      <p:sp>
        <p:nvSpPr>
          <p:cNvPr id="42" name="Text 40"/>
          <p:cNvSpPr/>
          <p:nvPr/>
        </p:nvSpPr>
        <p:spPr>
          <a:xfrm>
            <a:off x="9793590" y="2185416"/>
            <a:ext cx="175802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테스트 5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793590" y="2916936"/>
            <a:ext cx="17580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임베딩·리랭커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9793590" y="3557016"/>
            <a:ext cx="175802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0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검색 보조 모델의 배치별 처리량 측정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793590" y="5696712"/>
            <a:ext cx="1758025" cy="0"/>
          </a:xfrm>
          <a:prstGeom prst="line">
            <a:avLst/>
          </a:prstGeom>
          <a:noFill/>
          <a:ln w="12700">
            <a:solidFill>
              <a:srgbClr val="F2F3F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793590" y="5806440"/>
            <a:ext cx="17580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3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지표 inputs/s</a:t>
            </a:r>
            <a:endParaRPr lang="en-US" sz="9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80" kern="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TEST 1 · SPEED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7 /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19295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E8E93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출처: bench/results · tps task (concurrency=1, 50 req)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100" spc="-60" kern="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테스트 1 — 토큰 생성 속도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57200" y="158191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5515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단일 요청 스트리밍으로 첫 토큰 지연(TTFT)·생성 속도(tok/s) 측정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185416"/>
            <a:ext cx="3637178" cy="1097280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2331720"/>
            <a:ext cx="490118" cy="256032"/>
          </a:xfrm>
          <a:prstGeom prst="roundRect">
            <a:avLst>
              <a:gd name="adj" fmla="val 50000"/>
            </a:avLst>
          </a:prstGeom>
          <a:solidFill>
            <a:srgbClr val="1456F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331720"/>
            <a:ext cx="4901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무엇을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642616"/>
            <a:ext cx="32714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동시 사용자 1명일 때 체감 속도 — 코드 자동완성·대화형 보조의 핵심 지표.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4277258" y="2185416"/>
            <a:ext cx="3637178" cy="1097280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60138" y="2331720"/>
            <a:ext cx="405994" cy="256032"/>
          </a:xfrm>
          <a:prstGeom prst="roundRect">
            <a:avLst>
              <a:gd name="adj" fmla="val 50000"/>
            </a:avLst>
          </a:prstGeom>
          <a:solidFill>
            <a:srgbClr val="1456F0"/>
          </a:solidFill>
          <a:ln/>
        </p:spPr>
      </p:sp>
      <p:sp>
        <p:nvSpPr>
          <p:cNvPr id="13" name="Text 11"/>
          <p:cNvSpPr/>
          <p:nvPr/>
        </p:nvSpPr>
        <p:spPr>
          <a:xfrm>
            <a:off x="4460138" y="2331720"/>
            <a:ext cx="405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입력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60138" y="2642616"/>
            <a:ext cx="32714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고정 프롬프트를 /v1/chat/completions에 스트리밍 요청. max_tokens 256, 워밍업 5 + 측정 50회.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8097317" y="2185416"/>
            <a:ext cx="3637178" cy="1097280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80197" y="2331720"/>
            <a:ext cx="658368" cy="256032"/>
          </a:xfrm>
          <a:prstGeom prst="roundRect">
            <a:avLst>
              <a:gd name="adj" fmla="val 50000"/>
            </a:avLst>
          </a:prstGeom>
          <a:solidFill>
            <a:srgbClr val="1456F0"/>
          </a:solidFill>
          <a:ln/>
        </p:spPr>
      </p:sp>
      <p:sp>
        <p:nvSpPr>
          <p:cNvPr id="17" name="Text 15"/>
          <p:cNvSpPr/>
          <p:nvPr/>
        </p:nvSpPr>
        <p:spPr>
          <a:xfrm>
            <a:off x="8280197" y="233172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출력·분석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80197" y="2642616"/>
            <a:ext cx="32714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요청별 TTFT·ITL(토큰 간 간격)·출력 tok/s를 p50/p95로 집계.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457200" y="3456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56F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결과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5528920" cy="2496312"/>
          </a:xfrm>
          <a:prstGeom prst="roundRect">
            <a:avLst>
              <a:gd name="adj" fmla="val 6593"/>
            </a:avLst>
          </a:prstGeom>
          <a:solidFill>
            <a:srgbClr val="1456F0"/>
          </a:solidFill>
          <a:ln/>
          <a:effectLst>
            <a:outerShdw sx="100000" sy="100000" kx="0" ky="0" algn="bl" rotWithShape="0" blurRad="190500" dist="50800" dir="5400000">
              <a:srgbClr val="2c1e74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9808" y="3986784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BE6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Llama-3.1-8B-Instruct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49808" y="4334256"/>
            <a:ext cx="49437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55.2</a:t>
            </a:r>
            <a:pPr indent="0" marL="0">
              <a:buNone/>
            </a:pPr>
            <a:r>
              <a:rPr lang="en-US" sz="1600" dirty="0">
                <a:solidFill>
                  <a:srgbClr val="DBE6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  tok/s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749808" y="5102352"/>
            <a:ext cx="4943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BE6FF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출력 토큰 처리량 (단일 요청)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49808" y="5413248"/>
            <a:ext cx="4943704" cy="0"/>
          </a:xfrm>
          <a:prstGeom prst="line">
            <a:avLst/>
          </a:prstGeom>
          <a:noFill/>
          <a:ln w="12700">
            <a:solidFill>
              <a:srgbClr val="3B6F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49808" y="554126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TTFT 32 ms   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ITL 18.2 ms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9808" y="5888736"/>
            <a:ext cx="494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BE6FF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코드 생성 후보 · context 128K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205576" y="3767328"/>
            <a:ext cx="5528920" cy="2496312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498184" y="3986784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Qwen2.5-0.5B-Instruct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98184" y="4334256"/>
            <a:ext cx="49437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456F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85.3</a:t>
            </a:r>
            <a:pPr indent="0" marL="0">
              <a:buNone/>
            </a:pPr>
            <a:r>
              <a:rPr lang="en-US" sz="1600" dirty="0">
                <a:solidFill>
                  <a:srgbClr val="45515E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  tok/s</a:t>
            </a:r>
            <a:endParaRPr lang="en-US" sz="4400" dirty="0"/>
          </a:p>
        </p:txBody>
      </p:sp>
      <p:sp>
        <p:nvSpPr>
          <p:cNvPr id="30" name="Text 28"/>
          <p:cNvSpPr/>
          <p:nvPr/>
        </p:nvSpPr>
        <p:spPr>
          <a:xfrm>
            <a:off x="6498184" y="5102352"/>
            <a:ext cx="49437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515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출력 토큰 처리량 (단일 요청)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498184" y="5413248"/>
            <a:ext cx="4943704" cy="0"/>
          </a:xfrm>
          <a:prstGeom prst="line">
            <a:avLst/>
          </a:prstGeom>
          <a:noFill/>
          <a:ln w="12700">
            <a:solidFill>
              <a:srgbClr val="F2F3F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98184" y="5541264"/>
            <a:ext cx="49437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TTFT 31 ms      </a:t>
            </a:r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ITL 11.8 ms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98184" y="5888736"/>
            <a:ext cx="4943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파이프라인 검증용 (smoke)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80" kern="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TEST 2 · CONCURRENCY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8 /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19295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E8E93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출처: bench/results · sweep task (Llama-3.1-8B, prompt 1024)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100" spc="-60" kern="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테스트 2 — 동시성 스케일링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57200" y="158191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5515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동시 요청을 1→128로 늘리며 합산 처리량·지연 변화 측정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185416"/>
            <a:ext cx="3637178" cy="1097280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2331720"/>
            <a:ext cx="490118" cy="25603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331720"/>
            <a:ext cx="4901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무엇을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642616"/>
            <a:ext cx="32714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동시 접속자 수에 따른 처리량·지연 — 서버 운영 조건 산정의 근거.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4277258" y="2185416"/>
            <a:ext cx="3637178" cy="1097280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60138" y="2331720"/>
            <a:ext cx="405994" cy="25603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3" name="Text 11"/>
          <p:cNvSpPr/>
          <p:nvPr/>
        </p:nvSpPr>
        <p:spPr>
          <a:xfrm>
            <a:off x="4460138" y="2331720"/>
            <a:ext cx="405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입력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60138" y="2642616"/>
            <a:ext cx="32714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동시성 {1·2·4·8·16·32·64·128} × 프롬프트 길이 {256·1024·4096} 매트릭스.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8097317" y="2185416"/>
            <a:ext cx="3637178" cy="1097280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80197" y="2331720"/>
            <a:ext cx="658368" cy="25603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7" name="Text 15"/>
          <p:cNvSpPr/>
          <p:nvPr/>
        </p:nvSpPr>
        <p:spPr>
          <a:xfrm>
            <a:off x="8280197" y="233172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출력·분석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80197" y="2642616"/>
            <a:ext cx="32714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셀별 합산 처리량·요청당 속도·TTFT·실패 수 → 효율 배치점 도출.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457200" y="3456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56F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결과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6766560" cy="2496312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389534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동시성별 합산 처리량 (tok/s) — Llama-3.1-8B</a:t>
            </a:r>
            <a:endParaRPr lang="en-US" sz="13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548640" y="4187952"/>
          <a:ext cx="6492240" cy="17099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Shape 20"/>
          <p:cNvSpPr/>
          <p:nvPr/>
        </p:nvSpPr>
        <p:spPr>
          <a:xfrm>
            <a:off x="7443216" y="3767328"/>
            <a:ext cx="4291279" cy="734568"/>
          </a:xfrm>
          <a:prstGeom prst="roundRect">
            <a:avLst>
              <a:gd name="adj" fmla="val 16183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626096" y="3913632"/>
            <a:ext cx="574243" cy="256032"/>
          </a:xfrm>
          <a:prstGeom prst="roundRect">
            <a:avLst>
              <a:gd name="adj" fmla="val 50000"/>
            </a:avLst>
          </a:prstGeom>
          <a:solidFill>
            <a:srgbClr val="1456F0"/>
          </a:solidFill>
          <a:ln/>
        </p:spPr>
      </p:sp>
      <p:sp>
        <p:nvSpPr>
          <p:cNvPr id="25" name="Text 22"/>
          <p:cNvSpPr/>
          <p:nvPr/>
        </p:nvSpPr>
        <p:spPr>
          <a:xfrm>
            <a:off x="7626096" y="3913632"/>
            <a:ext cx="5742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스케일링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626096" y="4206240"/>
            <a:ext cx="3925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처리량 약 20배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7626096" y="4480560"/>
            <a:ext cx="3925519" cy="-88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c1 52 → c128 2,197 tok/s. 동시성을 올릴수록 합산 처리량 비례 이상 증가.</a:t>
            </a:r>
            <a:endParaRPr lang="en-US" sz="980" dirty="0"/>
          </a:p>
        </p:txBody>
      </p:sp>
      <p:sp>
        <p:nvSpPr>
          <p:cNvPr id="28" name="Shape 25"/>
          <p:cNvSpPr/>
          <p:nvPr/>
        </p:nvSpPr>
        <p:spPr>
          <a:xfrm>
            <a:off x="7443216" y="4648200"/>
            <a:ext cx="4291279" cy="734568"/>
          </a:xfrm>
          <a:prstGeom prst="roundRect">
            <a:avLst>
              <a:gd name="adj" fmla="val 16183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626096" y="4794504"/>
            <a:ext cx="405994" cy="256032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/>
        </p:spPr>
      </p:sp>
      <p:sp>
        <p:nvSpPr>
          <p:cNvPr id="30" name="Text 27"/>
          <p:cNvSpPr/>
          <p:nvPr/>
        </p:nvSpPr>
        <p:spPr>
          <a:xfrm>
            <a:off x="7626096" y="4794504"/>
            <a:ext cx="405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지연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626096" y="5087112"/>
            <a:ext cx="3925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TTFT 1.8s @c128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7626096" y="5361432"/>
            <a:ext cx="3925519" cy="-88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첫 토큰 지연 0.04→1.85s, 요청당 속도 54→18 tok/s. 전 구간 실패 0건.</a:t>
            </a:r>
            <a:endParaRPr lang="en-US" sz="980" dirty="0"/>
          </a:p>
        </p:txBody>
      </p:sp>
      <p:sp>
        <p:nvSpPr>
          <p:cNvPr id="33" name="Shape 30"/>
          <p:cNvSpPr/>
          <p:nvPr/>
        </p:nvSpPr>
        <p:spPr>
          <a:xfrm>
            <a:off x="7443216" y="5529072"/>
            <a:ext cx="4291279" cy="734568"/>
          </a:xfrm>
          <a:prstGeom prst="roundRect">
            <a:avLst>
              <a:gd name="adj" fmla="val 16183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7626096" y="5675376"/>
            <a:ext cx="405994" cy="256032"/>
          </a:xfrm>
          <a:prstGeom prst="roundRect">
            <a:avLst>
              <a:gd name="adj" fmla="val 50000"/>
            </a:avLst>
          </a:prstGeom>
          <a:solidFill>
            <a:srgbClr val="EA5EC1"/>
          </a:solidFill>
          <a:ln/>
        </p:spPr>
      </p:sp>
      <p:sp>
        <p:nvSpPr>
          <p:cNvPr id="35" name="Text 32"/>
          <p:cNvSpPr/>
          <p:nvPr/>
        </p:nvSpPr>
        <p:spPr>
          <a:xfrm>
            <a:off x="7626096" y="5675376"/>
            <a:ext cx="405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판단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7626096" y="5967984"/>
            <a:ext cx="39255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효율 배치점 c32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7626096" y="6242304"/>
            <a:ext cx="3925519" cy="-88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2000"/>
              </a:lnSpc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체감 속도(35 tok/s↑) 유지하는 1카드 권장 상한은 동시 32명.</a:t>
            </a:r>
            <a:endParaRPr lang="en-US" sz="9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80" kern="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TEST 3 · SERVE OPTIONS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9 /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19295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E8E93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출처: bench/results · memsweep task (Llama-3.1-8B)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100" spc="-60" kern="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테스트 3 — serve 옵션 튜닝 (memsweep)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57200" y="158191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5515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서버 기동 옵션을 한 번에 하나씩 바꿔(OFAT) 처리량 영향 측정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185416"/>
            <a:ext cx="3637178" cy="1097280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2331720"/>
            <a:ext cx="490118" cy="256032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331720"/>
            <a:ext cx="4901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무엇을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642616"/>
            <a:ext cx="32714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KV cache·배치 관련 serve 옵션이 처리량에 주는 영향.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4277258" y="2185416"/>
            <a:ext cx="3637178" cy="1097280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60138" y="2331720"/>
            <a:ext cx="405994" cy="256032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/>
        </p:spPr>
      </p:sp>
      <p:sp>
        <p:nvSpPr>
          <p:cNvPr id="13" name="Text 11"/>
          <p:cNvSpPr/>
          <p:nvPr/>
        </p:nvSpPr>
        <p:spPr>
          <a:xfrm>
            <a:off x="4460138" y="2331720"/>
            <a:ext cx="405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입력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60138" y="2642616"/>
            <a:ext cx="32714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baseline + max-model-len·max-batch-size·max-num-batched-tokens 한 축씩 변경, 조합마다 서버 재기동.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8097317" y="2185416"/>
            <a:ext cx="3637178" cy="1097280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80197" y="2331720"/>
            <a:ext cx="658368" cy="256032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/>
        </p:spPr>
      </p:sp>
      <p:sp>
        <p:nvSpPr>
          <p:cNvPr id="17" name="Text 15"/>
          <p:cNvSpPr/>
          <p:nvPr/>
        </p:nvSpPr>
        <p:spPr>
          <a:xfrm>
            <a:off x="8280197" y="233172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출력·분석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80197" y="2642616"/>
            <a:ext cx="32714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조합별 합산 처리량 비교 → 어떤 옵션이 유의미한지 판단.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457200" y="3456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56F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결과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6766560" cy="2496312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3895344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serve 옵션 조합별 합산 처리량 (tok/s)</a:t>
            </a:r>
            <a:endParaRPr lang="en-US" sz="13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548640" y="4187952"/>
          <a:ext cx="6492240" cy="17099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3" name="Shape 20"/>
          <p:cNvSpPr/>
          <p:nvPr/>
        </p:nvSpPr>
        <p:spPr>
          <a:xfrm>
            <a:off x="7443216" y="3767328"/>
            <a:ext cx="4291279" cy="2496312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443216" y="4005072"/>
            <a:ext cx="64008" cy="2020824"/>
          </a:xfrm>
          <a:prstGeom prst="roundRect">
            <a:avLst>
              <a:gd name="adj" fmla="val 42857"/>
            </a:avLst>
          </a:prstGeom>
          <a:solidFill>
            <a:srgbClr val="EA5EC1"/>
          </a:solidFill>
          <a:ln/>
        </p:spPr>
      </p:sp>
      <p:sp>
        <p:nvSpPr>
          <p:cNvPr id="25" name="Text 22"/>
          <p:cNvSpPr/>
          <p:nvPr/>
        </p:nvSpPr>
        <p:spPr>
          <a:xfrm>
            <a:off x="7717536" y="3986784"/>
            <a:ext cx="3788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튜닝 효과 미미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7717536" y="4370832"/>
            <a:ext cx="3742639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Llama-3.1-8B는 어떤 serve 옵션을 바꿔도 합산 처리량이 2,200 tok/s대(전체 범위 2,133~2,294, 편차 ~7%)에서 거의 변하지 않는다. KV cache·배치 한도 옵션을 손댈 실익이 없으며 기본값 그대로 서빙하면 된다 — 운영 시 튜닝 부담이 없다는 점은 장점.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80" kern="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TEST 4 · SWE-BENCH 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10 /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19295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E8E93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출처: SWE-bench (Princeton NLP)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100" spc="-60" kern="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테스트 4 — SWE-bench ①: 정의 &amp; 종류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57200" y="158191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5515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GitHub 이슈를 패치로 해결하고 실제 repo 테스트 통과 여부로 채점하는 벤치마크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185416"/>
            <a:ext cx="4937760" cy="4078224"/>
          </a:xfrm>
          <a:prstGeom prst="roundRect">
            <a:avLst>
              <a:gd name="adj" fmla="val 2915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94944" y="236829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채점 방식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13232" y="2880360"/>
            <a:ext cx="329184" cy="329184"/>
          </a:xfrm>
          <a:prstGeom prst="ellipse">
            <a:avLst/>
          </a:prstGeom>
          <a:solidFill>
            <a:srgbClr val="1456F0"/>
          </a:solidFill>
          <a:ln/>
        </p:spPr>
      </p:sp>
      <p:sp>
        <p:nvSpPr>
          <p:cNvPr id="10" name="Text 8"/>
          <p:cNvSpPr/>
          <p:nvPr/>
        </p:nvSpPr>
        <p:spPr>
          <a:xfrm>
            <a:off x="713232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88720" y="2843784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입력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188720" y="3072384"/>
            <a:ext cx="39776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GitHub 이슈 본문 + 해당 시점 repo 코드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86384" y="3191256"/>
            <a:ext cx="1828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↓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13232" y="3762756"/>
            <a:ext cx="329184" cy="329184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5" name="Text 13"/>
          <p:cNvSpPr/>
          <p:nvPr/>
        </p:nvSpPr>
        <p:spPr>
          <a:xfrm>
            <a:off x="713232" y="37627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188720" y="3726180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모델 출력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188720" y="3954780"/>
            <a:ext cx="39776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이슈를 해결하는 unified diff (패치)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86384" y="4073652"/>
            <a:ext cx="1828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↓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13232" y="4645152"/>
            <a:ext cx="329184" cy="329184"/>
          </a:xfrm>
          <a:prstGeom prst="ellipse">
            <a:avLst/>
          </a:prstGeom>
          <a:solidFill>
            <a:srgbClr val="60A5FA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6451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188720" y="4608576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적용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88720" y="4837176"/>
            <a:ext cx="39776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Docker 컨테이너에서 repo에 패치 적용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86384" y="4956048"/>
            <a:ext cx="1828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5E7EB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↓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13232" y="5527548"/>
            <a:ext cx="329184" cy="329184"/>
          </a:xfrm>
          <a:prstGeom prst="ellipse">
            <a:avLst/>
          </a:prstGeom>
          <a:solidFill>
            <a:srgbClr val="EA5EC1"/>
          </a:solidFill>
          <a:ln/>
        </p:spPr>
      </p:sp>
      <p:sp>
        <p:nvSpPr>
          <p:cNvPr id="25" name="Text 23"/>
          <p:cNvSpPr/>
          <p:nvPr/>
        </p:nvSpPr>
        <p:spPr>
          <a:xfrm>
            <a:off x="713232" y="55275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88720" y="5490972"/>
            <a:ext cx="4023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채점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188720" y="5719572"/>
            <a:ext cx="3977640" cy="4983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테스트 실행 — FAIL→PASS 통과 시 resolved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14416" y="2185416"/>
            <a:ext cx="6120079" cy="2432304"/>
          </a:xfrm>
          <a:prstGeom prst="roundRect">
            <a:avLst>
              <a:gd name="adj" fmla="val 4887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852160" y="2350008"/>
            <a:ext cx="566287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데이터셋 종류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907024" y="26609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SWE-bench (full)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403336" y="2660904"/>
            <a:ext cx="31482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2,294건 · 원본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797296" y="3118104"/>
            <a:ext cx="5754319" cy="4572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3" name="Text 31"/>
          <p:cNvSpPr/>
          <p:nvPr/>
        </p:nvSpPr>
        <p:spPr>
          <a:xfrm>
            <a:off x="5907024" y="3118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SWE-bench Lite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403336" y="3118104"/>
            <a:ext cx="31482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300건 · 저비용 평가용 subset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907024" y="35753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SWE-bench Verified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403336" y="3575304"/>
            <a:ext cx="31482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500건 · 사람 검증, 신뢰도 최상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797296" y="4032504"/>
            <a:ext cx="5754319" cy="45720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38" name="Text 36"/>
          <p:cNvSpPr/>
          <p:nvPr/>
        </p:nvSpPr>
        <p:spPr>
          <a:xfrm>
            <a:off x="5907024" y="40325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SWE-bench Multimodal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403336" y="4032504"/>
            <a:ext cx="31482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517건 · 시각 요소 포함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614416" y="4764024"/>
            <a:ext cx="6120079" cy="1499616"/>
          </a:xfrm>
          <a:prstGeom prst="roundRect">
            <a:avLst>
              <a:gd name="adj" fmla="val 9756"/>
            </a:avLst>
          </a:prstGeom>
          <a:solidFill>
            <a:srgbClr val="1456F0"/>
          </a:solidFill>
          <a:ln/>
          <a:effectLst>
            <a:outerShdw sx="100000" sy="100000" kx="0" ky="0" algn="bl" rotWithShape="0" blurRad="190500" dist="50800" dir="5400000">
              <a:srgbClr val="2c1e74">
                <a:alpha val="16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5870448" y="4965192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42" name="Text 40"/>
          <p:cNvSpPr/>
          <p:nvPr/>
        </p:nvSpPr>
        <p:spPr>
          <a:xfrm>
            <a:off x="5870448" y="496519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456F0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본 측정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870448" y="5276088"/>
            <a:ext cx="5608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SWE-bench Lite · oracle · single-shot</a:t>
            </a:r>
            <a:endParaRPr lang="en-US" sz="1450" dirty="0"/>
          </a:p>
        </p:txBody>
      </p:sp>
      <p:sp>
        <p:nvSpPr>
          <p:cNvPr id="44" name="Text 42"/>
          <p:cNvSpPr/>
          <p:nvPr/>
        </p:nvSpPr>
        <p:spPr>
          <a:xfrm>
            <a:off x="5870448" y="5605272"/>
            <a:ext cx="560801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2000"/>
              </a:lnSpc>
              <a:buNone/>
            </a:pPr>
            <a:r>
              <a:rPr lang="en-US" sz="1030" dirty="0">
                <a:solidFill>
                  <a:srgbClr val="DBE6FF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Lite 300건 중 12개 repo(astropy·django·matplotlib·sympy 등)에 고르게 50건 추출. context는 oracle(정답 파일 제공), 호출은 single-shot(1회 생성) — 에이전트 반복 없이 순수 코드 편집 능력을 본다.</a:t>
            </a:r>
            <a:endParaRPr lang="en-US" sz="10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80" kern="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TEST 4 · SWE-BENCH ②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11 /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19295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E8E93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docs/SWEBENCH_SETUP.md 참조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100" spc="-60" kern="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테스트 4 — SWE-bench ②: 환경 구축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57200" y="158191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5515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Docker 기반 채점 — 인스턴스별 격리 컨테이너에서 repo 테스트 실행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185416"/>
            <a:ext cx="6400800" cy="1517904"/>
          </a:xfrm>
          <a:prstGeom prst="roundRect">
            <a:avLst>
              <a:gd name="adj" fmla="val 6024"/>
            </a:avLst>
          </a:prstGeom>
          <a:solidFill>
            <a:srgbClr val="181E25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76656" y="2331720"/>
            <a:ext cx="5961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0B5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① 설치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76656" y="2624328"/>
            <a:ext cx="596188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FC6FF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$ git clone https://github.com/SWE-bench/SWE-bench.git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FC6FF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$ cd SWE-bench &amp;&amp; pip install -e .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EA0B5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$ docker --version    # Docker 동작 확인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57200" y="3849624"/>
            <a:ext cx="6400800" cy="2414016"/>
          </a:xfrm>
          <a:prstGeom prst="roundRect">
            <a:avLst>
              <a:gd name="adj" fmla="val 3788"/>
            </a:avLst>
          </a:prstGeom>
          <a:solidFill>
            <a:srgbClr val="181E25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76656" y="3995928"/>
            <a:ext cx="5961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A0B5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② 채점 실행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76656" y="4288536"/>
            <a:ext cx="5961888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FC6FF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$ python -m swebench.harness.run_evaluation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5E9EF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    --dataset_name princeton-nlp/SWE-bench_Lite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5E9EF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    --predictions_path predictions.jsonl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5E9EF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    --max_workers 8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5E9EF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    --namespace swebench \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E5E9EF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    --run_id my_run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EA0B5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# --namespace swebench → prebuilt 이미지 pull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8EA0B5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# 결과: &lt;model&gt;.&lt;run_id&gt;.json (resolved 카운트)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077456" y="2185416"/>
            <a:ext cx="4657039" cy="1828800"/>
          </a:xfrm>
          <a:prstGeom prst="roundRect">
            <a:avLst>
              <a:gd name="adj" fmla="val 6500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0" y="2350008"/>
            <a:ext cx="4199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요구사항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51776" y="2715768"/>
            <a:ext cx="91440" cy="91440"/>
          </a:xfrm>
          <a:prstGeom prst="ellipse">
            <a:avLst/>
          </a:prstGeom>
          <a:solidFill>
            <a:srgbClr val="1456F0"/>
          </a:solidFill>
          <a:ln/>
        </p:spPr>
      </p:sp>
      <p:sp>
        <p:nvSpPr>
          <p:cNvPr id="16" name="Text 14"/>
          <p:cNvSpPr/>
          <p:nvPr/>
        </p:nvSpPr>
        <p:spPr>
          <a:xfrm>
            <a:off x="7552944" y="2606040"/>
            <a:ext cx="392551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x86_64 Linux · Docker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7351776" y="3099816"/>
            <a:ext cx="91440" cy="91440"/>
          </a:xfrm>
          <a:prstGeom prst="ellipse">
            <a:avLst/>
          </a:prstGeom>
          <a:solidFill>
            <a:srgbClr val="1456F0"/>
          </a:solidFill>
          <a:ln/>
        </p:spPr>
      </p:sp>
      <p:sp>
        <p:nvSpPr>
          <p:cNvPr id="18" name="Text 16"/>
          <p:cNvSpPr/>
          <p:nvPr/>
        </p:nvSpPr>
        <p:spPr>
          <a:xfrm>
            <a:off x="7552944" y="2990088"/>
            <a:ext cx="392551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디스크 수십~120GB (인스턴스 이미지)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7351776" y="3483864"/>
            <a:ext cx="91440" cy="91440"/>
          </a:xfrm>
          <a:prstGeom prst="ellipse">
            <a:avLst/>
          </a:prstGeom>
          <a:solidFill>
            <a:srgbClr val="1456F0"/>
          </a:solidFill>
          <a:ln/>
        </p:spPr>
      </p:sp>
      <p:sp>
        <p:nvSpPr>
          <p:cNvPr id="20" name="Text 18"/>
          <p:cNvSpPr/>
          <p:nvPr/>
        </p:nvSpPr>
        <p:spPr>
          <a:xfrm>
            <a:off x="7552944" y="3374136"/>
            <a:ext cx="392551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Python 3.10+ · swebench 패키지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7077456" y="4160520"/>
            <a:ext cx="4657039" cy="2103120"/>
          </a:xfrm>
          <a:prstGeom prst="roundRect">
            <a:avLst>
              <a:gd name="adj" fmla="val 5652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315200" y="4306824"/>
            <a:ext cx="41998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예측 파일 (predictions.jsonl)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0" y="4562856"/>
            <a:ext cx="4199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한 줄 = 한 인스턴스. 모델이 만든 패치를 model_patch에 담는다: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15200" y="4983480"/>
            <a:ext cx="4181551" cy="1097280"/>
          </a:xfrm>
          <a:prstGeom prst="roundRect">
            <a:avLst>
              <a:gd name="adj" fmla="val 8333"/>
            </a:avLst>
          </a:prstGeom>
          <a:solidFill>
            <a:srgbClr val="181E25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34656" y="5129784"/>
            <a:ext cx="37426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E5E9EF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{"instance_id": "astropy__..."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E5E9EF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 "model_name_or_path": "8B",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C6FF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 "model_patch": "diff --git ..."}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80" kern="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TEST 4 · SWE-BENCH ③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12 /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19295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E8E93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예시: astropy__astropy-12907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100" spc="-60" kern="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테스트 4 — SWE-bench ③: 측정 방법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57200" y="158191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5515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oracle 프롬프트를 로컬 furiosa-llm 서버에 보내 diff를 받고 harness로 채점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185416"/>
            <a:ext cx="3624986" cy="4078224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8368" y="2368296"/>
            <a:ext cx="405994" cy="256032"/>
          </a:xfrm>
          <a:prstGeom prst="roundRect">
            <a:avLst>
              <a:gd name="adj" fmla="val 50000"/>
            </a:avLst>
          </a:prstGeom>
          <a:solidFill>
            <a:srgbClr val="1456F0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" y="2368296"/>
            <a:ext cx="405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입력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58368" y="2679192"/>
            <a:ext cx="3222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oracle 프롬프트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" y="2953512"/>
            <a:ext cx="3222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이슈 설명 + 수정 대상 파일 코드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658368" y="3264408"/>
            <a:ext cx="3222650" cy="2798064"/>
          </a:xfrm>
          <a:prstGeom prst="roundRect">
            <a:avLst>
              <a:gd name="adj" fmla="val 3268"/>
            </a:avLst>
          </a:prstGeom>
          <a:solidFill>
            <a:srgbClr val="181E25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77824" y="3410712"/>
            <a:ext cx="2783738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EA0B5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&lt;issue&gt;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E5E9EF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separability_matrix 가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E5E9EF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nested CompoundModel 에서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E5E9EF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분리성을 잘못 계산함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EA0B5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&lt;/issue&gt;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EA0B5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[start of separable.py]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C6FF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def _separable(transform):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E5E9EF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    ...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283354" y="2185416"/>
            <a:ext cx="3624986" cy="4078224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484522" y="2368296"/>
            <a:ext cx="405994" cy="25603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/>
        </p:spPr>
      </p:sp>
      <p:sp>
        <p:nvSpPr>
          <p:cNvPr id="16" name="Text 14"/>
          <p:cNvSpPr/>
          <p:nvPr/>
        </p:nvSpPr>
        <p:spPr>
          <a:xfrm>
            <a:off x="4484522" y="2368296"/>
            <a:ext cx="405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출력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484522" y="2679192"/>
            <a:ext cx="3222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모델 생성 diff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484522" y="2953512"/>
            <a:ext cx="3222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Llama-3.1-8B single-shot 응답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484522" y="3264408"/>
            <a:ext cx="3222650" cy="2798064"/>
          </a:xfrm>
          <a:prstGeom prst="roundRect">
            <a:avLst>
              <a:gd name="adj" fmla="val 3268"/>
            </a:avLst>
          </a:prstGeom>
          <a:solidFill>
            <a:srgbClr val="181E25"/>
          </a:solidFill>
          <a:ln/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703978" y="3410712"/>
            <a:ext cx="2783738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EA0B5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--- a/.../separable.py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8EA0B5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+++ b/.../separable.py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FC6FF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@@ -304,6 +304,10 @@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E5E9EF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  elif isinstance(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E5E9EF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      transform, Compound):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EE787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+   if isinstance(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EE787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+       transform.left,...):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EE787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+     sepleft =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7EE787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+       _separable(...)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09509" y="2185416"/>
            <a:ext cx="3624986" cy="4078224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310677" y="2368296"/>
            <a:ext cx="405994" cy="256032"/>
          </a:xfrm>
          <a:prstGeom prst="roundRect">
            <a:avLst>
              <a:gd name="adj" fmla="val 50000"/>
            </a:avLst>
          </a:prstGeom>
          <a:solidFill>
            <a:srgbClr val="EA5EC1"/>
          </a:solidFill>
          <a:ln/>
        </p:spPr>
      </p:sp>
      <p:sp>
        <p:nvSpPr>
          <p:cNvPr id="23" name="Text 21"/>
          <p:cNvSpPr/>
          <p:nvPr/>
        </p:nvSpPr>
        <p:spPr>
          <a:xfrm>
            <a:off x="8310677" y="2368296"/>
            <a:ext cx="405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채점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310677" y="2679192"/>
            <a:ext cx="3222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Docker harness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310677" y="2953512"/>
            <a:ext cx="322265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패치 적용 후 테스트 실행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8310677" y="3282696"/>
            <a:ext cx="3222650" cy="822960"/>
          </a:xfrm>
          <a:prstGeom prst="roundRect">
            <a:avLst>
              <a:gd name="adj" fmla="val 14444"/>
            </a:avLst>
          </a:prstGeom>
          <a:solidFill>
            <a:srgbClr val="FAFAFA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10677" y="3429000"/>
            <a:ext cx="64008" cy="530352"/>
          </a:xfrm>
          <a:prstGeom prst="roundRect">
            <a:avLst>
              <a:gd name="adj" fmla="val 42857"/>
            </a:avLst>
          </a:prstGeom>
          <a:solidFill>
            <a:srgbClr val="16A34A"/>
          </a:solidFill>
          <a:ln/>
        </p:spPr>
      </p:sp>
      <p:sp>
        <p:nvSpPr>
          <p:cNvPr id="28" name="Text 26"/>
          <p:cNvSpPr/>
          <p:nvPr/>
        </p:nvSpPr>
        <p:spPr>
          <a:xfrm>
            <a:off x="8511845" y="3392424"/>
            <a:ext cx="2856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resolved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511845" y="3666744"/>
            <a:ext cx="28568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패치 적용 + 테스트 통과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310677" y="4233672"/>
            <a:ext cx="3222650" cy="822960"/>
          </a:xfrm>
          <a:prstGeom prst="roundRect">
            <a:avLst>
              <a:gd name="adj" fmla="val 14444"/>
            </a:avLst>
          </a:prstGeom>
          <a:solidFill>
            <a:srgbClr val="FAFAFA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10677" y="4379976"/>
            <a:ext cx="64008" cy="530352"/>
          </a:xfrm>
          <a:prstGeom prst="roundRect">
            <a:avLst>
              <a:gd name="adj" fmla="val 42857"/>
            </a:avLst>
          </a:prstGeom>
          <a:solidFill>
            <a:srgbClr val="8E8E93"/>
          </a:solidFill>
          <a:ln/>
        </p:spPr>
      </p:sp>
      <p:sp>
        <p:nvSpPr>
          <p:cNvPr id="32" name="Text 30"/>
          <p:cNvSpPr/>
          <p:nvPr/>
        </p:nvSpPr>
        <p:spPr>
          <a:xfrm>
            <a:off x="8511845" y="4343400"/>
            <a:ext cx="2856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unresolved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511845" y="4617720"/>
            <a:ext cx="28568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적용됐으나 테스트 미통과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8310677" y="5184648"/>
            <a:ext cx="3222650" cy="822960"/>
          </a:xfrm>
          <a:prstGeom prst="roundRect">
            <a:avLst>
              <a:gd name="adj" fmla="val 14444"/>
            </a:avLst>
          </a:prstGeom>
          <a:solidFill>
            <a:srgbClr val="FAFAFA"/>
          </a:solidFill>
          <a:ln w="12700">
            <a:solidFill>
              <a:srgbClr val="F2F3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10677" y="5330952"/>
            <a:ext cx="64008" cy="530352"/>
          </a:xfrm>
          <a:prstGeom prst="roundRect">
            <a:avLst>
              <a:gd name="adj" fmla="val 42857"/>
            </a:avLst>
          </a:prstGeom>
          <a:solidFill>
            <a:srgbClr val="EA5EC1"/>
          </a:solidFill>
          <a:ln/>
        </p:spPr>
      </p:sp>
      <p:sp>
        <p:nvSpPr>
          <p:cNvPr id="36" name="Text 34"/>
          <p:cNvSpPr/>
          <p:nvPr/>
        </p:nvSpPr>
        <p:spPr>
          <a:xfrm>
            <a:off x="8511845" y="5294376"/>
            <a:ext cx="28568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적용실패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11845" y="5568696"/>
            <a:ext cx="28568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malformed diff — 적용 불가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80" kern="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TEST 4 · SWE-BENCH ④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13 /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19295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E8E93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출처: SWE-bench Lite oracle 50건 · Docker harness 채점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100" spc="-60" kern="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테스트 4 — SWE-bench ④: 결과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57200" y="158191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5515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Llama-3.1-8B single-shot · oracle 컨텍스트 50건 채점 결과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185416"/>
            <a:ext cx="5852160" cy="4078224"/>
          </a:xfrm>
          <a:prstGeom prst="roundRect">
            <a:avLst>
              <a:gd name="adj" fmla="val 2915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33172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채점 결과 분포 (50건)</a:t>
            </a:r>
            <a:endParaRPr lang="en-US" sz="14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914400" y="2688336"/>
          <a:ext cx="4937760" cy="288950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685800" y="5934456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E8E93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repo 분포: astropy·django·matplotlib 각 5 · 기타 9개 repo — Lite 12개 repo stratified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6528816" y="2185416"/>
            <a:ext cx="5205679" cy="1371600"/>
          </a:xfrm>
          <a:prstGeom prst="roundRect">
            <a:avLst>
              <a:gd name="adj" fmla="val 8667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803136" y="2368296"/>
            <a:ext cx="46570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resolved (테스트 통과)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803136" y="2642616"/>
            <a:ext cx="465703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</a:t>
            </a:r>
            <a:pPr indent="0" marL="0">
              <a:buNone/>
            </a:pPr>
            <a:r>
              <a:rPr lang="en-US" sz="180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 / 50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6803136" y="3227832"/>
            <a:ext cx="46570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8B 단발 생성으로는 SWE-bench 버그를 해결하지 못함 — 원인은 다음 슬라이드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528816" y="3721608"/>
            <a:ext cx="5205679" cy="1197864"/>
          </a:xfrm>
          <a:prstGeom prst="roundRect">
            <a:avLst>
              <a:gd name="adj" fmla="val 9924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528816" y="3904488"/>
            <a:ext cx="64008" cy="832104"/>
          </a:xfrm>
          <a:prstGeom prst="roundRect">
            <a:avLst>
              <a:gd name="adj" fmla="val 42857"/>
            </a:avLst>
          </a:prstGeom>
          <a:solidFill>
            <a:srgbClr val="EA5EC1"/>
          </a:solidFill>
          <a:ln/>
        </p:spPr>
      </p:sp>
      <p:sp>
        <p:nvSpPr>
          <p:cNvPr id="17" name="Text 14"/>
          <p:cNvSpPr/>
          <p:nvPr/>
        </p:nvSpPr>
        <p:spPr>
          <a:xfrm>
            <a:off x="6784848" y="3904488"/>
            <a:ext cx="47484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27건 — 적용실패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6784848" y="4197096"/>
            <a:ext cx="4748479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모델이 정확한 unified diff를 만들지 못함. diff 포맷이 무너진 비율 54%.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528816" y="5065776"/>
            <a:ext cx="5205679" cy="1197864"/>
          </a:xfrm>
          <a:prstGeom prst="roundRect">
            <a:avLst>
              <a:gd name="adj" fmla="val 9924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528816" y="5248656"/>
            <a:ext cx="64008" cy="832104"/>
          </a:xfrm>
          <a:prstGeom prst="roundRect">
            <a:avLst>
              <a:gd name="adj" fmla="val 42857"/>
            </a:avLst>
          </a:prstGeom>
          <a:solidFill>
            <a:srgbClr val="8E8E93"/>
          </a:solidFill>
          <a:ln/>
        </p:spPr>
      </p:sp>
      <p:sp>
        <p:nvSpPr>
          <p:cNvPr id="21" name="Text 18"/>
          <p:cNvSpPr/>
          <p:nvPr/>
        </p:nvSpPr>
        <p:spPr>
          <a:xfrm>
            <a:off x="6784848" y="5248656"/>
            <a:ext cx="47484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23건 — 미해결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6784848" y="5541264"/>
            <a:ext cx="4748479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패치는 적용됐으나 테스트 미통과. 단발 8B 코드 수정 역량의 한계.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80" kern="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TEST 4 · SWE-BENCH ⑤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14 /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19295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E8E93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출처: 예측 jsonl + harness 로그 분석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100" spc="-60" kern="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테스트 4 — SWE-bench ⑤: 결과 심층 분석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57200" y="158191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5515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27 적용실패·23 미해결 — 모델 한계인가, NPU 한계인가?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185416"/>
            <a:ext cx="11277295" cy="768096"/>
          </a:xfrm>
          <a:prstGeom prst="roundRect">
            <a:avLst>
              <a:gd name="adj" fmla="val 19048"/>
            </a:avLst>
          </a:prstGeom>
          <a:solidFill>
            <a:srgbClr val="1456F0"/>
          </a:solidFill>
          <a:ln/>
          <a:effectLst>
            <a:outerShdw sx="100000" sy="100000" kx="0" ky="0" algn="bl" rotWithShape="0" blurRad="190500" dist="50800" dir="5400000">
              <a:srgbClr val="2c1e74">
                <a:alpha val="16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2423160"/>
            <a:ext cx="84124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2423160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456F0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결론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737360" y="2185416"/>
            <a:ext cx="102412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원인은 single-shot 8B 모델의 한계 — NPU·서빙 제약이 아니다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" y="311810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56F0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왜 NPU·서빙 한계가 아닌가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502152"/>
            <a:ext cx="5212080" cy="630936"/>
          </a:xfrm>
          <a:prstGeom prst="roundRect">
            <a:avLst>
              <a:gd name="adj" fmla="val 18841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3648456"/>
            <a:ext cx="64008" cy="338328"/>
          </a:xfrm>
          <a:prstGeom prst="roundRect">
            <a:avLst>
              <a:gd name="adj" fmla="val 42857"/>
            </a:avLst>
          </a:prstGeom>
          <a:solidFill>
            <a:srgbClr val="1456F0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362102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8B 아티팩트 = bf16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94944" y="3867912"/>
            <a:ext cx="4754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양자화 없음 → NPU 정밀도 손실 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4261104"/>
            <a:ext cx="5212080" cy="630936"/>
          </a:xfrm>
          <a:prstGeom prst="roundRect">
            <a:avLst>
              <a:gd name="adj" fmla="val 18841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4407408"/>
            <a:ext cx="64008" cy="338328"/>
          </a:xfrm>
          <a:prstGeom prst="roundRect">
            <a:avLst>
              <a:gd name="adj" fmla="val 42857"/>
            </a:avLst>
          </a:prstGeom>
          <a:solidFill>
            <a:srgbClr val="1456F0"/>
          </a:solidFill>
          <a:ln/>
        </p:spPr>
      </p:sp>
      <p:sp>
        <p:nvSpPr>
          <p:cNvPr id="18" name="Text 16"/>
          <p:cNvSpPr/>
          <p:nvPr/>
        </p:nvSpPr>
        <p:spPr>
          <a:xfrm>
            <a:off x="694944" y="437997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평균 출력 698토큰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94944" y="4626864"/>
            <a:ext cx="4754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max_tokens 4096 한도 — 절단은 27건 중 2건뿐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5020056"/>
            <a:ext cx="5212080" cy="630936"/>
          </a:xfrm>
          <a:prstGeom prst="roundRect">
            <a:avLst>
              <a:gd name="adj" fmla="val 18841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5166360"/>
            <a:ext cx="64008" cy="338328"/>
          </a:xfrm>
          <a:prstGeom prst="roundRect">
            <a:avLst>
              <a:gd name="adj" fmla="val 42857"/>
            </a:avLst>
          </a:prstGeom>
          <a:solidFill>
            <a:srgbClr val="1456F0"/>
          </a:solidFill>
          <a:ln/>
        </p:spPr>
      </p:sp>
      <p:sp>
        <p:nvSpPr>
          <p:cNvPr id="22" name="Text 20"/>
          <p:cNvSpPr/>
          <p:nvPr/>
        </p:nvSpPr>
        <p:spPr>
          <a:xfrm>
            <a:off x="694944" y="513892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context 128K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94944" y="5385816"/>
            <a:ext cx="4754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프롬프트(5~18K 토큰) 충분히 수용 — 길이 제약 없음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907024" y="3118104"/>
            <a:ext cx="58640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두 실패 유형 — 모두 모델 역량 문제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870448" y="3502152"/>
            <a:ext cx="5864047" cy="1001268"/>
          </a:xfrm>
          <a:prstGeom prst="roundRect">
            <a:avLst>
              <a:gd name="adj" fmla="val 11872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870448" y="3666744"/>
            <a:ext cx="64008" cy="672084"/>
          </a:xfrm>
          <a:prstGeom prst="roundRect">
            <a:avLst>
              <a:gd name="adj" fmla="val 42857"/>
            </a:avLst>
          </a:prstGeom>
          <a:solidFill>
            <a:srgbClr val="EA5EC1"/>
          </a:solidFill>
          <a:ln/>
        </p:spPr>
      </p:sp>
      <p:sp>
        <p:nvSpPr>
          <p:cNvPr id="27" name="Text 25"/>
          <p:cNvSpPr/>
          <p:nvPr/>
        </p:nvSpPr>
        <p:spPr>
          <a:xfrm>
            <a:off x="6144768" y="3648456"/>
            <a:ext cx="5361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27 적용실패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144768" y="3959352"/>
            <a:ext cx="5333695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3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모델이 diff의 @@ hunk 헤더 줄 수를 잘못 계산 → patch 도구가 거부 (헤더는 +1줄 표기, 실제 본문은 2줄 추가 → 불일치).</a:t>
            </a:r>
            <a:endParaRPr lang="en-US" sz="1030" dirty="0"/>
          </a:p>
        </p:txBody>
      </p:sp>
      <p:sp>
        <p:nvSpPr>
          <p:cNvPr id="29" name="Shape 27"/>
          <p:cNvSpPr/>
          <p:nvPr/>
        </p:nvSpPr>
        <p:spPr>
          <a:xfrm>
            <a:off x="5870448" y="4649724"/>
            <a:ext cx="5864047" cy="1001268"/>
          </a:xfrm>
          <a:prstGeom prst="roundRect">
            <a:avLst>
              <a:gd name="adj" fmla="val 11872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870448" y="4814316"/>
            <a:ext cx="64008" cy="672084"/>
          </a:xfrm>
          <a:prstGeom prst="roundRect">
            <a:avLst>
              <a:gd name="adj" fmla="val 42857"/>
            </a:avLst>
          </a:prstGeom>
          <a:solidFill>
            <a:srgbClr val="8E8E93"/>
          </a:solidFill>
          <a:ln/>
        </p:spPr>
      </p:sp>
      <p:sp>
        <p:nvSpPr>
          <p:cNvPr id="31" name="Text 29"/>
          <p:cNvSpPr/>
          <p:nvPr/>
        </p:nvSpPr>
        <p:spPr>
          <a:xfrm>
            <a:off x="6144768" y="4796028"/>
            <a:ext cx="5361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23 미해결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144768" y="5106924"/>
            <a:ext cx="5333695" cy="434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03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문법이 맞는 패치가 적용됐으나 테스트 미통과 — 수정 위치·내용이 틀림. 단발 8B의 코드 추론 능력 한계.</a:t>
            </a:r>
            <a:endParaRPr lang="en-US" sz="1030" dirty="0"/>
          </a:p>
        </p:txBody>
      </p:sp>
      <p:sp>
        <p:nvSpPr>
          <p:cNvPr id="33" name="Shape 31"/>
          <p:cNvSpPr/>
          <p:nvPr/>
        </p:nvSpPr>
        <p:spPr>
          <a:xfrm>
            <a:off x="457200" y="5779008"/>
            <a:ext cx="11277295" cy="457200"/>
          </a:xfrm>
          <a:prstGeom prst="roundRect">
            <a:avLst>
              <a:gd name="adj" fmla="val 26000"/>
            </a:avLst>
          </a:prstGeom>
          <a:solidFill>
            <a:srgbClr val="F0F0F0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" y="5779008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456F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시사점  </a:t>
            </a:r>
            <a:pPr indent="0" marL="0">
              <a:buNone/>
            </a:pPr>
            <a:r>
              <a:rPr lang="en-US" sz="1050" dirty="0">
                <a:solidFill>
                  <a:srgbClr val="45515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정확도는 모델이 결정, 속도는 하드웨어가 결정 — 같은 모델이면 GPU에서도 SWE-bench 결과는 비슷할 것. NPU↔GPU 비교의 핵심은 속도·처리량.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80" kern="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TEST 5 · EMBEDDING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15 /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19295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E8E93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출처: bench/results · embed / rerank task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100" spc="-60" kern="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테스트 5 — 임베딩 · 리랭커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57200" y="158191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5515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검색 보조 모델(Qwen3-Embedding-8B · Qwen3-Reranker-8B)의 처리량 측정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185416"/>
            <a:ext cx="3637178" cy="1097280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2331720"/>
            <a:ext cx="490118" cy="256032"/>
          </a:xfrm>
          <a:prstGeom prst="roundRect">
            <a:avLst>
              <a:gd name="adj" fmla="val 50000"/>
            </a:avLst>
          </a:prstGeom>
          <a:solidFill>
            <a:srgbClr val="8E8E93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331720"/>
            <a:ext cx="49011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무엇을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40080" y="2642616"/>
            <a:ext cx="32714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임베딩/리랭킹 처리량 — SWE-bench 검색 보조에 쓰이는 모델.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4277258" y="2185416"/>
            <a:ext cx="3637178" cy="1097280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460138" y="2331720"/>
            <a:ext cx="405994" cy="256032"/>
          </a:xfrm>
          <a:prstGeom prst="roundRect">
            <a:avLst>
              <a:gd name="adj" fmla="val 50000"/>
            </a:avLst>
          </a:prstGeom>
          <a:solidFill>
            <a:srgbClr val="8E8E93"/>
          </a:solidFill>
          <a:ln/>
        </p:spPr>
      </p:sp>
      <p:sp>
        <p:nvSpPr>
          <p:cNvPr id="13" name="Text 11"/>
          <p:cNvSpPr/>
          <p:nvPr/>
        </p:nvSpPr>
        <p:spPr>
          <a:xfrm>
            <a:off x="4460138" y="2331720"/>
            <a:ext cx="405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입력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60138" y="2642616"/>
            <a:ext cx="32714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/v1/embeddings·/v1/rerank에 batch {1·4·16·64}개 입력.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8097317" y="2185416"/>
            <a:ext cx="3637178" cy="1097280"/>
          </a:xfrm>
          <a:prstGeom prst="roundRect">
            <a:avLst>
              <a:gd name="adj" fmla="val 10833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80197" y="2331720"/>
            <a:ext cx="658368" cy="256032"/>
          </a:xfrm>
          <a:prstGeom prst="roundRect">
            <a:avLst>
              <a:gd name="adj" fmla="val 50000"/>
            </a:avLst>
          </a:prstGeom>
          <a:solidFill>
            <a:srgbClr val="8E8E93"/>
          </a:solidFill>
          <a:ln/>
        </p:spPr>
      </p:sp>
      <p:sp>
        <p:nvSpPr>
          <p:cNvPr id="17" name="Text 15"/>
          <p:cNvSpPr/>
          <p:nvPr/>
        </p:nvSpPr>
        <p:spPr>
          <a:xfrm>
            <a:off x="8280197" y="2331720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출력·분석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280197" y="2642616"/>
            <a:ext cx="327141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초당 처리 건수(inputs/s), 배치 크기별 효율.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457200" y="3456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56F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결과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767328"/>
            <a:ext cx="3566160" cy="2496312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13232" y="3986784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Qwen3-Embedding-8B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13232" y="4297680"/>
            <a:ext cx="3054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456F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1.17</a:t>
            </a:r>
            <a:pPr indent="0" marL="0">
              <a:buNone/>
            </a:pPr>
            <a:r>
              <a:rPr lang="en-US" sz="1300" dirty="0">
                <a:solidFill>
                  <a:srgbClr val="45515E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  inputs/s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713232" y="5010912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batch 1·16·64 모두 동일 — 배치 이득 없음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4206240" y="3767328"/>
            <a:ext cx="3566160" cy="2496312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462272" y="3986784"/>
            <a:ext cx="3054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Qwen3-Reranker-8B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462272" y="4297680"/>
            <a:ext cx="3054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456F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1.17</a:t>
            </a:r>
            <a:pPr indent="0" marL="0">
              <a:buNone/>
            </a:pPr>
            <a:r>
              <a:rPr lang="en-US" sz="1300" dirty="0">
                <a:solidFill>
                  <a:srgbClr val="45515E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  pairs/s</a:t>
            </a:r>
            <a:endParaRPr lang="en-US" sz="4000" dirty="0"/>
          </a:p>
        </p:txBody>
      </p:sp>
      <p:sp>
        <p:nvSpPr>
          <p:cNvPr id="27" name="Text 25"/>
          <p:cNvSpPr/>
          <p:nvPr/>
        </p:nvSpPr>
        <p:spPr>
          <a:xfrm>
            <a:off x="4462272" y="5010912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98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쿼리당 100문서 ≈ 85초 — 항목당 약 0.85초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7955280" y="3767328"/>
            <a:ext cx="3779215" cy="2496312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955280" y="4005072"/>
            <a:ext cx="64008" cy="2020824"/>
          </a:xfrm>
          <a:prstGeom prst="roundRect">
            <a:avLst>
              <a:gd name="adj" fmla="val 42857"/>
            </a:avLst>
          </a:prstGeom>
          <a:solidFill>
            <a:srgbClr val="EA5EC1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0" y="3986784"/>
            <a:ext cx="3276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처리량 이상 — 별도 점검 필요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229600" y="4352544"/>
            <a:ext cx="3230575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두 모델 모두 항목당 약 0.85초 — 8B 생성 모델의 단일 prefill(수십 ms) 대비 수십 배 느리다. batch size를 키워도 처리량이 1.17/s로 고정돼 배칭이 동작하지 않는다. 아티팩트의 고정 버킷 패딩 또는 배칭 경로 미최적화 가능성 → 현재 설정으로는 대량 검색에 부적합하며 후속 점검이 필요하다.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80" kern="0" dirty="0">
                <a:solidFill>
                  <a:srgbClr val="8E8E93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CONCLUSION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4465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E8E93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16 /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19295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E8E93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출처: bench/REPORT.md · 동시성은 prompt 1024 기준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11277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3100" spc="-60" kern="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결론 — 2-카드에서는 Llama-3.1-8B 단독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457200" y="1581912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45515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강력 후보 32B·70B는 RNGD 4카드 필요 → 정확도 우선이면 4카드 환경 권장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185416"/>
            <a:ext cx="6400800" cy="4078224"/>
          </a:xfrm>
          <a:prstGeom prst="roundRect">
            <a:avLst>
              <a:gd name="adj" fmla="val 2915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3500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동시 접속자별 권장 (Llama-3.1-8B · 1카드)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2697480"/>
            <a:ext cx="5943600" cy="502920"/>
          </a:xfrm>
          <a:prstGeom prst="rect">
            <a:avLst/>
          </a:prstGeom>
          <a:solidFill>
            <a:srgbClr val="F2F3F5"/>
          </a:solidFill>
          <a:ln/>
        </p:spPr>
      </p:sp>
      <p:sp>
        <p:nvSpPr>
          <p:cNvPr id="10" name="Text 8"/>
          <p:cNvSpPr/>
          <p:nvPr/>
        </p:nvSpPr>
        <p:spPr>
          <a:xfrm>
            <a:off x="758952" y="26974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동시 사용자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313432" y="26974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요청당 속도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867912" y="26974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TTFT p95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82312" y="26974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판단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58952" y="32004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1 – 8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313432" y="32004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48 – 54 tok/s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67912" y="320040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&lt; 0.2 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82312" y="32004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56F0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쾌적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3703320"/>
            <a:ext cx="5943600" cy="50292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19" name="Text 17"/>
          <p:cNvSpPr/>
          <p:nvPr/>
        </p:nvSpPr>
        <p:spPr>
          <a:xfrm>
            <a:off x="758952" y="37033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16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313432" y="37033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42 tok/s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867912" y="370332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0.38 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82312" y="37033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56F0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양호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58952" y="42062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32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313432" y="42062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35 tok/s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867912" y="42062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0.51 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82312" y="42062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56F0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양호 · 1카드 권장 상한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85800" y="4709160"/>
            <a:ext cx="5943600" cy="502920"/>
          </a:xfrm>
          <a:prstGeom prst="rect">
            <a:avLst/>
          </a:prstGeom>
          <a:solidFill>
            <a:srgbClr val="FAFAFA"/>
          </a:solidFill>
          <a:ln/>
        </p:spPr>
      </p:sp>
      <p:sp>
        <p:nvSpPr>
          <p:cNvPr id="28" name="Text 26"/>
          <p:cNvSpPr/>
          <p:nvPr/>
        </p:nvSpPr>
        <p:spPr>
          <a:xfrm>
            <a:off x="758952" y="47091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64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313432" y="47091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27 tok/s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867912" y="470916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0.96 s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82312" y="470916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56F0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처리량 우선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58952" y="5212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128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313432" y="5212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18 tok/s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867912" y="521208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1.85 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782312" y="521208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56F0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집계 peak · 체감 느림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85800" y="576986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E8E93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전 동시성 구간 요청 실패 0건 · KV cache 27GB 확보로 KV는 병목 아님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7077456" y="2185416"/>
            <a:ext cx="4657039" cy="1249680"/>
          </a:xfrm>
          <a:prstGeom prst="roundRect">
            <a:avLst>
              <a:gd name="adj" fmla="val 11707"/>
            </a:avLst>
          </a:prstGeom>
          <a:solidFill>
            <a:srgbClr val="1456F0"/>
          </a:solidFill>
          <a:ln/>
          <a:effectLst>
            <a:outerShdw sx="100000" sy="100000" kx="0" ky="0" algn="bl" rotWithShape="0" blurRad="190500" dist="50800" dir="5400000">
              <a:srgbClr val="2c1e74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278624" y="2368296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7278624" y="2368296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456F0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채택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278624" y="2688336"/>
            <a:ext cx="42547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Llama-3.1-8B / 1카드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278624" y="2990088"/>
            <a:ext cx="4254703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DBE6FF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코드 자동완성·대화형 보조에 적합. ~32명까지 쾌적, serve 옵션은 기본값.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7077456" y="3599688"/>
            <a:ext cx="4657039" cy="1249680"/>
          </a:xfrm>
          <a:prstGeom prst="roundRect">
            <a:avLst>
              <a:gd name="adj" fmla="val 9512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7278624" y="3782568"/>
            <a:ext cx="405994" cy="256032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/>
        </p:spPr>
      </p:sp>
      <p:sp>
        <p:nvSpPr>
          <p:cNvPr id="44" name="Text 42"/>
          <p:cNvSpPr/>
          <p:nvPr/>
        </p:nvSpPr>
        <p:spPr>
          <a:xfrm>
            <a:off x="7278624" y="3782568"/>
            <a:ext cx="405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보강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7278624" y="4102608"/>
            <a:ext cx="42547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32B·70B는 4카드에서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278624" y="4404360"/>
            <a:ext cx="4254703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정확도(SWE-bench)는 8B가 약함. 강력 후보는 4카드 환경에서 측정·운영.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077456" y="5013960"/>
            <a:ext cx="4657039" cy="1249680"/>
          </a:xfrm>
          <a:prstGeom prst="roundRect">
            <a:avLst>
              <a:gd name="adj" fmla="val 9512"/>
            </a:avLst>
          </a:prstGeom>
          <a:solidFill>
            <a:srgbClr val="FFFFFF"/>
          </a:solidFill>
          <a:ln w="12700">
            <a:solidFill>
              <a:srgbClr val="F2F3F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48" name="Shape 46"/>
          <p:cNvSpPr/>
          <p:nvPr/>
        </p:nvSpPr>
        <p:spPr>
          <a:xfrm>
            <a:off x="7278624" y="5196840"/>
            <a:ext cx="405994" cy="256032"/>
          </a:xfrm>
          <a:prstGeom prst="roundRect">
            <a:avLst>
              <a:gd name="adj" fmla="val 50000"/>
            </a:avLst>
          </a:prstGeom>
          <a:solidFill>
            <a:srgbClr val="EA5EC1"/>
          </a:solidFill>
          <a:ln/>
        </p:spPr>
      </p:sp>
      <p:sp>
        <p:nvSpPr>
          <p:cNvPr id="49" name="Text 47"/>
          <p:cNvSpPr/>
          <p:nvPr/>
        </p:nvSpPr>
        <p:spPr>
          <a:xfrm>
            <a:off x="7278624" y="5196840"/>
            <a:ext cx="40599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aperlogy 6 SemiBold" pitchFamily="34" charset="0"/>
                <a:ea typeface="Paperlogy 6 SemiBold" pitchFamily="34" charset="-122"/>
                <a:cs typeface="Paperlogy 6 SemiBold" pitchFamily="34" charset="-120"/>
              </a:rPr>
              <a:t>점검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7278624" y="5516880"/>
            <a:ext cx="42547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임베딩·리랭커 처리량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7278624" y="5818632"/>
            <a:ext cx="4254703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8000"/>
              </a:lnSpc>
              <a:buNone/>
            </a:pPr>
            <a:r>
              <a:rPr lang="en-US" sz="1000" dirty="0">
                <a:solidFill>
                  <a:srgbClr val="45515E"/>
                </a:solidFill>
                <a:latin typeface="Paperlogy 4 Regular" pitchFamily="34" charset="0"/>
                <a:ea typeface="Paperlogy 4 Regular" pitchFamily="34" charset="-122"/>
                <a:cs typeface="Paperlogy 4 Regular" pitchFamily="34" charset="-120"/>
              </a:rPr>
              <a:t>1.17/s는 비정상 — 대량 검색 전 배칭/버킷 설정 점검 필요.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RNGD Benchmark</dc:creator>
  <cp:lastModifiedBy>RNGD Benchmark</cp:lastModifiedBy>
  <cp:revision>1</cp:revision>
  <dcterms:created xsi:type="dcterms:W3CDTF">2026-05-18T07:39:22Z</dcterms:created>
  <dcterms:modified xsi:type="dcterms:W3CDTF">2026-05-18T07:39:22Z</dcterms:modified>
</cp:coreProperties>
</file>