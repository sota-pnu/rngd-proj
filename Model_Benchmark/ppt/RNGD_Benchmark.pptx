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필요 PE</c:v>
                </c:pt>
              </c:strCache>
            </c:strRef>
          </c:tx>
          <c:spPr>
            <a:solidFill>
              <a:srgbClr val="1456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22222"/>
                    </a:solidFill>
                    <a:latin typeface="Paperlogy 6 Semi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56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56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56f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56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5ec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a5ec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a5ec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Qwen2.5-0.5B</c:v>
                  </c:pt>
                  <c:pt idx="1">
                    <c:v>Llama-3.1-8B</c:v>
                  </c:pt>
                  <c:pt idx="2">
                    <c:v>Qwen3-Embed-8B</c:v>
                  </c:pt>
                  <c:pt idx="3">
                    <c:v>Qwen3-Rerank-8B</c:v>
                  </c:pt>
                  <c:pt idx="4">
                    <c:v>Qwen3-32B-FP8</c:v>
                  </c:pt>
                  <c:pt idx="5">
                    <c:v>EXAONE-4.0-32B</c:v>
                  </c:pt>
                  <c:pt idx="6">
                    <c:v>Llama-3.3-70B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32</c:v>
                </c:pt>
                <c:pt idx="5">
                  <c:v>32</c:v>
                </c:pt>
                <c:pt idx="6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222222"/>
                  </a:solidFill>
                  <a:latin typeface="Paperlogy 6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5515E"/>
                </a:solidFill>
                <a:latin typeface="Paperlogy 5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E8E93"/>
                </a:solidFill>
                <a:latin typeface="Paperlogy 4 Regula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합산 TPS</c:v>
                </c:pt>
              </c:strCache>
            </c:strRef>
          </c:tx>
          <c:spPr>
            <a:solidFill>
              <a:srgbClr val="1456F0"/>
            </a:solidFill>
            <a:ln w="31750" cap="flat">
              <a:solidFill>
                <a:srgbClr val="1456F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22222"/>
                    </a:solidFill>
                    <a:latin typeface="Paperlogy 6 SemiBold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56F0"/>
              </a:solidFill>
              <a:ln w="9525" cap="flat">
                <a:solidFill>
                  <a:srgbClr val="1456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  <c:pt idx="5">
                    <c:v>32</c:v>
                  </c:pt>
                  <c:pt idx="6">
                    <c:v>64</c:v>
                  </c:pt>
                  <c:pt idx="7">
                    <c:v>128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</c:v>
                </c:pt>
                <c:pt idx="1">
                  <c:v>101</c:v>
                </c:pt>
                <c:pt idx="2">
                  <c:v>191</c:v>
                </c:pt>
                <c:pt idx="3">
                  <c:v>344</c:v>
                </c:pt>
                <c:pt idx="4">
                  <c:v>649</c:v>
                </c:pt>
                <c:pt idx="5">
                  <c:v>1090</c:v>
                </c:pt>
                <c:pt idx="6">
                  <c:v>1636</c:v>
                </c:pt>
                <c:pt idx="7">
                  <c:v>2197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22222"/>
                  </a:solidFill>
                  <a:latin typeface="Paperlogy 6 SemiBol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15E"/>
                </a:solidFill>
                <a:latin typeface="Paperlogy 5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E8E93"/>
                </a:solidFill>
                <a:latin typeface="Paperlogy 4 Regula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tok/s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Paperlogy 6 Semi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max-model-len 4096</c:v>
                  </c:pt>
                  <c:pt idx="2">
                    <c:v>max-model-len 16384</c:v>
                  </c:pt>
                  <c:pt idx="3">
                    <c:v>max-batch-size 32</c:v>
                  </c:pt>
                  <c:pt idx="4">
                    <c:v>max-num-batched 16384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2276</c:v>
                </c:pt>
                <c:pt idx="1">
                  <c:v>2294</c:v>
                </c:pt>
                <c:pt idx="2">
                  <c:v>2133</c:v>
                </c:pt>
                <c:pt idx="3">
                  <c:v>2265</c:v>
                </c:pt>
                <c:pt idx="4">
                  <c:v>2266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Paperlogy 6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880" b="0" i="0" u="none" strike="noStrike">
                <a:solidFill>
                  <a:srgbClr val="45515E"/>
                </a:solidFill>
                <a:latin typeface="Paperlogy 5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50"/>
          <c:min val="180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E8E93"/>
                </a:solidFill>
                <a:latin typeface="Paperlogy 4 Regula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결과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8E8E93"/>
              </a:solidFill>
              <a:effectLst/>
            </c:spPr>
          </c:dPt>
          <c:dPt>
            <c:idx val="2"/>
            <c:bubble3D val="0"/>
            <c:spPr>
              <a:solidFill>
                <a:srgbClr val="EA5EC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resolved 0</c:v>
                </c:pt>
                <c:pt idx="1">
                  <c:v>unresolved 23</c:v>
                </c:pt>
                <c:pt idx="2">
                  <c:v>적용실패 27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23</c:v>
                </c:pt>
                <c:pt idx="2">
                  <c:v>27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5515E"/>
              </a:solidFill>
              <a:latin typeface="Paperlogy 5 Medium"/>
              <a:cs typeface="Paperlogy 5 Medium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FURIOSA RNGD · 2026.05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spc="-8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 RNGD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spc="-8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 생성 모델 벤치마크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측정 기준 · 5개 테스트 방법 · 과정 · 결과 — RNGD 2-카드 환경에서 서빙 가능한 4개 모델 검증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11277295" cy="1600200"/>
          </a:xfrm>
          <a:prstGeom prst="roundRect">
            <a:avLst>
              <a:gd name="adj" fmla="val 12571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657600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65760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핵심 결론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968496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BE6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코드 생성 후보 = 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Llama-3.1-8B-Instruct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4498848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6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단일 55 tok/s · 동시성 c128까지 요청 실패 0 · RNGD 1카드 — 단, 강력 후보 32B·70B는 4카드 필요로 제외돼 모델 간 비교는 불성립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5193792"/>
            <a:ext cx="3637178" cy="1024128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5321808"/>
            <a:ext cx="3234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측정 테스트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5504688"/>
            <a:ext cx="323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" y="5916168"/>
            <a:ext cx="3234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속도·동시성·serve옵션·SWE-bench·임베딩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77258" y="5193792"/>
            <a:ext cx="3637178" cy="1024128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78426" y="5321808"/>
            <a:ext cx="3234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측정 모델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78426" y="5504688"/>
            <a:ext cx="323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 / 7종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478426" y="5916168"/>
            <a:ext cx="3234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2카드 서빙 가능 모델만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97317" y="5193792"/>
            <a:ext cx="3637178" cy="1024128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98485" y="5321808"/>
            <a:ext cx="3234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자동화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98485" y="5504688"/>
            <a:ext cx="323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 YAML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98485" y="5916168"/>
            <a:ext cx="3234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모델 추가 시 전 과정 자동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furiosa-llm 2026.2.0 · RNGD npu0/npu1 (firmware 2026.2.0)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무엇을, 어떤 기준으로 검증했나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RNGD prebuilt 모델 중 코드 생성에 가장 적합한 모델을 4개 축으로 평가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11277295" cy="960120"/>
          </a:xfrm>
          <a:prstGeom prst="roundRect">
            <a:avLst>
              <a:gd name="adj" fmla="val 15238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317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6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검증 목표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56946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Furiosa RNGD에서 제공되는 prebuilt 모델을 대상으로 코드 생성 작업에 가장 적합한 모델을 가려내고, 그 판단 근거를 정량 측정으로 확보한다.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328416"/>
            <a:ext cx="2682164" cy="2935224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547872"/>
            <a:ext cx="64008" cy="384048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3529584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" y="3895344"/>
            <a:ext cx="227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토큰 생성 속도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" y="4206240"/>
            <a:ext cx="2279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속도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6656" y="4553712"/>
            <a:ext cx="22615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단일 요청에서 첫 토큰 지연(TTFT)과 초당 생성 토큰 수(tok/s)를 측정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" y="5660136"/>
            <a:ext cx="2243252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5769864"/>
            <a:ext cx="2261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해당 테스트 · 테스트 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22244" y="3328416"/>
            <a:ext cx="2682164" cy="2935224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22244" y="3547872"/>
            <a:ext cx="64008" cy="384048"/>
          </a:xfrm>
          <a:prstGeom prst="roundRect">
            <a:avLst>
              <a:gd name="adj" fmla="val 42857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3541700" y="3529584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82F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41700" y="3895344"/>
            <a:ext cx="227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동시 접속 확장성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41700" y="4206240"/>
            <a:ext cx="2279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동시성·배치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41700" y="4553712"/>
            <a:ext cx="22615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 요청을 늘리며 합산 처리량·요청당 지연·실패율의 변화를 측정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41700" y="5660136"/>
            <a:ext cx="2243252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1700" y="5769864"/>
            <a:ext cx="2261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해당 테스트 · 테스트 2 · 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87288" y="3328416"/>
            <a:ext cx="2682164" cy="2935224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7288" y="3547872"/>
            <a:ext cx="64008" cy="384048"/>
          </a:xfrm>
          <a:prstGeom prst="roundRect">
            <a:avLst>
              <a:gd name="adj" fmla="val 42857"/>
            </a:avLst>
          </a:prstGeom>
          <a:solidFill>
            <a:srgbClr val="60A5F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6744" y="3529584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6744" y="3895344"/>
            <a:ext cx="227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SWE-bench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6744" y="4206240"/>
            <a:ext cx="2279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A5F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정확도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6744" y="4553712"/>
            <a:ext cx="22615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실제 GitHub 이슈를 코드 패치로 해결하는 정확도를 테스트 통과로 채점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6744" y="5660136"/>
            <a:ext cx="2243252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6744" y="5769864"/>
            <a:ext cx="2261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해당 테스트 · 테스트 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052331" y="3328416"/>
            <a:ext cx="2682164" cy="2935224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052331" y="3547872"/>
            <a:ext cx="64008" cy="384048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36" name="Text 34"/>
          <p:cNvSpPr/>
          <p:nvPr/>
        </p:nvSpPr>
        <p:spPr>
          <a:xfrm>
            <a:off x="9271787" y="3529584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5EC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271787" y="3895344"/>
            <a:ext cx="227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서빙·자동화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271787" y="4206240"/>
            <a:ext cx="2279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5EC1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환경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271787" y="4553712"/>
            <a:ext cx="22615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furiosa-llm 서빙 구성과 신규 모델 자동 분석 파이프라인 구축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271787" y="5660136"/>
            <a:ext cx="2243252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71787" y="5769864"/>
            <a:ext cx="2261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5EC1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해당 테스트 · 테스트 5 · 전반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3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측정 환경 — furiosa-llm OpenAI 호환 서버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vLLM은 RNGD에 직접 붙지 않음 → furiosa-llm이 vLLM 호환 OpenAI API를 제공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20040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569464"/>
            <a:ext cx="64008" cy="1078992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694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측정 클라이언트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93522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httpx 비동기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/v1/chat/completions 호출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331720"/>
            <a:ext cx="838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95648" y="2331720"/>
            <a:ext cx="320040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95648" y="2569464"/>
            <a:ext cx="64008" cy="1078992"/>
          </a:xfrm>
          <a:prstGeom prst="roundRect">
            <a:avLst>
              <a:gd name="adj" fmla="val 42857"/>
            </a:avLst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769968" y="25694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furiosa-llm serve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69968" y="293522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OpenAI 호환 API 서버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(vLLM과 동일 스펙)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96048" y="2331720"/>
            <a:ext cx="838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534095" y="2331720"/>
            <a:ext cx="320040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34095" y="2569464"/>
            <a:ext cx="64008" cy="1078992"/>
          </a:xfrm>
          <a:prstGeom prst="roundRect">
            <a:avLst>
              <a:gd name="adj" fmla="val 42857"/>
            </a:avLst>
          </a:pr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8808415" y="25694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RNGD NPU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08415" y="293522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prebuilt 아티팩트 실행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npu0 / npu1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87368"/>
            <a:ext cx="363717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" y="4288536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" y="4288536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서빙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" y="4617720"/>
            <a:ext cx="32165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furiosa-llm serve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76656" y="4928616"/>
            <a:ext cx="321655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각 모델을 OpenAI 호환 서버로 기동. 측정 도구는 vLLM과 동일한 /v1 endpoint를 그대로 사용.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77258" y="4087368"/>
            <a:ext cx="363717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96714" y="4288536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4496714" y="4288536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측정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96714" y="4617720"/>
            <a:ext cx="32165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스트리밍 클라이언트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496714" y="4928616"/>
            <a:ext cx="321655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응답을 토큰 단위 스트림으로 받아 TTFT·토큰 간 지연을 실측. 동시 요청은 비동기로 발생.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7317" y="4087368"/>
            <a:ext cx="363717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16773" y="4288536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/>
        </p:spPr>
      </p:sp>
      <p:sp>
        <p:nvSpPr>
          <p:cNvPr id="33" name="Text 31"/>
          <p:cNvSpPr/>
          <p:nvPr/>
        </p:nvSpPr>
        <p:spPr>
          <a:xfrm>
            <a:off x="8316773" y="4288536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채점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316773" y="4617720"/>
            <a:ext cx="32165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Docker harness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316773" y="4928616"/>
            <a:ext cx="321655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SWE-bench 채점에만 Docker 사용 — 인스턴스별 격리 컨테이너에서 테스트 실행.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TARGETS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4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각 모델 artifact.json · model.parallel_config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7종 중 4종만 2-카드에서 측정 가능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prebuilt 아티팩트의 tensor-parallel 크기가 필요 NPU 수를 고정한다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6858000" cy="4078224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350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모델별 필요 PE (RNGD 1카드 = 8 PE)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2688336"/>
          <a:ext cx="6583680" cy="31638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85800" y="59344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파랑 = 2카드(16 PE)로 측정 가능 · 분홍 = 4카드 필요 → 측정 불가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534656" y="2185416"/>
            <a:ext cx="4199839" cy="1249680"/>
          </a:xfrm>
          <a:prstGeom prst="roundRect">
            <a:avLst>
              <a:gd name="adj" fmla="val 951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534656" y="2386584"/>
            <a:ext cx="64008" cy="847344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13" name="Text 10"/>
          <p:cNvSpPr/>
          <p:nvPr/>
        </p:nvSpPr>
        <p:spPr>
          <a:xfrm>
            <a:off x="7790688" y="2368296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측정 대상 4종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90688" y="2679192"/>
            <a:ext cx="3742639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Qwen2.5-0.5B · Llama-3.1-8B · Qwen3-Embedding-8B · Qwen3-Reranker-8B — 모두 1카드(≤8 PE)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534656" y="3599688"/>
            <a:ext cx="4199839" cy="1249680"/>
          </a:xfrm>
          <a:prstGeom prst="roundRect">
            <a:avLst>
              <a:gd name="adj" fmla="val 951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534656" y="3800856"/>
            <a:ext cx="64008" cy="847344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17" name="Text 14"/>
          <p:cNvSpPr/>
          <p:nvPr/>
        </p:nvSpPr>
        <p:spPr>
          <a:xfrm>
            <a:off x="7790688" y="3782568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측정 제외 3종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90688" y="4093464"/>
            <a:ext cx="3742639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Qwen3-32B-FP8 · EXAONE-4.0-32B-FP8 · Llama-3.3-70B — 아티팩트가 tp=32(4카드)로 컴파일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534656" y="5013960"/>
            <a:ext cx="4199839" cy="1249680"/>
          </a:xfrm>
          <a:prstGeom prst="roundRect">
            <a:avLst>
              <a:gd name="adj" fmla="val 951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534656" y="5215128"/>
            <a:ext cx="64008" cy="847344"/>
          </a:xfrm>
          <a:prstGeom prst="roundRect">
            <a:avLst>
              <a:gd name="adj" fmla="val 42857"/>
            </a:avLst>
          </a:prstGeom>
          <a:solidFill>
            <a:srgbClr val="60A5FA"/>
          </a:solidFill>
          <a:ln/>
        </p:spPr>
      </p:sp>
      <p:sp>
        <p:nvSpPr>
          <p:cNvPr id="21" name="Text 18"/>
          <p:cNvSpPr/>
          <p:nvPr/>
        </p:nvSpPr>
        <p:spPr>
          <a:xfrm>
            <a:off x="7790688" y="5196840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 생성 후보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90688" y="5507736"/>
            <a:ext cx="3742639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측정 가능 생성 모델은 Llama-3.1-8B 단독 (0.5B는 검증용) → 모델 간 비교 불성립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5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측정 파이프라인 — 모델 추가만으로 자동화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configs/models.yaml에 모델을 등록하면 서버 기동부터 리포트까지 자동 실행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094525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6656" y="2551176"/>
            <a:ext cx="457200" cy="45720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3118104"/>
            <a:ext cx="17287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모델 정의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" y="3429000"/>
            <a:ext cx="1710477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models.yaml에 모델 id·역할·serve 옵션 등록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2515149" y="2331720"/>
            <a:ext cx="274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52893" y="2331720"/>
            <a:ext cx="2094525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72349" y="2551176"/>
            <a:ext cx="457200" cy="45720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5" name="Text 13"/>
          <p:cNvSpPr/>
          <p:nvPr/>
        </p:nvSpPr>
        <p:spPr>
          <a:xfrm>
            <a:off x="2972349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54061" y="3118104"/>
            <a:ext cx="17287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서버 기동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954061" y="3429000"/>
            <a:ext cx="1710477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furiosa-llm serve 실행, 헬스체크 통과까지 대기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810841" y="2331720"/>
            <a:ext cx="274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48585" y="2331720"/>
            <a:ext cx="2094525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68041" y="2551176"/>
            <a:ext cx="457200" cy="45720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21" name="Text 19"/>
          <p:cNvSpPr/>
          <p:nvPr/>
        </p:nvSpPr>
        <p:spPr>
          <a:xfrm>
            <a:off x="5268041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49753" y="3118104"/>
            <a:ext cx="17287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실행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49753" y="3429000"/>
            <a:ext cx="1710477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테스트 1~5를 순차 측정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7106534" y="2331720"/>
            <a:ext cx="274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344278" y="2331720"/>
            <a:ext cx="2094525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63734" y="2551176"/>
            <a:ext cx="457200" cy="45720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27" name="Text 25"/>
          <p:cNvSpPr/>
          <p:nvPr/>
        </p:nvSpPr>
        <p:spPr>
          <a:xfrm>
            <a:off x="7563734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45446" y="3118104"/>
            <a:ext cx="17287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 저장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545446" y="3429000"/>
            <a:ext cx="1710477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results/&lt;모델&gt;/&lt;테스트&gt;/*.json 자동 기록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9402227" y="2331720"/>
            <a:ext cx="274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›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639971" y="2331720"/>
            <a:ext cx="2094525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859427" y="2551176"/>
            <a:ext cx="457200" cy="45720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3" name="Text 31"/>
          <p:cNvSpPr/>
          <p:nvPr/>
        </p:nvSpPr>
        <p:spPr>
          <a:xfrm>
            <a:off x="9859427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41139" y="3118104"/>
            <a:ext cx="17287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집계·리포트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841139" y="3429000"/>
            <a:ext cx="1710477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analyze · report로 비교표·종합 리포트 생성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457200" y="4315968"/>
            <a:ext cx="11277295" cy="1947672"/>
          </a:xfrm>
          <a:prstGeom prst="roundRect">
            <a:avLst>
              <a:gd name="adj" fmla="val 6103"/>
            </a:avLst>
          </a:prstGeom>
          <a:solidFill>
            <a:srgbClr val="F0F0F0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" y="4535424"/>
            <a:ext cx="64008" cy="150876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" y="451713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02–04 단계는 모델마다 반복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9808" y="4864608"/>
            <a:ext cx="10698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 모델의 서버를 띄워 테스트 1·2·4를 측정하고, 테스트 3(memsweep)은 serve 옵션을 바꿔 서버를 재기동하며 측정한다. 측정이 끝나면 서버를 내리고 다음 모델로 — 7종이든 새 모델이든 동일 흐름. 측정 도구 코드는 수정 불필요, models.yaml만 바꾸면 된다.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6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측정 테스트 5종 한눈에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각 모델에 대해 아래 5개 테스트를 순차 수행 — 이후 슬라이드는 테스트 번호 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2123785" cy="4078224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85416"/>
            <a:ext cx="2123785" cy="566928"/>
          </a:xfrm>
          <a:prstGeom prst="roundRect">
            <a:avLst>
              <a:gd name="adj" fmla="val 20968"/>
            </a:avLst>
          </a:prstGeom>
          <a:solidFill>
            <a:srgbClr val="1456F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478024"/>
            <a:ext cx="2123785" cy="274320"/>
          </a:xfrm>
          <a:prstGeom prst="rect">
            <a:avLst/>
          </a:prstGeom>
          <a:solidFill>
            <a:srgbClr val="1456F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85416"/>
            <a:ext cx="17580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916936"/>
            <a:ext cx="17580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토큰 생성 속도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57016"/>
            <a:ext cx="17580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단일 요청 스트리밍으로 첫 토큰 지연·생성 속도 측정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5696712"/>
            <a:ext cx="1758025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806440"/>
            <a:ext cx="17580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지표 TTFT · tok/s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2745577" y="2185416"/>
            <a:ext cx="2123785" cy="4078224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5577" y="2185416"/>
            <a:ext cx="2123785" cy="566928"/>
          </a:xfrm>
          <a:prstGeom prst="roundRect">
            <a:avLst>
              <a:gd name="adj" fmla="val 20968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5577" y="2478024"/>
            <a:ext cx="2123785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2928457" y="2185416"/>
            <a:ext cx="17580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8457" y="2916936"/>
            <a:ext cx="17580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동시성 스케일링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8457" y="3557016"/>
            <a:ext cx="17580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 요청을 1→128로 늘리며 처리량·지연 변화 측정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8457" y="5696712"/>
            <a:ext cx="1758025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8457" y="5806440"/>
            <a:ext cx="17580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3B82F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지표 합산 TPS · 실패율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5033955" y="2185416"/>
            <a:ext cx="2123785" cy="4078224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33955" y="2185416"/>
            <a:ext cx="2123785" cy="566928"/>
          </a:xfrm>
          <a:prstGeom prst="roundRect">
            <a:avLst>
              <a:gd name="adj" fmla="val 20968"/>
            </a:avLst>
          </a:prstGeom>
          <a:solidFill>
            <a:srgbClr val="60A5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033955" y="2478024"/>
            <a:ext cx="2123785" cy="2743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6" name="Text 24"/>
          <p:cNvSpPr/>
          <p:nvPr/>
        </p:nvSpPr>
        <p:spPr>
          <a:xfrm>
            <a:off x="5216835" y="2185416"/>
            <a:ext cx="17580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6835" y="2916936"/>
            <a:ext cx="17580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serve 옵션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6835" y="3557016"/>
            <a:ext cx="17580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serve 인자를 바꿔가며 처리량 영향 측정 (memsweep)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16835" y="5696712"/>
            <a:ext cx="1758025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6835" y="5806440"/>
            <a:ext cx="17580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60A5F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지표 조합별 합산 TPS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322332" y="2185416"/>
            <a:ext cx="2123785" cy="4078224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22332" y="2185416"/>
            <a:ext cx="2123785" cy="566928"/>
          </a:xfrm>
          <a:prstGeom prst="roundRect">
            <a:avLst>
              <a:gd name="adj" fmla="val 20968"/>
            </a:avLst>
          </a:prstGeom>
          <a:solidFill>
            <a:srgbClr val="EA5EC1"/>
          </a:solidFill>
          <a:ln/>
        </p:spPr>
      </p:sp>
      <p:sp>
        <p:nvSpPr>
          <p:cNvPr id="33" name="Shape 31"/>
          <p:cNvSpPr/>
          <p:nvPr/>
        </p:nvSpPr>
        <p:spPr>
          <a:xfrm>
            <a:off x="7322332" y="2478024"/>
            <a:ext cx="2123785" cy="274320"/>
          </a:xfrm>
          <a:prstGeom prst="rect">
            <a:avLst/>
          </a:prstGeom>
          <a:solidFill>
            <a:srgbClr val="EA5EC1"/>
          </a:solidFill>
          <a:ln/>
        </p:spPr>
      </p:sp>
      <p:sp>
        <p:nvSpPr>
          <p:cNvPr id="34" name="Text 32"/>
          <p:cNvSpPr/>
          <p:nvPr/>
        </p:nvSpPr>
        <p:spPr>
          <a:xfrm>
            <a:off x="7505212" y="2185416"/>
            <a:ext cx="17580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505212" y="2916936"/>
            <a:ext cx="17580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SWE-bench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505212" y="3557016"/>
            <a:ext cx="17580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실제 GitHub 이슈를 코드 패치로 해결, 테스트 통과 채점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05212" y="5696712"/>
            <a:ext cx="1758025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05212" y="5806440"/>
            <a:ext cx="17580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EA5EC1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지표 resolved %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9610710" y="2185416"/>
            <a:ext cx="2123785" cy="4078224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610710" y="2185416"/>
            <a:ext cx="2123785" cy="566928"/>
          </a:xfrm>
          <a:prstGeom prst="roundRect">
            <a:avLst>
              <a:gd name="adj" fmla="val 20968"/>
            </a:avLst>
          </a:prstGeom>
          <a:solidFill>
            <a:srgbClr val="8E8E93"/>
          </a:solidFill>
          <a:ln/>
        </p:spPr>
      </p:sp>
      <p:sp>
        <p:nvSpPr>
          <p:cNvPr id="41" name="Shape 39"/>
          <p:cNvSpPr/>
          <p:nvPr/>
        </p:nvSpPr>
        <p:spPr>
          <a:xfrm>
            <a:off x="9610710" y="2478024"/>
            <a:ext cx="2123785" cy="274320"/>
          </a:xfrm>
          <a:prstGeom prst="rect">
            <a:avLst/>
          </a:prstGeom>
          <a:solidFill>
            <a:srgbClr val="8E8E93"/>
          </a:solidFill>
          <a:ln/>
        </p:spPr>
      </p:sp>
      <p:sp>
        <p:nvSpPr>
          <p:cNvPr id="42" name="Text 40"/>
          <p:cNvSpPr/>
          <p:nvPr/>
        </p:nvSpPr>
        <p:spPr>
          <a:xfrm>
            <a:off x="9793590" y="2185416"/>
            <a:ext cx="17580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793590" y="2916936"/>
            <a:ext cx="17580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임베딩·리랭커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793590" y="3557016"/>
            <a:ext cx="17580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검색 보조 모델의 배치별 처리량 측정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793590" y="5696712"/>
            <a:ext cx="1758025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93590" y="5806440"/>
            <a:ext cx="17580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지표 inputs/s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1 · SPEED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7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bench/results · tps task (concurrency=1, 50 req)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1 — 토큰 생성 속도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단일 요청 스트리밍으로 첫 토큰 지연(TTFT)·생성 속도(tok/s) 측정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31720"/>
            <a:ext cx="490118" cy="256032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4901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무엇을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642616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 사용자 1명일 때 체감 속도 — 코드 자동완성·대화형 보조의 핵심 지표.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277258" y="2185416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0138" y="2331720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/>
        </p:spPr>
      </p:sp>
      <p:sp>
        <p:nvSpPr>
          <p:cNvPr id="13" name="Text 11"/>
          <p:cNvSpPr/>
          <p:nvPr/>
        </p:nvSpPr>
        <p:spPr>
          <a:xfrm>
            <a:off x="4460138" y="2331720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입력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60138" y="2642616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고정 프롬프트를 /v1/chat/completions에 스트리밍 요청. max_tokens 256, 워밍업 5 + 측정 50회.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097317" y="2185416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0197" y="233172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/>
        </p:spPr>
      </p:sp>
      <p:sp>
        <p:nvSpPr>
          <p:cNvPr id="17" name="Text 15"/>
          <p:cNvSpPr/>
          <p:nvPr/>
        </p:nvSpPr>
        <p:spPr>
          <a:xfrm>
            <a:off x="8280197" y="23317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출력·분석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80197" y="2642616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요청별 TTFT·ITL(토큰 간 간격)·출력 tok/s를 p50/p95로 집계.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5528920" cy="2496312"/>
          </a:xfrm>
          <a:prstGeom prst="roundRect">
            <a:avLst>
              <a:gd name="adj" fmla="val 6593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" y="3986784"/>
            <a:ext cx="494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6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Llama-3.1-8B-Instruct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" y="4334256"/>
            <a:ext cx="4943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55.2</a:t>
            </a:r>
            <a:pPr indent="0" marL="0">
              <a:buNone/>
            </a:pPr>
            <a:r>
              <a:rPr lang="en-US" sz="1600" dirty="0">
                <a:solidFill>
                  <a:srgbClr val="DBE6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  tok/s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749808" y="5102352"/>
            <a:ext cx="494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6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출력 토큰 처리량 (단일 요청)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9808" y="5413248"/>
            <a:ext cx="4943704" cy="0"/>
          </a:xfrm>
          <a:prstGeom prst="line">
            <a:avLst/>
          </a:prstGeom>
          <a:noFill/>
          <a:ln w="12700">
            <a:solidFill>
              <a:srgbClr val="3B6F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541264"/>
            <a:ext cx="494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TTFT 32 ms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ITL 18.2 ms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" y="5888736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 생성 후보 · context 128K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05576" y="3767328"/>
            <a:ext cx="5528920" cy="249631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8184" y="3986784"/>
            <a:ext cx="494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Qwen2.5-0.5B-Instruct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8184" y="4334256"/>
            <a:ext cx="4943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85.3</a:t>
            </a:r>
            <a:pPr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  tok/s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6498184" y="5102352"/>
            <a:ext cx="494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출력 토큰 처리량 (단일 요청)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8184" y="5413248"/>
            <a:ext cx="4943704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8184" y="5541264"/>
            <a:ext cx="494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TTFT 31 ms     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ITL 11.8 ms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8184" y="5888736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파이프라인 검증용 (smoke)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2 · CONCURRENCY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8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bench/results · sweep task (Llama-3.1-8B, prompt 1024)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2 — 동시성 스케일링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동시 요청을 1→128로 늘리며 합산 처리량·지연 변화 측정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31720"/>
            <a:ext cx="490118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4901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무엇을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642616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 접속자 수에 따른 처리량·지연 — 서버 운영 조건 산정의 근거.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277258" y="2185416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0138" y="2331720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460138" y="2331720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입력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60138" y="2642616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동시성 {1·2·4·8·16·32·64·128} × 프롬프트 길이 {256·1024·4096} 매트릭스.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097317" y="2185416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0197" y="233172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280197" y="23317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출력·분석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80197" y="2642616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셀별 합산 처리량·요청당 속도·TTFT·실패 수 → 효율 배치점 도출.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6766560" cy="249631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895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동시성별 합산 처리량 (tok/s) — Llama-3.1-8B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48640" y="4187952"/>
          <a:ext cx="6492240" cy="1709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7443216" y="3767328"/>
            <a:ext cx="4291279" cy="734568"/>
          </a:xfrm>
          <a:prstGeom prst="roundRect">
            <a:avLst>
              <a:gd name="adj" fmla="val 1618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626096" y="3913632"/>
            <a:ext cx="574243" cy="256032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/>
        </p:spPr>
      </p:sp>
      <p:sp>
        <p:nvSpPr>
          <p:cNvPr id="25" name="Text 22"/>
          <p:cNvSpPr/>
          <p:nvPr/>
        </p:nvSpPr>
        <p:spPr>
          <a:xfrm>
            <a:off x="7626096" y="3913632"/>
            <a:ext cx="5742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스케일링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626096" y="4206240"/>
            <a:ext cx="3925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처리량 약 20배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626096" y="4480560"/>
            <a:ext cx="3925519" cy="-88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c1 52 → c128 2,197 tok/s. 동시성을 올릴수록 합산 처리량 비례 이상 증가.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7443216" y="4648200"/>
            <a:ext cx="4291279" cy="734568"/>
          </a:xfrm>
          <a:prstGeom prst="roundRect">
            <a:avLst>
              <a:gd name="adj" fmla="val 1618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626096" y="4794504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/>
        </p:spPr>
      </p:sp>
      <p:sp>
        <p:nvSpPr>
          <p:cNvPr id="30" name="Text 27"/>
          <p:cNvSpPr/>
          <p:nvPr/>
        </p:nvSpPr>
        <p:spPr>
          <a:xfrm>
            <a:off x="7626096" y="4794504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지연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626096" y="5087112"/>
            <a:ext cx="3925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TTFT 1.8s @c128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626096" y="5361432"/>
            <a:ext cx="3925519" cy="-88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첫 토큰 지연 0.04→1.85s, 요청당 속도 54→18 tok/s. 전 구간 실패 0건.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7443216" y="5529072"/>
            <a:ext cx="4291279" cy="734568"/>
          </a:xfrm>
          <a:prstGeom prst="roundRect">
            <a:avLst>
              <a:gd name="adj" fmla="val 1618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626096" y="5675376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/>
        </p:spPr>
      </p:sp>
      <p:sp>
        <p:nvSpPr>
          <p:cNvPr id="35" name="Text 32"/>
          <p:cNvSpPr/>
          <p:nvPr/>
        </p:nvSpPr>
        <p:spPr>
          <a:xfrm>
            <a:off x="7626096" y="5675376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판단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626096" y="5967984"/>
            <a:ext cx="3925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효율 배치점 c32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626096" y="6242304"/>
            <a:ext cx="3925519" cy="-88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체감 속도(35 tok/s↑) 유지하는 1카드 권장 상한은 동시 32명.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3 · SERVE OPTIONS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9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bench/results · memsweep task (Llama-3.1-8B)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3 — serve 옵션 튜닝 (memsweep)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서버 기동 옵션을 한 번에 하나씩 바꿔(OFAT) 처리량 영향 측정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31720"/>
            <a:ext cx="490118" cy="25603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4901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무엇을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642616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KV cache·배치 관련 serve 옵션이 처리량에 주는 영향.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277258" y="2185416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0138" y="2331720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/>
        </p:spPr>
      </p:sp>
      <p:sp>
        <p:nvSpPr>
          <p:cNvPr id="13" name="Text 11"/>
          <p:cNvSpPr/>
          <p:nvPr/>
        </p:nvSpPr>
        <p:spPr>
          <a:xfrm>
            <a:off x="4460138" y="2331720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입력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60138" y="2642616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baseline + max-model-len·max-batch-size·max-num-batched-tokens 한 축씩 변경, 조합마다 서버 재기동.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097317" y="2185416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0197" y="233172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/>
        </p:spPr>
      </p:sp>
      <p:sp>
        <p:nvSpPr>
          <p:cNvPr id="17" name="Text 15"/>
          <p:cNvSpPr/>
          <p:nvPr/>
        </p:nvSpPr>
        <p:spPr>
          <a:xfrm>
            <a:off x="8280197" y="23317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출력·분석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80197" y="2642616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조합별 합산 처리량 비교 → 어떤 옵션이 유의미한지 판단.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6766560" cy="249631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895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serve 옵션 조합별 합산 처리량 (tok/s)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48640" y="4187952"/>
          <a:ext cx="6492240" cy="1709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7443216" y="3767328"/>
            <a:ext cx="4291279" cy="249631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43216" y="4005072"/>
            <a:ext cx="64008" cy="2020824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25" name="Text 22"/>
          <p:cNvSpPr/>
          <p:nvPr/>
        </p:nvSpPr>
        <p:spPr>
          <a:xfrm>
            <a:off x="7717536" y="3986784"/>
            <a:ext cx="3788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튜닝 효과 미미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717536" y="4370832"/>
            <a:ext cx="3742639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Llama-3.1-8B는 어떤 serve 옵션을 바꿔도 합산 처리량이 2,200 tok/s대(전체 범위 2,133~2,294, 편차 ~7%)에서 거의 변하지 않는다. KV cache·배치 한도 옵션을 손댈 실익이 없으며 기본값 그대로 서빙하면 된다 — 운영 시 튜닝 부담이 없다는 점은 장점.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4 · SWE-BENCH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10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SWE-bench (Princeton NLP)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4 — SWE-bench ①: 정의 &amp; 종류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GitHub 이슈를 패치로 해결하고 실제 repo 테스트 통과 여부로 채점하는 벤치마크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4937760" cy="4078224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" y="23682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채점 방식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" y="2880360"/>
            <a:ext cx="329184" cy="329184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28437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입력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88720" y="3072384"/>
            <a:ext cx="39776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GitHub 이슈 본문 + 해당 시점 repo 코드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3191256"/>
            <a:ext cx="182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" y="3762756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7627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7261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모델 출력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88720" y="3954780"/>
            <a:ext cx="39776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이슈를 해결하는 unified diff (패치)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" y="4073652"/>
            <a:ext cx="182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" y="4645152"/>
            <a:ext cx="329184" cy="32918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46085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적용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88720" y="4837176"/>
            <a:ext cx="39776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Docker 컨테이너에서 repo에 패치 적용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" y="4956048"/>
            <a:ext cx="182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3232" y="5527548"/>
            <a:ext cx="329184" cy="329184"/>
          </a:xfrm>
          <a:prstGeom prst="ellipse">
            <a:avLst/>
          </a:prstGeom>
          <a:solidFill>
            <a:srgbClr val="EA5EC1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55275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54909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채점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88720" y="5719572"/>
            <a:ext cx="39776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테스트 실행 — FAIL→PASS 통과 시 resolved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14416" y="2185416"/>
            <a:ext cx="6120079" cy="2432304"/>
          </a:xfrm>
          <a:prstGeom prst="roundRect">
            <a:avLst>
              <a:gd name="adj" fmla="val 488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52160" y="2350008"/>
            <a:ext cx="5662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데이터셋 종류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07024" y="26609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SWE-bench (full)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03336" y="2660904"/>
            <a:ext cx="314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2,294건 · 원본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797296" y="3118104"/>
            <a:ext cx="5754319" cy="4572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/>
          <p:nvPr/>
        </p:nvSpPr>
        <p:spPr>
          <a:xfrm>
            <a:off x="5907024" y="31181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SWE-bench Lite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03336" y="3118104"/>
            <a:ext cx="314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300건 · 저비용 평가용 subset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07024" y="3575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SWE-bench Verified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03336" y="3575304"/>
            <a:ext cx="314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500건 · 사람 검증, 신뢰도 최상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7296" y="4032504"/>
            <a:ext cx="5754319" cy="4572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8" name="Text 36"/>
          <p:cNvSpPr/>
          <p:nvPr/>
        </p:nvSpPr>
        <p:spPr>
          <a:xfrm>
            <a:off x="5907024" y="40325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SWE-bench Multimodal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03336" y="4032504"/>
            <a:ext cx="314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517건 · 시각 요소 포함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14416" y="4764024"/>
            <a:ext cx="6120079" cy="1499616"/>
          </a:xfrm>
          <a:prstGeom prst="roundRect">
            <a:avLst>
              <a:gd name="adj" fmla="val 9756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870448" y="496519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870448" y="4965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본 측정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70448" y="5276088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SWE-bench Lite · oracle · single-shot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870448" y="5605272"/>
            <a:ext cx="56080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030" dirty="0">
                <a:solidFill>
                  <a:srgbClr val="DBE6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Lite 300건 중 12개 repo(astropy·django·matplotlib·sympy 등)에 고르게 50건 추출. context는 oracle(정답 파일 제공), 호출은 single-shot(1회 생성) — 에이전트 반복 없이 순수 코드 편집 능력을 본다.</a:t>
            </a:r>
            <a:endParaRPr lang="en-US" sz="10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4 · SWE-BENCH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11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docs/SWEBENCH_SETUP.md 참조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4 — SWE-bench ②: 환경 구축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Docker 기반 채점 — 인스턴스별 격리 컨테이너에서 repo 테스트 실행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6400800" cy="1517904"/>
          </a:xfrm>
          <a:prstGeom prst="roundRect">
            <a:avLst>
              <a:gd name="adj" fmla="val 6024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" y="2331720"/>
            <a:ext cx="5961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① 설치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" y="2624328"/>
            <a:ext cx="596188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$ git clone https://github.com/SWE-bench/SWE-bench.git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$ cd SWE-bench &amp;&amp; pip install -e 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$ docker --version    # Docker 동작 확인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849624"/>
            <a:ext cx="6400800" cy="2414016"/>
          </a:xfrm>
          <a:prstGeom prst="roundRect">
            <a:avLst>
              <a:gd name="adj" fmla="val 3788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" y="3995928"/>
            <a:ext cx="5961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② 채점 실행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" y="4288536"/>
            <a:ext cx="596188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$ python -m swebench.harness.run_evaluation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--dataset_name princeton-nlp/SWE-bench_Lite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--predictions_path predictions.jsonl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--max_workers 8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--namespace swebench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--run_id my_run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--namespace swebench → prebuilt 이미지 pull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결과: &lt;model&gt;.&lt;run_id&gt;.json (resolved 카운트)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77456" y="2185416"/>
            <a:ext cx="4657039" cy="18288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2350008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요구사항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51776" y="2715768"/>
            <a:ext cx="91440" cy="9144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6" name="Text 14"/>
          <p:cNvSpPr/>
          <p:nvPr/>
        </p:nvSpPr>
        <p:spPr>
          <a:xfrm>
            <a:off x="7552944" y="2606040"/>
            <a:ext cx="39255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x86_64 Linux · Docker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351776" y="3099816"/>
            <a:ext cx="91440" cy="9144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8" name="Text 16"/>
          <p:cNvSpPr/>
          <p:nvPr/>
        </p:nvSpPr>
        <p:spPr>
          <a:xfrm>
            <a:off x="7552944" y="2990088"/>
            <a:ext cx="39255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디스크 수십~120GB (인스턴스 이미지)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351776" y="3483864"/>
            <a:ext cx="91440" cy="9144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20" name="Text 18"/>
          <p:cNvSpPr/>
          <p:nvPr/>
        </p:nvSpPr>
        <p:spPr>
          <a:xfrm>
            <a:off x="7552944" y="3374136"/>
            <a:ext cx="39255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3.10+ · swebench 패키지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077456" y="4160520"/>
            <a:ext cx="4657039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0" y="4306824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예측 파일 (predictions.jsonl)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4562856"/>
            <a:ext cx="4199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 줄 = 한 인스턴스. 모델이 만든 패치를 model_patch에 담는다: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4983480"/>
            <a:ext cx="4181551" cy="1097280"/>
          </a:xfrm>
          <a:prstGeom prst="roundRect">
            <a:avLst>
              <a:gd name="adj" fmla="val 8333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34656" y="5129784"/>
            <a:ext cx="37426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{"instance_id": "astropy__..."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"model_name_or_path": "8B",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"model_patch": "diff --git ..."}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4 · SWE-BENCH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12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예시: astropy__astropy-12907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4 — SWE-bench ③: 측정 방법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oracle 프롬프트를 로컬 furiosa-llm 서버에 보내 diff를 받고 harness로 채점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3624986" cy="4078224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368296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368296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입력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2679192"/>
            <a:ext cx="3222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oracle 프롬프트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953512"/>
            <a:ext cx="3222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이슈 설명 + 수정 대상 파일 코드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58368" y="3264408"/>
            <a:ext cx="3222650" cy="2798064"/>
          </a:xfrm>
          <a:prstGeom prst="roundRect">
            <a:avLst>
              <a:gd name="adj" fmla="val 3268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" y="3410712"/>
            <a:ext cx="278373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&lt;issue&gt;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separability_matrix 가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nested CompoundModel 에서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분리성을 잘못 계산함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&lt;/issue&gt;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[start of separable.py]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def _separable(transform):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...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83354" y="2185416"/>
            <a:ext cx="3624986" cy="4078224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4522" y="2368296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84522" y="2368296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출력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84522" y="2679192"/>
            <a:ext cx="3222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모델 생성 diff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4522" y="2953512"/>
            <a:ext cx="3222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Llama-3.1-8B single-shot 응답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484522" y="3264408"/>
            <a:ext cx="3222650" cy="2798064"/>
          </a:xfrm>
          <a:prstGeom prst="roundRect">
            <a:avLst>
              <a:gd name="adj" fmla="val 3268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3978" y="3410712"/>
            <a:ext cx="278373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--- a/.../separable.py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+++ b/.../separable.py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@@ -304,6 +304,10 @@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elif isinstance(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  transform, Compound):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   if isinstance(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       transform.left,...):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     sepleft =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       _separable(...)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09509" y="2185416"/>
            <a:ext cx="3624986" cy="4078224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10677" y="2368296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/>
        </p:spPr>
      </p:sp>
      <p:sp>
        <p:nvSpPr>
          <p:cNvPr id="23" name="Text 21"/>
          <p:cNvSpPr/>
          <p:nvPr/>
        </p:nvSpPr>
        <p:spPr>
          <a:xfrm>
            <a:off x="8310677" y="2368296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채점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10677" y="2679192"/>
            <a:ext cx="3222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Docker harness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10677" y="2953512"/>
            <a:ext cx="3222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패치 적용 후 테스트 실행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310677" y="3282696"/>
            <a:ext cx="3222650" cy="822960"/>
          </a:xfrm>
          <a:prstGeom prst="roundRect">
            <a:avLst>
              <a:gd name="adj" fmla="val 14444"/>
            </a:avLst>
          </a:prstGeom>
          <a:solidFill>
            <a:srgbClr val="FAFAFA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10677" y="3429000"/>
            <a:ext cx="64008" cy="530352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8511845" y="3392424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resolved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11845" y="3666744"/>
            <a:ext cx="2856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패치 적용 + 테스트 통과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10677" y="4233672"/>
            <a:ext cx="3222650" cy="822960"/>
          </a:xfrm>
          <a:prstGeom prst="roundRect">
            <a:avLst>
              <a:gd name="adj" fmla="val 14444"/>
            </a:avLst>
          </a:prstGeom>
          <a:solidFill>
            <a:srgbClr val="FAFAFA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10677" y="4379976"/>
            <a:ext cx="64008" cy="530352"/>
          </a:xfrm>
          <a:prstGeom prst="roundRect">
            <a:avLst>
              <a:gd name="adj" fmla="val 42857"/>
            </a:avLst>
          </a:prstGeom>
          <a:solidFill>
            <a:srgbClr val="8E8E93"/>
          </a:solidFill>
          <a:ln/>
        </p:spPr>
      </p:sp>
      <p:sp>
        <p:nvSpPr>
          <p:cNvPr id="32" name="Text 30"/>
          <p:cNvSpPr/>
          <p:nvPr/>
        </p:nvSpPr>
        <p:spPr>
          <a:xfrm>
            <a:off x="8511845" y="4343400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unresolved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11845" y="4617720"/>
            <a:ext cx="2856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적용됐으나 테스트 미통과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10677" y="5184648"/>
            <a:ext cx="3222650" cy="822960"/>
          </a:xfrm>
          <a:prstGeom prst="roundRect">
            <a:avLst>
              <a:gd name="adj" fmla="val 14444"/>
            </a:avLst>
          </a:prstGeom>
          <a:solidFill>
            <a:srgbClr val="FAFAFA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10677" y="5330952"/>
            <a:ext cx="64008" cy="530352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36" name="Text 34"/>
          <p:cNvSpPr/>
          <p:nvPr/>
        </p:nvSpPr>
        <p:spPr>
          <a:xfrm>
            <a:off x="8511845" y="5294376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적용실패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11845" y="5568696"/>
            <a:ext cx="2856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malformed diff — 적용 불가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4 · SWE-BENCH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13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SWE-bench Lite oracle 50건 · Docker harness 채점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4 — SWE-bench ④: 결과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Llama-3.1-8B single-shot · oracle 컨텍스트 50건 채점 결과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5852160" cy="4078224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3317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채점 결과 분포 (50건)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914400" y="2688336"/>
          <a:ext cx="4937760" cy="28895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85800" y="593445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repo 분포: astropy·django·matplotlib 각 5 · 기타 9개 repo — Lite 12개 repo stratified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528816" y="2185416"/>
            <a:ext cx="5205679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03136" y="2368296"/>
            <a:ext cx="4657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resolved (테스트 통과)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03136" y="2642616"/>
            <a:ext cx="46570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</a:t>
            </a:r>
            <a:pPr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 / 50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6803136" y="3227832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8B 단발 생성으로는 SWE-bench 버그를 해결하지 못함 — 원인은 다음 슬라이드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528816" y="3721608"/>
            <a:ext cx="5205679" cy="1197864"/>
          </a:xfrm>
          <a:prstGeom prst="roundRect">
            <a:avLst>
              <a:gd name="adj" fmla="val 9924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28816" y="3904488"/>
            <a:ext cx="64008" cy="832104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17" name="Text 14"/>
          <p:cNvSpPr/>
          <p:nvPr/>
        </p:nvSpPr>
        <p:spPr>
          <a:xfrm>
            <a:off x="6784848" y="3904488"/>
            <a:ext cx="4748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27건 — 적용실패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784848" y="4197096"/>
            <a:ext cx="4748479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모델이 정확한 unified diff를 만들지 못함. diff 포맷이 무너진 비율 54%.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528816" y="5065776"/>
            <a:ext cx="5205679" cy="1197864"/>
          </a:xfrm>
          <a:prstGeom prst="roundRect">
            <a:avLst>
              <a:gd name="adj" fmla="val 9924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28816" y="5248656"/>
            <a:ext cx="64008" cy="832104"/>
          </a:xfrm>
          <a:prstGeom prst="roundRect">
            <a:avLst>
              <a:gd name="adj" fmla="val 42857"/>
            </a:avLst>
          </a:prstGeom>
          <a:solidFill>
            <a:srgbClr val="8E8E93"/>
          </a:solidFill>
          <a:ln/>
        </p:spPr>
      </p:sp>
      <p:sp>
        <p:nvSpPr>
          <p:cNvPr id="21" name="Text 18"/>
          <p:cNvSpPr/>
          <p:nvPr/>
        </p:nvSpPr>
        <p:spPr>
          <a:xfrm>
            <a:off x="6784848" y="5248656"/>
            <a:ext cx="4748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23건 — 미해결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784848" y="5541264"/>
            <a:ext cx="4748479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패치는 적용됐으나 테스트 미통과. 단발 8B 코드 수정 역량의 한계.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4 · SWE-BENCH 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14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예측 jsonl + harness 로그 분석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4 — SWE-bench ⑤: 결과 심층 분석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27 적용실패·23 미해결 — 모델 한계인가, NPU 한계인가?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11277295" cy="768096"/>
          </a:xfrm>
          <a:prstGeom prst="roundRect">
            <a:avLst>
              <a:gd name="adj" fmla="val 19048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42316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4231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결론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85416"/>
            <a:ext cx="10241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원인은 single-shot 8B 모델의 한계 — NPU·서빙 제약이 아니다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" y="31181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왜 NPU·서빙 한계가 아닌가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02152"/>
            <a:ext cx="5212080" cy="630936"/>
          </a:xfrm>
          <a:prstGeom prst="roundRect">
            <a:avLst>
              <a:gd name="adj" fmla="val 18841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48456"/>
            <a:ext cx="64008" cy="338328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6210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8B 아티팩트 = bf16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4944" y="3867912"/>
            <a:ext cx="4754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양자화 없음 → NPU 정밀도 손실 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261104"/>
            <a:ext cx="5212080" cy="630936"/>
          </a:xfrm>
          <a:prstGeom prst="roundRect">
            <a:avLst>
              <a:gd name="adj" fmla="val 18841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407408"/>
            <a:ext cx="64008" cy="338328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3799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평균 출력 698토큰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4944" y="4626864"/>
            <a:ext cx="4754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max_tokens 4096 한도 — 절단은 27건 중 2건뿐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020056"/>
            <a:ext cx="5212080" cy="630936"/>
          </a:xfrm>
          <a:prstGeom prst="roundRect">
            <a:avLst>
              <a:gd name="adj" fmla="val 18841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5166360"/>
            <a:ext cx="64008" cy="338328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51389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context 128K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4944" y="5385816"/>
            <a:ext cx="4754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프롬프트(5~18K 토큰) 충분히 수용 — 길이 제약 없음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07024" y="3118104"/>
            <a:ext cx="58640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두 실패 유형 — 모두 모델 역량 문제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70448" y="3502152"/>
            <a:ext cx="5864047" cy="1001268"/>
          </a:xfrm>
          <a:prstGeom prst="roundRect">
            <a:avLst>
              <a:gd name="adj" fmla="val 1187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70448" y="3666744"/>
            <a:ext cx="64008" cy="672084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27" name="Text 25"/>
          <p:cNvSpPr/>
          <p:nvPr/>
        </p:nvSpPr>
        <p:spPr>
          <a:xfrm>
            <a:off x="6144768" y="3648456"/>
            <a:ext cx="5361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27 적용실패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44768" y="3959352"/>
            <a:ext cx="5333695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모델이 diff의 @@ hunk 헤더 줄 수를 잘못 계산 → patch 도구가 거부 (헤더는 +1줄 표기, 실제 본문은 2줄 추가 → 불일치).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5870448" y="4649724"/>
            <a:ext cx="5864047" cy="1001268"/>
          </a:xfrm>
          <a:prstGeom prst="roundRect">
            <a:avLst>
              <a:gd name="adj" fmla="val 1187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70448" y="4814316"/>
            <a:ext cx="64008" cy="672084"/>
          </a:xfrm>
          <a:prstGeom prst="roundRect">
            <a:avLst>
              <a:gd name="adj" fmla="val 42857"/>
            </a:avLst>
          </a:prstGeom>
          <a:solidFill>
            <a:srgbClr val="8E8E93"/>
          </a:solidFill>
          <a:ln/>
        </p:spPr>
      </p:sp>
      <p:sp>
        <p:nvSpPr>
          <p:cNvPr id="31" name="Text 29"/>
          <p:cNvSpPr/>
          <p:nvPr/>
        </p:nvSpPr>
        <p:spPr>
          <a:xfrm>
            <a:off x="6144768" y="4796028"/>
            <a:ext cx="5361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23 미해결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44768" y="5106924"/>
            <a:ext cx="5333695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문법이 맞는 패치가 적용됐으나 테스트 미통과 — 수정 위치·내용이 틀림. 단발 8B의 코드 추론 능력 한계.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457200" y="5779008"/>
            <a:ext cx="11277295" cy="457200"/>
          </a:xfrm>
          <a:prstGeom prst="roundRect">
            <a:avLst>
              <a:gd name="adj" fmla="val 26000"/>
            </a:avLst>
          </a:prstGeom>
          <a:solidFill>
            <a:srgbClr val="F0F0F0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7790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시사점  </a:t>
            </a:r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정확도는 모델이 결정, 속도는 하드웨어가 결정 — 다음 슬라이드에서 같은 모델의 공개 GPU SWE-bench 수치로 이를 대조한다.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4 · SWE-BENCH 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15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SWE-bench·SWE-Fixer·SWE-RL 논문 — 모두 GPU/클라우드 실행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4 — SWE-bench ⑥: 일반 GPU 환경 결과 대조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RNGD 0/50 — 같은 모델·같은 single-shot 방식의 공개 GPU 수치와 비교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11277295" cy="768096"/>
          </a:xfrm>
          <a:prstGeom prst="roundRect">
            <a:avLst>
              <a:gd name="adj" fmla="val 19048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42316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4231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결론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85416"/>
            <a:ext cx="10287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같은 모델·같은 single-shot이면 GPU에서도 SWE-bench는 ~0% — 정확도를 가르는 건 하드웨어가 아니라 모델 크기·스캐폴드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18104"/>
            <a:ext cx="6400800" cy="3145536"/>
          </a:xfrm>
          <a:prstGeom prst="roundRect">
            <a:avLst>
              <a:gd name="adj" fmla="val 377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" y="3255264"/>
            <a:ext cx="5961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공개 SWE-bench 결과 — 단발 생성(에이전트 스캐폴드 없음)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" y="3557016"/>
            <a:ext cx="5961888" cy="365760"/>
          </a:xfrm>
          <a:prstGeom prst="rect">
            <a:avLst/>
          </a:prstGeom>
          <a:solidFill>
            <a:srgbClr val="F2F3F5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557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모델 (규모)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18688" y="355701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방식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18888" y="3557016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벤치 · 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80176" y="3557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resolved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" y="3922776"/>
            <a:ext cx="5961888" cy="365760"/>
          </a:xfrm>
          <a:prstGeom prst="roundRect">
            <a:avLst>
              <a:gd name="adj" fmla="val 10000"/>
            </a:avLst>
          </a:prstGeom>
          <a:solidFill>
            <a:srgbClr val="FDEEF7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922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Llama-3.1-8B-Instruct ·8B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18688" y="39227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oracle · single-shot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818888" y="3922776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Lite · 50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5980176" y="39227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EA5EC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0 %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749808" y="4288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SWE-Llama-13B ·13B †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18688" y="428853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RAG · single-shot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4818888" y="4288536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Lite · 300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5980176" y="42885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1.0 %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76656" y="4654296"/>
            <a:ext cx="5961888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6542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GPT-4 ·프런티어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18688" y="465429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oracle · single-shot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4818888" y="4654296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full · 2294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5980176" y="46542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1.7 %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749808" y="50200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Claude 2 ·프런티어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18688" y="502005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oracle · single-shot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4818888" y="5020056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full · 2294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5980176" y="502005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4.8 %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76656" y="5385816"/>
            <a:ext cx="5961888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" y="53858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Llama-3.3-70B-Instruct ·70B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18688" y="538581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oracle 수리 · greedy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4818888" y="5385816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Verified · 500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5980176" y="53858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5.4 %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676656" y="5843016"/>
            <a:ext cx="5961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4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첫 행 = 본 측정(RNGD).  † SWE-Llama = SWE-bench 학습셋에 파인튜닝한 모델.  나머지는 모두 GPU/클라우드 실행 — 출처: SWE-bench(2023)·SWE-Fixer·SWE-RL(Meta) 논문.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7077456" y="3118104"/>
            <a:ext cx="4657039" cy="95097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077456" y="3264408"/>
            <a:ext cx="64008" cy="658368"/>
          </a:xfrm>
          <a:prstGeom prst="roundRect">
            <a:avLst>
              <a:gd name="adj" fmla="val 42857"/>
            </a:avLst>
          </a:prstGeom>
          <a:solidFill>
            <a:srgbClr val="60A5FA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0" y="3255264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공개된 정확 일치 수치는 없다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15200" y="3584448"/>
            <a:ext cx="4199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 모델·방식 조합의 공식 GPU 리더보드 기록은 없다 — 리더보드는 대부분 대형 모델+에이전트. 표는 가장 근접한 공개 기준점이다.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7077456" y="4215384"/>
            <a:ext cx="4657039" cy="95097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077456" y="4361688"/>
            <a:ext cx="64008" cy="658368"/>
          </a:xfrm>
          <a:prstGeom prst="roundRect">
            <a:avLst>
              <a:gd name="adj" fmla="val 42857"/>
            </a:avLst>
          </a:prstGeom>
          <a:solidFill>
            <a:srgbClr val="3B82F6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0" y="4352544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같은 방식이면 큰 모델도 한 자릿수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315200" y="4681728"/>
            <a:ext cx="4199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single-shot에선 8B보다 훨씬 큰 GPT-4·Claude 2·70B도 1.7~5.4%. 8B는 그 아래 — 50건 기준 기대 해결 ≈ 0~1건.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7077456" y="5312664"/>
            <a:ext cx="4657039" cy="95097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077456" y="5458968"/>
            <a:ext cx="64008" cy="658368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0" y="5449824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개선은 하드웨어가 아니다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315200" y="5779008"/>
            <a:ext cx="4199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8B 아티팩트는 bf16(양자화 0)이라 GPU와 수치가 같다. 정확도는 더 큰 모델(4카드 32B·70B)이나 에이전트 스캐폴드로만 오른다.</a:t>
            </a:r>
            <a:endParaRPr lang="en-US" sz="9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MODEL NOTE · 0.5B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16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results/furiosa-ai__Qwen2.5-0.5B-Instruct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측정 모델 노트 — Qwen2.5-0.5B-Instruct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측정 4모델 중 최소 — 속도는 최상이나 컨텍스트 4,096 한계로 코드 작업엔 부적합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11277295" cy="749808"/>
          </a:xfrm>
          <a:prstGeom prst="roundRect">
            <a:avLst>
              <a:gd name="adj" fmla="val 19512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414016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414016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smoke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75104" y="2185416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자동화 파이프라인(서빙→측정→채점)이 정상 동작하는지 빠르게 확인하는 검증용 모델 — models.yaml에 role: smoke로 지정된, 코드 생성 후보가 아닌 모델.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099816"/>
            <a:ext cx="5538064" cy="2660904"/>
          </a:xfrm>
          <a:prstGeom prst="roundRect">
            <a:avLst>
              <a:gd name="adj" fmla="val 446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" y="3246120"/>
            <a:ext cx="508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강점 — 속도·처리량 (4모델 중 최상)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4944" y="3759708"/>
            <a:ext cx="64008" cy="384048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648456"/>
            <a:ext cx="1783080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85 tok/s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697480" y="3648456"/>
            <a:ext cx="3023464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단일 요청 생성 속도 — Llama-3.1-8B(55 tok/s)의 약 1.5배.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94944" y="4309872"/>
            <a:ext cx="5062576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4475988"/>
            <a:ext cx="64008" cy="384048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364736"/>
            <a:ext cx="1783080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31 ms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697480" y="4364736"/>
            <a:ext cx="3023464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TTFT p50 — 첫 토큰 지연이 매우 짧다.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94944" y="5026152"/>
            <a:ext cx="5062576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" y="5192268"/>
            <a:ext cx="64008" cy="384048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081016"/>
            <a:ext cx="1783080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4,175 tok/s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697480" y="5081016"/>
            <a:ext cx="3023464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동시성 c128 합산 처리량 · c1~128 전 구간 요청 실패 0건.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196432" y="3099816"/>
            <a:ext cx="5538064" cy="2660904"/>
          </a:xfrm>
          <a:prstGeom prst="roundRect">
            <a:avLst>
              <a:gd name="adj" fmla="val 446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34176" y="3246120"/>
            <a:ext cx="508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5EC1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한계 — 컨텍스트 4,096 토큰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34176" y="3759708"/>
            <a:ext cx="64008" cy="384048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27" name="Text 25"/>
          <p:cNvSpPr/>
          <p:nvPr/>
        </p:nvSpPr>
        <p:spPr>
          <a:xfrm>
            <a:off x="6580480" y="3648456"/>
            <a:ext cx="1783080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5EC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4,096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436712" y="3648456"/>
            <a:ext cx="3023464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max_context_len — prebuilt 아티팩트에 고정 컴파일된 버킷 (8B는 128K).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434176" y="4309872"/>
            <a:ext cx="5062576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34176" y="4475988"/>
            <a:ext cx="64008" cy="384048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31" name="Text 29"/>
          <p:cNvSpPr/>
          <p:nvPr/>
        </p:nvSpPr>
        <p:spPr>
          <a:xfrm>
            <a:off x="6580480" y="4364736"/>
            <a:ext cx="1783080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5EC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 / 50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436712" y="4364736"/>
            <a:ext cx="3023464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SWE-bench — oracle 프롬프트(3K~10K+)가 4096 초과 → 50건 전부 거부, 패치 0.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6434176" y="5026152"/>
            <a:ext cx="5062576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34176" y="5192268"/>
            <a:ext cx="64008" cy="384048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35" name="Text 33"/>
          <p:cNvSpPr/>
          <p:nvPr/>
        </p:nvSpPr>
        <p:spPr>
          <a:xfrm>
            <a:off x="6580480" y="5081016"/>
            <a:ext cx="1783080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5EC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 성공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8436712" y="5081016"/>
            <a:ext cx="3023464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sweep prompt=4096 — prompt+max_tokens가 버킷을 넘겨 전 동시성 실패.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457200" y="5779008"/>
            <a:ext cx="11277295" cy="457200"/>
          </a:xfrm>
          <a:prstGeom prst="roundRect">
            <a:avLst>
              <a:gd name="adj" fmla="val 26000"/>
            </a:avLst>
          </a:prstGeom>
          <a:solidFill>
            <a:srgbClr val="F0F0F0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7790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시사점  </a:t>
            </a:r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smoke·단문 고처리량 데모엔 적합 · 코드 생성·긴 컨텍스트 작업엔 부적합 — 실사용하려면 아티팩트를 더 큰 컨텍스트 버킷으로 재컴파일해야 한다.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5 · EMBEDDING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17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bench/results · embed / rerank task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5 — 임베딩 · 리랭커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검색 보조 모델(Qwen3-Embedding-8B · Qwen3-Reranker-8B)의 처리량 측정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31720"/>
            <a:ext cx="490118" cy="256032"/>
          </a:xfrm>
          <a:prstGeom prst="roundRect">
            <a:avLst>
              <a:gd name="adj" fmla="val 50000"/>
            </a:avLst>
          </a:prstGeom>
          <a:solidFill>
            <a:srgbClr val="8E8E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4901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무엇을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642616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임베딩/리랭킹 처리량 — SWE-bench 검색 보조에 쓰이는 모델.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277258" y="2185416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0138" y="2331720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8E8E93"/>
          </a:solidFill>
          <a:ln/>
        </p:spPr>
      </p:sp>
      <p:sp>
        <p:nvSpPr>
          <p:cNvPr id="13" name="Text 11"/>
          <p:cNvSpPr/>
          <p:nvPr/>
        </p:nvSpPr>
        <p:spPr>
          <a:xfrm>
            <a:off x="4460138" y="2331720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입력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60138" y="2642616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/v1/embeddings·/v1/rerank에 batch {1·4·16·64}개 입력.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097317" y="2185416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0197" y="233172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8E8E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80197" y="23317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출력·분석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80197" y="2642616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초당 처리 건수(inputs/s), 배치 크기별 효율.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3566160" cy="249631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398678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Qwen3-Embedding-8B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3232" y="429768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1.17</a:t>
            </a:r>
            <a:pPr indent="0" marL="0">
              <a:buNone/>
            </a:pPr>
            <a:r>
              <a:rPr lang="en-US" sz="130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  inputs/s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13232" y="501091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batch 1·16·64 모두 동일 — 배치 이득 없음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206240" y="3767328"/>
            <a:ext cx="3566160" cy="249631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62272" y="398678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Qwen3-Reranker-8B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462272" y="429768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1.17</a:t>
            </a:r>
            <a:pPr indent="0" marL="0">
              <a:buNone/>
            </a:pPr>
            <a:r>
              <a:rPr lang="en-US" sz="130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  pairs/s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4462272" y="501091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쿼리당 100문서 ≈ 85초 — 항목당 약 0.85초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7955280" y="3767328"/>
            <a:ext cx="3779215" cy="249631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55280" y="4005072"/>
            <a:ext cx="64008" cy="2020824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3986784"/>
            <a:ext cx="3276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처리량 이상 — 별도 점검 필요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0" y="4352544"/>
            <a:ext cx="3230575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두 모델 모두 항목당 약 0.85초 — 8B 생성 모델의 단일 prefill(수십 ms) 대비 수십 배 느리다. batch size를 키워도 처리량이 1.17/s로 고정돼 배칭이 동작하지 않는다. 아티팩트의 고정 버킷 패딩 또는 배칭 경로 미최적화 가능성 → 현재 설정으로는 대량 검색에 부적합하며 후속 점검이 필요하다.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18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bench/REPORT.md · 동시성은 prompt 1024 기준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결론 — 2-카드에서는 Llama-3.1-8B 단독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강력 후보 32B·70B는 RNGD 4카드 필요 → 정확도 우선이면 4카드 환경 권장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6400800" cy="4078224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3500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동시 접속자별 권장 (Llama-3.1-8B · 1카드)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5943600" cy="502920"/>
          </a:xfrm>
          <a:prstGeom prst="rect">
            <a:avLst/>
          </a:prstGeom>
          <a:solidFill>
            <a:srgbClr val="F2F3F5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697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동시 사용자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13432" y="2697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요청당 속도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67912" y="2697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TTFT p95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82312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판단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8952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 – 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13432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48 – 54 tok/s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67912" y="3200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&lt; 0.2 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82312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F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쾌적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703320"/>
            <a:ext cx="5943600" cy="5029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703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13432" y="3703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42 tok/s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67912" y="3703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0.38 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82312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F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양호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" y="4206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13432" y="4206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35 tok/s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67912" y="4206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0.51 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82312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F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양호 · 1카드 권장 상한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4709160"/>
            <a:ext cx="5943600" cy="5029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" y="4709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64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13432" y="4709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27 tok/s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67912" y="4709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0.96 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82312" y="4709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F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처리량 우선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8952" y="5212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128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13432" y="5212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18 tok/s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67912" y="5212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1.85 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82312" y="5212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F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집계 peak · 체감 느림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57698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 동시성 구간 요청 실패 0건 · KV cache 27GB 확보로 KV는 병목 아님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077456" y="2185416"/>
            <a:ext cx="4657039" cy="1249680"/>
          </a:xfrm>
          <a:prstGeom prst="roundRect">
            <a:avLst>
              <a:gd name="adj" fmla="val 11707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78624" y="236829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7278624" y="236829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채택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278624" y="2688336"/>
            <a:ext cx="42547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Llama-3.1-8B / 1카드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278624" y="2990088"/>
            <a:ext cx="425470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DBE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 자동완성·대화형 보조에 적합. ~32명까지 쾌적, serve 옵션은 기본값.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77456" y="3599688"/>
            <a:ext cx="4657039" cy="1249680"/>
          </a:xfrm>
          <a:prstGeom prst="roundRect">
            <a:avLst>
              <a:gd name="adj" fmla="val 951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278624" y="3782568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/>
        </p:spPr>
      </p:sp>
      <p:sp>
        <p:nvSpPr>
          <p:cNvPr id="44" name="Text 42"/>
          <p:cNvSpPr/>
          <p:nvPr/>
        </p:nvSpPr>
        <p:spPr>
          <a:xfrm>
            <a:off x="7278624" y="3782568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보강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278624" y="4102608"/>
            <a:ext cx="42547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32B·70B는 4카드에서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278624" y="4404360"/>
            <a:ext cx="425470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정확도(SWE-bench)는 8B가 약함. 강력 후보는 4카드 환경에서 측정·운영.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077456" y="5013960"/>
            <a:ext cx="4657039" cy="1249680"/>
          </a:xfrm>
          <a:prstGeom prst="roundRect">
            <a:avLst>
              <a:gd name="adj" fmla="val 951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278624" y="5196840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/>
        </p:spPr>
      </p:sp>
      <p:sp>
        <p:nvSpPr>
          <p:cNvPr id="49" name="Text 47"/>
          <p:cNvSpPr/>
          <p:nvPr/>
        </p:nvSpPr>
        <p:spPr>
          <a:xfrm>
            <a:off x="7278624" y="5196840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점검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278624" y="5516880"/>
            <a:ext cx="42547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임베딩·리랭커 처리량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278624" y="5818632"/>
            <a:ext cx="425470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1.17/s는 비정상 — 대량 검색 전 배칭/버킷 설정 점검 필요.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RNGD Benchmark</dc:creator>
  <cp:lastModifiedBy>RNGD Benchmark</cp:lastModifiedBy>
  <cp:revision>1</cp:revision>
  <dcterms:created xsi:type="dcterms:W3CDTF">2026-05-19T07:53:55Z</dcterms:created>
  <dcterms:modified xsi:type="dcterms:W3CDTF">2026-05-19T07:53:55Z</dcterms:modified>
</cp:coreProperties>
</file>