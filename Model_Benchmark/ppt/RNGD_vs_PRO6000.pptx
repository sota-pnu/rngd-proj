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RNGD</c:v>
                </c:pt>
              </c:strCache>
            </c:strRef>
          </c:tx>
          <c:spPr>
            <a:solidFill>
              <a:srgbClr val="1456F0"/>
            </a:solidFill>
            <a:ln w="34925" cap="flat">
              <a:solidFill>
                <a:srgbClr val="1456F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456F0"/>
              </a:solidFill>
              <a:ln w="9525" cap="flat">
                <a:solidFill>
                  <a:srgbClr val="1456F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8</c:v>
                  </c:pt>
                  <c:pt idx="2">
                    <c:v>16</c:v>
                  </c:pt>
                  <c:pt idx="3">
                    <c:v>32</c:v>
                  </c:pt>
                  <c:pt idx="4">
                    <c:v>64</c:v>
                  </c:pt>
                  <c:pt idx="5">
                    <c:v>256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25.5</c:v>
                </c:pt>
                <c:pt idx="1">
                  <c:v>171.2</c:v>
                </c:pt>
                <c:pt idx="2">
                  <c:v>289.7</c:v>
                </c:pt>
                <c:pt idx="3">
                  <c:v>376.9</c:v>
                </c:pt>
                <c:pt idx="4">
                  <c:v>368.4</c:v>
                </c:pt>
                <c:pt idx="5">
                  <c:v>372.7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PRO6000</c:v>
                </c:pt>
              </c:strCache>
            </c:strRef>
          </c:tx>
          <c:spPr>
            <a:solidFill>
              <a:srgbClr val="F97316"/>
            </a:solidFill>
            <a:ln w="34925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8</c:v>
                  </c:pt>
                  <c:pt idx="2">
                    <c:v>16</c:v>
                  </c:pt>
                  <c:pt idx="3">
                    <c:v>32</c:v>
                  </c:pt>
                  <c:pt idx="4">
                    <c:v>64</c:v>
                  </c:pt>
                  <c:pt idx="5">
                    <c:v>256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37.6</c:v>
                </c:pt>
                <c:pt idx="1">
                  <c:v>288.7</c:v>
                </c:pt>
                <c:pt idx="2">
                  <c:v>487.9</c:v>
                </c:pt>
                <c:pt idx="3">
                  <c:v>741.1</c:v>
                </c:pt>
                <c:pt idx="4">
                  <c:v>953.3</c:v>
                </c:pt>
                <c:pt idx="5">
                  <c:v>984.1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E8E93"/>
                    </a:solidFill>
                    <a:latin typeface="Paperlogy 5 Medium"/>
                  </a:defRPr>
                </a:pPr>
                <a:r>
                  <a:rPr sz="900" b="0" i="0" u="none" strike="noStrike">
                    <a:solidFill>
                      <a:srgbClr val="8E8E93"/>
                    </a:solidFill>
                    <a:latin typeface="Paperlogy 5 Medium"/>
                  </a:rPr>
                  <a:t>배치 (동시 사용자)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515E"/>
                </a:solidFill>
                <a:latin typeface="Paperlogy 5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E8E93"/>
                </a:solidFill>
                <a:latin typeface="Paperlogy 4 Regula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RNGD</c:v>
                </c:pt>
              </c:strCache>
            </c:strRef>
          </c:tx>
          <c:spPr>
            <a:solidFill>
              <a:srgbClr val="1456F0"/>
            </a:solidFill>
            <a:ln w="34925" cap="flat">
              <a:solidFill>
                <a:srgbClr val="1456F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456F0"/>
              </a:solidFill>
              <a:ln w="9525" cap="flat">
                <a:solidFill>
                  <a:srgbClr val="1456F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8</c:v>
                  </c:pt>
                  <c:pt idx="2">
                    <c:v>16</c:v>
                  </c:pt>
                  <c:pt idx="3">
                    <c:v>32</c:v>
                  </c:pt>
                  <c:pt idx="4">
                    <c:v>64</c:v>
                  </c:pt>
                  <c:pt idx="5">
                    <c:v>256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25.23</c:v>
                </c:pt>
                <c:pt idx="1">
                  <c:v>19.43</c:v>
                </c:pt>
                <c:pt idx="2">
                  <c:v>16.21</c:v>
                </c:pt>
                <c:pt idx="3">
                  <c:v>11.92</c:v>
                </c:pt>
                <c:pt idx="4">
                  <c:v>9.38</c:v>
                </c:pt>
                <c:pt idx="5">
                  <c:v>9.35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PRO6000</c:v>
                </c:pt>
              </c:strCache>
            </c:strRef>
          </c:tx>
          <c:spPr>
            <a:solidFill>
              <a:srgbClr val="F97316"/>
            </a:solidFill>
            <a:ln w="34925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8</c:v>
                  </c:pt>
                  <c:pt idx="2">
                    <c:v>16</c:v>
                  </c:pt>
                  <c:pt idx="3">
                    <c:v>32</c:v>
                  </c:pt>
                  <c:pt idx="4">
                    <c:v>64</c:v>
                  </c:pt>
                  <c:pt idx="5">
                    <c:v>256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38.2</c:v>
                </c:pt>
                <c:pt idx="1">
                  <c:v>35.69</c:v>
                </c:pt>
                <c:pt idx="2">
                  <c:v>31.74</c:v>
                </c:pt>
                <c:pt idx="3">
                  <c:v>22.77</c:v>
                </c:pt>
                <c:pt idx="4">
                  <c:v>15.84</c:v>
                </c:pt>
                <c:pt idx="5">
                  <c:v>5.6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E8E93"/>
                    </a:solidFill>
                    <a:latin typeface="Paperlogy 5 Medium"/>
                  </a:defRPr>
                </a:pPr>
                <a:r>
                  <a:rPr sz="900" b="0" i="0" u="none" strike="noStrike">
                    <a:solidFill>
                      <a:srgbClr val="8E8E93"/>
                    </a:solidFill>
                    <a:latin typeface="Paperlogy 5 Medium"/>
                  </a:rPr>
                  <a:t>배치 (동시 사용자)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515E"/>
                </a:solidFill>
                <a:latin typeface="Paperlogy 5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E8E93"/>
                </a:solidFill>
                <a:latin typeface="Paperlogy 4 Regula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RNGD</c:v>
                </c:pt>
              </c:strCache>
            </c:strRef>
          </c:tx>
          <c:spPr>
            <a:solidFill>
              <a:srgbClr val="1456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8</c:v>
                  </c:pt>
                  <c:pt idx="2">
                    <c:v>16</c:v>
                  </c:pt>
                  <c:pt idx="3">
                    <c:v>32</c:v>
                  </c:pt>
                  <c:pt idx="4">
                    <c:v>64</c:v>
                  </c:pt>
                  <c:pt idx="5">
                    <c:v>256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134</c:v>
                </c:pt>
                <c:pt idx="1">
                  <c:v>156</c:v>
                </c:pt>
                <c:pt idx="2">
                  <c:v>176</c:v>
                </c:pt>
                <c:pt idx="3">
                  <c:v>193</c:v>
                </c:pt>
                <c:pt idx="4">
                  <c:v>204</c:v>
                </c:pt>
                <c:pt idx="5">
                  <c:v>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PRO6000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8</c:v>
                  </c:pt>
                  <c:pt idx="2">
                    <c:v>16</c:v>
                  </c:pt>
                  <c:pt idx="3">
                    <c:v>32</c:v>
                  </c:pt>
                  <c:pt idx="4">
                    <c:v>64</c:v>
                  </c:pt>
                  <c:pt idx="5">
                    <c:v>256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402</c:v>
                </c:pt>
                <c:pt idx="1">
                  <c:v>451</c:v>
                </c:pt>
                <c:pt idx="2">
                  <c:v>480</c:v>
                </c:pt>
                <c:pt idx="3">
                  <c:v>505</c:v>
                </c:pt>
                <c:pt idx="4">
                  <c:v>562</c:v>
                </c:pt>
                <c:pt idx="5">
                  <c:v>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840" b="0" i="0" u="none" strike="noStrike">
                <a:solidFill>
                  <a:srgbClr val="45515E"/>
                </a:solidFill>
                <a:latin typeface="Paperlogy 5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E8E93"/>
                </a:solidFill>
                <a:latin typeface="Paperlogy 4 Regula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RNGD</c:v>
                </c:pt>
              </c:strCache>
            </c:strRef>
          </c:tx>
          <c:spPr>
            <a:solidFill>
              <a:srgbClr val="1456F0"/>
            </a:solidFill>
            <a:ln w="34925" cap="flat">
              <a:solidFill>
                <a:srgbClr val="1456F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456F0"/>
              </a:solidFill>
              <a:ln w="9525" cap="flat">
                <a:solidFill>
                  <a:srgbClr val="1456F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8</c:v>
                  </c:pt>
                  <c:pt idx="2">
                    <c:v>16</c:v>
                  </c:pt>
                  <c:pt idx="3">
                    <c:v>32</c:v>
                  </c:pt>
                  <c:pt idx="4">
                    <c:v>64</c:v>
                  </c:pt>
                  <c:pt idx="5">
                    <c:v>256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0.19</c:v>
                </c:pt>
                <c:pt idx="1">
                  <c:v>1.098</c:v>
                </c:pt>
                <c:pt idx="2">
                  <c:v>1.647</c:v>
                </c:pt>
                <c:pt idx="3">
                  <c:v>1.95</c:v>
                </c:pt>
                <c:pt idx="4">
                  <c:v>1.806</c:v>
                </c:pt>
                <c:pt idx="5">
                  <c:v>1.779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PRO6000</c:v>
                </c:pt>
              </c:strCache>
            </c:strRef>
          </c:tx>
          <c:spPr>
            <a:solidFill>
              <a:srgbClr val="F97316"/>
            </a:solidFill>
            <a:ln w="34925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8</c:v>
                  </c:pt>
                  <c:pt idx="2">
                    <c:v>16</c:v>
                  </c:pt>
                  <c:pt idx="3">
                    <c:v>32</c:v>
                  </c:pt>
                  <c:pt idx="4">
                    <c:v>64</c:v>
                  </c:pt>
                  <c:pt idx="5">
                    <c:v>256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0.093</c:v>
                </c:pt>
                <c:pt idx="1">
                  <c:v>0.64</c:v>
                </c:pt>
                <c:pt idx="2">
                  <c:v>1.016</c:v>
                </c:pt>
                <c:pt idx="3">
                  <c:v>1.467</c:v>
                </c:pt>
                <c:pt idx="4">
                  <c:v>1.695</c:v>
                </c:pt>
                <c:pt idx="5">
                  <c:v>1.64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515E"/>
                </a:solidFill>
                <a:latin typeface="Paperlogy 5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E8E93"/>
                </a:solidFill>
                <a:latin typeface="Paperlogy 4 Regula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RNGD</c:v>
                </c:pt>
              </c:strCache>
            </c:strRef>
          </c:tx>
          <c:spPr>
            <a:solidFill>
              <a:srgbClr val="1456F0"/>
            </a:solidFill>
            <a:effectLst/>
          </c:spPr>
          <c:invertIfNegative val="0"/>
          <c:dLbls>
            <c:numFmt formatCode="0.00&quot;s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22222"/>
                    </a:solidFill>
                    <a:latin typeface="Paperlogy 6 Semi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8</c:v>
                  </c:pt>
                  <c:pt idx="2">
                    <c:v>16</c:v>
                  </c:pt>
                  <c:pt idx="3">
                    <c:v>32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0.27</c:v>
                </c:pt>
                <c:pt idx="1">
                  <c:v>0.76</c:v>
                </c:pt>
                <c:pt idx="2">
                  <c:v>0.76</c:v>
                </c:pt>
                <c:pt idx="3">
                  <c:v>0.78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PRO6000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0.00&quot;s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22222"/>
                    </a:solidFill>
                    <a:latin typeface="Paperlogy 6 Semi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8</c:v>
                  </c:pt>
                  <c:pt idx="2">
                    <c:v>16</c:v>
                  </c:pt>
                  <c:pt idx="3">
                    <c:v>32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0.19</c:v>
                </c:pt>
                <c:pt idx="1">
                  <c:v>1.52</c:v>
                </c:pt>
                <c:pt idx="2">
                  <c:v>2.02</c:v>
                </c:pt>
                <c:pt idx="3">
                  <c:v>2.53</c:v>
                </c:pt>
              </c:numCache>
            </c:numRef>
          </c:val>
        </c:ser>
        <c:dLbls>
          <c:numFmt formatCode="0.00&quot;s&quot;" sourceLinked="0"/>
          <c:txPr>
            <a:bodyPr/>
            <a:lstStyle/>
            <a:p>
              <a:pPr>
                <a:defRPr b="0" i="0" strike="noStrike" sz="800" u="none">
                  <a:solidFill>
                    <a:srgbClr val="222222"/>
                  </a:solidFill>
                  <a:latin typeface="Paperlogy 6 Semi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E8E93"/>
                    </a:solidFill>
                    <a:latin typeface="Paperlogy 5 Medium"/>
                  </a:defRPr>
                </a:pPr>
                <a:r>
                  <a:rPr sz="900" b="0" i="0" u="none" strike="noStrike">
                    <a:solidFill>
                      <a:srgbClr val="8E8E93"/>
                    </a:solidFill>
                    <a:latin typeface="Paperlogy 5 Medium"/>
                  </a:rPr>
                  <a:t>배치 (동시 사용자)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515E"/>
                </a:solidFill>
                <a:latin typeface="Paperlogy 5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E8E93"/>
                </a:solidFill>
                <a:latin typeface="Paperlogy 4 Regula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FURIOSA BLOG REPRODUCTION · Qwen3-32B · 2026.06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338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100" spc="-8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RNGD vs RTX PRO 6000</a:t>
            </a:r>
            <a:endParaRPr lang="en-US" sz="4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100" spc="-8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블로그 효율 벤치마크 직접 재현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457200" y="26700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Furiosa 블로그의 Qwen3-32B 비교를 내 장비 RNGD 1장 vs RTX PRO 6000 1대로 같은 조건 측정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11277295" cy="1700784"/>
          </a:xfrm>
          <a:prstGeom prst="roundRect">
            <a:avLst>
              <a:gd name="adj" fmla="val 11828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520440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520440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핵심 결론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813048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BE6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raw 속도는 GPU, 효율은 RNGD —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같은 일을 1/3 전력으로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10545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BE6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단일 카드 raw 처리량은 PRO 6000이 최대 2.6배 빠르지만(984 vs 377 tok/s), RNGD는 전력이 1/3(≈180W vs ≈500W)이라 와트당 처리량(tokens/s/W)이 저~중부하에서 최대 2.03배. 블로그의 1.8~2x 사용자 우위는 4장+랙 전력 정규화에서 나오는 값.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5138928"/>
            <a:ext cx="363717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5266944"/>
            <a:ext cx="32348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측정 모델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5458968"/>
            <a:ext cx="32348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Qwen3-32B FP8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8368" y="5888736"/>
            <a:ext cx="3234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RNGD weight-FP8 · GPU 공식 W8A8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77258" y="5138928"/>
            <a:ext cx="363717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78426" y="5266944"/>
            <a:ext cx="32348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워크로드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78426" y="5458968"/>
            <a:ext cx="32348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ISL 1024 / OSL 256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478426" y="5888736"/>
            <a:ext cx="3234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배치(=동시 사용자) 1~256 스윕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97317" y="5138928"/>
            <a:ext cx="363717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98485" y="5266944"/>
            <a:ext cx="32348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비교 장비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98485" y="5458968"/>
            <a:ext cx="32348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1장 vs 1대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98485" y="5888736"/>
            <a:ext cx="3234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RNGD tp8 1카드 · RTX PRO 6000 1대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47695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RNGD: furiosa-llm 2026.2.0 · npu 1카드   |   GPU: vLLM · RTX PRO 6000 96GB (Blackwell)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2 /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furiosa.ai/blog · RNGD vs RTX Pro 6000 (Qwen3)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블로그는 무엇을 주장했나 — 그리고 우리가 검증한 것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블로그의 1.8~2x는 본문에 "normalized for rack power"(랙 전력 정규화 후)로 명시됨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77295" cy="1078992"/>
          </a:xfrm>
          <a:prstGeom prst="roundRect">
            <a:avLst>
              <a:gd name="adj" fmla="val 13559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865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6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블로그 핵심 주장 (4x RNGD 서버 기준)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609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RNGD가 RTX PRO 6000보다 1.8x · 1.9x · 2.0x 더 많은 사용자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BE6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 (SLO 20·30·40 TPS/user, 랙 전력 정규화) · 전력 8장 3kW vs 6.6kW · 랙당 2.5x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3637178" cy="2743200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739896"/>
            <a:ext cx="64008" cy="365760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3721608"/>
            <a:ext cx="3179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공개된 것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197096"/>
            <a:ext cx="313425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Qwen3-32B · 배치 b8~b256</a:t>
            </a:r>
            <a:endParaRPr lang="en-US" sz="115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SLO = per-user 20/30/40 TPS</a:t>
            </a:r>
            <a:endParaRPr lang="en-US" sz="115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사용자 수 = 그 SLO에서 받는 동시 사용자</a:t>
            </a:r>
            <a:endParaRPr lang="en-US" sz="115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전력 3kW vs 6.6kW · 칩 180W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77258" y="3520440"/>
            <a:ext cx="3637178" cy="2743200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77258" y="3739896"/>
            <a:ext cx="64008" cy="365760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515002" y="3721608"/>
            <a:ext cx="3179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블로그가 안 밝힌 것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51578" y="4197096"/>
            <a:ext cx="313425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입력/출력 토큰 길이</a:t>
            </a:r>
            <a:endParaRPr lang="en-US" sz="115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서빙 엔진(양측 모두)</a:t>
            </a:r>
            <a:endParaRPr lang="en-US" sz="115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 모델당 카드 수(TP)</a:t>
            </a:r>
            <a:endParaRPr lang="en-US" sz="115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"사용자 수" 계산식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7317" y="3520440"/>
            <a:ext cx="3637178" cy="2743200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97317" y="3739896"/>
            <a:ext cx="64008" cy="36576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20" name="Text 18"/>
          <p:cNvSpPr/>
          <p:nvPr/>
        </p:nvSpPr>
        <p:spPr>
          <a:xfrm>
            <a:off x="8335061" y="3721608"/>
            <a:ext cx="3179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우리 재현 방식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71637" y="4197096"/>
            <a:ext cx="313425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1장 vs 1대 (per-device)</a:t>
            </a:r>
            <a:endParaRPr lang="en-US" sz="115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ISL 1024 / OSL 256 고정</a:t>
            </a:r>
            <a:endParaRPr lang="en-US" sz="115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양쪽 FP8 · 공통 loadgen</a:t>
            </a:r>
            <a:endParaRPr lang="en-US" sz="115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raw + 전력정규화 둘 다 측정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3 /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bench-blog/loadgen.py · run_rngd.sh · run_pro6000.sh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측정 환경 — 같은 클라이언트, 다른 장비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OpenAI 호환 /v1/completions 만 호출 → 서버 계층만 바꿔 RNGD·GPU를 같은 코드로 측정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01752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523744"/>
            <a:ext cx="64008" cy="941832"/>
          </a:xfrm>
          <a:prstGeom prst="roundRect">
            <a:avLst>
              <a:gd name="adj" fmla="val 42857"/>
            </a:avLst>
          </a:prstGeom>
          <a:solidFill>
            <a:srgbClr val="4551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87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공통 loadgen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79806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closed-loop 배치 스윕</a:t>
            </a:r>
            <a:endParaRPr lang="en-US" sz="96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고정 ISL/OSL · 고유 프롬프트</a:t>
            </a:r>
            <a:endParaRPr lang="en-US" sz="96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TTFT·per-user·집계 TPS + 전력 동시측정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986784" y="2286000"/>
            <a:ext cx="393192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145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86784" y="2523744"/>
            <a:ext cx="64008" cy="941832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14" name="Text 12"/>
          <p:cNvSpPr/>
          <p:nvPr/>
        </p:nvSpPr>
        <p:spPr>
          <a:xfrm>
            <a:off x="4261104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RNGD 경로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61104" y="27249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furiosa-llm serve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61104" y="3072384"/>
            <a:ext cx="3429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qwen3-32b-fp8-tp8 · npu 1카드 · furiosa-smi 전력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01584" y="2286000"/>
            <a:ext cx="393192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01584" y="2523744"/>
            <a:ext cx="64008" cy="941832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GPU 경로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75904" y="27249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vllm serve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75904" y="3072384"/>
            <a:ext cx="3429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Qwen/Qwen3-32B-FP8 W8A8 · 1대 · nvidia-smi 전력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22776"/>
            <a:ext cx="2682164" cy="2340864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123944"/>
            <a:ext cx="64008" cy="36576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" y="4105656"/>
            <a:ext cx="22798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배치 = 동시 사용자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76656" y="4709160"/>
            <a:ext cx="22615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6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b1·8·16·32·64·256 동시 요청을 항상 in-flight 유지(closed-loop). 배치 = 그 순간 동시 사용자 수.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22244" y="3922776"/>
            <a:ext cx="2682164" cy="2340864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22244" y="4123944"/>
            <a:ext cx="64008" cy="365760"/>
          </a:xfrm>
          <a:prstGeom prst="roundRect">
            <a:avLst>
              <a:gd name="adj" fmla="val 42857"/>
            </a:avLst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3541700" y="4105656"/>
            <a:ext cx="22798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고정 ISL/OSL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541700" y="4709160"/>
            <a:ext cx="22615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6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입력 1024 / 출력 256 토큰 고정(ignore_eos+min_tokens로 정확히 256). 양쪽 같은 프롬프트 → 공정.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87288" y="3922776"/>
            <a:ext cx="2682164" cy="2340864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87288" y="4123944"/>
            <a:ext cx="64008" cy="365760"/>
          </a:xfrm>
          <a:prstGeom prst="roundRect">
            <a:avLst>
              <a:gd name="adj" fmla="val 42857"/>
            </a:avLst>
          </a:prstGeom>
          <a:solidFill>
            <a:srgbClr val="60A5FA"/>
          </a:solidFill>
          <a:ln/>
        </p:spPr>
      </p:sp>
      <p:sp>
        <p:nvSpPr>
          <p:cNvPr id="32" name="Text 30"/>
          <p:cNvSpPr/>
          <p:nvPr/>
        </p:nvSpPr>
        <p:spPr>
          <a:xfrm>
            <a:off x="6406744" y="4105656"/>
            <a:ext cx="22798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per-user TPS · SLO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06744" y="4709160"/>
            <a:ext cx="22615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6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각 사용자가 받는 출력속도(tok/s). 블로그처럼 20/30/40 TPS를 SLO 기준선으로 사용.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052331" y="3922776"/>
            <a:ext cx="2682164" cy="2340864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052331" y="4123944"/>
            <a:ext cx="64008" cy="365760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36" name="Text 34"/>
          <p:cNvSpPr/>
          <p:nvPr/>
        </p:nvSpPr>
        <p:spPr>
          <a:xfrm>
            <a:off x="9271787" y="4105656"/>
            <a:ext cx="22798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전력 동시 샘플링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271787" y="4709160"/>
            <a:ext cx="22615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6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측정 구간 동안 1Hz로 카드 전력(W) 수집 → tokens/s/W·users/kW 계산.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RESULT · THROUGHPUT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4 /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results/report.md · 집계 출력 TPS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처리량 — raw는 GPU가 빠르다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단일 PRO 6000은 동시성이 늘수록 계속 확장(984 tok/s), RNGD 1장은 b32에서 ~377로 포화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6858000" cy="4023360"/>
          </a:xfrm>
          <a:prstGeom prst="roundRect">
            <a:avLst>
              <a:gd name="adj" fmla="val 2955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368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배치별 집계 출력 처리량 (tok/s)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0" y="2423160"/>
            <a:ext cx="201168" cy="118872"/>
          </a:xfrm>
          <a:prstGeom prst="rect">
            <a:avLst/>
          </a:prstGeom>
          <a:solidFill>
            <a:srgbClr val="1456F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350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RNGD (1장·tp8)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12080" y="2423160"/>
            <a:ext cx="201168" cy="118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2350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RTX PRO 6000 (1대)</a:t>
            </a:r>
            <a:endParaRPr lang="en-US" sz="9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2697480"/>
          <a:ext cx="6583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7534656" y="2240280"/>
            <a:ext cx="4199839" cy="1243584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34656" y="2404872"/>
            <a:ext cx="64008" cy="91440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0" y="2377440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b1–b16  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저부하 격차 작음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772400" y="2697480"/>
            <a:ext cx="3724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단일·소수 사용자에서는 차이가 작다(b1 25.5 vs 37.6). RNGD 1장도 충분.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7534656" y="3630168"/>
            <a:ext cx="4199839" cy="1243584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534656" y="3794760"/>
            <a:ext cx="64008" cy="914400"/>
          </a:xfrm>
          <a:prstGeom prst="roundRect">
            <a:avLst>
              <a:gd name="adj" fmla="val 42857"/>
            </a:avLst>
          </a:prstGeom>
          <a:solidFill>
            <a:srgbClr val="8E8E93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0" y="3767328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b32  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RNGD 포화 시작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772400" y="4087368"/>
            <a:ext cx="3724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RNGD는 b32에서 377 tok/s로 천장. 1카드 8 PE의 배치 한계.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7534656" y="5020056"/>
            <a:ext cx="4199839" cy="1243584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34656" y="5184648"/>
            <a:ext cx="64008" cy="914400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0" y="5157216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b64–b256  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GPU 계속 확장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772400" y="5477256"/>
            <a:ext cx="3724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PRO 6000은 984까지 확장(b256). 피크 처리량 GPU가 RNGD의 2.6배.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RESULT · PER-USER SLO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5 /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results/report.md · per-user 출력 TPS(p50)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per-user 속도 &amp; SLO 사용자 수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블로그의 20/30/40은 '사용자 1명당 보장 tok/s' 기준선 — RNGD 1장 단일스트림 천장은 25 tok/s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6858000" cy="4023360"/>
          </a:xfrm>
          <a:prstGeom prst="roundRect">
            <a:avLst>
              <a:gd name="adj" fmla="val 2955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368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배치별 per-user 출력 TPS (p50)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0" y="2423160"/>
            <a:ext cx="201168" cy="118872"/>
          </a:xfrm>
          <a:prstGeom prst="rect">
            <a:avLst/>
          </a:prstGeom>
          <a:solidFill>
            <a:srgbClr val="1456F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350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RNGD (1장·tp8)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12080" y="2423160"/>
            <a:ext cx="201168" cy="118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2350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RTX PRO 6000 (1대)</a:t>
            </a:r>
            <a:endParaRPr lang="en-US" sz="9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2697480"/>
          <a:ext cx="6583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731520" y="5952744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i="1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SLO 20·30·40 TPS/user 기준선 = 각 사용자 최소 보장속도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7534656" y="2240280"/>
            <a:ext cx="4199839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54112" y="2404872"/>
            <a:ext cx="3834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SLO당 최대 동시 사용자 (raw, 장비 1개)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772400" y="28072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SLO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272016" y="28072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RNGD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643616" y="28072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PRO6000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72400" y="3118104"/>
            <a:ext cx="374263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0" y="3227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15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20 TPS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272016" y="3227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7.3명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0643616" y="3227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9731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44.8명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772400" y="36850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15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30 TPS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9272016" y="36850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0643616" y="36850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9731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19.1명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772400" y="41422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15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40 TPS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272016" y="41422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0643616" y="41422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9731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534656" y="4718304"/>
            <a:ext cx="4199839" cy="699516"/>
          </a:xfrm>
          <a:prstGeom prst="roundRect">
            <a:avLst>
              <a:gd name="adj" fmla="val 1699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534656" y="4882896"/>
            <a:ext cx="64008" cy="370332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7772400" y="4855464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천장  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단일스트림 25 vs 38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7772400" y="5175504"/>
            <a:ext cx="37243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RNGD 1장은 한 명에게도 25 tok/s가 최대 → 30·40 SLO는 1장으론 도달 불가. GPU는 단일스트림이 빨라(38) 더 높은 SLO·더 많은 사용자.</a:t>
            </a:r>
            <a:endParaRPr lang="en-US" sz="960" dirty="0"/>
          </a:p>
        </p:txBody>
      </p:sp>
      <p:sp>
        <p:nvSpPr>
          <p:cNvPr id="34" name="Shape 31"/>
          <p:cNvSpPr/>
          <p:nvPr/>
        </p:nvSpPr>
        <p:spPr>
          <a:xfrm>
            <a:off x="7534656" y="5564124"/>
            <a:ext cx="4199839" cy="699516"/>
          </a:xfrm>
          <a:prstGeom prst="roundRect">
            <a:avLst>
              <a:gd name="adj" fmla="val 1699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534656" y="5728716"/>
            <a:ext cx="64008" cy="370332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36" name="Text 33"/>
          <p:cNvSpPr/>
          <p:nvPr/>
        </p:nvSpPr>
        <p:spPr>
          <a:xfrm>
            <a:off x="7772400" y="5701284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블로그처럼 하려면  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RNGD 멀티카드 필요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7772400" y="6021324"/>
            <a:ext cx="37243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블로그는 4x RNGD. 카드를 묶으면(tp16/32) 단일스트림이 빨라져 30·40 SLO도 도달. 1장 비교의 한계.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RESULT · EFFICIENCY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6 /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results/report.md · 전력(W) &amp; tokens/s/W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전력과 에너지효율 — 여기가 RNGD의 무대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RNGD는 1/3 전력으로 동작 → 와트당 처리량(tokens/s/W)이 저~중부하에서 최대 2.03배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91095" y="2048256"/>
            <a:ext cx="201168" cy="118872"/>
          </a:xfrm>
          <a:prstGeom prst="rect">
            <a:avLst/>
          </a:prstGeom>
          <a:solidFill>
            <a:srgbClr val="1456F0"/>
          </a:solidFill>
          <a:ln/>
        </p:spPr>
      </p:sp>
      <p:sp>
        <p:nvSpPr>
          <p:cNvPr id="8" name="Text 6"/>
          <p:cNvSpPr/>
          <p:nvPr/>
        </p:nvSpPr>
        <p:spPr>
          <a:xfrm>
            <a:off x="7665415" y="1975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RNGD (1장·tp8)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402775" y="2048256"/>
            <a:ext cx="201168" cy="118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9677095" y="1975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RTX PRO 6000 (1대)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5528920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496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배치별 카드 전력 (W)</a:t>
            </a:r>
            <a:endParaRPr lang="en-US" sz="11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2816352"/>
          <a:ext cx="5254600" cy="168249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6205576" y="2377440"/>
            <a:ext cx="5528920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34176" y="24963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에너지효율 (tokens/s/W) — 높을수록 효율적</a:t>
            </a:r>
            <a:endParaRPr lang="en-US" sz="115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6297016" y="2816352"/>
          <a:ext cx="5254600" cy="168249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3"/>
          <p:cNvSpPr/>
          <p:nvPr/>
        </p:nvSpPr>
        <p:spPr>
          <a:xfrm>
            <a:off x="457200" y="4864608"/>
            <a:ext cx="3637178" cy="1399032"/>
          </a:xfrm>
          <a:prstGeom prst="roundRect">
            <a:avLst>
              <a:gd name="adj" fmla="val 849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5047488"/>
            <a:ext cx="64008" cy="1033272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19" name="Text 15"/>
          <p:cNvSpPr/>
          <p:nvPr/>
        </p:nvSpPr>
        <p:spPr>
          <a:xfrm>
            <a:off x="713232" y="5010912"/>
            <a:ext cx="317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56F0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1/3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713232" y="5596128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전력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13232" y="5888736"/>
            <a:ext cx="3134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RNGD ≈180W vs GPU ≈500W 평균 — 같은 일을 1/3 전력으로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277258" y="4864608"/>
            <a:ext cx="3637178" cy="1399032"/>
          </a:xfrm>
          <a:prstGeom prst="roundRect">
            <a:avLst>
              <a:gd name="adj" fmla="val 849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277258" y="5047488"/>
            <a:ext cx="64008" cy="1033272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24" name="Text 20"/>
          <p:cNvSpPr/>
          <p:nvPr/>
        </p:nvSpPr>
        <p:spPr>
          <a:xfrm>
            <a:off x="4533290" y="5010912"/>
            <a:ext cx="317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56F0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2.03x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4533290" y="5596128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효율 @ 저부하(b1)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533290" y="5888736"/>
            <a:ext cx="3134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tokens/s/W 0.190 vs 0.093 — 단일·소수 사용자에서 격차 최대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8097317" y="4864608"/>
            <a:ext cx="3637178" cy="1399032"/>
          </a:xfrm>
          <a:prstGeom prst="roundRect">
            <a:avLst>
              <a:gd name="adj" fmla="val 849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097317" y="5047488"/>
            <a:ext cx="64008" cy="1033272"/>
          </a:xfrm>
          <a:prstGeom prst="roundRect">
            <a:avLst>
              <a:gd name="adj" fmla="val 42857"/>
            </a:avLst>
          </a:prstGeom>
          <a:solidFill>
            <a:srgbClr val="3B82F6"/>
          </a:solidFill>
          <a:ln/>
        </p:spPr>
      </p:sp>
      <p:sp>
        <p:nvSpPr>
          <p:cNvPr id="29" name="Text 25"/>
          <p:cNvSpPr/>
          <p:nvPr/>
        </p:nvSpPr>
        <p:spPr>
          <a:xfrm>
            <a:off x="8353349" y="5010912"/>
            <a:ext cx="317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B82F6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1.15~1.7x</a:t>
            </a:r>
            <a:endParaRPr lang="en-US" sz="3000" dirty="0"/>
          </a:p>
        </p:txBody>
      </p:sp>
      <p:sp>
        <p:nvSpPr>
          <p:cNvPr id="30" name="Text 26"/>
          <p:cNvSpPr/>
          <p:nvPr/>
        </p:nvSpPr>
        <p:spPr>
          <a:xfrm>
            <a:off x="8353349" y="5596128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효율 @ 중부하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8353349" y="5888736"/>
            <a:ext cx="3134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b16~b32에서 RNGD가 와트당 1.6~2.0배. 고부하선 격차 축소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RESULT · LATENCY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7 /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results/report.md · TTFT p50 (b1~b32 구간)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TTFT — 중부하까진 RNGD가 더 빠르다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b8~b32에서 RNGD 첫 토큰이 더 빠름. 단 b64↑에서는 RNGD가 큐 포화로 급증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6858000" cy="4023360"/>
          </a:xfrm>
          <a:prstGeom prst="roundRect">
            <a:avLst>
              <a:gd name="adj" fmla="val 2955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368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TTFT p50 (초)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0" y="2423160"/>
            <a:ext cx="201168" cy="118872"/>
          </a:xfrm>
          <a:prstGeom prst="rect">
            <a:avLst/>
          </a:prstGeom>
          <a:solidFill>
            <a:srgbClr val="1456F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350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RNGD (1장·tp8)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12080" y="2423160"/>
            <a:ext cx="201168" cy="118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2350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RTX PRO 6000 (1대)</a:t>
            </a:r>
            <a:endParaRPr lang="en-US" sz="9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2715768"/>
          <a:ext cx="6583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7534656" y="2240280"/>
            <a:ext cx="4199839" cy="1243584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34656" y="2404872"/>
            <a:ext cx="64008" cy="91440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0" y="2377440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b8–b32  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RNGD 첫 토큰 빠름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772400" y="2697480"/>
            <a:ext cx="3724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RNGD 0.76~0.78s vs GPU 1.52~2.53s. 대화형 응답 체감 RNGD 우위(최대 3.25x).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7534656" y="3630168"/>
            <a:ext cx="4199839" cy="1243584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534656" y="3794760"/>
            <a:ext cx="64008" cy="914400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0" y="3767328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b64 이상  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RNGD 큐 포화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772400" y="4087368"/>
            <a:ext cx="3724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b64 RNGD 8.4s, b256 143s로 급증(1장 배치 한계). GPU는 b256도 15.6s.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7534656" y="5020056"/>
            <a:ext cx="4199839" cy="1243584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34656" y="5184648"/>
            <a:ext cx="64008" cy="91440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0" y="5157216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시사점  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적정 부하대가 핵심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772400" y="5477256"/>
            <a:ext cx="3724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RNGD 1장은 ~b32 이내 운영이 적합. 그 이상은 카드 추가 또는 GPU.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8 /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results/report.md · 표 2·3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종합 — raw vs 전력 정규화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raw 1:1에서는 GPU 우위. 블로그의 RNGD 우위는 '전력 정규화' 관점에서 봐야 한다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528920" cy="1874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" y="24323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(A) raw 최대 사용자 / SLO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4944" y="27980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SLO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20824" y="27980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RNGD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46704" y="27980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PRO6000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72584" y="27980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RNGD/GPU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318211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20 TPS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20824" y="318211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7.3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46704" y="318211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44.8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72584" y="318211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0.16x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" y="356616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30 TPS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20824" y="356616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46704" y="356616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19.1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72584" y="356616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" y="395020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40 TPS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20824" y="395020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46704" y="395020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72584" y="395020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05576" y="2286000"/>
            <a:ext cx="5528920" cy="1874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3320" y="2432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(B) 에너지효율 tokens/s/W (RNGD/GPU)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43320" y="28163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배치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29704" y="28163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16088" y="28163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8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802472" y="28163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16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588856" y="28163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375240" y="28163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64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161624" y="28163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256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43320" y="32735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5515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RNGD/GPU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229704" y="32735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2.03x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016088" y="32735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1.72x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802472" y="32735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1.62x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588856" y="32735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5515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1.33x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375240" y="32735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5515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1.07x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161624" y="32735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5515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1.08x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43320" y="3703320"/>
            <a:ext cx="507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저~중부하에서 RNGD가 와트당 1.6~2.0배 효율. 고부하에선 GPU 처리량이 커져 효율 격차 축소(~1.1x).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4379976"/>
            <a:ext cx="11277295" cy="1883664"/>
          </a:xfrm>
          <a:prstGeom prst="roundRect">
            <a:avLst>
              <a:gd name="adj" fmla="val 7767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77240" y="45628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6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왜 1:1 raw로는 블로그의 1.8~2x가 안 나오나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7240" y="4928616"/>
            <a:ext cx="3362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카드 수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77240" y="5276088"/>
            <a:ext cx="336285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BE6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블로그는 4x RNGD. 멀티카드는 단일스트림·처리량이 1장보다 크게 빠르다 → 30·40 SLO 도달, 사용자↑.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414418" y="4928616"/>
            <a:ext cx="3362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랙 전력 정규화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414418" y="5276088"/>
            <a:ext cx="336285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BE6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1.8~2x는 "normalized for rack power". 15kW 랙에 RNGD 서버 5대 vs GPU 2대 → 전력당 사용자에서 벌어짐.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051597" y="4928616"/>
            <a:ext cx="3362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per-card 효율은 입증됨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051597" y="5276088"/>
            <a:ext cx="336285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BE6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그럼에도 1장 실측에서 RNGD는 전력 1/3·와트당 최대 2배 → 블로그의 '효율' 논지 자체는 성립.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9 /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bench-blog · 1장 vs 1대 실측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결론 — 무엇을 증명했나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블로그의 '효율' 논지는 1장 실측으로도 성립. '1.8~2x 사용자'는 멀티카드+랙 전력에서 재현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528920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145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523744"/>
            <a:ext cx="64008" cy="1810512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87168"/>
            <a:ext cx="507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RNGD가 이기는 지점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2944368"/>
            <a:ext cx="498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62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전력 1/3 (≈180W vs ≈500W)</a:t>
            </a:r>
            <a:endParaRPr lang="en-US" sz="1200" dirty="0"/>
          </a:p>
          <a:p>
            <a:pPr marL="177800" indent="-177800">
              <a:lnSpc>
                <a:spcPct val="162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와트당 효율 최대 2.03배 (저~중부하)</a:t>
            </a:r>
            <a:endParaRPr lang="en-US" sz="1200" dirty="0"/>
          </a:p>
          <a:p>
            <a:pPr marL="177800" indent="-177800">
              <a:lnSpc>
                <a:spcPct val="162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b8~b32 TTFT 더 빠름 (최대 3.25배)</a:t>
            </a:r>
            <a:endParaRPr lang="en-US" sz="1200" dirty="0"/>
          </a:p>
          <a:p>
            <a:pPr marL="177800" indent="-177800">
              <a:lnSpc>
                <a:spcPct val="162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저전력·고밀도 → 랙당 더 많은 서버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05576" y="2286000"/>
            <a:ext cx="5528920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05576" y="2523744"/>
            <a:ext cx="64008" cy="1810512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79896" y="2487168"/>
            <a:ext cx="507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PRO 6000이 이기는 지점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16472" y="2944368"/>
            <a:ext cx="498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62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raw 처리량 최대 2.6배 (984 vs 377 tok/s)</a:t>
            </a:r>
            <a:endParaRPr lang="en-US" sz="1200" dirty="0"/>
          </a:p>
          <a:p>
            <a:pPr marL="177800" indent="-177800">
              <a:lnSpc>
                <a:spcPct val="162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단일스트림 1.5배 (38 vs 25 tok/s)</a:t>
            </a:r>
            <a:endParaRPr lang="en-US" sz="1200" dirty="0"/>
          </a:p>
          <a:p>
            <a:pPr marL="177800" indent="-177800">
              <a:lnSpc>
                <a:spcPct val="162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높은 SLO(30·40) 사용자 수</a:t>
            </a:r>
            <a:endParaRPr lang="en-US" sz="1200" dirty="0"/>
          </a:p>
          <a:p>
            <a:pPr marL="177800" indent="-177800">
              <a:lnSpc>
                <a:spcPct val="162000"/>
              </a:lnSpc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고부하(b64↑) 안정적 TTFT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791456"/>
            <a:ext cx="11277295" cy="1472184"/>
          </a:xfrm>
          <a:prstGeom prst="roundRect">
            <a:avLst>
              <a:gd name="adj" fmla="val 9938"/>
            </a:avLst>
          </a:prstGeom>
          <a:solidFill>
            <a:srgbClr val="181E25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992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C6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한 줄 결론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303520"/>
            <a:ext cx="105457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5E9E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단일 카드 raw 성능은 RTX PRO 6000이 빠르다. 하지만 RNGD는 같은 작업을 1/3 전력으로 처리해 와트당 효율이 최대 2배 — 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블로그가 강조한 '효율' 우위는 1장 실측으로도 방향이 확인된다.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5E9E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블로그의 1.8~2x '사용자 수'를 재현하려면 RNGD를 4장으로 묶고 랙 전력 기준으로 정규화해야 한다.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RNGD vs PRO6000</dc:creator>
  <cp:lastModifiedBy>RNGD vs PRO6000</cp:lastModifiedBy>
  <cp:revision>1</cp:revision>
  <dcterms:created xsi:type="dcterms:W3CDTF">2026-06-08T17:21:11Z</dcterms:created>
  <dcterms:modified xsi:type="dcterms:W3CDTF">2026-06-08T17:21:11Z</dcterms:modified>
</cp:coreProperties>
</file>