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RNGD 병렬화 — TP · PP · DP 구조 차이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텐서를 쪼개나(TP) · 레이어를 쪼개나(PP) · 모델을 복제하나(DP)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같은 4장(32 PE)이라도 '무엇을' 나누느냐가 다릅니다. TP는 한 연산을, PP는 레이어를, DP는 요청을 나눕니다.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24986" cy="4334256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24986" cy="475488"/>
          </a:xfrm>
          <a:prstGeom prst="roundRect">
            <a:avLst>
              <a:gd name="adj" fmla="val 17308"/>
            </a:avLst>
          </a:prstGeom>
          <a:solidFill>
            <a:srgbClr val="1456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56816"/>
            <a:ext cx="3624986" cy="164592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34421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TP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· 텐서 병렬 (Tensor Parallel)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83354" y="1645920"/>
            <a:ext cx="3624986" cy="4334256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83354" y="1645920"/>
            <a:ext cx="3624986" cy="475488"/>
          </a:xfrm>
          <a:prstGeom prst="roundRect">
            <a:avLst>
              <a:gd name="adj" fmla="val 17308"/>
            </a:avLst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4283354" y="1956816"/>
            <a:ext cx="3624986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374794" y="1645920"/>
            <a:ext cx="34421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PP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· 파이프라인 병렬 (Pipeline Parallel)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09509" y="1645920"/>
            <a:ext cx="3624986" cy="4334256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9509" y="1645920"/>
            <a:ext cx="3624986" cy="475488"/>
          </a:xfrm>
          <a:prstGeom prst="roundRect">
            <a:avLst>
              <a:gd name="adj" fmla="val 17308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109509" y="1956816"/>
            <a:ext cx="3624986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00949" y="1645920"/>
            <a:ext cx="34421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DP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· 데이터 병렬 (Data Parallel)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249424"/>
            <a:ext cx="32592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한 레이어의 가중치 행렬 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2523744"/>
            <a:ext cx="3076346" cy="45720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0607" y="2523744"/>
            <a:ext cx="0" cy="457200"/>
          </a:xfrm>
          <a:prstGeom prst="line">
            <a:avLst/>
          </a:prstGeom>
          <a:noFill/>
          <a:ln w="12700">
            <a:solidFill>
              <a:srgbClr val="1456F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269693" y="2523744"/>
            <a:ext cx="0" cy="457200"/>
          </a:xfrm>
          <a:prstGeom prst="line">
            <a:avLst/>
          </a:prstGeom>
          <a:noFill/>
          <a:ln w="12700">
            <a:solidFill>
              <a:srgbClr val="1456F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038780" y="2523744"/>
            <a:ext cx="0" cy="457200"/>
          </a:xfrm>
          <a:prstGeom prst="line">
            <a:avLst/>
          </a:prstGeom>
          <a:noFill/>
          <a:ln w="12700">
            <a:solidFill>
              <a:srgbClr val="1456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31520" y="2523744"/>
            <a:ext cx="769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0607" y="2523744"/>
            <a:ext cx="769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69693" y="2523744"/>
            <a:ext cx="769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38780" y="2523744"/>
            <a:ext cx="769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16063" y="2999232"/>
            <a:ext cx="0" cy="310896"/>
          </a:xfrm>
          <a:prstGeom prst="line">
            <a:avLst/>
          </a:prstGeom>
          <a:noFill/>
          <a:ln w="22225">
            <a:solidFill>
              <a:srgbClr val="1456F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885150" y="2999232"/>
            <a:ext cx="0" cy="310896"/>
          </a:xfrm>
          <a:prstGeom prst="line">
            <a:avLst/>
          </a:prstGeom>
          <a:noFill/>
          <a:ln w="22225">
            <a:solidFill>
              <a:srgbClr val="1456F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654237" y="2999232"/>
            <a:ext cx="0" cy="310896"/>
          </a:xfrm>
          <a:prstGeom prst="line">
            <a:avLst/>
          </a:prstGeom>
          <a:noFill/>
          <a:ln w="22225">
            <a:solidFill>
              <a:srgbClr val="1456F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23323" y="2999232"/>
            <a:ext cx="0" cy="310896"/>
          </a:xfrm>
          <a:prstGeom prst="line">
            <a:avLst/>
          </a:prstGeom>
          <a:noFill/>
          <a:ln w="22225">
            <a:solidFill>
              <a:srgbClr val="1456F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1520" y="3346704"/>
            <a:ext cx="3076346" cy="841248"/>
          </a:xfrm>
          <a:prstGeom prst="roundRect">
            <a:avLst>
              <a:gd name="adj" fmla="val 6522"/>
            </a:avLst>
          </a:prstGeom>
          <a:solidFill>
            <a:srgbClr val="F0F0F0"/>
          </a:solidFill>
          <a:ln w="12700">
            <a:solidFill>
              <a:srgbClr val="CFD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364992"/>
            <a:ext cx="3076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NPU 1장 (8 PE)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68680" y="3639312"/>
            <a:ext cx="631927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3639312"/>
            <a:ext cx="631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PE0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592047" y="3639312"/>
            <a:ext cx="631927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92047" y="3639312"/>
            <a:ext cx="631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PE1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315413" y="3639312"/>
            <a:ext cx="631927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15413" y="3639312"/>
            <a:ext cx="631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PE2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038780" y="3639312"/>
            <a:ext cx="631927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8780" y="3639312"/>
            <a:ext cx="631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PE3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0080" y="4334256"/>
            <a:ext cx="32592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행렬을 PE 수만큼 쪼개 동시 계산</a:t>
            </a:r>
            <a:endParaRPr lang="en-US" sz="8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(예: tp8 → 8조각). 한 요청을 여러 PE가 분담 → 가속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55768" y="22494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입력 토큰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95848" y="2468880"/>
            <a:ext cx="0" cy="164592"/>
          </a:xfrm>
          <a:prstGeom prst="line">
            <a:avLst/>
          </a:prstGeom>
          <a:noFill/>
          <a:ln w="2222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740554" y="2651760"/>
            <a:ext cx="2710586" cy="566928"/>
          </a:xfrm>
          <a:prstGeom prst="roundRect">
            <a:avLst>
              <a:gd name="adj" fmla="val 9677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40554" y="2651760"/>
            <a:ext cx="2710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카드 0 — Stage 0
</a:t>
            </a:r>
            <a:pPr algn="ctr" indent="0" marL="0">
              <a:buNone/>
            </a:pPr>
            <a:r>
              <a:rPr lang="en-US" sz="8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Layer 0–23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95848" y="3236976"/>
            <a:ext cx="0" cy="274320"/>
          </a:xfrm>
          <a:prstGeom prst="line">
            <a:avLst/>
          </a:prstGeom>
          <a:noFill/>
          <a:ln w="2222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740554" y="3529584"/>
            <a:ext cx="2710586" cy="566928"/>
          </a:xfrm>
          <a:prstGeom prst="roundRect">
            <a:avLst>
              <a:gd name="adj" fmla="val 9677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40554" y="3529584"/>
            <a:ext cx="2710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카드 1 — Stage 1
</a:t>
            </a:r>
            <a:pPr algn="ctr" indent="0" marL="0">
              <a:buNone/>
            </a:pPr>
            <a:r>
              <a:rPr lang="en-US" sz="8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Layer 24–47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95848" y="4114800"/>
            <a:ext cx="0" cy="164592"/>
          </a:xfrm>
          <a:prstGeom prst="line">
            <a:avLst/>
          </a:prstGeom>
          <a:noFill/>
          <a:ln w="2222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5455768" y="4279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출력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466234" y="4572000"/>
            <a:ext cx="32592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레이어를 스테이지로 나눠 카드별 배치.</a:t>
            </a:r>
            <a:endParaRPr lang="en-US" sz="8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토큰이 카드→카드 순차 통과 (1장 초과 모델 적재용)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475269" y="2468880"/>
            <a:ext cx="2893466" cy="457200"/>
          </a:xfrm>
          <a:prstGeom prst="roundRect">
            <a:avLst>
              <a:gd name="adj" fmla="val 12000"/>
            </a:avLst>
          </a:prstGeom>
          <a:solidFill>
            <a:srgbClr val="E8FFE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75269" y="2468880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라우터 (요청 분배 · round-robin)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922002" y="2926080"/>
            <a:ext cx="-892531" cy="475488"/>
          </a:xfrm>
          <a:prstGeom prst="line">
            <a:avLst/>
          </a:prstGeom>
          <a:noFill/>
          <a:ln w="2222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922002" y="2926080"/>
            <a:ext cx="892531" cy="475488"/>
          </a:xfrm>
          <a:prstGeom prst="line">
            <a:avLst/>
          </a:prstGeom>
          <a:noFill/>
          <a:ln w="2222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338109" y="3419856"/>
            <a:ext cx="1382725" cy="877824"/>
          </a:xfrm>
          <a:prstGeom prst="roundRect">
            <a:avLst>
              <a:gd name="adj" fmla="val 6250"/>
            </a:avLst>
          </a:prstGeom>
          <a:solidFill>
            <a:srgbClr val="E8FFE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38109" y="3419856"/>
            <a:ext cx="138272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복제본 0
</a:t>
            </a:r>
            <a:pPr algn="ctr" indent="0" marL="0">
              <a:buNone/>
            </a:pPr>
            <a:r>
              <a:rPr lang="en-US" sz="8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전체 모델 (npu:0)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123170" y="3419856"/>
            <a:ext cx="1382725" cy="877824"/>
          </a:xfrm>
          <a:prstGeom prst="roundRect">
            <a:avLst>
              <a:gd name="adj" fmla="val 6250"/>
            </a:avLst>
          </a:prstGeom>
          <a:solidFill>
            <a:srgbClr val="E8FFE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23170" y="3419856"/>
            <a:ext cx="138272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복제본 1
</a:t>
            </a:r>
            <a:pPr algn="ctr" indent="0" marL="0">
              <a:buNone/>
            </a:pPr>
            <a:r>
              <a:rPr lang="en-US" sz="8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전체 모델 (npu:1)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292389" y="4425696"/>
            <a:ext cx="32592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같은 아티팩트를 통째로 복제.</a:t>
            </a:r>
            <a:endParaRPr lang="en-US" sz="8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요청을 나눠 처리 → 동시 처리량 ≈ N배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66928" y="5138928"/>
            <a:ext cx="34055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● </a:t>
            </a:r>
            <a:pPr algn="l" indent="0" marL="0">
              <a:buNone/>
            </a:pPr>
            <a:r>
              <a:rPr lang="en-US" sz="8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빌드 때 고정 (바이너리에 박힘 → serve가 못 바꿈)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66928" y="5390388"/>
            <a:ext cx="34055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● </a:t>
            </a:r>
            <a:pPr algn="l" indent="0" marL="0">
              <a:buNone/>
            </a:pPr>
            <a:r>
              <a:rPr lang="en-US" sz="8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단일 요청 가속 O (한 연산을 PE가 분담)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66928" y="5641848"/>
            <a:ext cx="34055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● </a:t>
            </a:r>
            <a:pPr algn="l" indent="0" marL="0">
              <a:buNone/>
            </a:pPr>
            <a:r>
              <a:rPr lang="en-US" sz="8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RNGD 1장 = 8 PE  ·  tp≤8 = 1장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393082" y="5138928"/>
            <a:ext cx="34055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● </a:t>
            </a:r>
            <a:pPr algn="l" indent="0" marL="0">
              <a:buNone/>
            </a:pPr>
            <a:r>
              <a:rPr lang="en-US" sz="8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빌드 + serve 둘 다 (serve = 블록 재그룹)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393082" y="5390388"/>
            <a:ext cx="34055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● </a:t>
            </a:r>
            <a:pPr algn="l" indent="0" marL="0">
              <a:buNone/>
            </a:pPr>
            <a:r>
              <a:rPr lang="en-US" sz="8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1장 초과 모델 적재 · KV 풀 확장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393082" y="5641848"/>
            <a:ext cx="34055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● </a:t>
            </a:r>
            <a:pPr algn="l" indent="0" marL="0">
              <a:buNone/>
            </a:pPr>
            <a:r>
              <a:rPr lang="en-US" sz="8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⚠ 단일 요청 가속 아님 (파이프라인 버블)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219237" y="5138928"/>
            <a:ext cx="34055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● </a:t>
            </a:r>
            <a:pPr algn="l" indent="0" marL="0">
              <a:buNone/>
            </a:pPr>
            <a:r>
              <a:rPr lang="en-US" sz="8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serve 런타임만 (재컴파일 불필요)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219237" y="5390388"/>
            <a:ext cx="34055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● </a:t>
            </a:r>
            <a:pPr algn="l" indent="0" marL="0">
              <a:buNone/>
            </a:pPr>
            <a:r>
              <a:rPr lang="en-US" sz="8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 요청 처리량 ↑ (복제 수만큼)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219237" y="5641848"/>
            <a:ext cx="34055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● </a:t>
            </a:r>
            <a:pPr algn="l" indent="0" marL="0">
              <a:buNone/>
            </a:pPr>
            <a:r>
              <a:rPr lang="en-US" sz="8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아티팩트엔 안 박힘 → 가용 PE로 자동 결정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57200" y="5998464"/>
            <a:ext cx="11277295" cy="384048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" y="5998464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예) RNGD 4장(32 PE): </a:t>
            </a:r>
            <a:pPr algn="ctr"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tp8(1장 분할) × dp4(4장 복제) = 32 PE 전부 사용</a:t>
            </a:r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·   dp × pp ≤ 카드 수   ·   </a:t>
            </a:r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tp는 빌드 때, pp·dp는 serve 때 조정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57200" y="651052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개념: TP=한 연산(행렬)을 PE들이 분담 / PP=레이어를 카드별 스테이지로 분할(순차) / DP=모델 복제+라우터로 요청 분산. 근거: furiosa-llm 2026.2.0 소스(api.py·artifact/types/config.py·device.py) 본 세션 검증.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Parallelism</dc:creator>
  <cp:lastModifiedBy>RNGD Parallelism</cp:lastModifiedBy>
  <cp:revision>1</cp:revision>
  <dcterms:created xsi:type="dcterms:W3CDTF">2026-06-11T07:58:24Z</dcterms:created>
  <dcterms:modified xsi:type="dcterms:W3CDTF">2026-06-11T07:58:24Z</dcterms:modified>
</cp:coreProperties>
</file>