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가중치는 serve 로그의 'Total size of parameters loaded' 실측이고, 디스크는 HF 캐시 폴더 용량이다. 파라미터 수는 모델 이름에 이미 들어 있다 — A3B, A23B 는 MoE 의 활성 파라미터다(전체 30B 중 3B 가 토큰마다 동작). 카드 한 장의 HBM 은 47.5 GiB 이므로, 가중치가 그보다 크면 여러 장에 나눠 올린다. 컨텍스트는 토큰 수이고 프롬프트와 생성분을 합쳐서 센다. 컨텍스트는 라우터 REGISTRY 의 ctx 로, 모델이 지원하는 최대와 다를 수 있다 — Qwen2.5-0.5B 만 모델은 32768 을 지원하는데 4096 으로 서빙한다. Solar-Open-100B 은 배포명이 NVFP4A16(활성 16비트)인데 config 의 input_activations 는 4비트로 적혀 있어 이름과 어긋난다. 표에는 config 값을 적었다.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잘리는 요청 = 그 한도보다 길게 나온 요청 + 측정 때부터 스스로 못 멈춘 요청. 시간 합은 전 모델의 단일 요청 네 개를 그 한도로 끊었을 때의 소요를 조각 시각에서 계산한 값이다. 공식 권장 출력 길이는 이보다 훨씬 크다(Qwen3 32768, Qwen3-Coder 65536, A3B Instruct 2507 16384, K-EXAONE 사고 모드 16384). 이 네 짧은 프롬프트에는 그만큼이 필요 없다는 뜻이지 어려운 문제에 충분하다는 뜻은 아니다.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오는 시각을 전부 기록해 조각 사이 간격을 봤다. 정상 간격으로 계산한 속도는 08-29 속도와 같다. 모델이 느려진 것이 아니라 스텝 사이에 0.1~1초씩 멈추는 간격이 끼어든 것이다. 멈춤은 몇 분 단위로 밀려왔다 빠진다. 같은 모델도 시간대에 따라 0회에서 수천 회까지 달랐고, 동시 요청이 가장 크게 다쳤다. A3B Instruct 2507 의 동시 4요청은 16:49 에 35 tok/s 였는데 19:3x 에 다시 재니 141~143 tok/s 로 08-29(142)와 같았다. 서버 로그의 생성량도 같은 시간에 떨어졌으니 서버 쪽 멈춤이다. smi 호출, max_tokens, 라우터, CPU 경합, 카드 한 장의 열화, 온도, 노드 메모리 부족은 실험으로 배제했다. 08-29 이후 바뀐 것은 09-01 재부팅 때 커널이 6.17 에서 7.0 으로 올라간 것이다.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적재 = serve 로그의 Loading LLM 부터 기동 완료까지. TTFT = 첫 토큰까지(초, 중앙값). tok/s = 첫 토큰 이후 생성 속도(중앙값). 동시4 = 같은 질문 4개 동시 요청의 합계 속도. 첫응답 = 가장 짧은 프롬프트가 끝날 때까지. 최장 출력 = 단일 요청 네 개 중 가장 긴 출력 토큰. Qwen3-30B-A3B-FP8 은 배포 FXB 번들이 가중치를 30.2 GiB 다 읽은 뒤 embed_tokens.weight 가 F32 인데 EDF 는 bf16 을 기대해 죽는다(50회 재현). 다운로드 문제가 아니라 배포본 결함이다. K-EXAONE 236B 는 적재 중 서버 메모리가 바닥나 OOM 으로 serve 가 죽었다. 가중치 136.6 GiB 가 서버 메모리 125 GiB 보다 크고, 적재 중 serve 는 가중치의 약 2배를 호스트에 든다. 08-29 판(1024 한도)에서는 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답변 원문 전체는 results_len/&lt;모델&gt;.json 에 저장돼 있다. 프롬프트 4종 중 첫 번째(사실 질문)의 답이다. 토큰 수에는 사고 토큰이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0, max_tokens 16,384, 스트리밍. 답변 원문은 이어지는 절에 그대로 싣는다.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5120640"/>
            <a:ext cx="12191695" cy="1737360"/>
          </a:xfrm>
          <a:prstGeom prst="rect">
            <a:avLst/>
          </a:prstGeom>
          <a:solidFill>
            <a:srgbClr val="0633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914400" y="1920240"/>
            <a:ext cx="10362895" cy="1371600"/>
          </a:xfrm>
          <a:prstGeom prst="rect">
            <a:avLst/>
          </a:prstGeom>
          <a:noFill/>
        </p:spPr>
        <p:txBody>
          <a:bodyPr wrap="square" anchor="t" lIns="0" rIns="0" tIns="0" bIns="0">
            <a:spAutoFit/>
          </a:bodyPr>
          <a:lstStyle/>
          <a:p>
            <a:pPr algn="l">
              <a:lnSpc>
                <a:spcPct val="118000"/>
              </a:lnSpc>
              <a:spcBef>
                <a:spcPts val="0"/>
              </a:spcBef>
              <a:spcAft>
                <a:spcPts val="0"/>
              </a:spcAft>
            </a:pPr>
            <a:r>
              <a:rPr sz="4600" b="1" i="0">
                <a:solidFill>
                  <a:srgbClr val="FFFFFF"/>
                </a:solidFill>
                <a:latin typeface="Segoe UI"/>
                <a:ea typeface="맑은 고딕"/>
                <a:cs typeface="맑은 고딕"/>
              </a:rPr>
              <a:t>RNGD 서버에서 쓸 수 있는 모델</a:t>
            </a:r>
          </a:p>
        </p:txBody>
      </p:sp>
      <p:sp>
        <p:nvSpPr>
          <p:cNvPr id="5" name="TextBox 4"/>
          <p:cNvSpPr txBox="1"/>
          <p:nvPr/>
        </p:nvSpPr>
        <p:spPr>
          <a:xfrm>
            <a:off x="914400" y="3383280"/>
            <a:ext cx="10362895" cy="914400"/>
          </a:xfrm>
          <a:prstGeom prst="rect">
            <a:avLst/>
          </a:prstGeom>
          <a:noFill/>
        </p:spPr>
        <p:txBody>
          <a:bodyPr wrap="square" anchor="t" lIns="0" rIns="0" tIns="0" bIns="0">
            <a:spAutoFit/>
          </a:bodyPr>
          <a:lstStyle/>
          <a:p>
            <a:pPr algn="l">
              <a:lnSpc>
                <a:spcPct val="118000"/>
              </a:lnSpc>
              <a:spcBef>
                <a:spcPts val="0"/>
              </a:spcBef>
              <a:spcAft>
                <a:spcPts val="400"/>
              </a:spcAft>
            </a:pPr>
            <a:r>
              <a:rPr sz="1400" b="0" i="0">
                <a:solidFill>
                  <a:srgbClr val="C9DEF7"/>
                </a:solidFill>
                <a:latin typeface="Segoe UI"/>
                <a:ea typeface="맑은 고딕"/>
                <a:cs typeface="맑은 고딕"/>
              </a:rPr>
              <a:t>채팅 모델 전종을 같은 입력, 같은 출력 한도로 재 본 처리량, 지연, 그리고 실제 답변</a:t>
            </a:r>
          </a:p>
        </p:txBody>
      </p:sp>
      <p:sp>
        <p:nvSpPr>
          <p:cNvPr id="6" name="TextBox 5"/>
          <p:cNvSpPr txBox="1"/>
          <p:nvPr/>
        </p:nvSpPr>
        <p:spPr>
          <a:xfrm>
            <a:off x="914400" y="5623560"/>
            <a:ext cx="10362895" cy="731520"/>
          </a:xfrm>
          <a:prstGeom prst="rect">
            <a:avLst/>
          </a:prstGeom>
          <a:noFill/>
        </p:spPr>
        <p:txBody>
          <a:bodyPr wrap="square" anchor="t" lIns="0" rIns="0" tIns="0" bIns="0">
            <a:spAutoFit/>
          </a:bodyPr>
          <a:lstStyle/>
          <a:p>
            <a:pPr algn="l">
              <a:lnSpc>
                <a:spcPct val="118000"/>
              </a:lnSpc>
              <a:spcBef>
                <a:spcPts val="0"/>
              </a:spcBef>
              <a:spcAft>
                <a:spcPts val="0"/>
              </a:spcAft>
            </a:pPr>
            <a:r>
              <a:rPr sz="1300" b="0" i="0">
                <a:solidFill>
                  <a:srgbClr val="9EC1EB"/>
                </a:solidFill>
                <a:latin typeface="Segoe UI"/>
                <a:ea typeface="맑은 고딕"/>
                <a:cs typeface="맑은 고딕"/>
              </a:rPr>
              <a:t>RNGD 4장 서버, 2026-09-11 실측, max_tokens 16,384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모델 목록과 카드 점유</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1: 라우터에 등록된 채팅 모델 전종과 각각이 차지하는 카드 수</a:t>
            </a:r>
          </a:p>
        </p:txBody>
      </p:sp>
      <p:grpSp>
        <p:nvGrpSpPr>
          <p:cNvPr id="8" name="도해 lineup"/>
          <p:cNvGrpSpPr/>
          <p:nvPr/>
        </p:nvGrpSpPr>
        <p:grpSpPr>
          <a:xfrm>
            <a:off x="566928" y="1554480"/>
            <a:ext cx="11057839" cy="3118470"/>
            <a:chOff x="566928" y="1554480"/>
            <a:chExt cx="11057839" cy="3118470"/>
          </a:xfrm>
        </p:grpSpPr>
        <p:sp>
          <p:nvSpPr>
            <p:cNvPr id="9" name="TextBox 8"/>
            <p:cNvSpPr txBox="1"/>
            <p:nvPr/>
          </p:nvSpPr>
          <p:spPr>
            <a:xfrm>
              <a:off x="566928" y="1554480"/>
              <a:ext cx="3118464"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카드 4장을 다 쓰는 모델, 한 번에 하나만 뜬다</a:t>
              </a:r>
            </a:p>
          </p:txBody>
        </p:sp>
        <p:sp>
          <p:nvSpPr>
            <p:cNvPr id="10" name="Rounded Rectangle 9"/>
            <p:cNvSpPr/>
            <p:nvPr/>
          </p:nvSpPr>
          <p:spPr>
            <a:xfrm>
              <a:off x="566928" y="1892893"/>
              <a:ext cx="1976255"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3767"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067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7574"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14478"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8091" y="1949517"/>
              <a:ext cx="971768"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gpt-oss 120B</a:t>
              </a:r>
            </a:p>
          </p:txBody>
        </p:sp>
        <p:sp>
          <p:nvSpPr>
            <p:cNvPr id="16" name="Rounded Rectangle 15"/>
            <p:cNvSpPr/>
            <p:nvPr/>
          </p:nvSpPr>
          <p:spPr>
            <a:xfrm>
              <a:off x="2650022" y="1892893"/>
              <a:ext cx="2203221"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5686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3765"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50668"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97572"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71185" y="1949517"/>
              <a:ext cx="1264106"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Solar-Open 100B</a:t>
              </a:r>
            </a:p>
          </p:txBody>
        </p:sp>
        <p:sp>
          <p:nvSpPr>
            <p:cNvPr id="22" name="Rounded Rectangle 21"/>
            <p:cNvSpPr/>
            <p:nvPr/>
          </p:nvSpPr>
          <p:spPr>
            <a:xfrm>
              <a:off x="4960082" y="1892893"/>
              <a:ext cx="2051910"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6692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3825"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60728"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7632"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81245" y="1949517"/>
              <a:ext cx="1181399"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K-EXAONE 236B</a:t>
              </a:r>
            </a:p>
          </p:txBody>
        </p:sp>
        <p:sp>
          <p:nvSpPr>
            <p:cNvPr id="28" name="Rounded Rectangle 27"/>
            <p:cNvSpPr/>
            <p:nvPr/>
          </p:nvSpPr>
          <p:spPr>
            <a:xfrm>
              <a:off x="7118831" y="1892893"/>
              <a:ext cx="2051910"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25670"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72574"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19477"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6638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39995" y="1949517"/>
              <a:ext cx="1060498"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Llama 3.3 70B</a:t>
              </a:r>
            </a:p>
          </p:txBody>
        </p:sp>
        <p:sp>
          <p:nvSpPr>
            <p:cNvPr id="34" name="Rounded Rectangle 33"/>
            <p:cNvSpPr/>
            <p:nvPr/>
          </p:nvSpPr>
          <p:spPr>
            <a:xfrm>
              <a:off x="9277580" y="1892893"/>
              <a:ext cx="1749289"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384419"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1323"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78227"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25130"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98744" y="1949517"/>
              <a:ext cx="864528"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 32B</a:t>
              </a:r>
            </a:p>
          </p:txBody>
        </p:sp>
        <p:sp>
          <p:nvSpPr>
            <p:cNvPr id="40" name="Rounded Rectangle 39"/>
            <p:cNvSpPr/>
            <p:nvPr/>
          </p:nvSpPr>
          <p:spPr>
            <a:xfrm>
              <a:off x="566928" y="2306894"/>
              <a:ext cx="2127566"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73767"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0671"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67574"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14478"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8091" y="2363519"/>
              <a:ext cx="1201672"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EXAONE 4.0 32B</a:t>
              </a:r>
            </a:p>
          </p:txBody>
        </p:sp>
        <p:sp>
          <p:nvSpPr>
            <p:cNvPr id="46" name="Rounded Rectangle 45"/>
            <p:cNvSpPr/>
            <p:nvPr/>
          </p:nvSpPr>
          <p:spPr>
            <a:xfrm>
              <a:off x="2801333" y="2306894"/>
              <a:ext cx="1976255"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908172"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055075"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201979"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348883"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22496" y="2363519"/>
              <a:ext cx="1091494"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Qwen3-VL 32B</a:t>
              </a:r>
            </a:p>
          </p:txBody>
        </p:sp>
        <p:sp>
          <p:nvSpPr>
            <p:cNvPr id="52" name="Rounded Rectangle 51"/>
            <p:cNvSpPr/>
            <p:nvPr/>
          </p:nvSpPr>
          <p:spPr>
            <a:xfrm>
              <a:off x="4884427" y="2306894"/>
              <a:ext cx="2203221"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991266"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138169"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285073"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31977"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05590" y="2363519"/>
              <a:ext cx="1351220"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Qwen3-Coder 30B</a:t>
              </a:r>
            </a:p>
          </p:txBody>
        </p:sp>
        <p:sp>
          <p:nvSpPr>
            <p:cNvPr id="58" name="Rounded Rectangle 57"/>
            <p:cNvSpPr/>
            <p:nvPr/>
          </p:nvSpPr>
          <p:spPr>
            <a:xfrm>
              <a:off x="7194487" y="2306894"/>
              <a:ext cx="2354532"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01326"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48229"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595133"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742037"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15650" y="2363519"/>
              <a:ext cx="1316110"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A3B Instruct 2507</a:t>
              </a:r>
            </a:p>
          </p:txBody>
        </p:sp>
        <p:sp>
          <p:nvSpPr>
            <p:cNvPr id="64" name="Rounded Rectangle 63"/>
            <p:cNvSpPr/>
            <p:nvPr/>
          </p:nvSpPr>
          <p:spPr>
            <a:xfrm>
              <a:off x="566928" y="2720895"/>
              <a:ext cx="2354532"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73767"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20671"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67574"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14478"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88091" y="2777520"/>
              <a:ext cx="1387064"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A3B Thinking 2507</a:t>
              </a:r>
            </a:p>
          </p:txBody>
        </p:sp>
        <p:sp>
          <p:nvSpPr>
            <p:cNvPr id="70" name="Rounded Rectangle 69"/>
            <p:cNvSpPr/>
            <p:nvPr/>
          </p:nvSpPr>
          <p:spPr>
            <a:xfrm>
              <a:off x="3028299" y="2720895"/>
              <a:ext cx="1597978"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135138"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282041"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428945"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575849"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749462" y="2777520"/>
              <a:ext cx="640500"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A3B 30B</a:t>
              </a:r>
            </a:p>
          </p:txBody>
        </p:sp>
        <p:sp>
          <p:nvSpPr>
            <p:cNvPr id="76" name="TextBox 75"/>
            <p:cNvSpPr txBox="1"/>
            <p:nvPr/>
          </p:nvSpPr>
          <p:spPr>
            <a:xfrm>
              <a:off x="566928" y="3119138"/>
              <a:ext cx="4465644"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네모 넷이 카드 넉 장이다, 다 칠해져 있으면 그 모델 하나가 서버를 독차지한다</a:t>
              </a:r>
            </a:p>
          </p:txBody>
        </p:sp>
        <p:sp>
          <p:nvSpPr>
            <p:cNvPr id="77" name="TextBox 76"/>
            <p:cNvSpPr txBox="1"/>
            <p:nvPr/>
          </p:nvSpPr>
          <p:spPr>
            <a:xfrm>
              <a:off x="566928" y="3450873"/>
              <a:ext cx="3001128"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카드 한 장이면 되는 모델, 넷까지 같이 뜬다</a:t>
              </a:r>
            </a:p>
          </p:txBody>
        </p:sp>
        <p:sp>
          <p:nvSpPr>
            <p:cNvPr id="78" name="Rounded Rectangle 77"/>
            <p:cNvSpPr/>
            <p:nvPr/>
          </p:nvSpPr>
          <p:spPr>
            <a:xfrm>
              <a:off x="566928" y="3749221"/>
              <a:ext cx="1976255"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73767"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20671"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67574"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114478"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288091" y="3805845"/>
              <a:ext cx="973824"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Llama 3.1 8B</a:t>
              </a:r>
            </a:p>
          </p:txBody>
        </p:sp>
        <p:sp>
          <p:nvSpPr>
            <p:cNvPr id="84" name="Rounded Rectangle 83"/>
            <p:cNvSpPr/>
            <p:nvPr/>
          </p:nvSpPr>
          <p:spPr>
            <a:xfrm>
              <a:off x="2650022" y="3749221"/>
              <a:ext cx="1673633"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2756861"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903765"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050668"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197572"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71185" y="3805845"/>
              <a:ext cx="777855"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 8B</a:t>
              </a:r>
            </a:p>
          </p:txBody>
        </p:sp>
        <p:sp>
          <p:nvSpPr>
            <p:cNvPr id="90" name="Rounded Rectangle 89"/>
            <p:cNvSpPr/>
            <p:nvPr/>
          </p:nvSpPr>
          <p:spPr>
            <a:xfrm>
              <a:off x="4430494" y="3749221"/>
              <a:ext cx="1673633"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537333"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4684237"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831141"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978044"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151658" y="3805845"/>
              <a:ext cx="777855"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 4B</a:t>
              </a:r>
            </a:p>
          </p:txBody>
        </p:sp>
        <p:sp>
          <p:nvSpPr>
            <p:cNvPr id="96" name="Rounded Rectangle 95"/>
            <p:cNvSpPr/>
            <p:nvPr/>
          </p:nvSpPr>
          <p:spPr>
            <a:xfrm>
              <a:off x="6210967" y="3749221"/>
              <a:ext cx="1976255"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317806"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464709"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611613"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758517"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932130" y="3805845"/>
              <a:ext cx="1046689"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Qwen2.5 0.5B</a:t>
              </a:r>
            </a:p>
          </p:txBody>
        </p:sp>
        <p:sp>
          <p:nvSpPr>
            <p:cNvPr id="102" name="TextBox 101"/>
            <p:cNvSpPr txBox="1"/>
            <p:nvPr/>
          </p:nvSpPr>
          <p:spPr>
            <a:xfrm>
              <a:off x="566928" y="4147463"/>
              <a:ext cx="5075909"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한 칸만 칠해져 있으니 넷을 나란히 올릴 수 있다, 여럿이 각자 다른 모델을 쓸 때 유리하다</a:t>
              </a:r>
            </a:p>
          </p:txBody>
        </p:sp>
        <p:sp>
          <p:nvSpPr>
            <p:cNvPr id="103" name="TextBox 102"/>
            <p:cNvSpPr txBox="1"/>
            <p:nvPr/>
          </p:nvSpPr>
          <p:spPr>
            <a:xfrm>
              <a:off x="566928" y="4460234"/>
              <a:ext cx="3796578"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채팅 모델 15종이다, 이 밖에 임베딩과 리랭커가 하나씩 더 있다</a:t>
              </a:r>
            </a:p>
          </p:txBody>
        </p:sp>
        <p:sp>
          <p:nvSpPr>
            <p:cNvPr id="104" name="TextBox 103"/>
            <p:cNvSpPr txBox="1"/>
            <p:nvPr/>
          </p:nvSpPr>
          <p:spPr>
            <a:xfrm>
              <a:off x="9618410" y="4467980"/>
              <a:ext cx="2006357"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라우터 :8400 의 /router/models</a:t>
              </a:r>
            </a:p>
          </p:txBody>
        </p:sp>
      </p:grpSp>
      <p:sp>
        <p:nvSpPr>
          <p:cNvPr id="105" name="TextBox 104"/>
          <p:cNvSpPr txBox="1"/>
          <p:nvPr/>
        </p:nvSpPr>
        <p:spPr>
          <a:xfrm>
            <a:off x="566928" y="4910694"/>
            <a:ext cx="11057839" cy="1362090"/>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라우터(:8400)에 채팅 모델 15종이 등록돼 있다. 이 밖에 임베딩과 리랭커가 하나씩 더 있지만 대화용이 아니라 이 정리에서는 뺐다</a:t>
            </a:r>
          </a:p>
          <a:p>
            <a:pPr algn="l">
              <a:lnSpc>
                <a:spcPct val="118000"/>
              </a:lnSpc>
              <a:spcBef>
                <a:spcPts val="600"/>
              </a:spcBef>
              <a:spcAft>
                <a:spcPts val="200"/>
              </a:spcAft>
            </a:pPr>
            <a:r>
              <a:rPr sz="1200" b="0" i="0">
                <a:solidFill>
                  <a:srgbClr val="16202C"/>
                </a:solidFill>
                <a:latin typeface="Segoe UI"/>
                <a:ea typeface="맑은 고딕"/>
                <a:cs typeface="맑은 고딕"/>
              </a:rPr>
              <a:t>▪  열한 종은 카드 넉 장을 통째로 쓴다. 그래서 그중 하나만 떠 있을 수 있고, 다른 것을 부르면 쓰던 것을 내리고 새로 올린다</a:t>
            </a:r>
          </a:p>
          <a:p>
            <a:pPr algn="l">
              <a:lnSpc>
                <a:spcPct val="118000"/>
              </a:lnSpc>
              <a:spcBef>
                <a:spcPts val="600"/>
              </a:spcBef>
              <a:spcAft>
                <a:spcPts val="200"/>
              </a:spcAft>
            </a:pPr>
            <a:r>
              <a:rPr sz="1200" b="0" i="0">
                <a:solidFill>
                  <a:srgbClr val="16202C"/>
                </a:solidFill>
                <a:latin typeface="Segoe UI"/>
                <a:ea typeface="맑은 고딕"/>
                <a:cs typeface="맑은 고딕"/>
              </a:rPr>
              <a:t>▪  네 종은 카드 한 장이면 되므로 넷까지 동시에 떠 있을 수 있다. 여러 사람이 각자 다른 모델을 쓸 때 이 차이가 크다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모델 제원</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가중치는 카드에 올라간 실측치, 디스크는 HF 캐시 용량, 컨텍스트 단위는 토큰</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a:t>
            </a:r>
          </a:p>
        </p:txBody>
      </p:sp>
      <p:graphicFrame>
        <p:nvGraphicFramePr>
          <p:cNvPr id="8" name="Table 7"/>
          <p:cNvGraphicFramePr>
            <a:graphicFrameLocks noGrp="1"/>
          </p:cNvGraphicFramePr>
          <p:nvPr/>
        </p:nvGraphicFramePr>
        <p:xfrm>
          <a:off x="566928" y="1627632"/>
          <a:ext cx="11057839" cy="4645152"/>
        </p:xfrm>
        <a:graphic>
          <a:graphicData uri="http://schemas.openxmlformats.org/drawingml/2006/table">
            <a:tbl>
              <a:tblPr firstRow="1" bandRow="1">
                <a:tableStyleId>{5C22544A-7EE6-4342-B048-85BDC9FD1C3A}</a:tableStyleId>
              </a:tblPr>
              <a:tblGrid>
                <a:gridCol w="2454268"/>
                <a:gridCol w="1227134"/>
                <a:gridCol w="1049881"/>
                <a:gridCol w="1049881"/>
                <a:gridCol w="1499830"/>
                <a:gridCol w="1090786"/>
                <a:gridCol w="1049881"/>
                <a:gridCol w="1636178"/>
              </a:tblGrid>
              <a:tr h="258064">
                <a:tc>
                  <a:txBody>
                    <a:bodyPr wrap="square"/>
                    <a:lstStyle/>
                    <a:p>
                      <a:r>
                        <a:rPr sz="850" b="1" i="0">
                          <a:solidFill>
                            <a:srgbClr val="FFFFFF"/>
                          </a:solidFill>
                          <a:latin typeface="Segoe UI"/>
                          <a:ea typeface="맑은 고딕"/>
                          <a:cs typeface="맑은 고딕"/>
                        </a:rPr>
                        <a:t>모델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가중치</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디스크</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구조</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정밀도</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컨텍스트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카드</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용도</a:t>
                      </a:r>
                    </a:p>
                  </a:txBody>
                  <a:tcPr marL="73152" marR="73152" marT="27432" marB="27432">
                    <a:solidFill>
                      <a:srgbClr val="0B5FC0"/>
                    </a:solidFill>
                  </a:tcPr>
                </a:tc>
              </a:tr>
              <a:tr h="258064">
                <a:tc>
                  <a:txBody>
                    <a:bodyPr wrap="square"/>
                    <a:lstStyle/>
                    <a:p>
                      <a:r>
                        <a:rPr sz="850" b="0" i="0">
                          <a:solidFill>
                            <a:srgbClr val="16202C"/>
                          </a:solidFill>
                          <a:latin typeface="Segoe UI"/>
                          <a:ea typeface="맑은 고딕"/>
                          <a:cs typeface="맑은 고딕"/>
                        </a:rPr>
                        <a:t>gpt-oss 120B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60.8 GiB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62 G</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MXFP4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Solar-Open 100B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61.8 GiB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64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NVFP4 W4A4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K-EXAONE 236B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136.6 GiB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142 G</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NVFP4 W4A16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Llama 3.3 70B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131.5 GiB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134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 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32.0 GiB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36 G</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EXAONE 4.0 32B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30.8 GiB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34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Qwen3-VL 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62.1 GiB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66 G</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 이미지</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Qwen3-Coder 30B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29.0 GiB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31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코드</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A3B Instruct 2507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29.0 GiB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33 G</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A3B Thinking 2507</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29.0 GiB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33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 사고</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A3B 30B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30.2 GiB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32 G</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 못 뜸</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Llama 3.1 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15.0 GiB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20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 8B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8.8 GiB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9.7 G</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Qwen3 4B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4.8 GiB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5.8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Qwen2.5 0.5B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950 MiB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974 M</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Qwen3-Embedding 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15 G</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임베딩</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Qwen3-Reranker 8B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리랭크</a:t>
                      </a:r>
                    </a:p>
                  </a:txBody>
                  <a:tcPr marL="73152" marR="73152" marT="27432" marB="27432">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측정 방법</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a:t>
            </a:r>
          </a:p>
        </p:txBody>
      </p:sp>
      <p:sp>
        <p:nvSpPr>
          <p:cNvPr id="7" name="TextBox 6"/>
          <p:cNvSpPr txBox="1"/>
          <p:nvPr/>
        </p:nvSpPr>
        <p:spPr>
          <a:xfrm>
            <a:off x="566928" y="131673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코드 1: length_probe.py, 한도를 정하고 끝난 이유와 조각 시각을 남기는 부분</a:t>
            </a:r>
          </a:p>
        </p:txBody>
      </p:sp>
      <p:sp>
        <p:nvSpPr>
          <p:cNvPr id="8" name="Rectangle 7"/>
          <p:cNvSpPr/>
          <p:nvPr/>
        </p:nvSpPr>
        <p:spPr>
          <a:xfrm>
            <a:off x="566928" y="1609344"/>
            <a:ext cx="11057839" cy="466344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7D91A8"/>
                </a:solidFill>
                <a:latin typeface="Consolas"/>
                <a:ea typeface="Consolas"/>
                <a:cs typeface="Consolas"/>
              </a:rPr>
              <a:t># length_probe.py — bench.py 와 같은 네 프롬프트, 같은 greedy 로 한도만 키워 잰다</a:t>
            </a:r>
          </a:p>
          <a:p>
            <a:pPr algn="l">
              <a:lnSpc>
                <a:spcPct val="124000"/>
              </a:lnSpc>
              <a:spcAft>
                <a:spcPts val="0"/>
              </a:spcAft>
            </a:pPr>
            <a:r>
              <a:rPr sz="1500" b="0" i="0">
                <a:solidFill>
                  <a:srgbClr val="E6EDF3"/>
                </a:solidFill>
                <a:latin typeface="Consolas"/>
                <a:ea typeface="Consolas"/>
                <a:cs typeface="Consolas"/>
              </a:rPr>
              <a:t>CAP = 16384                        # 잘리지 않은 길이를 보려고 넉넉히</a:t>
            </a:r>
          </a:p>
          <a:p>
            <a:pPr algn="l">
              <a:lnSpc>
                <a:spcPct val="124000"/>
              </a:lnSpc>
              <a:spcAft>
                <a:spcPts val="0"/>
              </a:spcAft>
            </a:pPr>
            <a:r>
              <a:rPr sz="1500" b="0" i="0">
                <a:solidFill>
                  <a:srgbClr val="E6EDF3"/>
                </a:solidFill>
                <a:latin typeface="Consolas"/>
                <a:ea typeface="Consolas"/>
                <a:cs typeface="Consolas"/>
              </a:rPr>
              <a:t>CTX_MARGIN = 256                    # prompt + max_tokens &gt; 컨텍스트 이면 서버가 400 으로 거절</a:t>
            </a:r>
          </a:p>
          <a:p>
            <a:pPr algn="l">
              <a:lnSpc>
                <a:spcPct val="124000"/>
              </a:lnSpc>
              <a:spcAft>
                <a:spcPts val="0"/>
              </a:spcAft>
            </a:pPr>
            <a:r>
              <a:rPr sz="1500" b="0" i="0">
                <a:solidFill>
                  <a:srgbClr val="E6EDF3"/>
                </a:solidFill>
                <a:latin typeface="Consolas"/>
                <a:ea typeface="Consolas"/>
                <a:cs typeface="Consolas"/>
              </a:rPr>
              <a:t>cap = min(CAP, ctx - CTX_MARGIN)    # 컨텍스트가 작은 모델(0.5B, 4096)만 줄어든다</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E6EDF3"/>
                </a:solidFill>
                <a:latin typeface="Consolas"/>
                <a:ea typeface="Consolas"/>
                <a:cs typeface="Consolas"/>
              </a:rPr>
              <a:t>body = {'model': model, 'messages': [...], 'temperature': 0,</a:t>
            </a:r>
          </a:p>
          <a:p>
            <a:pPr algn="l">
              <a:lnSpc>
                <a:spcPct val="124000"/>
              </a:lnSpc>
              <a:spcAft>
                <a:spcPts val="0"/>
              </a:spcAft>
            </a:pPr>
            <a:r>
              <a:rPr sz="1500" b="0" i="0">
                <a:solidFill>
                  <a:srgbClr val="E6EDF3"/>
                </a:solidFill>
                <a:latin typeface="Consolas"/>
                <a:ea typeface="Consolas"/>
                <a:cs typeface="Consolas"/>
              </a:rPr>
              <a:t>        'max_tokens': cap, 'stream': True, 'stream_options': {'include_usage': True}}</a:t>
            </a:r>
          </a:p>
          <a:p>
            <a:pPr algn="l">
              <a:lnSpc>
                <a:spcPct val="124000"/>
              </a:lnSpc>
              <a:spcAft>
                <a:spcPts val="0"/>
              </a:spcAft>
            </a:pPr>
            <a:r>
              <a:rPr sz="1500" b="0" i="0">
                <a:solidFill>
                  <a:srgbClr val="E6EDF3"/>
                </a:solidFill>
                <a:latin typeface="Consolas"/>
                <a:ea typeface="Consolas"/>
                <a:cs typeface="Consolas"/>
              </a:rPr>
              <a:t>for 이벤트 in 스트림:</a:t>
            </a:r>
          </a:p>
          <a:p>
            <a:pPr algn="l">
              <a:lnSpc>
                <a:spcPct val="124000"/>
              </a:lnSpc>
              <a:spcAft>
                <a:spcPts val="0"/>
              </a:spcAft>
            </a:pPr>
            <a:r>
              <a:rPr sz="1500" b="0" i="0">
                <a:solidFill>
                  <a:srgbClr val="E6EDF3"/>
                </a:solidFill>
                <a:latin typeface="Consolas"/>
                <a:ea typeface="Consolas"/>
                <a:cs typeface="Consolas"/>
              </a:rPr>
              <a:t>    finish = choice['finish_reason']   # stop 이면 스스로 멈춤, length 면 한도에 걸림</a:t>
            </a:r>
          </a:p>
          <a:p>
            <a:pPr algn="l">
              <a:lnSpc>
                <a:spcPct val="124000"/>
              </a:lnSpc>
              <a:spcAft>
                <a:spcPts val="0"/>
              </a:spcAft>
            </a:pPr>
            <a:r>
              <a:rPr sz="1500" b="0" i="0">
                <a:solidFill>
                  <a:srgbClr val="E6EDF3"/>
                </a:solidFill>
                <a:latin typeface="Consolas"/>
                <a:ea typeface="Consolas"/>
                <a:cs typeface="Consolas"/>
              </a:rPr>
              <a:t>    times.append(지금 - t0)             # 조각마다 도착 시각, 멈춤을 찾으려고</a:t>
            </a:r>
          </a:p>
          <a:p>
            <a:pPr algn="l">
              <a:lnSpc>
                <a:spcPct val="124000"/>
              </a:lnSpc>
              <a:spcAft>
                <a:spcPts val="0"/>
              </a:spcAft>
            </a:pPr>
            <a:r>
              <a:rPr sz="1500" b="0" i="0">
                <a:solidFill>
                  <a:srgbClr val="E6EDF3"/>
                </a:solidFill>
                <a:latin typeface="Consolas"/>
                <a:ea typeface="Consolas"/>
                <a:cs typeface="Consolas"/>
              </a:rPr>
              <a:t>사고 토큰 = usage.completion_tokens_details.reasoning_tokens</a:t>
            </a:r>
          </a:p>
          <a:p>
            <a:pPr algn="l">
              <a:lnSpc>
                <a:spcPct val="124000"/>
              </a:lnSpc>
              <a:spcAft>
                <a:spcPts val="0"/>
              </a:spcAft>
            </a:pPr>
            <a:r>
              <a:rPr sz="1500" b="0" i="0">
                <a:solidFill>
                  <a:srgbClr val="E6EDF3"/>
                </a:solidFill>
                <a:latin typeface="Consolas"/>
                <a:ea typeface="Consolas"/>
                <a:cs typeface="Consolas"/>
              </a:rPr>
              <a:t>decode_tps = (출력토큰 - 1) / (total - ttft)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출력 길이와 한도</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2: 모델마다 스스로 멈춘 출력 길이와 기존 한도 1,024, 새 한도의 위치</a:t>
            </a:r>
          </a:p>
        </p:txBody>
      </p:sp>
      <p:grpSp>
        <p:nvGrpSpPr>
          <p:cNvPr id="8" name="도해 lengths"/>
          <p:cNvGrpSpPr/>
          <p:nvPr/>
        </p:nvGrpSpPr>
        <p:grpSpPr>
          <a:xfrm>
            <a:off x="566928" y="1554480"/>
            <a:ext cx="11057839" cy="2807249"/>
            <a:chOff x="566928" y="1554480"/>
            <a:chExt cx="11057839" cy="2807249"/>
          </a:xfrm>
        </p:grpSpPr>
        <p:sp>
          <p:nvSpPr>
            <p:cNvPr id="9" name="TextBox 8"/>
            <p:cNvSpPr txBox="1"/>
            <p:nvPr/>
          </p:nvSpPr>
          <p:spPr>
            <a:xfrm>
              <a:off x="566928" y="1781513"/>
              <a:ext cx="98144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 *</a:t>
              </a:r>
            </a:p>
          </p:txBody>
        </p:sp>
        <p:sp>
          <p:nvSpPr>
            <p:cNvPr id="10" name="Rectangle 9"/>
            <p:cNvSpPr/>
            <p:nvPr/>
          </p:nvSpPr>
          <p:spPr>
            <a:xfrm>
              <a:off x="2142804" y="1823981"/>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42804" y="1823981"/>
              <a:ext cx="88142" cy="13354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30946" y="1823981"/>
              <a:ext cx="723834"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248307" y="1856033"/>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319088" y="1856033"/>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384527" y="1856033"/>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24000" y="1781513"/>
              <a:ext cx="400767"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1,495</a:t>
              </a:r>
            </a:p>
          </p:txBody>
        </p:sp>
        <p:sp>
          <p:nvSpPr>
            <p:cNvPr id="17" name="TextBox 16"/>
            <p:cNvSpPr txBox="1"/>
            <p:nvPr/>
          </p:nvSpPr>
          <p:spPr>
            <a:xfrm>
              <a:off x="566928" y="1941771"/>
              <a:ext cx="124520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 *</a:t>
              </a:r>
            </a:p>
          </p:txBody>
        </p:sp>
        <p:sp>
          <p:nvSpPr>
            <p:cNvPr id="18" name="Rectangle 17"/>
            <p:cNvSpPr/>
            <p:nvPr/>
          </p:nvSpPr>
          <p:spPr>
            <a:xfrm>
              <a:off x="2142804" y="1984240"/>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42804" y="1984240"/>
              <a:ext cx="5336609" cy="13354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79413" y="1984240"/>
              <a:ext cx="611653"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194888" y="2016292"/>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08727" y="2016292"/>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897354" y="2016292"/>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46175" y="1941771"/>
              <a:ext cx="478592"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10,958</a:t>
              </a:r>
            </a:p>
          </p:txBody>
        </p:sp>
        <p:sp>
          <p:nvSpPr>
            <p:cNvPr id="25" name="TextBox 24"/>
            <p:cNvSpPr txBox="1"/>
            <p:nvPr/>
          </p:nvSpPr>
          <p:spPr>
            <a:xfrm>
              <a:off x="566928" y="2102030"/>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26" name="Rectangle 25"/>
            <p:cNvSpPr/>
            <p:nvPr/>
          </p:nvSpPr>
          <p:spPr>
            <a:xfrm>
              <a:off x="2142804" y="2144499"/>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42804" y="2144499"/>
              <a:ext cx="221691"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165507" y="2176550"/>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144139" y="2176550"/>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234952" y="2176550"/>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340809" y="2102030"/>
              <a:ext cx="283958"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409</a:t>
              </a:r>
            </a:p>
          </p:txBody>
        </p:sp>
        <p:sp>
          <p:nvSpPr>
            <p:cNvPr id="32" name="TextBox 31"/>
            <p:cNvSpPr txBox="1"/>
            <p:nvPr/>
          </p:nvSpPr>
          <p:spPr>
            <a:xfrm>
              <a:off x="566928" y="2262289"/>
              <a:ext cx="883565"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 *</a:t>
              </a:r>
            </a:p>
          </p:txBody>
        </p:sp>
        <p:sp>
          <p:nvSpPr>
            <p:cNvPr id="33" name="Rectangle 32"/>
            <p:cNvSpPr/>
            <p:nvPr/>
          </p:nvSpPr>
          <p:spPr>
            <a:xfrm>
              <a:off x="2142804" y="2304757"/>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142804" y="2304757"/>
              <a:ext cx="610318" cy="13354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53122" y="2304757"/>
              <a:ext cx="128207"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56482" y="2336809"/>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64818" y="2336809"/>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723741" y="2336809"/>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24000" y="2262289"/>
              <a:ext cx="400767"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1,361</a:t>
              </a:r>
            </a:p>
          </p:txBody>
        </p:sp>
        <p:sp>
          <p:nvSpPr>
            <p:cNvPr id="40" name="TextBox 39"/>
            <p:cNvSpPr txBox="1"/>
            <p:nvPr/>
          </p:nvSpPr>
          <p:spPr>
            <a:xfrm>
              <a:off x="566928" y="2422547"/>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41" name="Rectangle 40"/>
            <p:cNvSpPr/>
            <p:nvPr/>
          </p:nvSpPr>
          <p:spPr>
            <a:xfrm>
              <a:off x="2142804" y="2465016"/>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142804" y="2465016"/>
              <a:ext cx="209672"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180197" y="2497067"/>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172184" y="2497067"/>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224268" y="2497067"/>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340809" y="2422547"/>
              <a:ext cx="283958"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385</a:t>
              </a:r>
            </a:p>
          </p:txBody>
        </p:sp>
        <p:sp>
          <p:nvSpPr>
            <p:cNvPr id="47" name="TextBox 46"/>
            <p:cNvSpPr txBox="1"/>
            <p:nvPr/>
          </p:nvSpPr>
          <p:spPr>
            <a:xfrm>
              <a:off x="566928" y="2582806"/>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48" name="Rectangle 47"/>
            <p:cNvSpPr/>
            <p:nvPr/>
          </p:nvSpPr>
          <p:spPr>
            <a:xfrm>
              <a:off x="2142804" y="2625274"/>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142804" y="2625274"/>
              <a:ext cx="550221"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154823" y="2657326"/>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145475" y="2657326"/>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377849" y="2657326"/>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224000" y="2582806"/>
              <a:ext cx="400767"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1,014</a:t>
              </a:r>
            </a:p>
          </p:txBody>
        </p:sp>
        <p:sp>
          <p:nvSpPr>
            <p:cNvPr id="54" name="TextBox 53"/>
            <p:cNvSpPr txBox="1"/>
            <p:nvPr/>
          </p:nvSpPr>
          <p:spPr>
            <a:xfrm>
              <a:off x="566928" y="2743064"/>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55" name="Rectangle 54"/>
            <p:cNvSpPr/>
            <p:nvPr/>
          </p:nvSpPr>
          <p:spPr>
            <a:xfrm>
              <a:off x="2142804" y="2785533"/>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142804" y="2785533"/>
              <a:ext cx="434034"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157494" y="2817584"/>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157494" y="2817584"/>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311075" y="2817584"/>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340809" y="2743064"/>
              <a:ext cx="283958"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800</a:t>
              </a:r>
            </a:p>
          </p:txBody>
        </p:sp>
        <p:sp>
          <p:nvSpPr>
            <p:cNvPr id="61" name="TextBox 60"/>
            <p:cNvSpPr txBox="1"/>
            <p:nvPr/>
          </p:nvSpPr>
          <p:spPr>
            <a:xfrm>
              <a:off x="566928" y="2903323"/>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62" name="Rectangle 61"/>
            <p:cNvSpPr/>
            <p:nvPr/>
          </p:nvSpPr>
          <p:spPr>
            <a:xfrm>
              <a:off x="2142804" y="2945791"/>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142804" y="2945791"/>
              <a:ext cx="635692"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162836" y="2977843"/>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145475" y="2977843"/>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317753" y="2977843"/>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224000" y="2903323"/>
              <a:ext cx="400767"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1,172</a:t>
              </a:r>
            </a:p>
          </p:txBody>
        </p:sp>
        <p:sp>
          <p:nvSpPr>
            <p:cNvPr id="68" name="TextBox 67"/>
            <p:cNvSpPr txBox="1"/>
            <p:nvPr/>
          </p:nvSpPr>
          <p:spPr>
            <a:xfrm>
              <a:off x="566928" y="3063581"/>
              <a:ext cx="135051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 *</a:t>
              </a:r>
            </a:p>
          </p:txBody>
        </p:sp>
        <p:sp>
          <p:nvSpPr>
            <p:cNvPr id="69" name="Rectangle 68"/>
            <p:cNvSpPr/>
            <p:nvPr/>
          </p:nvSpPr>
          <p:spPr>
            <a:xfrm>
              <a:off x="2142804" y="3106050"/>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142804" y="3106050"/>
              <a:ext cx="657060" cy="13354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799864" y="3106050"/>
              <a:ext cx="435369"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936083" y="3138101"/>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746444" y="3138101"/>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084323" y="3138101"/>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224000" y="3063581"/>
              <a:ext cx="400767"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2,013</a:t>
              </a:r>
            </a:p>
          </p:txBody>
        </p:sp>
        <p:sp>
          <p:nvSpPr>
            <p:cNvPr id="76" name="TextBox 75"/>
            <p:cNvSpPr txBox="1"/>
            <p:nvPr/>
          </p:nvSpPr>
          <p:spPr>
            <a:xfrm>
              <a:off x="566928" y="3223840"/>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77" name="Rectangle 76"/>
            <p:cNvSpPr/>
            <p:nvPr/>
          </p:nvSpPr>
          <p:spPr>
            <a:xfrm>
              <a:off x="2142804" y="3266308"/>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142804" y="3266308"/>
              <a:ext cx="313840"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174855" y="3298360"/>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265668" y="3298360"/>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229610" y="3298360"/>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40809" y="3223840"/>
              <a:ext cx="283958"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579</a:t>
              </a:r>
            </a:p>
          </p:txBody>
        </p:sp>
        <p:sp>
          <p:nvSpPr>
            <p:cNvPr id="83" name="TextBox 82"/>
            <p:cNvSpPr txBox="1"/>
            <p:nvPr/>
          </p:nvSpPr>
          <p:spPr>
            <a:xfrm>
              <a:off x="566928" y="3384098"/>
              <a:ext cx="8057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 *</a:t>
              </a:r>
            </a:p>
          </p:txBody>
        </p:sp>
        <p:sp>
          <p:nvSpPr>
            <p:cNvPr id="84" name="Rectangle 83"/>
            <p:cNvSpPr/>
            <p:nvPr/>
          </p:nvSpPr>
          <p:spPr>
            <a:xfrm>
              <a:off x="2142804" y="3426567"/>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2142804" y="3426567"/>
              <a:ext cx="309833" cy="13354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452637" y="3426567"/>
              <a:ext cx="454066"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246972" y="3458619"/>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865303" y="3458619"/>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687683" y="3458619"/>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224000" y="3384098"/>
              <a:ext cx="400767"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1,408</a:t>
              </a:r>
            </a:p>
          </p:txBody>
        </p:sp>
        <p:sp>
          <p:nvSpPr>
            <p:cNvPr id="91" name="TextBox 90"/>
            <p:cNvSpPr txBox="1"/>
            <p:nvPr/>
          </p:nvSpPr>
          <p:spPr>
            <a:xfrm>
              <a:off x="566928" y="3544357"/>
              <a:ext cx="8057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 *</a:t>
              </a:r>
            </a:p>
          </p:txBody>
        </p:sp>
        <p:sp>
          <p:nvSpPr>
            <p:cNvPr id="92" name="Rectangle 91"/>
            <p:cNvSpPr/>
            <p:nvPr/>
          </p:nvSpPr>
          <p:spPr>
            <a:xfrm>
              <a:off x="2142804" y="3586825"/>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142804" y="3586825"/>
              <a:ext cx="811977" cy="13354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2954780" y="3586825"/>
              <a:ext cx="49413"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273681" y="3618877"/>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668986" y="3618877"/>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822567" y="3618877"/>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224000" y="3544357"/>
              <a:ext cx="400767"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1,587</a:t>
              </a:r>
            </a:p>
          </p:txBody>
        </p:sp>
        <p:sp>
          <p:nvSpPr>
            <p:cNvPr id="99" name="TextBox 98"/>
            <p:cNvSpPr txBox="1"/>
            <p:nvPr/>
          </p:nvSpPr>
          <p:spPr>
            <a:xfrm>
              <a:off x="566928" y="3704615"/>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100" name="Rectangle 99"/>
            <p:cNvSpPr/>
            <p:nvPr/>
          </p:nvSpPr>
          <p:spPr>
            <a:xfrm>
              <a:off x="2142804" y="3747084"/>
              <a:ext cx="8894349" cy="133549"/>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142804" y="3747084"/>
              <a:ext cx="388627"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264333" y="3779136"/>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238959" y="3779136"/>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265668" y="3779136"/>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340809" y="3704615"/>
              <a:ext cx="283958"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715</a:t>
              </a:r>
            </a:p>
          </p:txBody>
        </p:sp>
        <p:cxnSp>
          <p:nvCxnSpPr>
            <p:cNvPr id="106" name="Connector 105"/>
            <p:cNvCxnSpPr/>
            <p:nvPr/>
          </p:nvCxnSpPr>
          <p:spPr>
            <a:xfrm>
              <a:off x="2698367" y="1770562"/>
              <a:ext cx="0" cy="2150135"/>
            </a:xfrm>
            <a:prstGeom prst="line">
              <a:avLst/>
            </a:prstGeom>
            <a:ln w="18696">
              <a:solidFill>
                <a:srgbClr val="5B6B7B"/>
              </a:solidFill>
              <a:prstDash val="dash"/>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2208556" y="1554480"/>
              <a:ext cx="979620" cy="203048"/>
            </a:xfrm>
            <a:prstGeom prst="rect">
              <a:avLst/>
            </a:prstGeom>
            <a:noFill/>
          </p:spPr>
          <p:txBody>
            <a:bodyPr wrap="none" anchor="ctr" lIns="0" rIns="0" tIns="0" bIns="0">
              <a:noAutofit/>
            </a:bodyPr>
            <a:lstStyle/>
            <a:p>
              <a:pPr algn="ctr"/>
              <a:r>
                <a:rPr sz="1100" b="0">
                  <a:solidFill>
                    <a:srgbClr val="5B6B7B"/>
                  </a:solidFill>
                  <a:latin typeface="맑은 고딕"/>
                  <a:ea typeface="맑은 고딕"/>
                  <a:cs typeface="맑은 고딕"/>
                </a:rPr>
                <a:t>기존 한도 1,024</a:t>
              </a:r>
            </a:p>
          </p:txBody>
        </p:sp>
        <p:cxnSp>
          <p:nvCxnSpPr>
            <p:cNvPr id="108" name="Connector 107"/>
            <p:cNvCxnSpPr/>
            <p:nvPr/>
          </p:nvCxnSpPr>
          <p:spPr>
            <a:xfrm>
              <a:off x="11037152" y="1770562"/>
              <a:ext cx="0" cy="2150135"/>
            </a:xfrm>
            <a:prstGeom prst="line">
              <a:avLst/>
            </a:prstGeom>
            <a:ln w="18696">
              <a:solidFill>
                <a:srgbClr val="253761"/>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0572933" y="1554480"/>
              <a:ext cx="928438"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새 한도 16,384</a:t>
              </a:r>
            </a:p>
          </p:txBody>
        </p:sp>
        <p:sp>
          <p:nvSpPr>
            <p:cNvPr id="110" name="TextBox 109"/>
            <p:cNvSpPr txBox="1"/>
            <p:nvPr/>
          </p:nvSpPr>
          <p:spPr>
            <a:xfrm>
              <a:off x="2078650" y="3918293"/>
              <a:ext cx="128307" cy="203048"/>
            </a:xfrm>
            <a:prstGeom prst="rect">
              <a:avLst/>
            </a:prstGeom>
            <a:noFill/>
          </p:spPr>
          <p:txBody>
            <a:bodyPr wrap="none" anchor="ctr" lIns="0" rIns="0" tIns="0" bIns="0">
              <a:noAutofit/>
            </a:bodyPr>
            <a:lstStyle/>
            <a:p>
              <a:pPr algn="ctr"/>
              <a:r>
                <a:rPr sz="1100" b="0">
                  <a:solidFill>
                    <a:srgbClr val="5B6B7B"/>
                  </a:solidFill>
                  <a:latin typeface="맑은 고딕"/>
                  <a:ea typeface="맑은 고딕"/>
                  <a:cs typeface="맑은 고딕"/>
                </a:rPr>
                <a:t>0</a:t>
              </a:r>
            </a:p>
          </p:txBody>
        </p:sp>
        <p:sp>
          <p:nvSpPr>
            <p:cNvPr id="111" name="TextBox 110"/>
            <p:cNvSpPr txBox="1"/>
            <p:nvPr/>
          </p:nvSpPr>
          <p:spPr>
            <a:xfrm>
              <a:off x="4166008" y="3918293"/>
              <a:ext cx="400767" cy="203048"/>
            </a:xfrm>
            <a:prstGeom prst="rect">
              <a:avLst/>
            </a:prstGeom>
            <a:noFill/>
          </p:spPr>
          <p:txBody>
            <a:bodyPr wrap="none" anchor="ctr" lIns="0" rIns="0" tIns="0" bIns="0">
              <a:noAutofit/>
            </a:bodyPr>
            <a:lstStyle/>
            <a:p>
              <a:pPr algn="ctr"/>
              <a:r>
                <a:rPr sz="1100" b="0">
                  <a:solidFill>
                    <a:srgbClr val="5B6B7B"/>
                  </a:solidFill>
                  <a:latin typeface="맑은 고딕"/>
                  <a:ea typeface="맑은 고딕"/>
                  <a:cs typeface="맑은 고딕"/>
                </a:rPr>
                <a:t>4,096</a:t>
              </a:r>
            </a:p>
          </p:txBody>
        </p:sp>
        <p:sp>
          <p:nvSpPr>
            <p:cNvPr id="112" name="TextBox 111"/>
            <p:cNvSpPr txBox="1"/>
            <p:nvPr/>
          </p:nvSpPr>
          <p:spPr>
            <a:xfrm>
              <a:off x="6389595" y="3918293"/>
              <a:ext cx="400767" cy="203048"/>
            </a:xfrm>
            <a:prstGeom prst="rect">
              <a:avLst/>
            </a:prstGeom>
            <a:noFill/>
          </p:spPr>
          <p:txBody>
            <a:bodyPr wrap="none" anchor="ctr" lIns="0" rIns="0" tIns="0" bIns="0">
              <a:noAutofit/>
            </a:bodyPr>
            <a:lstStyle/>
            <a:p>
              <a:pPr algn="ctr"/>
              <a:r>
                <a:rPr sz="1100" b="0">
                  <a:solidFill>
                    <a:srgbClr val="5B6B7B"/>
                  </a:solidFill>
                  <a:latin typeface="맑은 고딕"/>
                  <a:ea typeface="맑은 고딕"/>
                  <a:cs typeface="맑은 고딕"/>
                </a:rPr>
                <a:t>8,192</a:t>
              </a:r>
            </a:p>
          </p:txBody>
        </p:sp>
        <p:sp>
          <p:nvSpPr>
            <p:cNvPr id="113" name="TextBox 112"/>
            <p:cNvSpPr txBox="1"/>
            <p:nvPr/>
          </p:nvSpPr>
          <p:spPr>
            <a:xfrm>
              <a:off x="8574269" y="3918293"/>
              <a:ext cx="478592" cy="203048"/>
            </a:xfrm>
            <a:prstGeom prst="rect">
              <a:avLst/>
            </a:prstGeom>
            <a:noFill/>
          </p:spPr>
          <p:txBody>
            <a:bodyPr wrap="none" anchor="ctr" lIns="0" rIns="0" tIns="0" bIns="0">
              <a:noAutofit/>
            </a:bodyPr>
            <a:lstStyle/>
            <a:p>
              <a:pPr algn="ctr"/>
              <a:r>
                <a:rPr sz="1100" b="0">
                  <a:solidFill>
                    <a:srgbClr val="5B6B7B"/>
                  </a:solidFill>
                  <a:latin typeface="맑은 고딕"/>
                  <a:ea typeface="맑은 고딕"/>
                  <a:cs typeface="맑은 고딕"/>
                </a:rPr>
                <a:t>12,288</a:t>
              </a:r>
            </a:p>
          </p:txBody>
        </p:sp>
        <p:sp>
          <p:nvSpPr>
            <p:cNvPr id="114" name="TextBox 113"/>
            <p:cNvSpPr txBox="1"/>
            <p:nvPr/>
          </p:nvSpPr>
          <p:spPr>
            <a:xfrm>
              <a:off x="10797856" y="3918293"/>
              <a:ext cx="478592" cy="203048"/>
            </a:xfrm>
            <a:prstGeom prst="rect">
              <a:avLst/>
            </a:prstGeom>
            <a:noFill/>
          </p:spPr>
          <p:txBody>
            <a:bodyPr wrap="none" anchor="ctr" lIns="0" rIns="0" tIns="0" bIns="0">
              <a:noAutofit/>
            </a:bodyPr>
            <a:lstStyle/>
            <a:p>
              <a:pPr algn="ctr"/>
              <a:r>
                <a:rPr sz="1100" b="0">
                  <a:solidFill>
                    <a:srgbClr val="5B6B7B"/>
                  </a:solidFill>
                  <a:latin typeface="맑은 고딕"/>
                  <a:ea typeface="맑은 고딕"/>
                  <a:cs typeface="맑은 고딕"/>
                </a:rPr>
                <a:t>16,384</a:t>
              </a:r>
            </a:p>
          </p:txBody>
        </p:sp>
        <p:sp>
          <p:nvSpPr>
            <p:cNvPr id="115" name="Rectangle 114"/>
            <p:cNvSpPr/>
            <p:nvPr/>
          </p:nvSpPr>
          <p:spPr>
            <a:xfrm>
              <a:off x="566928" y="4201150"/>
              <a:ext cx="186968" cy="13354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20671" y="4158681"/>
              <a:ext cx="30849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사고</a:t>
              </a:r>
            </a:p>
          </p:txBody>
        </p:sp>
        <p:sp>
          <p:nvSpPr>
            <p:cNvPr id="117" name="Rectangle 116"/>
            <p:cNvSpPr/>
            <p:nvPr/>
          </p:nvSpPr>
          <p:spPr>
            <a:xfrm>
              <a:off x="1314801" y="4201150"/>
              <a:ext cx="186968" cy="133549"/>
            </a:xfrm>
            <a:prstGeom prst="rect">
              <a:avLst/>
            </a:prstGeom>
            <a:solidFill>
              <a:srgbClr val="253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568544" y="4158681"/>
              <a:ext cx="30849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답변</a:t>
              </a:r>
            </a:p>
          </p:txBody>
        </p:sp>
        <p:sp>
          <p:nvSpPr>
            <p:cNvPr id="119" name="Rectangle 118"/>
            <p:cNvSpPr/>
            <p:nvPr/>
          </p:nvSpPr>
          <p:spPr>
            <a:xfrm>
              <a:off x="2062674" y="4201150"/>
              <a:ext cx="186968" cy="13354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316417" y="4158681"/>
              <a:ext cx="88735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같은 문형 반복</a:t>
              </a:r>
            </a:p>
          </p:txBody>
        </p:sp>
        <p:sp>
          <p:nvSpPr>
            <p:cNvPr id="121" name="Oval 120"/>
            <p:cNvSpPr/>
            <p:nvPr/>
          </p:nvSpPr>
          <p:spPr>
            <a:xfrm>
              <a:off x="3543730" y="4233201"/>
              <a:ext cx="69445" cy="69445"/>
            </a:xfrm>
            <a:prstGeom prst="ellipse">
              <a:avLst/>
            </a:prstGeom>
            <a:solidFill>
              <a:srgbClr val="FFFFFF"/>
            </a:solidFill>
            <a:ln w="13354">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685292" y="4158681"/>
              <a:ext cx="114536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나머지 세 프롬프트</a:t>
              </a:r>
            </a:p>
          </p:txBody>
        </p:sp>
        <p:sp>
          <p:nvSpPr>
            <p:cNvPr id="123" name="TextBox 122"/>
            <p:cNvSpPr txBox="1"/>
            <p:nvPr/>
          </p:nvSpPr>
          <p:spPr>
            <a:xfrm>
              <a:off x="9153701" y="4158681"/>
              <a:ext cx="2471066"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막대는 가장 길게 나온 프롬프트, 단위 토큰</a:t>
              </a:r>
            </a:p>
          </p:txBody>
        </p:sp>
      </p:grpSp>
      <p:sp>
        <p:nvSpPr>
          <p:cNvPr id="124" name="TextBox 123"/>
          <p:cNvSpPr txBox="1"/>
          <p:nvPr/>
        </p:nvSpPr>
        <p:spPr>
          <a:xfrm>
            <a:off x="566928" y="4599473"/>
            <a:ext cx="11057839" cy="1673311"/>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2026-08-29 판은 max_tokens 1024 로 쟀고, 단일 요청 56개 중 19개가 그 한도에 걸려 잘렸다. 잘린 것은 거의 전부 사고하는 모델이었고, 그중 여럿은 답변을 한 글자도 못 내고 사고만 하다 끝났다</a:t>
            </a:r>
          </a:p>
          <a:p>
            <a:pPr algn="l">
              <a:lnSpc>
                <a:spcPct val="118000"/>
              </a:lnSpc>
              <a:spcBef>
                <a:spcPts val="600"/>
              </a:spcBef>
              <a:spcAft>
                <a:spcPts val="200"/>
              </a:spcAft>
            </a:pPr>
            <a:r>
              <a:rPr sz="1200" b="0" i="0">
                <a:solidFill>
                  <a:srgbClr val="16202C"/>
                </a:solidFill>
                <a:latin typeface="Segoe UI"/>
                <a:ea typeface="맑은 고딕"/>
                <a:cs typeface="맑은 고딕"/>
              </a:rPr>
              <a:t>▪  한도를 16,384 로 풀자 단일 요청 52개 중 52개가 스스로 멈췄다. 가장 긴 것은 Solar-Open 100B 의 10,958토큰이고 그중 사고가 9,830토큰이다. 동시 요청은 배치 탓에 출력이 요청마다 갈라져 Solar-Open 100B 가 11,316토큰까지 나왔다</a:t>
            </a:r>
          </a:p>
          <a:p>
            <a:pPr algn="l">
              <a:lnSpc>
                <a:spcPct val="118000"/>
              </a:lnSpc>
              <a:spcBef>
                <a:spcPts val="600"/>
              </a:spcBef>
              <a:spcAft>
                <a:spcPts val="200"/>
              </a:spcAft>
            </a:pPr>
            <a:r>
              <a:rPr sz="1200" b="0" i="0">
                <a:solidFill>
                  <a:srgbClr val="16202C"/>
                </a:solidFill>
                <a:latin typeface="Segoe UI"/>
                <a:ea typeface="맑은 고딕"/>
                <a:cs typeface="맑은 고딕"/>
              </a:rPr>
              <a:t>▪  새 한도 16,384 는 동시 요청까지 포함한 가장 긴 출력을 여유 있게 품는다. Qwen2.5 0.5B 는 서빙 컨텍스트가 4,096 이라 그 이상을 요청하면 서버가 400 으로 거절하므로, 이 모델만 컨텍스트에서 프롬프트 몫을 뺀 값으로 줄여 보낸다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출력 한도 후보</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16,384 로 잰 결과에서 계산. greedy 라 한도 안에서 끝난 출력은 한도와 무관하게 같다</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a:t>
            </a:r>
          </a:p>
        </p:txBody>
      </p:sp>
      <p:graphicFrame>
        <p:nvGraphicFramePr>
          <p:cNvPr id="8" name="Table 7"/>
          <p:cNvGraphicFramePr>
            <a:graphicFrameLocks noGrp="1"/>
          </p:cNvGraphicFramePr>
          <p:nvPr/>
        </p:nvGraphicFramePr>
        <p:xfrm>
          <a:off x="566928" y="1627632"/>
          <a:ext cx="11057837" cy="2304288"/>
        </p:xfrm>
        <a:graphic>
          <a:graphicData uri="http://schemas.openxmlformats.org/drawingml/2006/table">
            <a:tbl>
              <a:tblPr firstRow="1" bandRow="1">
                <a:tableStyleId>{5C22544A-7EE6-4342-B048-85BDC9FD1C3A}</a:tableStyleId>
              </a:tblPr>
              <a:tblGrid>
                <a:gridCol w="1148866"/>
                <a:gridCol w="1148866"/>
                <a:gridCol w="1148866"/>
                <a:gridCol w="1148866"/>
                <a:gridCol w="6462373"/>
              </a:tblGrid>
              <a:tr h="384048">
                <a:tc>
                  <a:txBody>
                    <a:bodyPr wrap="square"/>
                    <a:lstStyle/>
                    <a:p>
                      <a:r>
                        <a:rPr sz="850" b="1" i="0">
                          <a:solidFill>
                            <a:srgbClr val="FFFFFF"/>
                          </a:solidFill>
                          <a:latin typeface="Segoe UI"/>
                          <a:ea typeface="맑은 고딕"/>
                          <a:cs typeface="맑은 고딕"/>
                        </a:rPr>
                        <a:t>max_tokens</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잘리는 단일 요청</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잘리는 동시 요청</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단일 4종 시간 합</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잘리는 모델</a:t>
                      </a:r>
                    </a:p>
                  </a:txBody>
                  <a:tcPr marL="73152" marR="73152" marT="27432" marB="27432">
                    <a:solidFill>
                      <a:srgbClr val="0B5FC0"/>
                    </a:solidFill>
                  </a:tcPr>
                </a:tc>
              </a:tr>
              <a:tr h="384048">
                <a:tc>
                  <a:txBody>
                    <a:bodyPr wrap="square"/>
                    <a:lstStyle/>
                    <a:p>
                      <a:r>
                        <a:rPr sz="850" b="0" i="0">
                          <a:solidFill>
                            <a:srgbClr val="16202C"/>
                          </a:solidFill>
                          <a:latin typeface="Segoe UI"/>
                          <a:ea typeface="맑은 고딕"/>
                          <a:cs typeface="맑은 고딕"/>
                        </a:rPr>
                        <a:t>1,024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16 / 52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28 / 52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45.0분</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A3B Instruct 2507, A3B Thinking 2507, Qwen3 32B, Qwen3 4B, Qwen3 8B, Solar-Open 100B, gpt-oss 120B</a:t>
                      </a:r>
                    </a:p>
                  </a:txBody>
                  <a:tcPr marL="73152" marR="73152" marT="27432" marB="27432">
                    <a:solidFill>
                      <a:srgbClr val="FFFFFF"/>
                    </a:solidFill>
                  </a:tcPr>
                </a:tc>
              </a:tr>
              <a:tr h="384048">
                <a:tc>
                  <a:txBody>
                    <a:bodyPr wrap="square"/>
                    <a:lstStyle/>
                    <a:p>
                      <a:r>
                        <a:rPr sz="850" b="0" i="0">
                          <a:solidFill>
                            <a:srgbClr val="16202C"/>
                          </a:solidFill>
                          <a:latin typeface="Segoe UI"/>
                          <a:ea typeface="맑은 고딕"/>
                          <a:cs typeface="맑은 고딕"/>
                        </a:rPr>
                        <a:t>2,048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 / 52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6 / 52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54.6분</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Solar-Open 100B</a:t>
                      </a:r>
                    </a:p>
                  </a:txBody>
                  <a:tcPr marL="73152" marR="73152" marT="27432" marB="27432">
                    <a:solidFill>
                      <a:srgbClr val="F6F9FC"/>
                    </a:solidFill>
                  </a:tcPr>
                </a:tc>
              </a:tr>
              <a:tr h="384048">
                <a:tc>
                  <a:txBody>
                    <a:bodyPr wrap="square"/>
                    <a:lstStyle/>
                    <a:p>
                      <a:r>
                        <a:rPr sz="850" b="0" i="0">
                          <a:solidFill>
                            <a:srgbClr val="16202C"/>
                          </a:solidFill>
                          <a:latin typeface="Segoe UI"/>
                          <a:ea typeface="맑은 고딕"/>
                          <a:cs typeface="맑은 고딕"/>
                        </a:rPr>
                        <a:t>4,096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 / 52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 / 52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55.5분</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Solar-Open 100B</a:t>
                      </a:r>
                    </a:p>
                  </a:txBody>
                  <a:tcPr marL="73152" marR="73152" marT="27432" marB="27432">
                    <a:solidFill>
                      <a:srgbClr val="FFFFFF"/>
                    </a:solidFill>
                  </a:tcPr>
                </a:tc>
              </a:tr>
              <a:tr h="384048">
                <a:tc>
                  <a:txBody>
                    <a:bodyPr wrap="square"/>
                    <a:lstStyle/>
                    <a:p>
                      <a:r>
                        <a:rPr sz="850" b="0" i="0">
                          <a:solidFill>
                            <a:srgbClr val="16202C"/>
                          </a:solidFill>
                          <a:latin typeface="Segoe UI"/>
                          <a:ea typeface="맑은 고딕"/>
                          <a:cs typeface="맑은 고딕"/>
                        </a:rPr>
                        <a:t>8,192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 / 52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 / 52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61.7분</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Solar-Open 100B</a:t>
                      </a:r>
                    </a:p>
                  </a:txBody>
                  <a:tcPr marL="73152" marR="73152" marT="27432" marB="27432">
                    <a:solidFill>
                      <a:srgbClr val="F6F9FC"/>
                    </a:solidFill>
                  </a:tcPr>
                </a:tc>
              </a:tr>
              <a:tr h="384048">
                <a:tc>
                  <a:txBody>
                    <a:bodyPr wrap="square"/>
                    <a:lstStyle/>
                    <a:p>
                      <a:r>
                        <a:rPr sz="850" b="0" i="0">
                          <a:solidFill>
                            <a:srgbClr val="16202C"/>
                          </a:solidFill>
                          <a:latin typeface="Segoe UI"/>
                          <a:ea typeface="맑은 고딕"/>
                          <a:cs typeface="맑은 고딕"/>
                        </a:rPr>
                        <a:t>16,384 (새 한도)</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 / 52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 / 52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63.0분</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없음</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시간 측정 구간</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3: 한 요청의 시간 축에서 TTFT 와 디코드 구간이 각각 어디인지</a:t>
            </a:r>
          </a:p>
        </p:txBody>
      </p:sp>
      <p:grpSp>
        <p:nvGrpSpPr>
          <p:cNvPr id="8" name="도해 method"/>
          <p:cNvGrpSpPr/>
          <p:nvPr/>
        </p:nvGrpSpPr>
        <p:grpSpPr>
          <a:xfrm>
            <a:off x="566928" y="1554480"/>
            <a:ext cx="11057839" cy="2944857"/>
            <a:chOff x="566928" y="1554480"/>
            <a:chExt cx="11057839" cy="2944857"/>
          </a:xfrm>
        </p:grpSpPr>
        <p:sp>
          <p:nvSpPr>
            <p:cNvPr id="9" name="TextBox 8"/>
            <p:cNvSpPr txBox="1"/>
            <p:nvPr/>
          </p:nvSpPr>
          <p:spPr>
            <a:xfrm>
              <a:off x="566928" y="1554480"/>
              <a:ext cx="1390677"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한 요청의 시간 축</a:t>
              </a:r>
            </a:p>
          </p:txBody>
        </p:sp>
        <p:cxnSp>
          <p:nvCxnSpPr>
            <p:cNvPr id="10" name="Connector 9"/>
            <p:cNvCxnSpPr/>
            <p:nvPr/>
          </p:nvCxnSpPr>
          <p:spPr>
            <a:xfrm>
              <a:off x="1154543" y="2427088"/>
              <a:ext cx="10149707" cy="0"/>
            </a:xfrm>
            <a:prstGeom prst="line">
              <a:avLst/>
            </a:prstGeom>
            <a:ln w="18696">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54543" y="2320249"/>
              <a:ext cx="0" cy="213678"/>
            </a:xfrm>
            <a:prstGeom prst="line">
              <a:avLst/>
            </a:prstGeom>
            <a:ln w="18696">
              <a:solidFill>
                <a:srgbClr val="16202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55580" y="2611652"/>
              <a:ext cx="597925"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요청 보냄</a:t>
              </a:r>
            </a:p>
          </p:txBody>
        </p:sp>
        <p:cxnSp>
          <p:nvCxnSpPr>
            <p:cNvPr id="13" name="Connector 12"/>
            <p:cNvCxnSpPr/>
            <p:nvPr/>
          </p:nvCxnSpPr>
          <p:spPr>
            <a:xfrm>
              <a:off x="3691969" y="2320249"/>
              <a:ext cx="0" cy="213678"/>
            </a:xfrm>
            <a:prstGeom prst="line">
              <a:avLst/>
            </a:prstGeom>
            <a:ln w="18696">
              <a:solidFill>
                <a:srgbClr val="16202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57511" y="2611652"/>
              <a:ext cx="468916"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첫 토큰</a:t>
              </a:r>
            </a:p>
          </p:txBody>
        </p:sp>
        <p:cxnSp>
          <p:nvCxnSpPr>
            <p:cNvPr id="15" name="Connector 14"/>
            <p:cNvCxnSpPr/>
            <p:nvPr/>
          </p:nvCxnSpPr>
          <p:spPr>
            <a:xfrm>
              <a:off x="11304250" y="2320249"/>
              <a:ext cx="0" cy="213678"/>
            </a:xfrm>
            <a:prstGeom prst="line">
              <a:avLst/>
            </a:prstGeom>
            <a:ln w="18696">
              <a:solidFill>
                <a:srgbClr val="16202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577317" y="2611652"/>
              <a:ext cx="726933"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마지막 토큰</a:t>
              </a:r>
            </a:p>
          </p:txBody>
        </p:sp>
        <p:sp>
          <p:nvSpPr>
            <p:cNvPr id="17" name="Rectangle 16"/>
            <p:cNvSpPr/>
            <p:nvPr/>
          </p:nvSpPr>
          <p:spPr>
            <a:xfrm>
              <a:off x="1154543" y="2106571"/>
              <a:ext cx="2537427" cy="186968"/>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25537" y="2090812"/>
              <a:ext cx="395438" cy="203048"/>
            </a:xfrm>
            <a:prstGeom prst="rect">
              <a:avLst/>
            </a:prstGeom>
            <a:noFill/>
          </p:spPr>
          <p:txBody>
            <a:bodyPr wrap="none" anchor="ctr" lIns="0" rIns="0" tIns="0" bIns="0">
              <a:noAutofit/>
            </a:bodyPr>
            <a:lstStyle/>
            <a:p>
              <a:pPr algn="ctr"/>
              <a:r>
                <a:rPr sz="1100" b="1">
                  <a:solidFill>
                    <a:srgbClr val="16202C"/>
                  </a:solidFill>
                  <a:latin typeface="맑은 고딕"/>
                  <a:ea typeface="맑은 고딕"/>
                  <a:cs typeface="맑은 고딕"/>
                </a:rPr>
                <a:t>TTFT</a:t>
              </a:r>
            </a:p>
          </p:txBody>
        </p:sp>
        <p:sp>
          <p:nvSpPr>
            <p:cNvPr id="19" name="Rectangle 18"/>
            <p:cNvSpPr/>
            <p:nvPr/>
          </p:nvSpPr>
          <p:spPr>
            <a:xfrm>
              <a:off x="3691969" y="2106571"/>
              <a:ext cx="7612280" cy="186968"/>
            </a:xfrm>
            <a:prstGeom prst="rect">
              <a:avLst/>
            </a:prstGeom>
            <a:solidFill>
              <a:srgbClr val="E3E5EA"/>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7582" y="2090812"/>
              <a:ext cx="2601056"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디코드 구간, 남은 토큰 수 ÷ 이 시간 = tok/s</a:t>
              </a:r>
            </a:p>
          </p:txBody>
        </p:sp>
        <p:sp>
          <p:nvSpPr>
            <p:cNvPr id="21" name="TextBox 20"/>
            <p:cNvSpPr txBox="1"/>
            <p:nvPr/>
          </p:nvSpPr>
          <p:spPr>
            <a:xfrm>
              <a:off x="566928" y="3210485"/>
              <a:ext cx="1222659"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같게 맞춘 조건</a:t>
              </a:r>
            </a:p>
          </p:txBody>
        </p:sp>
        <p:sp>
          <p:nvSpPr>
            <p:cNvPr id="22" name="Rounded Rectangle 21"/>
            <p:cNvSpPr/>
            <p:nvPr/>
          </p:nvSpPr>
          <p:spPr>
            <a:xfrm>
              <a:off x="566928" y="3548897"/>
              <a:ext cx="2547443"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43904" y="3618877"/>
              <a:ext cx="593491"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프롬프트</a:t>
              </a:r>
            </a:p>
          </p:txBody>
        </p:sp>
        <p:sp>
          <p:nvSpPr>
            <p:cNvPr id="24" name="TextBox 23"/>
            <p:cNvSpPr txBox="1"/>
            <p:nvPr/>
          </p:nvSpPr>
          <p:spPr>
            <a:xfrm>
              <a:off x="929950" y="3840301"/>
              <a:ext cx="1821398"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사실, 코드, 추론, 설명 4종 고정</a:t>
              </a:r>
            </a:p>
          </p:txBody>
        </p:sp>
        <p:sp>
          <p:nvSpPr>
            <p:cNvPr id="25" name="Rounded Rectangle 24"/>
            <p:cNvSpPr/>
            <p:nvPr/>
          </p:nvSpPr>
          <p:spPr>
            <a:xfrm>
              <a:off x="3247920" y="3548897"/>
              <a:ext cx="1916425"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76963" y="3618877"/>
              <a:ext cx="458339"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샘플링</a:t>
              </a:r>
            </a:p>
          </p:txBody>
        </p:sp>
        <p:sp>
          <p:nvSpPr>
            <p:cNvPr id="27" name="TextBox 26"/>
            <p:cNvSpPr txBox="1"/>
            <p:nvPr/>
          </p:nvSpPr>
          <p:spPr>
            <a:xfrm>
              <a:off x="3430050" y="3840301"/>
              <a:ext cx="1552164"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temperature 0 (greedy)</a:t>
              </a:r>
            </a:p>
          </p:txBody>
        </p:sp>
        <p:sp>
          <p:nvSpPr>
            <p:cNvPr id="28" name="Rounded Rectangle 27"/>
            <p:cNvSpPr/>
            <p:nvPr/>
          </p:nvSpPr>
          <p:spPr>
            <a:xfrm>
              <a:off x="5297894" y="3548897"/>
              <a:ext cx="1355520"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14060" y="3618877"/>
              <a:ext cx="323188"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길이</a:t>
              </a:r>
            </a:p>
          </p:txBody>
        </p:sp>
        <p:sp>
          <p:nvSpPr>
            <p:cNvPr id="30" name="TextBox 29"/>
            <p:cNvSpPr txBox="1"/>
            <p:nvPr/>
          </p:nvSpPr>
          <p:spPr>
            <a:xfrm>
              <a:off x="5419867" y="3840301"/>
              <a:ext cx="1111573"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max_tokens 256</a:t>
              </a:r>
            </a:p>
          </p:txBody>
        </p:sp>
        <p:sp>
          <p:nvSpPr>
            <p:cNvPr id="31" name="Rounded Rectangle 30"/>
            <p:cNvSpPr/>
            <p:nvPr/>
          </p:nvSpPr>
          <p:spPr>
            <a:xfrm>
              <a:off x="6786962" y="3548897"/>
              <a:ext cx="3108348"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11967" y="3618877"/>
              <a:ext cx="458339"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동시성</a:t>
              </a:r>
            </a:p>
          </p:txBody>
        </p:sp>
        <p:sp>
          <p:nvSpPr>
            <p:cNvPr id="33" name="TextBox 32"/>
            <p:cNvSpPr txBox="1"/>
            <p:nvPr/>
          </p:nvSpPr>
          <p:spPr>
            <a:xfrm>
              <a:off x="7156786" y="3840301"/>
              <a:ext cx="2368701"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단일 1개, 그리고 같은 프롬프트 4개 동시</a:t>
              </a:r>
            </a:p>
          </p:txBody>
        </p:sp>
        <p:sp>
          <p:nvSpPr>
            <p:cNvPr id="34" name="TextBox 33"/>
            <p:cNvSpPr txBox="1"/>
            <p:nvPr/>
          </p:nvSpPr>
          <p:spPr>
            <a:xfrm>
              <a:off x="566928" y="4286621"/>
              <a:ext cx="4944777"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적재 시간은 따로 잰다, serve 로그의 첫 줄과 마지막 줄 간격이 순수 적재 시간이다</a:t>
              </a:r>
            </a:p>
          </p:txBody>
        </p:sp>
        <p:sp>
          <p:nvSpPr>
            <p:cNvPr id="35" name="TextBox 34"/>
            <p:cNvSpPr txBox="1"/>
            <p:nvPr/>
          </p:nvSpPr>
          <p:spPr>
            <a:xfrm>
              <a:off x="8699368" y="4294367"/>
              <a:ext cx="2925399"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bench.py, chat/serve_logs/router-&lt;모델&gt;.log</a:t>
              </a:r>
            </a:p>
          </p:txBody>
        </p:sp>
      </p:grpSp>
      <p:sp>
        <p:nvSpPr>
          <p:cNvPr id="36" name="TextBox 35"/>
          <p:cNvSpPr txBox="1"/>
          <p:nvPr/>
        </p:nvSpPr>
        <p:spPr>
          <a:xfrm>
            <a:off x="566928" y="4737081"/>
            <a:ext cx="11057839" cy="1535703"/>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TTFT 는 요청을 보낸 순간부터 첫 글자가 올 때까지다. 프롬프트를 읽는 시간이 여기 들어간다</a:t>
            </a:r>
          </a:p>
          <a:p>
            <a:pPr algn="l">
              <a:lnSpc>
                <a:spcPct val="118000"/>
              </a:lnSpc>
              <a:spcBef>
                <a:spcPts val="600"/>
              </a:spcBef>
              <a:spcAft>
                <a:spcPts val="200"/>
              </a:spcAft>
            </a:pPr>
            <a:r>
              <a:rPr sz="1200" b="0" i="0">
                <a:solidFill>
                  <a:srgbClr val="16202C"/>
                </a:solidFill>
                <a:latin typeface="Segoe UI"/>
                <a:ea typeface="맑은 고딕"/>
                <a:cs typeface="맑은 고딕"/>
              </a:rPr>
              <a:t>▪  디코드 속도는 첫 글자 이후 남은 토큰을 걸린 초로 나눈 값이라, 프롬프트 길이에 덜 휘둘린다</a:t>
            </a:r>
          </a:p>
          <a:p>
            <a:pPr algn="l">
              <a:lnSpc>
                <a:spcPct val="118000"/>
              </a:lnSpc>
              <a:spcBef>
                <a:spcPts val="600"/>
              </a:spcBef>
              <a:spcAft>
                <a:spcPts val="200"/>
              </a:spcAft>
            </a:pPr>
            <a:r>
              <a:rPr sz="1200" b="0" i="0">
                <a:solidFill>
                  <a:srgbClr val="16202C"/>
                </a:solidFill>
                <a:latin typeface="Segoe UI"/>
                <a:ea typeface="맑은 고딕"/>
                <a:cs typeface="맑은 고딕"/>
              </a:rPr>
              <a:t>▪  적재 시간은 따로 잰다. 요청이 아니라 모델을 카드에 올리는 시간이고, serve 로그에서 뽑는다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응답 지연</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4: 모델별 첫 토큰까지 걸린 시간과, 짧은 질문 하나가 끝날 때까지 걸린 시간</a:t>
            </a:r>
          </a:p>
        </p:txBody>
      </p:sp>
      <p:grpSp>
        <p:nvGrpSpPr>
          <p:cNvPr id="8" name="도해 latency"/>
          <p:cNvGrpSpPr/>
          <p:nvPr/>
        </p:nvGrpSpPr>
        <p:grpSpPr>
          <a:xfrm>
            <a:off x="566928" y="1554480"/>
            <a:ext cx="11057839" cy="2971567"/>
            <a:chOff x="566928" y="1554480"/>
            <a:chExt cx="11057839" cy="2971567"/>
          </a:xfrm>
        </p:grpSpPr>
        <p:sp>
          <p:nvSpPr>
            <p:cNvPr id="9" name="TextBox 8"/>
            <p:cNvSpPr txBox="1"/>
            <p:nvPr/>
          </p:nvSpPr>
          <p:spPr>
            <a:xfrm>
              <a:off x="566928" y="1554480"/>
              <a:ext cx="2393254"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첫 토큰까지 걸린 시간(TTFT), 초</a:t>
              </a:r>
            </a:p>
          </p:txBody>
        </p:sp>
        <p:sp>
          <p:nvSpPr>
            <p:cNvPr id="10" name="TextBox 9"/>
            <p:cNvSpPr txBox="1"/>
            <p:nvPr/>
          </p:nvSpPr>
          <p:spPr>
            <a:xfrm>
              <a:off x="566928" y="1810359"/>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11" name="Rectangle 10"/>
            <p:cNvSpPr/>
            <p:nvPr/>
          </p:nvSpPr>
          <p:spPr>
            <a:xfrm>
              <a:off x="2062674" y="1866183"/>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62674" y="1866183"/>
              <a:ext cx="1575876"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5324" y="1810359"/>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4.00</a:t>
              </a:r>
            </a:p>
          </p:txBody>
        </p:sp>
        <p:sp>
          <p:nvSpPr>
            <p:cNvPr id="14" name="TextBox 13"/>
            <p:cNvSpPr txBox="1"/>
            <p:nvPr/>
          </p:nvSpPr>
          <p:spPr>
            <a:xfrm>
              <a:off x="566928" y="1997328"/>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15" name="Rectangle 14"/>
            <p:cNvSpPr/>
            <p:nvPr/>
          </p:nvSpPr>
          <p:spPr>
            <a:xfrm>
              <a:off x="2062674" y="2053151"/>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62674" y="2053151"/>
              <a:ext cx="111155"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5324" y="1997328"/>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0.28</a:t>
              </a:r>
            </a:p>
          </p:txBody>
        </p:sp>
        <p:sp>
          <p:nvSpPr>
            <p:cNvPr id="18" name="TextBox 17"/>
            <p:cNvSpPr txBox="1"/>
            <p:nvPr/>
          </p:nvSpPr>
          <p:spPr>
            <a:xfrm>
              <a:off x="566928" y="2184296"/>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19" name="Rectangle 18"/>
            <p:cNvSpPr/>
            <p:nvPr/>
          </p:nvSpPr>
          <p:spPr>
            <a:xfrm>
              <a:off x="2062674" y="224011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5324" y="218429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21" name="TextBox 20"/>
            <p:cNvSpPr txBox="1"/>
            <p:nvPr/>
          </p:nvSpPr>
          <p:spPr>
            <a:xfrm>
              <a:off x="566928" y="2371264"/>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22" name="Rectangle 21"/>
            <p:cNvSpPr/>
            <p:nvPr/>
          </p:nvSpPr>
          <p:spPr>
            <a:xfrm>
              <a:off x="2062674" y="2427088"/>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62674" y="2427088"/>
              <a:ext cx="76468"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05324" y="2371264"/>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0.19</a:t>
              </a:r>
            </a:p>
          </p:txBody>
        </p:sp>
        <p:sp>
          <p:nvSpPr>
            <p:cNvPr id="25" name="TextBox 24"/>
            <p:cNvSpPr txBox="1"/>
            <p:nvPr/>
          </p:nvSpPr>
          <p:spPr>
            <a:xfrm>
              <a:off x="566928" y="2558233"/>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26" name="Rectangle 25"/>
            <p:cNvSpPr/>
            <p:nvPr/>
          </p:nvSpPr>
          <p:spPr>
            <a:xfrm>
              <a:off x="2062674" y="261405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62674" y="2614056"/>
              <a:ext cx="133622"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05324" y="2558233"/>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0.34</a:t>
              </a:r>
            </a:p>
          </p:txBody>
        </p:sp>
        <p:sp>
          <p:nvSpPr>
            <p:cNvPr id="29" name="TextBox 28"/>
            <p:cNvSpPr txBox="1"/>
            <p:nvPr/>
          </p:nvSpPr>
          <p:spPr>
            <a:xfrm>
              <a:off x="4306294" y="1810359"/>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30" name="Rectangle 29"/>
            <p:cNvSpPr/>
            <p:nvPr/>
          </p:nvSpPr>
          <p:spPr>
            <a:xfrm>
              <a:off x="5802040" y="1866183"/>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02040" y="1866183"/>
              <a:ext cx="71738"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44690" y="1810359"/>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0.18</a:t>
              </a:r>
            </a:p>
          </p:txBody>
        </p:sp>
        <p:sp>
          <p:nvSpPr>
            <p:cNvPr id="33" name="TextBox 32"/>
            <p:cNvSpPr txBox="1"/>
            <p:nvPr/>
          </p:nvSpPr>
          <p:spPr>
            <a:xfrm>
              <a:off x="4306294" y="1997328"/>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34" name="Rectangle 33"/>
            <p:cNvSpPr/>
            <p:nvPr/>
          </p:nvSpPr>
          <p:spPr>
            <a:xfrm>
              <a:off x="5802040" y="2053151"/>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2040" y="2053151"/>
              <a:ext cx="170674"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44690" y="1997328"/>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0.43</a:t>
              </a:r>
            </a:p>
          </p:txBody>
        </p:sp>
        <p:sp>
          <p:nvSpPr>
            <p:cNvPr id="37" name="TextBox 36"/>
            <p:cNvSpPr txBox="1"/>
            <p:nvPr/>
          </p:nvSpPr>
          <p:spPr>
            <a:xfrm>
              <a:off x="4306294" y="2184296"/>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38" name="Rectangle 37"/>
            <p:cNvSpPr/>
            <p:nvPr/>
          </p:nvSpPr>
          <p:spPr>
            <a:xfrm>
              <a:off x="5802040" y="224011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2040" y="2240119"/>
              <a:ext cx="36657"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44690" y="2184296"/>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0.09</a:t>
              </a:r>
            </a:p>
          </p:txBody>
        </p:sp>
        <p:sp>
          <p:nvSpPr>
            <p:cNvPr id="41" name="TextBox 40"/>
            <p:cNvSpPr txBox="1"/>
            <p:nvPr/>
          </p:nvSpPr>
          <p:spPr>
            <a:xfrm>
              <a:off x="4306294" y="2371264"/>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42" name="Rectangle 41"/>
            <p:cNvSpPr/>
            <p:nvPr/>
          </p:nvSpPr>
          <p:spPr>
            <a:xfrm>
              <a:off x="5802040" y="2427088"/>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2040" y="2427088"/>
              <a:ext cx="303902"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44690" y="2371264"/>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0.77</a:t>
              </a:r>
            </a:p>
          </p:txBody>
        </p:sp>
        <p:sp>
          <p:nvSpPr>
            <p:cNvPr id="45" name="TextBox 44"/>
            <p:cNvSpPr txBox="1"/>
            <p:nvPr/>
          </p:nvSpPr>
          <p:spPr>
            <a:xfrm>
              <a:off x="4306294" y="2558233"/>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46" name="Rectangle 45"/>
            <p:cNvSpPr/>
            <p:nvPr/>
          </p:nvSpPr>
          <p:spPr>
            <a:xfrm>
              <a:off x="5802040" y="261405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2040" y="2614056"/>
              <a:ext cx="149389"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44690" y="2558233"/>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0.38</a:t>
              </a:r>
            </a:p>
          </p:txBody>
        </p:sp>
        <p:sp>
          <p:nvSpPr>
            <p:cNvPr id="49" name="TextBox 48"/>
            <p:cNvSpPr txBox="1"/>
            <p:nvPr/>
          </p:nvSpPr>
          <p:spPr>
            <a:xfrm>
              <a:off x="8045660" y="1810359"/>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50" name="Rectangle 49"/>
            <p:cNvSpPr/>
            <p:nvPr/>
          </p:nvSpPr>
          <p:spPr>
            <a:xfrm>
              <a:off x="9541406" y="1866183"/>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184056" y="1810359"/>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52" name="TextBox 51"/>
            <p:cNvSpPr txBox="1"/>
            <p:nvPr/>
          </p:nvSpPr>
          <p:spPr>
            <a:xfrm>
              <a:off x="8045660" y="1997328"/>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53" name="Rectangle 52"/>
            <p:cNvSpPr/>
            <p:nvPr/>
          </p:nvSpPr>
          <p:spPr>
            <a:xfrm>
              <a:off x="9541406" y="2053151"/>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41406" y="2053151"/>
              <a:ext cx="26710"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84056" y="1997328"/>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0.04</a:t>
              </a:r>
            </a:p>
          </p:txBody>
        </p:sp>
        <p:sp>
          <p:nvSpPr>
            <p:cNvPr id="56" name="TextBox 55"/>
            <p:cNvSpPr txBox="1"/>
            <p:nvPr/>
          </p:nvSpPr>
          <p:spPr>
            <a:xfrm>
              <a:off x="8045660" y="2184296"/>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57" name="Rectangle 56"/>
            <p:cNvSpPr/>
            <p:nvPr/>
          </p:nvSpPr>
          <p:spPr>
            <a:xfrm>
              <a:off x="9541406" y="224011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541406" y="2240119"/>
              <a:ext cx="74892"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84056" y="2184296"/>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0.19</a:t>
              </a:r>
            </a:p>
          </p:txBody>
        </p:sp>
        <p:sp>
          <p:nvSpPr>
            <p:cNvPr id="60" name="TextBox 59"/>
            <p:cNvSpPr txBox="1"/>
            <p:nvPr/>
          </p:nvSpPr>
          <p:spPr>
            <a:xfrm>
              <a:off x="8045660" y="2371264"/>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61" name="Rectangle 60"/>
            <p:cNvSpPr/>
            <p:nvPr/>
          </p:nvSpPr>
          <p:spPr>
            <a:xfrm>
              <a:off x="9541406" y="2427088"/>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41406" y="2427088"/>
              <a:ext cx="55183"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184056" y="2371264"/>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0.14</a:t>
              </a:r>
            </a:p>
          </p:txBody>
        </p:sp>
        <p:sp>
          <p:nvSpPr>
            <p:cNvPr id="64" name="TextBox 63"/>
            <p:cNvSpPr txBox="1"/>
            <p:nvPr/>
          </p:nvSpPr>
          <p:spPr>
            <a:xfrm>
              <a:off x="8045660" y="2558233"/>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65" name="Rectangle 64"/>
            <p:cNvSpPr/>
            <p:nvPr/>
          </p:nvSpPr>
          <p:spPr>
            <a:xfrm>
              <a:off x="9541406" y="261405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541406" y="2614056"/>
              <a:ext cx="26710"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184056" y="2558233"/>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0.04</a:t>
              </a:r>
            </a:p>
          </p:txBody>
        </p:sp>
        <p:sp>
          <p:nvSpPr>
            <p:cNvPr id="68" name="TextBox 67"/>
            <p:cNvSpPr txBox="1"/>
            <p:nvPr/>
          </p:nvSpPr>
          <p:spPr>
            <a:xfrm>
              <a:off x="566928" y="2771911"/>
              <a:ext cx="3624006"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전부 0.5초 안쪽이라 사람이 느끼는 첫 반응은 모델을 안 가린다</a:t>
              </a:r>
            </a:p>
          </p:txBody>
        </p:sp>
        <p:sp>
          <p:nvSpPr>
            <p:cNvPr id="69" name="TextBox 68"/>
            <p:cNvSpPr txBox="1"/>
            <p:nvPr/>
          </p:nvSpPr>
          <p:spPr>
            <a:xfrm>
              <a:off x="566928" y="3050226"/>
              <a:ext cx="4285988"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짧은 질문 하나에 답이 다 나올 때까지, 초. 별표는 사고하는 모델</a:t>
              </a:r>
            </a:p>
          </p:txBody>
        </p:sp>
        <p:sp>
          <p:nvSpPr>
            <p:cNvPr id="70" name="TextBox 69"/>
            <p:cNvSpPr txBox="1"/>
            <p:nvPr/>
          </p:nvSpPr>
          <p:spPr>
            <a:xfrm>
              <a:off x="566928" y="3306106"/>
              <a:ext cx="98144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 *</a:t>
              </a:r>
            </a:p>
          </p:txBody>
        </p:sp>
        <p:sp>
          <p:nvSpPr>
            <p:cNvPr id="71" name="Rectangle 70"/>
            <p:cNvSpPr/>
            <p:nvPr/>
          </p:nvSpPr>
          <p:spPr>
            <a:xfrm>
              <a:off x="2062674" y="336192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062674" y="3361929"/>
              <a:ext cx="1575876"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05324" y="3306106"/>
              <a:ext cx="46639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256.1s</a:t>
              </a:r>
            </a:p>
          </p:txBody>
        </p:sp>
        <p:sp>
          <p:nvSpPr>
            <p:cNvPr id="74" name="TextBox 73"/>
            <p:cNvSpPr txBox="1"/>
            <p:nvPr/>
          </p:nvSpPr>
          <p:spPr>
            <a:xfrm>
              <a:off x="566928" y="3493074"/>
              <a:ext cx="124520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 *</a:t>
              </a:r>
            </a:p>
          </p:txBody>
        </p:sp>
        <p:sp>
          <p:nvSpPr>
            <p:cNvPr id="75" name="Rectangle 74"/>
            <p:cNvSpPr/>
            <p:nvPr/>
          </p:nvSpPr>
          <p:spPr>
            <a:xfrm>
              <a:off x="2062674" y="3548897"/>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062674" y="3548897"/>
              <a:ext cx="2671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705324" y="3493074"/>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3.0s</a:t>
              </a:r>
            </a:p>
          </p:txBody>
        </p:sp>
        <p:sp>
          <p:nvSpPr>
            <p:cNvPr id="78" name="TextBox 77"/>
            <p:cNvSpPr txBox="1"/>
            <p:nvPr/>
          </p:nvSpPr>
          <p:spPr>
            <a:xfrm>
              <a:off x="566928" y="3680042"/>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79" name="Rectangle 78"/>
            <p:cNvSpPr/>
            <p:nvPr/>
          </p:nvSpPr>
          <p:spPr>
            <a:xfrm>
              <a:off x="2062674" y="373586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705324" y="3680042"/>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81" name="TextBox 80"/>
            <p:cNvSpPr txBox="1"/>
            <p:nvPr/>
          </p:nvSpPr>
          <p:spPr>
            <a:xfrm>
              <a:off x="566928" y="3867011"/>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82" name="Rectangle 81"/>
            <p:cNvSpPr/>
            <p:nvPr/>
          </p:nvSpPr>
          <p:spPr>
            <a:xfrm>
              <a:off x="2062674" y="3922834"/>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062674" y="3922834"/>
              <a:ext cx="2671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705324" y="3867011"/>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2.7s</a:t>
              </a:r>
            </a:p>
          </p:txBody>
        </p:sp>
        <p:sp>
          <p:nvSpPr>
            <p:cNvPr id="85" name="TextBox 84"/>
            <p:cNvSpPr txBox="1"/>
            <p:nvPr/>
          </p:nvSpPr>
          <p:spPr>
            <a:xfrm>
              <a:off x="566928" y="4053979"/>
              <a:ext cx="883565"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 *</a:t>
              </a:r>
            </a:p>
          </p:txBody>
        </p:sp>
        <p:sp>
          <p:nvSpPr>
            <p:cNvPr id="86" name="Rectangle 85"/>
            <p:cNvSpPr/>
            <p:nvPr/>
          </p:nvSpPr>
          <p:spPr>
            <a:xfrm>
              <a:off x="2062674" y="4109802"/>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062674" y="4109802"/>
              <a:ext cx="157594"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05324" y="4053979"/>
              <a:ext cx="38856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25.6s</a:t>
              </a:r>
            </a:p>
          </p:txBody>
        </p:sp>
        <p:sp>
          <p:nvSpPr>
            <p:cNvPr id="89" name="TextBox 88"/>
            <p:cNvSpPr txBox="1"/>
            <p:nvPr/>
          </p:nvSpPr>
          <p:spPr>
            <a:xfrm>
              <a:off x="4306294" y="3306106"/>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90" name="Rectangle 89"/>
            <p:cNvSpPr/>
            <p:nvPr/>
          </p:nvSpPr>
          <p:spPr>
            <a:xfrm>
              <a:off x="5802040" y="336192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802040" y="3361929"/>
              <a:ext cx="2671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444690" y="3306106"/>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3.8s</a:t>
              </a:r>
            </a:p>
          </p:txBody>
        </p:sp>
        <p:sp>
          <p:nvSpPr>
            <p:cNvPr id="93" name="TextBox 92"/>
            <p:cNvSpPr txBox="1"/>
            <p:nvPr/>
          </p:nvSpPr>
          <p:spPr>
            <a:xfrm>
              <a:off x="4306294" y="3493074"/>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94" name="Rectangle 93"/>
            <p:cNvSpPr/>
            <p:nvPr/>
          </p:nvSpPr>
          <p:spPr>
            <a:xfrm>
              <a:off x="5802040" y="3548897"/>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802040" y="3548897"/>
              <a:ext cx="2671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444690" y="3493074"/>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2.6s</a:t>
              </a:r>
            </a:p>
          </p:txBody>
        </p:sp>
        <p:sp>
          <p:nvSpPr>
            <p:cNvPr id="97" name="TextBox 96"/>
            <p:cNvSpPr txBox="1"/>
            <p:nvPr/>
          </p:nvSpPr>
          <p:spPr>
            <a:xfrm>
              <a:off x="4306294" y="3680042"/>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98" name="Rectangle 97"/>
            <p:cNvSpPr/>
            <p:nvPr/>
          </p:nvSpPr>
          <p:spPr>
            <a:xfrm>
              <a:off x="5802040" y="373586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5802040" y="3735866"/>
              <a:ext cx="2671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44690" y="3680042"/>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1.3s</a:t>
              </a:r>
            </a:p>
          </p:txBody>
        </p:sp>
        <p:sp>
          <p:nvSpPr>
            <p:cNvPr id="101" name="TextBox 100"/>
            <p:cNvSpPr txBox="1"/>
            <p:nvPr/>
          </p:nvSpPr>
          <p:spPr>
            <a:xfrm>
              <a:off x="4306294" y="3867011"/>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102" name="Rectangle 101"/>
            <p:cNvSpPr/>
            <p:nvPr/>
          </p:nvSpPr>
          <p:spPr>
            <a:xfrm>
              <a:off x="5802040" y="3922834"/>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802040" y="3922834"/>
              <a:ext cx="2671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444690" y="3867011"/>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1.5s</a:t>
              </a:r>
            </a:p>
          </p:txBody>
        </p:sp>
        <p:sp>
          <p:nvSpPr>
            <p:cNvPr id="105" name="TextBox 104"/>
            <p:cNvSpPr txBox="1"/>
            <p:nvPr/>
          </p:nvSpPr>
          <p:spPr>
            <a:xfrm>
              <a:off x="4306294" y="4053979"/>
              <a:ext cx="135051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 *</a:t>
              </a:r>
            </a:p>
          </p:txBody>
        </p:sp>
        <p:sp>
          <p:nvSpPr>
            <p:cNvPr id="106" name="Rectangle 105"/>
            <p:cNvSpPr/>
            <p:nvPr/>
          </p:nvSpPr>
          <p:spPr>
            <a:xfrm>
              <a:off x="5802040" y="4109802"/>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5802040" y="4109802"/>
              <a:ext cx="186192"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444690" y="4053979"/>
              <a:ext cx="38856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30.3s</a:t>
              </a:r>
            </a:p>
          </p:txBody>
        </p:sp>
        <p:sp>
          <p:nvSpPr>
            <p:cNvPr id="109" name="TextBox 108"/>
            <p:cNvSpPr txBox="1"/>
            <p:nvPr/>
          </p:nvSpPr>
          <p:spPr>
            <a:xfrm>
              <a:off x="8045660" y="3306106"/>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110" name="Rectangle 109"/>
            <p:cNvSpPr/>
            <p:nvPr/>
          </p:nvSpPr>
          <p:spPr>
            <a:xfrm>
              <a:off x="9541406" y="336192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184056" y="330610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12" name="TextBox 111"/>
            <p:cNvSpPr txBox="1"/>
            <p:nvPr/>
          </p:nvSpPr>
          <p:spPr>
            <a:xfrm>
              <a:off x="8045660" y="3493074"/>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113" name="Rectangle 112"/>
            <p:cNvSpPr/>
            <p:nvPr/>
          </p:nvSpPr>
          <p:spPr>
            <a:xfrm>
              <a:off x="9541406" y="3548897"/>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541406" y="3548897"/>
              <a:ext cx="26710"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184056" y="3493074"/>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2.6s</a:t>
              </a:r>
            </a:p>
          </p:txBody>
        </p:sp>
        <p:sp>
          <p:nvSpPr>
            <p:cNvPr id="116" name="TextBox 115"/>
            <p:cNvSpPr txBox="1"/>
            <p:nvPr/>
          </p:nvSpPr>
          <p:spPr>
            <a:xfrm>
              <a:off x="8045660" y="3680042"/>
              <a:ext cx="8057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 *</a:t>
              </a:r>
            </a:p>
          </p:txBody>
        </p:sp>
        <p:sp>
          <p:nvSpPr>
            <p:cNvPr id="117" name="Rectangle 116"/>
            <p:cNvSpPr/>
            <p:nvPr/>
          </p:nvSpPr>
          <p:spPr>
            <a:xfrm>
              <a:off x="9541406" y="373586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541406" y="3735866"/>
              <a:ext cx="28709"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184056" y="3680042"/>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4.7s</a:t>
              </a:r>
            </a:p>
          </p:txBody>
        </p:sp>
        <p:sp>
          <p:nvSpPr>
            <p:cNvPr id="120" name="TextBox 119"/>
            <p:cNvSpPr txBox="1"/>
            <p:nvPr/>
          </p:nvSpPr>
          <p:spPr>
            <a:xfrm>
              <a:off x="8045660" y="3867011"/>
              <a:ext cx="8057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 *</a:t>
              </a:r>
            </a:p>
          </p:txBody>
        </p:sp>
        <p:sp>
          <p:nvSpPr>
            <p:cNvPr id="121" name="Rectangle 120"/>
            <p:cNvSpPr/>
            <p:nvPr/>
          </p:nvSpPr>
          <p:spPr>
            <a:xfrm>
              <a:off x="9541406" y="3922834"/>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541406" y="3922834"/>
              <a:ext cx="26710"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1184056" y="3867011"/>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4.2s</a:t>
              </a:r>
            </a:p>
          </p:txBody>
        </p:sp>
        <p:sp>
          <p:nvSpPr>
            <p:cNvPr id="124" name="TextBox 123"/>
            <p:cNvSpPr txBox="1"/>
            <p:nvPr/>
          </p:nvSpPr>
          <p:spPr>
            <a:xfrm>
              <a:off x="8045660" y="4053979"/>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125" name="Rectangle 124"/>
            <p:cNvSpPr/>
            <p:nvPr/>
          </p:nvSpPr>
          <p:spPr>
            <a:xfrm>
              <a:off x="9541406" y="4109802"/>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541406" y="4109802"/>
              <a:ext cx="26710"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1184056" y="4053979"/>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3.2s</a:t>
              </a:r>
            </a:p>
          </p:txBody>
        </p:sp>
        <p:sp>
          <p:nvSpPr>
            <p:cNvPr id="128" name="TextBox 127"/>
            <p:cNvSpPr txBox="1"/>
            <p:nvPr/>
          </p:nvSpPr>
          <p:spPr>
            <a:xfrm>
              <a:off x="566928" y="4313331"/>
              <a:ext cx="4166188"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사고하는 모델은 첫 토큰은 빨라도 답이 끝나기까지 열 배 넘게 걸린다</a:t>
              </a:r>
            </a:p>
          </p:txBody>
        </p:sp>
        <p:sp>
          <p:nvSpPr>
            <p:cNvPr id="129" name="TextBox 128"/>
            <p:cNvSpPr txBox="1"/>
            <p:nvPr/>
          </p:nvSpPr>
          <p:spPr>
            <a:xfrm>
              <a:off x="9630890" y="4321077"/>
              <a:ext cx="1993877"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프롬프트 4종 중 가장 짧은 것 기준</a:t>
              </a:r>
            </a:p>
          </p:txBody>
        </p:sp>
      </p:grpSp>
      <p:sp>
        <p:nvSpPr>
          <p:cNvPr id="130" name="TextBox 129"/>
          <p:cNvSpPr txBox="1"/>
          <p:nvPr/>
        </p:nvSpPr>
        <p:spPr>
          <a:xfrm>
            <a:off x="566928" y="4763791"/>
            <a:ext cx="11057839" cy="1508993"/>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TTFT 는 중앙값 기준 0.04~4.00초다. 체감 차이는 첫 글자가 아니라 답이 끝날 때까지에서 생긴다</a:t>
            </a:r>
          </a:p>
          <a:p>
            <a:pPr algn="l">
              <a:lnSpc>
                <a:spcPct val="118000"/>
              </a:lnSpc>
              <a:spcBef>
                <a:spcPts val="600"/>
              </a:spcBef>
              <a:spcAft>
                <a:spcPts val="200"/>
              </a:spcAft>
            </a:pPr>
            <a:r>
              <a:rPr sz="1200" b="0" i="0">
                <a:solidFill>
                  <a:srgbClr val="16202C"/>
                </a:solidFill>
                <a:latin typeface="Segoe UI"/>
                <a:ea typeface="맑은 고딕"/>
                <a:cs typeface="맑은 고딕"/>
              </a:rPr>
              <a:t>▪  별표가 붙은 사고하는 모델은 답을 내기 전에 속으로 길게 생각한다. 같은 30B 인데도 A3B Instruct 는 1.5초, A3B Thinking 은 30.3초가 걸렸다. 1024 한도였던 08-29 에는 A3B Thinking 이 사고 도중 잘려 14.5초로 짧게 나왔다</a:t>
            </a:r>
          </a:p>
          <a:p>
            <a:pPr algn="l">
              <a:lnSpc>
                <a:spcPct val="118000"/>
              </a:lnSpc>
              <a:spcBef>
                <a:spcPts val="600"/>
              </a:spcBef>
              <a:spcAft>
                <a:spcPts val="200"/>
              </a:spcAft>
            </a:pPr>
            <a:r>
              <a:rPr sz="1200" b="0" i="0">
                <a:solidFill>
                  <a:srgbClr val="16202C"/>
                </a:solidFill>
                <a:latin typeface="Segoe UI"/>
                <a:ea typeface="맑은 고딕"/>
                <a:cs typeface="맑은 고딕"/>
              </a:rPr>
              <a:t>▪  짧게 묻고 짧게 받는 용도라면 사고 없는 모델이 훨씬 낫다. 어려운 추론을 맡길 때만 사고하는 쪽을 고른다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생성 처리량</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5: 요청 하나를 처리하는 속도와, 같은 질문 4개를 동시에 던졌을 때의 전체 속도</a:t>
            </a:r>
          </a:p>
        </p:txBody>
      </p:sp>
      <p:grpSp>
        <p:nvGrpSpPr>
          <p:cNvPr id="8" name="도해 tput"/>
          <p:cNvGrpSpPr/>
          <p:nvPr/>
        </p:nvGrpSpPr>
        <p:grpSpPr>
          <a:xfrm>
            <a:off x="566928" y="1554480"/>
            <a:ext cx="11057839" cy="3078406"/>
            <a:chOff x="566928" y="1554480"/>
            <a:chExt cx="11057839" cy="3078406"/>
          </a:xfrm>
        </p:grpSpPr>
        <p:sp>
          <p:nvSpPr>
            <p:cNvPr id="9" name="TextBox 8"/>
            <p:cNvSpPr txBox="1"/>
            <p:nvPr/>
          </p:nvSpPr>
          <p:spPr>
            <a:xfrm>
              <a:off x="566928" y="1554480"/>
              <a:ext cx="2426735"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요청 하나를 처리하는 속도, tok/s</a:t>
              </a:r>
            </a:p>
          </p:txBody>
        </p:sp>
        <p:sp>
          <p:nvSpPr>
            <p:cNvPr id="10" name="TextBox 9"/>
            <p:cNvSpPr txBox="1"/>
            <p:nvPr/>
          </p:nvSpPr>
          <p:spPr>
            <a:xfrm>
              <a:off x="566928" y="1850424"/>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11" name="Rectangle 10"/>
            <p:cNvSpPr/>
            <p:nvPr/>
          </p:nvSpPr>
          <p:spPr>
            <a:xfrm>
              <a:off x="2062674" y="1892893"/>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62674" y="1892893"/>
              <a:ext cx="26710"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5324" y="1850424"/>
              <a:ext cx="12830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a:t>
              </a:r>
            </a:p>
          </p:txBody>
        </p:sp>
        <p:sp>
          <p:nvSpPr>
            <p:cNvPr id="14" name="TextBox 13"/>
            <p:cNvSpPr txBox="1"/>
            <p:nvPr/>
          </p:nvSpPr>
          <p:spPr>
            <a:xfrm>
              <a:off x="566928" y="2050747"/>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15" name="Rectangle 14"/>
            <p:cNvSpPr/>
            <p:nvPr/>
          </p:nvSpPr>
          <p:spPr>
            <a:xfrm>
              <a:off x="2062674" y="2093216"/>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62674" y="2093216"/>
              <a:ext cx="728587"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5324" y="205074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36</a:t>
              </a:r>
            </a:p>
          </p:txBody>
        </p:sp>
        <p:sp>
          <p:nvSpPr>
            <p:cNvPr id="18" name="TextBox 17"/>
            <p:cNvSpPr txBox="1"/>
            <p:nvPr/>
          </p:nvSpPr>
          <p:spPr>
            <a:xfrm>
              <a:off x="566928" y="2251070"/>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19" name="Rectangle 18"/>
            <p:cNvSpPr/>
            <p:nvPr/>
          </p:nvSpPr>
          <p:spPr>
            <a:xfrm>
              <a:off x="2062674" y="2293539"/>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5324" y="2251070"/>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21" name="TextBox 20"/>
            <p:cNvSpPr txBox="1"/>
            <p:nvPr/>
          </p:nvSpPr>
          <p:spPr>
            <a:xfrm>
              <a:off x="566928" y="2451394"/>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22" name="Rectangle 21"/>
            <p:cNvSpPr/>
            <p:nvPr/>
          </p:nvSpPr>
          <p:spPr>
            <a:xfrm>
              <a:off x="2062674" y="2493862"/>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62674" y="2493862"/>
              <a:ext cx="534160"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05324" y="2451394"/>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26</a:t>
              </a:r>
            </a:p>
          </p:txBody>
        </p:sp>
        <p:sp>
          <p:nvSpPr>
            <p:cNvPr id="25" name="TextBox 24"/>
            <p:cNvSpPr txBox="1"/>
            <p:nvPr/>
          </p:nvSpPr>
          <p:spPr>
            <a:xfrm>
              <a:off x="566928" y="2651717"/>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26" name="Rectangle 25"/>
            <p:cNvSpPr/>
            <p:nvPr/>
          </p:nvSpPr>
          <p:spPr>
            <a:xfrm>
              <a:off x="2062674" y="2694185"/>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62674" y="2694185"/>
              <a:ext cx="515741"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05324" y="265171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25</a:t>
              </a:r>
            </a:p>
          </p:txBody>
        </p:sp>
        <p:sp>
          <p:nvSpPr>
            <p:cNvPr id="29" name="TextBox 28"/>
            <p:cNvSpPr txBox="1"/>
            <p:nvPr/>
          </p:nvSpPr>
          <p:spPr>
            <a:xfrm>
              <a:off x="4306294" y="1850424"/>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30" name="Rectangle 29"/>
            <p:cNvSpPr/>
            <p:nvPr/>
          </p:nvSpPr>
          <p:spPr>
            <a:xfrm>
              <a:off x="5802040" y="1892893"/>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02040" y="1892893"/>
              <a:ext cx="654909"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44690" y="1850424"/>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32</a:t>
              </a:r>
            </a:p>
          </p:txBody>
        </p:sp>
        <p:sp>
          <p:nvSpPr>
            <p:cNvPr id="33" name="TextBox 32"/>
            <p:cNvSpPr txBox="1"/>
            <p:nvPr/>
          </p:nvSpPr>
          <p:spPr>
            <a:xfrm>
              <a:off x="4306294" y="2050747"/>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34" name="Rectangle 33"/>
            <p:cNvSpPr/>
            <p:nvPr/>
          </p:nvSpPr>
          <p:spPr>
            <a:xfrm>
              <a:off x="5802040" y="2093216"/>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2040" y="2093216"/>
              <a:ext cx="605791"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44690" y="205074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30</a:t>
              </a:r>
            </a:p>
          </p:txBody>
        </p:sp>
        <p:sp>
          <p:nvSpPr>
            <p:cNvPr id="37" name="TextBox 36"/>
            <p:cNvSpPr txBox="1"/>
            <p:nvPr/>
          </p:nvSpPr>
          <p:spPr>
            <a:xfrm>
              <a:off x="4306294" y="2251070"/>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38" name="Rectangle 37"/>
            <p:cNvSpPr/>
            <p:nvPr/>
          </p:nvSpPr>
          <p:spPr>
            <a:xfrm>
              <a:off x="5802040" y="2293539"/>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2040" y="2293539"/>
              <a:ext cx="1446940"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44690" y="2251070"/>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71</a:t>
              </a:r>
            </a:p>
          </p:txBody>
        </p:sp>
        <p:sp>
          <p:nvSpPr>
            <p:cNvPr id="41" name="TextBox 40"/>
            <p:cNvSpPr txBox="1"/>
            <p:nvPr/>
          </p:nvSpPr>
          <p:spPr>
            <a:xfrm>
              <a:off x="4306294" y="2451394"/>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42" name="Rectangle 41"/>
            <p:cNvSpPr/>
            <p:nvPr/>
          </p:nvSpPr>
          <p:spPr>
            <a:xfrm>
              <a:off x="5802040" y="2493862"/>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2040" y="2493862"/>
              <a:ext cx="1420335"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44690" y="2451394"/>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69</a:t>
              </a:r>
            </a:p>
          </p:txBody>
        </p:sp>
        <p:sp>
          <p:nvSpPr>
            <p:cNvPr id="45" name="TextBox 44"/>
            <p:cNvSpPr txBox="1"/>
            <p:nvPr/>
          </p:nvSpPr>
          <p:spPr>
            <a:xfrm>
              <a:off x="4306294" y="2651717"/>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46" name="Rectangle 45"/>
            <p:cNvSpPr/>
            <p:nvPr/>
          </p:nvSpPr>
          <p:spPr>
            <a:xfrm>
              <a:off x="5802040" y="2694185"/>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2040" y="2694185"/>
              <a:ext cx="751099"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44690" y="265171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37</a:t>
              </a:r>
            </a:p>
          </p:txBody>
        </p:sp>
        <p:sp>
          <p:nvSpPr>
            <p:cNvPr id="49" name="TextBox 48"/>
            <p:cNvSpPr txBox="1"/>
            <p:nvPr/>
          </p:nvSpPr>
          <p:spPr>
            <a:xfrm>
              <a:off x="8045660" y="1850424"/>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50" name="Rectangle 49"/>
            <p:cNvSpPr/>
            <p:nvPr/>
          </p:nvSpPr>
          <p:spPr>
            <a:xfrm>
              <a:off x="9541406" y="1892893"/>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184056" y="185042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52" name="TextBox 51"/>
            <p:cNvSpPr txBox="1"/>
            <p:nvPr/>
          </p:nvSpPr>
          <p:spPr>
            <a:xfrm>
              <a:off x="8045660" y="2050747"/>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53" name="Rectangle 52"/>
            <p:cNvSpPr/>
            <p:nvPr/>
          </p:nvSpPr>
          <p:spPr>
            <a:xfrm>
              <a:off x="9541406" y="2093216"/>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41406" y="2093216"/>
              <a:ext cx="984411"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84056" y="205074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48</a:t>
              </a:r>
            </a:p>
          </p:txBody>
        </p:sp>
        <p:sp>
          <p:nvSpPr>
            <p:cNvPr id="56" name="TextBox 55"/>
            <p:cNvSpPr txBox="1"/>
            <p:nvPr/>
          </p:nvSpPr>
          <p:spPr>
            <a:xfrm>
              <a:off x="8045660" y="2251070"/>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57" name="Rectangle 56"/>
            <p:cNvSpPr/>
            <p:nvPr/>
          </p:nvSpPr>
          <p:spPr>
            <a:xfrm>
              <a:off x="9541406" y="2293539"/>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541406" y="2293539"/>
              <a:ext cx="1262747"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84056" y="2251070"/>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62</a:t>
              </a:r>
            </a:p>
          </p:txBody>
        </p:sp>
        <p:sp>
          <p:nvSpPr>
            <p:cNvPr id="60" name="TextBox 59"/>
            <p:cNvSpPr txBox="1"/>
            <p:nvPr/>
          </p:nvSpPr>
          <p:spPr>
            <a:xfrm>
              <a:off x="8045660" y="2451394"/>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61" name="Rectangle 60"/>
            <p:cNvSpPr/>
            <p:nvPr/>
          </p:nvSpPr>
          <p:spPr>
            <a:xfrm>
              <a:off x="9541406" y="2493862"/>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41406" y="2493862"/>
              <a:ext cx="1549270"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184056" y="2451394"/>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76</a:t>
              </a:r>
            </a:p>
          </p:txBody>
        </p:sp>
        <p:sp>
          <p:nvSpPr>
            <p:cNvPr id="64" name="TextBox 63"/>
            <p:cNvSpPr txBox="1"/>
            <p:nvPr/>
          </p:nvSpPr>
          <p:spPr>
            <a:xfrm>
              <a:off x="8045660" y="2651717"/>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65" name="Rectangle 64"/>
            <p:cNvSpPr/>
            <p:nvPr/>
          </p:nvSpPr>
          <p:spPr>
            <a:xfrm>
              <a:off x="9541406" y="2694185"/>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541406" y="2694185"/>
              <a:ext cx="1575876"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184056" y="265171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77</a:t>
              </a:r>
            </a:p>
          </p:txBody>
        </p:sp>
        <p:sp>
          <p:nvSpPr>
            <p:cNvPr id="68" name="TextBox 67"/>
            <p:cNvSpPr txBox="1"/>
            <p:nvPr/>
          </p:nvSpPr>
          <p:spPr>
            <a:xfrm>
              <a:off x="566928" y="3036871"/>
              <a:ext cx="3512707"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같은 질문 4개를 동시에 던졌을 때 전체 속도, tok/s</a:t>
              </a:r>
            </a:p>
          </p:txBody>
        </p:sp>
        <p:sp>
          <p:nvSpPr>
            <p:cNvPr id="69" name="TextBox 68"/>
            <p:cNvSpPr txBox="1"/>
            <p:nvPr/>
          </p:nvSpPr>
          <p:spPr>
            <a:xfrm>
              <a:off x="566928" y="3332816"/>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70" name="Rectangle 69"/>
            <p:cNvSpPr/>
            <p:nvPr/>
          </p:nvSpPr>
          <p:spPr>
            <a:xfrm>
              <a:off x="2062674" y="337528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062674" y="3375284"/>
              <a:ext cx="30017"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705324" y="3332816"/>
              <a:ext cx="12830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5</a:t>
              </a:r>
            </a:p>
          </p:txBody>
        </p:sp>
        <p:sp>
          <p:nvSpPr>
            <p:cNvPr id="73" name="TextBox 72"/>
            <p:cNvSpPr txBox="1"/>
            <p:nvPr/>
          </p:nvSpPr>
          <p:spPr>
            <a:xfrm>
              <a:off x="566928" y="3533139"/>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74" name="Rectangle 73"/>
            <p:cNvSpPr/>
            <p:nvPr/>
          </p:nvSpPr>
          <p:spPr>
            <a:xfrm>
              <a:off x="2062674" y="357560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062674" y="3575607"/>
              <a:ext cx="124685"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705324" y="3533139"/>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22</a:t>
              </a:r>
            </a:p>
          </p:txBody>
        </p:sp>
        <p:sp>
          <p:nvSpPr>
            <p:cNvPr id="77" name="TextBox 76"/>
            <p:cNvSpPr txBox="1"/>
            <p:nvPr/>
          </p:nvSpPr>
          <p:spPr>
            <a:xfrm>
              <a:off x="566928" y="3733462"/>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78" name="Rectangle 77"/>
            <p:cNvSpPr/>
            <p:nvPr/>
          </p:nvSpPr>
          <p:spPr>
            <a:xfrm>
              <a:off x="2062674" y="3775930"/>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05324" y="3733462"/>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80" name="TextBox 79"/>
            <p:cNvSpPr txBox="1"/>
            <p:nvPr/>
          </p:nvSpPr>
          <p:spPr>
            <a:xfrm>
              <a:off x="566928" y="3933785"/>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81" name="Rectangle 80"/>
            <p:cNvSpPr/>
            <p:nvPr/>
          </p:nvSpPr>
          <p:spPr>
            <a:xfrm>
              <a:off x="2062674" y="397625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062674" y="3976254"/>
              <a:ext cx="341151"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705324" y="3933785"/>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59</a:t>
              </a:r>
            </a:p>
          </p:txBody>
        </p:sp>
        <p:sp>
          <p:nvSpPr>
            <p:cNvPr id="84" name="TextBox 83"/>
            <p:cNvSpPr txBox="1"/>
            <p:nvPr/>
          </p:nvSpPr>
          <p:spPr>
            <a:xfrm>
              <a:off x="566928" y="4134108"/>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85" name="Rectangle 84"/>
            <p:cNvSpPr/>
            <p:nvPr/>
          </p:nvSpPr>
          <p:spPr>
            <a:xfrm>
              <a:off x="2062674" y="417657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062674" y="4176577"/>
              <a:ext cx="198572"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705324" y="4134108"/>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34</a:t>
              </a:r>
            </a:p>
          </p:txBody>
        </p:sp>
        <p:sp>
          <p:nvSpPr>
            <p:cNvPr id="88" name="TextBox 87"/>
            <p:cNvSpPr txBox="1"/>
            <p:nvPr/>
          </p:nvSpPr>
          <p:spPr>
            <a:xfrm>
              <a:off x="4306294" y="3332816"/>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89" name="Rectangle 88"/>
            <p:cNvSpPr/>
            <p:nvPr/>
          </p:nvSpPr>
          <p:spPr>
            <a:xfrm>
              <a:off x="5802040" y="337528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802040" y="3375284"/>
              <a:ext cx="613033"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444690" y="3332816"/>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106</a:t>
              </a:r>
            </a:p>
          </p:txBody>
        </p:sp>
        <p:sp>
          <p:nvSpPr>
            <p:cNvPr id="92" name="TextBox 91"/>
            <p:cNvSpPr txBox="1"/>
            <p:nvPr/>
          </p:nvSpPr>
          <p:spPr>
            <a:xfrm>
              <a:off x="4306294" y="3533139"/>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93" name="Rectangle 92"/>
            <p:cNvSpPr/>
            <p:nvPr/>
          </p:nvSpPr>
          <p:spPr>
            <a:xfrm>
              <a:off x="5802040" y="357560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802040" y="3575607"/>
              <a:ext cx="152970"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444690" y="3533139"/>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26</a:t>
              </a:r>
            </a:p>
          </p:txBody>
        </p:sp>
        <p:sp>
          <p:nvSpPr>
            <p:cNvPr id="96" name="TextBox 95"/>
            <p:cNvSpPr txBox="1"/>
            <p:nvPr/>
          </p:nvSpPr>
          <p:spPr>
            <a:xfrm>
              <a:off x="4306294" y="3733462"/>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97" name="Rectangle 96"/>
            <p:cNvSpPr/>
            <p:nvPr/>
          </p:nvSpPr>
          <p:spPr>
            <a:xfrm>
              <a:off x="5802040" y="3775930"/>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802040" y="3775930"/>
              <a:ext cx="786206"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444690" y="3733462"/>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136</a:t>
              </a:r>
            </a:p>
          </p:txBody>
        </p:sp>
        <p:sp>
          <p:nvSpPr>
            <p:cNvPr id="100" name="TextBox 99"/>
            <p:cNvSpPr txBox="1"/>
            <p:nvPr/>
          </p:nvSpPr>
          <p:spPr>
            <a:xfrm>
              <a:off x="4306294" y="3933785"/>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101" name="Rectangle 100"/>
            <p:cNvSpPr/>
            <p:nvPr/>
          </p:nvSpPr>
          <p:spPr>
            <a:xfrm>
              <a:off x="5802040" y="397625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802040" y="3976254"/>
              <a:ext cx="200304"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444690" y="3933785"/>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35</a:t>
              </a:r>
            </a:p>
          </p:txBody>
        </p:sp>
        <p:sp>
          <p:nvSpPr>
            <p:cNvPr id="104" name="TextBox 103"/>
            <p:cNvSpPr txBox="1"/>
            <p:nvPr/>
          </p:nvSpPr>
          <p:spPr>
            <a:xfrm>
              <a:off x="4306294" y="4134108"/>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105" name="Rectangle 104"/>
            <p:cNvSpPr/>
            <p:nvPr/>
          </p:nvSpPr>
          <p:spPr>
            <a:xfrm>
              <a:off x="5802040" y="417657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5802040" y="4176577"/>
              <a:ext cx="334801"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444690" y="4134108"/>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58</a:t>
              </a:r>
            </a:p>
          </p:txBody>
        </p:sp>
        <p:sp>
          <p:nvSpPr>
            <p:cNvPr id="108" name="TextBox 107"/>
            <p:cNvSpPr txBox="1"/>
            <p:nvPr/>
          </p:nvSpPr>
          <p:spPr>
            <a:xfrm>
              <a:off x="8045660" y="3332816"/>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109" name="Rectangle 108"/>
            <p:cNvSpPr/>
            <p:nvPr/>
          </p:nvSpPr>
          <p:spPr>
            <a:xfrm>
              <a:off x="9541406" y="337528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184056" y="333281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11" name="TextBox 110"/>
            <p:cNvSpPr txBox="1"/>
            <p:nvPr/>
          </p:nvSpPr>
          <p:spPr>
            <a:xfrm>
              <a:off x="8045660" y="3533139"/>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112" name="Rectangle 111"/>
            <p:cNvSpPr/>
            <p:nvPr/>
          </p:nvSpPr>
          <p:spPr>
            <a:xfrm>
              <a:off x="9541406" y="357560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9541406" y="3575607"/>
              <a:ext cx="1050006"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184056" y="3533139"/>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182</a:t>
              </a:r>
            </a:p>
          </p:txBody>
        </p:sp>
        <p:sp>
          <p:nvSpPr>
            <p:cNvPr id="115" name="TextBox 114"/>
            <p:cNvSpPr txBox="1"/>
            <p:nvPr/>
          </p:nvSpPr>
          <p:spPr>
            <a:xfrm>
              <a:off x="8045660" y="3733462"/>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116" name="Rectangle 115"/>
            <p:cNvSpPr/>
            <p:nvPr/>
          </p:nvSpPr>
          <p:spPr>
            <a:xfrm>
              <a:off x="9541406" y="3775930"/>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541406" y="3775930"/>
              <a:ext cx="1248578"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1184056" y="3733462"/>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216</a:t>
              </a:r>
            </a:p>
          </p:txBody>
        </p:sp>
        <p:sp>
          <p:nvSpPr>
            <p:cNvPr id="119" name="TextBox 118"/>
            <p:cNvSpPr txBox="1"/>
            <p:nvPr/>
          </p:nvSpPr>
          <p:spPr>
            <a:xfrm>
              <a:off x="8045660" y="3933785"/>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120" name="Rectangle 119"/>
            <p:cNvSpPr/>
            <p:nvPr/>
          </p:nvSpPr>
          <p:spPr>
            <a:xfrm>
              <a:off x="9541406" y="397625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9541406" y="3976254"/>
              <a:ext cx="1299376"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1184056" y="3933785"/>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225</a:t>
              </a:r>
            </a:p>
          </p:txBody>
        </p:sp>
        <p:sp>
          <p:nvSpPr>
            <p:cNvPr id="123" name="TextBox 122"/>
            <p:cNvSpPr txBox="1"/>
            <p:nvPr/>
          </p:nvSpPr>
          <p:spPr>
            <a:xfrm>
              <a:off x="8045660" y="4134108"/>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124" name="Rectangle 123"/>
            <p:cNvSpPr/>
            <p:nvPr/>
          </p:nvSpPr>
          <p:spPr>
            <a:xfrm>
              <a:off x="9541406" y="417657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9541406" y="4176577"/>
              <a:ext cx="1575876"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184056" y="4134108"/>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273</a:t>
              </a:r>
            </a:p>
          </p:txBody>
        </p:sp>
        <p:sp>
          <p:nvSpPr>
            <p:cNvPr id="127" name="TextBox 126"/>
            <p:cNvSpPr txBox="1"/>
            <p:nvPr/>
          </p:nvSpPr>
          <p:spPr>
            <a:xfrm>
              <a:off x="566928" y="4420170"/>
              <a:ext cx="4342178"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노란 막대는 카드 한 장짜리다, 작은 모델이 동시 처리에서 오히려 앞선다</a:t>
              </a:r>
            </a:p>
          </p:txBody>
        </p:sp>
        <p:sp>
          <p:nvSpPr>
            <p:cNvPr id="128" name="TextBox 127"/>
            <p:cNvSpPr txBox="1"/>
            <p:nvPr/>
          </p:nvSpPr>
          <p:spPr>
            <a:xfrm>
              <a:off x="9330245" y="4427916"/>
              <a:ext cx="2294522"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동시 4요청 합계 토큰 ÷ 전부 끝난 시간</a:t>
              </a:r>
            </a:p>
          </p:txBody>
        </p:sp>
      </p:grpSp>
      <p:sp>
        <p:nvSpPr>
          <p:cNvPr id="129" name="TextBox 128"/>
          <p:cNvSpPr txBox="1"/>
          <p:nvPr/>
        </p:nvSpPr>
        <p:spPr>
          <a:xfrm>
            <a:off x="566928" y="4870630"/>
            <a:ext cx="11057839" cy="1402154"/>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요청 하나만 보면 큰 모델과 작은 모델의 차이가 크지 않다. 토큰마다 무게 전부를 한 번씩 읽어야 해서 모델 크기보다 카드 수와 정밀도가 속도를 정한다</a:t>
            </a:r>
          </a:p>
          <a:p>
            <a:pPr algn="l">
              <a:lnSpc>
                <a:spcPct val="118000"/>
              </a:lnSpc>
              <a:spcBef>
                <a:spcPts val="600"/>
              </a:spcBef>
              <a:spcAft>
                <a:spcPts val="200"/>
              </a:spcAft>
            </a:pPr>
            <a:r>
              <a:rPr sz="1200" b="0" i="0">
                <a:solidFill>
                  <a:srgbClr val="16202C"/>
                </a:solidFill>
                <a:latin typeface="Segoe UI"/>
                <a:ea typeface="맑은 고딕"/>
                <a:cs typeface="맑은 고딕"/>
              </a:rPr>
              <a:t>▪  동시에 여러 요청이 들어오면 갈린다. 카드 한 장짜리 Qwen2.5 0.5B 가 273 tok/s 로, 넉 장짜리 가운데 가장 빠른 Qwen3-Coder 30B 의 136 tok/s 보다 높다</a:t>
            </a:r>
          </a:p>
          <a:p>
            <a:pPr algn="l">
              <a:lnSpc>
                <a:spcPct val="118000"/>
              </a:lnSpc>
              <a:spcBef>
                <a:spcPts val="600"/>
              </a:spcBef>
              <a:spcAft>
                <a:spcPts val="200"/>
              </a:spcAft>
            </a:pPr>
            <a:r>
              <a:rPr sz="1200" b="0" i="0">
                <a:solidFill>
                  <a:srgbClr val="16202C"/>
                </a:solidFill>
                <a:latin typeface="Segoe UI"/>
                <a:ea typeface="맑은 고딕"/>
                <a:cs typeface="맑은 고딕"/>
              </a:rPr>
              <a:t>▪  이번 측정은 스텝 사이 멈춤이 시간대에 따라 끼어, 넉 장짜리 모델 여럿이 두 숫자 모두 낮게 나왔다. 다음 장에 멈춤을 뺀 속도를 따로 적었다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스텝 사이 멈춤</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단일 요청 네 개의 조각 도착 시각에서 계산. 멈춤 뺀 속도 = 정상 조각 간격 중앙값의 역수</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a:t>
            </a:r>
          </a:p>
        </p:txBody>
      </p:sp>
      <p:graphicFrame>
        <p:nvGraphicFramePr>
          <p:cNvPr id="8" name="Table 7"/>
          <p:cNvGraphicFramePr>
            <a:graphicFrameLocks noGrp="1"/>
          </p:cNvGraphicFramePr>
          <p:nvPr/>
        </p:nvGraphicFramePr>
        <p:xfrm>
          <a:off x="566928" y="1627632"/>
          <a:ext cx="11057841" cy="4645152"/>
        </p:xfrm>
        <a:graphic>
          <a:graphicData uri="http://schemas.openxmlformats.org/drawingml/2006/table">
            <a:tbl>
              <a:tblPr firstRow="1" bandRow="1">
                <a:tableStyleId>{5C22544A-7EE6-4342-B048-85BDC9FD1C3A}</a:tableStyleId>
              </a:tblPr>
              <a:tblGrid>
                <a:gridCol w="2227290"/>
                <a:gridCol w="1074340"/>
                <a:gridCol w="1074340"/>
                <a:gridCol w="1572205"/>
                <a:gridCol w="1703222"/>
                <a:gridCol w="1441188"/>
                <a:gridCol w="1965256"/>
              </a:tblGrid>
              <a:tr h="331796">
                <a:tc>
                  <a:txBody>
                    <a:bodyPr wrap="square"/>
                    <a:lstStyle/>
                    <a:p>
                      <a:r>
                        <a:rPr sz="850" b="1" i="0">
                          <a:solidFill>
                            <a:srgbClr val="FFFFFF"/>
                          </a:solidFill>
                          <a:latin typeface="Segoe UI"/>
                          <a:ea typeface="맑은 고딕"/>
                          <a:cs typeface="맑은 고딕"/>
                        </a:rPr>
                        <a:t>모델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카드</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아티팩트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벽시계 tok/s</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멈춤 뺀 tok/s</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08-29 tok/s</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0.1초 넘는 멈춤</a:t>
                      </a:r>
                    </a:p>
                  </a:txBody>
                  <a:tcPr marL="73152" marR="73152" marT="27432" marB="27432">
                    <a:solidFill>
                      <a:srgbClr val="0B5FC0"/>
                    </a:solidFill>
                  </a:tcPr>
                </a:tc>
              </a:tr>
              <a:tr h="331796">
                <a:tc>
                  <a:txBody>
                    <a:bodyPr wrap="square"/>
                    <a:lstStyle/>
                    <a:p>
                      <a:r>
                        <a:rPr sz="850" b="0" i="0">
                          <a:solidFill>
                            <a:srgbClr val="16202C"/>
                          </a:solidFill>
                          <a:latin typeface="Segoe UI"/>
                          <a:ea typeface="맑은 고딕"/>
                          <a:cs typeface="맑은 고딕"/>
                        </a:rPr>
                        <a:t>gpt-oss 120B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4회, 27s</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Solar-Open 100B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2107회, 394s</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Llama 3.3 70B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v2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0회, 0s</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Qwen3 32B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v2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25</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55</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55</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263회, 58s</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EXAONE 4.0 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v2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33</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0회, 0s</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Qwen3-VL 32B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10회, 2s</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Qwen3-Coder 30B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75</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0회, 0s</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A3B Instruct 2507</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69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75</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3회, 1s</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A3B Thinking 2507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412회, 62s</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Llama 3.1 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v2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0회, 0s</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Qwen3 8B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69</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0회, 0s</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Qwen3 4B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FXB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84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83</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0회, 0s</a:t>
                      </a:r>
                    </a:p>
                  </a:txBody>
                  <a:tcPr marL="73152" marR="73152" marT="27432" marB="27432">
                    <a:solidFill>
                      <a:srgbClr val="F6F9FC"/>
                    </a:solidFill>
                  </a:tcPr>
                </a:tc>
              </a:tr>
              <a:tr h="331804">
                <a:tc>
                  <a:txBody>
                    <a:bodyPr wrap="square"/>
                    <a:lstStyle/>
                    <a:p>
                      <a:r>
                        <a:rPr sz="850" b="0" i="0">
                          <a:solidFill>
                            <a:srgbClr val="16202C"/>
                          </a:solidFill>
                          <a:latin typeface="Segoe UI"/>
                          <a:ea typeface="맑은 고딕"/>
                          <a:cs typeface="맑은 고딕"/>
                        </a:rPr>
                        <a:t>Qwen2.5 0.5B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v2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88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88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0회, 0s</a:t>
                      </a:r>
                    </a:p>
                  </a:txBody>
                  <a:tcPr marL="73152" marR="73152"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모델 적재 시간</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6: 모델을 카드에 올리는 데 걸린 시간, serve 로그 기준</a:t>
            </a:r>
          </a:p>
        </p:txBody>
      </p:sp>
      <p:grpSp>
        <p:nvGrpSpPr>
          <p:cNvPr id="8" name="도해 loading"/>
          <p:cNvGrpSpPr/>
          <p:nvPr/>
        </p:nvGrpSpPr>
        <p:grpSpPr>
          <a:xfrm>
            <a:off x="566928" y="1554480"/>
            <a:ext cx="11057839" cy="2048158"/>
            <a:chOff x="566928" y="1554480"/>
            <a:chExt cx="11057839" cy="2048158"/>
          </a:xfrm>
        </p:grpSpPr>
        <p:sp>
          <p:nvSpPr>
            <p:cNvPr id="9" name="TextBox 8"/>
            <p:cNvSpPr txBox="1"/>
            <p:nvPr/>
          </p:nvSpPr>
          <p:spPr>
            <a:xfrm>
              <a:off x="566928" y="1554480"/>
              <a:ext cx="1975053"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모델을 올리는 데 걸린 시간, 초</a:t>
              </a:r>
            </a:p>
          </p:txBody>
        </p:sp>
        <p:sp>
          <p:nvSpPr>
            <p:cNvPr id="10" name="TextBox 9"/>
            <p:cNvSpPr txBox="1"/>
            <p:nvPr/>
          </p:nvSpPr>
          <p:spPr>
            <a:xfrm>
              <a:off x="566928" y="1903844"/>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11" name="Rectangle 10"/>
            <p:cNvSpPr/>
            <p:nvPr/>
          </p:nvSpPr>
          <p:spPr>
            <a:xfrm>
              <a:off x="2062674" y="1919602"/>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62674" y="1919602"/>
              <a:ext cx="1182111"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5324" y="1903844"/>
              <a:ext cx="3495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579s</a:t>
              </a:r>
            </a:p>
          </p:txBody>
        </p:sp>
        <p:sp>
          <p:nvSpPr>
            <p:cNvPr id="14" name="TextBox 13"/>
            <p:cNvSpPr txBox="1"/>
            <p:nvPr/>
          </p:nvSpPr>
          <p:spPr>
            <a:xfrm>
              <a:off x="566928" y="2130877"/>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15" name="Rectangle 14"/>
            <p:cNvSpPr/>
            <p:nvPr/>
          </p:nvSpPr>
          <p:spPr>
            <a:xfrm>
              <a:off x="2062674" y="2146635"/>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62674" y="2146635"/>
              <a:ext cx="1575876"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5324" y="2130877"/>
              <a:ext cx="3495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772s</a:t>
              </a:r>
            </a:p>
          </p:txBody>
        </p:sp>
        <p:sp>
          <p:nvSpPr>
            <p:cNvPr id="18" name="TextBox 17"/>
            <p:cNvSpPr txBox="1"/>
            <p:nvPr/>
          </p:nvSpPr>
          <p:spPr>
            <a:xfrm>
              <a:off x="566928" y="2357909"/>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19" name="Rectangle 18"/>
            <p:cNvSpPr/>
            <p:nvPr/>
          </p:nvSpPr>
          <p:spPr>
            <a:xfrm>
              <a:off x="2062674" y="2373668"/>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62674" y="2373668"/>
              <a:ext cx="26710"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5324" y="2357909"/>
              <a:ext cx="1939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4s</a:t>
              </a:r>
            </a:p>
          </p:txBody>
        </p:sp>
        <p:sp>
          <p:nvSpPr>
            <p:cNvPr id="22" name="TextBox 21"/>
            <p:cNvSpPr txBox="1"/>
            <p:nvPr/>
          </p:nvSpPr>
          <p:spPr>
            <a:xfrm>
              <a:off x="566928" y="2584942"/>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23" name="Rectangle 22"/>
            <p:cNvSpPr/>
            <p:nvPr/>
          </p:nvSpPr>
          <p:spPr>
            <a:xfrm>
              <a:off x="2062674" y="2600701"/>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62674" y="2600701"/>
              <a:ext cx="228914"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05324" y="2584942"/>
              <a:ext cx="3495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112s</a:t>
              </a:r>
            </a:p>
          </p:txBody>
        </p:sp>
        <p:sp>
          <p:nvSpPr>
            <p:cNvPr id="26" name="TextBox 25"/>
            <p:cNvSpPr txBox="1"/>
            <p:nvPr/>
          </p:nvSpPr>
          <p:spPr>
            <a:xfrm>
              <a:off x="566928" y="2811975"/>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27" name="Rectangle 26"/>
            <p:cNvSpPr/>
            <p:nvPr/>
          </p:nvSpPr>
          <p:spPr>
            <a:xfrm>
              <a:off x="2062674" y="2827734"/>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62674" y="2827734"/>
              <a:ext cx="138532"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05324" y="2811975"/>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68s</a:t>
              </a:r>
            </a:p>
          </p:txBody>
        </p:sp>
        <p:sp>
          <p:nvSpPr>
            <p:cNvPr id="30" name="TextBox 29"/>
            <p:cNvSpPr txBox="1"/>
            <p:nvPr/>
          </p:nvSpPr>
          <p:spPr>
            <a:xfrm>
              <a:off x="4306294" y="1903844"/>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31" name="Rectangle 30"/>
            <p:cNvSpPr/>
            <p:nvPr/>
          </p:nvSpPr>
          <p:spPr>
            <a:xfrm>
              <a:off x="5802040" y="1919602"/>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02040" y="1919602"/>
              <a:ext cx="132003"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44690" y="1903844"/>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65s</a:t>
              </a:r>
            </a:p>
          </p:txBody>
        </p:sp>
        <p:sp>
          <p:nvSpPr>
            <p:cNvPr id="34" name="TextBox 33"/>
            <p:cNvSpPr txBox="1"/>
            <p:nvPr/>
          </p:nvSpPr>
          <p:spPr>
            <a:xfrm>
              <a:off x="4306294" y="2130877"/>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35" name="Rectangle 34"/>
            <p:cNvSpPr/>
            <p:nvPr/>
          </p:nvSpPr>
          <p:spPr>
            <a:xfrm>
              <a:off x="5802040" y="2146635"/>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02040" y="2146635"/>
              <a:ext cx="249112"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44690" y="2130877"/>
              <a:ext cx="3495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122s</a:t>
              </a:r>
            </a:p>
          </p:txBody>
        </p:sp>
        <p:sp>
          <p:nvSpPr>
            <p:cNvPr id="38" name="TextBox 37"/>
            <p:cNvSpPr txBox="1"/>
            <p:nvPr/>
          </p:nvSpPr>
          <p:spPr>
            <a:xfrm>
              <a:off x="4306294" y="2357909"/>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39" name="Rectangle 38"/>
            <p:cNvSpPr/>
            <p:nvPr/>
          </p:nvSpPr>
          <p:spPr>
            <a:xfrm>
              <a:off x="5802040" y="2373668"/>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802040" y="2373668"/>
              <a:ext cx="184641"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44690" y="2357909"/>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90s</a:t>
              </a:r>
            </a:p>
          </p:txBody>
        </p:sp>
        <p:sp>
          <p:nvSpPr>
            <p:cNvPr id="42" name="TextBox 41"/>
            <p:cNvSpPr txBox="1"/>
            <p:nvPr/>
          </p:nvSpPr>
          <p:spPr>
            <a:xfrm>
              <a:off x="4306294" y="2584942"/>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43" name="Rectangle 42"/>
            <p:cNvSpPr/>
            <p:nvPr/>
          </p:nvSpPr>
          <p:spPr>
            <a:xfrm>
              <a:off x="5802040" y="2600701"/>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2040" y="2600701"/>
              <a:ext cx="143632"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44690" y="2584942"/>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70s</a:t>
              </a:r>
            </a:p>
          </p:txBody>
        </p:sp>
        <p:sp>
          <p:nvSpPr>
            <p:cNvPr id="46" name="TextBox 45"/>
            <p:cNvSpPr txBox="1"/>
            <p:nvPr/>
          </p:nvSpPr>
          <p:spPr>
            <a:xfrm>
              <a:off x="4306294" y="2811975"/>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47" name="Rectangle 46"/>
            <p:cNvSpPr/>
            <p:nvPr/>
          </p:nvSpPr>
          <p:spPr>
            <a:xfrm>
              <a:off x="5802040" y="2827734"/>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802040" y="2827734"/>
              <a:ext cx="152201"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44690" y="2811975"/>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75s</a:t>
              </a:r>
            </a:p>
          </p:txBody>
        </p:sp>
        <p:sp>
          <p:nvSpPr>
            <p:cNvPr id="50" name="TextBox 49"/>
            <p:cNvSpPr txBox="1"/>
            <p:nvPr/>
          </p:nvSpPr>
          <p:spPr>
            <a:xfrm>
              <a:off x="8045660" y="1903844"/>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51" name="Rectangle 50"/>
            <p:cNvSpPr/>
            <p:nvPr/>
          </p:nvSpPr>
          <p:spPr>
            <a:xfrm>
              <a:off x="9541406" y="1919602"/>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541406" y="1919602"/>
              <a:ext cx="131391"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184056" y="1903844"/>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64s</a:t>
              </a:r>
            </a:p>
          </p:txBody>
        </p:sp>
        <p:sp>
          <p:nvSpPr>
            <p:cNvPr id="54" name="TextBox 53"/>
            <p:cNvSpPr txBox="1"/>
            <p:nvPr/>
          </p:nvSpPr>
          <p:spPr>
            <a:xfrm>
              <a:off x="8045660" y="2130877"/>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55" name="Rectangle 54"/>
            <p:cNvSpPr/>
            <p:nvPr/>
          </p:nvSpPr>
          <p:spPr>
            <a:xfrm>
              <a:off x="9541406" y="2146635"/>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41406" y="2146635"/>
              <a:ext cx="38356"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184056" y="2130877"/>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19s</a:t>
              </a:r>
            </a:p>
          </p:txBody>
        </p:sp>
        <p:sp>
          <p:nvSpPr>
            <p:cNvPr id="58" name="TextBox 57"/>
            <p:cNvSpPr txBox="1"/>
            <p:nvPr/>
          </p:nvSpPr>
          <p:spPr>
            <a:xfrm>
              <a:off x="8045660" y="2357909"/>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59" name="Rectangle 58"/>
            <p:cNvSpPr/>
            <p:nvPr/>
          </p:nvSpPr>
          <p:spPr>
            <a:xfrm>
              <a:off x="9541406" y="2373668"/>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541406" y="2373668"/>
              <a:ext cx="31828"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84056" y="2357909"/>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16s</a:t>
              </a:r>
            </a:p>
          </p:txBody>
        </p:sp>
        <p:sp>
          <p:nvSpPr>
            <p:cNvPr id="62" name="TextBox 61"/>
            <p:cNvSpPr txBox="1"/>
            <p:nvPr/>
          </p:nvSpPr>
          <p:spPr>
            <a:xfrm>
              <a:off x="8045660" y="2584942"/>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63" name="Rectangle 62"/>
            <p:cNvSpPr/>
            <p:nvPr/>
          </p:nvSpPr>
          <p:spPr>
            <a:xfrm>
              <a:off x="9541406" y="2600701"/>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541406" y="2600701"/>
              <a:ext cx="34072"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184056" y="2584942"/>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17s</a:t>
              </a:r>
            </a:p>
          </p:txBody>
        </p:sp>
        <p:sp>
          <p:nvSpPr>
            <p:cNvPr id="66" name="TextBox 65"/>
            <p:cNvSpPr txBox="1"/>
            <p:nvPr/>
          </p:nvSpPr>
          <p:spPr>
            <a:xfrm>
              <a:off x="8045660" y="2811975"/>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67" name="Rectangle 66"/>
            <p:cNvSpPr/>
            <p:nvPr/>
          </p:nvSpPr>
          <p:spPr>
            <a:xfrm>
              <a:off x="9541406" y="2827734"/>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541406" y="2827734"/>
              <a:ext cx="26710"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184056" y="2811975"/>
              <a:ext cx="1939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4s</a:t>
              </a:r>
            </a:p>
          </p:txBody>
        </p:sp>
        <p:sp>
          <p:nvSpPr>
            <p:cNvPr id="70" name="TextBox 69"/>
            <p:cNvSpPr txBox="1"/>
            <p:nvPr/>
          </p:nvSpPr>
          <p:spPr>
            <a:xfrm>
              <a:off x="566928" y="3124747"/>
              <a:ext cx="5050842"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라우터는 안 쓰는 모델을 내리고 새로 올린다, 그래서 모델을 바꾸면 이만큼 기다린다</a:t>
              </a:r>
            </a:p>
          </p:txBody>
        </p:sp>
        <p:sp>
          <p:nvSpPr>
            <p:cNvPr id="71" name="TextBox 70"/>
            <p:cNvSpPr txBox="1"/>
            <p:nvPr/>
          </p:nvSpPr>
          <p:spPr>
            <a:xfrm>
              <a:off x="566928" y="3399590"/>
              <a:ext cx="3589791"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카드 한 장짜리는 십 초 안팎이라 갈아 끼우는 부담이 거의 없다</a:t>
              </a:r>
            </a:p>
          </p:txBody>
        </p:sp>
        <p:sp>
          <p:nvSpPr>
            <p:cNvPr id="72" name="TextBox 71"/>
            <p:cNvSpPr txBox="1"/>
            <p:nvPr/>
          </p:nvSpPr>
          <p:spPr>
            <a:xfrm>
              <a:off x="8822486" y="3399590"/>
              <a:ext cx="2802281"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serve 로그의 Loading LLM 부터 기동 완료까지</a:t>
              </a:r>
            </a:p>
          </p:txBody>
        </p:sp>
      </p:grpSp>
      <p:sp>
        <p:nvSpPr>
          <p:cNvPr id="73" name="TextBox 72"/>
          <p:cNvSpPr txBox="1"/>
          <p:nvPr/>
        </p:nvSpPr>
        <p:spPr>
          <a:xfrm>
            <a:off x="566928" y="3840382"/>
            <a:ext cx="11057839" cy="2432402"/>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카드 넉 장을 쓰는 모델은 쓰던 것을 내리고 새로 올려야 해서, 모델을 바꾸면 수십 초에서 수 분을 기다린다</a:t>
            </a:r>
          </a:p>
          <a:p>
            <a:pPr algn="l">
              <a:lnSpc>
                <a:spcPct val="118000"/>
              </a:lnSpc>
              <a:spcBef>
                <a:spcPts val="600"/>
              </a:spcBef>
              <a:spcAft>
                <a:spcPts val="200"/>
              </a:spcAft>
            </a:pPr>
            <a:r>
              <a:rPr sz="1200" b="0" i="0">
                <a:solidFill>
                  <a:srgbClr val="16202C"/>
                </a:solidFill>
                <a:latin typeface="Segoe UI"/>
                <a:ea typeface="맑은 고딕"/>
                <a:cs typeface="맑은 고딕"/>
              </a:rPr>
              <a:t>▪  카드 한 장짜리는 십 초 안팎이라 갈아 끼우는 부담이 거의 없고, 넷까지 동시에 떠 있을 수 있어 기다림 자체가 잘 안 생긴다</a:t>
            </a:r>
          </a:p>
          <a:p>
            <a:pPr algn="l">
              <a:lnSpc>
                <a:spcPct val="118000"/>
              </a:lnSpc>
              <a:spcBef>
                <a:spcPts val="600"/>
              </a:spcBef>
              <a:spcAft>
                <a:spcPts val="200"/>
              </a:spcAft>
            </a:pPr>
            <a:r>
              <a:rPr sz="1200" b="0" i="0">
                <a:solidFill>
                  <a:srgbClr val="16202C"/>
                </a:solidFill>
                <a:latin typeface="Segoe UI"/>
                <a:ea typeface="맑은 고딕"/>
                <a:cs typeface="맑은 고딕"/>
              </a:rPr>
              <a:t>▪  한 번 올라간 모델은 계속 떠 있다. 자주 쓰는 모델이 정해져 있다면 이 시간은 하루에 몇 번만 치르는 비용이다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성능 요약</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같은 프롬프트 4종, temperature 0, max_tokens 16,384. 별표는 사고하는 모델</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a:t>
            </a:r>
          </a:p>
        </p:txBody>
      </p:sp>
      <p:graphicFrame>
        <p:nvGraphicFramePr>
          <p:cNvPr id="8" name="Table 7"/>
          <p:cNvGraphicFramePr>
            <a:graphicFrameLocks noGrp="1"/>
          </p:cNvGraphicFramePr>
          <p:nvPr/>
        </p:nvGraphicFramePr>
        <p:xfrm>
          <a:off x="566928" y="1627632"/>
          <a:ext cx="11057841" cy="4645152"/>
        </p:xfrm>
        <a:graphic>
          <a:graphicData uri="http://schemas.openxmlformats.org/drawingml/2006/table">
            <a:tbl>
              <a:tblPr firstRow="1" bandRow="1">
                <a:tableStyleId>{5C22544A-7EE6-4342-B048-85BDC9FD1C3A}</a:tableStyleId>
              </a:tblPr>
              <a:tblGrid>
                <a:gridCol w="2235095"/>
                <a:gridCol w="941093"/>
                <a:gridCol w="941093"/>
                <a:gridCol w="941093"/>
                <a:gridCol w="941093"/>
                <a:gridCol w="941093"/>
                <a:gridCol w="941093"/>
                <a:gridCol w="2235095"/>
                <a:gridCol w="941093"/>
              </a:tblGrid>
              <a:tr h="290322">
                <a:tc>
                  <a:txBody>
                    <a:bodyPr wrap="square"/>
                    <a:lstStyle/>
                    <a:p>
                      <a:r>
                        <a:rPr sz="850" b="1" i="0">
                          <a:solidFill>
                            <a:srgbClr val="FFFFFF"/>
                          </a:solidFill>
                          <a:latin typeface="Segoe UI"/>
                          <a:ea typeface="맑은 고딕"/>
                          <a:cs typeface="맑은 고딕"/>
                        </a:rPr>
                        <a:t>모델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카드</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적재</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TTFT</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tok/s</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동시4</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첫응답</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최장 출력</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답변</a:t>
                      </a:r>
                    </a:p>
                  </a:txBody>
                  <a:tcPr marL="73152" marR="73152" marT="27432" marB="27432">
                    <a:solidFill>
                      <a:srgbClr val="0B5FC0"/>
                    </a:solidFill>
                  </a:tcPr>
                </a:tc>
              </a:tr>
              <a:tr h="290322">
                <a:tc>
                  <a:txBody>
                    <a:bodyPr wrap="square"/>
                    <a:lstStyle/>
                    <a:p>
                      <a:r>
                        <a:rPr sz="850" b="0" i="0">
                          <a:solidFill>
                            <a:srgbClr val="16202C"/>
                          </a:solidFill>
                          <a:latin typeface="Segoe UI"/>
                          <a:ea typeface="맑은 고딕"/>
                          <a:cs typeface="맑은 고딕"/>
                        </a:rPr>
                        <a:t>gpt-oss 120B *</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579s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5</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256.1s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1,495</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850" b="0" i="0">
                          <a:solidFill>
                            <a:srgbClr val="16202C"/>
                          </a:solidFill>
                          <a:latin typeface="Segoe UI"/>
                          <a:ea typeface="맑은 고딕"/>
                          <a:cs typeface="맑은 고딕"/>
                        </a:rPr>
                        <a:t>Solar-Open 100B *</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772s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0.28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3.0s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10,958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850" b="0" i="0">
                          <a:solidFill>
                            <a:srgbClr val="16202C"/>
                          </a:solidFill>
                          <a:latin typeface="Segoe UI"/>
                          <a:ea typeface="맑은 고딕"/>
                          <a:cs typeface="맑은 고딕"/>
                        </a:rPr>
                        <a:t>K-EXAONE 236B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못 뜸</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적재 중 메모리 부족</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r>
              <a:tr h="290322">
                <a:tc>
                  <a:txBody>
                    <a:bodyPr wrap="square"/>
                    <a:lstStyle/>
                    <a:p>
                      <a:r>
                        <a:rPr sz="850" b="0" i="0">
                          <a:solidFill>
                            <a:srgbClr val="16202C"/>
                          </a:solidFill>
                          <a:latin typeface="Segoe UI"/>
                          <a:ea typeface="맑은 고딕"/>
                          <a:cs typeface="맑은 고딕"/>
                        </a:rPr>
                        <a:t>Llama 3.3 70B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112s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0.19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2.7s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409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850" b="0" i="0">
                          <a:solidFill>
                            <a:srgbClr val="16202C"/>
                          </a:solidFill>
                          <a:latin typeface="Segoe UI"/>
                          <a:ea typeface="맑은 고딕"/>
                          <a:cs typeface="맑은 고딕"/>
                        </a:rPr>
                        <a:t>Qwen3 32B *</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68s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0.34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25</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25.6s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1,361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850" b="0" i="0">
                          <a:solidFill>
                            <a:srgbClr val="16202C"/>
                          </a:solidFill>
                          <a:latin typeface="Segoe UI"/>
                          <a:ea typeface="맑은 고딕"/>
                          <a:cs typeface="맑은 고딕"/>
                        </a:rPr>
                        <a:t>EXAONE 4.0 32B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65s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0.18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106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3.8s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385</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850" b="0" i="0">
                          <a:solidFill>
                            <a:srgbClr val="16202C"/>
                          </a:solidFill>
                          <a:latin typeface="Segoe UI"/>
                          <a:ea typeface="맑은 고딕"/>
                          <a:cs typeface="맑은 고딕"/>
                        </a:rPr>
                        <a:t>Qwen3-VL 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122s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0.43</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1,014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850" b="0" i="0">
                          <a:solidFill>
                            <a:srgbClr val="16202C"/>
                          </a:solidFill>
                          <a:latin typeface="Segoe UI"/>
                          <a:ea typeface="맑은 고딕"/>
                          <a:cs typeface="맑은 고딕"/>
                        </a:rPr>
                        <a:t>Qwen3-Coder 30B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90s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0.09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800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850" b="0" i="0">
                          <a:solidFill>
                            <a:srgbClr val="16202C"/>
                          </a:solidFill>
                          <a:latin typeface="Segoe UI"/>
                          <a:ea typeface="맑은 고딕"/>
                          <a:cs typeface="맑은 고딕"/>
                        </a:rPr>
                        <a:t>A3B Instruct 2507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70s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0.77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69</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35</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1.5s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1,172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850" b="0" i="0">
                          <a:solidFill>
                            <a:srgbClr val="16202C"/>
                          </a:solidFill>
                          <a:latin typeface="Segoe UI"/>
                          <a:ea typeface="맑은 고딕"/>
                          <a:cs typeface="맑은 고딕"/>
                        </a:rPr>
                        <a:t>A3B Thinking 2507 *</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75s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0.38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37</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30.3s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2,013</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850" b="0" i="0">
                          <a:solidFill>
                            <a:srgbClr val="16202C"/>
                          </a:solidFill>
                          <a:latin typeface="Segoe UI"/>
                          <a:ea typeface="맑은 고딕"/>
                          <a:cs typeface="맑은 고딕"/>
                        </a:rPr>
                        <a:t>A3B 30B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못 뜸</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배포 FXB 결함</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a:t>
                      </a:r>
                    </a:p>
                  </a:txBody>
                  <a:tcPr marL="73152" marR="73152" marT="27432" marB="27432">
                    <a:solidFill>
                      <a:srgbClr val="FFFFFF"/>
                    </a:solidFill>
                  </a:tcPr>
                </a:tc>
              </a:tr>
              <a:tr h="290322">
                <a:tc>
                  <a:txBody>
                    <a:bodyPr wrap="square"/>
                    <a:lstStyle/>
                    <a:p>
                      <a:r>
                        <a:rPr sz="850" b="0" i="0">
                          <a:solidFill>
                            <a:srgbClr val="16202C"/>
                          </a:solidFill>
                          <a:latin typeface="Segoe UI"/>
                          <a:ea typeface="맑은 고딕"/>
                          <a:cs typeface="맑은 고딕"/>
                        </a:rPr>
                        <a:t>Llama 3.1 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19s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0.04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182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2.6s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579</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850" b="0" i="0">
                          <a:solidFill>
                            <a:srgbClr val="16202C"/>
                          </a:solidFill>
                          <a:latin typeface="Segoe UI"/>
                          <a:ea typeface="맑은 고딕"/>
                          <a:cs typeface="맑은 고딕"/>
                        </a:rPr>
                        <a:t>Qwen3 8B *</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16s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0.19</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62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4.7s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1,408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850" b="0" i="0">
                          <a:solidFill>
                            <a:srgbClr val="16202C"/>
                          </a:solidFill>
                          <a:latin typeface="Segoe UI"/>
                          <a:ea typeface="맑은 고딕"/>
                          <a:cs typeface="맑은 고딕"/>
                        </a:rPr>
                        <a:t>Qwen3 4B *</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17s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0.14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225</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4.2s</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1,587</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850" b="0" i="0">
                          <a:solidFill>
                            <a:srgbClr val="16202C"/>
                          </a:solidFill>
                          <a:latin typeface="Segoe UI"/>
                          <a:ea typeface="맑은 고딕"/>
                          <a:cs typeface="맑은 고딕"/>
                        </a:rPr>
                        <a:t>Qwen2.5 0.5B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0.04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273</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3.2s</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715</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정상</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요약</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질문: 대한민국의 수도는 어디이고, 그 도시가 수도가 된 역사적 배경을 세 문장으로. 별표는 사고하는 모델</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a:t>
            </a:r>
          </a:p>
        </p:txBody>
      </p:sp>
      <p:graphicFrame>
        <p:nvGraphicFramePr>
          <p:cNvPr id="8" name="Table 7"/>
          <p:cNvGraphicFramePr>
            <a:graphicFrameLocks noGrp="1"/>
          </p:cNvGraphicFramePr>
          <p:nvPr/>
        </p:nvGraphicFramePr>
        <p:xfrm>
          <a:off x="566928" y="1627632"/>
          <a:ext cx="11057839" cy="4645152"/>
        </p:xfrm>
        <a:graphic>
          <a:graphicData uri="http://schemas.openxmlformats.org/drawingml/2006/table">
            <a:tbl>
              <a:tblPr firstRow="1" bandRow="1">
                <a:tableStyleId>{5C22544A-7EE6-4342-B048-85BDC9FD1C3A}</a:tableStyleId>
              </a:tblPr>
              <a:tblGrid>
                <a:gridCol w="1899629"/>
                <a:gridCol w="8098417"/>
                <a:gridCol w="1059793"/>
              </a:tblGrid>
              <a:tr h="331796">
                <a:tc>
                  <a:txBody>
                    <a:bodyPr wrap="square"/>
                    <a:lstStyle/>
                    <a:p>
                      <a:r>
                        <a:rPr sz="850" b="1" i="0">
                          <a:solidFill>
                            <a:srgbClr val="FFFFFF"/>
                          </a:solidFill>
                          <a:latin typeface="Segoe UI"/>
                          <a:ea typeface="맑은 고딕"/>
                          <a:cs typeface="맑은 고딕"/>
                        </a:rPr>
                        <a:t>모델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답변 첫 줄</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토큰</a:t>
                      </a:r>
                    </a:p>
                  </a:txBody>
                  <a:tcPr marL="73152" marR="73152" marT="27432" marB="27432">
                    <a:solidFill>
                      <a:srgbClr val="0B5FC0"/>
                    </a:solidFill>
                  </a:tcPr>
                </a:tc>
              </a:tr>
              <a:tr h="331796">
                <a:tc>
                  <a:txBody>
                    <a:bodyPr wrap="square"/>
                    <a:lstStyle/>
                    <a:p>
                      <a:r>
                        <a:rPr sz="850" b="0" i="0">
                          <a:solidFill>
                            <a:srgbClr val="16202C"/>
                          </a:solidFill>
                          <a:latin typeface="Segoe UI"/>
                          <a:ea typeface="맑은 고딕"/>
                          <a:cs typeface="맑은 고딕"/>
                        </a:rPr>
                        <a:t>gpt-oss 120B *</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대한민국의 수도는 **서울특별시**입니다.    1. 1394년 조선 태조 이성계가</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258</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Solar-Open 100B *</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대한민국의 수도는 서울입니다. 서울은 1392년 조선 왕조가 건국되면서 수도로 지정</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160</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Llama 3.3 70B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대한민국의 수도는 서울입니다. 서울은 1394년 조선의 첫 번째 왕이던 태조 이성계</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107</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Qwen3 32B *</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대한민국의 수도는 서울입니다. 서울은 조선시대(1392~1897)부터 왕실의 도읍지</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458</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EXAONE 4.0 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대한민국의 수도는 **서울**이다.    1. **조선 시대(1394년)**: 태조</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133</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Qwen3-VL 32B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대한민국의 수도는 서울이다. 서울은 고려 시대부터 수도로 사용되었고, 조선 시대에는</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85</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Qwen3-Coder 30B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대한민국의 수도는 서울이다.   서울은 조선시대부터 중요한 정치, 문화 중심지였으며</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92</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A3B Instruct 2507</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대한민국의 수도는 서울이다.   1910년 한일합병 이후 일제강점기 동안 서울은 정</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100</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A3B Thinking 2507 *</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대한민국의 수도는 서울입니다. 서울은 조선 왕조가 1392년 한성부로 수도를 정한 </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1525</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Llama 3.1 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대한민국의 수도는 서울입니다.   서울은 1394년 조선 왕조가 수도로 정한 곳으로</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124</a:t>
                      </a:r>
                    </a:p>
                  </a:txBody>
                  <a:tcPr marL="73152" marR="73152" marT="27432" marB="27432">
                    <a:solidFill>
                      <a:srgbClr val="F6F9FC"/>
                    </a:solidFill>
                  </a:tcPr>
                </a:tc>
              </a:tr>
              <a:tr h="331796">
                <a:tc>
                  <a:txBody>
                    <a:bodyPr wrap="square"/>
                    <a:lstStyle/>
                    <a:p>
                      <a:r>
                        <a:rPr sz="850" b="0" i="0">
                          <a:solidFill>
                            <a:srgbClr val="16202C"/>
                          </a:solidFill>
                          <a:latin typeface="Segoe UI"/>
                          <a:ea typeface="맑은 고딕"/>
                          <a:cs typeface="맑은 고딕"/>
                        </a:rPr>
                        <a:t>Qwen3 8B *</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대한민국의 수도는 서울입니다. 1394년 조선 왕조가 경기도 양주(현 서울)에 수도</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257</a:t>
                      </a:r>
                    </a:p>
                  </a:txBody>
                  <a:tcPr marL="73152" marR="73152" marT="27432" marB="27432">
                    <a:solidFill>
                      <a:srgbClr val="FFFFFF"/>
                    </a:solidFill>
                  </a:tcPr>
                </a:tc>
              </a:tr>
              <a:tr h="331796">
                <a:tc>
                  <a:txBody>
                    <a:bodyPr wrap="square"/>
                    <a:lstStyle/>
                    <a:p>
                      <a:r>
                        <a:rPr sz="850" b="0" i="0">
                          <a:solidFill>
                            <a:srgbClr val="16202C"/>
                          </a:solidFill>
                          <a:latin typeface="Segoe UI"/>
                          <a:ea typeface="맑은 고딕"/>
                          <a:cs typeface="맑은 고딕"/>
                        </a:rPr>
                        <a:t>Qwen3 4B *</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대한민국의 수도는 서울이다. 1392년 조선 왕조가 수도를 서울로 이전하면서 정치,</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304</a:t>
                      </a:r>
                    </a:p>
                  </a:txBody>
                  <a:tcPr marL="73152" marR="73152" marT="27432" marB="27432">
                    <a:solidFill>
                      <a:srgbClr val="F6F9FC"/>
                    </a:solidFill>
                  </a:tcPr>
                </a:tc>
              </a:tr>
              <a:tr h="331804">
                <a:tc>
                  <a:txBody>
                    <a:bodyPr wrap="square"/>
                    <a:lstStyle/>
                    <a:p>
                      <a:r>
                        <a:rPr sz="850" b="0" i="0">
                          <a:solidFill>
                            <a:srgbClr val="16202C"/>
                          </a:solidFill>
                          <a:latin typeface="Segoe UI"/>
                          <a:ea typeface="맑은 고딕"/>
                          <a:cs typeface="맑은 고딕"/>
                        </a:rPr>
                        <a:t>Qwen2.5 0.5B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대한민국의 수도는 서울입니다. 서울은 1950년 1월 1일에 도시화된 19세기의 도</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715</a:t>
                      </a:r>
                    </a:p>
                  </a:txBody>
                  <a:tcPr marL="73152" marR="73152" marT="27432" marB="2743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사용한 프롬프트 전문</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a:t>
            </a:r>
          </a:p>
        </p:txBody>
      </p:sp>
      <p:sp>
        <p:nvSpPr>
          <p:cNvPr id="7" name="TextBox 6"/>
          <p:cNvSpPr txBox="1"/>
          <p:nvPr/>
        </p:nvSpPr>
        <p:spPr>
          <a:xfrm>
            <a:off x="566928" y="131673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네 종류를 모든 모델에 똑같이 던졌다. 이 문장 그대로다</a:t>
            </a:r>
          </a:p>
        </p:txBody>
      </p:sp>
      <p:sp>
        <p:nvSpPr>
          <p:cNvPr id="8" name="Rectangle 7"/>
          <p:cNvSpPr/>
          <p:nvPr/>
        </p:nvSpPr>
        <p:spPr>
          <a:xfrm>
            <a:off x="566928" y="1609344"/>
            <a:ext cx="11057839" cy="466344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7D91A8"/>
                </a:solidFill>
                <a:latin typeface="Consolas"/>
                <a:ea typeface="Consolas"/>
                <a:cs typeface="Consolas"/>
              </a:rPr>
              <a:t># 1. 사실 질문</a:t>
            </a:r>
          </a:p>
          <a:p>
            <a:pPr algn="l">
              <a:lnSpc>
                <a:spcPct val="124000"/>
              </a:lnSpc>
              <a:spcAft>
                <a:spcPts val="0"/>
              </a:spcAft>
            </a:pPr>
            <a:r>
              <a:rPr sz="1500" b="0" i="0">
                <a:solidFill>
                  <a:srgbClr val="E6EDF3"/>
                </a:solidFill>
                <a:latin typeface="Consolas"/>
                <a:ea typeface="Consolas"/>
                <a:cs typeface="Consolas"/>
              </a:rPr>
              <a:t>  대한민국의 수도는 어디이고, 그 도시가 수도가 된 역사적 배경을 세 문장으로</a:t>
            </a:r>
          </a:p>
          <a:p>
            <a:pPr algn="l">
              <a:lnSpc>
                <a:spcPct val="124000"/>
              </a:lnSpc>
              <a:spcAft>
                <a:spcPts val="0"/>
              </a:spcAft>
            </a:pPr>
            <a:r>
              <a:rPr sz="1500" b="0" i="0">
                <a:solidFill>
                  <a:srgbClr val="E6EDF3"/>
                </a:solidFill>
                <a:latin typeface="Consolas"/>
                <a:ea typeface="Consolas"/>
                <a:cs typeface="Consolas"/>
              </a:rPr>
              <a:t>  설명해줘.</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2. 코드 작성</a:t>
            </a:r>
          </a:p>
          <a:p>
            <a:pPr algn="l">
              <a:lnSpc>
                <a:spcPct val="124000"/>
              </a:lnSpc>
              <a:spcAft>
                <a:spcPts val="0"/>
              </a:spcAft>
            </a:pPr>
            <a:r>
              <a:rPr sz="1500" b="0" i="0">
                <a:solidFill>
                  <a:srgbClr val="E6EDF3"/>
                </a:solidFill>
                <a:latin typeface="Consolas"/>
                <a:ea typeface="Consolas"/>
                <a:cs typeface="Consolas"/>
              </a:rPr>
              <a:t>  파이썬으로 피보나치 수열의 n번째 항을 반복문으로 구하는 함수를 쓰고,</a:t>
            </a:r>
          </a:p>
          <a:p>
            <a:pPr algn="l">
              <a:lnSpc>
                <a:spcPct val="124000"/>
              </a:lnSpc>
              <a:spcAft>
                <a:spcPts val="0"/>
              </a:spcAft>
            </a:pPr>
            <a:r>
              <a:rPr sz="1500" b="0" i="0">
                <a:solidFill>
                  <a:srgbClr val="E6EDF3"/>
                </a:solidFill>
                <a:latin typeface="Consolas"/>
                <a:ea typeface="Consolas"/>
                <a:cs typeface="Consolas"/>
              </a:rPr>
              <a:t>  시간복잡도를 한 줄로 덧붙여줘.</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3. 계산 추론</a:t>
            </a:r>
          </a:p>
          <a:p>
            <a:pPr algn="l">
              <a:lnSpc>
                <a:spcPct val="124000"/>
              </a:lnSpc>
              <a:spcAft>
                <a:spcPts val="0"/>
              </a:spcAft>
            </a:pPr>
            <a:r>
              <a:rPr sz="1500" b="0" i="0">
                <a:solidFill>
                  <a:srgbClr val="E6EDF3"/>
                </a:solidFill>
                <a:latin typeface="Consolas"/>
                <a:ea typeface="Consolas"/>
                <a:cs typeface="Consolas"/>
              </a:rPr>
              <a:t>  한 상자에 사과가 12개 들어간다. 사과 100개를 담으려면 상자가 몇 개</a:t>
            </a:r>
          </a:p>
          <a:p>
            <a:pPr algn="l">
              <a:lnSpc>
                <a:spcPct val="124000"/>
              </a:lnSpc>
              <a:spcAft>
                <a:spcPts val="0"/>
              </a:spcAft>
            </a:pPr>
            <a:r>
              <a:rPr sz="1500" b="0" i="0">
                <a:solidFill>
                  <a:srgbClr val="E6EDF3"/>
                </a:solidFill>
                <a:latin typeface="Consolas"/>
                <a:ea typeface="Consolas"/>
                <a:cs typeface="Consolas"/>
              </a:rPr>
              <a:t>  필요하고 마지막 상자에는 몇 개가 남는지 계산 과정을 보여줘.</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4. 개념 설명</a:t>
            </a:r>
          </a:p>
          <a:p>
            <a:pPr algn="l">
              <a:lnSpc>
                <a:spcPct val="124000"/>
              </a:lnSpc>
              <a:spcAft>
                <a:spcPts val="0"/>
              </a:spcAft>
            </a:pPr>
            <a:r>
              <a:rPr sz="1500" b="0" i="0">
                <a:solidFill>
                  <a:srgbClr val="E6EDF3"/>
                </a:solidFill>
                <a:latin typeface="Consolas"/>
                <a:ea typeface="Consolas"/>
                <a:cs typeface="Consolas"/>
              </a:rPr>
              <a:t>  트랜스포머의 어텐션이 무엇인지 처음 배우는 사람에게 설명해줘. 비유를 하나</a:t>
            </a:r>
          </a:p>
          <a:p>
            <a:pPr algn="l">
              <a:lnSpc>
                <a:spcPct val="124000"/>
              </a:lnSpc>
              <a:spcAft>
                <a:spcPts val="0"/>
              </a:spcAft>
            </a:pPr>
            <a:r>
              <a:rPr sz="1500" b="0" i="0">
                <a:solidFill>
                  <a:srgbClr val="E6EDF3"/>
                </a:solidFill>
                <a:latin typeface="Consolas"/>
                <a:ea typeface="Consolas"/>
                <a:cs typeface="Consolas"/>
              </a:rPr>
              <a:t>  들고, 왜 순환신경망보다 병렬화에 유리한지도 말해줘.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2</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답변 원문</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400" b="0" i="0">
                <a:solidFill>
                  <a:srgbClr val="5B6B7B"/>
                </a:solidFill>
                <a:latin typeface="Segoe UI"/>
                <a:ea typeface="맑은 고딕"/>
                <a:cs typeface="맑은 고딕"/>
              </a:rPr>
              <a:t>발췌하지 않고 모델이 낸 그대로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gpt-oss 120B  (258tok, 사고 86)</a:t>
            </a:r>
          </a:p>
          <a:p>
            <a:pPr algn="l">
              <a:lnSpc>
                <a:spcPct val="118000"/>
              </a:lnSpc>
              <a:spcBef>
                <a:spcPts val="200"/>
              </a:spcBef>
              <a:spcAft>
                <a:spcPts val="100"/>
              </a:spcAft>
            </a:pPr>
            <a:r>
              <a:rPr sz="1380" b="0" i="0">
                <a:solidFill>
                  <a:srgbClr val="2C3A4B"/>
                </a:solidFill>
                <a:latin typeface="Segoe UI"/>
                <a:ea typeface="맑은 고딕"/>
                <a:cs typeface="맑은 고딕"/>
              </a:rPr>
              <a:t>–  대한민국의 수도는 **서울특별시**입니다.    1. 1394년 조선 태조 이성계가 한양(현재의 서울)으로 천도하면서 공식적인 수도가 되었고, 이는 한강 유역의 풍부한 물자와 교통 요충지라는 전략적 이점 때문이었습니다.   2. 일제강점기와 한국전쟁을 거치며 수도 기능이 일시적으로 부산 등으로 이전되기도 했지만, 1948년 대한민국 정부 수립 후 다시 서울이 공식 수도로 복귀했습니다.   3. 이후 급속한 산업화와 도시 개발을 통해 서울은 정치, 경제, 문화의 중심지로 성장하며 현재까지 대한민국의 핵심 수도 역할을 유지하고 있습니다.</a:t>
            </a:r>
          </a:p>
          <a:p>
            <a:pPr algn="l">
              <a:lnSpc>
                <a:spcPct val="118000"/>
              </a:lnSpc>
              <a:spcBef>
                <a:spcPts val="600"/>
              </a:spcBef>
              <a:spcAft>
                <a:spcPts val="200"/>
              </a:spcAft>
            </a:pPr>
            <a:r>
              <a:rPr sz="1400" b="0" i="0">
                <a:solidFill>
                  <a:srgbClr val="16202C"/>
                </a:solidFill>
                <a:latin typeface="Segoe UI"/>
                <a:ea typeface="맑은 고딕"/>
                <a:cs typeface="맑은 고딕"/>
              </a:rPr>
              <a:t>▪  Solar-Open 100B  (160tok, 사고 91)</a:t>
            </a:r>
          </a:p>
          <a:p>
            <a:pPr algn="l">
              <a:lnSpc>
                <a:spcPct val="118000"/>
              </a:lnSpc>
              <a:spcBef>
                <a:spcPts val="200"/>
              </a:spcBef>
              <a:spcAft>
                <a:spcPts val="100"/>
              </a:spcAft>
            </a:pPr>
            <a:r>
              <a:rPr sz="1380" b="0" i="0">
                <a:solidFill>
                  <a:srgbClr val="2C3A4B"/>
                </a:solidFill>
                <a:latin typeface="Segoe UI"/>
                <a:ea typeface="맑은 고딕"/>
                <a:cs typeface="맑은 고딕"/>
              </a:rPr>
              <a:t>–  대한민국의 수도는 서울입니다. 서울은 1392년 조선 왕조가 건국되면서 수도로 지정되었으며, 이후 500년 이상 정치, 문화의 중심지로 기능했습니다. 일제 강점기와 한국전쟁을 거치며 수도의 역할이 더욱 강화되었고, 현재는 대한민국의 행정, 경제, 외교 중심지로서 중요한 위치를 차지하고 있습니다.</a:t>
            </a:r>
          </a:p>
          <a:p>
            <a:pPr algn="l">
              <a:lnSpc>
                <a:spcPct val="118000"/>
              </a:lnSpc>
              <a:spcBef>
                <a:spcPts val="600"/>
              </a:spcBef>
              <a:spcAft>
                <a:spcPts val="200"/>
              </a:spcAft>
            </a:pPr>
            <a:r>
              <a:rPr sz="1400" b="0" i="0">
                <a:solidFill>
                  <a:srgbClr val="16202C"/>
                </a:solidFill>
                <a:latin typeface="Segoe UI"/>
                <a:ea typeface="맑은 고딕"/>
                <a:cs typeface="맑은 고딕"/>
              </a:rPr>
              <a:t>▪  Llama 3.3 70B  (107tok)</a:t>
            </a:r>
          </a:p>
          <a:p>
            <a:pPr algn="l">
              <a:lnSpc>
                <a:spcPct val="118000"/>
              </a:lnSpc>
              <a:spcBef>
                <a:spcPts val="200"/>
              </a:spcBef>
              <a:spcAft>
                <a:spcPts val="100"/>
              </a:spcAft>
            </a:pPr>
            <a:r>
              <a:rPr sz="1380" b="0" i="0">
                <a:solidFill>
                  <a:srgbClr val="2C3A4B"/>
                </a:solidFill>
                <a:latin typeface="Segoe UI"/>
                <a:ea typeface="맑은 고딕"/>
                <a:cs typeface="맑은 고딕"/>
              </a:rPr>
              <a:t>–  대한민국의 수도는 서울입니다. 서울은 1394년 조선의 첫 번째 왕이던 태조 이성계에 의해 한양으로 개칭되어 조선의 수도가 되었으며, 1910년부터 1945년까지 일본의 식민지 시기인 일제 강점기에는 경성부로 불리었습니다. 1948년 대한민국 정부가 수립되면서 서울로 이름이 바뀌었고, 현재까지 대한민국의 수도로 남아 있습니다.</a:t>
            </a:r>
          </a:p>
          <a:p>
            <a:pPr algn="l">
              <a:lnSpc>
                <a:spcPct val="118000"/>
              </a:lnSpc>
              <a:spcBef>
                <a:spcPts val="600"/>
              </a:spcBef>
              <a:spcAft>
                <a:spcPts val="200"/>
              </a:spcAft>
            </a:pPr>
            <a:r>
              <a:rPr sz="1400" b="0" i="0">
                <a:solidFill>
                  <a:srgbClr val="16202C"/>
                </a:solidFill>
                <a:latin typeface="Segoe UI"/>
                <a:ea typeface="맑은 고딕"/>
                <a:cs typeface="맑은 고딕"/>
              </a:rPr>
              <a:t>▪  Qwen3 32B  (458tok, 사고 330)</a:t>
            </a:r>
          </a:p>
          <a:p>
            <a:pPr algn="l">
              <a:lnSpc>
                <a:spcPct val="118000"/>
              </a:lnSpc>
              <a:spcBef>
                <a:spcPts val="200"/>
              </a:spcBef>
              <a:spcAft>
                <a:spcPts val="100"/>
              </a:spcAft>
            </a:pPr>
            <a:r>
              <a:rPr sz="1380" b="0" i="0">
                <a:solidFill>
                  <a:srgbClr val="2C3A4B"/>
                </a:solidFill>
                <a:latin typeface="Segoe UI"/>
                <a:ea typeface="맑은 고딕"/>
                <a:cs typeface="맑은 고딕"/>
              </a:rPr>
              <a:t>–  대한민국의 수도는 서울입니다. 서울은 조선시대(1392~1897)부터 왕실의 도읍지로 역사적 중심지였으며, 1948년 대한민국 건국 당시 수도로 지정되었습니다. 한국전쟁(1950~1953) 중 잠시 부산으로 이전된 후, 1952년 수원으로 옮겨졌으나, 1963년 서울로 다시 복귀하여 현재까지 수도로 유지되고 있습니다.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EXAONE 4.0 32B  (133tok)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**서울**이다.    1. **조선 시대(1394년)**: 태조 이성계가 한양(현 서울)을 수도로 정하며 조선의 정치, 경제, 문화 중심지로 발전했다.   2. **일제 강점기(1910~1945년)**: 일본이 경성부(서울)를 식민지 행정 중심지로 활용하며 인프라가 확충되었다.   3. **대한민국 정부 수립(1948년)**: 해방 후 서울이 수도로 재확인되며 현대 대한민국의 핵심 도시로 자리매김했다.</a:t>
            </a:r>
          </a:p>
          <a:p>
            <a:pPr algn="l">
              <a:lnSpc>
                <a:spcPct val="118000"/>
              </a:lnSpc>
              <a:spcBef>
                <a:spcPts val="600"/>
              </a:spcBef>
              <a:spcAft>
                <a:spcPts val="200"/>
              </a:spcAft>
            </a:pPr>
            <a:r>
              <a:rPr sz="1400" b="0" i="0">
                <a:solidFill>
                  <a:srgbClr val="16202C"/>
                </a:solidFill>
                <a:latin typeface="Segoe UI"/>
                <a:ea typeface="맑은 고딕"/>
                <a:cs typeface="맑은 고딕"/>
              </a:rPr>
              <a:t>▪  Qwen3-VL 32B  (85tok)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서울이다. 서울은 고려 시대부터 수도로 사용되었고, 조선 시대에는 한양(漢陽)으로 불리며 정치, 문화의 중심지로 발전했다. 1948년 대한민국이 성립하면서 한양이 다시 서울로 명칭이 변경되었고, 이후 현재까지 수도로 유지되고 있다.</a:t>
            </a:r>
          </a:p>
          <a:p>
            <a:pPr algn="l">
              <a:lnSpc>
                <a:spcPct val="118000"/>
              </a:lnSpc>
              <a:spcBef>
                <a:spcPts val="600"/>
              </a:spcBef>
              <a:spcAft>
                <a:spcPts val="200"/>
              </a:spcAft>
            </a:pPr>
            <a:r>
              <a:rPr sz="1400" b="0" i="0">
                <a:solidFill>
                  <a:srgbClr val="16202C"/>
                </a:solidFill>
                <a:latin typeface="Segoe UI"/>
                <a:ea typeface="맑은 고딕"/>
                <a:cs typeface="맑은 고딕"/>
              </a:rPr>
              <a:t>▪  Qwen3-Coder 30B  (92tok)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서울이다.   서울은 조선시대부터 중요한 정치, 문화 중심지였으며, 1948년 대한민국이 설립되면서 정부 수반 도시로 지정되었다.   특히 1960년대 이후 경제개발과 함께 서울은 현대적인 대도시로 성장하며 국가의 중심지로 자리매김했다.</a:t>
            </a:r>
          </a:p>
          <a:p>
            <a:pPr algn="l">
              <a:lnSpc>
                <a:spcPct val="118000"/>
              </a:lnSpc>
              <a:spcBef>
                <a:spcPts val="600"/>
              </a:spcBef>
              <a:spcAft>
                <a:spcPts val="200"/>
              </a:spcAft>
            </a:pPr>
            <a:r>
              <a:rPr sz="1400" b="0" i="0">
                <a:solidFill>
                  <a:srgbClr val="16202C"/>
                </a:solidFill>
                <a:latin typeface="Segoe UI"/>
                <a:ea typeface="맑은 고딕"/>
                <a:cs typeface="맑은 고딕"/>
              </a:rPr>
              <a:t>▪  A3B Instruct 2507  (100tok)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서울이다.   1910년 한일합병 이후 일제강점기 동안 서울은 정치, 경제, 문화의 중심지로 유지되었고, 1948년 대한민국이 수립되면서 서울이 공식적으로 수도로 결정되었다.   이후 서울은 국가의 행정 중심지로서 지속적으로 발전하며, 한국의 상징적인 도시로 자리 잡았다.</a:t>
            </a:r>
          </a:p>
          <a:p>
            <a:pPr algn="l">
              <a:lnSpc>
                <a:spcPct val="118000"/>
              </a:lnSpc>
              <a:spcBef>
                <a:spcPts val="600"/>
              </a:spcBef>
              <a:spcAft>
                <a:spcPts val="200"/>
              </a:spcAft>
            </a:pPr>
            <a:r>
              <a:rPr sz="1400" b="0" i="0">
                <a:solidFill>
                  <a:srgbClr val="16202C"/>
                </a:solidFill>
                <a:latin typeface="Segoe UI"/>
                <a:ea typeface="맑은 고딕"/>
                <a:cs typeface="맑은 고딕"/>
              </a:rPr>
              <a:t>▪  A3B Thinking 2507  (1525tok, 사고 1435)</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서울입니다. 서울은 조선 왕조가 1392년 한성부로 수도를 정한 이후로 수백 년간 정치, 문화 중심지로 자리매김했습니다. 1948년 대한민국 정부 수립 시 서울을 수도로 공식 선정하며 현대 국가의 수도로의 지위를 확립했습니다.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Llama 3.1 8B  (124tok)</a:t>
            </a:r>
          </a:p>
          <a:p>
            <a:pPr algn="l">
              <a:lnSpc>
                <a:spcPct val="118000"/>
              </a:lnSpc>
              <a:spcBef>
                <a:spcPts val="200"/>
              </a:spcBef>
              <a:spcAft>
                <a:spcPts val="100"/>
              </a:spcAft>
            </a:pPr>
            <a:r>
              <a:rPr sz="1400" b="0" i="0">
                <a:solidFill>
                  <a:srgbClr val="2C3A4B"/>
                </a:solidFill>
                <a:latin typeface="Segoe UI"/>
                <a:ea typeface="맑은 고딕"/>
                <a:cs typeface="맑은 고딕"/>
              </a:rPr>
              <a:t>–  대한민국의 수도는 서울입니다.   서울은 1394년 조선 왕조가 수도로 정한 곳으로, 그 이전에는 고려 시대에 수도였던 한양의 지명이기도 합니다.   조선 시대에 서울은 한양으로 불렸으며, 1910년 일제가 대한제국을 침공한 후에는 경성으로 이름이 바뀌었습니다. 1948년 대한민국이 수립된 후, 1949년 8월 15일 서울은 대한민국의 수도로 공식적으로 선정되었습니다.</a:t>
            </a:r>
          </a:p>
          <a:p>
            <a:pPr algn="l">
              <a:lnSpc>
                <a:spcPct val="118000"/>
              </a:lnSpc>
              <a:spcBef>
                <a:spcPts val="600"/>
              </a:spcBef>
              <a:spcAft>
                <a:spcPts val="200"/>
              </a:spcAft>
            </a:pPr>
            <a:r>
              <a:rPr sz="1400" b="0" i="0">
                <a:solidFill>
                  <a:srgbClr val="16202C"/>
                </a:solidFill>
                <a:latin typeface="Segoe UI"/>
                <a:ea typeface="맑은 고딕"/>
                <a:cs typeface="맑은 고딕"/>
              </a:rPr>
              <a:t>▪  Qwen3 8B  (257tok, 사고 167)</a:t>
            </a:r>
          </a:p>
          <a:p>
            <a:pPr algn="l">
              <a:lnSpc>
                <a:spcPct val="118000"/>
              </a:lnSpc>
              <a:spcBef>
                <a:spcPts val="200"/>
              </a:spcBef>
              <a:spcAft>
                <a:spcPts val="100"/>
              </a:spcAft>
            </a:pPr>
            <a:r>
              <a:rPr sz="1400" b="0" i="0">
                <a:solidFill>
                  <a:srgbClr val="2C3A4B"/>
                </a:solidFill>
                <a:latin typeface="Segoe UI"/>
                <a:ea typeface="맑은 고딕"/>
                <a:cs typeface="맑은 고딕"/>
              </a:rPr>
              <a:t>–  대한민국의 수도는 서울입니다. 1394년 조선 왕조가 경기도 양주(현 서울)에 수도를 이전하면서 서울이 정치적 중심지로 자리 잡았습니다. 이후 한국 전쟁 중 대한민국 정부가 서울을 수도로 삼아 민주주의와 현대화의 상징으로 발전시켰습니다.</a:t>
            </a:r>
          </a:p>
          <a:p>
            <a:pPr algn="l">
              <a:lnSpc>
                <a:spcPct val="118000"/>
              </a:lnSpc>
              <a:spcBef>
                <a:spcPts val="600"/>
              </a:spcBef>
              <a:spcAft>
                <a:spcPts val="200"/>
              </a:spcAft>
            </a:pPr>
            <a:r>
              <a:rPr sz="1400" b="0" i="0">
                <a:solidFill>
                  <a:srgbClr val="16202C"/>
                </a:solidFill>
                <a:latin typeface="Segoe UI"/>
                <a:ea typeface="맑은 고딕"/>
                <a:cs typeface="맑은 고딕"/>
              </a:rPr>
              <a:t>▪  Qwen3 4B  (304tok, 사고 196)</a:t>
            </a:r>
          </a:p>
          <a:p>
            <a:pPr algn="l">
              <a:lnSpc>
                <a:spcPct val="118000"/>
              </a:lnSpc>
              <a:spcBef>
                <a:spcPts val="200"/>
              </a:spcBef>
              <a:spcAft>
                <a:spcPts val="100"/>
              </a:spcAft>
            </a:pPr>
            <a:r>
              <a:rPr sz="1400" b="0" i="0">
                <a:solidFill>
                  <a:srgbClr val="2C3A4B"/>
                </a:solidFill>
                <a:latin typeface="Segoe UI"/>
                <a:ea typeface="맑은 고딕"/>
                <a:cs typeface="맑은 고딕"/>
              </a:rPr>
              <a:t>–  대한민국의 수도는 서울이다. 1392년 조선 왕조가 수도를 서울로 이전하면서 정치, 문화 중심지로 확고히 자리잡았다. 1948년 한국 전쟁 이후 남한이 성립되면서 서울이 공식적으로 수도로 지정되어 현재의 대한민국 정부 중심지가 되었다. 20세기 후반에는 국제적 중심도시로서의 역할도 확대되었다.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Qwen2.5 0.5B  (715tok)</a:t>
            </a:r>
          </a:p>
          <a:p>
            <a:pPr algn="l">
              <a:lnSpc>
                <a:spcPct val="118000"/>
              </a:lnSpc>
              <a:spcBef>
                <a:spcPts val="200"/>
              </a:spcBef>
              <a:spcAft>
                <a:spcPts val="100"/>
              </a:spcAft>
            </a:pPr>
            <a:r>
              <a:rPr sz="1400" b="0" i="0">
                <a:solidFill>
                  <a:srgbClr val="2C3A4B"/>
                </a:solidFill>
                <a:latin typeface="Segoe UI"/>
                <a:ea typeface="맑은 고딕"/>
                <a:cs typeface="맑은 고딕"/>
              </a:rPr>
              <a:t>–  대한민국의 수도는 서울입니다. 서울은 1950년 1월 1일에 도시화된 19세기의 도시로, 19세기 초부터 20세기 초까지 한국의 중심지로 유명해졌습니다. 서울의 도시화는 19세기 초부터 19세기 중반까지 진행되었으며, 이는 한국의 역사적 배경과 문화적 특징을 담고 있습니다.  1. 19세기 초: 서울은 한국의 중심지로 유명해졌습니다. 이 시기에는 서울은 전국의 중심지로, 전국의 교통과 경로를 통한 전국의 통합을 가능하게 했습니다.  2. 19세기 중반: 서울은 전국의 중심지로 유명해졌습니다. 이 시기에는 서울은 전국의 교통과 경로를 통한 전국의 통합을 가능하게 했습니다. 이 시기에는 서울은 전국의 교통과 경로를 통한 전국의 통합을 가능하게 했습니다.  3. 19세기 중: 서울은 전국의 중심지로 유명해졌습니다. 이 시기에는 서울은 전국의 교통과 경로를 통한 전국의 통합을 가능하게 했습니다. 이 시기에는 서울은 전국의 교통과 경로를 통한 전국의 통합을 가능하게 했습니다.  4. 19세기 후: 서울은 전국의 중심지로 유명해졌습니다. 이 시기에는 서울은 전국의 교통과 경로를 통한 전국의 통합을 가능하게 했습니다. 이 시기에는 서울은 전국의 교통과 경로를 통한 전국의 통합을 가능하게 했습니다.  5. 20세기 초: 서울은 전국의 중심지로 유명해졌습니다. 이 시기에는 서울은 전국의 교통과 경로를 통한 전국의 통합을 가능하게 했습니다. 이 시기에는 서울은 전국의 교통과 경로를 통한 전국의 통합을 가능하게 했습니다.  6. 20세기 중: 서울은 전국의 중심지로 유명해졌습니다. 이 시기에는 서울은 전국의 교통과 경로를 통한 전국의 통합을 가능하게 했습니다. 이 시기에는 서울은 전국의 교통과 경로를 통한 전국의 통합을 가능하게 했습니다.  7. 20세기 후: 서울은 전국의 중심지로 유명해졌습니다. 이 시기에는 서울은 전국의 교통과 경로를 통한 전국의 통합을 가능하게 했습니다. 이 시기에는 서울은 전국의 교통과 경로를 통한 전국의 통합을 가능하게 했습니다.  이러한 역사적 배경은 서울의 도시화와 통합에 대한 중요한 역할을 했습니다. 서울은 전국의 중심지로 유명해졌으며, 이는 한국의 역사적 배경과 문화적 특징을 담고 있습니다.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gpt-oss 120B  (388tok, 사고 55)</a:t>
            </a:r>
          </a:p>
          <a:p>
            <a:pPr algn="l">
              <a:lnSpc>
                <a:spcPct val="118000"/>
              </a:lnSpc>
              <a:spcBef>
                <a:spcPts val="200"/>
              </a:spcBef>
              <a:spcAft>
                <a:spcPts val="100"/>
              </a:spcAft>
            </a:pPr>
            <a:r>
              <a:rPr sz="1280" b="0" i="0">
                <a:solidFill>
                  <a:srgbClr val="2C3A4B"/>
                </a:solidFill>
                <a:latin typeface="Segoe UI"/>
                <a:ea typeface="맑은 고딕"/>
                <a:cs typeface="맑은 고딕"/>
              </a:rPr>
              <a:t>–  아래는 반복문(루프)만을 이용해 피보나치 수열의 **n번째 항**을 구하는 파이썬 함수입니다.   함수 정의 바로 아래에 시간 복잡도를 한 줄로 주석으로 달아두었습니다.  ```python def fibonacci(n: int) -&gt; int:     """     n번째 피보나치 수를 반환한다.     n이 0이면 0, n이 1이면 1을 반환한다.     """     # 시간 복잡도: O(n)     if n &lt; 0:         raise ValueError("n must be a non‑negative integer")     if n == 0:         return 0     if n == 1:         return 1      a, b = 0, 1          # F(0), F(1)     for _ in range(2, n + 1):         a, b = b, a + b   # 다음 피보나치 수 계산     return b ```  **사용 예시**  ```python print(fibonacci(10))   # 55 print(fibonacci(20))   # 6765 ```  - **시간 복잡도**: `O(n)` – 루프가 `n‑1`번(또는 `n-2`번) 실행되므로 입력 `n`에 비례합니다.   - **공간 복잡도**: `O(1)` – 상수 개수의 변수만 사용합니다.</a:t>
            </a:r>
          </a:p>
          <a:p>
            <a:pPr algn="l">
              <a:lnSpc>
                <a:spcPct val="118000"/>
              </a:lnSpc>
              <a:spcBef>
                <a:spcPts val="600"/>
              </a:spcBef>
              <a:spcAft>
                <a:spcPts val="200"/>
              </a:spcAft>
            </a:pPr>
            <a:r>
              <a:rPr sz="1400" b="0" i="0">
                <a:solidFill>
                  <a:srgbClr val="16202C"/>
                </a:solidFill>
                <a:latin typeface="Segoe UI"/>
                <a:ea typeface="맑은 고딕"/>
                <a:cs typeface="맑은 고딕"/>
              </a:rPr>
              <a:t>▪  Solar-Open 100B  (737tok, 사고 404)</a:t>
            </a:r>
          </a:p>
          <a:p>
            <a:pPr algn="l">
              <a:lnSpc>
                <a:spcPct val="118000"/>
              </a:lnSpc>
              <a:spcBef>
                <a:spcPts val="200"/>
              </a:spcBef>
              <a:spcAft>
                <a:spcPts val="100"/>
              </a:spcAft>
            </a:pPr>
            <a:r>
              <a:rPr sz="1280" b="0" i="0">
                <a:solidFill>
                  <a:srgbClr val="2C3A4B"/>
                </a:solidFill>
                <a:latin typeface="Segoe UI"/>
                <a:ea typeface="맑은 고딕"/>
                <a:cs typeface="맑은 고딕"/>
              </a:rPr>
              <a:t>–  아래는 **반복문**을 이용해 n번째 피보나치 수를 구하는 파이썬 함수 예시입니다.   시간 복잡도는 **O(n)** (선형)이며, 추가적인 메모리는 상수 **O(1)** 만 사용합니다.  ```python def fibonacci(n: int) -&gt; int:     """     n번째 피보나치 수를 반환한다.     (0번째 = 0, 1번째 = 1)     # Time complexity: O(n)     """     if n &lt; 0:         raise ValueError("n은 0 이상의 정수여야 합니다.")          a, b = 0, 1          # 초기값: F(0)=0, F(1)=1     for _ in range(n):   # n번 반복 → O(n)         a, b = b, a + b  # 다음 피보나치 수 계산     return a ```  **사용 예시**  ```python for i in range(10):     print(i, fibonacci(i)) # 출력: 0 0, 1 1, 2 1, 3 2, 4 3, 5 5, 6 8, 7 13, 8 21, 9 34 ```  - `for` 루프가 정확히 `n`번 실행되므로 **시간 복잡도 O(n)** 입니다.   - `a`와 `b` 두 변수만 사용하므로 **공간 복잡도 O(1)** 입니다.    필요에 따라 1‑기반 인덱스를 원한다면 `for _ in range(n-1):` 로 바꾸면 됩니다.</a:t>
            </a:r>
          </a:p>
          <a:p>
            <a:pPr algn="l">
              <a:lnSpc>
                <a:spcPct val="118000"/>
              </a:lnSpc>
              <a:spcBef>
                <a:spcPts val="600"/>
              </a:spcBef>
              <a:spcAft>
                <a:spcPts val="200"/>
              </a:spcAft>
            </a:pPr>
            <a:r>
              <a:rPr sz="1400" b="0" i="0">
                <a:solidFill>
                  <a:srgbClr val="16202C"/>
                </a:solidFill>
                <a:latin typeface="Segoe UI"/>
                <a:ea typeface="맑은 고딕"/>
                <a:cs typeface="맑은 고딕"/>
              </a:rPr>
              <a:t>▪  Llama 3.3 70B  (67tok)</a:t>
            </a:r>
          </a:p>
          <a:p>
            <a:pPr algn="l">
              <a:lnSpc>
                <a:spcPct val="118000"/>
              </a:lnSpc>
              <a:spcBef>
                <a:spcPts val="200"/>
              </a:spcBef>
              <a:spcAft>
                <a:spcPts val="100"/>
              </a:spcAft>
            </a:pPr>
            <a:r>
              <a:rPr sz="1280" b="0" i="0">
                <a:solidFill>
                  <a:srgbClr val="2C3A4B"/>
                </a:solidFill>
                <a:latin typeface="Segoe UI"/>
                <a:ea typeface="맑은 고딕"/>
                <a:cs typeface="맑은 고딕"/>
              </a:rPr>
              <a:t>–  ```python def fibonacci(n):     if n &lt;= 1:         return n     a, b = 0, 1     for _ in range(2, n+1):         a, b = b, a + b     return b # 시간복잡도: O(n)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 32B  (1361tok, 사고 1125)</a:t>
            </a:r>
          </a:p>
          <a:p>
            <a:pPr algn="l">
              <a:lnSpc>
                <a:spcPct val="118000"/>
              </a:lnSpc>
              <a:spcBef>
                <a:spcPts val="200"/>
              </a:spcBef>
              <a:spcAft>
                <a:spcPts val="100"/>
              </a:spcAft>
            </a:pPr>
            <a:r>
              <a:rPr sz="1280" b="0" i="0">
                <a:solidFill>
                  <a:srgbClr val="2C3A4B"/>
                </a:solidFill>
                <a:latin typeface="Segoe UI"/>
                <a:ea typeface="맑은 고딕"/>
                <a:cs typeface="맑은 고딕"/>
              </a:rPr>
              <a:t>–  ```python def fibonacci(n):     if n == 0:         return 0     elif n == 1:         return 1     a, b = 0, 1     for _ in range(2, n + 1):         a, b = b, a + b     return b # 시간복잡도: O(n) ```  ### 설명: - **함수 동작**:     `n`이 0 또는 1인 경우 기본값을 반환합니다. 그 외의 경우, 반복문을 사용해 피보나치 수열의 `n`번째 항을 계산합니다. 두 변수 `a`와 `b`를 이용해 이전 두 항을 저장하고, 반복적으로 업데이트하여 최종 결과를 반환합니다.  - **시간복잡도**:     반복문이 최대 `n-1`번 실행되므로, 시간복잡도는 **O(n)**입니다. 이는 재귀 방식과 달리 중복 계산이 없어 효율적입니다.</a:t>
            </a:r>
          </a:p>
          <a:p>
            <a:pPr algn="l">
              <a:lnSpc>
                <a:spcPct val="118000"/>
              </a:lnSpc>
              <a:spcBef>
                <a:spcPts val="600"/>
              </a:spcBef>
              <a:spcAft>
                <a:spcPts val="200"/>
              </a:spcAft>
            </a:pPr>
            <a:r>
              <a:rPr sz="1400" b="0" i="0">
                <a:solidFill>
                  <a:srgbClr val="16202C"/>
                </a:solidFill>
                <a:latin typeface="Segoe UI"/>
                <a:ea typeface="맑은 고딕"/>
                <a:cs typeface="맑은 고딕"/>
              </a:rPr>
              <a:t>▪  EXAONE 4.0 32B  (118tok)</a:t>
            </a:r>
          </a:p>
          <a:p>
            <a:pPr algn="l">
              <a:lnSpc>
                <a:spcPct val="118000"/>
              </a:lnSpc>
              <a:spcBef>
                <a:spcPts val="200"/>
              </a:spcBef>
              <a:spcAft>
                <a:spcPts val="100"/>
              </a:spcAft>
            </a:pPr>
            <a:r>
              <a:rPr sz="1280" b="0" i="0">
                <a:solidFill>
                  <a:srgbClr val="2C3A4B"/>
                </a:solidFill>
                <a:latin typeface="Segoe UI"/>
                <a:ea typeface="맑은 고딕"/>
                <a:cs typeface="맑은 고딕"/>
              </a:rPr>
              <a:t>–  다음은 파이썬으로 피보나치 수열의 n번째 항을 반복문으로 구하는 함수입니다:  ```python def fibonacci(n):     if n &lt;= 0:         return 0     elif n == 1:         return 1          a, b = 0, 1     for _ in range(2, n + 1):         a, b = b, a + b     return b ```  시간복잡도: **O(n)**</a:t>
            </a:r>
          </a:p>
          <a:p>
            <a:pPr algn="l">
              <a:lnSpc>
                <a:spcPct val="118000"/>
              </a:lnSpc>
              <a:spcBef>
                <a:spcPts val="600"/>
              </a:spcBef>
              <a:spcAft>
                <a:spcPts val="200"/>
              </a:spcAft>
            </a:pPr>
            <a:r>
              <a:rPr sz="1400" b="0" i="0">
                <a:solidFill>
                  <a:srgbClr val="16202C"/>
                </a:solidFill>
                <a:latin typeface="Segoe UI"/>
                <a:ea typeface="맑은 고딕"/>
                <a:cs typeface="맑은 고딕"/>
              </a:rPr>
              <a:t>▪  Qwen3-VL 32B  (68tok)</a:t>
            </a:r>
          </a:p>
          <a:p>
            <a:pPr algn="l">
              <a:lnSpc>
                <a:spcPct val="118000"/>
              </a:lnSpc>
              <a:spcBef>
                <a:spcPts val="200"/>
              </a:spcBef>
              <a:spcAft>
                <a:spcPts val="100"/>
              </a:spcAft>
            </a:pPr>
            <a:r>
              <a:rPr sz="1280" b="0" i="0">
                <a:solidFill>
                  <a:srgbClr val="2C3A4B"/>
                </a:solidFill>
                <a:latin typeface="Segoe UI"/>
                <a:ea typeface="맑은 고딕"/>
                <a:cs typeface="맑은 고딕"/>
              </a:rPr>
              <a:t>–  ```python def fibonacci(n):     if n &lt;= 1:         return n     a, b = 0, 1     for i in range(2, n + 1):         a, b = b, a + b     return b # 시간복잡도: O(n) ```</a:t>
            </a:r>
          </a:p>
          <a:p>
            <a:pPr algn="l">
              <a:lnSpc>
                <a:spcPct val="118000"/>
              </a:lnSpc>
              <a:spcBef>
                <a:spcPts val="600"/>
              </a:spcBef>
              <a:spcAft>
                <a:spcPts val="200"/>
              </a:spcAft>
            </a:pPr>
            <a:r>
              <a:rPr sz="1400" b="0" i="0">
                <a:solidFill>
                  <a:srgbClr val="16202C"/>
                </a:solidFill>
                <a:latin typeface="Segoe UI"/>
                <a:ea typeface="맑은 고딕"/>
                <a:cs typeface="맑은 고딕"/>
              </a:rPr>
              <a:t>▪  Qwen3-Coder 30B  (91tok)</a:t>
            </a:r>
          </a:p>
          <a:p>
            <a:pPr algn="l">
              <a:lnSpc>
                <a:spcPct val="118000"/>
              </a:lnSpc>
              <a:spcBef>
                <a:spcPts val="200"/>
              </a:spcBef>
              <a:spcAft>
                <a:spcPts val="100"/>
              </a:spcAft>
            </a:pPr>
            <a:r>
              <a:rPr sz="1280" b="0" i="0">
                <a:solidFill>
                  <a:srgbClr val="2C3A4B"/>
                </a:solidFill>
                <a:latin typeface="Segoe UI"/>
                <a:ea typeface="맑은 고딕"/>
                <a:cs typeface="맑은 고딕"/>
              </a:rPr>
              <a:t>–  ```python def fibonacci(n):     if n &lt;= 1:         return n     a, b = 0, 1     for _ in range(2, n + 1):         a, b = b, a + b     return b  # 예시 사용: # print(fibonacci(10))  # 출력: 55  ```  시간복잡도: **O(n)**</a:t>
            </a:r>
          </a:p>
          <a:p>
            <a:pPr algn="l">
              <a:lnSpc>
                <a:spcPct val="118000"/>
              </a:lnSpc>
              <a:spcBef>
                <a:spcPts val="600"/>
              </a:spcBef>
              <a:spcAft>
                <a:spcPts val="200"/>
              </a:spcAft>
            </a:pPr>
            <a:r>
              <a:rPr sz="1400" b="0" i="0">
                <a:solidFill>
                  <a:srgbClr val="16202C"/>
                </a:solidFill>
                <a:latin typeface="Segoe UI"/>
                <a:ea typeface="맑은 고딕"/>
                <a:cs typeface="맑은 고딕"/>
              </a:rPr>
              <a:t>▪  A3B Instruct 2507  (70tok)</a:t>
            </a:r>
          </a:p>
          <a:p>
            <a:pPr algn="l">
              <a:lnSpc>
                <a:spcPct val="118000"/>
              </a:lnSpc>
              <a:spcBef>
                <a:spcPts val="200"/>
              </a:spcBef>
              <a:spcAft>
                <a:spcPts val="100"/>
              </a:spcAft>
            </a:pPr>
            <a:r>
              <a:rPr sz="1280" b="0" i="0">
                <a:solidFill>
                  <a:srgbClr val="2C3A4B"/>
                </a:solidFill>
                <a:latin typeface="Segoe UI"/>
                <a:ea typeface="맑은 고딕"/>
                <a:cs typeface="맑은 고딕"/>
              </a:rPr>
              <a:t>–  ```python def fibonacci_iterative(n):     if n &lt;= 1:         return n     a, b = 0, 1     for _ in range(2, n + 1):         a, b = b, a + b     return b  # 시간복잡도: O(n)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A3B Thinking 2507  (1176tok, 사고 1103)</a:t>
            </a:r>
          </a:p>
          <a:p>
            <a:pPr algn="l">
              <a:lnSpc>
                <a:spcPct val="118000"/>
              </a:lnSpc>
              <a:spcBef>
                <a:spcPts val="200"/>
              </a:spcBef>
              <a:spcAft>
                <a:spcPts val="100"/>
              </a:spcAft>
            </a:pPr>
            <a:r>
              <a:rPr sz="1380" b="0" i="0">
                <a:solidFill>
                  <a:srgbClr val="2C3A4B"/>
                </a:solidFill>
                <a:latin typeface="Segoe UI"/>
                <a:ea typeface="맑은 고딕"/>
                <a:cs typeface="맑은 고딕"/>
              </a:rPr>
              <a:t>–  def fibonacci(n):     if n == 0:         return 0     elif n == 1:         return 1     a, b = 0, 1     for _ in range(2, n + 1):         a, b = b, a + b     return b  O(n)</a:t>
            </a:r>
          </a:p>
          <a:p>
            <a:pPr algn="l">
              <a:lnSpc>
                <a:spcPct val="118000"/>
              </a:lnSpc>
              <a:spcBef>
                <a:spcPts val="600"/>
              </a:spcBef>
              <a:spcAft>
                <a:spcPts val="200"/>
              </a:spcAft>
            </a:pPr>
            <a:r>
              <a:rPr sz="1400" b="0" i="0">
                <a:solidFill>
                  <a:srgbClr val="16202C"/>
                </a:solidFill>
                <a:latin typeface="Segoe UI"/>
                <a:ea typeface="맑은 고딕"/>
                <a:cs typeface="맑은 고딕"/>
              </a:rPr>
              <a:t>▪  Llama 3.1 8B  (291tok)</a:t>
            </a:r>
          </a:p>
          <a:p>
            <a:pPr algn="l">
              <a:lnSpc>
                <a:spcPct val="118000"/>
              </a:lnSpc>
              <a:spcBef>
                <a:spcPts val="200"/>
              </a:spcBef>
              <a:spcAft>
                <a:spcPts val="100"/>
              </a:spcAft>
            </a:pPr>
            <a:r>
              <a:rPr sz="1380" b="0" i="0">
                <a:solidFill>
                  <a:srgbClr val="2C3A4B"/>
                </a:solidFill>
                <a:latin typeface="Segoe UI"/>
                <a:ea typeface="맑은 고딕"/>
                <a:cs typeface="맑은 고딕"/>
              </a:rPr>
              <a:t>–  ### 피보나치 수열의 n번째 항을 구하는 함수  ```python def fibonacci(n):     """     피보나치 수열의 n번째 항을 구하는 함수.      Args:         n (int): 피보나치 수열의 항의 위치.      Returns:         int: 피보나치 수열의 n번째 항.     """     if n &lt;= 0:         raise ValueError("n은 1 이상의 정수여야 합니다.")     elif n == 1:         return 0     elif n == 2:         return 1     else:         a, b = 0, 1         for _ in range(2, n):             a, b = b, a + b         return b  # 시간복잡도: O(n) ```  ### 설명  이 함수는 피보나치 수열의 n번째 항을 구하는 데 사용됩니다. 피보나치 수열은 다음과 같은 규칙을 따릅니다.  *   0 번째 항은 0입니다. *   1 번째 항은 1입니다. *   n 번째 항은 (n-1) 번째 항과 (n-2) 번째 항의 합입니다.  이 함수는 이 규칙을 사용하여 n 번째 항을 계산합니다. 시간복잡도는 O(n)입니다.</a:t>
            </a:r>
          </a:p>
          <a:p>
            <a:pPr algn="l">
              <a:lnSpc>
                <a:spcPct val="118000"/>
              </a:lnSpc>
              <a:spcBef>
                <a:spcPts val="600"/>
              </a:spcBef>
              <a:spcAft>
                <a:spcPts val="200"/>
              </a:spcAft>
            </a:pPr>
            <a:r>
              <a:rPr sz="1400" b="0" i="0">
                <a:solidFill>
                  <a:srgbClr val="16202C"/>
                </a:solidFill>
                <a:latin typeface="Segoe UI"/>
                <a:ea typeface="맑은 고딕"/>
                <a:cs typeface="맑은 고딕"/>
              </a:rPr>
              <a:t>▪  Qwen3 8B  (1395tok, 사고 1314)</a:t>
            </a:r>
          </a:p>
          <a:p>
            <a:pPr algn="l">
              <a:lnSpc>
                <a:spcPct val="118000"/>
              </a:lnSpc>
              <a:spcBef>
                <a:spcPts val="200"/>
              </a:spcBef>
              <a:spcAft>
                <a:spcPts val="100"/>
              </a:spcAft>
            </a:pPr>
            <a:r>
              <a:rPr sz="1380" b="0" i="0">
                <a:solidFill>
                  <a:srgbClr val="2C3A4B"/>
                </a:solidFill>
                <a:latin typeface="Segoe UI"/>
                <a:ea typeface="맑은 고딕"/>
                <a:cs typeface="맑은 고딕"/>
              </a:rPr>
              <a:t>–  ```python def fibonacci(n):     if n == 0:         return 0     elif n == 1:         return 1     a, b = 0, 1     for _ in range(2, n+1):         a, b = b, a + b     return b  # Time complexity: O(n) ```</a:t>
            </a:r>
          </a:p>
          <a:p>
            <a:pPr algn="l">
              <a:lnSpc>
                <a:spcPct val="118000"/>
              </a:lnSpc>
              <a:spcBef>
                <a:spcPts val="600"/>
              </a:spcBef>
              <a:spcAft>
                <a:spcPts val="200"/>
              </a:spcAft>
            </a:pPr>
            <a:r>
              <a:rPr sz="1400" b="0" i="0">
                <a:solidFill>
                  <a:srgbClr val="16202C"/>
                </a:solidFill>
                <a:latin typeface="Segoe UI"/>
                <a:ea typeface="맑은 고딕"/>
                <a:cs typeface="맑은 고딕"/>
              </a:rPr>
              <a:t>▪  Qwen3 4B  (1587tok, 사고 1495)</a:t>
            </a:r>
          </a:p>
          <a:p>
            <a:pPr algn="l">
              <a:lnSpc>
                <a:spcPct val="118000"/>
              </a:lnSpc>
              <a:spcBef>
                <a:spcPts val="200"/>
              </a:spcBef>
              <a:spcAft>
                <a:spcPts val="100"/>
              </a:spcAft>
            </a:pPr>
            <a:r>
              <a:rPr sz="1380" b="0" i="0">
                <a:solidFill>
                  <a:srgbClr val="2C3A4B"/>
                </a:solidFill>
                <a:latin typeface="Segoe UI"/>
                <a:ea typeface="맑은 고딕"/>
                <a:cs typeface="맑은 고딕"/>
              </a:rPr>
              <a:t>–  ```python def fibonacci(n):     if n == 0:         return 0     elif n == 1 or n == 2:         return 1     a, b = 0, 1     for _ in range(2, n+1):         c = a + b         a = b         b = c     return b  # Time complexity: O(n)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Qwen2.5 0.5B  (289tok)</a:t>
            </a:r>
          </a:p>
          <a:p>
            <a:pPr algn="l">
              <a:lnSpc>
                <a:spcPct val="118000"/>
              </a:lnSpc>
              <a:spcBef>
                <a:spcPts val="200"/>
              </a:spcBef>
              <a:spcAft>
                <a:spcPts val="100"/>
              </a:spcAft>
            </a:pPr>
            <a:r>
              <a:rPr sz="1400" b="0" i="0">
                <a:solidFill>
                  <a:srgbClr val="2C3A4B"/>
                </a:solidFill>
                <a:latin typeface="Segoe UI"/>
                <a:ea typeface="맑은 고딕"/>
                <a:cs typeface="맑은 고딕"/>
              </a:rPr>
              <a:t>–  파이썬으로 피보나치 수열의 n번째 항을 반복문으로 구하는 함수를 작성해 보겠습니다. 이 함수는 n에 해당하는 피보나치 수열의 n번째 항을 반환합니다. 시간복잡도는 O(1)입니다.  ```python def fibonacci(n):     if n &lt;= 1:         return n     else:         return fibonacci(n-1) + fibonacci(n-2) ```  이 함수의 주요 특징은 다음과 같습니다:  1. `n &lt;= 1`는 피보나치 수열의 0번째 항과 1번째 항을 반환합니다. 2. `n &gt; 1`는 피보나치 수열의 n번째 항을 반환합니다.  이 함수를 사용하면 다음과 같은 시간 복잡도로 피보나치 수열의 n번째 항을 구할 수 있습니다:  - O(1) 시간 복잡도: `fibonacci(0)`, `fibonacci(1)` - O(1) 시간 복잡도: `fibonacci(2)`, `fibonacci(3)` - O(1) 시간 복잡도: `fibonacci(4)`, `fibonacci(5)` - ... 이까지 계속해서  이 함수는 피보나치 수열의 n번째 항을 구하는 데 사용됩니다.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gpt-oss 120B  (509tok, 사고 153)</a:t>
            </a:r>
          </a:p>
          <a:p>
            <a:pPr algn="l">
              <a:lnSpc>
                <a:spcPct val="118000"/>
              </a:lnSpc>
              <a:spcBef>
                <a:spcPts val="200"/>
              </a:spcBef>
              <a:spcAft>
                <a:spcPts val="100"/>
              </a:spcAft>
            </a:pPr>
            <a:r>
              <a:rPr sz="1400" b="0" i="0">
                <a:solidFill>
                  <a:srgbClr val="2C3A4B"/>
                </a:solidFill>
                <a:latin typeface="Segoe UI"/>
                <a:ea typeface="맑은 고딕"/>
                <a:cs typeface="맑은 고딕"/>
              </a:rPr>
              <a:t>–  **문제**   - 한 상자에 사과 12개가 들어갑니다.   - 총 100개의 사과를 모두 담으려면 몇 개의 상자가 필요하고, 마지막 상자에 남는 사과는 몇 개인지 구하세요.  ---  ### 1. 전체 사과 수를 상자당 수량으로 나누기    \[ \frac{100}{12}=8\text{…}4 \]  - **몫(8)** : 12개씩 가득 채울 수 있는 상자의 개수   - **나머지(4)** : 남은 사과 수    즉, 12개씩 가득 채울 수 있는 상자는 **8개**이고, 4개의 사과가 남습니다.  ### 2. 마지막 상자를 포함한 전체 상자 수    남은 사과가 0이 아니므로, 남은 사과를 담기 위해 **추가로 1개의 상자**가 필요합니다.  \[ \text{필요한 상자 수}= \text{몫} + 1 = 8 + 1 = 9 \text{개} \]  ### 3. 마지막 상자에 들어가는 사과 수    추가한 마지막 상자에는 남은 사과 **4개**가 들어갑니다.  ---  ## 최종 답  - **필요한 상자 수:** 9개   - **마지막 상자에 남는 사과:** 4개    (8개의 상자는 각각 12개씩 가득 차고, 9번째 상자에 4개가 들어갑니다.)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Solar-Open 100B  (1453tok, 사고 730)</a:t>
            </a:r>
          </a:p>
          <a:p>
            <a:pPr algn="l">
              <a:lnSpc>
                <a:spcPct val="118000"/>
              </a:lnSpc>
              <a:spcBef>
                <a:spcPts val="200"/>
              </a:spcBef>
              <a:spcAft>
                <a:spcPts val="100"/>
              </a:spcAft>
            </a:pPr>
            <a:r>
              <a:rPr sz="1380" b="0" i="0">
                <a:solidFill>
                  <a:srgbClr val="2C3A4B"/>
                </a:solidFill>
                <a:latin typeface="Segoe UI"/>
                <a:ea typeface="맑은 고딕"/>
                <a:cs typeface="맑은 고딕"/>
              </a:rPr>
              <a:t>–  **문제**   - 한 상자에 담을 수 있는 사과 수 : **12개**   - 전체 사과 수 : **100개**    **목표**   1. 몇 개의 상자가 필요한가?   2. 마지막(상자)에는 몇 개의 사과가 남는가?    ---  ## 1️⃣ 계산 과정  ### ① 전체 사과를 상자 용량으로 나누기 (정수 나눗셈)  \[ \text{전체 상자 수(완전 채워진 상자)} = \left\lfloor \frac{100}{12} \right\rfloor \]  \[ \frac{100}{12}=8.333\ldots \;\Rightarrow\; \left\lfloor 8.333\ldots \right\rfloor = 8 \]  - **8개의 상자**는 각각 **12개**씩 가득 채울 수 있다.   - 8개의 상자에 들어간 사과 수:    \[ 8 \times 12 = 96 \text{개} \]  ### ② 남은 사과(나머지) 구하기  \[ \text{남은 사과} = 100 - 96 = 4 \text{개} \]  또는 **모듈로 연산**을 이용해도 같은 결과를 얻는다.  \[ 100 \bmod 12 = 4 \]  ### ③ 마지막 상자 필요 여부 판단  남은 사과가 **0이 아니면** 한 개의 추가 상자가 필요하다.  \[ \text{추가 상자 필요 여부} =  \begin{cases} \text{필요} &amp; \text{if } \text{남은 사과} &gt; 0 \\ \text{불필요} &amp; \text{if } \text{남은 사과} = 0 \end{cases} \]  여기서는 남은 사과가 4개이므로 **추가 상자 1개**가 필요하다.  ### ④ 전체 상자 수 구하기 (천장 함수 사용)  \[ \text{전체 상자 수} = \left\lceil \frac{100}{12} \right\rceil \]  \[ \left\lceil 8.333\ldots \right\rceil = 9 \]  또는 **정수 연산**으로 한 번에 구할 수 있다.  \[ \text{전체 상자 수} = \frac{100 + 12 - 1}{12} = \frac{111}{12}=9 \]  ---  ## 2️⃣ 결과 정리  | 상자 번호 | 사과 개수 | |-----------|----------| | 1 ~ 8     | 12개씩 (총 96개) | | 9 (마지막) | 4개 (남은 사과) |  - **필요한 상자 수** : **9개**   - **마지막 상자에 남는 사과** : **4개**    ---  ## 3️⃣ 파이썬 코드 예시 (참고용)  ```python apples = 100 capacity = 12  full_boxes = apples // capacity          # 8 remainder = apples % capacity            # 4  total_boxes = full_boxes + (1 if remainder else 0)  # 9  print(f"전체 상자 수: {total_boxes}개") print(f"마지막 상자에 남는 사과: {remainder}개") ```  출력 결과   ``` 전체 상자 수: 9개 마지막 상자에 남는 사과: 4개 ```  ---  ### 요약 - **8개의 상자**는 가득 채워지고, **1개의 상자**에 **4개의 사과**가 남는다.   - 따라서 **총 9개의 상자**가 필요하고, 마지막 상자에는 **4개의 사과**가 들어간다.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Llama 3.3 70B  (233tok)</a:t>
            </a:r>
          </a:p>
          <a:p>
            <a:pPr algn="l">
              <a:lnSpc>
                <a:spcPct val="118000"/>
              </a:lnSpc>
              <a:spcBef>
                <a:spcPts val="200"/>
              </a:spcBef>
              <a:spcAft>
                <a:spcPts val="100"/>
              </a:spcAft>
            </a:pPr>
            <a:r>
              <a:rPr sz="1280" b="0" i="0">
                <a:solidFill>
                  <a:srgbClr val="2C3A4B"/>
                </a:solidFill>
                <a:latin typeface="Segoe UI"/>
                <a:ea typeface="맑은 고딕"/>
                <a:cs typeface="맑은 고딕"/>
              </a:rPr>
              <a:t>–  사과 100개를 담으려면 필요한 상자의 수를 계산해 보겠습니다.  1. 사과 100개를 한 상자에 담을 수 있는 사과 개수인 12로 나눕니다. 100 ÷ 12 = 8.33  2. 상자의 수는 정수로만 표현할 수 있기 때문에, 8.33을 8로 반올림 내림합니다.     따라서 필요한 상자의 수는 9개입니다.  3. 마지막 상자에 담긴 사과의 수를 계산해 보겠습니다.    9개의 상자에 12개의 사과를 담으면, 9 x 12 = 108개의 사과를 담을 수 있습니다.    하지만 사과는 100개만 있으므로, 마지막 상자에는 100 - (8 x 12) = 100 - 96 = 4개의 사과가 담깁니다.  따라서 사과 100개를 담으려면 9개의 상자가 필요하고, 마지막 상자에는 4개의 사과가 남습니다.</a:t>
            </a:r>
          </a:p>
          <a:p>
            <a:pPr algn="l">
              <a:lnSpc>
                <a:spcPct val="118000"/>
              </a:lnSpc>
              <a:spcBef>
                <a:spcPts val="600"/>
              </a:spcBef>
              <a:spcAft>
                <a:spcPts val="200"/>
              </a:spcAft>
            </a:pPr>
            <a:r>
              <a:rPr sz="1400" b="0" i="0">
                <a:solidFill>
                  <a:srgbClr val="16202C"/>
                </a:solidFill>
                <a:latin typeface="Segoe UI"/>
                <a:ea typeface="맑은 고딕"/>
                <a:cs typeface="맑은 고딕"/>
              </a:rPr>
              <a:t>▪  Qwen3 32B  (842tok, 사고 548)</a:t>
            </a:r>
          </a:p>
          <a:p>
            <a:pPr algn="l">
              <a:lnSpc>
                <a:spcPct val="118000"/>
              </a:lnSpc>
              <a:spcBef>
                <a:spcPts val="200"/>
              </a:spcBef>
              <a:spcAft>
                <a:spcPts val="100"/>
              </a:spcAft>
            </a:pPr>
            <a:r>
              <a:rPr sz="1280" b="0" i="0">
                <a:solidFill>
                  <a:srgbClr val="2C3A4B"/>
                </a:solidFill>
                <a:latin typeface="Segoe UI"/>
                <a:ea typeface="맑은 고딕"/>
                <a:cs typeface="맑은 고딕"/>
              </a:rPr>
              <a:t>–  사과 100개를 12개씩 담는 상자에 넣기 위해 필요한 상자의 수와 마지막 상자에 남는 사과 개수를 계산합니다.  1. **총 사과 수를 상자당 사과 수로 나누기**      $ 100 \div 12 = 8 $ (나눗셈의 몫)      나머지: $ 100 - (12 \times 8) = 4 $    2. **상자 수 계산**      - 8개의 상자로 96개(12×8)의 사과를 담을 수 있습니다.      - 남은 4개의 사과는 추가 상자에 담아야 하므로, 총 상자 수는 $ 8 + 1 = 9 $개입니다.    3. **마지막 상자의 사과 수**      마지막 상자에는 남은 4개의 사과가 담깁니다.    **최종 답:**   - **필요한 상자 수:** 9개   - **마지막 상자에 남는 사과 수:** 4개    $$ \boxed{9 \text{개의 상자 필요, 마지막 상자에 4개 남음}} $$</a:t>
            </a:r>
          </a:p>
          <a:p>
            <a:pPr algn="l">
              <a:lnSpc>
                <a:spcPct val="118000"/>
              </a:lnSpc>
              <a:spcBef>
                <a:spcPts val="600"/>
              </a:spcBef>
              <a:spcAft>
                <a:spcPts val="200"/>
              </a:spcAft>
            </a:pPr>
            <a:r>
              <a:rPr sz="1400" b="0" i="0">
                <a:solidFill>
                  <a:srgbClr val="16202C"/>
                </a:solidFill>
                <a:latin typeface="Segoe UI"/>
                <a:ea typeface="맑은 고딕"/>
                <a:cs typeface="맑은 고딕"/>
              </a:rPr>
              <a:t>▪  EXAONE 4.0 32B  (213tok)</a:t>
            </a:r>
          </a:p>
          <a:p>
            <a:pPr algn="l">
              <a:lnSpc>
                <a:spcPct val="118000"/>
              </a:lnSpc>
              <a:spcBef>
                <a:spcPts val="200"/>
              </a:spcBef>
              <a:spcAft>
                <a:spcPts val="100"/>
              </a:spcAft>
            </a:pPr>
            <a:r>
              <a:rPr sz="1280" b="0" i="0">
                <a:solidFill>
                  <a:srgbClr val="2C3A4B"/>
                </a:solidFill>
                <a:latin typeface="Segoe UI"/>
                <a:ea typeface="맑은 고딕"/>
                <a:cs typeface="맑은 고딕"/>
              </a:rPr>
              <a:t>–  사과 100개를 상자에 담을 때 필요한 상자의 수와 마지막 상자에 남는 사과의 개수를 계산해 보겠습니다.  1. **상자 하나에 들어가는 사과의 수**: 12개 2. **총 사과의 수**: 100개  **계산 과정**: - 100을 12로 나누어 필요한 상자의 수를 구합니다.      \[   100 \div 12 = 8 \text{ 상자} \quad (\text{나머지 } 4)   \]      - **몫**: 8 상자   - **나머지**: 4개  **결론**: - **필요한 상자의 수**: 8개 - **마지막 상자에 남는 사과의 수**: 4개  \[ \boxed{8 \text{ 상자}, \ 4 \text{ 개}}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Qwen3-VL 32B  (497tok)</a:t>
            </a:r>
          </a:p>
          <a:p>
            <a:pPr algn="l">
              <a:lnSpc>
                <a:spcPct val="118000"/>
              </a:lnSpc>
              <a:spcBef>
                <a:spcPts val="200"/>
              </a:spcBef>
              <a:spcAft>
                <a:spcPts val="100"/>
              </a:spcAft>
            </a:pPr>
            <a:r>
              <a:rPr sz="1380" b="0" i="0">
                <a:solidFill>
                  <a:srgbClr val="2C3A4B"/>
                </a:solidFill>
                <a:latin typeface="Segoe UI"/>
                <a:ea typeface="맑은 고딕"/>
                <a:cs typeface="맑은 고딕"/>
              </a:rPr>
              <a:t>–  주어진 문제는:  &gt; 한 상자에 사과가 12개 들어간다. 사과 100개를 담으려면 상자가 몇 개 필요하고, 마지막 상자에는 몇 개가 남는지 계산 과정을 보여줘.  ---  ### 계산 과정:  1. **총 사과 수**: 100개   2. **한 상자당 사과 수**: 12개    이 문제는 **나눗셈과 나머지**를 이용해 해결할 수 있습니다.  ---  ### 1. 상자 수 계산 (몫)  100을 12로 나누면:  \[ 100 \div 12 = 8 \text{ (몫)} \quad \text{나머지 } 4 \]  이유:   \(12 \times 8 = 96\)   \(100 - 96 = 4\)  즉, 8개의 상자로 96개를 담을 수 있고, 4개가 남습니다.  ---  ### 2. 마지막 상자에 들어가는 사과 수  남은 사과 4개는 **9번째 상자**에 담아야 하므로,   **마지막 상자에는 4개가 들어간다.**  ---  ### 3. 필요한 상자 수  8개의 상자로는 96개만 담을 수 있으므로,   **남은 4개를 담기 위해 1개 더 필요**합니다.  따라서, **총 상자 수 = 8 + 1 = 9개**  ---  ### ✅ 최종 답:  - **필요한 상자 수**: **9개**   - **마지막 상자에 들어가는 사과 수**: **4개**  ---  ### 📌 요약:  \[ 100 \div 12 = 8 \text{ (몫)}, \quad \text{나머지 } 4 \]  → 상자 8개로 96개 담고, 남은 4개는 9번째 상자에 담음.  ---  ✅ **정답: 상자 9개 필요, 마지막 상자에 4개 남음.**</a:t>
            </a:r>
          </a:p>
          <a:p>
            <a:pPr algn="l">
              <a:lnSpc>
                <a:spcPct val="118000"/>
              </a:lnSpc>
              <a:spcBef>
                <a:spcPts val="600"/>
              </a:spcBef>
              <a:spcAft>
                <a:spcPts val="200"/>
              </a:spcAft>
            </a:pPr>
            <a:r>
              <a:rPr sz="1400" b="0" i="0">
                <a:solidFill>
                  <a:srgbClr val="16202C"/>
                </a:solidFill>
                <a:latin typeface="Segoe UI"/>
                <a:ea typeface="맑은 고딕"/>
                <a:cs typeface="맑은 고딕"/>
              </a:rPr>
              <a:t>▪  Qwen3-Coder 30B  (373tok)</a:t>
            </a:r>
          </a:p>
          <a:p>
            <a:pPr algn="l">
              <a:lnSpc>
                <a:spcPct val="118000"/>
              </a:lnSpc>
              <a:spcBef>
                <a:spcPts val="200"/>
              </a:spcBef>
              <a:spcAft>
                <a:spcPts val="100"/>
              </a:spcAft>
            </a:pPr>
            <a:r>
              <a:rPr sz="1380" b="0" i="0">
                <a:solidFill>
                  <a:srgbClr val="2C3A4B"/>
                </a:solidFill>
                <a:latin typeface="Segoe UI"/>
                <a:ea typeface="맑은 고딕"/>
                <a:cs typeface="맑은 고딕"/>
              </a:rPr>
              <a:t>–  사과 100개를 담으려고 하는데, 한 상자에 사과가 **12개**씩 들어간다고 하면,  ---  ### 1. **총 필요한 상자의 수 계산**  우선, 총 사과 수(100개)를 한 상자에 담을 수 있는 개수(12개)로 나누어 봅니다.  $$ \frac{100}{12} = 8.333... $$  이 결과는 **8.333...** 이므로,   정수로 표현하면 **8번 완전히 채워진 상자**와   남은 사과가 있는 **마지막 하나의 상자**가 필요합니다.  따라서, 전체적으로 필요한 상자는:  $$ \boxed{9 \text{개}} $$  ---  ### 2. **마지막 상자에 남는 사과의 수 계산**  이제 총 9개의 박스 중에서 앞의 8개는 모두 꽉 찼다고 가정하면:  - 앞의 8박스 × 12사과 = $8 \times 12 = \boxed{96} $사과  - 전체: $\boxed{100}$사과 → 남은 사과: $100 - 96 = \boxed{4}$사과  ---  ### ✅ 최종 답: - 필요한 **상자의 수**: $\boxed{9}$ 개   - 마지막 상자에는 $\boxed{4}$ 개의 사자가 남습니다.  ---   필요하다면 이 과정을 더 자세히 설명해 드릴게요!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(5)</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A3B Instruct 2507  (385tok)</a:t>
            </a:r>
          </a:p>
          <a:p>
            <a:pPr algn="l">
              <a:lnSpc>
                <a:spcPct val="118000"/>
              </a:lnSpc>
              <a:spcBef>
                <a:spcPts val="200"/>
              </a:spcBef>
              <a:spcAft>
                <a:spcPts val="100"/>
              </a:spcAft>
            </a:pPr>
            <a:r>
              <a:rPr sz="1280" b="0" i="0">
                <a:solidFill>
                  <a:srgbClr val="2C3A4B"/>
                </a:solidFill>
                <a:latin typeface="Segoe UI"/>
                <a:ea typeface="맑은 고딕"/>
                <a:cs typeface="맑은 고딕"/>
              </a:rPr>
              <a:t>–  사과 100개를 상자에 담으려고 합니다.   한 상자에 사과가 12개 들어간다고 했으므로,   100개를 12개씩 나누어 몇 개의 상자가 필요한지, 그리고 마지막 상자에 몇 개가 남는지 계산해 봅시다.  ---  ### 1. 전체 사과 수를 상자당 수로 나누기 \[ 100 \div 12 = 8 \text{ (몫)}, \quad \text{나머지 } 4 \]  계산 과정: - \(12 \times 8 = 96\) - \(100 - 96 = 4\)  즉, 12개씩 8개의 상자에 사과를 담으면 96개가 담기고,   남은 사과는 \(100 - 96 = 4\)개입니다.  ---  ### 2. 필요한 상자 수 8개의 상자로 96개를 담고,   남은 4개는 또 하나의 상자에 담아야 하므로,   총 상자 수는: \[ 8 + 1 = 9 \text{개} \]  ---  ### ✅ 최종 답변: - **필요한 상자 수**: 9개   - **마지막 상자에 남는 사과 수**: 4개  ---  ### 📌 정리: - 100 ÷ 12 = 8 (몫), 4 (나머지) - 따라서 9개의 상자가 필요하고, 마지막 상자에는 4개의 사과가 남는다.</a:t>
            </a:r>
          </a:p>
          <a:p>
            <a:pPr algn="l">
              <a:lnSpc>
                <a:spcPct val="118000"/>
              </a:lnSpc>
              <a:spcBef>
                <a:spcPts val="600"/>
              </a:spcBef>
              <a:spcAft>
                <a:spcPts val="200"/>
              </a:spcAft>
            </a:pPr>
            <a:r>
              <a:rPr sz="1400" b="0" i="0">
                <a:solidFill>
                  <a:srgbClr val="16202C"/>
                </a:solidFill>
                <a:latin typeface="Segoe UI"/>
                <a:ea typeface="맑은 고딕"/>
                <a:cs typeface="맑은 고딕"/>
              </a:rPr>
              <a:t>▪  A3B Thinking 2507  (1798tok, 사고 1541)</a:t>
            </a:r>
          </a:p>
          <a:p>
            <a:pPr algn="l">
              <a:lnSpc>
                <a:spcPct val="118000"/>
              </a:lnSpc>
              <a:spcBef>
                <a:spcPts val="200"/>
              </a:spcBef>
              <a:spcAft>
                <a:spcPts val="100"/>
              </a:spcAft>
            </a:pPr>
            <a:r>
              <a:rPr sz="1280" b="0" i="0">
                <a:solidFill>
                  <a:srgbClr val="2C3A4B"/>
                </a:solidFill>
                <a:latin typeface="Segoe UI"/>
                <a:ea typeface="맑은 고딕"/>
                <a:cs typeface="맑은 고딕"/>
              </a:rPr>
              <a:t>–  사과 100개를 상자에 담을 때, 각 상자에 12개씩 담을 수 있습니다.   계산 과정은 다음과 같습니다:  1. **100 ÷ 12**를 계산합니다.      - 12 × 8 = 96 (8개의 상자가 가득 찬 경우)      - 100 - 96 = 4 (남은 사과 개수)  2. **나머지가 4**이므로, 8개의 상자는 가득 찼고, 마지막 상자에는 4개의 사과가 남습니다.  3. **필요한 상자 수**는 가득 찬 상자 수(8) + 남은 사과를 담을 상자(1) = **9개**입니다.  **결과**:   - 필요한 상자 수: **9개**   - 마지막 상자에 남는 사과 수: **4개**  $$ \boxed{9} \text{개의 상자가 필요하며, 마지막 상자에는 } \boxed{4} \text{개가 남습니다.} $$</a:t>
            </a:r>
          </a:p>
          <a:p>
            <a:pPr algn="l">
              <a:lnSpc>
                <a:spcPct val="118000"/>
              </a:lnSpc>
              <a:spcBef>
                <a:spcPts val="600"/>
              </a:spcBef>
              <a:spcAft>
                <a:spcPts val="200"/>
              </a:spcAft>
            </a:pPr>
            <a:r>
              <a:rPr sz="1400" b="0" i="0">
                <a:solidFill>
                  <a:srgbClr val="16202C"/>
                </a:solidFill>
                <a:latin typeface="Segoe UI"/>
                <a:ea typeface="맑은 고딕"/>
                <a:cs typeface="맑은 고딕"/>
              </a:rPr>
              <a:t>▪  Llama 3.1 8B  (224tok)</a:t>
            </a:r>
          </a:p>
          <a:p>
            <a:pPr algn="l">
              <a:lnSpc>
                <a:spcPct val="118000"/>
              </a:lnSpc>
              <a:spcBef>
                <a:spcPts val="200"/>
              </a:spcBef>
              <a:spcAft>
                <a:spcPts val="100"/>
              </a:spcAft>
            </a:pPr>
            <a:r>
              <a:rPr sz="1280" b="0" i="0">
                <a:solidFill>
                  <a:srgbClr val="2C3A4B"/>
                </a:solidFill>
                <a:latin typeface="Segoe UI"/>
                <a:ea typeface="맑은 고딕"/>
                <a:cs typeface="맑은 고딕"/>
              </a:rPr>
              <a:t>–  사과 100개를 담으려면 상자가 몇 개 필요하는지 계산해 보겠습니다.  1. 한 상자에 사과가 12개 들어간다.  2. 100개의 사과를 담으려면, 100 ÷ 12 = 8.33 (소수점이 나온다. 소수점은 사과가 몇 개 남는지 의미한다.)  8.33은 8과 0.33으로 나누어질 수 있다. 8은 8개의 상자에 담을 수 있는 사과의 개수이고, 0.33은 마지막 상자에 남는 사과의 개수이다.  8개의 상자에 담을 수 있는 사과의 개수는 8 × 12 = 96개이다.  마지막 상자에는 100 - 96 = 4개의 사과가 남는다.  따라서, 사과 100개를 담으려면 8개의 상자가 필요하고, 마지막 상자에는 4개의 사과가 남는다.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(6)</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 8B  (1067tok, 사고 771)</a:t>
            </a:r>
          </a:p>
          <a:p>
            <a:pPr algn="l">
              <a:lnSpc>
                <a:spcPct val="118000"/>
              </a:lnSpc>
              <a:spcBef>
                <a:spcPts val="200"/>
              </a:spcBef>
              <a:spcAft>
                <a:spcPts val="100"/>
              </a:spcAft>
            </a:pPr>
            <a:r>
              <a:rPr sz="1280" b="0" i="0">
                <a:solidFill>
                  <a:srgbClr val="2C3A4B"/>
                </a:solidFill>
                <a:latin typeface="Segoe UI"/>
                <a:ea typeface="맑은 고딕"/>
                <a:cs typeface="맑은 고딕"/>
              </a:rPr>
              <a:t>–  사과 100개를 12개씩 담는 상자에 담으려면 다음과 같은 계산 과정을 따릅니다:  1. **총 사과 수 ÷ 상자당 사과 수 계산**      $ 100 \div 12 = 8 $ 나머지 $ 4 $      - 이는 8개의 상자가 12개씩 담을 수 있고, 남은 사과는 4개임을 의미합니다.  2. **필요한 상자 수 계산**      - 8개의 상자가 96개의 사과를 담고, 남은 4개의 사과는 추가로 1개의 상자를 필요로 합니다.      - 따라서 총 필요한 상자는 $ 8 + 1 = 9 $개입니다.  3. **마지막 상자에 남는 사과 수**      - 마지막 상자는 4개의 사과가 담깁니다.  **결과:**   - **필요한 상자 수:** 9개   - **마지막 상자에 남는 사과 수:** 4개    $$ \boxed{9 \text{개의 상자}, \text{마지막 상자에 } 4 \text{개 남음}} $$</a:t>
            </a:r>
          </a:p>
          <a:p>
            <a:pPr algn="l">
              <a:lnSpc>
                <a:spcPct val="118000"/>
              </a:lnSpc>
              <a:spcBef>
                <a:spcPts val="600"/>
              </a:spcBef>
              <a:spcAft>
                <a:spcPts val="200"/>
              </a:spcAft>
            </a:pPr>
            <a:r>
              <a:rPr sz="1400" b="0" i="0">
                <a:solidFill>
                  <a:srgbClr val="16202C"/>
                </a:solidFill>
                <a:latin typeface="Segoe UI"/>
                <a:ea typeface="맑은 고딕"/>
                <a:cs typeface="맑은 고딕"/>
              </a:rPr>
              <a:t>▪  Qwen3 4B  (1032tok, 사고 781)</a:t>
            </a:r>
          </a:p>
          <a:p>
            <a:pPr algn="l">
              <a:lnSpc>
                <a:spcPct val="118000"/>
              </a:lnSpc>
              <a:spcBef>
                <a:spcPts val="200"/>
              </a:spcBef>
              <a:spcAft>
                <a:spcPts val="100"/>
              </a:spcAft>
            </a:pPr>
            <a:r>
              <a:rPr sz="1280" b="0" i="0">
                <a:solidFill>
                  <a:srgbClr val="2C3A4B"/>
                </a:solidFill>
                <a:latin typeface="Segoe UI"/>
                <a:ea typeface="맑은 고딕"/>
                <a:cs typeface="맑은 고딕"/>
              </a:rPr>
              <a:t>–  100개의 사과를 12개씩 담는 상자에 담기려면 다음과 같은 계산 과정을 거칩니다:  1. **총 사과 수 ÷ 상자당 사과 수**      $ 100 \div 12 = 8 $ dư $ 4 $      - 12 × 8 = 96 (8개의 상자가 담을 수 있는 사과 수)      - 100 - 96 = 4 (남는 사과 수)  2. **상자 수 계산**      - 8개의 상자가 완전히 채워지고, 4개의 사과가 남는다.      - 마지막 상자에 4개의 사과가 남는다.      - 따라서 **9개의 상자가 필요**하며, **마지막 상자에는 4개의 사과가 남는다**.  **결과**:   - **필요한 상자 수**: 9개   - **마지막 상자에 남는 사과 수**: 4개</a:t>
            </a:r>
          </a:p>
          <a:p>
            <a:pPr algn="l">
              <a:lnSpc>
                <a:spcPct val="118000"/>
              </a:lnSpc>
              <a:spcBef>
                <a:spcPts val="600"/>
              </a:spcBef>
              <a:spcAft>
                <a:spcPts val="200"/>
              </a:spcAft>
            </a:pPr>
            <a:r>
              <a:rPr sz="1400" b="0" i="0">
                <a:solidFill>
                  <a:srgbClr val="16202C"/>
                </a:solidFill>
                <a:latin typeface="Segoe UI"/>
                <a:ea typeface="맑은 고딕"/>
                <a:cs typeface="맑은 고딕"/>
              </a:rPr>
              <a:t>▪  Qwen2.5 0.5B  (242tok)</a:t>
            </a:r>
          </a:p>
          <a:p>
            <a:pPr algn="l">
              <a:lnSpc>
                <a:spcPct val="118000"/>
              </a:lnSpc>
              <a:spcBef>
                <a:spcPts val="200"/>
              </a:spcBef>
              <a:spcAft>
                <a:spcPts val="100"/>
              </a:spcAft>
            </a:pPr>
            <a:r>
              <a:rPr sz="1280" b="0" i="0">
                <a:solidFill>
                  <a:srgbClr val="2C3A4B"/>
                </a:solidFill>
                <a:latin typeface="Segoe UI"/>
                <a:ea typeface="맑은 고딕"/>
                <a:cs typeface="맑은 고딕"/>
              </a:rPr>
              <a:t>–  이 문제를 해결하기 위해 필요한 계산 과정은 다음과 같습니다:  1. 상자에 사과가 12개 들어간다. 이는 상자에 사과의 수를 계산합니다.  2. 사과 100개를 담으려면 상자에 필요한 사과의 수를 계산합니다. 이를 구하기 위해 100을 나누어 봅니다.  3. 100을 나누어 봐서 나머지가 0이 되면, 상자에 필요한 사과의 수를 계산합니다. 이는 100을 나누어 봐서 나머지가 0이 되는 최소의 몇 개를 구합니다.  4. 마지막 상자에는 몇 개가 남는지 계산합니다. 이는 상자에 남은 사과의 수를 계산합니다. 이는 12을 뺀 나머지가 0이 되는 최소의 몇 개를 구합니다.  이 과정을 통해, 마지막 상자에는 8개가 남는 것입니다.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gpt-oss 120B  (1495tok, 사고 163)</a:t>
            </a:r>
          </a:p>
          <a:p>
            <a:pPr algn="l">
              <a:lnSpc>
                <a:spcPct val="118000"/>
              </a:lnSpc>
              <a:spcBef>
                <a:spcPts val="200"/>
              </a:spcBef>
              <a:spcAft>
                <a:spcPts val="100"/>
              </a:spcAft>
            </a:pPr>
            <a:r>
              <a:rPr sz="1280" b="0" i="0">
                <a:solidFill>
                  <a:srgbClr val="2C3A4B"/>
                </a:solidFill>
                <a:latin typeface="Segoe UI"/>
                <a:ea typeface="맑은 고딕"/>
                <a:cs typeface="맑은 고딕"/>
              </a:rPr>
              <a:t>–  ## 트랜스포머의 **어텐션**이란?    ### 1. 핵심 아이디어   어텐션은 **“입력(문장) 안에서 서로에게 얼마나 관심을 가져야 하는가”**를 스스로 판단해서, 중요한 부분에 더 큰 가중치를 주고 덜 중요한 부분은 무시하는 메커니즘입니다.    수학적으로는    \[ \text{Attention}(Q,K,V)=\text{softmax}\!\left(\frac{QK^{\top}}{\sqrt{d_k}}\right)V \]  - **Q (Query)** : “내가 지금 찾고 있는 정보”   - **K (Key)** : “각 입력 토큰이 가지고 있는 특징(키)”   - **V (Value)** : “키와 연결된 실제 내용(값)”  `Q, K` 를 통해 “내가 찾는 정보와 각 토큰이 얼마나 잘 맞는지”를 점수화하고, softmax 로 확률(가중치)로 바꾼 뒤, 그 가중치를 V에 곱해 **가중합**을 구합니다. 이렇게 하면 “내가 궁금한 질문에 가장 관련 있는 단어들의 정보를 모아” 새로운 표현을 만들 수 있습니다.  ---  ## 2. 비유: 도서관 사서와 책 찾기    &gt; **상황** : 당신은 도서관에서 “인공지능”에 관한 정보를 찾고 싶습니다.   &gt; **사서(어텐션)** : 사서는 도서관에 있는 모든 책(입력 토큰)을 한 번에 살펴보고, “인공지능”이라는 키워드와 가장 연관성이 높은 책에 **높은 점수**를 줍니다.   &gt; **가중합** : 사서는 높은 점수를 받은 책들의 핵심 내용을 모아, 당신에게 **요약본**을 제공합니다.    - **Query** : “인공지능에 대해 알려줘” (당신의 질문)   - **Key** : 각 책이 가지고 있는 주제 라벨(‘머신러닝’, ‘역사’, ‘요리’ 등)   - **Value** : 실제 책 내용(본문)    사서는 “인공지능”과 가장 관련 있는 책(‘머신러닝’, ‘딥러닝’)에 큰 가중치를 주고, 그 내용만을 모아 당신에게 전달합니다. 이렇게 하면 전체 책을 일일이 읽을 필요 없이 **핵심 정보만 빠르게** 얻을 수 있죠. 트랜스포머의 어텐션도 같은 원리로, 문장 안의 모든 단어가 서로를 “읽어보고” 어느 정도 중요하게 여길지를 스스로 결정합니다.  ---  ## 3. 왜 순환신경망(RNN)보다 **병렬화에 유리할까?**  | 특징 | 순환신경망 (RNN) | 트랜스포머 (Self‑Attention) | |------|------------------|-----------------------------| | **연산 흐름** | 시간 단계(t)마다 **이전 단계의 은닉 상태**를 받아야 함 → **순차적** | 모든 토큰이 동시에 **Q, K, V** 행렬을 만들고, 행렬 곱, softmax, 곱을 수행 → **동시** | | **의존성** | `h_t = f(h_{t-1}, x_t)` → `h_{t-1}` 없이는 `h_t`를 계산할 수 없음 | `Attention_i`는 **전체 입력**을 한 번에 사용 → 각 위치 i가 독립적으로 계산 가능 | | **GPU 활용** | GPU 코어를 충분히 활용하지 못하고, **시간 단계마다** 메모리 이동이 발생 | 행렬 연산은 **GPU/TPU**에 최적화된 BLAS 라이브러리로 한 번에 수행 → **수천, 수만**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gpt-oss 120B  (1495tok, 사고 163)  이어서</a:t>
            </a:r>
          </a:p>
          <a:p>
            <a:pPr algn="l">
              <a:lnSpc>
                <a:spcPct val="118000"/>
              </a:lnSpc>
              <a:spcBef>
                <a:spcPts val="200"/>
              </a:spcBef>
              <a:spcAft>
                <a:spcPts val="100"/>
              </a:spcAft>
            </a:pPr>
            <a:r>
              <a:rPr sz="1400" b="0" i="0">
                <a:solidFill>
                  <a:srgbClr val="2C3A4B"/>
                </a:solidFill>
                <a:latin typeface="Segoe UI"/>
                <a:ea typeface="맑은 고딕"/>
                <a:cs typeface="맑은 고딕"/>
              </a:rPr>
              <a:t>–  토큰을 동시에 처리 | | **학습 속도** | 긴 시퀀스일수록 **시간 복잡도 O(T)** (T는 길이) | 어텐션은 **O(T²)** (행렬 곱) 이지만, 병렬 연산 덕분에 실제 실행 시간은 **대폭 감소** | | **메모리 흐름** | 이전 은닉 상태를 계속 저장 → **시계열 의존성** | 전체 입력을 한 번에 메모리에 올려두고, 여러 헤드가 동시에 작업 → **효율적인 메모리 재사용** |  ### 핵심 포인트 1. **RNN**은 “앞 단계가 끝나야 다음 단계가 시작된다”는 **시간적 순차성** 때문에 GPU 코어를 동시에 활용하기 어렵습니다.   2. **Self‑Attention**은 “모든 토큰이 서로를 한 번에 바라본다”는 **전역적인 연산**이므로, `Q, Kᵀ` 같은 행렬 곱을 **한 번에** 수행할 수 있습니다. 행렬 연산은 GPU가 가장 잘 다루는 작업이므로, 수천 개의 토큰을 동시에 처리하면서도 속도가 크게 빨라집니다.  ---  ## 4. 정리  - **어텐션**은 “내가 지금 궁금한 것이 무엇인지(쿼리)와 입력 안의 각 요소가 얼마나 관련 있는지(키)를 비교해, 관련 있는 정보(밸류)를 모아 새로운 표현을 만든다**는** 메커니즘**입니다.   - **비유**: 도서관 사서가 질문에 가장 맞는 책을 골라 요약해 주는 과정과 동일합니다.   - **병렬화 장점**: RNN은 순차적으로 은닉 상태를 전달해야 하지만, 트랜스포머는 전체 입력을 한 번에 행렬 연산으로 처리하므로 GPU, TPU 같은 하드웨어에서 **동시다발적으로** 연산할 수 있어 학습, 추론 속도가 크게 빨라집니다.  이해가 되셨나요? 추가로 궁금한 부분이 있으면 언제든 물어보세요!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30</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Solar-Open 100B  (10958tok, 사고 9830)</a:t>
            </a:r>
          </a:p>
          <a:p>
            <a:pPr algn="l">
              <a:lnSpc>
                <a:spcPct val="118000"/>
              </a:lnSpc>
              <a:spcBef>
                <a:spcPts val="200"/>
              </a:spcBef>
              <a:spcAft>
                <a:spcPts val="100"/>
              </a:spcAft>
            </a:pPr>
            <a:r>
              <a:rPr sz="1280" b="0" i="0">
                <a:solidFill>
                  <a:srgbClr val="2C3A4B"/>
                </a:solidFill>
                <a:latin typeface="Segoe UI"/>
                <a:ea typeface="맑은 고딕"/>
                <a:cs typeface="맑은 고딕"/>
              </a:rPr>
              <a:t>–  ## 트랜스포머의 어텐션(Attention)이란?  **어텐션**은 “**‘이 문장의 어느 부분이 지금 내가 말하고 싶은 내용과 가장 관련이 있을까?’**”를 스스로 판단해서, 그 부분에 더 큰 가중치를 주는 메커니즘입니다.   쉽게 말해 **‘문장 안의 모든 단어(또는 토큰)를 동시에 살펴보고, 중요한 단어에 더 많은 관심을 기울이는’** 방법이라고 할 수 있어요.  ### 핵심 아이디어 1. **쿼리(Query), 키(Key), 값(Value)**      - **Query** : “내가 지금 궁금한 것”      - **Key**   : “각 토큰이 가지고 있는 ‘특징’”      - **Value** : “각 토큰이 실제로 담고 있는 내용”    2. **점곱 + 소프트맥스**      - Query와 모든 Key를 점곱해서 **‘얼마나 비슷한가’를 점수**로 만든다.      - 그 점수에 소프트맥스를 씌워 **0~1 사이의 가중치**를 만든다.    3. **가중합**      - 각 Value에 위에서 만든 가중치를 곱해 **‘가중합’**을 하면, 현재 위치에 가장 중요한 정보를 모은 새로운 표현이 완성된다.  &gt; **수식 (Self‑Attention)**   &gt; \[ &gt; \text{Attention}(Q,K,V)=\text{softmax}\!\Big(\frac{QK^\top}{\sqrt{d_k}}\Big)V &gt; \]   &gt; 여기서 \(d_k\)는 Key 벡터의 차원(스케일링)이다.  ---  ## 비유로 이해하기  ### 1️⃣ “도서관 검색” 비유 - **도서관**에 수천 권의 책이 쌓여 있다고 생각해 보세요.   - **당신이 찾고 싶은 주제**(Query)를 입력하면, 사서는 **모든 책(제목, 목차, 색인)**을 빠르게 훑어보고 **가장 관련 있는 책(Key)**에 **‘관심 점수’를 매깁니다**.   - 그 점수를 바탕으로 **그 책의 내용(Value)**을 요약해서 당신에게 전달합니다.    &gt; **핵심 포인트**   &gt; - 사서는 **한 번에 모든 책을 살펴볼 수** 있기 때문에, **‘어디서부터 차례대로 읽어야 할까?’** 라는 고민이 필요 없어요.   &gt; - 중요한 책에만 집중해서 정보를 가져오니, **필요한 정보를 빠르게 찾을 수** 있습니다.  ### 2️⃣ “친구들의 대화” 비유 - 여러 친구가 한 방에 모여 이야기를 나누고 있습니다.   - **당신이 듣고 싶은 이야기**(Query)를 말하면, 각 친구는 **‘내가 지금 무슨 말을 할 수 있지?’(Key)**를 떠올리고, **‘내가 가진 정보(Value)’**를 공유합니다.   - 모두가 동시에 자신의 정보를 제시하면, 당신은 **가장 도움이 되는 친구의 말에 더 큰 비중**을 두고 듣게 됩니다.    &gt; **핵심 포인트**   &gt; - 대화가 **순차적으로 진행되지** 않아도, **모든 친구가 동시에 의견을 낼 수** 있기 때문에 **‘앞선 친구가 말한 걸 기억해야 하는’** 부담이 없습니다.  ---  ## 왜 순환신경망(RNN)보다 병렬화에 유리한가?  | 특성 | 순환신경망(RNN) | 트랜스포머(어텐션) | |------|----------------|-------------------| | **처리 순서** | **시간 순서대로** 한 토큰씩 처리 → 이전 은닉 상태가 다음 토큰에 영향을 줌 | **모든 토큰을 동시에** 처리 → 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31</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Solar-Open 100B  (10958tok, 사고 9830)  이어서</a:t>
            </a:r>
          </a:p>
          <a:p>
            <a:pPr algn="l">
              <a:lnSpc>
                <a:spcPct val="118000"/>
              </a:lnSpc>
              <a:spcBef>
                <a:spcPts val="200"/>
              </a:spcBef>
              <a:spcAft>
                <a:spcPts val="100"/>
              </a:spcAft>
            </a:pPr>
            <a:r>
              <a:rPr sz="1400" b="0" i="0">
                <a:solidFill>
                  <a:srgbClr val="2C3A4B"/>
                </a:solidFill>
                <a:latin typeface="Segoe UI"/>
                <a:ea typeface="맑은 고딕"/>
                <a:cs typeface="맑은 고딕"/>
              </a:rPr>
              <a:t>–  토큰은 다른 모든 토큰과 직접 연결 | | **의존성** | 현재 토큰은 **이전 토큰**에만 의존 → 긴 시퀀스일수록 **‘기억 소실’** 위험 | 현재 토큰은 **전체 시퀀스**와 연결 → **긴 거리 의존성**을 바로 파악 | | **연산 구조** | 매 타임스텝마다 **행렬‑벡터 곱** + **비선형** → 순차적으로 실행 | **행렬‑행렬 곱** (Q, Kᵀ, V, 가중치) → **GPU/TPU**에서 **대규모 병렬** 가능 | | **병렬화** | **시간축**에 의존 → 한 번에 한 스텝만 실행 가능 | **공간축**(모든 토큰) 전체에 대해 **동시 연산** 가능 → **수천, 수만 개**의 토큰을 한 번에 처리 | | **학습 속도** | 긴 시퀀스일수록 **시간 복잡도 O(T)** (T = 시퀀스 길이) | **시간 복잡도 O(T²)** (전체 어텐션) → 하지만 **GPU 메모리와 연산량**을 효율적으로 활용해 **실제 학습 시간은 RNN보다 훨씬 빠름** | | **메모리** | 이전 은닉 상태를 순차적으로 저장 → 메모리 사용량은 비교적 적음 | 전체 어텐션 행렬을 저장 → 메모리 요구량이 크지만 **배치 처리와 캐시** 기법으로 최적화 가능 |  ### 핵심 요약 - **RNN**은 “**‘앞선 토큰을 기억하고, 그 기억을 바탕으로 다음 토큰을 만든다’**”는 구조라서 **시간 순서대로**만 연산할 수 있습니다.   - **어텐션**은 “**‘모든 토큰을 한 번에 살펴보고, 중요한 토큰에 가중치를 줘서 새로운 표현을 만든다’**”는 구조라서 **각 토큰 간 연산이 독립적**입니다.   - 따라서 **GPU/TPU 같은 병렬 하드웨어**에서 **수천, 수만 개의 연산을 동시에** 수행할 수 있어 **학습, 추론 속도가 크게 빨라집니다**.   - 이 병렬화 덕분에 **수억 파라미터**를 가진 **Solar Open 100B** 같은 초대형 모델도 **수일 안에 학습**할 수 있게 된 것이죠.  ---  ## 한 줄 정리  &gt; **어텐션은 “문장 안의 모든 단어를 동시에 살펴보고, 중요한 단어에 더 큰 가중치를 부여해 정보를 모으는” 메커니즘이며, 이 덕분에 트랜스포머는 순환신경망보다 훨씬 효율적으로 병렬 연산을 수행해 대규모 모델을 빠르게 학습, 추론할 수 있습니다.**  궁금한 점이 더 있으면 언제든 물어보세요!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(5)</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32</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Llama 3.3 70B  (409tok)</a:t>
            </a:r>
          </a:p>
          <a:p>
            <a:pPr algn="l">
              <a:lnSpc>
                <a:spcPct val="118000"/>
              </a:lnSpc>
              <a:spcBef>
                <a:spcPts val="200"/>
              </a:spcBef>
              <a:spcAft>
                <a:spcPts val="100"/>
              </a:spcAft>
            </a:pPr>
            <a:r>
              <a:rPr sz="1400" b="0" i="0">
                <a:solidFill>
                  <a:srgbClr val="2C3A4B"/>
                </a:solidFill>
                <a:latin typeface="Segoe UI"/>
                <a:ea typeface="맑은 고딕"/>
                <a:cs typeface="맑은 고딕"/>
              </a:rPr>
              <a:t>–  트랜스포머의 어텐션은, 인공신경망에서 입력 데이터의 특정 부분에 집중하여 처리하는 기법입니다. 예를 들어, 한 문장을 번역하는 경우에, 문장의 각 단어에 다른 단어의 의미를 참고하여 번역을 더 정확하게 하는데 사용됩니다.  비유를 하나 들면, 어텐션은 한 방에 많은 사람들이 있는 상황에서, 특정 사람과 대화할 때 다른 사람들의 목소리는 무시하고, 그 사람의 목소리만 집중해서 들으려는 것과 같습니다. 이 경우, 다른 사람들의 목소리는 노이즈로 작용하지만, 어텐션은 그 노이즈를 필터링하여, 원하는 사람의 목소리만 집중해서 들을 수 있습니다.  순환신경망(RNN)과 비교했을 때, 트랜스포머의 어텐션은 병렬화에 더 유리합니다. 순환신경망은 시퀀스 데이터를 순차적으로 처리하기 때문에, 병렬화가 어렵습니다. 예를 들어, 문장을 번역하는 경우에, 순환신경망은 한 단어씩 순차적으로 처리해야 하기 때문에, 병렬화가 어려워서, 처리 속도가 느려질 수 있습니다.  반면에, 트랜스포머의 어텐션은 입력 데이터의 모든 부분을 동시에 처리할 수 있기 때문에, 병렬화가 더 쉽습니다. 예를 들어, 문장을 번역하는 경우에, 트랜스포머의 어텐션은 문장의 모든 단어를 동시에 처리할 수 있기 때문에, 병렬화가 더 쉽고, 처리 속도가 더 빠를 수 있습니다. 따라서, 트랜스포머의 어텐션은 대규모 데이터를 처리하는 경우에, 순환신경망보다 더 효율적일 수 있습니다.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(6)</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33</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 32B  (1133tok, 사고 430)</a:t>
            </a:r>
          </a:p>
          <a:p>
            <a:pPr algn="l">
              <a:lnSpc>
                <a:spcPct val="118000"/>
              </a:lnSpc>
              <a:spcBef>
                <a:spcPts val="200"/>
              </a:spcBef>
              <a:spcAft>
                <a:spcPts val="100"/>
              </a:spcAft>
            </a:pPr>
            <a:r>
              <a:rPr sz="1400" b="0" i="0">
                <a:solidFill>
                  <a:srgbClr val="2C3A4B"/>
                </a:solidFill>
                <a:latin typeface="Segoe UI"/>
                <a:ea typeface="맑은 고딕"/>
                <a:cs typeface="맑은 고딕"/>
              </a:rPr>
              <a:t>–  트랜스포머의 **어텐션**(Attention)은 모델이 입력 데이터(예: 문장)의 각 부분이 다른 부분과 얼마나 관련이 있는지를 학습하는 방식입니다. 처음 배우는 사람에게 쉽게 설명하기 위해 **"책 읽기" 비유**를 사용해볼게요.  ---  ### 📚 **비유: 책 읽기와 어텐션** 상상해보세요. 당신이 한 권의 책을 읽고 있고, 현재 페이지에 있는 문장에서 어떤 단어가 중요한지 판단해야 합니다. 예를 들어, 문장이   **"고양이가 밥을 먹고, 그 후에 잔다."** 라고 해보죠.   - "고양이"는 "잔다"와 직접 연결되어 있고,   - "밥"은 "먹고"와 관련이 있습니다.    이때 어텐션은 **모델이 각 단어가 다른 단어와 얼마나 관련이 있는지를 계산**하는 과정입니다. 마치 당신이 읽을 때, 중요한 단어에 주의를 기울이고, 덜 중요한 단어는 덜 집중하는 것처럼요. 트랜스포머는 모든 단어가 서로를 "보며" 어떤 단어가 중요한지 학습합니다.  ---  ### 🚀 **왜 순환신경망(RNN)보다 병렬화에 유리한가요?** RNN은 **한 번에 하나의 단어만 처리**합니다. 예를 들어, "고양이가 밥을 먹고 잔다"를 처리할 때, RNN은   1. "고양이" → 2. "가" → 3. "밥" → 4. "을" → 5. "먹고" → 6. "잔다"   순서대로 처리해야 하죠. 이는 **시간이 오래 걸리고, 병렬 처리가 어려움**입니다.  반면, 트랜스포머의 어텐션은 **모든 단어를 동시에 처리**할 수 있습니다.   - "고양이"는 "잔다"를, "밥"은 "먹고"를 동시에 "보며" 관련성을 계산합니다.   - 마치 책을 읽을 때, 한 페이지 전체를 한 번에 읽고 중요한 부분을 골라내는 것처럼요.    이렇게 **병렬 처리가 가능**하기 때문에, 트랜스포머는 RNN보다 훨씬 빠르고, 긴 문장의 의미를 더 잘 이해할 수 있습니다.  ---  ### 🧠 요약 - **어텐션**: 입력의 각 부분이 다른 부분과 얼마나 관련이 있는지를 학습하는 메커니즘.   - **비유**: 책 읽을 때 중요한 단어에 집중하는 것처럼, 모델이 관련성을 계산.   - **병렬화의 이점**: RNN은 순차 처리지만, 트랜스포머는 모든 단어를 동시에 처리할 수 있어 더 빠르고 효율적.    이해가 되셨나요?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(7)</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34</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EXAONE 4.0 32B  (385tok)</a:t>
            </a:r>
          </a:p>
          <a:p>
            <a:pPr algn="l">
              <a:lnSpc>
                <a:spcPct val="118000"/>
              </a:lnSpc>
              <a:spcBef>
                <a:spcPts val="200"/>
              </a:spcBef>
              <a:spcAft>
                <a:spcPts val="100"/>
              </a:spcAft>
            </a:pPr>
            <a:r>
              <a:rPr sz="1400" b="0" i="0">
                <a:solidFill>
                  <a:srgbClr val="2C3A4B"/>
                </a:solidFill>
                <a:latin typeface="Segoe UI"/>
                <a:ea typeface="맑은 고딕"/>
                <a:cs typeface="맑은 고딕"/>
              </a:rPr>
              <a:t>–  ### 트랜스포머의 어텐션(Attention)을 비유로 설명해드릴게요!  **비유: 시험 공부를 할 때의 "집중"**   시험 문제를 풀 때, 모든 과목을 동시에 공부하는 대신 **현재 필요한 부분에 집중**하는 것과 비슷합니다.   예를 들어, 수학 시험에서는 공식과 계산에, 역사 시험에서는 연대기와 사건에 각각 다른 비중을 두고 공부하죠.   어텐션은 이처럼 **입력 데이터의 중요한 부분에 "집중"**해 관련 정보를 가중치로 선택하는 메커니즘입니다.  ---  ### 순환신경망(RNN) vs. 트랜스포머: 병렬화 차이   1. **RNN의 한계**:      - RNN은 입력을 **순차적으로 처리**합니다.      - 예) 문장 "I love NLP"를 분석할 때, "I" → "love" → "NLP" 순으로 계산하므로 병렬화가 어렵습니다.      - 긴 문장에서는 계산 시간이 늘어납니다.    2. **트랜스포머의 장점**:      - 어텐션은 모든 단어를 **한 번에 처리**합니다.      - 예) "I", "love", "NLP"를 동시에 분석해 서로의 관계를 계산합니다.      - GPU/TPU로 병렬 처리가 가능해 **빠른 학습**이 가능합니다.    ---  ### 요약   - **어텐션**: 중요한 정보에 집중하는 "스마트 필터".   - **병렬화**: RNN은 순차적이라 느리고, 트랜스포머는 동시 처리로 효율적입니다.    이해가 되셨나요?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(8)</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35</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Qwen3-VL 32B  (1014tok)</a:t>
            </a:r>
          </a:p>
          <a:p>
            <a:pPr algn="l">
              <a:lnSpc>
                <a:spcPct val="118000"/>
              </a:lnSpc>
              <a:spcBef>
                <a:spcPts val="200"/>
              </a:spcBef>
              <a:spcAft>
                <a:spcPts val="100"/>
              </a:spcAft>
            </a:pPr>
            <a:r>
              <a:rPr sz="1280" b="0" i="0">
                <a:solidFill>
                  <a:srgbClr val="2C3A4B"/>
                </a:solidFill>
                <a:latin typeface="Segoe UI"/>
                <a:ea typeface="맑은 고딕"/>
                <a:cs typeface="맑은 고딕"/>
              </a:rPr>
              <a:t>–  물론이죠! 트랜스포머의 **어텐션**(Attention)을 처음 배우는 사람에게 설명하기 위해, **비유**를 하나 들어보겠습니다.  ---  ## 🌟 비유: "책을 읽는 친구와 그의 집중력"  상상해보세요. 당신이 친구와 함께 긴 이야기를 읽고 있습니다. 이 이야기는 100페이지짜리 책이에요. 친구는 각 페이지를 읽을 때마다 **"이 페이지가 중요한가?"**, **"이 부분은 다음 페이지와 어떻게 연결되나?"**, **"이 문장은 전체 이야기에 어떤 영향을 주나?"** 라고 생각하며 집중합니다.  이 친구가 하는 일은 바로 **어텐션**입니다.  - **어텐션**은 "어떤 부분에 집중할지"를 결정하는 기계입니다. - 예를 들어, "그녀는 창문을 열고 바깥을 바라보았다"라는 문장에서, "창문"이라는 단어가 중요한지, "바깥"이 중요한지, 아니면 "그녀"가 중요한지를 판단합니다. - 그리고 그 판단을 바탕으로, **다른 단어들과의 관계를 이해**합니다. 예를 들어, "그녀"가 "창문을 열었다"는 행동을 했고, 그 행동이 "바깥을 바라보았다"는 결과를 낳았다는 걸 알 수 있어요.  이렇게 **어떤 단어가 다른 단어와 얼마나 관련이 있는지**를 계산하는 것이 바로 **어텐션 메커니즘**입니다.  ---  ## 🧠 왜 순환신경망(RNN)보다 병렬화에 유리할까?  이제 RNN과 트랜스포머의 차이를 비유로 설명해볼게요.  ### 🌀 RNN: "한 줄씩 읽는 사람"  RNN은 마치 **한 줄씩 책을 읽는 사람** 같아요.   첫 번째 문장을 읽고, 그 기억을 가지고 두 번째 문장을 읽고, 그 기억을 가지고 세 번째 문장을 읽는 식이에요.  - 장점: 순서를 잘 이해할 수 있음 (예: "그녀는 창문을 열고 바깥을 바라보았다" → 순서 중요) - 단점: **병렬화가 안 됨**. 한 줄을 읽어야 다음 줄을 읽을 수 있으니까, 컴퓨터가 여러 줄을 동시에 처리할 수 없어요. → **느리고 비효율적**  ### 🌐 트랜스포머: "모든 페이지를 한 번에 보는 사람"  트랜스포머는 **모든 페이지를 한 번에 보고, 어떤 부분이 중요한지 판단하는 사람** 같아요.  - 어텐션을 통해 **모든 단어가 서로를 보고 관계를 계산**합니다. - 예를 들어, "그녀"와 "창문"이 어떤 관계인지, "바깥"과 "바라보았다"가 어떤 관계인지, **모든 조합을 동시에 계산**합니다. - 그래서 **모든 단어를 동시에 처리**할 수 있어요 → **병렬화 가능**  ---  ## ✅ 요약  | 항목 | RNN | 트랜스포머 | |------|-----|------------| | 처리 방식 | 순차적 (한 단어씩) | 병렬적 (모든 단어 동시) | | 어텐션 사용 여부 | 없음 | 있음 (핵심) | | 속도 | 느림 | 빠름 | | 긴 문장 처리 | 어려움 (기억이 흐려짐) | 쉬움 (모든 단어 관계를 직접 계산) |  ---  ## 💡 마무리  &gt; **어텐션은 "무엇에 집중할지"를 결정하는 지능적인 렌즈**입니다.   &gt; 트랜스포머는 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(9)</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36</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Qwen3-VL 32B  (1014tok)  이어서</a:t>
            </a:r>
          </a:p>
          <a:p>
            <a:pPr algn="l">
              <a:lnSpc>
                <a:spcPct val="118000"/>
              </a:lnSpc>
              <a:spcBef>
                <a:spcPts val="200"/>
              </a:spcBef>
              <a:spcAft>
                <a:spcPts val="100"/>
              </a:spcAft>
            </a:pPr>
            <a:r>
              <a:rPr sz="1400" b="0" i="0">
                <a:solidFill>
                  <a:srgbClr val="2C3A4B"/>
                </a:solidFill>
                <a:latin typeface="Segoe UI"/>
                <a:ea typeface="맑은 고딕"/>
                <a:cs typeface="맑은 고딕"/>
              </a:rPr>
              <a:t>–  렌즈를 통해 **모든 단어를 동시에 보고, 서로의 관계를 이해**합니다.   &gt; 그래서 RNN처럼 하나씩 읽는 게 아니라, **모든 것을 한 번에 처리**할 수 있어 **빠르고 효율적**이죠.  ---  이렇게 비유로 이해하면, 어텐션이 왜 중요한지, 트랜스포머가 왜 혁신적인지 더 잘 느껴지겠죠?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(10)</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37</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Qwen3-Coder 30B  (800tok)</a:t>
            </a:r>
          </a:p>
          <a:p>
            <a:pPr algn="l">
              <a:lnSpc>
                <a:spcPct val="118000"/>
              </a:lnSpc>
              <a:spcBef>
                <a:spcPts val="200"/>
              </a:spcBef>
              <a:spcAft>
                <a:spcPts val="100"/>
              </a:spcAft>
            </a:pPr>
            <a:r>
              <a:rPr sz="1380" b="0" i="0">
                <a:solidFill>
                  <a:srgbClr val="2C3A4B"/>
                </a:solidFill>
                <a:latin typeface="Segoe UI"/>
                <a:ea typeface="맑은 고딕"/>
                <a:cs typeface="맑은 고딕"/>
              </a:rPr>
              <a:t>–  물론입니다! 트랜스포머의 **어텐션**(Attention)을 처음 배우는 사람에게 설명해보겠습니다.  ---  ## 🧠 1. 어텐션이란 무엇인가요?  **어텐션**(Attention)은 **"중심을 두고 집중하기"** 라는 뜻입니다.  예를 들어, **한 문장을 읽을 때**, 우리가 어떤 단어에 더 많은 주의를 기울이는 것처럼,   **트랜스포머 모델도 문장이나 시퀀스에서 중요한 부분에 더 많은 "집중"을 하도록 설계되어 있습니다.**  ### 🔍 비유로 설명하자면:  &gt; **어텐션은 마치 '다양한 정보들 중에서 가장 중요한 것만 골라서 보여주는' 기능입니다.**  예를 들어,   &gt; "나는 학교에 가야 해요."라는 문장을 보면,   &gt; "학교"라는 단어가 중요하다고 느낄 수 있죠?   &gt; 이때 어텐션은 "학교"라는 단어가 다른 단어들(나는, 가야 해요 등)보다 더 중요하다고 판단하고, &gt; 그 정보를 강조해서 사용합니다.  ---  ## 🧠 2. 왜 순환신경망(RNN)보다 병렬화에 유리할까요?  이제 왜 트랜스포머의 어텐션이 RNN보다 **병렬화**(Parallelization)에 유리한지 알아봅시다.  ### 🔁 RNN(순환신경망): 순차적 처리  RNN은 입력 데이터가 하나씩 차례대로 처리됩니다. - 예: "나는 학교에 가야 해요." - 첫 번째 단어: '나' → 다음 단어: '는' - 이전 출력이 다음 입력으로 연결됨 → 계산이 순차적으로 진행됨  👉 그래서 RNN은 **하나씩 처리해야 하기 때문에**, 병렬로 계산하기 어렵습니다.  ### ✅ 트랜스포머 + 어テン션: 모든 요소 동시에 비교  트랜스포머에서는 모든 단어들이 동시에 비교됩니다. - 예: “나는 학교에 가야 해요.”에서 각각의 단어들이 서로 다른 위치와 관계를 확인하면서, - 전체 문장에서 어떤 부분이 중요한지를 동시에 판단합니다.    👉 그래서 각각의 연산들이 독립적으로 이루어질 수 있어, **병렬로 처리할 수 있어서 속도 향상이 가능합니다!**  ---  ## 📌 요약 정리  | 항목 | RNN | 트랜스포머 + 어テン션 | |------|-----|------------------------| | 데이터 처리 방식 | 순차적 (하나씩) | 동시 다발적 (모두 한 번에) | | 병렬화 가능성 | 낮음 | 높음 | | 집중력 표현 방식 | 시간 흐름 따라 변화 | 각 요소 간 관계로 결정 | | 장점 (속도/성능) | 간단하지만 느림 | 빠르고 강력함 |  ---  ## 💡 결론  트랜스포머의 어텐션은 마치 ‘사람처럼 주변 정보 중에서 중요한 것만 골라서 생각하는’ 능력을 갖춘 것입니다. 그리고 이 방법 덕분에 여러 작업들을 동시에 할 수 있어 컴퓨터 성능도 향상되고, 자연언語 이해 능력도 매우 좋아집니다!  필요하시면 그림이나 예시 코드도 추가로 드릴게요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38</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A3B Instruct 2507  (1172tok)</a:t>
            </a:r>
          </a:p>
          <a:p>
            <a:pPr algn="l">
              <a:lnSpc>
                <a:spcPct val="118000"/>
              </a:lnSpc>
              <a:spcBef>
                <a:spcPts val="200"/>
              </a:spcBef>
              <a:spcAft>
                <a:spcPts val="100"/>
              </a:spcAft>
            </a:pPr>
            <a:r>
              <a:rPr sz="1280" b="0" i="0">
                <a:solidFill>
                  <a:srgbClr val="2C3A4B"/>
                </a:solidFill>
                <a:latin typeface="Segoe UI"/>
                <a:ea typeface="맑은 고딕"/>
                <a:cs typeface="맑은 고딕"/>
              </a:rPr>
              <a:t>–  물론이죠! 트랜스포머의 **어텐션**(Attention)을 처음 배우는 사람에게 쉽게 설명해볼게요. 비유도 하나 들고, 왜 순환신경망(RNN)보다 **병렬화에 더 유리한지도** 설명할게요.  ---  ### 🌟 비유로 이해하기: "책을 읽는 학생과 선생님"  상상해봐요.   당신은 책을 읽는 학생이고, 선생님은 당신이 이해할 수 있도록 **중요한 문장에만 집중**해 설명해 주는 사람입니다.  - 책의 문장은 하나씩 차례로 읽어야 하는데, **어떤 문장이 지금 이해에 가장 도움이 되는지** 선생님이 판단해 줍니다. - 예를 들어, "그는 어제 도서관에서 책을 읽었다"라는 문장이 나왔을 때,     "그는"이라는 대명사가 무엇을 가리키는지 알기 위해,     **"어제 도서관에서 책을 읽었다"** 라는 문장이 가장 중요한 정보일 수 있죠.  👉 이때 선생님이 **"어떤 문장이 지금 중요한지"** 를 판단하고, 그 문장에 **더 많은 주의를 기울이는 것**이 바로 **어텐션**(Attention)입니다.  ---  ### 🔍 어텐션의 핵심은? - **입력 문장의 각 단어(또는 토큰)가 서로 얼마나 관련이 있는지**를 계산해,     각 단어가 현재 단어를 이해하는 데 **어느 정도 기여하는지**를 수치로 표현하는 것. - 이 수치를 **가중치**(weight)라고 부르고, 그 가중치를 바탕으로 정보를 조합해 새로운 표현을 만듭니다.  &gt; 예: "그는 어제 도서관에서 책을 읽었다"   &gt; → "그는"이 "도서관에서 책을 읽었다"는 문장과 높은 어텐션을 가짐 → "그는"이 도서관에서 책을 읽었다는 걸 알 수 있음.  ---  ### 🔄 순환신경망(RNN) vs 트랜스포머: 병렬화의 차이  #### 🔹 RNN의 문제점 (순차적 처리) - RNN은 문장을 **한 글자씩, 한 단어씩 차례로 처리**합니다. - 예: "나는 책을 읽는다" → "나", "는", "책", "을", "읽는다" → 순서대로 하나씩 처리. - **이전 단어의 결과가 다음 단어를 계산하는 데 필요**하므로,     **모든 단어가 순서대로 기다려야** 합니다.  👉 그래서 **병렬 처리가 불가능**해요.   → CPU/GPU가 한 번에 여러 단어를 처리할 수 없음 → 느림.  #### 🔹 트랜스포머의 장점 (전체 문장 동시 처리) - 트랜스포머는 **모든 단어를 동시에** 처리합니다. - 어텐션 메커니즘을 통해, **모든 단어가 서로의 정보를 볼 수 있음**. - 예: "그는 어제 도서관에서 책을 읽었다"     → "그는", "어제", "도서관", "책", "읽었다"가 **한 번에 모두 고려됨**.  👉 그래서 **모든 단어를 동시에 계산할 수 있음** → **병렬 처리 가능**!  ---  ### ✅ 요약  | 항목 | RNN | 트랜스포머 | |------|-----|------------| | 처리 방식 | 순차적 (한 단어씩) | 병렬적 (모든 단어 동시에) | | 어텐션 사용 | 없음 (또는 제한적) | 핵심 기능 | | 병렬화 가능성 | 낮음 (느림) | 높음 (빠름) | | 비유 | 선생님이 하나씩</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39</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A3B Instruct 2507  (1172tok)  이어서</a:t>
            </a:r>
          </a:p>
          <a:p>
            <a:pPr algn="l">
              <a:lnSpc>
                <a:spcPct val="118000"/>
              </a:lnSpc>
              <a:spcBef>
                <a:spcPts val="200"/>
              </a:spcBef>
              <a:spcAft>
                <a:spcPts val="100"/>
              </a:spcAft>
            </a:pPr>
            <a:r>
              <a:rPr sz="1400" b="0" i="0">
                <a:solidFill>
                  <a:srgbClr val="2C3A4B"/>
                </a:solidFill>
                <a:latin typeface="Segoe UI"/>
                <a:ea typeface="맑은 고딕"/>
                <a:cs typeface="맑은 고딕"/>
              </a:rPr>
              <a:t>–  설명해 줌 | 선생님이 전체 책을 보고 핵심만 알려줌 |  ---  ### 🎯 결론  &gt; **어텐션은 "어떤 정보가 지금 가장 중요한지"를 판단하는 능력**이에요.   &gt; 트랜스포머는 이 어텐션을 통해 **모든 단어를 동시에 고려**하면서도,   &gt; **순차적인 처리 없이도 병렬로 계산**할 수 있어,   &gt; RNN보다 훨씬 빠르고 강력한 모델이 됩니다.  ---  💡 팁: 트랜스포머의 이름도 "전체 문장의 관계를 보는 것"에서 유래했어요.   "Transformer" = **전체 문장을 변환하는 기계**라는 뜻이죠!  ---  이제 어텐션이 뭔지, 왜 중요한지, 왜 빠른지 다 이해했나요? 😊   궁금한 점 더 있으면 언제든지 물어봐요!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40</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A3B Thinking 2507  (2013tok, 사고 1211)</a:t>
            </a:r>
          </a:p>
          <a:p>
            <a:pPr algn="l">
              <a:lnSpc>
                <a:spcPct val="118000"/>
              </a:lnSpc>
              <a:spcBef>
                <a:spcPts val="200"/>
              </a:spcBef>
              <a:spcAft>
                <a:spcPts val="100"/>
              </a:spcAft>
            </a:pPr>
            <a:r>
              <a:rPr sz="1380" b="0" i="0">
                <a:solidFill>
                  <a:srgbClr val="2C3A4B"/>
                </a:solidFill>
                <a:latin typeface="Segoe UI"/>
                <a:ea typeface="맑은 고딕"/>
                <a:cs typeface="맑은 고딕"/>
              </a:rPr>
              <a:t>–  ### 트랜스포머의 어텐션을 처음 배우는 사람에게 설명하기  **간단한 비유로 설명:**   상상해 보세요. **"친구들이 함께 여행 계획을 세우는 모임"**이 있다고 해요.   - **순환신경망(RNN)**: 친구들이 차례로 말을 해요. "나는 해변이 좋다" → "나는 산이 좋다" → "나는 도시가 좋다"…     → **한 번에 한 사람씩 말해야 하기 때문에, 전체 계획을 세우는 데 시간이 오래 걸려요.**     (예: "나는 해변이 좋다"는 말을 하려면, 이전 친구의 말이 끝나야만 할 수 있음)  - **트랜스포머의 어텐션**: 모든 친구가 **한 번에 모든 아이디어를 종이에 쓰고**, 함께 보는 방식이에요.     → "해변"이라는 단어가 "나는 해변이 좋다"와 연결되고, "산"이 "나는 산이 좋다"와 연결되는 걸 **한 번에 알아차릴 수 있음**.     (예: "나는 해변이 좋다"와 "산"이 관련된지, "도시"와 "나는 도시가 좋다"가 관련된지 **동시에 판단**)  ---  ### **왜 트랜스포머는 병렬화에 더 유리할까요?**   1. **RNN의 문제점**:      - RNN은 **이전 단어의 결과를 기다려야** 다음 단어를 처리합니다.      - 예: "The cat sat on the mat" → "The" → "cat" → "sat" → "on" → "the" → "mat"      → **한 번에 하나씩만 처리**해야 하므로, GPU가 병렬로 계산할 수 없어요.  2. **트랜스포머의 장점**:      - 모든 단어가 **한 번에 서로의 정보를 참고**합니다.      - 예: "The"는 "cat", "sat", "on" 등 **모든 단어와 동시에 연결**됩니다.      - **어텐션 계산은 행렬 연산으로 처리**되므로, GPU가 **모든 단어를 동시에 계산**할 수 있어요.      → **"한 번에 전체 문장을 처리"** 가능 → **병렬화가 훨씬 효율적**!  ---  ### 🌟 **핵심 정리**   - **RNN**: "한 사람씩 말하기" → **순차적 처리** → **병렬화 어려움**   - **트랜스포머**: "모두가 동시에 아이디어 공유" → **병렬 처리** → **빠른 학습**   → **"어텐션"은 문장의 모든 단어가 서로를 보며 의미를 이해하는 방식**으로, **GPU의 병렬 계산을 완벽히 활용**합니다.    &gt; 💡 **예시**: "The cat sat on the mat"에서 "it"이 "cat"을 가리킨다는 걸 **한 번에 알아차림** (RNN은 "cat"이 나온 후에야 "it"을 해석 가능).   &gt; → **의미를 빠르게 파악**하고, **장문의 문장도 빠르게 처리**할 수 있음!</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41</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Llama 3.1 8B  (579tok)</a:t>
            </a:r>
          </a:p>
          <a:p>
            <a:pPr algn="l">
              <a:lnSpc>
                <a:spcPct val="118000"/>
              </a:lnSpc>
              <a:spcBef>
                <a:spcPts val="200"/>
              </a:spcBef>
              <a:spcAft>
                <a:spcPts val="100"/>
              </a:spcAft>
            </a:pPr>
            <a:r>
              <a:rPr sz="1400" b="0" i="0">
                <a:solidFill>
                  <a:srgbClr val="2C3A4B"/>
                </a:solidFill>
                <a:latin typeface="Segoe UI"/>
                <a:ea typeface="맑은 고딕"/>
                <a:cs typeface="맑은 고딕"/>
              </a:rPr>
              <a:t>–  트랜스포머의 어텐션(Attention)은 자연어 처리에서 사용되는 신경망 구조 중 하나입니다. 어텐션은 '주의'라는 의미로, 입력 데이터 중 특정 부분에 집중하는 것을 의미합니다. 비유를 들어 설명해 드리겠습니다.  **비유: 음악 감상**  Imagine 당신이 음악 감상을 하면서, 음악의 모든 부분에 집중하는 것이 아니라, 특정 부분에만 집중하는 경우가 있습니다. 예를 들어, 음악의 시작 부분에 집중하여 그 부분의 멜로디를 잘 듣는 경우가 있습니다. 이때, 당신은 음악의 시작 부분에만 집중하고, 다른 부분은 거의 집중하지 않습니다. 이와 유사하게, 트랜스포머의 어텐션은 입력 데이터 중 특정 부분에 집중하여 그 부분의 정보를 잘 처리하는 것을 의미합니다.  **어텐션의 작동 방식**  트랜스포머의 어텐션은 3개의 주요 구성 요소로 구성됩니다.  1. **Query (질문)**: 입력 데이터 중 특정 부분에 집중할 부분을 지정합니다. 2. **Key (키)**: 입력 데이터의 모든 부분에 대한 정보를 나타냅니다. 3. **Value (값)**: 입력 데이터의 모든 부분의 정보를 나타냅니다.  어텐션은 Query와 Key를 사용하여 Score를 계산하고, Score가 높은 부분에 집중하여 Value를 사용하여 정보를 처리합니다.  **병렬화에 유리한 이유**  트랜스포머의 어텐션은 병렬화에 유리한 이유가 있습니다. 어텐션은 Query와 Key를 사용하여 Score를 계산하고, Score가 높은 부분에 집중하여 Value를 사용하여 정보를 처리합니다. 이 과정을 병렬화할 수 있기 때문에, 트랜스포머의 어텐션은 병렬화에 유리합니다.  순환신경망(RNN)과 비교할 때, RNN은 시간 순서에 따라 정보를 처리하기 때문에, 병렬화가 어렵습니다. 반면, 트랜스포머의 어텐션은 병렬화가 가능하여, 더 빠른 처리 속도를 제공합니다.  **결론**  트랜스포머의 어텐션은 입력 데이터 중 특정 부분에 집중하여 그 부분의 정보를 잘 처리하는 것을 의미합니다. 어텐션은 Query, Key, Value를 사용하여 Score를 계산하고, Score가 높은 부분에 집중하여 Value를 사용하여 정보를 처리합니다. 트랜스포머의 어텐션은 병렬화에 유리하여, 더 빠른 처리 속도를 제공합니다.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(15)</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42</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 8B  (1408tok, 사고 571)</a:t>
            </a:r>
          </a:p>
          <a:p>
            <a:pPr algn="l">
              <a:lnSpc>
                <a:spcPct val="118000"/>
              </a:lnSpc>
              <a:spcBef>
                <a:spcPts val="200"/>
              </a:spcBef>
              <a:spcAft>
                <a:spcPts val="100"/>
              </a:spcAft>
            </a:pPr>
            <a:r>
              <a:rPr sz="1380" b="0" i="0">
                <a:solidFill>
                  <a:srgbClr val="2C3A4B"/>
                </a:solidFill>
                <a:latin typeface="Segoe UI"/>
                <a:ea typeface="맑은 고딕"/>
                <a:cs typeface="맑은 고딕"/>
              </a:rPr>
              <a:t>–  트랜스포머의 **어텐션**(Attention)은 입력 데이터의 중요한 부분에 집중하여 처리하는 기법입니다. 처음 배우는 사람에게 설명하기 위해 **도서관 라이브러리원**이라는 비유를 사용해보겠습니다.  ---  ### 📚 비유: 도서관 라이브러리원의 질문 응답 - **문제**: "이 책의 주제는 무엇인가요?"라는 질문을 받았을 때, 라이브러리원은 수많은 책 중에서 **관련된 책만 선택**해 읽습니다.   - **어텐션의 역할**: 라이브러리원은 모든 책을 둘러보고, 각 책이 질문에 얼마나 관련된지를 판단합니다. 예를 들어, "AI"라는 키워드가 포함된 책은 더 중요하게 보고, "역사"라는 키워드가 있는 책은 덜 중요하게 처리합니다.   - **결과**: 질문에 대한 정확한 답변을 위해 **필요한 정보만 집중**해서 처리할 수 있습니다.  ---  ### 🧠 트랜스포머의 어텐션은 어떻게 작동하는가? - **입력 문장**: "나는 오늘 날씨가 좋다"   - **어텐션 메커니즘**:     1. 각 단어(나, 오늘, 날씨, 좋다)를 처리할 때, **모든 단어를 동시에 살펴보며** 어떤 단어가 더 중요할지를 계산합니다.     2. 예를 들어, "날씨"라는 단어는 "좋다"와 가장 관련이 깊기 때문에, "좋다"를 처리할 때 "날씨"에 더 많은 주의를 기울입니다.     3. 이 과정을 통해 문장의 전체 맥락을 이해하고, **의미를 더 정확하게 파악**합니다.  ---  ### 🔄 왜 순환신경망(RNN)보다 병렬화에 유리한가? - **RNN의 문제**:     - RNN은 **단계별로 처리**합니다. 예를 들어, "나는 오늘 날씨가 좋다"를 처리할 때, "나" → "는" → "오늘" → "날씨" → "가" → "좋다" 순서로 하나씩 처리해야 합니다.     - 이로 인해 **병렬 처리가 불가능**하고, 처리 속도가 느립니다.   - **트랜스포머의 장점**:     - 어텐션은 **모든 단어를 동시에 처리**합니다. 예를 들어, "날씨"와 "좋다"는 서로 관련이 있으므로, 두 단어를 동시에 살펴보며 중요도를 계산할 수 있습니다.     - 이로 인해 **병렬화가 가능**해져, 처리 속도가 빨라지고, 대규모 데이터 처리에 유리합니다.  ---  ### 🧩 요약 - **어텐션**: 입력 데이터의 중요한 부분에 집중하여 처리하는 기법.   - **비유**: 도서관 라이브러리원이 질문에 맞는 책만 선택해 읽는 것처럼, 모델이 중요한 정보에 집중합니다.   - **병렬화 우위**: RNN은 단계별 처리로 병렬화가 어려웠지만, 어텐션은 모든 단어를 동시에 처리해 **빠른 처리 속도**와 **효율적인 계산**이 가능합니다.  이처럼 어텐션은 트랜스포머가 자연어 처리에서 뛰어난 성능을 발휘하는 핵심 기술입니다!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(16)</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43</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Qwen3 4B  (1317tok, 사고 550)</a:t>
            </a:r>
          </a:p>
          <a:p>
            <a:pPr algn="l">
              <a:lnSpc>
                <a:spcPct val="118000"/>
              </a:lnSpc>
              <a:spcBef>
                <a:spcPts val="200"/>
              </a:spcBef>
              <a:spcAft>
                <a:spcPts val="100"/>
              </a:spcAft>
            </a:pPr>
            <a:r>
              <a:rPr sz="1380" b="0" i="0">
                <a:solidFill>
                  <a:srgbClr val="2C3A4B"/>
                </a:solidFill>
                <a:latin typeface="Segoe UI"/>
                <a:ea typeface="맑은 고딕"/>
                <a:cs typeface="맑은 고딕"/>
              </a:rPr>
              <a:t>–  트랜스포머의 **어텐션(Attention)**은 인공지능 모델이 입력 데이터에서 중요한 정보를 효율적으로 추출하는 메커니즘입니다. 처음 배우는 사람에게는 다음과 같은 비유로 설명할 수 있습니다:  ---  ### 🧠 **비유: "클래스에서의 대화"** 가상의 수업에서 학생들이 주제를 논의하고 있다고 상상해보세요. 예를 들어, "책의 주제를 이해하기 위해 서로의 의견을 듣는다"는 상황이죠.   - **어텐션**은 이 학생들이 **모든 다른 학생의 의견을 동시에 들으며, 가장 중요한 내용을 집중적으로 듣는** 능력을 말합니다.   - 예를 들어, "책의 주요 인물은 누구인가?"라는 질문을 받을 때, 학생들은 **모든 다른 학생의 답변을 동시에 보고, 가장 유용한 답변을 선택**할 수 있습니다.   - 이처럼, 트랜스포머는 입력 데이터(예: 문장)의 각 단어가 **모든 다른 단어를 동시에 살펴보며, 중요도를 판단**하는 방식으로 작동합니다.  ---  ### 🔍 **어텐션의 핵심: "중요도 가중치"** 트랜스포머는 입력 데이터의 각 요소(예: 단어)가 다른 요소들에 대해 **"어떻게 영향을 미치는가?"**를 계산합니다.   - 예를 들어, 문장 "나는 책을 읽고 있다"에서 "책"이라는 단어는 "읽고 있다"에 가장 중요하며, "나"는 덜 중요합니다.   - 이때, 어텐션은 각 단어가 다른 단어에 대해 **중요도를 가중치로 부여**해, 전체 의미를 더 잘 이해하게 도와줍니다.  ---  ### 🔄 **왜 순환신경망(RNN)보다 병렬화에 유리한가?** - **RNN**은 데이터를 **한 번에 하나씩 처리**합니다. 예를 들어, 문장 "나는 책을 읽고 있다"를 처리할 때, "나"를 처리한 후에 "는"을 처리해야 하며, 앞 단어에 의존합니다.     → **연속적인 처리**로 인해 시간이 오래 걸립니다.   - **트랜스포머**는 **모든 단어를 동시에 처리**합니다. 예를 들어, "나는 책을 읽고 있다"에서 각 단어가 다른 모든 단어를 동시에 살펴보며 중요도를 계산합니다.     → **병렬 처리**가 가능해, 더 빠르고 효율적으로 작동합니다.  ---  ### 🧩 **요약** - **어텐션**은 데이터에서 중요한 정보를 **모든 요소를 동시에 살펴보며** 추출하는 메커니즘입니다.   - **트랜스포머**는 **RNN보다 병렬 처리가 가능**해, 긴 문장이나 복잡한 데이터를 빠르게 처리할 수 있습니다.   - 이는 **자연어 처리, 번역, 질문 답변** 등 다양한 작업에서 효과적으로 사용됩니다.  이 비유와 설명을 통해 어텐션과 트랜스포머의 강점을 쉽게 이해할 수 있을 것입니다!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(17)</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2026-09-11 실측, max_tokens 16,384</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44</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Qwen2.5 0.5B  (291tok)</a:t>
            </a:r>
          </a:p>
          <a:p>
            <a:pPr algn="l">
              <a:lnSpc>
                <a:spcPct val="118000"/>
              </a:lnSpc>
              <a:spcBef>
                <a:spcPts val="200"/>
              </a:spcBef>
              <a:spcAft>
                <a:spcPts val="100"/>
              </a:spcAft>
            </a:pPr>
            <a:r>
              <a:rPr sz="1400" b="0" i="0">
                <a:solidFill>
                  <a:srgbClr val="2C3A4B"/>
                </a:solidFill>
                <a:latin typeface="Segoe UI"/>
                <a:ea typeface="맑은 고딕"/>
                <a:cs typeface="맑은 고딕"/>
              </a:rPr>
              <a:t>–  물론입니다. 트랜스포머의 어텐션은 비유적으로 "어린 시절"을 말합니다. 이는 트랜스포머가 학습한 데이터를 통해, 특정 문장이나 단어를 추출하고, 그에 대한 정보를 더 잘 이해하고, 이를 통해 새로운 문장이나 단어를 추출하는 과정을 말합니다.  비유를 통해 설명하면, 트랜스포머의 어텐션은 학습된 데이터를 통해 문장이나 단어를 더 잘 이해하고, 이를 통해 새로운 문장이나 단어를 추출하는 과정을 의미합니다. 이는 순환 신경망보다 병렬화에 유리한 이유를 설명합니다. 순환 신경망은 데이터를 순환적으로 처리하여, 각 단계의 결과를 학습된 데이터에 반영하도록 설계되어 있습니다. 이는 데이터를 더 많이 처리할 수 있기 때문에, 학습된 데이터를 더 잘 이해하고, 새로운 문장이나 단어를 추출하는 데 더 효율적입니다. 반면, 병렬화는 데이터를 처리할 수록 더 많은 단계를 처리할 수 있기 때문에, 학습된 데이터를 더 잘 이해하고, 새로운 문장이나 단어를 추출하는 데 더 효율적입니다.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