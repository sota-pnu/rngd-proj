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TCP 하드웨어 5계층과 소프트웨어 2용어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개념 하나에 그림 하나. 각 층이 무엇을 담고 있고, 몇 개씩 있으며, 무엇을 하는지를 그린다.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출처: TCP: A Tensor Contraction Processor for AI Workloads (ISCA 2024) 본문·그림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바깥이 안을 담는다. 오른쪽으로 갈수록 작아지고, 개수는 늘어난다.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①Chip / SoC — 칩한장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②PE × 8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③TU — PE 하나에1개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④slice × (64+1) — TU 하나안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⑤operation unit — CE(DPE) · VE · 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①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Chip / SoC — 칩 한 장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system-on-chip, 시스템 온 칩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“1. Chip / SoC (system-on-chip, 시스템 온 칩) — TCP 칩 한 장”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칩 하나가 PE 8개와 NoC, HBM3 2스택, PCIe Gen5 ×16 을 담는다.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온칩 SRAM 합계 256 MB = PE당 32 MB × 8. 대역 384 TB/s.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 성능 512 TOPS (INT8) / 1024 TOPS (INT4) / 256 TFLOPS (BF16) / 512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TFLOPS (FP8).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NoC 는 PE 사이 전송을 경합 없이 처리한다. PE 하나가 HBM 또는 다른 PE 로 최대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256 GB/s.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8개가 합쳐 HBM 대역 1.5 TB/s 를 다 쓸 수 있다.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PCIe Gen5 로 칩 사이 P2P 통신도 지원해 여러 칩에 모델을 나눠 올릴 수 있다.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TCP 칩(TSMC 5nm · 24.59 × 25.71 mm = 632.1 mm² · 1 GHz · TDP 150 W)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HBM3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stack 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HBM3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stack 2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HBM3 2스택= 48 GB · 1.5 TB/s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× 8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0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2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4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5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6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7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32 MB · 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NoC — PE 사이데이터전송(경합없음). PE ↔HBM, PE ↔PE 최대256 GB/s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— 처리 요소, 칩 하나에 8개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processing element · 호스트에서 독립 디바이스로 보일 수 있다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“2. PE (processing element, 처리 요소) — 칩 하나에 8개. 호스트에서 독립 디바이스로 보일 수 있다”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= CPU 코어 + TU + TDMA 엔진(+ Scratch Pad Memory) 한 벌.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CPU 코어가 스칼라 연산·제어 흐름을 맡고, TU 를 보조프로세서처럼 커맨드 큐로 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휘한다.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이전 텐서 연산이 도는 동안 다음 명령을 큐에 넣어 두므로 연산과 전송이 겹친다.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마다 독립 주소 공간을 갖고 독립적으로 동작한다. GPU 의 multi-instance 와 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슷하다.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최대 4개까지 융합해 하나의 큰 PE 로 쓸 수 있다. SR-IOV 로 가상머신에 나눠 줄 수도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있다.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“작게 여러 개”와 “크게 하나”를 상황에 맞춰 고를 수 있다.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하나의내부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CPU Core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스칼라·제어흐름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를보조프로세서로지휘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Tensor DMA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텐서전송전담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연산과겹쳐돈다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Scratch Pad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Memory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③TU (Tensor Unit)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32 MB · 64 TOPS · slice 64+1개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···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들(다음장에서확대)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command queue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호스트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를독립디바이스로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따로따로본다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는독립적이다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독립주소공간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주소변환유닛이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권한을막는다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최대4개까지융합해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큰PE 로쓸수있다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③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— Tensor Unit, PE 안의 텐서 연산 본체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하나에 1개 · SRAM 32 MB · 64 TOPS · slice 64+1개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“3. TU (Tensor Unit, 텐서 유닛) — PE 안에서 대규모 텐서 연산을 수행하는 단위”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는 SRAM 에서 입력 텐서를 계속 끌어와 연산하고 결과를 다시 SRAM 에 쓴다.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큰 SRAM 하나 + 거대한 행렬곱 유닛이라는 통상적 설계를 버렸다. 대신 SRAM 을 포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함한 파이프라인 전체를 slice 로 쪼갰다.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 본문: “The TU includes 64+1 slices, with one reserved as spare to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improve chip yields.”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Fig. 3 은 읽기 쉬우라고 slice 를 8개만 그렸을 뿐이다. 실제 수는 64+1 이다.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수 맞춰보기 — 칩당 slice = 8 PE × 64 = 512개. vISA 문서가 말하는 “칩당 2 클러스터 × 256 slice = 512” 와 수가 일치한다. 다만 PE 와 클러스터의 정확한 대응 관계는 논문에 적혀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있지 않다.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(Tensor Unit)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Controller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제어·상태레지스터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을하나의큰덩어리로두지않고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연산파이프라인째로slice 로쪼갠다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→큰행렬유닛하나보다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다양한텐서모양에잘맞는다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64개(+ 예비1개)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예비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···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network — slice 사이로텐서를멀티캐스트한다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예비1개의뜻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하나가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불량이어도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칩을살린다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(수율개선)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④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— 기본 연산 단위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+ fetch unit + operation unit + commit unit 을 한 벌씩 가진다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“4. slice (슬라이스) — TU 를 쪼갠 기본 연산 단위. SRAM + fetch unit + operation unit + commit unit 을 한 벌씩 가진다”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 본문: “each slice comprises of SRAM, fetch, operation, and commit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units.”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는 제어 레지스터로 설정되며 독립적으로 (부분)텐서를 처리할 수 있다.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network 가 slice 들을 이어 여러 slice 로 텐서를 멀티캐스트한다. N개 slice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에서 읽어 퍼뜨리면 큰 SRAM 의 N개 뱅크를 읽는 것과 같아진다.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마다 실행 컨텍스트가 둘(main / sub)이라 연산과 준비를 겹칠 수 있다(Fig. 4).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하나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(DM)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이slice 몫의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데이터메모리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최대128 GB/s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(slice 당SRAM 대역)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에서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데이터를끌어와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스트림으로만든다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network 에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연결돼있다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Operation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CE — Contraction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VE — Vector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TE — Transpose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Commit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결과를다시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에쓴다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마다실행컨텍스트가2개다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main context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sub context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operation unit — slice 안의 연산기 3종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CE (그 안에 DPE) · VE · TE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“5. operation unit (연산 유닛) — slice 안의 CE / VE / TE · CE = Contraction Engine (축약 엔진), 그 안에 DPE = dot-product engine (내적 엔진) · VE = Vector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Engine (벡터 엔진), TE = Transpose Engine (전치 엔진)”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 본문: “the operation units, each of which consists of contraction (CE), vector (VE), and transpose (TE) engines.” — 즉 operation unit 은 이 셋을 묶어 부르는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이름이지 별개의 부품이 아니다.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CE — Contraction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축약엔진— 곱해서더한다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Feed Unit · Register File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DPE — dot-product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내적엔진. 곱셈-누산(MAC) 배열이여기있다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Accumulation Unit — 부분합누적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행렬곱·컨볼루션등축약연산담당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VE — Vector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벡터엔진— 원소단위연산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Router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ReduceUnit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Add · Min/Max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ArithmeticUnit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Int / Fp 클러스터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exp · cos · tanh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VRF · 공간/시간축약· 타입변환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활성함수·정규화등비축약연산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당512 ways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TE — Transpose Engine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전치엔진— 축순서를바꾼다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행우선↔열우선전환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축약전후데이터배치를맞춘다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5계층 한 장 정리 — 개수와 용량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바깥에서 안으로 · 논문에 적힌 값만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층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개수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담는 것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 근거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① Chip / SoC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—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 8 · NoC · HBM3 2스택 · PCIe Gen5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III 절, TABLE I, Fig. 2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 PE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칩당 8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CPU 코어 + TU + TDMA(+ Scratch Pad)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III-A, Fig. 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③ TU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PE당 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32 MB · 64 TOPS · slice 64+1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III-B (“The TU includes 64+1 slices…”)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④ slice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TU당 64+1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+ fetch + operation + commit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III-B, Fig. 4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⑤ operation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slice당 1벌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CE(DPE) · VE · TE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III-B, IV 절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주의 — Fig. 3 캡션은 “…with eight slices” 라서 그림만 보면 slice 가 8개로 보인다. 본문이 말하는 실제 수는 64+1 이며, 그림은 가독성을 위해 줄여 그린 것이다.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①Chip / SoC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1장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256 MB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HBM3 48 GB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1.5 TB/s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150 W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512 TOPS(INT8)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②PE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칩당8개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CPU 코어1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TDMA 엔진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독립주소공간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↔256 GB/s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③TU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PE당1개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 32 MB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64 TOPS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64+1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 컨트롤러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network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④slice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TU당64+1개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SRAM(DM)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operation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commit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컨텍스트2개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⑤operation unit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slice당1벌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CE (안에DPE)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소프트웨어 용어 ① — lowered shape (내려앉힌 형태)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텐서를 어느 축으로 어떻게 잘라 어느 slice 에 올릴지를 적은 것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“lowered shape (내려앉힌 형태) — 텐서를 어느 축으로 어떻게 잘라 어느 slice 에 올릴지를 적은 것”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 용어로는 “inter-slice partitioning shape │ intra-slice shape”. 세로줄을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사이에 두고 왼쪽이 slice 사이 분할, 오른쪽이 slice 안 모양이다.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같은 텐서라도 자르는 방법이 여러 가지다. Fig. 1 은 같은 b × l × e 텐서의 세 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지 lowered shape 을 나란히 보여준다.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어떻게 자르냐에 따라 재사용 가능한 데이터와 필요한 전송량이 달라진다. 그래서 성능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여기서 갈린다.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컴파일러가 후보들을 탐색해 요구 성능·전력을 만족하는 것을 고른다.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원본텐서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 × l × 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축이3개인큰텐서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한slice 에안들어간다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자른다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4개에나눠올린모습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0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2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slice 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 의0..1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 의0..1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 의2..3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 의2..3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 의앞절반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 의뒤절반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 의앞절반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 의뒤절반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 은통째로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 은통째로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 은통째로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 은통째로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이것이Fig. 1 (a) 의예— b 축을2칸씩, e 축을절반씩나눈배치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논문의표기법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b²[2] e^(E/2)[2] │b¹[2] l¹[4] e¹[E/2]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세로줄│왼쪽= slice 사이분할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오른쪽= slice 안의모양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위첨자= 보폭(stride), [ ] = 칸수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정의는논문II-A 절에있다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소프트웨어 용어 ② — tactic (택틱, 전술)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축을 바깥에서 안쪽으로 어떤 순서로 도는지, 즉 루프 순서를 적은 것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“tactic (택틱, 전술) — 축을 바깥에서 안쪽으로 어떤 순서로 도는지, 즉 루프 순서를 적은 것”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논문 정의: “A tactic for contraction describes the order of computing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axes, from the outermost to the innermost.”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가장 바깥 항은 slice 에 공간적으로 펼치는 축이고, 나머지는 각 slice 안에서 시간적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으로 도는 순서다.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lowered shape 이 같아도 tactic 이 다르면 성능이 달라진다. Fig. 8 이 같은 축약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ble,ef 에 대해 세 가지 조합을 비교한다.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컴파일러가 이 설계 공간을 탐색한다. 그래서 tactic 은 사람이 고르거나 컴파일러가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고르는 선택지다.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tactic = 중첩루프의순서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가장바깥— e 축(slice 4개에병렬배치)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 축반복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 축반복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 축반복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가장안쪽— e 축축약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바깥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안쪽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tactic 표기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e^(E/s)[s] │b¹[B] l¹[L] f¹[F] e¹[E/s]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왼쪽첫항= 가장바깥루프(slice 에펼침)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오른쪽= 각slice 가도는순서(slice tactic)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순서가곧재사용이다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 축이안쪽에있으면, 그안에서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한번가져온데이터를F 번다시쓴다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→같은계산인데전송량이달라진다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lowered shape 과 tactic 은 짝이다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하나는 어디에 놓을지, 다른 하나는 어떤 순서로 돌지를 정한다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슬라이드 원문 — “서론에는 이 용어들이 정의 없이 먼저 등장한다. 정의는 II절에 있다”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서론(I 절)은 lowered shape · tactic 을 설명 없이 쓴다. 처음 읽으면 여기서 막힌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정의는 II. PRELIMINARIES 에 있다 — II-A 가 lowered shape, II-B 가 tactic 이다.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이 논문은 II 절을 먼저 읽고 I 절로 돌아오는 편이 빠르다.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 절(프로그래밍 인터페이스)과 VI 절(LLaMA-2 사례)은 이 두 용어 위에서만 읽힌다.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lowered shape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공간— 어느축을어떻게잘라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어느slice 에올릴것인가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데이터의배치를정한다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tactic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시간— 그배치위에서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축을어떤순서로돌것인가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계산의순서를정한다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둘이합쳐져야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실행계획이된다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같은연산이라도조합에따라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전송량·재사용·활용률이달라진다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컴파일러가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이공간을탐색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텐서모양+ 루프순서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+ 하드웨어구조를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함께고려한다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(초록·V 절)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 </a:t>
            </a:r>
            <a:br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CP 하드웨어 5계층과 소프트웨어 2용어">
    <p:spTree>
      <p:nvGrpSpPr>
        <p:cNvPr id="1" name=""/>
        <p:cNvGrpSpPr/>
        <p:nvPr/>
      </p:nvGrpSpPr>
      <p:grpSpPr/>
      <p:pic>
        <p:nvPicPr>
          <p:cNvPr id="2" name="Picture 1" descr="p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ip / SoC — 칩 한 장">
    <p:spTree>
      <p:nvGrpSpPr>
        <p:cNvPr id="1" name=""/>
        <p:cNvGrpSpPr/>
        <p:nvPr/>
      </p:nvGrpSpPr>
      <p:grpSpPr/>
      <p:pic>
        <p:nvPicPr>
          <p:cNvPr id="2" name="Picture 1" descr="p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E — 처리 요소, 칩 하나에 8개">
    <p:spTree>
      <p:nvGrpSpPr>
        <p:cNvPr id="1" name=""/>
        <p:cNvGrpSpPr/>
        <p:nvPr/>
      </p:nvGrpSpPr>
      <p:grpSpPr/>
      <p:pic>
        <p:nvPicPr>
          <p:cNvPr id="2" name="Picture 1" descr="p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U — Tensor Unit, PE 안의 텐서 연산 본체">
    <p:spTree>
      <p:nvGrpSpPr>
        <p:cNvPr id="1" name=""/>
        <p:cNvGrpSpPr/>
        <p:nvPr/>
      </p:nvGrpSpPr>
      <p:grpSpPr/>
      <p:pic>
        <p:nvPicPr>
          <p:cNvPr id="2" name="Picture 1" descr="p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ce — 기본 연산 단위">
    <p:spTree>
      <p:nvGrpSpPr>
        <p:cNvPr id="1" name=""/>
        <p:cNvGrpSpPr/>
        <p:nvPr/>
      </p:nvGrpSpPr>
      <p:grpSpPr/>
      <p:pic>
        <p:nvPicPr>
          <p:cNvPr id="2" name="Picture 1" descr="p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peration unit — slice 안의 연산기 3종">
    <p:spTree>
      <p:nvGrpSpPr>
        <p:cNvPr id="1" name=""/>
        <p:cNvGrpSpPr/>
        <p:nvPr/>
      </p:nvGrpSpPr>
      <p:grpSpPr/>
      <p:pic>
        <p:nvPicPr>
          <p:cNvPr id="2" name="Picture 1" descr="p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5계층 한 장 정리 — 개수와 용량">
    <p:spTree>
      <p:nvGrpSpPr>
        <p:cNvPr id="1" name=""/>
        <p:cNvGrpSpPr/>
        <p:nvPr/>
      </p:nvGrpSpPr>
      <p:grpSpPr/>
      <p:pic>
        <p:nvPicPr>
          <p:cNvPr id="2" name="Picture 1" descr="p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소프트웨어 용어 ① — lowered shape (내려앉힌 형태)">
    <p:spTree>
      <p:nvGrpSpPr>
        <p:cNvPr id="1" name=""/>
        <p:cNvGrpSpPr/>
        <p:nvPr/>
      </p:nvGrpSpPr>
      <p:grpSpPr/>
      <p:pic>
        <p:nvPicPr>
          <p:cNvPr id="2" name="Picture 1" descr="p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소프트웨어 용어 ② — tactic (택틱, 전술)">
    <p:spTree>
      <p:nvGrpSpPr>
        <p:cNvPr id="1" name=""/>
        <p:cNvGrpSpPr/>
        <p:nvPr/>
      </p:nvGrpSpPr>
      <p:grpSpPr/>
      <p:pic>
        <p:nvPicPr>
          <p:cNvPr id="2" name="Picture 1" descr="p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ed shape 과 tactic 은 짝이다">
    <p:spTree>
      <p:nvGrpSpPr>
        <p:cNvPr id="1" name=""/>
        <p:cNvGrpSpPr/>
        <p:nvPr/>
      </p:nvGrpSpPr>
      <p:grpSpPr/>
      <p:pic>
        <p:nvPicPr>
          <p:cNvPr id="2" name="Picture 1" descr="p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