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저자 수 49명은 초록 헤더의 이름을 직접 센 값이다. 회사 전체가 저자로 들어간 형태로, 산업 트랙 논문에서 흔한 방식이다. 학계 공저자 2명(리스본대 Nuno Lopes, 서울대 유승주)이 붙어 있다는 점도 짚어둔다.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청중의 동기를 확보한다. 다만 원칙상 논문에 없는 값(RNGD라는 제품명, 우리 서버의 카드 수)은 반드시 '논문 밖'이라고 못박고 넘어간다. 논문은 끝까지 제품명을 쓰지 않고 TCP 라고만 부른다.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발표 전체의 목차이기도 하다. 청중에게 '지금 어디를 지나고 있는지'를 계속 이 표로 되돌아와 알려주면 좋다. II절의 low-level einsum 표기를 모르면 V, VI절을 읽을 수 없으므로 II절이 실질적 관문이다.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서론을 읽을 때 Fig. 3 과 Fig. 10 을 미리 언급하게 되는데, 그 두 장은 뒤의 부에서 상세히 다룬다고 안내하고 넘어간다. 이 부의 담당 그림은 없다.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서론을 읽을 때 Fig. 3 과 Fig. 10 을 미리 언급하게 되는데, 그 두 장은 뒤의 부에서 상세히 다룬다고 안내하고 넘어간다. 이 부의 담당 그림은 없다.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 번호를 외울 필요는 없지만, [7] TPU v4 가 서론에서 두 번(재사용 범위, wimpy vs brawny) 인용된다는 점은 짚어둘 만하다. 즉 이 논문의 가장 직접적인 대화 상대는 구글 TPU다.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이후 부에서 길을 잃는 지점이 대부분 이 계층 혼동이다. 그림을 왼쪽부터 안으로 짚어 가며 개수를 소리내어 읽어 준다. 오른쪽 두 상자는 소프트웨어 용어이므로 하드웨어 계층과 섞이지 않게 분리해서 말한다.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이후 부에서 길을 잃는 지점이 대부분 이 계층 혼동이다. 그림을 왼쪽부터 안으로 짚어 가며 개수를 소리내어 읽어 준다. 오른쪽 두 상자는 소프트웨어 용어이므로 하드웨어 계층과 섞이지 않게 분리해서 말한다.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잠깐 멈춘다. 이후 열 몇 장은 전부 이 한 문장을 풀어 쓴 것이다. '1급 연산(primitive)'이라는 말은, 하드웨어가 직접 받아 실행하는 최소 명령 단위가 행렬곱이 아니라 축약이라는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'fixed-size' 라는 수식어가 핵심이다. 행렬곱 자체가 나쁘다는 게 아니라, 하드웨어에 고정된 크기의 행렬 유닛을 박아두고 모든 문제를 거기에 맞추는 방식이 문제라는 것이다. 이 구분을 명확히 해 둬야 뒤에서 오해가 없다.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굵게 만들었나'에 대해 논문이 스스로 이유를 밝히고 있다는 점이 중요하다. 성능이 아니라 소프트웨어 개발 단순화가 이유다. 서론에서 이 근거가 wimpy vs brawny core 논의로 확장된다.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'circuit switch-based' 라는 표현은 뒤에 IV절에서 자세히 나온다. 서론에서 지적하는 'NoC 인지 병렬화의 복잡도' 문제에 대한 하드웨어적 대답이 바로 이 회선 교환 페치 네트워크다. 지금은 이름만 심어둔다.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발표 흐름상 중요한 예고를 한다. V절의 컴파일러와 VI절의 사례 연구가 결국 이 문장의 실현이다. 그리고 서론 끝에서 '정확한 cost model' 이야기가 나오는 것도 이 탐색을 가능하게 만드는 전제다.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초록의 '256/512/1024 TOPS (BF16/FP8 or INT8/INT4)' 는 압축 표기라 처음 보면 헷갈린다. III절 TABLE I 을 보면 BF16 256 TFLOPS, FP8 512 TFLOPS, INT8 512 TOPS, INT4 1024 TOPS 로 풀려 있다. 초록은 TFLOPS/TOPS 구분 없이 뭉뚱그렸다는 점을 짚어준다. 150 W 라는 숫자는 특히 강조할 만하다 — H100 SXM 이 700 W 급인 것과 비교되는데, 다만 그 비교 수치는 논문에 없으므로 언급하지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결론(VIII절)에서도 똑같은 2.7×, 4.1× 가 반복된다. 즉 이 두 숫자가 논문의 최종 성적표다. 다만 지표가 perf/watt 라는 점, 모델이 하나라는 점은 정직하게 짚고 넘어가야 한다. 절대 성능 비교는 VI절 TABLE II 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출발점이 되는 관찰이다. 여기서 중요한 것은 '행렬곱이 틀렸다'가 아니라 '행렬곱은 축약의 특수한 경우일 뿐인데, 그 특수한 경우를 하드웨어의 기본 단위로 굳혀버렸다'는 지적이라는 점이다. 다음 슬라이드에서 그 포함 관계를 einsum 으로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einsum 표기법의 정식 정의는 II절에 나오지만, 서론에서 이미 mk,kn→mn 이 나오므로 여기서 읽는 법을 알려두는 편이 낫다. 'sum over k' 로 풀어 쓴 부분은 원문에 수식으로 적혀 있지 않으므로 해설이라고 표시했다. 청중에게 '출력에서 사라진 축을 찾아라'는 한 줄 규칙만 기억시키면 II절이 훨씬 수월해진다.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문단은 '작은 유닛'을 비판한다. 그런데 뒤 문단에서는 '큰 유닛'도 비판한다. 서론이 양쪽을 모두 문제 삼는 구조라는 점을 미리 알려주면, 청중이 논지를 따라오기 쉽다. TCP 의 답은 결국 '큰 유닛을 필요할 때 쪼개는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초록에서 'coarse-grained PE 를 쓰는 이유는 소프트웨어 개발 단순화'라고 했던 문장의 근거가 여기다. wimpy/brawny core 라는 용어는 원래 데이터센터 서버 논쟁에서 나온 표현인데, 여기서는 가속기 내부 PE 에 적용됐다. GPU 만 예외라고 인정하는 대목도 정직한 서술이다.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서론 전반부의 결론이다. 왼쪽(작은 유닛)과 오른쪽(큰 유닛)을 차례로 짚은 뒤 아래 화살표로 모아 주면 다음 슬라이드(TCP 의 답)가 필연적으로 들린다. 아래 파란 상자는 논문 문장이 아니라 해설임을 반드시 밝히고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서론 전반부의 결론이다. 왼쪽(작은 유닛)과 오른쪽(큰 유닛)을 차례로 짚은 뒤 아래 화살표로 모아 주면 다음 슬라이드(TCP 의 답)가 필연적으로 들린다. 아래 파란 상자는 논문 문장이 아니라 해설임을 반드시 밝히고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'similar to vector processors' 라는 비유가 중요하다. TCP 는 systolic array 계열이 아니라 벡터 프로세서의 감각에 더 가깝게 설계됐다는 자기 규정이다. 뒤의 IV절에서 CE·VE·TE 를 컴파일러가 체인으로 엮는다는 서술도 이 비유와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설정 A 를 먼저 짚고, 그 다음 오른쪽에서 fetch network 가 잘려 있는 자리(빨간 ✕)를 손으로 가리키면 전환의 의미가 바로 전달된다. slice 8개는 Fig. 3 의 표현을 따른 것이고 실제는 64+1개임을 그림 위 회색 주석으로 못박아 두었다.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설정 A 를 먼저 짚고, 그 다음 오른쪽에서 fetch network 가 잘려 있는 자리(빨간 ✕)를 손으로 가리키면 전환의 의미가 바로 전달된다. slice 8개는 Fig. 3 의 표현을 따른 것이고 실제는 64+1개임을 그림 위 회색 주석으로 못박아 두었다.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head 상자에서 오른쪽 격자로 색이 그대로 건너가는 것을 손으로 따라가면 설명이 끝난다. head 4개라는 수는 서론에 없고 64÷16 으로 맞춰 본 값임을 그림 안 회색 주석과 함께 반드시 짚는다. 이 대응이 뒤의 VI절 Fig. 10 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head 상자에서 오른쪽 격자로 색이 그대로 건너가는 것을 손으로 따라가면 설명이 끝난다. head 4개라는 수는 서론에 없고 64÷16 으로 맞춰 본 값임을 그림 안 회색 주석과 함께 반드시 짚는다. 이 대응이 뒤의 VI절 Fig. 10 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서론에서 가장 중요한 대목일 수 있다. 위 파란 줄을 왼쪽부터 읽어 준 뒤, 아래 붉은 줄은 대비를 위한 해설이며 논문 문장이 아님을 밝힌다. 이 사슬이 이후 II·V·VI절 전체를 관통하는 실이다.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서론에서 가장 중요한 대목일 수 있다. 위 파란 줄을 왼쪽부터 읽어 준 뒤, 아래 붉은 줄은 대비를 위한 해설이며 논문 문장이 아님을 밝힌다. 이 사슬이 이후 II·V·VI절 전체를 관통하는 실이다.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서론 마지막 문단을 그대로 표로 옮긴 것이다. 원문은 II부터 VII까지만 언급하고 VIII 결론은 따로 예고하지 않는다는 점을 짚어두면, 앞서 만든 구조 지도와 대조가 된다. 이 표로 다음 발표자에게 자연스럽게 넘긴다.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부의 마무리다. 다섯 항목 중 특히 4번(결정론 → cost model → 컴파일러)이 이후 II·V·VI절 전체를 관통하는 실이라는 점을 마지막으로 한 번 더 강조하고 다음 발표자에게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전체의 지도를 먼저 주는 슬라이드다. 청중에게 '오늘 외울 단어는 lowered shape과 tactic 두 개'라고 못박는다.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Einstein notation에서 유래했다는 점, 즉 반복되는 인덱스는 합쳐진다는 관습이 그대로 살아 있다는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세 덩어리(파랑 in0 · 주황 in1 · 초록 out)를 손가락으로 짚으며, 주황으로 굵게 칠한 두 모서리가 같은 축 e 라는 점을 먼저 보여준다. 그 다음 아래 검은 상자의 색이 위 그림의 색과 짝을 이룬다는 것을 말해 주면 표기와 그림이 한 번에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세 덩어리(파랑 in0 · 주황 in1 · 초록 out)를 손가락으로 짚으며, 주황으로 굵게 칠한 두 모서리가 같은 축 e 라는 점을 먼저 보여준다. 그 다음 아래 검은 상자의 색이 위 그림의 색과 짝을 이룬다는 것을 말해 주면 표기와 그림이 한 번에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원문: 'where B, L, E, F stand for the tensor dimensions'. 이 대소문자 구분을 놓치면 tactic 식이 안 읽힌다.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빨간 두 상자를 먼저 짚고 '이걸 einsum 이 안 말한다'고 한 뒤, 오른쪽 초록 상자를 짚으며 '그런데 TCP 의 성능이 정확히 여기서 나온다'고 이어 붙인다. 그러면 아래 주황 띠의 등식이 결론처럼 떨어진다.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빨간 두 상자를 먼저 짚고 '이걸 einsum 이 안 말한다'고 한 뒤, 오른쪽 초록 상자를 짚으며 '그런데 TCP 의 성능이 정확히 여기서 나온다'고 이어 붙인다. 그러면 아래 주황 띠의 등식이 결론처럼 떨어진다.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II절 시점에서는 slice가 아직 추상적 개념임을 분명히 한다. 논문 스스로 'In Section III, we will give a more concrete description of a slice in our proposed architecture' 라고 미룬다.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검은 상자의 큰 글자를 색깔별로 짚으며 아래 카드 세 장으로 내려가면 문법이 한 번에 정리된다. 대괄호의 뜻이 │ 좌우에서 달라진다는 점(초록 카드 두 줄)이 이 슬라이드의 함정이므로 여기서 한 번 더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검은 상자의 큰 글자를 색깔별로 짚으며 아래 카드 세 장으로 내려가면 문법이 한 번에 정리된다. 대괄호의 뜻이 │ 좌우에서 달라진다는 점(초록 카드 두 줄)이 이 슬라이드의 함정이므로 여기서 한 번 더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아래 상자 안의 가로 줄무늬 개수는 (슬라이스당 b) × (슬라이스당 l) 개의 벡터를 나타낸다. (a)는 2×4=8줄, (b)는 1×4=4줄, (c)는 4×4=16줄이고 줄 하나의 길이가 곧 슬라이스당 e 길이다. 그림을 이렇게 읽으면 세 경우가 한눈에 비교된다.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아래 상자 안의 가로 줄무늬 개수는 (슬라이스당 b) × (슬라이스당 l) 개의 벡터를 나타낸다. (a)는 2×4=8줄, (b)는 1×4=4줄, (c)는 4×4=16줄이고 줄 하나의 길이가 곧 슬라이스당 e 길이다. 그림을 이렇게 읽으면 세 경우가 한눈에 비교된다.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초보자가 가장 많이 헷갈리는 지점을 짚는다. b가 양쪽에 다 나오는데 위첨자가 2와 1로 다르다. 왼쪽 2는 슬라이스 사이의 보폭, 오른쪽 1은 슬라이스 안에서의 보폭이다. l은 안 잘렸으므로 왼쪽에 아예 등장하지 않는다는 점도 짚는다.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(a)와 (b)의 위첨자 차이(2 vs 1)를 나란히 놓고 비교하면 '위첨자 = 슬라이스가 가져가는 덩어리 크기'라는 직관이 확실해진다. 논문이 설명하지 않은 부분은 반드시 '논문에 없다'고 밝히고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(c)에서 (b)와 반대로 축약 축이 쪼개진다는 점을 강조한다. 이 차이가 다음 절 tactic 예제에서 왜 e가 가장 바깥 루프로 올라가는지의 이유가 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셋 다 보여주는가'에 답하는 슬라이드다. 정답이 하나가 아니라 탐색 공간이라는 것이 논문의 주장이다.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lowered shape과 tactic이 같은 문법을 쓰기 때문에 겉보기가 비슷하다. 하지만 lowered shape은 '데이터 배치', tactic은 '루프 순서'라는 점이 결정적으로 다르다. 이걸 반복해서 말해야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원문은 'The first tensor is assumed to be lowered to ... and the second one to ..., respectively' 라고 쓴다. assumed 라는 말대로, 이건 여러 가능한 배치 중 하나를 가정한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파랑·주황 한 쌍이 슬라이스마다 '같은 번호의 e 구간'이라는 점을 먼저 짚는다. 그 다음 회색 부분합 네 개에서 빨간 띠로 내려가며 '여기가 논문이 비워 둔 칸'이라고 말한다. 마지막 초록 줄은 출력이 f 로 다시 쪼개진다는 사실만 확인하고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파랑·주황 한 쌍이 슬라이스마다 '같은 번호의 e 구간'이라는 점을 먼저 짚는다. 그 다음 회색 부분합 네 개에서 빨간 띠로 내려가며 '여기가 논문이 비워 둔 칸'이라고 말한다. 마지막 초록 줄은 출력이 f 로 다시 쪼개진다는 사실만 확인하고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이 절에서 가장 헷갈리는 지점이다. e^(E/s)[s]와 e^1[E/s]를 손가락으로 짚으며 '이건 슬라이스 사이, 이건 슬라이스 안'이라고 두 번 말해 준다.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바깥 루프인데 병렬'이라는 게 소프트웨어 사람에게는 어색할 수 있다. 공간 축으로 펼친 루프라고 설명하면 바로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겹친 사각형을 바깥에서 안으로 손가락으로 훑으며 b → l → (fetch) → f → e 순서를 읽어 준다. 주황 fetch 띠가 f 루프 상자 '바깥'에 놓여 있다는 위치 자체가 'F 번 재사용'의 근거라는 점을 짚으면 오른쪽 카드 세 장이 저절로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겹친 사각형을 바깥에서 안으로 손가락으로 훑으며 b → l → (fetch) → f → e 순서를 읽어 준다. 주황 fetch 띠가 f 루프 상자 '바깥'에 놓여 있다는 위치 자체가 'F 번 재사용'의 근거라는 점을 짚으면 오른쪽 카드 세 장이 저절로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einsum 표기를 코드로 번역해 보는 순간 이해가 확 붙는다. 다만 이건 논문에 없는 재구성임을 반드시 밝히고, 부분합 병합 부분은 물음표로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einsum 표기를 코드로 번역해 보는 순간 이해가 확 붙는다. 다만 이건 논문에 없는 재구성임을 반드시 밝히고, 부분합 병합 부분은 물음표로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II절은 '왜 tactic이 중요한가'를 재사용으로 설명한다. 구체적 비교는 Fig. 8(같은 ble,ef에 대한 세 가지 lowered shape과 tactic)에서 나오므로, 그 슬라이드를 맡은 발표자에게 넘긴다고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I절에서 'TCP는 결정적으로 동작하므로 정확한 성능·에너지 비용 모델을 만들 수 있고 컴파일러가 이를 활용한다'고 한 것과 이어진다. 이 절은 그 탐색의 '좌표계'를 정의한 셈이다.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operator는 II절에서 한 문장만 나오지만 개념적으로 중요하다. 층마다 최적 lowered shape이 다를 수 있으므로 전역 최적화 문제가 된다는 점을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대목이 TCP를 '추론 서빙용 칩'으로 규정하는 부분이다. 배치 크기와 시퀀스 길이가 요청마다 달라지는데 컴파일 타임에 고정할 수 없으므로 제어 레지스터로 기술한다. VI절 LLaMA-2 케이스 스터디의 전제이기도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II절의 마지막 문단이다. 이 절이 왜 논문 앞쪽에 배치되었는지를 정리해 주는 대목이다. 뒤의 발표자에게 자연스럽게 넘기는 지점이기도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슬라이드다. 청중이 이 세 문장만 들고 나가면 III절 이후를 따라올 수 있다. 다음 발표자에게 넘길 때 'slice의 실체는 III절에서 나온다'고 예고하며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II절의 추상 표기에서 막 넘어온 참이므로, 여기서부터는 눈에 보이는 물리 구조라는 점을 먼저 안심시킨다.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위/아래 4개 묶음이 'up to four PEs can be fused'의 융합 단위와 대응해 보인다는 점을 짚어주면 이해가 빠르다. 다만 논문 본문이 융합 단위와 물리 배치의 대응을 명시하지는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4개까지인지는 논문에 이유가 적혀 있지 않다. 물리 배치(위 4 / 아래 4)와 관련 있어 보이지만 본문 근거는 없으므로 단정하지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문단은 '성능' 주장이 아니라 '상용 제품으로서의 배치 가능성' 주장이다. 논문이 Industrial Product 트랙이라는 점과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VI절의 성능/와트 비교(H100 대비 2.7배, L40s 대비 4.1배)가 이 설계 결정에서 출발한다는 점을 미리 예고해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Engine 행이 초월함수를 명시한다는 점이 중요하다. LLM의 softmax(exp)와 정규화가 별도 유닛 없이 처리된다는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MACs 행은 원표에서 한 칸에 두 줄로 들어가 있어 여기서는 정수/부동소수점 두 행으로 나눠 적었다. 값 자체는 원문 그대로다.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막대는 값에 정비례하게 그렸다. HBM3 막대가 거의 보이지 않는 것이 그림의 요점이다. 256배·4096 way·PE당 32 MB 는 표의 값에서 단순 계산한 것이므로 그렇게 밝히고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막대는 값에 정비례하게 그렸다. HBM3 막대가 거의 보이지 않는 것이 그림의 요점이다. 256배·4096 way·PE당 32 MB 는 표의 값에서 단순 계산한 것이므로 그렇게 밝히고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2048 GB/s는 표와 본문 수치로 계산한 값이며 논문이 직접 적은 숫자가 아니다. 논문 표현은 '8개 PE가 메모리 대역폭을 완전히 활용할 수 있다'까지다.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많은 spatial accelerator가 NoC 경합 때문에 컴파일이 어려워진다는 I절의 지적을 상기시키면 좋다. TCP는 그 문제를 '경합 없는 NoC'로 회피한다.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인터커넥트를 생략한 것은 150 W TDP와 비용 목표와 맞물린 선택으로 보인다. 다만 논문이 그 이유를 명시하지는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컴파일 시점에 물리적 PE 번호를 못 박지 않아도 되므로, 같은 바이너리를 서로 다른 자원 할당에 올릴 수 있다. 이것이 'scalable compilation'의 실질적 의미다.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'코어 하나가 큰 가속기 하나를 부린다'는 그림이 잡힌다. 수많은 wimpy core 대신 few brawny core를 택했다는 I절 주장이 PE 구조로 구현된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캐시가 있는데도 스크래치패드를 크게 둔 이유는 성능이 아니라 '예측 가능성'이다. 컴파일러 cost model이 어긋나지 않게 하려는 일관된 설계 철학이다.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타임라인의 막대 길이·개수는 개념을 보이려고 임의로 그린 것이며 논문의 실측 트레이스가 아니다. 실제 트레이스는 VI절 Fig. 13 이다.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타임라인의 막대 길이·개수는 개념을 보이려고 임의로 그린 것이며 논문의 실측 트레이스가 아니다. 실제 트레이스는 VI절 Fig. 13 이다.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II절에서 'lowered shape이 안 맞으면 컴파일러가 bridge operator를 넣는다'고 했는데, 그 bridge를 실제로 수행하는 하드웨어가 TDMA다.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대비를 여기서 확실히 심어 둔다. SRAM까지 같이 쪼갰다는 점이 중요하다. 메모리를 공유한 채 연산만 쪼개는 설계와는 다르다.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체이닝은 LLM에서 matmul 직후 softmax나 정규화가 붙는 패턴에 잘 맞는다. 중간 텐서를 SRAM에 쓰지 않아도 되므로 대역폭과 전력이 함께 절약된다.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'가변 개수의 출력'과 '설정 가능한 깊이'가 TCP 유연성의 원천이다. W 값을 묻는 질문이 나오면 IV절 Fig. 6에서 다룬다고 답하면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'가변 개수의 출력'과 '설정 가능한 깊이'가 TCP 유연성의 원천이다. W 값을 묻는 질문이 나오면 IV절 Fig. 6에서 다룬다고 답하면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II절의 tactic이 여기서 실행된다. tactic에서 어느 축을 안쪽 루프에 두느냐가 곧 어느 stationary를 쓰느냐로 연결된다. 예의 f1[F] 항이 input buffer 재사용을 F번 쓰겠다는 뜻이었다.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왼쪽/오른쪽 모두 같은 하드웨어다. 달라지는 것은 fetch network 로 데이터를 뿌리느냐뿐이다. 초록의 주장이 여기서 실물이 된다.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왼쪽/오른쪽 모두 같은 하드웨어다. 달라지는 것은 fetch network 로 데이터를 뿌리느냐뿐이다. 초록의 주장이 여기서 실물이 된다.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CPU core가 ARM임이 드러난다. 직접 쓰기는 지연이 짧고, 커맨드 큐는 CPU를 빨리 놓아주어 다른 일을 하게 한다는 트레이드오프다.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4 의 붉은 데이터패스가 main context, 파란 데이터패스가 sub context다. Fetch Unit / Sub Fetch Unit, Commit Unit / Sub Commit Unit 이 쌍으로 존재한다. 타임라인의 막대 길이는 개념 예시이며 실측이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4 의 붉은 데이터패스가 main context, 파란 데이터패스가 sub context다. Fetch Unit / Sub Fetch Unit, Commit Unit / Sub Commit Unit 이 쌍으로 존재한다. 타임라인의 막대 길이는 개념 예시이며 실측이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VI절 비교표(TABLE II)에 '* without sparsity' 각주가 붙는 이유가 여기 있다. 경쟁 GPU의 sparsity 수치와 공정하게 비교하려는 표기다. 마지막 불릿의 예측 가능성 관련 설명은 논문에 직접 적힌 문장이 아니라 해설이다.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발표자에게 넘길 때 'W 값과 DPE 비트폭은 IV절에서 나온다'고 명시적으로 인계하면 흐름이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청중에게 로드맵을 먼저 준다. 특히 5번(컨텍스트 이중화)과 7번(회로 교환)이 TCP를 다른 가속기와 구분짓는 지점이므로 미리 예고해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장이 §IV 전체의 지도다. 세로 방향은 '한 슬라이스 안의 파이프라인', 가로 방향은 '슬라이스 사이의 병렬성'이라고 축을 먼저 정리해 주면 이후 설명이 훨씬 쉽다.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수치는 모두 논문 §III-A와 Table I에서 온 것이다. 슬라이스당 SRAM 용량은 논문에 없으므로 나눗셈으로 추정해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'캐시 미스로 인한 penalty를 줄인다'는 표현이 원문에 그대로 있다. AI 가속기에서 성능 예측 가능성이 왜 중요한지 — §I에서 말한 '정확한 cost model을 세워 컴파일러가 lowered shape과 contraction order를 탐색한다'와 연결해서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'컴파일러가 스케줄링한다'가 반복 등장한다. TCP는 하드웨어 동적 스케줄링을 최소화하고 컴파일 타임에 배치를 확정하는 철학이며, 뒤의 fetch network 회로 교환 설계와 같은 뿌리다.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§I에서 지적한 두 극단 — 큰 행렬 유닛(형상 다양성에 대응 곤란) vs 수많은 wimpy core + NoC(프로그램 생성이 어려움) — 사이의 중간 지점이 '거친 입자(coarse-grained) PE를 소프트웨어로 쪼갠다'는 이 설계다.</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§I에서 지적한 두 극단 — 큰 행렬 유닛(형상 다양성에 대응 곤란) vs 수많은 wimpy core + NoC(프로그램 생성이 어려움) — 사이의 중간 지점이 '거친 입자(coarse-grained) PE를 소프트웨어로 쪼갠다'는 이 설계다.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64+1의 '+1'은 리던던시 설계다. 632.1 mm² 5nm 대형 다이에서 수율 확보를 위한 현실적 선택이며, 산업 트랙 논문다운 디테일이다.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'TCP가 왜 행렬 유닛을 버리고도 systolic array 수준의 재사용을 얻는가'에 대한 답이다. 물리적으로는 SRAM이 64조각으로 흩어져 있지만, fetch network가 논리적으로 하나의 다뱅크 SRAM처럼 보이게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'TCP가 왜 행렬 유닛을 버리고도 systolic array 수준의 재사용을 얻는가'에 대한 답이다. 물리적으로는 SRAM이 64조각으로 흩어져 있지만, fetch network가 논리적으로 하나의 다뱅크 SRAM처럼 보이게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weight/input/output stationary는 가속기 데이터플로우의 고전적 3분류다. 다른 칩들은 보통 하나를 하드웨어에 고정하는데, TCP는 셋 다 소프트웨어로 고를 수 있다는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required shape' / 'in the specified tensor shape' 이라는 표현이 fetch와 commit 양쪽에 붙어 있는 점이 중요하다. 형상 변환이 별도의 단계가 아니라 읽고 쓰는 행위 자체에 내장되어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'스크래치패드인데 페이지 테이블이 있다'는 조합이 특이하다. 물리 주소 직접 관리의 부담 없이 컴파일러가 큰 텐서를 연속 공간으로 다룰 수 있게 해주는 장치다. 뱅크 16개는 곧 main/sub 두 컨텍스트가 SRAM에서 서로 막지 않게 하는 근거이기도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'스크래치패드인데 페이지 테이블이 있다'는 조합이 특이하다. 물리 주소 직접 관리의 부담 없이 컴파일러가 큰 텐서를 연속 공간으로 다룰 수 있게 해주는 장치다. 뱅크 16개는 곧 main/sub 두 컨텍스트가 SRAM에서 서로 막지 않게 하는 근거이기도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그림에서 청중이 가장 자주 놓치는 것은 '두 슬라이스가 서로 다른 슬라이스가 아니라, 같은 슬라이스 구조를 두 가지 사용 시나리오로 그린 것'이라는 점이다. 왼쪽=가중치 프리페치 시나리오, 오른쪽=전치 병렬 시나리오라고 읽어 주면 이해가 빠르다.</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CPU의 하이퍼스레딩과 비슷해 보이지만 목적이 다르다. 여기서는 두 컨텍스트가 대칭적으로 경쟁하는 것이 아니라, 'main은 연산 / sub는 뒷바라지'로 역할이 비대칭적으로 고정되어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CPU의 하이퍼스레딩과 비슷해 보이지만 목적이 다르다. 여기서는 두 컨텍스트가 대칭적으로 경쟁하는 것이 아니라, 'main은 연산 / sub는 뒷바라지'로 역할이 비대칭적으로 고정되어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 context가 메인보다 열등한 예비 자원'이 아니라는 점을 강조하면 좋다. Vector Engine도 sub context가 단독으로 돌릴 수 있어서, main이 VE 없이 contraction만 할 때 다른 컨텍스트가 VE를 병렬 사용할 수 있다(§IV-D).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 unit이 단순 로드 유닛이 아니라 타입 변환·패딩까지 하는 '전처리기'라는 점이 중요하다. 저정밀도(INT4/8, FP8, BF16)를 섞어 쓰는 칩에서 형변환을 메모리 읽기 경로에 붙여 놓으면 별도 커널 없이 정밀도를 바꿔 가며 흐를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 lookup 같은 연산이 왜 별도 하드웨어 없이 도는지가 여기서 설명된다. TDMA의 scatter-gather(HBM 레벨)와 fetch sequencer의 indirect address(SRAM 레벨)가 두 층위에서 같은 문제를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 lookup 같은 연산이 왜 별도 하드웨어 없이 도는지가 여기서 설명된다. TDMA의 scatter-gather(HBM 레벨)와 fetch sequencer의 indirect address(SRAM 레벨)가 두 층위에서 같은 문제를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그림이 논문 초록의 'circuit switch-based fetch network to flexibly connect compute units to enable inter-compute unit data reuse' 주장의 실체다. 그림의 색 쌓임을 시간 흐름의 스냅샷으로 읽어야 순환 구조가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그림이 논문 초록의 'circuit switch-based fetch network to flexibly connect compute units to enable inter-compute unit data reuse' 주장의 실체다. 그림의 색 쌓임을 시간 흐름의 스냅샷으로 읽어야 순환 구조가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§I에서 비판한 '수많은 작은 PE + NoC 구조의 NoC-aware 병렬화 복잡성'에 대한 TCP의 대답이 이것이다. 동적 라우팅을 포기하고 컴파일 타임 회선 설정으로 가면 하드웨어도 단순해지고 성능도 결정론적이 된다.</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size로 대역폭 소비를 조절한다는 것은 전력 최적화 수단이기도 하다. §VI-B의 슬라이스 전력 분해(Fig. 15)에서 최적/비최적 구성의 차이가 이런 파라미터 선택에서 온다.</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전치 경로가 TE와 sequencer 둘이라는 점은 컴파일러 입장에서 선택지가 늘어난다는 뜻이다. 어느 쪽이 싼지가 tactic 탐색의 비용 모델에 들어간다.</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마지막에 한 문장으로 묶는다면: TCP는 '데이터를 어디에 두고 어떤 순서로 읽을지'를 전부 컴파일 타임에 확정하고, 하드웨어는 그 결정을 값싸고 결정론적으로 실행하는 데 특화되어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3단 구조는 IV 절 도입부에 그대로 나온다. 벡터 프로세서와 유사한 스트리밍 파이프라인이라는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위에서 아래로 훑으면서 데이터 폭이 80B → (타입별 벡터) → FP32/INT32 → 32B 로 바뀌는 흐름을 짚어준다. 파란 제어선이 오른쪽 시퀀서 한 곳에서만 나온다는 점이 이 아키텍처의 결정론적 성격을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H=8 은 DPE 개수, W 는 DPE 하나가 한 번에 받는 입력 원소 수다. W 는 자료형에 따라 32/64/128 로 달라진다 — 다음 슬라이드에서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행 하나가 DPE 하나다. 위의 파란 벡터가 8개 행 전부와 곱해지는 모습이 broadcast 재사용이고, 오른쪽 삼각형이 reduction tree 다.</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행 하나가 DPE 하나다. 위의 파란 벡터가 8개 행 전부와 곱해지는 모습이 broadcast 재사용이고, 오른쪽 삼각형이 reduction tree 다.</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저정밀도로 갈수록 같은 입력 폭에 더 많은 원소가 들어가므로 처리량이 배가된다. 이것이 TCP 가 fine-grained sparsity 대신 저정밀도에 집중한 이유(III-B 말미)와 맞물린다.</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패널은 같은 입력(32 × BF16)에 깊이만 다르게 준 것이다. 칸 하나가 원소 4개이므로 8칸 = 32원소다.</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패널은 같은 입력(32 × BF16)에 깊이만 다르게 준 것이다. 칸 하나가 원소 4개이므로 8칸 = 32원소다.</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 network 가 circuit-switched 라서 순서가 보장된다는 IV-B 의 성질 덕분에, feed unit 은 도착 순서를 재정렬할 필요 없이 그대로 풀어서 뿌리면 된다.</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II-B 에서 언급된 '슬라이스 내부 input buffer 를 이용한 재사용'의 실체가 바로 이 feed unit 의 반복 공급 기능이다. 다만 IV-C 본문은 'input buffer' 라는 용어를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port SRAM 인데 동시 read/write 를 처리한다는 것은 뱅크 분할과 작은 캐시로 충돌을 피한다는 뜻으로 읽힌다. 논문은 그 구체적 기법을 밝히지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불일치는 발표에서 솔직히 짚고 넘어가는 편이 낫다. 다음 슬라이드의 1024/256 = 4 계산을 보면 '출력당 4개' 로 읽는 것이 본문 예시와는 맞는다.</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1024 라는 총량은 고정이고, 그것을 '출력 개수'로 나눈 것이 출력당 누산기 수다. 이 나눗셈이 컴파일러에게는 tactic 탐색 공간의 제약 조건이 된다.</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컴파일러가 tactic 을 정하면 그것이 control register 값으로 내려가고, 시퀀서가 그대로 실행한다. 분기도 캐시 미스도 없으므로 사이클 수를 정확히 예측할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기능이 있기 때문에 transpose 를 위해 별도 패스를 도는 대신 출력 순서만 바꿔서 해결할 수 있는 경우가 생긴다. TE 슬라이드에서 다시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패널의 데이터패스는 완전히 같다. 주황으로 칠해진 '고정' 상자만 자리를 옮긴다는 점을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패널의 데이터패스는 완전히 같다. 주황으로 칠해진 '고정' 상자만 자리를 옮긴다는 점을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가 위에서 아래로 흐르는 일방향 파이프라인인 것과 달리, VE 는 Router 를 중심으로 나갔다 돌아오는 방사형이다. 그래서 functional unit 들을 임의 순서로 chain 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kinds of type conversions and quantizations' 라는 표현이 중요하다. 저정밀 추론 파이프라인에서 정밀도 변환 지점이 병목이 되지 않게 하겠다는 선언이다.</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 의 분모나 layer-norm 의 평균·분산처럼 '전체 합' 이 필요한 연산에서, 텐서가 여러 슬라이스에 나뉘어 있으면 반드시 슬라이스 간 축약과 재배포가 필요하다. 이 두 채널이 그 경로다.</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Min/Max 가 있다는 것은 softmax 의 수치 안정화(최대값 빼기) 도 여기서 처리할 수 있다는 뜻이다. 다만 논문이 그렇게 명시하지는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클러스터가 '여러 장' 으로 그려진 것은 way 수(슬라이스당 8-way INT32 / 4-way FP32) 를 나타내는 것으로 읽힌다. 다만 논문이 그림의 겹침 수를 way 수라고 명시하지는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곳에 변환기를 둔 이유는, 어느 지점에서 변환하는 것이 대역폭·전력상 유리한지를 컴파일러가 고를 수 있게 하기 위한 것으로 읽힌다. 논문이 그 근거를 직접 설명하지는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512 ways 라는 Table I 수치가 64 슬라이스 × 8-way INT32 와 정확히 맞는다는 점은, 예비 슬라이스 1개를 카운트에서 뺀다는 뜻이기도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추론에서 attention 의 softmax 는 매 토큰마다, layer-norm 은 매 블록마다 두 번씩 나온다. 이 왕복이 느리면 CE 가 아무리 빨라도 전체가 막힌다.</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추론에서 attention 의 softmax 는 매 토큰마다, layer-norm 은 매 블록마다 두 번씩 나온다. 이 왕복이 느리면 CE 가 아무리 빨라도 전체가 막힌다.</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모드는 배타적이지 않다. 컴파일러가 layer 마다 골라 쓴다. 모드 3 의 타임라인은 개념도이며, 논문이 구체적 사이클 수를 제시하지는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모드는 배타적이지 않다. 컴파일러가 layer 마다 골라 쓴다. 모드 3 의 타임라인은 개념도이며, 논문이 구체적 사이클 수를 제시하지는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의 K^T 처럼 전치가 필수인 연산이 LLM 에 상시 등장하므로, 전용 패스를 도는 대신 여러 지점에서 흡수할 수 있게 만든 것이다.</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'컴파일러가 후속 연산에 유리한 레이아웃으로 미리 저장한다' 는 (2)가 실은 더 중요하다. 이것이 없으면 tactic 탐색의 자유도가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size 를 줄일 수 있다는 것은, 결과가 작을 때 SRAM 뱅크 경합과 전력을 아낄 수 있다는 뜻이다. sub-context 의 메모리 연산과 뱅크를 나눠 쓰는 상황에서 특히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부(V절)에서는 이 하드웨어를 컴파일러가 어떻게 프로그래밍하는지 — low-level einsum 과 tactic 탐색 — 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 절에서 einsum 표기를 확장했고, III/IV 절에서 슬라이스와 엔진을 설명했다. V 절은 그 둘을 잇는다.</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 절에서 fetch sequencer, operation sequencer, commit sequencer 가 '제어 레지스터에 따라' 주소와 인덱스를 생성한다고 했다. 그 제어 레지스터를 채우는 주체가 여기의 CPU 코어다.</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'개별 제어가 가능하지만 보통은 같게 쓴다'는 문장이 중요하다. 유연성은 열어 두되 일반 경로는 값싸게 만든 설계다.</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슬라이스 격자는 개수를 나타내려고 30칸만 그렸다. 실제 수는 64+1 이다. 코어와 TU 를 잇는 유일한 통로가 이 큐라는 점을 짚으면 다음 장(전형적 커맨드 시퀀스)이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슬라이스 격자는 개수를 나타내려고 30칸만 그렸다. 실제 수는 64+1 이다. 코어와 TU 를 잇는 유일한 통로가 이 큐라는 점을 짚으면 다음 장(전형적 커맨드 시퀀스)이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가 제어 레지스터를 메모리에서 적재한다는 점이 핵심이다. 컴파일러가 만든 레지스터 이미지를 그대로 DMA 하듯 밀어 넣는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막대의 길이 비율은 설명용이며 논문에 실측 값이 있는 것은 아니다. 요점은 exec 구간과 다음 dma 구간이 시간적으로 겹친다는 사실 하나다.</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막대의 길이 비율은 설명용이며 논문에 실측 값이 있는 것은 아니다. 요점은 exec 구간과 다음 dma 구간이 시간적으로 겹친다는 사실 하나다.</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III 절에서 '주소 변환이 PE 간 통신의 기반이고 P2P 와 결합해 멀티칩으로 확장된다'고 예고한 내용을 여기서 프로그래밍 관점으로 다시 서술한다.</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이 한 칩 메모리를 넘어설 때 여러 칩이 필요하다는 III 절 문제 제기의 소프트웨어 해법이다.</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장이 TCP 설계 철학의 요약이다. 고정 크기 행렬 유닛이었다면 이런 선택지 자체가 존재하지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장이 TCP 설계 철학의 요약이다. 고정 크기 행렬 유닛이었다면 이런 선택지 자체가 존재하지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논문이 명시하지 않은 칸은 그대로 '논문에 명시 없음'으로 남겼다. 추정으로 채우지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수축 축을 병렬화하면 리덕션 비용이 붙는다는, 병렬 계산의 고전적 트레이드오프가 하드웨어에 그대로 드러난 사례다.</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reduction tree 깊이를 제어 레지스터로 바꿀 수 있다는 IV-C 절 설계가 이 tactic 을 가능하게 한다. 깊이 0 과 깊이 3 은 accumulator 인덱싱 방식까지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절의 '대형 systolic array 에서 N 뱅크를 읽는 것과 유사하다'는 서술과 직접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'공간 = 페널티 있음 / 시간 = 페널티 없음'이라는 한 줄로 정리해 두면 Fig. 8 세 tactic 의 비교도 같은 잣대로 읽힌다.</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'공간 = 페널티 있음 / 시간 = 페널티 없음'이라는 한 줄로 정리해 두면 Fig. 8 세 tactic 의 비교도 같은 잣대로 읽힌다.</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단계마다 결정되는 것이 다르다. 특히 3단계에서 lowered shape 과 tactic 이 확정된다는 점이 이 컴파일러의 중심이다.</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단계마다 결정되는 것이 다르다. 특히 3단계에서 lowered shape 과 tactic 이 확정된다는 점이 이 컴파일러의 중심이다.</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9(b) 의 오른쪽 열은 텐서 기술이 파이프라인 단계를 내려가며 점점 하드웨어에 밀착해 가는 과정을 한 화면에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Tensor Kernel 은 무엇을 하는가를, Low-Level Operator 는 어느 슬라이스에서 어떤 순서로 하는가를 담는다. 두 계층 사이에서 벌어지는 일이 곧 컴파일러 3단계다.</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Tensor Kernel 은 무엇을 하는가를, Low-Level Operator 는 어느 슬라이스에서 어떤 순서로 하는가를 담는다. 두 계층 사이에서 벌어지는 일이 곧 컴파일러 3단계다.</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분해가 없으면 프레임워크가 연산을 하나 추가할 때마다 백엔드를 손봐야 한다. 유지보수 관점의 결정이기도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'분해했다가 다시 뭉친다'가 낭비처럼 보일 수 있으나, 뭉치는 기준이 프레임워크의 연산 경계가 아니라 하드웨어 파이프라인의 경계라는 점이 요점이다.</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operator 를 '넣지 않는 대신 앞 레이어의 tactic 을 바꾸는' 선택지도 탐색 공간에 있다는 점이 중요하다. 그래서 전체 그래프를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컴파일러가 '자원 크기'를 처음으로 정면에서 마주하는 단계다. 3단계까지는 형상과 순서의 문제였다.</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III 절의 '메모리 전송이 대부분 신경망, 특히 LLM 의 병목'이라는 진단이 컴파일러 최적화 목표 함수로 그대로 옮겨온 셈이다.</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 절을 배울 때 '이건 논문용 표기겠거니' 하고 넘겼다면 여기서 인식을 고쳐야 한다. 그 표기를 이해하는 것이 곧 이 칩을 직접 프로그래밍할 수 있게 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V 절 전체의 요약이다. '결정적 실행 → 정확한 cost model → 컴파일 타임 최적화'라는 I 절의 주장이 여기서 구체적 형태를 갖는다.</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부(VI 절)에서 이 스택으로 LLaMA-2 7B 를 실제로 실행한 사례와 성능 수치를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선언 중 앞의 두 개는 이 부에서, 뒤의 두 개(tactic 선택과 DMA 오버랩)는 Fig.13~15 가 담당하므로 A8 에서 다룬다고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1D weight stationary 는 가중치를 PE 에 고정해 두고 활성값을 흘려보내는 방식이다. 8-bit 를 쓴다는 점은 뒤의 Table II 해석(TCP 는 INT8, NVIDIA 는 FP8)과 직접 연결되므로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임베딩 조회는 랜덤 접근이라 보통 대역폭을 못 쓰는데, TDMA 의 scatter-gather 지원(IV절) 덕에 전대역폭을 쓴다는 것이 요점이다.</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lowered shape 표기가 실전에서 처음 쓰인다. 윗첨자는 stride, 대괄호는 개수라는 규약을 다시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조회량이 BL 에서 B 로 줄면 중복 계산 비용보다 통신 비용이 커진다. 이 역전이 동적 형상 지원(VII절)의 필요성으로도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각주 1 은 헷갈리기 쉬운 지점이다. HQK 에서 Q 축과 K 축은 사실 같은 L 축이며, 오직 어느 쪽 텐서에서 왔는지를 구분하기 위한 표기다.</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장에 II절의 표기법, III절의 슬라이스 구조, IV절의 fetch network 와 DPE 브로드캐스트가 전부 들어 있다. 다음 슬라이드부터 (a)(b)(c) 를 한 장씩 뜯어본다.</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장에 II절의 표기법, III절의 슬라이스 구조, IV절의 fetch network 와 DPE 브로드캐스트가 전부 들어 있다. 다음 슬라이드부터 (a)(b)(c) 를 한 장씩 뜯어본다.</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왼쪽은 논리적 행렬, 오른쪽은 물리적 슬라이스다. Q 는 행 방향으로, K 는 열 방향으로 잘린다는 점을 손으로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왼쪽은 논리적 행렬, 오른쪽은 물리적 슬라이스다. Q 는 행 방향으로, K 는 열 방향으로 잘린다는 점을 손으로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8 은 DPE 개수, 2 는 feed unit 이 같은 데이터를 반복 공급한 횟수다. 8 × 2 = 16 이 그림의 #DPE x #Feed 이다.</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층위가 더해지는 게 아니라 곱해진다는 점이 핵심이다. 하나라도 빠지면 256 이 아니라 32 나 16 이 된다는 식으로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층위가 더해지는 게 아니라 곱해진다는 점이 핵심이다. 하나라도 빠지면 256 이 아니라 32 나 16 이 된다는 식으로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in0/in1/out 은 데이터가 어디에 놓이는가(형상), tactic 은 그것을 어떤 순서로 도는가(루프 순서)다. 둘을 섞어 읽지 않도록 구분해서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마지막 두 행이 Fig.10(a) 의 #DPE x #Feed 와 정확히 맞물린다는 점을 짚으면 표기법이 실제 하드웨어 동작과 1:1 로 대응한다는 것이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빨간 화살표가 모으기(reduce), 초록 화살표가 뿌리기(broadcast)다. 색만으로 방향이 구분되도록 그렸다.</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빨간 화살표가 모으기(reduce), 초록 화살표가 뿌리기(broadcast)다. 색만으로 방향이 구분되도록 그렸다.</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QK^T 에서는 재사용 배수가 256, score × V 에서는 128 이다. 같은 attention 층 안에서도 연산마다 최적 재사용 구조가 다르다는 점이 VII절의 lesson(연산자마다 재사용 패턴이 다양하다)과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각주 1 의 내용이다. 표기를 곧이곧대로 읽으면 4차원 텐서처럼 오해할 수 있어 반드시 짚고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HBM 읽기 트래픽 문제는 decode 단계가 메모리 바운드가 되는 원인이기도 하다. Fig.12 해석(A8)의 복선이다.</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타임라인은 논문 서술을 도식화한 것이고, 아래 좌우 비교의 '별도 커널' 쪽은 융합하지 않았을 때의 대조군이다.</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타임라인은 논문 서술을 도식화한 것이고, 아래 좌우 비교의 '별도 커널' 쪽은 융합하지 않았을 때의 대조군이다.</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공란 때문에 L40s 와 H100 을 직접 비교할 수는 없다. 각각 TCP 를 매개로 한 쌍대 비교만 가능하다는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먼저 머리에 넣어야 다음 표의 성능 수치를 해석할 수 있다. 특히 대역폭과 TDP 의 조합이 뒤의 perf/watt 결론을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perf/watt 가 TDP 기반이라는 점은 뒤의 각주 2 슬라이드에서 반드시 다시 짚는다. 실측 전력이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저자의 논리는 단순하다. LLM 추론은 메모리 바운드이고, 성능은 대역폭에 비례한다. 그렇다면 W 당 대역폭이 높은 칩이 W 당 토큰도 많이 낸다.</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 길이는 각 지표 안에서 최댓값을 기준으로 정규화한 것이다. 지표 사이의 막대 길이를 서로 비교하면 안 된다.</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 길이는 각 지표 안에서 최댓값을 기준으로 정규화한 것이다. 지표 사이의 막대 길이를 서로 비교하면 안 된다.</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본문의 41%, 11% 는 표에 반올림된 값(14/8, 73/65)으로 계산한 것과 소수점 수준에서 조금 다르다. 논문 표기를 그대로 인용하는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산업 트랙 논문답게 한계를 명시했다. 청중이 2.7배/4.1배를 실측 전력 효율로 오해하지 않도록 이 슬라이드를 반드시 짚는다.</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재사용 배수 256 과 128 이라는 구체적 숫자가 이 부에서 가장 기억에 남아야 할 부분이다. 그것이 Table II 의 perf/watt 를 만들어 낸 원인이라는 인과를 마지막으로 다시 연결해 준다.</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11~13은 LLaMA-2 7B 전체 실행 결과이고, Fig. 14~15는 attention 레이어 하나에 대한 tactic 탐색 결과라는 점을 먼저 못박아 두면 청중이 헷갈리지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수치는 공개된 LLaMA 결과를 인용한 것이다. LLaMA와 LLaMA-2의 7B 모델은 연산 관점에서 동일하다고 논문이 밝힌다.</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2.7배·4.1배는 논문 본문과 초록에 명시된 값이다. W당 GB/s 환산은 표 값에서 바로 나오는 산술이므로 안전하지만, 논문이 그 문구로 쓰지는 않았다는 점은 밝혀 둔다.</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막대는 각 지표 안에서만 상대 비교한 것이고 지표끼리는 스케일이 다르다는 점을 먼저 말해 주면 오독을 막는다. 와트당 성능 2.7배·4.1배는 앞 슬라이드에서 다뤘으므로 여기서는 그 배수가 나온 원인만 짚는다.</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막대는 각 지표 안에서만 상대 비교한 것이고 지표끼리는 스케일이 다르다는 점을 먼저 말해 주면 오독을 막는다. 와트당 성능 2.7배·4.1배는 앞 슬라이드에서 다뤘으므로 여기서는 그 배수가 나온 원인만 짚는다.</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각주를 굳이 읽어 주는 이유: 산업계 논문의 비교표는 조건이 생명이다. FP8 대 INT8, 실측 대 TDP라는 두 가지 비대칭을 논문이 먼저 밝혀 두었다는 점은 오히려 신뢰할 만한 태도다.</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그림의 배치 크기를 캡션은 밝히지 않는다. 다만 (a)의 L=128, L=2048 값이 Table II의 B=1 행과 정확히 일치하므로 B=1 조건으로 보는 것이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"초선형"과 "연산량에 비례해 선형"이 모순처럼 들릴 수 있다. 논문 문장 그대로다: 시퀀스 길이 대비로는 초선형, 연산량 대비로는 선형이라는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숫자가 없어 심심해 보이지만, 다음 슬라이드의 해석이 전부 이 정의 위에 서 있다. 특히 softmax 트래픽 미반영이라는 단서는 논문이 직접 각주처럼 달아 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 슬라이드를 건너뛰고 이 장을 보면 파란 곡선이 왜 계속 내려가는지 설명이 안 된다. "분자(필수 트래픽)는 그대로인데 분모(지연)만 커진다"를 한 번 짚고 넘어가라.</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 슬라이드를 건너뛰고 이 장을 보면 파란 곡선이 왜 계속 내려가는지 설명이 안 된다. "분자(필수 트래픽)는 그대로인데 분모(지연)만 커진다"를 한 번 짚고 넘어가라.</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11은 세로 두 장, Fig. 12는 가로 네 장이라 시각적으로 헷갈리기 쉽다. "왼쪽 둘은 시간, 오른쪽 둘은 활용률"만 먼저 잡아 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11은 세로 두 장, Fig. 12는 가로 네 장이라 시각적으로 헷갈리기 쉽다. "왼쪽 둘은 시간, 오른쪽 둘은 활용률"만 먼저 잡아 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논문은 "어느 수준(some level)"이라고만 쓰고 임계점을 수치로 밝히지 않는다. 그래프상으로는 (a)는 1024와 2048 사이, (b)는 16과 32 사이에서 꺾인다.</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"MAC 활용률이 이렇게 낮은데 좋은 칩인가"라고 물을 수 있다. 답: decode는 어떤 가속기에서도 메모리 바운드이며, 이 구간의 승부처는 대역폭 대 전력비다.</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대비가 다음 그림(Fig. 13)으로 이어진다. 실행 트레이스에서 두 단계의 성격 차이가 눈으로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시뮬레이션이나 추정이 아니라 실행 활동 트레이스다. 컴파일러가 짠 스케줄이 실제로 겹쳐 돌아간다는 증거로 제시된다.</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시뮬레이션이나 추정이 아니라 실행 활동 트레이스다. 컴파일러가 짠 스케줄이 실제로 겹쳐 돌아간다는 증거로 제시된다.</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패널의 전체 길이가 200 µs를 넘는다. 디코더 블록 하나 기준이므로 32개 블록이면 대략 밀리초 단위가 되고, Table II의 8 msec와 규모가 맞아떨어진다. 다만 이 환산은 논문에 없는 계산이다.</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(a)와 (b)에서 TDMA와 TU의 역할이 정확히 뒤바뀐다는 점이 이 그림의 전부다. 슬라이드에서는 두 패널을 번갈아 짚어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여기까지가 "칩 전체가 모델을 돌릴 때"의 이야기다. 다음 두 그림에서 관점이 슬라이스 하나로 확 좁아진다는 전환을 예고해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여기까지가 "칩 전체가 모델을 돌릴 때"의 이야기다. 다음 두 그림에서 관점이 슬라이스 하나로 확 좁아진다는 전환을 예고해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점들이 세로로 뭉쳐 있는 열들이 보인다. 같은 실행 시간을 내는 여러 tactic이 전력만 다르다는 뜻이고, 이것이 다음 그림의 짝 비교로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 관계(Ineff.1↔Opt.2, Ineff.2↔Opt.3)를 여기서 짚어 두면 Fig. 15 의 막대 배열이 왜 그 순서인지 바로 이해된다. 라벨 없는 회색 점까지 세면 한 연산에 수십 개의 후보가 있다는 것도 이 그림의 메시지다.</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 관계(Ineff.1↔Opt.2, Ineff.2↔Opt.3)를 여기서 짚어 두면 Fig. 15 의 막대 배열이 왜 그 순서인지 바로 이해된다. 라벨 없는 회색 점까지 세면 한 연산에 수십 개의 후보가 있다는 것도 이 그림의 메시지다.</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"왜 굳이 tactic을 노출하는 저수준 einsum 표기를 만들었나"라는 앞 절의 설계 결정이 회수된다. 탐색할 수 있게 만들려면 먼저 표현할 수 있어야 했다.</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검은 점선이 오른쪽 축이라는 점을 반드시 짚어야 한다. 왼쪽 축으로 잘못 읽으면 Opt. 3이 최악처럼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원문: "efficient tactics use less DPE power than the inefficient ones with equivalent execution time." 이 문장을 그림에서 짝을 찾아 확인시켜 주는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6(CE 안의 DPE 8개)과 Fig. 5(fetch network 의 공급 경로)를 앞 절에서 다시 불러오면 미시 구조가 그대로 전력 그래프로 나타난 셈이 된다. "공급이 부족하면 굶고, 넘치는데 병렬성이 낮으면 태운다"는 다음 장의 결론으로 그대로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6(CE 안의 DPE 8개)과 Fig. 5(fetch network 의 공급 경로)를 앞 절에서 다시 불러오면 미시 구조가 그대로 전력 그래프로 나타난 셈이 된다. "공급이 부족하면 굶고, 넘치는데 병렬성이 낮으면 태운다"는 다음 장의 결론으로 그대로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영문 원문을 그대로 콜아웃에 넣었다. 이 문장이 Fig. 14와 Fig. 15를 하나로 묶는다.</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항목(논문이 밝히지 않은 것)을 넣은 이유는 질의응답 대비다. 청중이 수치를 물으면 "논문에 없다"고 답할 근거가 슬라이드에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'내용이 빈약한데?'라고 느끼지 않게, 원문이 원래 짧고 정성적이라는 점을 먼저 밝히고 근거를 붙여 설명하겠다고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소제목은 원문 그대로다. 영문 소제목을 먼저 읽고 괄호 안 한국어 뜻을 붙였다. 이 다섯 개가 앞으로 슬라이드 두세 장씩 차지한다.</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원문은 세 문장짜리 짧은 문단이다. 하나도 빠뜨리지 않고 옮겼다. 이 교훈이 왜 중요하냐면, 이게 TCP가 slice를 쪼갤 수 있게 만들고 fetch network를 넣은 이유 그 자체이기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왼쪽 위 3상자는 '무엇을 고정하고 어디에 두느냐'의 대응표다. 아래 막대는 같은 LLaMA-2 7B 안의 두 극단이다. 막대 길이는 256:128 = 2:1 비율을 그대로 지켰다.</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왼쪽 위 3상자는 '무엇을 고정하고 어디에 두느냐'의 대응표다. 아래 막대는 같은 LLaMA-2 7B 안의 두 극단이다. 막대 길이는 256:128 = 2:1 비율을 그대로 지켰다.</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lowered shape 개념을 여기서 한 번 더 상기시킨다. 제2장을 담당한 발표자가 이미 설명했겠지만, 교훈 2를 이해하려면 '데이터가 slice에 어떻게 흩어져 있는가'가 핵심이라는 점을 다시 짚어야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 bridge 상자의 교차선은 slice 사이에서 데이터가 실제로 자리를 바꾼다는 뜻이다. 아래 두 선택지는 컴파일러가 비용으로 저울질하는 대상이며, 어느 쪽이 이기는지는 형상마다 다르다.</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 bridge 상자의 교차선은 slice 사이에서 데이터가 실제로 자리를 바꾼다는 뜻이다. 아래 두 선택지는 컴파일러가 비용으로 저울질하는 대상이며, 어느 쪽이 이기는지는 형상마다 다르다.</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줄은 같은 시간 축이며 블록 개수·길이도 같다. 다른 것은 이동 블록의 위치뿐이다. 시간 값 자체는 개념도이고, 논문에는 이 구간의 수치가 없다는 점을 말로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줄은 같은 시간 축이며 블록 개수·길이도 같다. 다른 것은 이동 블록의 위치뿐이다. 시간 값 자체는 개념도이고, 논문에는 이 구간의 수치가 없다는 점을 말로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 띠는 사슬의 방향성을 보여주려고 넣었다. 가운데 칸이 끊기면 오른쪽이 전부 회색이 된다는 그림이며, GPU 와의 대비는 논문 문장이 아니라 발표자 해석이라고 그림 안에 표시해 두었다.</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 띠는 사슬의 방향성을 보여주려고 넣었다. 가운데 칸이 끊기면 오른쪽이 전부 회색이 된다는 그림이며, GPU 와의 대비는 논문 문장이 아니라 발표자 해석이라고 그림 안에 표시해 두었다.</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14/15는 제6장 D절의 그림이지만 제7장 교훈 3과 5가 명시적으로 참조한다. 전력이 실측이 아니라 SpyGlass 추정이라는 점은 반드시 짚어야 한다. 논문이 스스로 밝힌 사실이다.</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형상 지원은 말은 쉽지만 대부분의 AI 가속기가 못 하거나 재컴파일을 요구한다. TCP는 텐서 형상 자체를 CSR로 뺐기 때문에 가능하다는 것이 요점이다.</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교훈은 사실상 '우리가 CPU 코어를 넣은 게 옳았다'는 자평이다. 순수 데이터플로우 가속기들이 LLM 서빙에서 겪는 어려움과 대비해서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교훈 5는 교훈 3과 짝이다. 비용 모델이 왜 필요했는지가 여기서 확정된다. 두 층 분할(tactic 최적화 / lowered shape 매핑)은 로컬-글로벌 분할이기도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실무자 관점의 포인트: 'transformer가 반복 블록이라 다행이다'는 말은 뒤집으면 불규칙한 모델에서는 이 컴파일러가 훨씬 고생한다는 뜻이다. 논문이 직접 그렇게 쓰지는 않았으므로 해석으로 제시하면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한 번 정리하고 넘어간다. 세로로 읽으면 '문제 → 하드웨어 대응 → 소프트웨어 대응'의 반복 구조가 보인다. 3번이 나머지의 전제라는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 본문을 문장 단위로 옮겼다. 한 가지 짚을 것: 초록에서는 slice 내부 재사용을 'input buffer based reuse'라고 했는데 결론에서는 'input reuse on the feed unit'이라고 쓴다. 같은 메커니즘을 다른 이름으로 부른 것이다.</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TDP 막대는 비교의 분모가 얼마나 차이 나는지 감을 주려고 넣었다(150 : 350 : 700). 오른쪽 배수 막대와 헷갈리지 않게 축을 따로 표시했다. 이 수치는 제6장 담당자와 겹치므로 조건만 짚고 짧게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TDP 막대는 비교의 분모가 얼마나 차이 나는지 감을 주려고 넣었다(150 : 350 : 700). 오른쪽 배수 막대와 헷갈리지 않게 축을 따로 표시했다. 이 수치는 제6장 담당자와 겹치므로 조건만 짚고 짧게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결론이 끝나는 지점이다. 부제의 수치들은 제3장 표 I과 초록의 값이다. 상용화 시점(2024년 8월)은 초록에 명시돼 있다. 여기서 한 박자 쉬고 감사의 글로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감사의 글도 생략하지 않고 옮겼다. 뒷부분의 '밝히지 않은 것' 목록은 논문 비판이 아니라, 이 교훈들을 자기 프로젝트에 적용할 때 스스로 채워야 하는 빈칸이 무엇인지 알려주는 용도다.</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슬라이드다. 논문 문장이 아니라 해석이라는 점을 슬라이드 부제로 명시했다. 청중이 자기 일에 가져갈 다섯 줄로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발표에서는 사다리를 위에서 아래로 한 번 읽어 주고, 화살표가 가리키는 ‘모델 예측’ 칸에 우리 수치와 논문 수치가 함께 놓인다는 점만 강조하면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발표에서는 사다리를 위에서 아래로 한 번 읽어 주고, 화살표가 가리키는 ‘모델 예측’ 칸에 우리 수치와 논문 수치가 함께 놓인다는 점만 강조하면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펌웨어와 SDK 버전 체계(2026.3.0)는 논문에 없다. 논문은 제품명 RNGD 도 쓰지 않고 시종 TCP 라고만 부른다 — RNGD 라는 이름은 후속 IEEE Micro 논문 쪽 어휘다.</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5개는 우리가 반박도 확인도 못 한다. 공정·다이 크기·TDP·PCIe 세대·연산 성능은 furiosa-smi 가 보고하지 않거나 우리가 측정하지 않았다. '확인 수단 없음'과 '불일치'는 다른 말이다.</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부록의 핵심이다. 발표에서는 가운데 초록 칸만 위에서 아래로 읽어 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부록의 핵심이다. 발표에서는 가운데 초록 칸만 위에서 아래로 읽어 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 이 부분은 조심해서 말해야 한다. 정합적 해석일 뿐이고, 논문이 vISA 의 Cluster 를 정의한 적은 없다. 반대로 이 해석이 맞다면, vISA 커널이 Cluster 축을 쓴다는 것은 4개 PE 를 융합해서 쓴다는 뜻이 된다.</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384 TB/s 는 흥미로운 지점이다. 논문 §IV-A 는 DM slice 가 16 뱅크 × 8 B 폭이라 slice당 최대 128 GB/s 라고 적는데, 1 GHz · 512 slice 로 곱하면 65.5 TB/s 다. Table I 의 384 TB/s 와 5.86배 차이가 난다. RF 나 read/write 합산을 포함한 값일 수 있으나 논문이 산출 근거를 주지 않으므로 우리는 판정하지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§VI 도입부에 'In this paper, we focus on parallelism within a single chip' 이라고 명시돼 있다. 이 문장이 뒤의 다중 칩 대조에서 다시 중요해진다.</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5단계 중 3단계의 cost function 과 5단계의 스케줄링이 뒤에서 우리 --dump-schedule 사이클 값과 연결되는 지점이다. 다만 논문은 그 비용 함수의 구조도, 우리 도구가 그것과 같은 모델인지도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부록의 존재 이유다. 논문은 저수준 API 의 필요성을 다섯 문장으로 논증하고 마지막 한 문장으로 '제공한다'고 적고 끝낸다. 우리가 만진 것은 정확히 그 한 문장이 가리키는 물건이다. 논문에 vISA, furiosa-opt, Rust, m![] 라는 단어는 한 번도 나오지 않는다 — 원문 전문 검색으로 0건 확인.</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양쪽 다 '축을 slice 에 어떻게 나누고 어떤 순서로 도느냐'를 기술한다는 점은 같다. 그러나 논문의 tactic 은 컴파일러가 탐색해서 고르는 것이고, vISA 의 m![] 은 사람이 타입으로 고정하는 것이다. 변환 규칙이 있는지, 같은 표현력인지, 논문은 답하지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부수 소득이다. 논문을 읽는 작업이 우리 문서를 교정했다. 같은 방식으로 GLOSSARY.md 의 backend 항목도 앞서 정정한 바 있다.</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분류 합이 64 인 이유(거짓 FAIL 1건)는 그림 안에 적어 두었다. 질문이 나오면 그 줄을 가리키면 된다.</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분류 합이 64 인 이유(거짓 FAIL 1건)는 그림 안에 적어 두었다. 질문이 나오면 그 줄을 가리키면 된다.</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수를 얻으려면 테스트마다 새 프로세스로 격리해야 한다. 한 프로세스로 돌리면 vector_engine 이 10통과/25실패로 나오고, 격리하면 33/3 이 된다. hang 커널 하나가 HAL -110(ETIMEDOUT)을 유발하면 그 프로세스의 이후 모든 커널 실행이 -110 으로 실패하기 때문이다. --test-threads=1 로 직렬화해도 소용없다. 동시성 문제가 아니라 프로세스 상태 오염이다.</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①의 세 건은 모두 에뮬레이션에서는 통과한다. 즉 매핑은 유효하고 NPU 런타임 쪽 문제다. compile 성공이 실기 실행을 보장하지 않는다는 실례다. ②(b) 의 바이트/요소 해석은 산술 정황이지 런타임 소스를 읽어 확인한 것이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대조는 논문을 반박하는 것이 아니라 계층 차이를 드러낸다. 컴파일러가 있으면 정렬은 최적화 문제고, 컴파일러 없이 손으로 쓰면 정렬은 통과/불통과 문제다. 또 하나: 도는 커널은 DMA 에 사이클을 쓰고, 안 도는 커널은 DMA 정렬에 막힌다.</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장에서 이 96.5% 를 논문 위에 얹을 때의 주의사항을 다룬다. 여기서는 반론처럼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장에서 이 96.5% 를 논문 위에 얹을 때의 주의사항을 다룬다. 여기서는 반론처럼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 제일 조심할 슬라이드다. 96.5% 를 논문 주장에 대한 반론처럼 쓰면 안 된다. 우리 조사 문서 자체가 이 위험을 명시하고 있다 — RESEARCH-TOPICS 는 주제 4(DMA 96.5% 니 매핑을 최적화하자)를 not-a-paper 로 판정했고, 그 이유가 '관찰 자체가 기존 결론이고 근거가 실측이 아니라 모델 예측'이라는 것이었다.</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논문과 우리 실측을 대조했을 때 나오는 가장 실용적인 결론이다. 발표에서는 반드시 경로를 붙여 말한다.</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논문과 우리 실측을 대조했을 때 나오는 가장 실용적인 결론이다. 발표에서는 반드시 경로를 붙여 말한다.</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부록에서 가장 중요한 슬라이드일 수 있다. 논문에서 알 수 없는 것을 우리 실측으로 메웠다고 말하려면, 먼저 논문이 어디까지 말했는지 정확히 그어야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부록에서 가장 중요한 슬라이드일 수 있다. 논문에서 알 수 없는 것을 우리 실측으로 메웠다고 말하려면, 먼저 논문이 어디까지 말했는지 정확히 그어야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 질문이 나올 수 있는 지점을 미리 막는 슬라이드다. '그래서 논문 수치가 맞나'라는 질문의 답은 '우리는 모른다'이다.</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결론이 RESEARCH-TOPICS §1 의 판단과 같다. '아키텍처 개관 각도는 이미 선점됐다. 우리가 낼 수 있는 자리는 아키텍처가 아니라 그 위에서 프로그램을 어떻게 쓰고 무엇이 실제로 되는가 쪽이다.'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0.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5120640"/>
            <a:ext cx="12191695" cy="1737360"/>
          </a:xfrm>
          <a:prstGeom prst="rect">
            <a:avLst/>
          </a:prstGeom>
          <a:solidFill>
            <a:srgbClr val="0633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914400" y="1920240"/>
            <a:ext cx="10362895" cy="1371600"/>
          </a:xfrm>
          <a:prstGeom prst="rect">
            <a:avLst/>
          </a:prstGeom>
          <a:noFill/>
        </p:spPr>
        <p:txBody>
          <a:bodyPr wrap="square" anchor="t" lIns="0" rIns="0" tIns="0" bIns="0">
            <a:spAutoFit/>
          </a:bodyPr>
          <a:lstStyle/>
          <a:p>
            <a:pPr algn="l">
              <a:lnSpc>
                <a:spcPct val="118000"/>
              </a:lnSpc>
              <a:spcBef>
                <a:spcPts val="0"/>
              </a:spcBef>
              <a:spcAft>
                <a:spcPts val="0"/>
              </a:spcAft>
            </a:pPr>
            <a:r>
              <a:rPr sz="4600" b="1" i="0">
                <a:solidFill>
                  <a:srgbClr val="FFFFFF"/>
                </a:solidFill>
                <a:latin typeface="Segoe UI"/>
                <a:ea typeface="맑은 고딕"/>
                <a:cs typeface="맑은 고딕"/>
              </a:rPr>
              <a:t>TCP 논문 완전 분석</a:t>
            </a:r>
          </a:p>
        </p:txBody>
      </p:sp>
      <p:sp>
        <p:nvSpPr>
          <p:cNvPr id="5" name="TextBox 4"/>
          <p:cNvSpPr txBox="1"/>
          <p:nvPr/>
        </p:nvSpPr>
        <p:spPr>
          <a:xfrm>
            <a:off x="914400" y="3383280"/>
            <a:ext cx="10362895" cy="914400"/>
          </a:xfrm>
          <a:prstGeom prst="rect">
            <a:avLst/>
          </a:prstGeom>
          <a:noFill/>
        </p:spPr>
        <p:txBody>
          <a:bodyPr wrap="square" anchor="t" lIns="0" rIns="0" tIns="0" bIns="0">
            <a:spAutoFit/>
          </a:bodyPr>
          <a:lstStyle/>
          <a:p>
            <a:pPr algn="l">
              <a:lnSpc>
                <a:spcPct val="118000"/>
              </a:lnSpc>
              <a:spcBef>
                <a:spcPts val="0"/>
              </a:spcBef>
              <a:spcAft>
                <a:spcPts val="400"/>
              </a:spcAft>
            </a:pPr>
            <a:r>
              <a:rPr sz="1900" b="0" i="0">
                <a:solidFill>
                  <a:srgbClr val="C9DEF7"/>
                </a:solidFill>
                <a:latin typeface="Segoe UI"/>
                <a:ea typeface="맑은 고딕"/>
                <a:cs typeface="맑은 고딕"/>
              </a:rPr>
              <a:t>TCP: A Tensor Contraction Processor for AI Workloads</a:t>
            </a:r>
          </a:p>
          <a:p>
            <a:pPr algn="l">
              <a:lnSpc>
                <a:spcPct val="118000"/>
              </a:lnSpc>
              <a:spcBef>
                <a:spcPts val="0"/>
              </a:spcBef>
              <a:spcAft>
                <a:spcPts val="400"/>
              </a:spcAft>
            </a:pPr>
            <a:r>
              <a:rPr sz="1900" b="0" i="0">
                <a:solidFill>
                  <a:srgbClr val="C9DEF7"/>
                </a:solidFill>
                <a:latin typeface="Segoe UI"/>
                <a:ea typeface="맑은 고딕"/>
                <a:cs typeface="맑은 고딕"/>
              </a:rPr>
              <a:t>FuriosaAI · ISCA 2024 (Industry Track) — 우리 서버 RNGD 의 아키텍처 원논문</a:t>
            </a:r>
          </a:p>
        </p:txBody>
      </p:sp>
      <p:sp>
        <p:nvSpPr>
          <p:cNvPr id="6" name="TextBox 5"/>
          <p:cNvSpPr txBox="1"/>
          <p:nvPr/>
        </p:nvSpPr>
        <p:spPr>
          <a:xfrm>
            <a:off x="914400" y="5623560"/>
            <a:ext cx="10362895" cy="73152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9EC1EB"/>
                </a:solidFill>
                <a:latin typeface="Segoe UI"/>
                <a:ea typeface="맑은 고딕"/>
                <a:cs typeface="맑은 고딕"/>
              </a:rPr>
              <a:t>논문 전문 + 그림 15개 · 표 2개 전량 수록 · 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6000" b="1" i="0">
                <a:solidFill>
                  <a:srgbClr val="C3D4E8"/>
                </a:solidFill>
                <a:latin typeface="Segoe UI"/>
                <a:ea typeface="맑은 고딕"/>
                <a:cs typeface="맑은 고딕"/>
              </a:rPr>
              <a:t>0·1</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논문 소개와 서론</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무슨 논문이고, 왜 우리에게 중요하며, 어떤 문제를 풀겠다는 것인가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논문이 무엇인가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제목: TCP: A Tensor Contraction Processor for AI Workloads</a:t>
            </a:r>
          </a:p>
          <a:p>
            <a:pPr algn="l">
              <a:lnSpc>
                <a:spcPct val="118000"/>
              </a:lnSpc>
              <a:spcBef>
                <a:spcPts val="200"/>
              </a:spcBef>
              <a:spcAft>
                <a:spcPts val="100"/>
              </a:spcAft>
            </a:pPr>
            <a:r>
              <a:rPr sz="1680" b="0" i="0">
                <a:solidFill>
                  <a:srgbClr val="2C3A4B"/>
                </a:solidFill>
                <a:latin typeface="Segoe UI"/>
                <a:ea typeface="맑은 고딕"/>
                <a:cs typeface="맑은 고딕"/>
              </a:rPr>
              <a:t>–  부제: Industrial Product — 각주에 "This paper is part of the Industry Track of ISCA 2024's program" 이라고 명시돼 있다</a:t>
            </a:r>
          </a:p>
          <a:p>
            <a:pPr algn="l">
              <a:lnSpc>
                <a:spcPct val="118000"/>
              </a:lnSpc>
              <a:spcBef>
                <a:spcPts val="600"/>
              </a:spcBef>
              <a:spcAft>
                <a:spcPts val="200"/>
              </a:spcAft>
            </a:pPr>
            <a:r>
              <a:rPr sz="1800" b="1" i="0">
                <a:solidFill>
                  <a:srgbClr val="083F80"/>
                </a:solidFill>
                <a:latin typeface="Segoe UI"/>
                <a:ea typeface="맑은 고딕"/>
                <a:cs typeface="맑은 고딕"/>
              </a:rPr>
              <a:t>▪  학회: ISCA 2024 (International Symposium on Computer Architecture), Industry Track</a:t>
            </a:r>
          </a:p>
          <a:p>
            <a:pPr algn="l">
              <a:lnSpc>
                <a:spcPct val="118000"/>
              </a:lnSpc>
              <a:spcBef>
                <a:spcPts val="600"/>
              </a:spcBef>
              <a:spcAft>
                <a:spcPts val="200"/>
              </a:spcAft>
            </a:pPr>
            <a:r>
              <a:rPr sz="1800" b="1" i="0">
                <a:solidFill>
                  <a:srgbClr val="083F80"/>
                </a:solidFill>
                <a:latin typeface="Segoe UI"/>
                <a:ea typeface="맑은 고딕"/>
                <a:cs typeface="맑은 고딕"/>
              </a:rPr>
              <a:t>▪  저자: 총 49명</a:t>
            </a:r>
          </a:p>
          <a:p>
            <a:pPr algn="l">
              <a:lnSpc>
                <a:spcPct val="118000"/>
              </a:lnSpc>
              <a:spcBef>
                <a:spcPts val="200"/>
              </a:spcBef>
              <a:spcAft>
                <a:spcPts val="100"/>
              </a:spcAft>
            </a:pPr>
            <a:r>
              <a:rPr sz="1680" b="0" i="0">
                <a:solidFill>
                  <a:srgbClr val="2C3A4B"/>
                </a:solidFill>
                <a:latin typeface="Segoe UI"/>
                <a:ea typeface="맑은 고딕"/>
                <a:cs typeface="맑은 고딕"/>
              </a:rPr>
              <a:t>–  제1저자 Hanjoon Kim, 이하 대부분 Furiosa AI, Inc. 소속</a:t>
            </a:r>
          </a:p>
          <a:p>
            <a:pPr algn="l">
              <a:lnSpc>
                <a:spcPct val="118000"/>
              </a:lnSpc>
              <a:spcBef>
                <a:spcPts val="200"/>
              </a:spcBef>
              <a:spcAft>
                <a:spcPts val="100"/>
              </a:spcAft>
            </a:pPr>
            <a:r>
              <a:rPr sz="1680" b="0" i="0">
                <a:solidFill>
                  <a:srgbClr val="2C3A4B"/>
                </a:solidFill>
                <a:latin typeface="Segoe UI"/>
                <a:ea typeface="맑은 고딕"/>
                <a:cs typeface="맑은 고딕"/>
              </a:rPr>
              <a:t>–  June Paik (FuriosaAI 대표) 포함</a:t>
            </a:r>
          </a:p>
          <a:p>
            <a:pPr algn="l">
              <a:lnSpc>
                <a:spcPct val="118000"/>
              </a:lnSpc>
              <a:spcBef>
                <a:spcPts val="200"/>
              </a:spcBef>
              <a:spcAft>
                <a:spcPts val="100"/>
              </a:spcAft>
            </a:pPr>
            <a:r>
              <a:rPr sz="1680" b="0" i="0">
                <a:solidFill>
                  <a:srgbClr val="2C3A4B"/>
                </a:solidFill>
                <a:latin typeface="Segoe UI"/>
                <a:ea typeface="맑은 고딕"/>
                <a:cs typeface="맑은 고딕"/>
              </a:rPr>
              <a:t>–  † Nuno P. Lopes — INESC-ID / Instituto Superior Técnico, University of Lisbon</a:t>
            </a:r>
          </a:p>
          <a:p>
            <a:pPr algn="l">
              <a:lnSpc>
                <a:spcPct val="118000"/>
              </a:lnSpc>
              <a:spcBef>
                <a:spcPts val="200"/>
              </a:spcBef>
              <a:spcAft>
                <a:spcPts val="100"/>
              </a:spcAft>
            </a:pPr>
            <a:r>
              <a:rPr sz="1680" b="0" i="0">
                <a:solidFill>
                  <a:srgbClr val="2C3A4B"/>
                </a:solidFill>
                <a:latin typeface="Segoe UI"/>
                <a:ea typeface="맑은 고딕"/>
                <a:cs typeface="맑은 고딕"/>
              </a:rPr>
              <a:t>–  ‡ Sungjoo Yoo (유승주) — Seoul National University</a:t>
            </a:r>
          </a:p>
          <a:p>
            <a:pPr algn="l">
              <a:lnSpc>
                <a:spcPct val="118000"/>
              </a:lnSpc>
              <a:spcBef>
                <a:spcPts val="600"/>
              </a:spcBef>
              <a:spcAft>
                <a:spcPts val="200"/>
              </a:spcAft>
            </a:pPr>
            <a:r>
              <a:rPr sz="1800" b="1" i="0">
                <a:solidFill>
                  <a:srgbClr val="083F80"/>
                </a:solidFill>
                <a:latin typeface="Segoe UI"/>
                <a:ea typeface="맑은 고딕"/>
                <a:cs typeface="맑은 고딕"/>
              </a:rPr>
              <a:t>▪  성격: 학술 논문이자 상용 제품 보고서다</a:t>
            </a:r>
          </a:p>
          <a:p>
            <a:pPr algn="l">
              <a:lnSpc>
                <a:spcPct val="118000"/>
              </a:lnSpc>
              <a:spcBef>
                <a:spcPts val="200"/>
              </a:spcBef>
              <a:spcAft>
                <a:spcPts val="100"/>
              </a:spcAft>
            </a:pPr>
            <a:r>
              <a:rPr sz="1680" b="0" i="0">
                <a:solidFill>
                  <a:srgbClr val="2C3A4B"/>
                </a:solidFill>
                <a:latin typeface="Segoe UI"/>
                <a:ea typeface="맑은 고딕"/>
                <a:cs typeface="맑은 고딕"/>
              </a:rPr>
              <a:t>–  시뮬레이션 결과가 아니라 TSMC 5nm 로 실제 설계·제작(fabricated)한 칩의 이야기다</a:t>
            </a:r>
          </a:p>
          <a:p>
            <a:pPr algn="l">
              <a:lnSpc>
                <a:spcPct val="118000"/>
              </a:lnSpc>
              <a:spcBef>
                <a:spcPts val="200"/>
              </a:spcBef>
              <a:spcAft>
                <a:spcPts val="100"/>
              </a:spcAft>
            </a:pPr>
            <a:r>
              <a:rPr sz="1680" b="0" i="0">
                <a:solidFill>
                  <a:srgbClr val="2C3A4B"/>
                </a:solidFill>
                <a:latin typeface="Segoe UI"/>
                <a:ea typeface="맑은 고딕"/>
                <a:cs typeface="맑은 고딕"/>
              </a:rPr>
              <a:t>–  초록 마지막 문장: "Commercialization will start in August 2024" (상용화는 2024년 8월 시작)</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49명이 쓴, 실제로 만들어진 칩에 대한 산업 트랙 논문이다.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왜 우리에게 중요한가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논문이 말하는 것</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"the second-generation product of Furiosa AI"</a:t>
            </a:r>
          </a:p>
          <a:p>
            <a:pPr algn="l">
              <a:lnSpc>
                <a:spcPct val="118000"/>
              </a:lnSpc>
              <a:spcBef>
                <a:spcPts val="200"/>
              </a:spcBef>
              <a:spcAft>
                <a:spcPts val="100"/>
              </a:spcAft>
            </a:pPr>
            <a:r>
              <a:rPr sz="1580" b="0" i="0">
                <a:solidFill>
                  <a:srgbClr val="2C3A4B"/>
                </a:solidFill>
                <a:latin typeface="Segoe UI"/>
                <a:ea typeface="맑은 고딕"/>
                <a:cs typeface="맑은 고딕"/>
              </a:rPr>
              <a:t>–  즉 FuriosaAI 의 2세대 칩이다</a:t>
            </a:r>
          </a:p>
          <a:p>
            <a:pPr algn="l">
              <a:lnSpc>
                <a:spcPct val="118000"/>
              </a:lnSpc>
              <a:spcBef>
                <a:spcPts val="200"/>
              </a:spcBef>
              <a:spcAft>
                <a:spcPts val="100"/>
              </a:spcAft>
            </a:pPr>
            <a:r>
              <a:rPr sz="1580" b="0" i="0">
                <a:solidFill>
                  <a:srgbClr val="2C3A4B"/>
                </a:solidFill>
                <a:latin typeface="Segoe UI"/>
                <a:ea typeface="맑은 고딕"/>
                <a:cs typeface="맑은 고딕"/>
              </a:rPr>
              <a:t>–  1세대 제품이 무엇인지는 논문에 이름이 나오지 않는다</a:t>
            </a:r>
          </a:p>
          <a:p>
            <a:pPr algn="l">
              <a:lnSpc>
                <a:spcPct val="118000"/>
              </a:lnSpc>
              <a:spcBef>
                <a:spcPts val="200"/>
              </a:spcBef>
              <a:spcAft>
                <a:spcPts val="100"/>
              </a:spcAft>
            </a:pPr>
            <a:r>
              <a:rPr sz="1580" b="0" i="0">
                <a:solidFill>
                  <a:srgbClr val="2C3A4B"/>
                </a:solidFill>
                <a:latin typeface="Segoe UI"/>
                <a:ea typeface="맑은 고딕"/>
                <a:cs typeface="맑은 고딕"/>
              </a:rPr>
              <a:t>–  5nm 공정, 256 MB SRAM</a:t>
            </a:r>
          </a:p>
          <a:p>
            <a:pPr algn="l">
              <a:lnSpc>
                <a:spcPct val="118000"/>
              </a:lnSpc>
              <a:spcBef>
                <a:spcPts val="200"/>
              </a:spcBef>
              <a:spcAft>
                <a:spcPts val="100"/>
              </a:spcAft>
            </a:pPr>
            <a:r>
              <a:rPr sz="1580" b="0" i="0">
                <a:solidFill>
                  <a:srgbClr val="2C3A4B"/>
                </a:solidFill>
                <a:latin typeface="Segoe UI"/>
                <a:ea typeface="맑은 고딕"/>
                <a:cs typeface="맑은 고딕"/>
              </a:rPr>
              <a:t>–  48 GB HBM3, 1.5 TB/s</a:t>
            </a:r>
          </a:p>
          <a:p>
            <a:pPr algn="l">
              <a:lnSpc>
                <a:spcPct val="118000"/>
              </a:lnSpc>
              <a:spcBef>
                <a:spcPts val="200"/>
              </a:spcBef>
              <a:spcAft>
                <a:spcPts val="100"/>
              </a:spcAft>
            </a:pPr>
            <a:r>
              <a:rPr sz="1580" b="0" i="0">
                <a:solidFill>
                  <a:srgbClr val="2C3A4B"/>
                </a:solidFill>
                <a:latin typeface="Segoe UI"/>
                <a:ea typeface="맑은 고딕"/>
                <a:cs typeface="맑은 고딕"/>
              </a:rPr>
              <a:t>–  150 W TDP</a:t>
            </a:r>
          </a:p>
          <a:p>
            <a:pPr algn="l">
              <a:lnSpc>
                <a:spcPct val="118000"/>
              </a:lnSpc>
              <a:spcBef>
                <a:spcPts val="200"/>
              </a:spcBef>
              <a:spcAft>
                <a:spcPts val="100"/>
              </a:spcAft>
            </a:pPr>
            <a:r>
              <a:rPr sz="1580" b="0" i="0">
                <a:solidFill>
                  <a:srgbClr val="2C3A4B"/>
                </a:solidFill>
                <a:latin typeface="Segoe UI"/>
                <a:ea typeface="맑은 고딕"/>
                <a:cs typeface="맑은 고딕"/>
              </a:rPr>
              <a:t>–  칩 하나에 PE 8개 (III절)</a:t>
            </a:r>
          </a:p>
          <a:p>
            <a:pPr algn="l">
              <a:lnSpc>
                <a:spcPct val="118000"/>
              </a:lnSpc>
              <a:spcBef>
                <a:spcPts val="200"/>
              </a:spcBef>
              <a:spcAft>
                <a:spcPts val="100"/>
              </a:spcAft>
            </a:pPr>
            <a:r>
              <a:rPr sz="1580" b="1" i="0">
                <a:solidFill>
                  <a:srgbClr val="2C3A4B"/>
                </a:solidFill>
                <a:latin typeface="Segoe UI"/>
                <a:ea typeface="맑은 고딕"/>
                <a:cs typeface="맑은 고딕"/>
              </a:rPr>
              <a:t>–  제품명(RNGD)은 논문 본문에 등장하지 않는다</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우리 서버의 사정 (논문 밖 정보)</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우리 서버에 장착된 RNGD 가 바로 이 칩이다</a:t>
            </a:r>
          </a:p>
          <a:p>
            <a:pPr algn="l">
              <a:lnSpc>
                <a:spcPct val="118000"/>
              </a:lnSpc>
              <a:spcBef>
                <a:spcPts val="200"/>
              </a:spcBef>
              <a:spcAft>
                <a:spcPts val="100"/>
              </a:spcAft>
            </a:pPr>
            <a:r>
              <a:rPr sz="1780" b="0" i="0">
                <a:solidFill>
                  <a:srgbClr val="2C3A4B"/>
                </a:solidFill>
                <a:latin typeface="Segoe UI"/>
                <a:ea typeface="맑은 고딕"/>
                <a:cs typeface="맑은 고딕"/>
              </a:rPr>
              <a:t>–  RNGD 4장 = PE 8 × 4 = 32 PE</a:t>
            </a:r>
          </a:p>
          <a:p>
            <a:pPr algn="l">
              <a:lnSpc>
                <a:spcPct val="118000"/>
              </a:lnSpc>
              <a:spcBef>
                <a:spcPts val="200"/>
              </a:spcBef>
              <a:spcAft>
                <a:spcPts val="100"/>
              </a:spcAft>
            </a:pPr>
            <a:r>
              <a:rPr sz="1780" b="0" i="0">
                <a:solidFill>
                  <a:srgbClr val="2C3A4B"/>
                </a:solidFill>
                <a:latin typeface="Segoe UI"/>
                <a:ea typeface="맑은 고딕"/>
                <a:cs typeface="맑은 고딕"/>
              </a:rPr>
              <a:t>–  HBM 48 GB × 4 ≈ 190 GiB 대역</a:t>
            </a:r>
          </a:p>
          <a:p>
            <a:pPr algn="l">
              <a:lnSpc>
                <a:spcPct val="118000"/>
              </a:lnSpc>
              <a:spcBef>
                <a:spcPts val="600"/>
              </a:spcBef>
              <a:spcAft>
                <a:spcPts val="200"/>
              </a:spcAft>
            </a:pPr>
            <a:r>
              <a:rPr sz="1900" b="1" i="0">
                <a:solidFill>
                  <a:srgbClr val="083F80"/>
                </a:solidFill>
                <a:latin typeface="Segoe UI"/>
                <a:ea typeface="맑은 고딕"/>
                <a:cs typeface="맑은 고딕"/>
              </a:rPr>
              <a:t>▪  즉 이 논문은 남의 칩 설명서가 아니라, 우리가 매일 돌리는 하드웨어의 1차 자료다</a:t>
            </a:r>
          </a:p>
          <a:p>
            <a:pPr algn="l">
              <a:lnSpc>
                <a:spcPct val="118000"/>
              </a:lnSpc>
              <a:spcBef>
                <a:spcPts val="200"/>
              </a:spcBef>
              <a:spcAft>
                <a:spcPts val="100"/>
              </a:spcAft>
            </a:pPr>
            <a:r>
              <a:rPr sz="1780" b="0" i="0">
                <a:solidFill>
                  <a:srgbClr val="2C3A4B"/>
                </a:solidFill>
                <a:latin typeface="Segoe UI"/>
                <a:ea typeface="맑은 고딕"/>
                <a:cs typeface="맑은 고딕"/>
              </a:rPr>
              <a:t>–  주의: 오른쪽 항목은 우리 장비 실측·운영 정보이지 논문에 적힌 내용이 아니다</a:t>
            </a:r>
          </a:p>
          <a:p>
            <a:pPr algn="l">
              <a:lnSpc>
                <a:spcPct val="118000"/>
              </a:lnSpc>
              <a:spcBef>
                <a:spcPts val="200"/>
              </a:spcBef>
              <a:spcAft>
                <a:spcPts val="100"/>
              </a:spcAft>
            </a:pPr>
            <a:r>
              <a:rPr sz="1780" b="0" i="0">
                <a:solidFill>
                  <a:srgbClr val="2C3A4B"/>
                </a:solidFill>
                <a:latin typeface="Segoe UI"/>
                <a:ea typeface="맑은 고딕"/>
                <a:cs typeface="맑은 고딕"/>
              </a:rPr>
              <a:t>–  논문 숫자와 우리 장비 구성이 정확히 맞아떨어진다는 사실만 확인해 둔다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이 논문을 읽는다는 것은 우리 서버 안의 실물 칩의 설계 의도를 읽는다는 뜻이다.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논문 구조 지도 — 8개 절</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a:t>
            </a:r>
          </a:p>
        </p:txBody>
      </p:sp>
      <p:graphicFrame>
        <p:nvGraphicFramePr>
          <p:cNvPr id="8" name="Table 7"/>
          <p:cNvGraphicFramePr>
            <a:graphicFrameLocks noGrp="1"/>
          </p:cNvGraphicFramePr>
          <p:nvPr/>
        </p:nvGraphicFramePr>
        <p:xfrm>
          <a:off x="566928" y="1517904"/>
          <a:ext cx="11057839" cy="3456432"/>
        </p:xfrm>
        <a:graphic>
          <a:graphicData uri="http://schemas.openxmlformats.org/drawingml/2006/table">
            <a:tbl>
              <a:tblPr firstRow="1" bandRow="1">
                <a:tableStyleId>{5C22544A-7EE6-4342-B048-85BDC9FD1C3A}</a:tableStyleId>
              </a:tblPr>
              <a:tblGrid>
                <a:gridCol w="1036142"/>
                <a:gridCol w="2264790"/>
                <a:gridCol w="2661129"/>
                <a:gridCol w="5095778"/>
              </a:tblGrid>
              <a:tr h="384048">
                <a:tc>
                  <a:txBody>
                    <a:bodyPr wrap="square"/>
                    <a:lstStyle/>
                    <a:p>
                      <a:r>
                        <a:rPr sz="900" b="1" i="0">
                          <a:solidFill>
                            <a:srgbClr val="FFFFFF"/>
                          </a:solidFill>
                          <a:latin typeface="Segoe UI"/>
                          <a:ea typeface="맑은 고딕"/>
                          <a:cs typeface="맑은 고딕"/>
                        </a:rPr>
                        <a:t>절</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제목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다루는 것</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하위 절</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I</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INTRODUCTION</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왜 행렬곱이 아니라 텐서 축약인가 (이 부의 담당)</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II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PRELIMINARIES</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low-level einsum 표기법의 정의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 Lowered Shape / B. Tactics</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III</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SYSTEM-ON-CHIP (SOC)</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칩 전체 구조, PE, Tensor Unit</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 Processing Element / B. Tensor Unit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IV</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MICRO-ARCHITECTURE</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slice 내부 부품들의 상세 설계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 Data Memory / B. Fetch Unit / C. Contraction Engine / D. Vector Engine / E. Transpose Engine / F. Commit Unit</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V</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PROGRAMMING INTERFACE AND SOFTWARE STACK</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프로그래밍 모델과 컴파일러</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 Programming Interface / B. Various Tactics / C. End-to-End Compiler / D. Low-Level API</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VI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CASE STUDY: RUNNING THE LLAMA-2 7B MODEL</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실제 모델 실행과 성능 분석</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 Embedding Layer / B. Attention Layer / C. Feed Forward / D. Performance Analysis</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VII</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LESSONS LEARNED</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칩 개발에서 얻은 교훈</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(소제목 4개, 번호 없음)</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VIII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CONCLUSION</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결론</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II가 언어를 정의하고, III·IV가 하드웨어를, V가 소프트웨어를, VI가 실증을 맡는다.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논문 구조 지도 — 그림 15개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a:t>
            </a:r>
          </a:p>
        </p:txBody>
      </p:sp>
      <p:graphicFrame>
        <p:nvGraphicFramePr>
          <p:cNvPr id="8" name="Table 7"/>
          <p:cNvGraphicFramePr>
            <a:graphicFrameLocks noGrp="1"/>
          </p:cNvGraphicFramePr>
          <p:nvPr/>
        </p:nvGraphicFramePr>
        <p:xfrm>
          <a:off x="566928" y="1517904"/>
          <a:ext cx="11057839" cy="4041648"/>
        </p:xfrm>
        <a:graphic>
          <a:graphicData uri="http://schemas.openxmlformats.org/drawingml/2006/table">
            <a:tbl>
              <a:tblPr firstRow="1" bandRow="1">
                <a:tableStyleId>{5C22544A-7EE6-4342-B048-85BDC9FD1C3A}</a:tableStyleId>
              </a:tblPr>
              <a:tblGrid>
                <a:gridCol w="1072148"/>
                <a:gridCol w="7462990"/>
                <a:gridCol w="2522701"/>
              </a:tblGrid>
              <a:tr h="310896">
                <a:tc>
                  <a:txBody>
                    <a:bodyPr wrap="square"/>
                    <a:lstStyle/>
                    <a:p>
                      <a:r>
                        <a:rPr sz="900" b="1" i="0">
                          <a:solidFill>
                            <a:srgbClr val="FFFFFF"/>
                          </a:solidFill>
                          <a:latin typeface="Segoe UI"/>
                          <a:ea typeface="맑은 고딕"/>
                          <a:cs typeface="맑은 고딕"/>
                        </a:rPr>
                        <a:t>그림</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내용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등장 절</a:t>
                      </a:r>
                    </a:p>
                  </a:txBody>
                  <a:tcPr marL="73152" marR="73152" marT="27432" marB="27432">
                    <a:solidFill>
                      <a:srgbClr val="0B5FC0"/>
                    </a:solidFill>
                  </a:tcPr>
                </a:tc>
              </a:tr>
              <a:tr h="310896">
                <a:tc>
                  <a:txBody>
                    <a:bodyPr wrap="square"/>
                    <a:lstStyle/>
                    <a:p>
                      <a:r>
                        <a:rPr sz="900" b="0" i="0">
                          <a:solidFill>
                            <a:srgbClr val="16202C"/>
                          </a:solidFill>
                          <a:latin typeface="Segoe UI"/>
                          <a:ea typeface="맑은 고딕"/>
                          <a:cs typeface="맑은 고딕"/>
                        </a:rPr>
                        <a:t>Fig. 1</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텐서(b × l × e)의 lowered shape 예시 세 가지</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II</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SoC 블록도(a)와 다이 사진(b)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III</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Fig. 3</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slice 8개로 구성된 TCP의 processing element</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III (서론에서 미리 참조)</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4</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slice 두 개와 그 컨텍스트 (main / sub)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III</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Fig. 5</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fetch network</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IV</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6</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contraction engine</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IV</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Fig. 7</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vector engine</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IV</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8</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축약 ble,ef 에 대한 lowered shape 와 tactic 의 세 가지 예</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V</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Fig. 9</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저수준 컴파일러 IR (intermediate representation)</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V</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10</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attention layer 의 QK^T 계산 tactic, 즉 HQD, HKD → HQK</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VI (서론에서 미리 참조)</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Fig. 11</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prefill 단계의 지연시간(a)과 활용률(b)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VI</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Fig. 12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decode 단계의 지연시간(a)(b)과 활용률(c)(d), 시퀀스 길이·배치 크기 변화</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VI</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서론이 미리 가리키는 그림은 Fig. 3(PE와 slice)과 Fig. 10(attention의 head별 slice 배치) 둘뿐이다.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논문 구조 지도 — 그림 15개 (계속 2)</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a:t>
            </a:r>
          </a:p>
        </p:txBody>
      </p:sp>
      <p:graphicFrame>
        <p:nvGraphicFramePr>
          <p:cNvPr id="8" name="Table 7"/>
          <p:cNvGraphicFramePr>
            <a:graphicFrameLocks noGrp="1"/>
          </p:cNvGraphicFramePr>
          <p:nvPr/>
        </p:nvGraphicFramePr>
        <p:xfrm>
          <a:off x="566928" y="1517904"/>
          <a:ext cx="11057839" cy="1536192"/>
        </p:xfrm>
        <a:graphic>
          <a:graphicData uri="http://schemas.openxmlformats.org/drawingml/2006/table">
            <a:tbl>
              <a:tblPr firstRow="1" bandRow="1">
                <a:tableStyleId>{5C22544A-7EE6-4342-B048-85BDC9FD1C3A}</a:tableStyleId>
              </a:tblPr>
              <a:tblGrid>
                <a:gridCol w="1083557"/>
                <a:gridCol w="8890725"/>
                <a:gridCol w="1083557"/>
              </a:tblGrid>
              <a:tr h="384048">
                <a:tc>
                  <a:txBody>
                    <a:bodyPr wrap="square"/>
                    <a:lstStyle/>
                    <a:p>
                      <a:r>
                        <a:rPr sz="1000" b="1" i="0">
                          <a:solidFill>
                            <a:srgbClr val="FFFFFF"/>
                          </a:solidFill>
                          <a:latin typeface="Segoe UI"/>
                          <a:ea typeface="맑은 고딕"/>
                          <a:cs typeface="맑은 고딕"/>
                        </a:rPr>
                        <a:t>그림</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내용</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등장 절</a:t>
                      </a:r>
                    </a:p>
                  </a:txBody>
                  <a:tcPr marL="73152" marR="73152" marT="27432" marB="27432">
                    <a:solidFill>
                      <a:srgbClr val="0B5FC0"/>
                    </a:solidFill>
                  </a:tcPr>
                </a:tc>
              </a:tr>
              <a:tr h="384048">
                <a:tc>
                  <a:txBody>
                    <a:bodyPr wrap="square"/>
                    <a:lstStyle/>
                    <a:p>
                      <a:r>
                        <a:rPr sz="1000" b="0" i="0">
                          <a:solidFill>
                            <a:srgbClr val="16202C"/>
                          </a:solidFill>
                          <a:latin typeface="Segoe UI"/>
                          <a:ea typeface="맑은 고딕"/>
                          <a:cs typeface="맑은 고딕"/>
                        </a:rPr>
                        <a:t>Fig. 13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단일 decoder block 의 TU·TDMA 활동 트레이스 (B=1, L=128 및 2048)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VI</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Fig. 14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성능 대 소비전력</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VI</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Fig. 15</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최적 구성과 비효율 구성의 slice 전력 분해</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VI</a:t>
                      </a:r>
                    </a:p>
                  </a:txBody>
                  <a:tcPr marL="73152" marR="73152"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논문 구조 지도 — 표 2개와 참고문헌</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TABLE I: Characteristics of TCP — III절</a:t>
            </a:r>
          </a:p>
          <a:p>
            <a:pPr algn="l">
              <a:lnSpc>
                <a:spcPct val="118000"/>
              </a:lnSpc>
              <a:spcBef>
                <a:spcPts val="200"/>
              </a:spcBef>
              <a:spcAft>
                <a:spcPts val="100"/>
              </a:spcAft>
            </a:pPr>
            <a:r>
              <a:rPr sz="1280" b="0" i="0">
                <a:solidFill>
                  <a:srgbClr val="2C3A4B"/>
                </a:solidFill>
                <a:latin typeface="Segoe UI"/>
                <a:ea typeface="맑은 고딕"/>
                <a:cs typeface="맑은 고딕"/>
              </a:rPr>
              <a:t>–  공정, 동작 주파수, 다이 크기, TDP, DRAM, 온칩 SRAM, 호스트 연결, MAC 성능, vector engine 사양을 담은 칩 제원표</a:t>
            </a:r>
          </a:p>
          <a:p>
            <a:pPr algn="l">
              <a:lnSpc>
                <a:spcPct val="118000"/>
              </a:lnSpc>
              <a:spcBef>
                <a:spcPts val="600"/>
              </a:spcBef>
              <a:spcAft>
                <a:spcPts val="200"/>
              </a:spcAft>
            </a:pPr>
            <a:r>
              <a:rPr sz="1400" b="1" i="0">
                <a:solidFill>
                  <a:srgbClr val="083F80"/>
                </a:solidFill>
                <a:latin typeface="Segoe UI"/>
                <a:ea typeface="맑은 고딕"/>
                <a:cs typeface="맑은 고딕"/>
              </a:rPr>
              <a:t>▪  TABLE II: LLaMA-2 7B latency and throughput comparison — VI절</a:t>
            </a:r>
          </a:p>
          <a:p>
            <a:pPr algn="l">
              <a:lnSpc>
                <a:spcPct val="118000"/>
              </a:lnSpc>
              <a:spcBef>
                <a:spcPts val="200"/>
              </a:spcBef>
              <a:spcAft>
                <a:spcPts val="100"/>
              </a:spcAft>
            </a:pPr>
            <a:r>
              <a:rPr sz="1280" b="0" i="0">
                <a:solidFill>
                  <a:srgbClr val="2C3A4B"/>
                </a:solidFill>
                <a:latin typeface="Segoe UI"/>
                <a:ea typeface="맑은 고딕"/>
                <a:cs typeface="맑은 고딕"/>
              </a:rPr>
              <a:t>–  캡션 그대로: "B stands for batch size, IL (OL) stands for input (output) sequence length. (* without sparsity)"</a:t>
            </a:r>
          </a:p>
          <a:p>
            <a:pPr algn="l">
              <a:lnSpc>
                <a:spcPct val="118000"/>
              </a:lnSpc>
              <a:spcBef>
                <a:spcPts val="200"/>
              </a:spcBef>
              <a:spcAft>
                <a:spcPts val="100"/>
              </a:spcAft>
            </a:pPr>
            <a:r>
              <a:rPr sz="1280" b="0" i="0">
                <a:solidFill>
                  <a:srgbClr val="2C3A4B"/>
                </a:solidFill>
                <a:latin typeface="Segoe UI"/>
                <a:ea typeface="맑은 고딕"/>
                <a:cs typeface="맑은 고딕"/>
              </a:rPr>
              <a:t>–  즉 B = 배치 크기, IL = 입력 시퀀스 길이, OL = 출력 시퀀스 길이, 별표(*)는 sparsity(희소성) 없이 측정한 값이라는 뜻이다</a:t>
            </a:r>
          </a:p>
          <a:p>
            <a:pPr algn="l">
              <a:lnSpc>
                <a:spcPct val="118000"/>
              </a:lnSpc>
              <a:spcBef>
                <a:spcPts val="600"/>
              </a:spcBef>
              <a:spcAft>
                <a:spcPts val="200"/>
              </a:spcAft>
            </a:pPr>
            <a:r>
              <a:rPr sz="1400" b="1" i="0">
                <a:solidFill>
                  <a:srgbClr val="083F80"/>
                </a:solidFill>
                <a:latin typeface="Segoe UI"/>
                <a:ea typeface="맑은 고딕"/>
                <a:cs typeface="맑은 고딕"/>
              </a:rPr>
              <a:t>▪  참고문헌 25편</a:t>
            </a:r>
          </a:p>
          <a:p>
            <a:pPr algn="l">
              <a:lnSpc>
                <a:spcPct val="118000"/>
              </a:lnSpc>
              <a:spcBef>
                <a:spcPts val="200"/>
              </a:spcBef>
              <a:spcAft>
                <a:spcPts val="100"/>
              </a:spcAft>
            </a:pPr>
            <a:r>
              <a:rPr sz="1280" b="0" i="0">
                <a:solidFill>
                  <a:srgbClr val="2C3A4B"/>
                </a:solidFill>
                <a:latin typeface="Segoe UI"/>
                <a:ea typeface="맑은 고딕"/>
                <a:cs typeface="맑은 고딕"/>
              </a:rPr>
              <a:t>–  서론이 직접 인용하는 것: [2] Qualcomm Cloud AI 100, [9] Google TPU (CACM 2020), [10] Graphcore, [12] Habana Gaudi — "주요 상용 AI 가속기"의 예</a:t>
            </a:r>
          </a:p>
          <a:p>
            <a:pPr algn="l">
              <a:lnSpc>
                <a:spcPct val="118000"/>
              </a:lnSpc>
              <a:spcBef>
                <a:spcPts val="200"/>
              </a:spcBef>
              <a:spcAft>
                <a:spcPts val="100"/>
              </a:spcAft>
            </a:pPr>
            <a:r>
              <a:rPr sz="1280" b="0" i="0">
                <a:solidFill>
                  <a:srgbClr val="2C3A4B"/>
                </a:solidFill>
                <a:latin typeface="Segoe UI"/>
                <a:ea typeface="맑은 고딕"/>
                <a:cs typeface="맑은 고딕"/>
              </a:rPr>
              <a:t>–  [7] TPU v4 (ISCA 2023) — 재사용 범위 문제와 wimpy/brawny core 논거의 출처</a:t>
            </a:r>
          </a:p>
          <a:p>
            <a:pPr algn="l">
              <a:lnSpc>
                <a:spcPct val="118000"/>
              </a:lnSpc>
              <a:spcBef>
                <a:spcPts val="200"/>
              </a:spcBef>
              <a:spcAft>
                <a:spcPts val="100"/>
              </a:spcAft>
            </a:pPr>
            <a:r>
              <a:rPr sz="1280" b="0" i="0">
                <a:solidFill>
                  <a:srgbClr val="2C3A4B"/>
                </a:solidFill>
                <a:latin typeface="Segoe UI"/>
                <a:ea typeface="맑은 고딕"/>
                <a:cs typeface="맑은 고딕"/>
              </a:rPr>
              <a:t>–  [3] Dally 외, Domain-specific hardware accelerators (CACM 2020), [23] Wang 외, TPU·GPU·CPU 벤치마킹, [25] Zhang 외, full-stack search (ASPLOS 2022) — 큰 행렬 유닛의 활용률 문제 근거</a:t>
            </a:r>
          </a:p>
          <a:p>
            <a:pPr algn="l">
              <a:lnSpc>
                <a:spcPct val="118000"/>
              </a:lnSpc>
              <a:spcBef>
                <a:spcPts val="200"/>
              </a:spcBef>
              <a:spcAft>
                <a:spcPts val="100"/>
              </a:spcAft>
            </a:pPr>
            <a:r>
              <a:rPr sz="1280" b="0" i="0">
                <a:solidFill>
                  <a:srgbClr val="2C3A4B"/>
                </a:solidFill>
                <a:latin typeface="Segoe UI"/>
                <a:ea typeface="맑은 고딕"/>
                <a:cs typeface="맑은 고딕"/>
              </a:rPr>
              <a:t>–  [21] Vaswani 외, Attention is all you need — Transformer</a:t>
            </a:r>
          </a:p>
          <a:p>
            <a:pPr algn="l">
              <a:lnSpc>
                <a:spcPct val="118000"/>
              </a:lnSpc>
              <a:spcBef>
                <a:spcPts val="200"/>
              </a:spcBef>
              <a:spcAft>
                <a:spcPts val="100"/>
              </a:spcAft>
            </a:pPr>
            <a:r>
              <a:rPr sz="1280" b="0" i="0">
                <a:solidFill>
                  <a:srgbClr val="2C3A4B"/>
                </a:solidFill>
                <a:latin typeface="Segoe UI"/>
                <a:ea typeface="맑은 고딕"/>
                <a:cs typeface="맑은 고딕"/>
              </a:rPr>
              <a:t>–  그 밖에 [1] TensorFlow, [4] NumPy, [16] PyTorch, [14] NVIDIA MIG, [15] HBM3, [18] Sze 외 데이터 재사용 분류, [20] LLaMA 2, [19] Triton, [24] GSPMD 등</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서론의 주장 하나하나에 인용이 붙어 있다. 그 인용을 따라가면 논문이 무엇과 싸우고 있는지가 보인다.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읽는 법 — 용어의 계층부터 잡는다</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a:t>
            </a:r>
          </a:p>
        </p:txBody>
      </p:sp>
      <p:grpSp>
        <p:nvGrpSpPr>
          <p:cNvPr id="8" name="도해 A1#06"/>
          <p:cNvGrpSpPr/>
          <p:nvPr/>
        </p:nvGrpSpPr>
        <p:grpSpPr>
          <a:xfrm>
            <a:off x="1071561" y="1207008"/>
            <a:ext cx="10048574" cy="4334256"/>
            <a:chOff x="1071561" y="1207008"/>
            <a:chExt cx="10048574" cy="4334256"/>
          </a:xfrm>
        </p:grpSpPr>
        <p:sp>
          <p:nvSpPr>
            <p:cNvPr id="9" name="Rounded Rectangle 8"/>
            <p:cNvSpPr/>
            <p:nvPr/>
          </p:nvSpPr>
          <p:spPr>
            <a:xfrm>
              <a:off x="1071561" y="1207008"/>
              <a:ext cx="6576856" cy="4334256"/>
            </a:xfrm>
            <a:prstGeom prst="roundRect">
              <a:avLst>
                <a:gd name="adj" fmla="val 2985"/>
              </a:avLst>
            </a:prstGeom>
            <a:solidFill>
              <a:srgbClr val="F4F8FD"/>
            </a:solidFill>
            <a:ln w="2587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4068" y="1312238"/>
              <a:ext cx="1923181" cy="218567"/>
            </a:xfrm>
            <a:prstGeom prst="rect">
              <a:avLst/>
            </a:prstGeom>
            <a:noFill/>
          </p:spPr>
          <p:txBody>
            <a:bodyPr wrap="none" anchor="ctr" lIns="0" rIns="0" tIns="0" bIns="0">
              <a:noAutofit/>
            </a:bodyPr>
            <a:lstStyle/>
            <a:p>
              <a:pPr algn="l"/>
              <a:r>
                <a:rPr sz="1190" b="1">
                  <a:solidFill>
                    <a:srgbClr val="083F80"/>
                  </a:solidFill>
                  <a:latin typeface="맑은 고딕"/>
                  <a:ea typeface="맑은 고딕"/>
                  <a:cs typeface="맑은 고딕"/>
                </a:rPr>
                <a:t>① Chip / SoC — TCP 칩 1장</a:t>
              </a:r>
            </a:p>
          </p:txBody>
        </p:sp>
        <p:sp>
          <p:nvSpPr>
            <p:cNvPr id="11" name="Rounded Rectangle 10"/>
            <p:cNvSpPr/>
            <p:nvPr/>
          </p:nvSpPr>
          <p:spPr>
            <a:xfrm>
              <a:off x="1330322" y="1616714"/>
              <a:ext cx="6059333" cy="3773606"/>
            </a:xfrm>
            <a:prstGeom prst="roundRect">
              <a:avLst>
                <a:gd name="adj" fmla="val 2857"/>
              </a:avLst>
            </a:prstGeom>
            <a:solidFill>
              <a:srgbClr val="E3EEFB"/>
            </a:solidFill>
            <a:ln w="2156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2830" y="1706633"/>
              <a:ext cx="2679055" cy="210761"/>
            </a:xfrm>
            <a:prstGeom prst="rect">
              <a:avLst/>
            </a:prstGeom>
            <a:noFill/>
          </p:spPr>
          <p:txBody>
            <a:bodyPr wrap="none" anchor="ctr" lIns="0" rIns="0" tIns="0" bIns="0">
              <a:noAutofit/>
            </a:bodyPr>
            <a:lstStyle/>
            <a:p>
              <a:pPr algn="l"/>
              <a:r>
                <a:rPr sz="1150" b="1">
                  <a:solidFill>
                    <a:srgbClr val="083F80"/>
                  </a:solidFill>
                  <a:latin typeface="맑은 고딕"/>
                  <a:ea typeface="맑은 고딕"/>
                  <a:cs typeface="맑은 고딕"/>
                </a:rPr>
                <a:t>② PE (processing element) — 칩당 8개</a:t>
              </a:r>
            </a:p>
          </p:txBody>
        </p:sp>
        <p:sp>
          <p:nvSpPr>
            <p:cNvPr id="13" name="Rounded Rectangle 12"/>
            <p:cNvSpPr/>
            <p:nvPr/>
          </p:nvSpPr>
          <p:spPr>
            <a:xfrm>
              <a:off x="1589084" y="2004856"/>
              <a:ext cx="5541810" cy="3212956"/>
            </a:xfrm>
            <a:prstGeom prst="roundRect">
              <a:avLst>
                <a:gd name="adj" fmla="val 3020"/>
              </a:avLst>
            </a:prstGeom>
            <a:solidFill>
              <a:srgbClr val="DCEBF9"/>
            </a:solidFill>
            <a:ln w="194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61592" y="2101029"/>
              <a:ext cx="2089262" cy="202955"/>
            </a:xfrm>
            <a:prstGeom prst="rect">
              <a:avLst/>
            </a:prstGeom>
            <a:noFill/>
          </p:spPr>
          <p:txBody>
            <a:bodyPr wrap="none" anchor="ctr" lIns="0" rIns="0" tIns="0" bIns="0">
              <a:noAutofit/>
            </a:bodyPr>
            <a:lstStyle/>
            <a:p>
              <a:pPr algn="l"/>
              <a:r>
                <a:rPr sz="1100" b="1">
                  <a:solidFill>
                    <a:srgbClr val="083F80"/>
                  </a:solidFill>
                  <a:latin typeface="맑은 고딕"/>
                  <a:ea typeface="맑은 고딕"/>
                  <a:cs typeface="맑은 고딕"/>
                </a:rPr>
                <a:t>③ TU (Tensor Unit) — PE당 1개</a:t>
              </a:r>
            </a:p>
          </p:txBody>
        </p:sp>
        <p:sp>
          <p:nvSpPr>
            <p:cNvPr id="15" name="Rounded Rectangle 14"/>
            <p:cNvSpPr/>
            <p:nvPr/>
          </p:nvSpPr>
          <p:spPr>
            <a:xfrm>
              <a:off x="1847845" y="2392998"/>
              <a:ext cx="5024287" cy="2652306"/>
            </a:xfrm>
            <a:prstGeom prst="roundRect">
              <a:avLst>
                <a:gd name="adj" fmla="val 3252"/>
              </a:avLst>
            </a:prstGeom>
            <a:solidFill>
              <a:srgbClr val="CBE0F7"/>
            </a:solidFill>
            <a:ln w="1725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20353" y="2495425"/>
              <a:ext cx="3548537" cy="195149"/>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④ slice — TU당 64+1개 (SRAM·fetch·op·commit 한 벌)</a:t>
              </a:r>
            </a:p>
          </p:txBody>
        </p:sp>
        <p:sp>
          <p:nvSpPr>
            <p:cNvPr id="17" name="Rounded Rectangle 16"/>
            <p:cNvSpPr/>
            <p:nvPr/>
          </p:nvSpPr>
          <p:spPr>
            <a:xfrm>
              <a:off x="2106607" y="2781141"/>
              <a:ext cx="4506764" cy="2113219"/>
            </a:xfrm>
            <a:prstGeom prst="roundRect">
              <a:avLst>
                <a:gd name="adj" fmla="val 4081"/>
              </a:avLst>
            </a:prstGeom>
            <a:solidFill>
              <a:srgbClr val="B8D4F3"/>
            </a:solidFill>
            <a:ln w="1725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79115" y="2883567"/>
              <a:ext cx="2558235" cy="195149"/>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⑤ operation unit — slice 안의 연산기 3종</a:t>
              </a:r>
            </a:p>
          </p:txBody>
        </p:sp>
        <p:sp>
          <p:nvSpPr>
            <p:cNvPr id="19" name="Rounded Rectangle 18"/>
            <p:cNvSpPr/>
            <p:nvPr/>
          </p:nvSpPr>
          <p:spPr>
            <a:xfrm>
              <a:off x="2279115" y="3169283"/>
              <a:ext cx="4161748" cy="474396"/>
            </a:xfrm>
            <a:prstGeom prst="roundRect">
              <a:avLst>
                <a:gd name="adj" fmla="val 13636"/>
              </a:avLst>
            </a:prstGeom>
            <a:solidFill>
              <a:srgbClr val="F7FAFD"/>
            </a:solidFill>
            <a:ln w="1401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0059" y="3241089"/>
              <a:ext cx="2149489" cy="179537"/>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CE — Contraction Engine (축약 엔진)</a:t>
              </a:r>
            </a:p>
          </p:txBody>
        </p:sp>
        <p:sp>
          <p:nvSpPr>
            <p:cNvPr id="21" name="TextBox 20"/>
            <p:cNvSpPr txBox="1"/>
            <p:nvPr/>
          </p:nvSpPr>
          <p:spPr>
            <a:xfrm>
              <a:off x="2430059" y="3445640"/>
              <a:ext cx="2228284" cy="152997"/>
            </a:xfrm>
            <a:prstGeom prst="rect">
              <a:avLst/>
            </a:prstGeom>
            <a:noFill/>
          </p:spPr>
          <p:txBody>
            <a:bodyPr wrap="none" anchor="ctr" lIns="0" rIns="0" tIns="0" bIns="0">
              <a:noAutofit/>
            </a:bodyPr>
            <a:lstStyle/>
            <a:p>
              <a:pPr algn="l"/>
              <a:r>
                <a:rPr sz="830" b="0">
                  <a:solidFill>
                    <a:srgbClr val="5B6B7B"/>
                  </a:solidFill>
                  <a:latin typeface="맑은 고딕"/>
                  <a:ea typeface="맑은 고딕"/>
                  <a:cs typeface="맑은 고딕"/>
                </a:rPr>
                <a:t>곱해서 더한다 · 안에 DPE = dot-product engine</a:t>
              </a:r>
            </a:p>
          </p:txBody>
        </p:sp>
        <p:sp>
          <p:nvSpPr>
            <p:cNvPr id="22" name="Rounded Rectangle 21"/>
            <p:cNvSpPr/>
            <p:nvPr/>
          </p:nvSpPr>
          <p:spPr>
            <a:xfrm>
              <a:off x="2279115" y="3740715"/>
              <a:ext cx="4161748" cy="474396"/>
            </a:xfrm>
            <a:prstGeom prst="roundRect">
              <a:avLst>
                <a:gd name="adj" fmla="val 13636"/>
              </a:avLst>
            </a:prstGeom>
            <a:solidFill>
              <a:srgbClr val="F7FAFD"/>
            </a:solidFill>
            <a:ln w="1401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30059" y="3812521"/>
              <a:ext cx="1811617" cy="179537"/>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VE — Vector Engine (벡터 엔진)</a:t>
              </a:r>
            </a:p>
          </p:txBody>
        </p:sp>
        <p:sp>
          <p:nvSpPr>
            <p:cNvPr id="24" name="TextBox 23"/>
            <p:cNvSpPr txBox="1"/>
            <p:nvPr/>
          </p:nvSpPr>
          <p:spPr>
            <a:xfrm>
              <a:off x="2430059" y="4017072"/>
              <a:ext cx="1683179" cy="152997"/>
            </a:xfrm>
            <a:prstGeom prst="rect">
              <a:avLst/>
            </a:prstGeom>
            <a:noFill/>
          </p:spPr>
          <p:txBody>
            <a:bodyPr wrap="none" anchor="ctr" lIns="0" rIns="0" tIns="0" bIns="0">
              <a:noAutofit/>
            </a:bodyPr>
            <a:lstStyle/>
            <a:p>
              <a:pPr algn="l"/>
              <a:r>
                <a:rPr sz="830" b="0">
                  <a:solidFill>
                    <a:srgbClr val="5B6B7B"/>
                  </a:solidFill>
                  <a:latin typeface="맑은 고딕"/>
                  <a:ea typeface="맑은 고딕"/>
                  <a:cs typeface="맑은 고딕"/>
                </a:rPr>
                <a:t>원소 단위 연산 · 활성함수 · 정규화 등</a:t>
              </a:r>
            </a:p>
          </p:txBody>
        </p:sp>
        <p:sp>
          <p:nvSpPr>
            <p:cNvPr id="25" name="Rounded Rectangle 24"/>
            <p:cNvSpPr/>
            <p:nvPr/>
          </p:nvSpPr>
          <p:spPr>
            <a:xfrm>
              <a:off x="2279115" y="4312147"/>
              <a:ext cx="4161748" cy="474396"/>
            </a:xfrm>
            <a:prstGeom prst="roundRect">
              <a:avLst>
                <a:gd name="adj" fmla="val 13636"/>
              </a:avLst>
            </a:prstGeom>
            <a:solidFill>
              <a:srgbClr val="F7FAFD"/>
            </a:solidFill>
            <a:ln w="1401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30059" y="4383953"/>
              <a:ext cx="2046701" cy="179537"/>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TE — Transpose Engine (전치 엔진)</a:t>
              </a:r>
            </a:p>
          </p:txBody>
        </p:sp>
        <p:sp>
          <p:nvSpPr>
            <p:cNvPr id="27" name="TextBox 26"/>
            <p:cNvSpPr txBox="1"/>
            <p:nvPr/>
          </p:nvSpPr>
          <p:spPr>
            <a:xfrm>
              <a:off x="2430059" y="4588504"/>
              <a:ext cx="1735376" cy="152997"/>
            </a:xfrm>
            <a:prstGeom prst="rect">
              <a:avLst/>
            </a:prstGeom>
            <a:noFill/>
          </p:spPr>
          <p:txBody>
            <a:bodyPr wrap="none" anchor="ctr" lIns="0" rIns="0" tIns="0" bIns="0">
              <a:noAutofit/>
            </a:bodyPr>
            <a:lstStyle/>
            <a:p>
              <a:pPr algn="l"/>
              <a:r>
                <a:rPr sz="830" b="0">
                  <a:solidFill>
                    <a:srgbClr val="5B6B7B"/>
                  </a:solidFill>
                  <a:latin typeface="맑은 고딕"/>
                  <a:ea typeface="맑은 고딕"/>
                  <a:cs typeface="맑은 고딕"/>
                </a:rPr>
                <a:t>축 순서를 바꿔 축약 전후 배치를 맞춘다</a:t>
              </a:r>
            </a:p>
          </p:txBody>
        </p:sp>
        <p:sp>
          <p:nvSpPr>
            <p:cNvPr id="28" name="TextBox 27"/>
            <p:cNvSpPr txBox="1"/>
            <p:nvPr/>
          </p:nvSpPr>
          <p:spPr>
            <a:xfrm>
              <a:off x="7820925" y="1312238"/>
              <a:ext cx="1496008" cy="218567"/>
            </a:xfrm>
            <a:prstGeom prst="rect">
              <a:avLst/>
            </a:prstGeom>
            <a:noFill/>
          </p:spPr>
          <p:txBody>
            <a:bodyPr wrap="none" anchor="ctr" lIns="0" rIns="0" tIns="0" bIns="0">
              <a:noAutofit/>
            </a:bodyPr>
            <a:lstStyle/>
            <a:p>
              <a:pPr algn="l"/>
              <a:r>
                <a:rPr sz="1190" b="1">
                  <a:solidFill>
                    <a:srgbClr val="B45409"/>
                  </a:solidFill>
                  <a:latin typeface="맑은 고딕"/>
                  <a:ea typeface="맑은 고딕"/>
                  <a:cs typeface="맑은 고딕"/>
                </a:rPr>
                <a:t>소프트웨어 쪽 용어 2개</a:t>
              </a:r>
            </a:p>
          </p:txBody>
        </p:sp>
        <p:sp>
          <p:nvSpPr>
            <p:cNvPr id="29" name="Rounded Rectangle 28"/>
            <p:cNvSpPr/>
            <p:nvPr/>
          </p:nvSpPr>
          <p:spPr>
            <a:xfrm>
              <a:off x="7820925" y="1638277"/>
              <a:ext cx="3299210" cy="1638823"/>
            </a:xfrm>
            <a:prstGeom prst="roundRect">
              <a:avLst>
                <a:gd name="adj" fmla="val 5921"/>
              </a:avLst>
            </a:prstGeom>
            <a:solidFill>
              <a:srgbClr val="FFF7E6"/>
            </a:solidFill>
            <a:ln w="1940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996" y="1756014"/>
              <a:ext cx="1059068" cy="202955"/>
            </a:xfrm>
            <a:prstGeom prst="rect">
              <a:avLst/>
            </a:prstGeom>
            <a:noFill/>
          </p:spPr>
          <p:txBody>
            <a:bodyPr wrap="none" anchor="ctr" lIns="0" rIns="0" tIns="0" bIns="0">
              <a:noAutofit/>
            </a:bodyPr>
            <a:lstStyle/>
            <a:p>
              <a:pPr algn="l"/>
              <a:r>
                <a:rPr sz="1100" b="1">
                  <a:solidFill>
                    <a:srgbClr val="B45409"/>
                  </a:solidFill>
                  <a:latin typeface="맑은 고딕"/>
                  <a:ea typeface="맑은 고딕"/>
                  <a:cs typeface="맑은 고딕"/>
                </a:rPr>
                <a:t>lowered shape</a:t>
              </a:r>
            </a:p>
          </p:txBody>
        </p:sp>
        <p:sp>
          <p:nvSpPr>
            <p:cNvPr id="31" name="TextBox 30"/>
            <p:cNvSpPr txBox="1"/>
            <p:nvPr/>
          </p:nvSpPr>
          <p:spPr>
            <a:xfrm>
              <a:off x="8014996" y="2002915"/>
              <a:ext cx="1158346" cy="163925"/>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텐서를 어느 축으로 잘라</a:t>
              </a:r>
            </a:p>
          </p:txBody>
        </p:sp>
        <p:sp>
          <p:nvSpPr>
            <p:cNvPr id="32" name="TextBox 31"/>
            <p:cNvSpPr txBox="1"/>
            <p:nvPr/>
          </p:nvSpPr>
          <p:spPr>
            <a:xfrm>
              <a:off x="8014996" y="2175423"/>
              <a:ext cx="1338913" cy="163925"/>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어느 slice 에 올릴지 적은 것</a:t>
              </a:r>
            </a:p>
          </p:txBody>
        </p:sp>
        <p:sp>
          <p:nvSpPr>
            <p:cNvPr id="33" name="Rounded Rectangle 32"/>
            <p:cNvSpPr/>
            <p:nvPr/>
          </p:nvSpPr>
          <p:spPr>
            <a:xfrm>
              <a:off x="8014996" y="2457689"/>
              <a:ext cx="582213" cy="495960"/>
            </a:xfrm>
            <a:prstGeom prst="roundRect">
              <a:avLst>
                <a:gd name="adj" fmla="val 8695"/>
              </a:avLst>
            </a:prstGeom>
            <a:solidFill>
              <a:srgbClr val="FDEBD3"/>
            </a:solidFill>
            <a:ln w="1401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5643" y="2622002"/>
              <a:ext cx="260918" cy="171731"/>
            </a:xfrm>
            <a:prstGeom prst="rect">
              <a:avLst/>
            </a:prstGeom>
            <a:noFill/>
          </p:spPr>
          <p:txBody>
            <a:bodyPr wrap="none" anchor="ctr" lIns="0" rIns="0" tIns="0" bIns="0">
              <a:noAutofit/>
            </a:bodyPr>
            <a:lstStyle/>
            <a:p>
              <a:pPr algn="ctr"/>
              <a:r>
                <a:rPr sz="930" b="1">
                  <a:solidFill>
                    <a:srgbClr val="B45409"/>
                  </a:solidFill>
                  <a:latin typeface="맑은 고딕"/>
                  <a:ea typeface="맑은 고딕"/>
                  <a:cs typeface="맑은 고딕"/>
                </a:rPr>
                <a:t>텐서</a:t>
              </a:r>
            </a:p>
          </p:txBody>
        </p:sp>
        <p:cxnSp>
          <p:nvCxnSpPr>
            <p:cNvPr id="35" name="Connector 34"/>
            <p:cNvCxnSpPr/>
            <p:nvPr/>
          </p:nvCxnSpPr>
          <p:spPr>
            <a:xfrm>
              <a:off x="8640336" y="2705669"/>
              <a:ext cx="258762" cy="0"/>
            </a:xfrm>
            <a:prstGeom prst="line">
              <a:avLst/>
            </a:prstGeom>
            <a:ln w="19407">
              <a:solidFill>
                <a:srgbClr val="B45409"/>
              </a:solidFill>
            </a:ln>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8877534" y="2646369"/>
              <a:ext cx="129381" cy="118599"/>
            </a:xfrm>
            <a:custGeom>
              <a:avLst/>
              <a:gdLst/>
              <a:ahLst/>
              <a:cxnLst/>
              <a:rect l="l" t="t" r="r" b="b"/>
              <a:pathLst>
                <a:path w="129381" h="118599">
                  <a:moveTo>
                    <a:pt x="129381" y="59300"/>
                  </a:moveTo>
                  <a:lnTo>
                    <a:pt x="0" y="0"/>
                  </a:lnTo>
                  <a:lnTo>
                    <a:pt x="0" y="118599"/>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71605" y="2457689"/>
              <a:ext cx="431269" cy="495960"/>
            </a:xfrm>
            <a:prstGeom prst="roundRect">
              <a:avLst>
                <a:gd name="adj" fmla="val 7500"/>
              </a:avLst>
            </a:prstGeom>
            <a:solidFill>
              <a:srgbClr val="FBDCB2"/>
            </a:solidFill>
            <a:ln w="11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546002" y="2457689"/>
              <a:ext cx="431269" cy="495960"/>
            </a:xfrm>
            <a:prstGeom prst="roundRect">
              <a:avLst>
                <a:gd name="adj" fmla="val 7500"/>
              </a:avLst>
            </a:prstGeom>
            <a:solidFill>
              <a:srgbClr val="FBDCB2"/>
            </a:solidFill>
            <a:ln w="11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020398" y="2457689"/>
              <a:ext cx="431269" cy="495960"/>
            </a:xfrm>
            <a:prstGeom prst="roundRect">
              <a:avLst>
                <a:gd name="adj" fmla="val 7500"/>
              </a:avLst>
            </a:prstGeom>
            <a:solidFill>
              <a:srgbClr val="FBDCB2"/>
            </a:solidFill>
            <a:ln w="11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494794" y="2457689"/>
              <a:ext cx="431269" cy="495960"/>
            </a:xfrm>
            <a:prstGeom prst="roundRect">
              <a:avLst>
                <a:gd name="adj" fmla="val 7500"/>
              </a:avLst>
            </a:prstGeom>
            <a:solidFill>
              <a:srgbClr val="FBDCB2"/>
            </a:solidFill>
            <a:ln w="11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4884" y="3025153"/>
              <a:ext cx="1007900" cy="152997"/>
            </a:xfrm>
            <a:prstGeom prst="rect">
              <a:avLst/>
            </a:prstGeom>
            <a:noFill/>
          </p:spPr>
          <p:txBody>
            <a:bodyPr wrap="none" anchor="ctr" lIns="0" rIns="0" tIns="0" bIns="0">
              <a:noAutofit/>
            </a:bodyPr>
            <a:lstStyle/>
            <a:p>
              <a:pPr algn="ctr"/>
              <a:r>
                <a:rPr sz="830" b="0">
                  <a:solidFill>
                    <a:srgbClr val="5B6B7B"/>
                  </a:solidFill>
                  <a:latin typeface="맑은 고딕"/>
                  <a:ea typeface="맑은 고딕"/>
                  <a:cs typeface="맑은 고딕"/>
                </a:rPr>
                <a:t>slice 들에 나눠 싣는다</a:t>
              </a:r>
            </a:p>
          </p:txBody>
        </p:sp>
        <p:sp>
          <p:nvSpPr>
            <p:cNvPr id="42" name="Rounded Rectangle 41"/>
            <p:cNvSpPr/>
            <p:nvPr/>
          </p:nvSpPr>
          <p:spPr>
            <a:xfrm>
              <a:off x="7820925" y="3406481"/>
              <a:ext cx="3299210" cy="1638823"/>
            </a:xfrm>
            <a:prstGeom prst="roundRect">
              <a:avLst>
                <a:gd name="adj" fmla="val 5921"/>
              </a:avLst>
            </a:prstGeom>
            <a:solidFill>
              <a:srgbClr val="FFF7E6"/>
            </a:solidFill>
            <a:ln w="1940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14996" y="3524218"/>
              <a:ext cx="436746" cy="202955"/>
            </a:xfrm>
            <a:prstGeom prst="rect">
              <a:avLst/>
            </a:prstGeom>
            <a:noFill/>
          </p:spPr>
          <p:txBody>
            <a:bodyPr wrap="none" anchor="ctr" lIns="0" rIns="0" tIns="0" bIns="0">
              <a:noAutofit/>
            </a:bodyPr>
            <a:lstStyle/>
            <a:p>
              <a:pPr algn="l"/>
              <a:r>
                <a:rPr sz="1100" b="1">
                  <a:solidFill>
                    <a:srgbClr val="B45409"/>
                  </a:solidFill>
                  <a:latin typeface="맑은 고딕"/>
                  <a:ea typeface="맑은 고딕"/>
                  <a:cs typeface="맑은 고딕"/>
                </a:rPr>
                <a:t>tactic</a:t>
              </a:r>
            </a:p>
          </p:txBody>
        </p:sp>
        <p:sp>
          <p:nvSpPr>
            <p:cNvPr id="44" name="TextBox 43"/>
            <p:cNvSpPr txBox="1"/>
            <p:nvPr/>
          </p:nvSpPr>
          <p:spPr>
            <a:xfrm>
              <a:off x="8014996" y="3771119"/>
              <a:ext cx="1132987" cy="163925"/>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축을 바깥에서 안쪽으로</a:t>
              </a:r>
            </a:p>
          </p:txBody>
        </p:sp>
        <p:sp>
          <p:nvSpPr>
            <p:cNvPr id="45" name="TextBox 44"/>
            <p:cNvSpPr txBox="1"/>
            <p:nvPr/>
          </p:nvSpPr>
          <p:spPr>
            <a:xfrm>
              <a:off x="8014996" y="3943627"/>
              <a:ext cx="1468536" cy="163925"/>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어떤 순서로 도는지 (루프 순서)</a:t>
              </a:r>
            </a:p>
          </p:txBody>
        </p:sp>
        <p:sp>
          <p:nvSpPr>
            <p:cNvPr id="46" name="Rounded Rectangle 45"/>
            <p:cNvSpPr/>
            <p:nvPr/>
          </p:nvSpPr>
          <p:spPr>
            <a:xfrm>
              <a:off x="8014996" y="4204329"/>
              <a:ext cx="2932631" cy="733158"/>
            </a:xfrm>
            <a:prstGeom prst="roundRect">
              <a:avLst>
                <a:gd name="adj" fmla="val 8823"/>
              </a:avLst>
            </a:prstGeom>
            <a:solidFill>
              <a:srgbClr val="FDEBD3"/>
            </a:solidFill>
            <a:ln w="150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44376" y="4243489"/>
              <a:ext cx="324485" cy="152997"/>
            </a:xfrm>
            <a:prstGeom prst="rect">
              <a:avLst/>
            </a:prstGeom>
            <a:noFill/>
          </p:spPr>
          <p:txBody>
            <a:bodyPr wrap="none" anchor="ctr" lIns="0" rIns="0" tIns="0" bIns="0">
              <a:noAutofit/>
            </a:bodyPr>
            <a:lstStyle/>
            <a:p>
              <a:pPr algn="l"/>
              <a:r>
                <a:rPr sz="830" b="1">
                  <a:solidFill>
                    <a:srgbClr val="B45409"/>
                  </a:solidFill>
                  <a:latin typeface="맑은 고딕"/>
                  <a:ea typeface="맑은 고딕"/>
                  <a:cs typeface="맑은 고딕"/>
                </a:rPr>
                <a:t>바깥 b</a:t>
              </a:r>
            </a:p>
          </p:txBody>
        </p:sp>
        <p:sp>
          <p:nvSpPr>
            <p:cNvPr id="48" name="Rounded Rectangle 47"/>
            <p:cNvSpPr/>
            <p:nvPr/>
          </p:nvSpPr>
          <p:spPr>
            <a:xfrm>
              <a:off x="8360011" y="4419964"/>
              <a:ext cx="2285727" cy="474396"/>
            </a:xfrm>
            <a:prstGeom prst="roundRect">
              <a:avLst>
                <a:gd name="adj" fmla="val 11363"/>
              </a:avLst>
            </a:prstGeom>
            <a:solidFill>
              <a:srgbClr val="FBDCB2"/>
            </a:solidFill>
            <a:ln w="1293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89392" y="4459123"/>
              <a:ext cx="71321" cy="152997"/>
            </a:xfrm>
            <a:prstGeom prst="rect">
              <a:avLst/>
            </a:prstGeom>
            <a:noFill/>
          </p:spPr>
          <p:txBody>
            <a:bodyPr wrap="none" anchor="ctr" lIns="0" rIns="0" tIns="0" bIns="0">
              <a:noAutofit/>
            </a:bodyPr>
            <a:lstStyle/>
            <a:p>
              <a:pPr algn="l"/>
              <a:r>
                <a:rPr sz="830" b="1">
                  <a:solidFill>
                    <a:srgbClr val="B45409"/>
                  </a:solidFill>
                  <a:latin typeface="맑은 고딕"/>
                  <a:ea typeface="맑은 고딕"/>
                  <a:cs typeface="맑은 고딕"/>
                </a:rPr>
                <a:t>l</a:t>
              </a:r>
            </a:p>
          </p:txBody>
        </p:sp>
        <p:sp>
          <p:nvSpPr>
            <p:cNvPr id="50" name="Rounded Rectangle 49"/>
            <p:cNvSpPr/>
            <p:nvPr/>
          </p:nvSpPr>
          <p:spPr>
            <a:xfrm>
              <a:off x="8705026" y="4635599"/>
              <a:ext cx="1595696" cy="215635"/>
            </a:xfrm>
            <a:prstGeom prst="roundRect">
              <a:avLst>
                <a:gd name="adj" fmla="val 20000"/>
              </a:avLst>
            </a:prstGeom>
            <a:solidFill>
              <a:srgbClr val="F7C88A"/>
            </a:solidFill>
            <a:ln w="1078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43961" y="4663976"/>
              <a:ext cx="317828" cy="152997"/>
            </a:xfrm>
            <a:prstGeom prst="rect">
              <a:avLst/>
            </a:prstGeom>
            <a:noFill/>
          </p:spPr>
          <p:txBody>
            <a:bodyPr wrap="none" anchor="ctr" lIns="0" rIns="0" tIns="0" bIns="0">
              <a:noAutofit/>
            </a:bodyPr>
            <a:lstStyle/>
            <a:p>
              <a:pPr algn="ctr"/>
              <a:r>
                <a:rPr sz="830" b="1">
                  <a:solidFill>
                    <a:srgbClr val="B45409"/>
                  </a:solidFill>
                  <a:latin typeface="맑은 고딕"/>
                  <a:ea typeface="맑은 고딕"/>
                  <a:cs typeface="맑은 고딕"/>
                </a:rPr>
                <a:t>안쪽 e</a:t>
              </a:r>
            </a:p>
          </p:txBody>
        </p:sp>
        <p:sp>
          <p:nvSpPr>
            <p:cNvPr id="52" name="TextBox 51"/>
            <p:cNvSpPr txBox="1"/>
            <p:nvPr/>
          </p:nvSpPr>
          <p:spPr>
            <a:xfrm>
              <a:off x="7820925" y="5151181"/>
              <a:ext cx="2555448" cy="163925"/>
            </a:xfrm>
            <a:prstGeom prst="rect">
              <a:avLst/>
            </a:prstGeom>
            <a:noFill/>
          </p:spPr>
          <p:txBody>
            <a:bodyPr wrap="none" anchor="ctr" lIns="0" rIns="0" tIns="0" bIns="0">
              <a:noAutofit/>
            </a:bodyPr>
            <a:lstStyle/>
            <a:p>
              <a:pPr algn="l"/>
              <a:r>
                <a:rPr sz="890" b="0">
                  <a:solidFill>
                    <a:srgbClr val="5B6B7B"/>
                  </a:solidFill>
                  <a:latin typeface="맑은 고딕"/>
                  <a:ea typeface="맑은 고딕"/>
                  <a:cs typeface="맑은 고딕"/>
                </a:rPr>
                <a:t>칩당 slice = 8 PE × 64 = 512개 (값들을 맞춰 본 계산)</a:t>
              </a:r>
            </a:p>
          </p:txBody>
        </p:sp>
        <p:sp>
          <p:nvSpPr>
            <p:cNvPr id="53" name="TextBox 52"/>
            <p:cNvSpPr txBox="1"/>
            <p:nvPr/>
          </p:nvSpPr>
          <p:spPr>
            <a:xfrm>
              <a:off x="7820925" y="5345252"/>
              <a:ext cx="2494203" cy="163925"/>
            </a:xfrm>
            <a:prstGeom prst="rect">
              <a:avLst/>
            </a:prstGeom>
            <a:noFill/>
          </p:spPr>
          <p:txBody>
            <a:bodyPr wrap="none" anchor="ctr" lIns="0" rIns="0" tIns="0" bIns="0">
              <a:noAutofit/>
            </a:bodyPr>
            <a:lstStyle/>
            <a:p>
              <a:pPr algn="l"/>
              <a:r>
                <a:rPr sz="890" b="0">
                  <a:solidFill>
                    <a:srgbClr val="5B6B7B"/>
                  </a:solidFill>
                  <a:latin typeface="맑은 고딕"/>
                  <a:ea typeface="맑은 고딕"/>
                  <a:cs typeface="맑은 고딕"/>
                </a:rPr>
                <a:t>정의는 II절에 있다 — 서론에는 정의 없이 먼저 나온다</a:t>
              </a:r>
            </a:p>
          </p:txBody>
        </p:sp>
      </p:grpSp>
      <p:sp>
        <p:nvSpPr>
          <p:cNvPr id="54" name="Rectangle 5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Chip &gt; PE &gt; TU &gt; slice &gt; operation unit(CE·VE·TE), 그리고 lowered shape 와 tactic. 이 일곱 단어가 논문 전체를 지탱한다.</a:t>
            </a:r>
          </a:p>
        </p:txBody>
      </p:sp>
      <p:sp>
        <p:nvSpPr>
          <p:cNvPr id="55" name="Rectangle 5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읽는 법 — 용어의 계층부터 잡는다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PE 와 slice 가 가장 헷갈린다. PE 는 운영체제 수준에서 통째로 할당되는 큰 덩어리, slice 는 그 안에서 컴파일러가 배치하는 작은 덩어리다</a:t>
            </a:r>
          </a:p>
          <a:p>
            <a:pPr algn="l">
              <a:lnSpc>
                <a:spcPct val="118000"/>
              </a:lnSpc>
              <a:spcBef>
                <a:spcPts val="600"/>
              </a:spcBef>
              <a:spcAft>
                <a:spcPts val="200"/>
              </a:spcAft>
            </a:pPr>
            <a:r>
              <a:rPr sz="1900" b="0" i="0">
                <a:solidFill>
                  <a:srgbClr val="16202C"/>
                </a:solidFill>
                <a:latin typeface="Segoe UI"/>
                <a:ea typeface="맑은 고딕"/>
                <a:cs typeface="맑은 고딕"/>
              </a:rPr>
              <a:t>▪  slice 의 +1 은 예비다. 하나가 불량이어도 칩을 살려 수율을 올린다 (III절)</a:t>
            </a:r>
          </a:p>
          <a:p>
            <a:pPr algn="l">
              <a:lnSpc>
                <a:spcPct val="118000"/>
              </a:lnSpc>
              <a:spcBef>
                <a:spcPts val="600"/>
              </a:spcBef>
              <a:spcAft>
                <a:spcPts val="200"/>
              </a:spcAft>
            </a:pPr>
            <a:r>
              <a:rPr sz="1900" b="0" i="0">
                <a:solidFill>
                  <a:srgbClr val="16202C"/>
                </a:solidFill>
                <a:latin typeface="Segoe UI"/>
                <a:ea typeface="맑은 고딕"/>
                <a:cs typeface="맑은 고딕"/>
              </a:rPr>
              <a:t>▪  operation unit 은 CE·VE·TE 를 묶어 부르는 이름이지 별개의 부품이 아니다 — "the operation units, each of which consists of contraction (CE), vector (VE), and transpose (TE) engines"</a:t>
            </a:r>
          </a:p>
          <a:p>
            <a:pPr algn="l">
              <a:lnSpc>
                <a:spcPct val="118000"/>
              </a:lnSpc>
              <a:spcBef>
                <a:spcPts val="600"/>
              </a:spcBef>
              <a:spcAft>
                <a:spcPts val="200"/>
              </a:spcAft>
            </a:pPr>
            <a:r>
              <a:rPr sz="1900" b="0" i="0">
                <a:solidFill>
                  <a:srgbClr val="16202C"/>
                </a:solidFill>
                <a:latin typeface="Segoe UI"/>
                <a:ea typeface="맑은 고딕"/>
                <a:cs typeface="맑은 고딕"/>
              </a:rPr>
              <a:t>▪  칩당 slice 512개는 논문에 적힌 값이 아니라 8 PE × 64 를 맞춰 본 계산이다</a:t>
            </a:r>
          </a:p>
          <a:p>
            <a:pPr algn="l">
              <a:lnSpc>
                <a:spcPct val="118000"/>
              </a:lnSpc>
              <a:spcBef>
                <a:spcPts val="600"/>
              </a:spcBef>
              <a:spcAft>
                <a:spcPts val="200"/>
              </a:spcAft>
            </a:pPr>
            <a:r>
              <a:rPr sz="1900" b="0" i="0">
                <a:solidFill>
                  <a:srgbClr val="16202C"/>
                </a:solidFill>
                <a:latin typeface="Segoe UI"/>
                <a:ea typeface="맑은 고딕"/>
                <a:cs typeface="맑은 고딕"/>
              </a:rPr>
              <a:t>▪  lowered shape 와 tactic 은 서론에 정의 없이 먼저 나온다. 정의는 II절이다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3200" b="1" i="0">
                <a:solidFill>
                  <a:srgbClr val="083F80"/>
                </a:solidFill>
                <a:latin typeface="Segoe UI"/>
                <a:ea typeface="맑은 고딕"/>
                <a:cs typeface="맑은 고딕"/>
              </a:rPr>
              <a:t>고정 크기 행렬곱이 아니라, 텐서 축약을 1급 연산으로 삼는다</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a paradigm shift from traditional architectures that rely on fixed-size matrix multiplications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(1/6) — 패러다임 전환의 선언</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"We introduce a novel tensor contraction processor (TCP) architecture that offers a paradigm shift from traditional architectures that rely on fixed-size matrix multiplications."</a:t>
            </a:r>
          </a:p>
          <a:p>
            <a:pPr algn="l">
              <a:lnSpc>
                <a:spcPct val="118000"/>
              </a:lnSpc>
              <a:spcBef>
                <a:spcPts val="200"/>
              </a:spcBef>
              <a:spcAft>
                <a:spcPts val="100"/>
              </a:spcAft>
            </a:pPr>
            <a:r>
              <a:rPr sz="1580" b="0" i="0">
                <a:solidFill>
                  <a:srgbClr val="2C3A4B"/>
                </a:solidFill>
                <a:latin typeface="Segoe UI"/>
                <a:ea typeface="맑은 고딕"/>
                <a:cs typeface="맑은 고딕"/>
              </a:rPr>
              <a:t>–  새로운 tensor contraction processor (TCP, 텐서 축약 프로세서) 아키텍처를 제시한다</a:t>
            </a:r>
          </a:p>
          <a:p>
            <a:pPr algn="l">
              <a:lnSpc>
                <a:spcPct val="118000"/>
              </a:lnSpc>
              <a:spcBef>
                <a:spcPts val="200"/>
              </a:spcBef>
              <a:spcAft>
                <a:spcPts val="100"/>
              </a:spcAft>
            </a:pPr>
            <a:r>
              <a:rPr sz="1580" b="0" i="0">
                <a:solidFill>
                  <a:srgbClr val="2C3A4B"/>
                </a:solidFill>
                <a:latin typeface="Segoe UI"/>
                <a:ea typeface="맑은 고딕"/>
                <a:cs typeface="맑은 고딕"/>
              </a:rPr>
              <a:t>–  고정 크기(fixed-size) 행렬곱에 의존하는 기존 아키텍처로부터의 패러다임 전환을 제공한다</a:t>
            </a:r>
          </a:p>
          <a:p>
            <a:pPr algn="l">
              <a:lnSpc>
                <a:spcPct val="118000"/>
              </a:lnSpc>
              <a:spcBef>
                <a:spcPts val="600"/>
              </a:spcBef>
              <a:spcAft>
                <a:spcPts val="200"/>
              </a:spcAft>
            </a:pPr>
            <a:r>
              <a:rPr sz="1700" b="1" i="0">
                <a:solidFill>
                  <a:srgbClr val="083F80"/>
                </a:solidFill>
                <a:latin typeface="Segoe UI"/>
                <a:ea typeface="맑은 고딕"/>
                <a:cs typeface="맑은 고딕"/>
              </a:rPr>
              <a:t>▪  원문: "TCP aims at exploiting the rich parallelism and data locality inherent in tensor contractions, thereby enhancing both efficiency and performance of AI workloads."</a:t>
            </a:r>
          </a:p>
          <a:p>
            <a:pPr algn="l">
              <a:lnSpc>
                <a:spcPct val="118000"/>
              </a:lnSpc>
              <a:spcBef>
                <a:spcPts val="200"/>
              </a:spcBef>
              <a:spcAft>
                <a:spcPts val="100"/>
              </a:spcAft>
            </a:pPr>
            <a:r>
              <a:rPr sz="1580" b="0" i="0">
                <a:solidFill>
                  <a:srgbClr val="2C3A4B"/>
                </a:solidFill>
                <a:latin typeface="Segoe UI"/>
                <a:ea typeface="맑은 고딕"/>
                <a:cs typeface="맑은 고딕"/>
              </a:rPr>
              <a:t>–  TCP의 목표는 텐서 축약에 본래 내재된(inherent) 풍부한 병렬성(parallelism)과 데이터 지역성(data locality)을 활용하는 것이다</a:t>
            </a:r>
          </a:p>
          <a:p>
            <a:pPr algn="l">
              <a:lnSpc>
                <a:spcPct val="118000"/>
              </a:lnSpc>
              <a:spcBef>
                <a:spcPts val="200"/>
              </a:spcBef>
              <a:spcAft>
                <a:spcPts val="100"/>
              </a:spcAft>
            </a:pPr>
            <a:r>
              <a:rPr sz="1580" b="0" i="0">
                <a:solidFill>
                  <a:srgbClr val="2C3A4B"/>
                </a:solidFill>
                <a:latin typeface="Segoe UI"/>
                <a:ea typeface="맑은 고딕"/>
                <a:cs typeface="맑은 고딕"/>
              </a:rPr>
              <a:t>–  그럼으로써 AI 워크로드의 효율(efficiency)과 성능(performance) 을 둘 다 끌어올린다</a:t>
            </a:r>
          </a:p>
          <a:p>
            <a:pPr algn="l">
              <a:lnSpc>
                <a:spcPct val="118000"/>
              </a:lnSpc>
              <a:spcBef>
                <a:spcPts val="600"/>
              </a:spcBef>
              <a:spcAft>
                <a:spcPts val="200"/>
              </a:spcAft>
            </a:pPr>
            <a:r>
              <a:rPr sz="1700" b="1" i="0">
                <a:solidFill>
                  <a:srgbClr val="083F80"/>
                </a:solidFill>
                <a:latin typeface="Segoe UI"/>
                <a:ea typeface="맑은 고딕"/>
                <a:cs typeface="맑은 고딕"/>
              </a:rPr>
              <a:t>▪  주목할 표현: "inherent" — 병렬성과 지역성은 하드웨어가 만들어 주는 것이 아니라 텐서 축약이라는 연산 자체에 이미 들어 있다는 주장이다</a:t>
            </a:r>
          </a:p>
          <a:p>
            <a:pPr algn="l">
              <a:lnSpc>
                <a:spcPct val="118000"/>
              </a:lnSpc>
              <a:spcBef>
                <a:spcPts val="200"/>
              </a:spcBef>
              <a:spcAft>
                <a:spcPts val="100"/>
              </a:spcAft>
            </a:pPr>
            <a:r>
              <a:rPr sz="1580" b="0" i="0">
                <a:solidFill>
                  <a:srgbClr val="2C3A4B"/>
                </a:solidFill>
                <a:latin typeface="Segoe UI"/>
                <a:ea typeface="맑은 고딕"/>
                <a:cs typeface="맑은 고딕"/>
              </a:rPr>
              <a:t>–  기존 방식은 축약을 행렬곱으로 잘라내면서 그 내재된 성질을 잃어버린다는 것이 이 논문의 진단이다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병렬성과 지역성은 원래 축약 안에 있었는데, 행렬곱으로 잘라내면서 잃었다.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(2/6) — 굵은 PE, 그러나 쪼갤 수 있는 PE</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원문: "TCP is composed of coarse-grained processing elements (PEs) to simplify software development."</a:t>
            </a:r>
          </a:p>
          <a:p>
            <a:pPr algn="l">
              <a:lnSpc>
                <a:spcPct val="118000"/>
              </a:lnSpc>
              <a:spcBef>
                <a:spcPts val="200"/>
              </a:spcBef>
              <a:spcAft>
                <a:spcPts val="100"/>
              </a:spcAft>
            </a:pPr>
            <a:r>
              <a:rPr sz="1480" b="0" i="0">
                <a:solidFill>
                  <a:srgbClr val="2C3A4B"/>
                </a:solidFill>
                <a:latin typeface="Segoe UI"/>
                <a:ea typeface="맑은 고딕"/>
                <a:cs typeface="맑은 고딕"/>
              </a:rPr>
              <a:t>–  TCP는 coarse-grained (성긴 입자, 굵은 단위) processing element (PE, 처리 요소) 들로 구성된다</a:t>
            </a:r>
          </a:p>
          <a:p>
            <a:pPr algn="l">
              <a:lnSpc>
                <a:spcPct val="118000"/>
              </a:lnSpc>
              <a:spcBef>
                <a:spcPts val="200"/>
              </a:spcBef>
              <a:spcAft>
                <a:spcPts val="100"/>
              </a:spcAft>
            </a:pPr>
            <a:r>
              <a:rPr sz="1480" b="0" i="0">
                <a:solidFill>
                  <a:srgbClr val="2C3A4B"/>
                </a:solidFill>
                <a:latin typeface="Segoe UI"/>
                <a:ea typeface="맑은 고딕"/>
                <a:cs typeface="맑은 고딕"/>
              </a:rPr>
              <a:t>–  목적이 명시돼 있다 — 소프트웨어 개발을 단순화하기 위해서다</a:t>
            </a:r>
          </a:p>
          <a:p>
            <a:pPr algn="l">
              <a:lnSpc>
                <a:spcPct val="118000"/>
              </a:lnSpc>
              <a:spcBef>
                <a:spcPts val="200"/>
              </a:spcBef>
              <a:spcAft>
                <a:spcPts val="100"/>
              </a:spcAft>
            </a:pPr>
            <a:r>
              <a:rPr sz="1480" b="0" i="0">
                <a:solidFill>
                  <a:srgbClr val="2C3A4B"/>
                </a:solidFill>
                <a:latin typeface="Segoe UI"/>
                <a:ea typeface="맑은 고딕"/>
                <a:cs typeface="맑은 고딕"/>
              </a:rPr>
              <a:t>–  즉 PE 를 크게 만든 이유는 성능이 아니라 프로그래밍 난이도 때문이다</a:t>
            </a:r>
          </a:p>
          <a:p>
            <a:pPr algn="l">
              <a:lnSpc>
                <a:spcPct val="118000"/>
              </a:lnSpc>
              <a:spcBef>
                <a:spcPts val="600"/>
              </a:spcBef>
              <a:spcAft>
                <a:spcPts val="200"/>
              </a:spcAft>
            </a:pPr>
            <a:r>
              <a:rPr sz="1600" b="1" i="0">
                <a:solidFill>
                  <a:srgbClr val="083F80"/>
                </a:solidFill>
                <a:latin typeface="Segoe UI"/>
                <a:ea typeface="맑은 고딕"/>
                <a:cs typeface="맑은 고딕"/>
              </a:rPr>
              <a:t>▪  원문: "In order to efficiently process operations with diverse tensor shapes, the PEs are designed to be flexible enough to be utilized as a large-scale single unit or a set of small independent compute units."</a:t>
            </a:r>
          </a:p>
          <a:p>
            <a:pPr algn="l">
              <a:lnSpc>
                <a:spcPct val="118000"/>
              </a:lnSpc>
              <a:spcBef>
                <a:spcPts val="200"/>
              </a:spcBef>
              <a:spcAft>
                <a:spcPts val="100"/>
              </a:spcAft>
            </a:pPr>
            <a:r>
              <a:rPr sz="1480" b="0" i="0">
                <a:solidFill>
                  <a:srgbClr val="2C3A4B"/>
                </a:solidFill>
                <a:latin typeface="Segoe UI"/>
                <a:ea typeface="맑은 고딕"/>
                <a:cs typeface="맑은 고딕"/>
              </a:rPr>
              <a:t>–  다양한 텐서 모양(diverse tensor shapes)의 연산을 효율적으로 처리하기 위해</a:t>
            </a:r>
          </a:p>
          <a:p>
            <a:pPr algn="l">
              <a:lnSpc>
                <a:spcPct val="118000"/>
              </a:lnSpc>
              <a:spcBef>
                <a:spcPts val="200"/>
              </a:spcBef>
              <a:spcAft>
                <a:spcPts val="100"/>
              </a:spcAft>
            </a:pPr>
            <a:r>
              <a:rPr sz="1480" b="0" i="0">
                <a:solidFill>
                  <a:srgbClr val="2C3A4B"/>
                </a:solidFill>
                <a:latin typeface="Segoe UI"/>
                <a:ea typeface="맑은 고딕"/>
                <a:cs typeface="맑은 고딕"/>
              </a:rPr>
              <a:t>–  PE 는 충분히 유연하게 설계되었다 — 하나의 대규모 단일 유닛(large-scale single unit) 으로 쓸 수도 있고</a:t>
            </a:r>
          </a:p>
          <a:p>
            <a:pPr algn="l">
              <a:lnSpc>
                <a:spcPct val="118000"/>
              </a:lnSpc>
              <a:spcBef>
                <a:spcPts val="200"/>
              </a:spcBef>
              <a:spcAft>
                <a:spcPts val="100"/>
              </a:spcAft>
            </a:pPr>
            <a:r>
              <a:rPr sz="1480" b="0" i="0">
                <a:solidFill>
                  <a:srgbClr val="2C3A4B"/>
                </a:solidFill>
                <a:latin typeface="Segoe UI"/>
                <a:ea typeface="맑은 고딕"/>
                <a:cs typeface="맑은 고딕"/>
              </a:rPr>
              <a:t>–  작고 독립적인 여러 개의 compute unit (연산 유닛) 집합으로 쓸 수도 있다</a:t>
            </a:r>
          </a:p>
          <a:p>
            <a:pPr algn="l">
              <a:lnSpc>
                <a:spcPct val="118000"/>
              </a:lnSpc>
              <a:spcBef>
                <a:spcPts val="600"/>
              </a:spcBef>
              <a:spcAft>
                <a:spcPts val="200"/>
              </a:spcAft>
            </a:pPr>
            <a:r>
              <a:rPr sz="1600" b="1" i="0">
                <a:solidFill>
                  <a:srgbClr val="083F80"/>
                </a:solidFill>
                <a:latin typeface="Segoe UI"/>
                <a:ea typeface="맑은 고딕"/>
                <a:cs typeface="맑은 고딕"/>
              </a:rPr>
              <a:t>▪  여기가 TCP 설계의 긴장 지점이다</a:t>
            </a:r>
          </a:p>
          <a:p>
            <a:pPr algn="l">
              <a:lnSpc>
                <a:spcPct val="118000"/>
              </a:lnSpc>
              <a:spcBef>
                <a:spcPts val="200"/>
              </a:spcBef>
              <a:spcAft>
                <a:spcPts val="100"/>
              </a:spcAft>
            </a:pPr>
            <a:r>
              <a:rPr sz="1480" b="0" i="0">
                <a:solidFill>
                  <a:srgbClr val="2C3A4B"/>
                </a:solidFill>
                <a:latin typeface="Segoe UI"/>
                <a:ea typeface="맑은 고딕"/>
                <a:cs typeface="맑은 고딕"/>
              </a:rPr>
              <a:t>–  크게 만들면 프로그래밍은 쉬워지지만 모양이 다양한 연산에서 놀게 된다</a:t>
            </a:r>
          </a:p>
          <a:p>
            <a:pPr algn="l">
              <a:lnSpc>
                <a:spcPct val="118000"/>
              </a:lnSpc>
              <a:spcBef>
                <a:spcPts val="200"/>
              </a:spcBef>
              <a:spcAft>
                <a:spcPts val="100"/>
              </a:spcAft>
            </a:pPr>
            <a:r>
              <a:rPr sz="1480" b="0" i="0">
                <a:solidFill>
                  <a:srgbClr val="2C3A4B"/>
                </a:solidFill>
                <a:latin typeface="Segoe UI"/>
                <a:ea typeface="맑은 고딕"/>
                <a:cs typeface="맑은 고딕"/>
              </a:rPr>
              <a:t>–  작게 쪼개면 유연하지만 프로그래밍이 어려워진다</a:t>
            </a:r>
          </a:p>
          <a:p>
            <a:pPr algn="l">
              <a:lnSpc>
                <a:spcPct val="118000"/>
              </a:lnSpc>
              <a:spcBef>
                <a:spcPts val="200"/>
              </a:spcBef>
              <a:spcAft>
                <a:spcPts val="100"/>
              </a:spcAft>
            </a:pPr>
            <a:r>
              <a:rPr sz="1480" b="0" i="0">
                <a:solidFill>
                  <a:srgbClr val="2C3A4B"/>
                </a:solidFill>
                <a:latin typeface="Segoe UI"/>
                <a:ea typeface="맑은 고딕"/>
                <a:cs typeface="맑은 고딕"/>
              </a:rPr>
              <a:t>–  TCP의 답: 하나의 하드웨어를 두 방식 모두로 쓸 수 있게 만든다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크게도 쓰고 작게도 쓴다 — 이 이중성이 TCP 아키텍처의 중심축이다.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(3/6) — 데이터 재사용을 두 층위에서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원문: "We aim at maximizing data reuse on both levels of inter and intra compute units."</a:t>
            </a:r>
          </a:p>
          <a:p>
            <a:pPr algn="l">
              <a:lnSpc>
                <a:spcPct val="118000"/>
              </a:lnSpc>
              <a:spcBef>
                <a:spcPts val="200"/>
              </a:spcBef>
              <a:spcAft>
                <a:spcPts val="100"/>
              </a:spcAft>
            </a:pPr>
            <a:r>
              <a:rPr sz="1280" b="0" i="0">
                <a:solidFill>
                  <a:srgbClr val="2C3A4B"/>
                </a:solidFill>
                <a:latin typeface="Segoe UI"/>
                <a:ea typeface="맑은 고딕"/>
                <a:cs typeface="맑은 고딕"/>
              </a:rPr>
              <a:t>–  연산 유닛 사이(inter) 와 연산 유닛 내부(intra), 두 층위 모두에서 데이터 재사용(data reuse)을 극대화하는 것이 목표다</a:t>
            </a:r>
          </a:p>
          <a:p>
            <a:pPr algn="l">
              <a:lnSpc>
                <a:spcPct val="118000"/>
              </a:lnSpc>
              <a:spcBef>
                <a:spcPts val="600"/>
              </a:spcBef>
              <a:spcAft>
                <a:spcPts val="200"/>
              </a:spcAft>
            </a:pPr>
            <a:r>
              <a:rPr sz="1400" b="1" i="0">
                <a:solidFill>
                  <a:srgbClr val="083F80"/>
                </a:solidFill>
                <a:latin typeface="Segoe UI"/>
                <a:ea typeface="맑은 고딕"/>
                <a:cs typeface="맑은 고딕"/>
              </a:rPr>
              <a:t>▪  층위 1 — 연산 유닛 사이의 재사용</a:t>
            </a:r>
          </a:p>
          <a:p>
            <a:pPr algn="l">
              <a:lnSpc>
                <a:spcPct val="118000"/>
              </a:lnSpc>
              <a:spcBef>
                <a:spcPts val="200"/>
              </a:spcBef>
              <a:spcAft>
                <a:spcPts val="100"/>
              </a:spcAft>
            </a:pPr>
            <a:r>
              <a:rPr sz="1280" b="0" i="0">
                <a:solidFill>
                  <a:srgbClr val="2C3A4B"/>
                </a:solidFill>
                <a:latin typeface="Segoe UI"/>
                <a:ea typeface="맑은 고딕"/>
                <a:cs typeface="맑은 고딕"/>
              </a:rPr>
              <a:t>–  원문: "we propose a circuit switch-based fetch network to flexibly connect compute units to enable inter-compute unit data reuse"</a:t>
            </a:r>
          </a:p>
          <a:p>
            <a:pPr algn="l">
              <a:lnSpc>
                <a:spcPct val="118000"/>
              </a:lnSpc>
              <a:spcBef>
                <a:spcPts val="200"/>
              </a:spcBef>
              <a:spcAft>
                <a:spcPts val="100"/>
              </a:spcAft>
            </a:pPr>
            <a:r>
              <a:rPr sz="1280" b="0" i="0">
                <a:solidFill>
                  <a:srgbClr val="2C3A4B"/>
                </a:solidFill>
                <a:latin typeface="Segoe UI"/>
                <a:ea typeface="맑은 고딕"/>
                <a:cs typeface="맑은 고딕"/>
              </a:rPr>
              <a:t>–  circuit switch-based fetch network (회선 교환 방식 기반 페치 네트워크) 를 제안한다</a:t>
            </a:r>
          </a:p>
          <a:p>
            <a:pPr algn="l">
              <a:lnSpc>
                <a:spcPct val="118000"/>
              </a:lnSpc>
              <a:spcBef>
                <a:spcPts val="200"/>
              </a:spcBef>
              <a:spcAft>
                <a:spcPts val="100"/>
              </a:spcAft>
            </a:pPr>
            <a:r>
              <a:rPr sz="1280" b="0" i="0">
                <a:solidFill>
                  <a:srgbClr val="2C3A4B"/>
                </a:solidFill>
                <a:latin typeface="Segoe UI"/>
                <a:ea typeface="맑은 고딕"/>
                <a:cs typeface="맑은 고딕"/>
              </a:rPr>
              <a:t>–  연산 유닛들을 유연하게 연결해서 유닛 간 데이터 재사용을 가능하게 한다</a:t>
            </a:r>
          </a:p>
          <a:p>
            <a:pPr algn="l">
              <a:lnSpc>
                <a:spcPct val="118000"/>
              </a:lnSpc>
              <a:spcBef>
                <a:spcPts val="200"/>
              </a:spcBef>
              <a:spcAft>
                <a:spcPts val="100"/>
              </a:spcAft>
            </a:pPr>
            <a:r>
              <a:rPr sz="1280" b="0" i="0">
                <a:solidFill>
                  <a:srgbClr val="2C3A4B"/>
                </a:solidFill>
                <a:latin typeface="Segoe UI"/>
                <a:ea typeface="맑은 고딕"/>
                <a:cs typeface="맑은 고딕"/>
              </a:rPr>
              <a:t>–  패킷 교환(NoC)이 아니라 회선 교환이라는 선택이 명시돼 있다 — 상세는 IV절 Fig. 5</a:t>
            </a:r>
          </a:p>
          <a:p>
            <a:pPr algn="l">
              <a:lnSpc>
                <a:spcPct val="118000"/>
              </a:lnSpc>
              <a:spcBef>
                <a:spcPts val="600"/>
              </a:spcBef>
              <a:spcAft>
                <a:spcPts val="200"/>
              </a:spcAft>
            </a:pPr>
            <a:r>
              <a:rPr sz="1400" b="1" i="0">
                <a:solidFill>
                  <a:srgbClr val="083F80"/>
                </a:solidFill>
                <a:latin typeface="Segoe UI"/>
                <a:ea typeface="맑은 고딕"/>
                <a:cs typeface="맑은 고딕"/>
              </a:rPr>
              <a:t>▪  층위 2 — 연산 유닛 내부의 재사용</a:t>
            </a:r>
          </a:p>
          <a:p>
            <a:pPr algn="l">
              <a:lnSpc>
                <a:spcPct val="118000"/>
              </a:lnSpc>
              <a:spcBef>
                <a:spcPts val="200"/>
              </a:spcBef>
              <a:spcAft>
                <a:spcPts val="100"/>
              </a:spcAft>
            </a:pPr>
            <a:r>
              <a:rPr sz="1280" b="0" i="0">
                <a:solidFill>
                  <a:srgbClr val="2C3A4B"/>
                </a:solidFill>
                <a:latin typeface="Segoe UI"/>
                <a:ea typeface="맑은 고딕"/>
                <a:cs typeface="맑은 고딕"/>
              </a:rPr>
              <a:t>–  원문: "We also exploit input broadcast to multiple contraction engines and input buffer based reuse to further exploit reuse behavior in tensor contraction."</a:t>
            </a:r>
          </a:p>
          <a:p>
            <a:pPr algn="l">
              <a:lnSpc>
                <a:spcPct val="118000"/>
              </a:lnSpc>
              <a:spcBef>
                <a:spcPts val="200"/>
              </a:spcBef>
              <a:spcAft>
                <a:spcPts val="100"/>
              </a:spcAft>
            </a:pPr>
            <a:r>
              <a:rPr sz="1280" b="0" i="0">
                <a:solidFill>
                  <a:srgbClr val="2C3A4B"/>
                </a:solidFill>
                <a:latin typeface="Segoe UI"/>
                <a:ea typeface="맑은 고딕"/>
                <a:cs typeface="맑은 고딕"/>
              </a:rPr>
              <a:t>–  여러 contraction engine (축약 엔진) 으로의 input broadcast (입력 브로드캐스트)</a:t>
            </a:r>
          </a:p>
          <a:p>
            <a:pPr algn="l">
              <a:lnSpc>
                <a:spcPct val="118000"/>
              </a:lnSpc>
              <a:spcBef>
                <a:spcPts val="200"/>
              </a:spcBef>
              <a:spcAft>
                <a:spcPts val="100"/>
              </a:spcAft>
            </a:pPr>
            <a:r>
              <a:rPr sz="1280" b="0" i="0">
                <a:solidFill>
                  <a:srgbClr val="2C3A4B"/>
                </a:solidFill>
                <a:latin typeface="Segoe UI"/>
                <a:ea typeface="맑은 고딕"/>
                <a:cs typeface="맑은 고딕"/>
              </a:rPr>
              <a:t>–  input buffer (입력 버퍼) 기반 재사용</a:t>
            </a:r>
          </a:p>
          <a:p>
            <a:pPr algn="l">
              <a:lnSpc>
                <a:spcPct val="118000"/>
              </a:lnSpc>
              <a:spcBef>
                <a:spcPts val="200"/>
              </a:spcBef>
              <a:spcAft>
                <a:spcPts val="100"/>
              </a:spcAft>
            </a:pPr>
            <a:r>
              <a:rPr sz="1280" b="0" i="0">
                <a:solidFill>
                  <a:srgbClr val="2C3A4B"/>
                </a:solidFill>
                <a:latin typeface="Segoe UI"/>
                <a:ea typeface="맑은 고딕"/>
                <a:cs typeface="맑은 고딕"/>
              </a:rPr>
              <a:t>–  이 두 가지로 텐서 축약 안에 있는 재사용 양상을 한층 더 끌어낸다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circuit switch 기반 fetch network(유닛 간) + input broadcast·input buffer(유닛 내부). 재사용 전략이 두 겹이다.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(4/6) — 컴파일러가 설계 공간을 탐색한다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"Our compiler explores the design space of tensor contractions considering tensor shapes and the order of their associated loop operations as well as the underlying accelerator architecture."</a:t>
            </a:r>
          </a:p>
          <a:p>
            <a:pPr algn="l">
              <a:lnSpc>
                <a:spcPct val="118000"/>
              </a:lnSpc>
              <a:spcBef>
                <a:spcPts val="200"/>
              </a:spcBef>
              <a:spcAft>
                <a:spcPts val="100"/>
              </a:spcAft>
            </a:pPr>
            <a:r>
              <a:rPr sz="1580" b="0" i="0">
                <a:solidFill>
                  <a:srgbClr val="2C3A4B"/>
                </a:solidFill>
                <a:latin typeface="Segoe UI"/>
                <a:ea typeface="맑은 고딕"/>
                <a:cs typeface="맑은 고딕"/>
              </a:rPr>
              <a:t>–  컴파일러가 텐서 축약의 설계 공간(design space)을 탐색한다</a:t>
            </a:r>
          </a:p>
          <a:p>
            <a:pPr algn="l">
              <a:lnSpc>
                <a:spcPct val="118000"/>
              </a:lnSpc>
              <a:spcBef>
                <a:spcPts val="600"/>
              </a:spcBef>
              <a:spcAft>
                <a:spcPts val="200"/>
              </a:spcAft>
            </a:pPr>
            <a:r>
              <a:rPr sz="1700" b="1" i="0">
                <a:solidFill>
                  <a:srgbClr val="083F80"/>
                </a:solidFill>
                <a:latin typeface="Segoe UI"/>
                <a:ea typeface="맑은 고딕"/>
                <a:cs typeface="맑은 고딕"/>
              </a:rPr>
              <a:t>▪  탐색할 때 고려하는 것 세 가지</a:t>
            </a:r>
          </a:p>
          <a:p>
            <a:pPr algn="l">
              <a:lnSpc>
                <a:spcPct val="118000"/>
              </a:lnSpc>
              <a:spcBef>
                <a:spcPts val="200"/>
              </a:spcBef>
              <a:spcAft>
                <a:spcPts val="100"/>
              </a:spcAft>
            </a:pPr>
            <a:r>
              <a:rPr sz="1580" b="0" i="0">
                <a:solidFill>
                  <a:srgbClr val="2C3A4B"/>
                </a:solidFill>
                <a:latin typeface="Segoe UI"/>
                <a:ea typeface="맑은 고딕"/>
                <a:cs typeface="맑은 고딕"/>
              </a:rPr>
              <a:t>–  1. 텐서 모양 (tensor shapes) — II절의 lowered shape 에 해당한다</a:t>
            </a:r>
          </a:p>
          <a:p>
            <a:pPr algn="l">
              <a:lnSpc>
                <a:spcPct val="118000"/>
              </a:lnSpc>
              <a:spcBef>
                <a:spcPts val="200"/>
              </a:spcBef>
              <a:spcAft>
                <a:spcPts val="100"/>
              </a:spcAft>
            </a:pPr>
            <a:r>
              <a:rPr sz="1580" b="0" i="0">
                <a:solidFill>
                  <a:srgbClr val="2C3A4B"/>
                </a:solidFill>
                <a:latin typeface="Segoe UI"/>
                <a:ea typeface="맑은 고딕"/>
                <a:cs typeface="맑은 고딕"/>
              </a:rPr>
              <a:t>–  2. 그에 연관된 루프 연산의 순서 (the order of their associated loop operations) — II절의 tactic 에 해당한다</a:t>
            </a:r>
          </a:p>
          <a:p>
            <a:pPr algn="l">
              <a:lnSpc>
                <a:spcPct val="118000"/>
              </a:lnSpc>
              <a:spcBef>
                <a:spcPts val="200"/>
              </a:spcBef>
              <a:spcAft>
                <a:spcPts val="100"/>
              </a:spcAft>
            </a:pPr>
            <a:r>
              <a:rPr sz="1580" b="0" i="0">
                <a:solidFill>
                  <a:srgbClr val="2C3A4B"/>
                </a:solidFill>
                <a:latin typeface="Segoe UI"/>
                <a:ea typeface="맑은 고딕"/>
                <a:cs typeface="맑은 고딕"/>
              </a:rPr>
              <a:t>–  3. 그 아래 깔린 가속기 아키텍처 (the underlying accelerator architecture) — 즉 slice 몇 개가 있는지, 버퍼가 얼마나 되는지</a:t>
            </a:r>
          </a:p>
          <a:p>
            <a:pPr algn="l">
              <a:lnSpc>
                <a:spcPct val="118000"/>
              </a:lnSpc>
              <a:spcBef>
                <a:spcPts val="600"/>
              </a:spcBef>
              <a:spcAft>
                <a:spcPts val="200"/>
              </a:spcAft>
            </a:pPr>
            <a:r>
              <a:rPr sz="1700" b="1" i="0">
                <a:solidFill>
                  <a:srgbClr val="083F80"/>
                </a:solidFill>
                <a:latin typeface="Segoe UI"/>
                <a:ea typeface="맑은 고딕"/>
                <a:cs typeface="맑은 고딕"/>
              </a:rPr>
              <a:t>▪  하드웨어가 유연해진 대가는 컴파일러가 치른다</a:t>
            </a:r>
          </a:p>
          <a:p>
            <a:pPr algn="l">
              <a:lnSpc>
                <a:spcPct val="118000"/>
              </a:lnSpc>
              <a:spcBef>
                <a:spcPts val="200"/>
              </a:spcBef>
              <a:spcAft>
                <a:spcPts val="100"/>
              </a:spcAft>
            </a:pPr>
            <a:r>
              <a:rPr sz="1580" b="0" i="0">
                <a:solidFill>
                  <a:srgbClr val="2C3A4B"/>
                </a:solidFill>
                <a:latin typeface="Segoe UI"/>
                <a:ea typeface="맑은 고딕"/>
                <a:cs typeface="맑은 고딕"/>
              </a:rPr>
              <a:t>–  PE 를 크게도 쓰고 작게도 쓸 수 있다는 말은, 무엇을 고를지 결정하는 주체가 필요하다는 뜻이다</a:t>
            </a:r>
          </a:p>
          <a:p>
            <a:pPr algn="l">
              <a:lnSpc>
                <a:spcPct val="118000"/>
              </a:lnSpc>
              <a:spcBef>
                <a:spcPts val="200"/>
              </a:spcBef>
              <a:spcAft>
                <a:spcPts val="100"/>
              </a:spcAft>
            </a:pPr>
            <a:r>
              <a:rPr sz="1580" b="0" i="0">
                <a:solidFill>
                  <a:srgbClr val="2C3A4B"/>
                </a:solidFill>
                <a:latin typeface="Segoe UI"/>
                <a:ea typeface="맑은 고딕"/>
                <a:cs typeface="맑은 고딕"/>
              </a:rPr>
              <a:t>–  그 결정 주체가 컴파일러다. 이 논문에서 하드웨어와 컴파일러는 분리해서 이해할 수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유연한 하드웨어는 공짜가 아니다. 선택지를 고르는 일을 컴파일러가 떠맡는다.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(5/6) — 실제로 만든 칩의 제원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a:t>
            </a:r>
          </a:p>
        </p:txBody>
      </p:sp>
      <p:graphicFrame>
        <p:nvGraphicFramePr>
          <p:cNvPr id="8" name="Table 7"/>
          <p:cNvGraphicFramePr>
            <a:graphicFrameLocks noGrp="1"/>
          </p:cNvGraphicFramePr>
          <p:nvPr/>
        </p:nvGraphicFramePr>
        <p:xfrm>
          <a:off x="566928" y="1517904"/>
          <a:ext cx="11057839" cy="3456432"/>
        </p:xfrm>
        <a:graphic>
          <a:graphicData uri="http://schemas.openxmlformats.org/drawingml/2006/table">
            <a:tbl>
              <a:tblPr firstRow="1" bandRow="1">
                <a:tableStyleId>{5C22544A-7EE6-4342-B048-85BDC9FD1C3A}</a:tableStyleId>
              </a:tblPr>
              <a:tblGrid>
                <a:gridCol w="1076273"/>
                <a:gridCol w="3905830"/>
                <a:gridCol w="6075736"/>
              </a:tblGrid>
              <a:tr h="384048">
                <a:tc>
                  <a:txBody>
                    <a:bodyPr wrap="square"/>
                    <a:lstStyle/>
                    <a:p>
                      <a:r>
                        <a:rPr sz="10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초록에 적힌 값</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비고</a:t>
                      </a:r>
                    </a:p>
                  </a:txBody>
                  <a:tcPr marL="73152" marR="73152" marT="27432" marB="27432">
                    <a:solidFill>
                      <a:srgbClr val="0B5FC0"/>
                    </a:solidFill>
                  </a:tcPr>
                </a:tc>
              </a:tr>
              <a:tr h="384048">
                <a:tc>
                  <a:txBody>
                    <a:bodyPr wrap="square"/>
                    <a:lstStyle/>
                    <a:p>
                      <a:r>
                        <a:rPr sz="1000" b="0" i="0">
                          <a:solidFill>
                            <a:srgbClr val="16202C"/>
                          </a:solidFill>
                          <a:latin typeface="Segoe UI"/>
                          <a:ea typeface="맑은 고딕"/>
                          <a:cs typeface="맑은 고딕"/>
                        </a:rPr>
                        <a:t>공정</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5nm technology</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III절 TABLE I 에서 TSMC 5nm 로 구체화된다</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세대</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the second-generation product of Furiosa AI</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1세대 제품명은 논문에 없다</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연산 성능</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256 / 512 / 1024 TOPS (BF16/FP8 or INT8/INT4)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숫자 3개가 4개 형식에 대응한다. 256=BF16, 512=FP8 또는 INT8, 1024=INT4</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온칩 SRAM</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256 MB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III절 TABLE I 에서 384 TB/s 대역폭이 추가된다</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메모리</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1.5 TB/s, 48 GB HBM3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III절에서 HBM3 스택 2개로 구체화된다</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전력</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150 W TDP</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공랭 데이터센터를 겨냥한 값. 근거는 III절</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상용화</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August 2024 (2024년 8월 시작)</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논문 작성 시점 기준의 예정</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상태</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designed and fabricated (설계·제작 완료)</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시뮬레이션이 아니다</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5nm, 256 MB SRAM, 48 GB HBM3 1.5 TB/s, 150 W — 이 네 숫자가 TCP 를 규정한다.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초록 (6/6) — 무엇으로 증명했는가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원문: "We performed an extensive case study of running the LLaMA-2 7B model and evaluated its performance and power efficiency on various configurations of sequence length and batch size."</a:t>
            </a:r>
          </a:p>
          <a:p>
            <a:pPr algn="l">
              <a:lnSpc>
                <a:spcPct val="118000"/>
              </a:lnSpc>
              <a:spcBef>
                <a:spcPts val="200"/>
              </a:spcBef>
              <a:spcAft>
                <a:spcPts val="100"/>
              </a:spcAft>
            </a:pPr>
            <a:r>
              <a:rPr sz="1380" b="0" i="0">
                <a:solidFill>
                  <a:srgbClr val="2C3A4B"/>
                </a:solidFill>
                <a:latin typeface="Segoe UI"/>
                <a:ea typeface="맑은 고딕"/>
                <a:cs typeface="맑은 고딕"/>
              </a:rPr>
              <a:t>–  LLaMA-2 7B 모델 실행에 대한 광범위한(extensive) 사례 연구를 수행했다</a:t>
            </a:r>
          </a:p>
          <a:p>
            <a:pPr algn="l">
              <a:lnSpc>
                <a:spcPct val="118000"/>
              </a:lnSpc>
              <a:spcBef>
                <a:spcPts val="200"/>
              </a:spcBef>
              <a:spcAft>
                <a:spcPts val="100"/>
              </a:spcAft>
            </a:pPr>
            <a:r>
              <a:rPr sz="1380" b="0" i="0">
                <a:solidFill>
                  <a:srgbClr val="2C3A4B"/>
                </a:solidFill>
                <a:latin typeface="Segoe UI"/>
                <a:ea typeface="맑은 고딕"/>
                <a:cs typeface="맑은 고딕"/>
              </a:rPr>
              <a:t>–  시퀀스 길이(sequence length)와 배치 크기(batch size)의 다양한 조합에서 성능과 전력 효율을 평가했다</a:t>
            </a:r>
          </a:p>
          <a:p>
            <a:pPr algn="l">
              <a:lnSpc>
                <a:spcPct val="118000"/>
              </a:lnSpc>
              <a:spcBef>
                <a:spcPts val="200"/>
              </a:spcBef>
              <a:spcAft>
                <a:spcPts val="100"/>
              </a:spcAft>
            </a:pPr>
            <a:r>
              <a:rPr sz="1380" b="0" i="0">
                <a:solidFill>
                  <a:srgbClr val="2C3A4B"/>
                </a:solidFill>
                <a:latin typeface="Segoe UI"/>
                <a:ea typeface="맑은 고딕"/>
                <a:cs typeface="맑은 고딕"/>
              </a:rPr>
              <a:t>–  모델을 하나만 골라 깊게 판 형태다. 여러 모델의 벤치마크 표가 아니다</a:t>
            </a:r>
          </a:p>
          <a:p>
            <a:pPr algn="l">
              <a:lnSpc>
                <a:spcPct val="118000"/>
              </a:lnSpc>
              <a:spcBef>
                <a:spcPts val="600"/>
              </a:spcBef>
              <a:spcAft>
                <a:spcPts val="200"/>
              </a:spcAft>
            </a:pPr>
            <a:r>
              <a:rPr sz="1500" b="1" i="0">
                <a:solidFill>
                  <a:srgbClr val="083F80"/>
                </a:solidFill>
                <a:latin typeface="Segoe UI"/>
                <a:ea typeface="맑은 고딕"/>
                <a:cs typeface="맑은 고딕"/>
              </a:rPr>
              <a:t>▪  원문: "For this model, TCP is 2.7× and 4.1× better than H100 and L40s, respectively, in terms of performance per watt."</a:t>
            </a:r>
          </a:p>
          <a:p>
            <a:pPr algn="l">
              <a:lnSpc>
                <a:spcPct val="118000"/>
              </a:lnSpc>
              <a:spcBef>
                <a:spcPts val="200"/>
              </a:spcBef>
              <a:spcAft>
                <a:spcPts val="100"/>
              </a:spcAft>
            </a:pPr>
            <a:r>
              <a:rPr sz="1380" b="0" i="0">
                <a:solidFill>
                  <a:srgbClr val="2C3A4B"/>
                </a:solidFill>
                <a:latin typeface="Segoe UI"/>
                <a:ea typeface="맑은 고딕"/>
                <a:cs typeface="맑은 고딕"/>
              </a:rPr>
              <a:t>–  이 모델에 대해, 와트당 성능(performance per watt) 기준으로</a:t>
            </a:r>
          </a:p>
          <a:p>
            <a:pPr algn="l">
              <a:lnSpc>
                <a:spcPct val="118000"/>
              </a:lnSpc>
              <a:spcBef>
                <a:spcPts val="200"/>
              </a:spcBef>
              <a:spcAft>
                <a:spcPts val="100"/>
              </a:spcAft>
            </a:pPr>
            <a:r>
              <a:rPr sz="1380" b="0" i="0">
                <a:solidFill>
                  <a:srgbClr val="2C3A4B"/>
                </a:solidFill>
                <a:latin typeface="Segoe UI"/>
                <a:ea typeface="맑은 고딕"/>
                <a:cs typeface="맑은 고딕"/>
              </a:rPr>
              <a:t>–  NVIDIA H100 대비 2.7배</a:t>
            </a:r>
          </a:p>
          <a:p>
            <a:pPr algn="l">
              <a:lnSpc>
                <a:spcPct val="118000"/>
              </a:lnSpc>
              <a:spcBef>
                <a:spcPts val="200"/>
              </a:spcBef>
              <a:spcAft>
                <a:spcPts val="100"/>
              </a:spcAft>
            </a:pPr>
            <a:r>
              <a:rPr sz="1380" b="0" i="0">
                <a:solidFill>
                  <a:srgbClr val="2C3A4B"/>
                </a:solidFill>
                <a:latin typeface="Segoe UI"/>
                <a:ea typeface="맑은 고딕"/>
                <a:cs typeface="맑은 고딕"/>
              </a:rPr>
              <a:t>–  NVIDIA L40s 대비 4.1배</a:t>
            </a:r>
          </a:p>
          <a:p>
            <a:pPr algn="l">
              <a:lnSpc>
                <a:spcPct val="118000"/>
              </a:lnSpc>
              <a:spcBef>
                <a:spcPts val="600"/>
              </a:spcBef>
              <a:spcAft>
                <a:spcPts val="200"/>
              </a:spcAft>
            </a:pPr>
            <a:r>
              <a:rPr sz="1500" b="1" i="0">
                <a:solidFill>
                  <a:srgbClr val="083F80"/>
                </a:solidFill>
                <a:latin typeface="Segoe UI"/>
                <a:ea typeface="맑은 고딕"/>
                <a:cs typeface="맑은 고딕"/>
              </a:rPr>
              <a:t>▪  주의해서 읽을 점</a:t>
            </a:r>
          </a:p>
          <a:p>
            <a:pPr algn="l">
              <a:lnSpc>
                <a:spcPct val="118000"/>
              </a:lnSpc>
              <a:spcBef>
                <a:spcPts val="200"/>
              </a:spcBef>
              <a:spcAft>
                <a:spcPts val="100"/>
              </a:spcAft>
            </a:pPr>
            <a:r>
              <a:rPr sz="1380" b="0" i="0">
                <a:solidFill>
                  <a:srgbClr val="2C3A4B"/>
                </a:solidFill>
                <a:latin typeface="Segoe UI"/>
                <a:ea typeface="맑은 고딕"/>
                <a:cs typeface="맑은 고딕"/>
              </a:rPr>
              <a:t>–  "for this model" — LLaMA-2 7B 라는 특정 모델에 대한 값이다</a:t>
            </a:r>
          </a:p>
          <a:p>
            <a:pPr algn="l">
              <a:lnSpc>
                <a:spcPct val="118000"/>
              </a:lnSpc>
              <a:spcBef>
                <a:spcPts val="200"/>
              </a:spcBef>
              <a:spcAft>
                <a:spcPts val="100"/>
              </a:spcAft>
            </a:pPr>
            <a:r>
              <a:rPr sz="1380" b="0" i="0">
                <a:solidFill>
                  <a:srgbClr val="2C3A4B"/>
                </a:solidFill>
                <a:latin typeface="Segoe UI"/>
                <a:ea typeface="맑은 고딕"/>
                <a:cs typeface="맑은 고딕"/>
              </a:rPr>
              <a:t>–  비교 지표는 절대 성능이 아니라 와트당 성능이다</a:t>
            </a:r>
          </a:p>
          <a:p>
            <a:pPr algn="l">
              <a:lnSpc>
                <a:spcPct val="118000"/>
              </a:lnSpc>
              <a:spcBef>
                <a:spcPts val="200"/>
              </a:spcBef>
              <a:spcAft>
                <a:spcPts val="100"/>
              </a:spcAft>
            </a:pPr>
            <a:r>
              <a:rPr sz="1380" b="0" i="0">
                <a:solidFill>
                  <a:srgbClr val="2C3A4B"/>
                </a:solidFill>
                <a:latin typeface="Segoe UI"/>
                <a:ea typeface="맑은 고딕"/>
                <a:cs typeface="맑은 고딕"/>
              </a:rPr>
              <a:t>–  상세 수치와 측정 조건은 VI절 TABLE II 와 Fig. 14 에 있다 (별표 표기 = sparsity 없이 측정)</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주장의 최종 근거는 단 하나의 숫자 쌍이다 — LLaMA-2 7B 에서 H100 대비 2.7×, L40s 대비 4.1× 와트당 성능.</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(1/11) — 진단: 근본 연산은 행렬곱이 아니다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"Most major commercial AI accelerators primarily focus on integrating matrix multiplication as a basic operation of hardware acceleration [2], [9], [10], [12]."</a:t>
            </a:r>
          </a:p>
          <a:p>
            <a:pPr algn="l">
              <a:lnSpc>
                <a:spcPct val="118000"/>
              </a:lnSpc>
              <a:spcBef>
                <a:spcPts val="200"/>
              </a:spcBef>
              <a:spcAft>
                <a:spcPts val="100"/>
              </a:spcAft>
            </a:pPr>
            <a:r>
              <a:rPr sz="1580" b="0" i="0">
                <a:solidFill>
                  <a:srgbClr val="2C3A4B"/>
                </a:solidFill>
                <a:latin typeface="Segoe UI"/>
                <a:ea typeface="맑은 고딕"/>
                <a:cs typeface="맑은 고딕"/>
              </a:rPr>
              <a:t>–  대부분의 주요 상용 AI 가속기는 행렬곱(matrix multiplication)을 하드웨어 가속의 기본 연산으로 집어넣는 데 주력한다</a:t>
            </a:r>
          </a:p>
          <a:p>
            <a:pPr algn="l">
              <a:lnSpc>
                <a:spcPct val="118000"/>
              </a:lnSpc>
              <a:spcBef>
                <a:spcPts val="200"/>
              </a:spcBef>
              <a:spcAft>
                <a:spcPts val="100"/>
              </a:spcAft>
            </a:pPr>
            <a:r>
              <a:rPr sz="1580" b="0" i="0">
                <a:solidFill>
                  <a:srgbClr val="2C3A4B"/>
                </a:solidFill>
                <a:latin typeface="Segoe UI"/>
                <a:ea typeface="맑은 고딕"/>
                <a:cs typeface="맑은 고딕"/>
              </a:rPr>
              <a:t>–  인용된 네 사례: [2] Qualcomm Cloud AI 100, [9] Google TPU, [10] Graphcore, [12] Habana Labs Gaudi</a:t>
            </a:r>
          </a:p>
          <a:p>
            <a:pPr algn="l">
              <a:lnSpc>
                <a:spcPct val="118000"/>
              </a:lnSpc>
              <a:spcBef>
                <a:spcPts val="600"/>
              </a:spcBef>
              <a:spcAft>
                <a:spcPts val="200"/>
              </a:spcAft>
            </a:pPr>
            <a:r>
              <a:rPr sz="1700" b="1" i="0">
                <a:solidFill>
                  <a:srgbClr val="083F80"/>
                </a:solidFill>
                <a:latin typeface="Segoe UI"/>
                <a:ea typeface="맑은 고딕"/>
                <a:cs typeface="맑은 고딕"/>
              </a:rPr>
              <a:t>▪  원문: "Fundamentally, however, the core operation of machine learning models is tensor contraction."</a:t>
            </a:r>
          </a:p>
          <a:p>
            <a:pPr algn="l">
              <a:lnSpc>
                <a:spcPct val="118000"/>
              </a:lnSpc>
              <a:spcBef>
                <a:spcPts val="200"/>
              </a:spcBef>
              <a:spcAft>
                <a:spcPts val="100"/>
              </a:spcAft>
            </a:pPr>
            <a:r>
              <a:rPr sz="1580" b="0" i="0">
                <a:solidFill>
                  <a:srgbClr val="2C3A4B"/>
                </a:solidFill>
                <a:latin typeface="Segoe UI"/>
                <a:ea typeface="맑은 고딕"/>
                <a:cs typeface="맑은 고딕"/>
              </a:rPr>
              <a:t>–  그러나 근본적으로(fundamentally), 기계학습 모델의 핵심 연산은 텐서 축약(tensor contraction)이다</a:t>
            </a:r>
          </a:p>
          <a:p>
            <a:pPr algn="l">
              <a:lnSpc>
                <a:spcPct val="118000"/>
              </a:lnSpc>
              <a:spcBef>
                <a:spcPts val="600"/>
              </a:spcBef>
              <a:spcAft>
                <a:spcPts val="200"/>
              </a:spcAft>
            </a:pPr>
            <a:r>
              <a:rPr sz="1700" b="1" i="0">
                <a:solidFill>
                  <a:srgbClr val="083F80"/>
                </a:solidFill>
                <a:latin typeface="Segoe UI"/>
                <a:ea typeface="맑은 고딕"/>
                <a:cs typeface="맑은 고딕"/>
              </a:rPr>
              <a:t>▪  원문: "Tensor contraction involves summing the elements of certain axes of a tensor."</a:t>
            </a:r>
          </a:p>
          <a:p>
            <a:pPr algn="l">
              <a:lnSpc>
                <a:spcPct val="118000"/>
              </a:lnSpc>
              <a:spcBef>
                <a:spcPts val="200"/>
              </a:spcBef>
              <a:spcAft>
                <a:spcPts val="100"/>
              </a:spcAft>
            </a:pPr>
            <a:r>
              <a:rPr sz="1580" b="0" i="0">
                <a:solidFill>
                  <a:srgbClr val="2C3A4B"/>
                </a:solidFill>
                <a:latin typeface="Segoe UI"/>
                <a:ea typeface="맑은 고딕"/>
                <a:cs typeface="맑은 고딕"/>
              </a:rPr>
              <a:t>–  텐서 축약이란 텐서의 특정 축(axes)의 원소들을 합하는 것이다</a:t>
            </a:r>
          </a:p>
          <a:p>
            <a:pPr algn="l">
              <a:lnSpc>
                <a:spcPct val="118000"/>
              </a:lnSpc>
              <a:spcBef>
                <a:spcPts val="600"/>
              </a:spcBef>
              <a:spcAft>
                <a:spcPts val="200"/>
              </a:spcAft>
            </a:pPr>
            <a:r>
              <a:rPr sz="1700" b="1" i="0">
                <a:solidFill>
                  <a:srgbClr val="083F80"/>
                </a:solidFill>
                <a:latin typeface="Segoe UI"/>
                <a:ea typeface="맑은 고딕"/>
                <a:cs typeface="맑은 고딕"/>
              </a:rPr>
              <a:t>▪  원문: "Tensor contraction forms the backbone of machine learning models, handling computations over multi-dimensional data."</a:t>
            </a:r>
          </a:p>
          <a:p>
            <a:pPr algn="l">
              <a:lnSpc>
                <a:spcPct val="118000"/>
              </a:lnSpc>
              <a:spcBef>
                <a:spcPts val="200"/>
              </a:spcBef>
              <a:spcAft>
                <a:spcPts val="100"/>
              </a:spcAft>
            </a:pPr>
            <a:r>
              <a:rPr sz="1580" b="0" i="0">
                <a:solidFill>
                  <a:srgbClr val="2C3A4B"/>
                </a:solidFill>
                <a:latin typeface="Segoe UI"/>
                <a:ea typeface="맑은 고딕"/>
                <a:cs typeface="맑은 고딕"/>
              </a:rPr>
              <a:t>–  텐서 축약은 기계학습 모델의 등뼈(backbone)를 이루며, 다차원 데이터에 대한 계산을 담당한다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업계는 행렬곱을 기본 연산으로 삼았지만, 모델의 실제 핵심 연산은 텐서 축약이다.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서론 (2/11) — 행렬곱은 텐서 축약의 한 예다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원문: "Matrix multiplication is a representative example of tensor contraction."</a:t>
            </a:r>
          </a:p>
        </p:txBody>
      </p:sp>
      <p:sp>
        <p:nvSpPr>
          <p:cNvPr id="9" name="Rectangle 8"/>
          <p:cNvSpPr/>
          <p:nvPr/>
        </p:nvSpPr>
        <p:spPr>
          <a:xfrm>
            <a:off x="566928" y="1810512"/>
            <a:ext cx="11057839" cy="37490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000" b="0" i="0">
                <a:solidFill>
                  <a:srgbClr val="7D91A8"/>
                </a:solidFill>
                <a:latin typeface="Consolas"/>
                <a:ea typeface="Consolas"/>
                <a:cs typeface="Consolas"/>
              </a:rPr>
              <a:t># 논문 원문의 예시</a:t>
            </a:r>
          </a:p>
          <a:p>
            <a:pPr algn="l">
              <a:lnSpc>
                <a:spcPct val="124000"/>
              </a:lnSpc>
              <a:spcAft>
                <a:spcPts val="0"/>
              </a:spcAft>
            </a:pPr>
            <a:r>
              <a:rPr sz="1000" b="0" i="0">
                <a:solidFill>
                  <a:srgbClr val="7D91A8"/>
                </a:solidFill>
                <a:latin typeface="Consolas"/>
                <a:ea typeface="Consolas"/>
                <a:cs typeface="Consolas"/>
              </a:rPr>
              <a:t>#   "a multiplication of matrices with dimensions m×k and k×n</a:t>
            </a:r>
          </a:p>
          <a:p>
            <a:pPr algn="l">
              <a:lnSpc>
                <a:spcPct val="124000"/>
              </a:lnSpc>
              <a:spcAft>
                <a:spcPts val="0"/>
              </a:spcAft>
            </a:pPr>
            <a:r>
              <a:rPr sz="1000" b="0" i="0">
                <a:solidFill>
                  <a:srgbClr val="7D91A8"/>
                </a:solidFill>
                <a:latin typeface="Consolas"/>
                <a:ea typeface="Consolas"/>
                <a:cs typeface="Consolas"/>
              </a:rPr>
              <a:t>#    can be expressed as a tensor contraction mk,kn→mn.</a:t>
            </a:r>
          </a:p>
          <a:p>
            <a:pPr algn="l">
              <a:lnSpc>
                <a:spcPct val="124000"/>
              </a:lnSpc>
              <a:spcAft>
                <a:spcPts val="0"/>
              </a:spcAft>
            </a:pPr>
            <a:r>
              <a:rPr sz="1000" b="0" i="0">
                <a:solidFill>
                  <a:srgbClr val="7D91A8"/>
                </a:solidFill>
                <a:latin typeface="Consolas"/>
                <a:ea typeface="Consolas"/>
                <a:cs typeface="Consolas"/>
              </a:rPr>
              <a:t>#    Contraction is done over the (common) k axis."</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    A (m × k)  ·  B (k × n)  =  C (m × n)</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    einsum 표기:   mk , kn  -&gt;  mn</a:t>
            </a:r>
          </a:p>
          <a:p>
            <a:pPr algn="l">
              <a:lnSpc>
                <a:spcPct val="124000"/>
              </a:lnSpc>
              <a:spcAft>
                <a:spcPts val="0"/>
              </a:spcAft>
            </a:pPr>
            <a:r>
              <a:rPr sz="1000" b="0" i="0">
                <a:solidFill>
                  <a:srgbClr val="E6EDF3"/>
                </a:solidFill>
                <a:latin typeface="Consolas"/>
                <a:ea typeface="Consolas"/>
                <a:cs typeface="Consolas"/>
              </a:rPr>
              <a:t>                    ^      ^</a:t>
            </a:r>
          </a:p>
          <a:p>
            <a:pPr algn="l">
              <a:lnSpc>
                <a:spcPct val="124000"/>
              </a:lnSpc>
              <a:spcAft>
                <a:spcPts val="0"/>
              </a:spcAft>
            </a:pPr>
            <a:r>
              <a:rPr sz="1000" b="0" i="0">
                <a:solidFill>
                  <a:srgbClr val="E6EDF3"/>
                </a:solidFill>
                <a:latin typeface="Consolas"/>
                <a:ea typeface="Consolas"/>
                <a:cs typeface="Consolas"/>
              </a:rPr>
              <a:t>                    └──────┴── 공통(common) 축 k</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    출력 mn 에는 k 가 없다.  =&gt;  k 축에서 축약이 일어났다는 뜻이다.</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7D91A8"/>
                </a:solidFill>
                <a:latin typeface="Consolas"/>
                <a:ea typeface="Consolas"/>
                <a:cs typeface="Consolas"/>
              </a:rPr>
              <a:t># (해설) 축약을 풀어 쓰면</a:t>
            </a:r>
          </a:p>
          <a:p>
            <a:pPr algn="l">
              <a:lnSpc>
                <a:spcPct val="124000"/>
              </a:lnSpc>
              <a:spcAft>
                <a:spcPts val="0"/>
              </a:spcAft>
            </a:pPr>
            <a:r>
              <a:rPr sz="1000" b="0" i="0">
                <a:solidFill>
                  <a:srgbClr val="7D91A8"/>
                </a:solidFill>
                <a:latin typeface="Consolas"/>
                <a:ea typeface="Consolas"/>
                <a:cs typeface="Consolas"/>
              </a:rPr>
              <a:t>#   C[i][j] = sum over k of  A[i][k] * B[k][j]</a:t>
            </a:r>
          </a:p>
          <a:p>
            <a:pPr algn="l">
              <a:lnSpc>
                <a:spcPct val="124000"/>
              </a:lnSpc>
              <a:spcAft>
                <a:spcPts val="0"/>
              </a:spcAft>
            </a:pPr>
            <a:r>
              <a:rPr sz="1000" b="0" i="0">
                <a:solidFill>
                  <a:srgbClr val="7D91A8"/>
                </a:solidFill>
                <a:latin typeface="Consolas"/>
                <a:ea typeface="Consolas"/>
                <a:cs typeface="Consolas"/>
              </a:rPr>
              <a:t>#   즉 '특정 축의 원소들을 합한다'가 여기서는 k 축에 대한 합이다.</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7D91A8"/>
                </a:solidFill>
                <a:latin typeface="Consolas"/>
                <a:ea typeface="Consolas"/>
                <a:cs typeface="Consolas"/>
              </a:rPr>
              <a:t># 논지</a:t>
            </a:r>
          </a:p>
          <a:p>
            <a:pPr algn="l">
              <a:lnSpc>
                <a:spcPct val="124000"/>
              </a:lnSpc>
              <a:spcAft>
                <a:spcPts val="0"/>
              </a:spcAft>
            </a:pPr>
            <a:r>
              <a:rPr sz="1000" b="0" i="0">
                <a:solidFill>
                  <a:srgbClr val="7D91A8"/>
                </a:solidFill>
                <a:latin typeface="Consolas"/>
                <a:ea typeface="Consolas"/>
                <a:cs typeface="Consolas"/>
              </a:rPr>
              <a:t>#   행렬곱  ⊂  텐서 축약</a:t>
            </a:r>
          </a:p>
          <a:p>
            <a:pPr algn="l">
              <a:lnSpc>
                <a:spcPct val="124000"/>
              </a:lnSpc>
              <a:spcAft>
                <a:spcPts val="0"/>
              </a:spcAft>
            </a:pPr>
            <a:r>
              <a:rPr sz="1000" b="0" i="0">
                <a:solidFill>
                  <a:srgbClr val="7D91A8"/>
                </a:solidFill>
                <a:latin typeface="Consolas"/>
                <a:ea typeface="Consolas"/>
                <a:cs typeface="Consolas"/>
              </a:rPr>
              <a:t>#   업계는 부분집합(행렬곱)을 하드웨어의 기본 단위로 고정했다.</a:t>
            </a:r>
          </a:p>
          <a:p>
            <a:pPr algn="l">
              <a:lnSpc>
                <a:spcPct val="124000"/>
              </a:lnSpc>
              <a:spcAft>
                <a:spcPts val="0"/>
              </a:spcAft>
            </a:pPr>
            <a:r>
              <a:rPr sz="1000" b="0" i="0">
                <a:solidFill>
                  <a:srgbClr val="7D91A8"/>
                </a:solidFill>
                <a:latin typeface="Consolas"/>
                <a:ea typeface="Consolas"/>
                <a:cs typeface="Consolas"/>
              </a:rPr>
              <a:t>#   TCP 는 전체집합(축약)을 기본 단위로 삼는다.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입력에는 있고 출력에는 없는 축 — 그 축에서 축약이 일어난다. 이것이 einsum 을 읽는 규칙이다.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(3/11) — 문제 A: 행렬곱 유닛으로 자르면 잃는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원문: "Traditional computational architectures often map or divide tensor contractions into matrix multiplication units."</a:t>
            </a:r>
          </a:p>
          <a:p>
            <a:pPr algn="l">
              <a:lnSpc>
                <a:spcPct val="118000"/>
              </a:lnSpc>
              <a:spcBef>
                <a:spcPts val="200"/>
              </a:spcBef>
              <a:spcAft>
                <a:spcPts val="100"/>
              </a:spcAft>
            </a:pPr>
            <a:r>
              <a:rPr sz="1380" b="0" i="0">
                <a:solidFill>
                  <a:srgbClr val="2C3A4B"/>
                </a:solidFill>
                <a:latin typeface="Segoe UI"/>
                <a:ea typeface="맑은 고딕"/>
                <a:cs typeface="맑은 고딕"/>
              </a:rPr>
              <a:t>–  전통적인 계산 아키텍처는 텐서 축약을 행렬곱 유닛에 매핑(map)하거나 분할(divide)하는 경우가 많다</a:t>
            </a:r>
          </a:p>
          <a:p>
            <a:pPr algn="l">
              <a:lnSpc>
                <a:spcPct val="118000"/>
              </a:lnSpc>
              <a:spcBef>
                <a:spcPts val="600"/>
              </a:spcBef>
              <a:spcAft>
                <a:spcPts val="200"/>
              </a:spcAft>
            </a:pPr>
            <a:r>
              <a:rPr sz="1500" b="1" i="0">
                <a:solidFill>
                  <a:srgbClr val="083F80"/>
                </a:solidFill>
                <a:latin typeface="Segoe UI"/>
                <a:ea typeface="맑은 고딕"/>
                <a:cs typeface="맑은 고딕"/>
              </a:rPr>
              <a:t>▪  원문: "This approach may fail to fully utilize the rich parallelism and data locality inherent in tensor contractions themselves."</a:t>
            </a:r>
          </a:p>
          <a:p>
            <a:pPr algn="l">
              <a:lnSpc>
                <a:spcPct val="118000"/>
              </a:lnSpc>
              <a:spcBef>
                <a:spcPts val="200"/>
              </a:spcBef>
              <a:spcAft>
                <a:spcPts val="100"/>
              </a:spcAft>
            </a:pPr>
            <a:r>
              <a:rPr sz="1380" b="0" i="0">
                <a:solidFill>
                  <a:srgbClr val="2C3A4B"/>
                </a:solidFill>
                <a:latin typeface="Segoe UI"/>
                <a:ea typeface="맑은 고딕"/>
                <a:cs typeface="맑은 고딕"/>
              </a:rPr>
              <a:t>–  이 접근은 텐서 축약 자체에 내재한 풍부한 병렬성과 데이터 지역성을 충분히 활용하지 못할 수 있다</a:t>
            </a:r>
          </a:p>
          <a:p>
            <a:pPr algn="l">
              <a:lnSpc>
                <a:spcPct val="118000"/>
              </a:lnSpc>
              <a:spcBef>
                <a:spcPts val="600"/>
              </a:spcBef>
              <a:spcAft>
                <a:spcPts val="200"/>
              </a:spcAft>
            </a:pPr>
            <a:r>
              <a:rPr sz="1500" b="1" i="0">
                <a:solidFill>
                  <a:srgbClr val="083F80"/>
                </a:solidFill>
                <a:latin typeface="Segoe UI"/>
                <a:ea typeface="맑은 고딕"/>
                <a:cs typeface="맑은 고딕"/>
              </a:rPr>
              <a:t>▪  원문: "When the unit size of the accelerator (e.g., matrix or tile size) is small, the scope for data reuse is limited, hurting efficiency [7]."</a:t>
            </a:r>
          </a:p>
          <a:p>
            <a:pPr algn="l">
              <a:lnSpc>
                <a:spcPct val="118000"/>
              </a:lnSpc>
              <a:spcBef>
                <a:spcPts val="200"/>
              </a:spcBef>
              <a:spcAft>
                <a:spcPts val="100"/>
              </a:spcAft>
            </a:pPr>
            <a:r>
              <a:rPr sz="1380" b="0" i="0">
                <a:solidFill>
                  <a:srgbClr val="2C3A4B"/>
                </a:solidFill>
                <a:latin typeface="Segoe UI"/>
                <a:ea typeface="맑은 고딕"/>
                <a:cs typeface="맑은 고딕"/>
              </a:rPr>
              <a:t>–  가속기의 유닛 크기(예: 행렬 크기, 타일 크기)가 작으면 데이터 재사용의 범위(scope)가 제한되고, 효율이 손상된다</a:t>
            </a:r>
          </a:p>
          <a:p>
            <a:pPr algn="l">
              <a:lnSpc>
                <a:spcPct val="118000"/>
              </a:lnSpc>
              <a:spcBef>
                <a:spcPts val="200"/>
              </a:spcBef>
              <a:spcAft>
                <a:spcPts val="100"/>
              </a:spcAft>
            </a:pPr>
            <a:r>
              <a:rPr sz="1380" b="0" i="0">
                <a:solidFill>
                  <a:srgbClr val="2C3A4B"/>
                </a:solidFill>
                <a:latin typeface="Segoe UI"/>
                <a:ea typeface="맑은 고딕"/>
                <a:cs typeface="맑은 고딕"/>
              </a:rPr>
              <a:t>–  근거는 [7], 즉 TPU v4 논문(ISCA 2023)이다</a:t>
            </a:r>
          </a:p>
          <a:p>
            <a:pPr algn="l">
              <a:lnSpc>
                <a:spcPct val="118000"/>
              </a:lnSpc>
              <a:spcBef>
                <a:spcPts val="600"/>
              </a:spcBef>
              <a:spcAft>
                <a:spcPts val="200"/>
              </a:spcAft>
            </a:pPr>
            <a:r>
              <a:rPr sz="1500" b="1" i="0">
                <a:solidFill>
                  <a:srgbClr val="083F80"/>
                </a:solidFill>
                <a:latin typeface="Segoe UI"/>
                <a:ea typeface="맑은 고딕"/>
                <a:cs typeface="맑은 고딕"/>
              </a:rPr>
              <a:t>▪  정리하면</a:t>
            </a:r>
          </a:p>
          <a:p>
            <a:pPr algn="l">
              <a:lnSpc>
                <a:spcPct val="118000"/>
              </a:lnSpc>
              <a:spcBef>
                <a:spcPts val="200"/>
              </a:spcBef>
              <a:spcAft>
                <a:spcPts val="100"/>
              </a:spcAft>
            </a:pPr>
            <a:r>
              <a:rPr sz="1380" b="0" i="0">
                <a:solidFill>
                  <a:srgbClr val="2C3A4B"/>
                </a:solidFill>
                <a:latin typeface="Segoe UI"/>
                <a:ea typeface="맑은 고딕"/>
                <a:cs typeface="맑은 고딕"/>
              </a:rPr>
              <a:t>–  축약을 행렬곱 단위로 잘게 자르는 순간, 그 축약이 원래 가지고 있던 재사용 기회가 유닛 경계 밖으로 밀려난다</a:t>
            </a:r>
          </a:p>
          <a:p>
            <a:pPr algn="l">
              <a:lnSpc>
                <a:spcPct val="118000"/>
              </a:lnSpc>
              <a:spcBef>
                <a:spcPts val="200"/>
              </a:spcBef>
              <a:spcAft>
                <a:spcPts val="100"/>
              </a:spcAft>
            </a:pPr>
            <a:r>
              <a:rPr sz="1380" b="0" i="0">
                <a:solidFill>
                  <a:srgbClr val="2C3A4B"/>
                </a:solidFill>
                <a:latin typeface="Segoe UI"/>
                <a:ea typeface="맑은 고딕"/>
                <a:cs typeface="맑은 고딕"/>
              </a:rPr>
              <a:t>–  작은 타일은 유연해 보이지만 재사용 범위를 스스로 좁힌다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유닛 크기가 작으면 재사용의 범위도 작아진다. 유연성의 대가는 효율이다.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(4/11) — 문제 B: 작은 PE 를 많이 깔면 프로그램을 못 만든다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원문: "In addition, in many spatial accelerators, where a large number of small processing elements (PEs) are equipped with local memory and connected via a network-on-chip (NoC), there is inherently high complexity in parallelizing operations while being NoC-aware."</a:t>
            </a:r>
          </a:p>
          <a:p>
            <a:pPr algn="l">
              <a:lnSpc>
                <a:spcPct val="118000"/>
              </a:lnSpc>
              <a:spcBef>
                <a:spcPts val="200"/>
              </a:spcBef>
              <a:spcAft>
                <a:spcPts val="100"/>
              </a:spcAft>
            </a:pPr>
            <a:r>
              <a:rPr sz="1280" b="0" i="0">
                <a:solidFill>
                  <a:srgbClr val="2C3A4B"/>
                </a:solidFill>
                <a:latin typeface="Segoe UI"/>
                <a:ea typeface="맑은 고딕"/>
                <a:cs typeface="맑은 고딕"/>
              </a:rPr>
              <a:t>–  많은 spatial accelerator (공간형 가속기)에서는 다수의 작은 PE 가 각자 로컬 메모리를 갖고 NoC (network-on-chip, 온칩 네트워크) 로 연결된다</a:t>
            </a:r>
          </a:p>
          <a:p>
            <a:pPr algn="l">
              <a:lnSpc>
                <a:spcPct val="118000"/>
              </a:lnSpc>
              <a:spcBef>
                <a:spcPts val="200"/>
              </a:spcBef>
              <a:spcAft>
                <a:spcPts val="100"/>
              </a:spcAft>
            </a:pPr>
            <a:r>
              <a:rPr sz="1280" b="0" i="0">
                <a:solidFill>
                  <a:srgbClr val="2C3A4B"/>
                </a:solidFill>
                <a:latin typeface="Segoe UI"/>
                <a:ea typeface="맑은 고딕"/>
                <a:cs typeface="맑은 고딕"/>
              </a:rPr>
              <a:t>–  이 구조에서는 NoC 를 인지한 채(NoC-aware) 연산을 병렬화하는 일에 본질적으로 높은 복잡도가 따른다</a:t>
            </a:r>
          </a:p>
          <a:p>
            <a:pPr algn="l">
              <a:lnSpc>
                <a:spcPct val="118000"/>
              </a:lnSpc>
              <a:spcBef>
                <a:spcPts val="600"/>
              </a:spcBef>
              <a:spcAft>
                <a:spcPts val="200"/>
              </a:spcAft>
            </a:pPr>
            <a:r>
              <a:rPr sz="1400" b="1" i="0">
                <a:solidFill>
                  <a:srgbClr val="083F80"/>
                </a:solidFill>
                <a:latin typeface="Segoe UI"/>
                <a:ea typeface="맑은 고딕"/>
                <a:cs typeface="맑은 고딕"/>
              </a:rPr>
              <a:t>▪  원문: "Moreover, generating programs for numerous wimpy cores is known to be more challenging than for a few brawny cores [7]."</a:t>
            </a:r>
          </a:p>
          <a:p>
            <a:pPr algn="l">
              <a:lnSpc>
                <a:spcPct val="118000"/>
              </a:lnSpc>
              <a:spcBef>
                <a:spcPts val="200"/>
              </a:spcBef>
              <a:spcAft>
                <a:spcPts val="100"/>
              </a:spcAft>
            </a:pPr>
            <a:r>
              <a:rPr sz="1280" b="0" i="0">
                <a:solidFill>
                  <a:srgbClr val="2C3A4B"/>
                </a:solidFill>
                <a:latin typeface="Segoe UI"/>
                <a:ea typeface="맑은 고딕"/>
                <a:cs typeface="맑은 고딕"/>
              </a:rPr>
              <a:t>–  게다가 수많은 wimpy core (빈약한 코어) 를 위한 프로그램을 만드는 것은, 소수의 brawny core (건장한 코어) 를 위한 것보다 어렵다고 알려져 있다</a:t>
            </a:r>
          </a:p>
          <a:p>
            <a:pPr algn="l">
              <a:lnSpc>
                <a:spcPct val="118000"/>
              </a:lnSpc>
              <a:spcBef>
                <a:spcPts val="200"/>
              </a:spcBef>
              <a:spcAft>
                <a:spcPts val="100"/>
              </a:spcAft>
            </a:pPr>
            <a:r>
              <a:rPr sz="1280" b="0" i="0">
                <a:solidFill>
                  <a:srgbClr val="2C3A4B"/>
                </a:solidFill>
                <a:latin typeface="Segoe UI"/>
                <a:ea typeface="맑은 고딕"/>
                <a:cs typeface="맑은 고딕"/>
              </a:rPr>
              <a:t>–  이 역시 근거는 [7] TPU v4 논문이다</a:t>
            </a:r>
          </a:p>
          <a:p>
            <a:pPr algn="l">
              <a:lnSpc>
                <a:spcPct val="118000"/>
              </a:lnSpc>
              <a:spcBef>
                <a:spcPts val="600"/>
              </a:spcBef>
              <a:spcAft>
                <a:spcPts val="200"/>
              </a:spcAft>
            </a:pPr>
            <a:r>
              <a:rPr sz="1400" b="1" i="0">
                <a:solidFill>
                  <a:srgbClr val="083F80"/>
                </a:solidFill>
                <a:latin typeface="Segoe UI"/>
                <a:ea typeface="맑은 고딕"/>
                <a:cs typeface="맑은 고딕"/>
              </a:rPr>
              <a:t>▪  원문: "Except for GPUs, there are few successful commercial chips with a large number of small PEs that provide a software stack capable of compiling arbitrary tensor-manipulating programs into efficient executables."</a:t>
            </a:r>
          </a:p>
          <a:p>
            <a:pPr algn="l">
              <a:lnSpc>
                <a:spcPct val="118000"/>
              </a:lnSpc>
              <a:spcBef>
                <a:spcPts val="200"/>
              </a:spcBef>
              <a:spcAft>
                <a:spcPts val="100"/>
              </a:spcAft>
            </a:pPr>
            <a:r>
              <a:rPr sz="1280" b="0" i="0">
                <a:solidFill>
                  <a:srgbClr val="2C3A4B"/>
                </a:solidFill>
                <a:latin typeface="Segoe UI"/>
                <a:ea typeface="맑은 고딕"/>
                <a:cs typeface="맑은 고딕"/>
              </a:rPr>
              <a:t>–  GPU 를 제외하면, 다수의 작은 PE 를 가지면서 임의의 텐서 조작 프로그램을 효율적인 실행 파일로 컴파일할 수 있는 소프트웨어 스택까지 제공하는 상용 칩의 성공 사례는 거의 없다</a:t>
            </a:r>
          </a:p>
          <a:p>
            <a:pPr algn="l">
              <a:lnSpc>
                <a:spcPct val="118000"/>
              </a:lnSpc>
              <a:spcBef>
                <a:spcPts val="200"/>
              </a:spcBef>
              <a:spcAft>
                <a:spcPts val="100"/>
              </a:spcAft>
            </a:pPr>
            <a:r>
              <a:rPr sz="1280" b="0" i="0">
                <a:solidFill>
                  <a:srgbClr val="2C3A4B"/>
                </a:solidFill>
                <a:latin typeface="Segoe UI"/>
                <a:ea typeface="맑은 고딕"/>
                <a:cs typeface="맑은 고딕"/>
              </a:rPr>
              <a:t>–  이것은 이론적 지적이 아니라 시장 관찰이다. "성공한 상용 칩이 거의 없다"는 경험적 근거를 든다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작은 코어를 많이 까는 길은 하드웨어 문제가 아니라 컴파일러 문제로 실패한다.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서론 (5/11) — 문제 C, 그리고 서론이 세운 딜레마</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a:t>
            </a:r>
          </a:p>
        </p:txBody>
      </p:sp>
      <p:grpSp>
        <p:nvGrpSpPr>
          <p:cNvPr id="8" name="도해 A1#19"/>
          <p:cNvGrpSpPr/>
          <p:nvPr/>
        </p:nvGrpSpPr>
        <p:grpSpPr>
          <a:xfrm>
            <a:off x="890272" y="1207008"/>
            <a:ext cx="10411151" cy="4334256"/>
            <a:chOff x="890272" y="1207008"/>
            <a:chExt cx="10411151" cy="4334256"/>
          </a:xfrm>
        </p:grpSpPr>
        <p:sp>
          <p:nvSpPr>
            <p:cNvPr id="9" name="Rounded Rectangle 8"/>
            <p:cNvSpPr/>
            <p:nvPr/>
          </p:nvSpPr>
          <p:spPr>
            <a:xfrm>
              <a:off x="890272" y="1207008"/>
              <a:ext cx="5093868" cy="3239521"/>
            </a:xfrm>
            <a:prstGeom prst="roundRect">
              <a:avLst>
                <a:gd name="adj" fmla="val 3448"/>
              </a:avLst>
            </a:prstGeom>
            <a:solidFill>
              <a:srgbClr val="FDE8E8"/>
            </a:solidFill>
            <a:ln w="2234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75392" y="1331897"/>
              <a:ext cx="1923628" cy="234541"/>
            </a:xfrm>
            <a:prstGeom prst="rect">
              <a:avLst/>
            </a:prstGeom>
            <a:noFill/>
          </p:spPr>
          <p:txBody>
            <a:bodyPr wrap="none" anchor="ctr" lIns="0" rIns="0" tIns="0" bIns="0">
              <a:noAutofit/>
            </a:bodyPr>
            <a:lstStyle/>
            <a:p>
              <a:pPr algn="ctr"/>
              <a:r>
                <a:rPr sz="1280" b="1">
                  <a:solidFill>
                    <a:srgbClr val="B4222A"/>
                  </a:solidFill>
                  <a:latin typeface="맑은 고딕"/>
                  <a:ea typeface="맑은 고딕"/>
                  <a:cs typeface="맑은 고딕"/>
                </a:rPr>
                <a:t>작은 유닛 · 작은 PE 를 많이</a:t>
              </a:r>
            </a:p>
          </p:txBody>
        </p:sp>
        <p:cxnSp>
          <p:nvCxnSpPr>
            <p:cNvPr id="11" name="Connector 10"/>
            <p:cNvCxnSpPr/>
            <p:nvPr/>
          </p:nvCxnSpPr>
          <p:spPr>
            <a:xfrm>
              <a:off x="2431837" y="1866083"/>
              <a:ext cx="2010738" cy="0"/>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31837" y="2290572"/>
              <a:ext cx="2010738" cy="0"/>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31837" y="2715061"/>
              <a:ext cx="2010738" cy="0"/>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431837" y="1866083"/>
              <a:ext cx="0" cy="848978"/>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102083" y="1866083"/>
              <a:ext cx="0" cy="848978"/>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72329" y="1866083"/>
              <a:ext cx="0" cy="848978"/>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42575" y="1866083"/>
              <a:ext cx="0" cy="848978"/>
            </a:xfrm>
            <a:prstGeom prst="line">
              <a:avLst/>
            </a:prstGeom>
            <a:ln w="11170">
              <a:solidFill>
                <a:srgbClr val="5B6B7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186080" y="1698522"/>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856326" y="1698522"/>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26572" y="1698522"/>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96818" y="1698522"/>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186080" y="2123011"/>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56326" y="2123011"/>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26572" y="2123011"/>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96818" y="2123011"/>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186080" y="2547500"/>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56326" y="2547500"/>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526572" y="2547500"/>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96818" y="2547500"/>
              <a:ext cx="491514" cy="335123"/>
            </a:xfrm>
            <a:prstGeom prst="roundRect">
              <a:avLst>
                <a:gd name="adj" fmla="val 13333"/>
              </a:avLst>
            </a:prstGeom>
            <a:solidFill>
              <a:srgbClr val="FFFFFF"/>
            </a:solidFill>
            <a:ln w="1452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00039" y="2199195"/>
              <a:ext cx="649217" cy="169840"/>
            </a:xfrm>
            <a:prstGeom prst="rect">
              <a:avLst/>
            </a:prstGeom>
            <a:noFill/>
          </p:spPr>
          <p:txBody>
            <a:bodyPr wrap="none" anchor="ctr" lIns="0" rIns="0" tIns="0" bIns="0">
              <a:noAutofit/>
            </a:bodyPr>
            <a:lstStyle/>
            <a:p>
              <a:pPr algn="l"/>
              <a:r>
                <a:rPr sz="919" b="0">
                  <a:solidFill>
                    <a:srgbClr val="5B6B7B"/>
                  </a:solidFill>
                  <a:latin typeface="맑은 고딕"/>
                  <a:ea typeface="맑은 고딕"/>
                  <a:cs typeface="맑은 고딕"/>
                </a:rPr>
                <a:t>NoC 로 연결</a:t>
              </a:r>
            </a:p>
          </p:txBody>
        </p:sp>
        <p:sp>
          <p:nvSpPr>
            <p:cNvPr id="31" name="Rounded Rectangle 30"/>
            <p:cNvSpPr/>
            <p:nvPr/>
          </p:nvSpPr>
          <p:spPr>
            <a:xfrm>
              <a:off x="1091346" y="3016672"/>
              <a:ext cx="4691720" cy="603221"/>
            </a:xfrm>
            <a:prstGeom prst="roundRect">
              <a:avLst>
                <a:gd name="adj" fmla="val 11111"/>
              </a:avLst>
            </a:prstGeom>
            <a:solidFill>
              <a:srgbClr val="FFFFFF"/>
            </a:solidFill>
            <a:ln w="1340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47736" y="3109523"/>
              <a:ext cx="1735213" cy="190868"/>
            </a:xfrm>
            <a:prstGeom prst="rect">
              <a:avLst/>
            </a:prstGeom>
            <a:noFill/>
          </p:spPr>
          <p:txBody>
            <a:bodyPr wrap="none" anchor="ctr" lIns="0" rIns="0" tIns="0" bIns="0">
              <a:noAutofit/>
            </a:bodyPr>
            <a:lstStyle/>
            <a:p>
              <a:pPr algn="l"/>
              <a:r>
                <a:rPr sz="1040" b="1">
                  <a:solidFill>
                    <a:srgbClr val="B4222A"/>
                  </a:solidFill>
                  <a:latin typeface="맑은 고딕"/>
                  <a:ea typeface="맑은 고딕"/>
                  <a:cs typeface="맑은 고딕"/>
                </a:rPr>
                <a:t>문제 A — 재사용의 범위가 좁다</a:t>
              </a:r>
            </a:p>
          </p:txBody>
        </p:sp>
        <p:sp>
          <p:nvSpPr>
            <p:cNvPr id="33" name="TextBox 32"/>
            <p:cNvSpPr txBox="1"/>
            <p:nvPr/>
          </p:nvSpPr>
          <p:spPr>
            <a:xfrm>
              <a:off x="1247736" y="3352375"/>
              <a:ext cx="3035368" cy="166605"/>
            </a:xfrm>
            <a:prstGeom prst="rect">
              <a:avLst/>
            </a:prstGeom>
            <a:noFill/>
          </p:spPr>
          <p:txBody>
            <a:bodyPr wrap="none" anchor="ctr" lIns="0" rIns="0" tIns="0" bIns="0">
              <a:noAutofit/>
            </a:bodyPr>
            <a:lstStyle/>
            <a:p>
              <a:pPr algn="l"/>
              <a:r>
                <a:rPr sz="910" b="0">
                  <a:solidFill>
                    <a:srgbClr val="16202C"/>
                  </a:solidFill>
                  <a:latin typeface="맑은 고딕"/>
                  <a:ea typeface="맑은 고딕"/>
                  <a:cs typeface="맑은 고딕"/>
                </a:rPr>
                <a:t>유닛(타일) 크기가 작으면 data reuse 의 scope 가 제한된다 [7]</a:t>
              </a:r>
            </a:p>
          </p:txBody>
        </p:sp>
        <p:sp>
          <p:nvSpPr>
            <p:cNvPr id="34" name="Rounded Rectangle 33"/>
            <p:cNvSpPr/>
            <p:nvPr/>
          </p:nvSpPr>
          <p:spPr>
            <a:xfrm>
              <a:off x="1091346" y="3709259"/>
              <a:ext cx="4691720" cy="603221"/>
            </a:xfrm>
            <a:prstGeom prst="roundRect">
              <a:avLst>
                <a:gd name="adj" fmla="val 11111"/>
              </a:avLst>
            </a:prstGeom>
            <a:solidFill>
              <a:srgbClr val="FFFFFF"/>
            </a:solidFill>
            <a:ln w="1340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7736" y="3802110"/>
              <a:ext cx="1891677" cy="190868"/>
            </a:xfrm>
            <a:prstGeom prst="rect">
              <a:avLst/>
            </a:prstGeom>
            <a:noFill/>
          </p:spPr>
          <p:txBody>
            <a:bodyPr wrap="none" anchor="ctr" lIns="0" rIns="0" tIns="0" bIns="0">
              <a:noAutofit/>
            </a:bodyPr>
            <a:lstStyle/>
            <a:p>
              <a:pPr algn="l"/>
              <a:r>
                <a:rPr sz="1040" b="1">
                  <a:solidFill>
                    <a:srgbClr val="B4222A"/>
                  </a:solidFill>
                  <a:latin typeface="맑은 고딕"/>
                  <a:ea typeface="맑은 고딕"/>
                  <a:cs typeface="맑은 고딕"/>
                </a:rPr>
                <a:t>문제 B — 프로그램을 만들 수 없다</a:t>
              </a:r>
            </a:p>
          </p:txBody>
        </p:sp>
        <p:sp>
          <p:nvSpPr>
            <p:cNvPr id="36" name="TextBox 35"/>
            <p:cNvSpPr txBox="1"/>
            <p:nvPr/>
          </p:nvSpPr>
          <p:spPr>
            <a:xfrm>
              <a:off x="1247736" y="4044963"/>
              <a:ext cx="3431170" cy="166605"/>
            </a:xfrm>
            <a:prstGeom prst="rect">
              <a:avLst/>
            </a:prstGeom>
            <a:noFill/>
          </p:spPr>
          <p:txBody>
            <a:bodyPr wrap="none" anchor="ctr" lIns="0" rIns="0" tIns="0" bIns="0">
              <a:noAutofit/>
            </a:bodyPr>
            <a:lstStyle/>
            <a:p>
              <a:pPr algn="l"/>
              <a:r>
                <a:rPr sz="910" b="0">
                  <a:solidFill>
                    <a:srgbClr val="16202C"/>
                  </a:solidFill>
                  <a:latin typeface="맑은 고딕"/>
                  <a:ea typeface="맑은 고딕"/>
                  <a:cs typeface="맑은 고딕"/>
                </a:rPr>
                <a:t>NoC-aware 병렬화가 복잡하고, wimpy core 용 코드 생성이 어렵다 [7]</a:t>
              </a:r>
            </a:p>
          </p:txBody>
        </p:sp>
        <p:sp>
          <p:nvSpPr>
            <p:cNvPr id="37" name="Rounded Rectangle 36"/>
            <p:cNvSpPr/>
            <p:nvPr/>
          </p:nvSpPr>
          <p:spPr>
            <a:xfrm>
              <a:off x="6207555" y="1207008"/>
              <a:ext cx="5093868" cy="3239521"/>
            </a:xfrm>
            <a:prstGeom prst="roundRect">
              <a:avLst>
                <a:gd name="adj" fmla="val 3448"/>
              </a:avLst>
            </a:prstGeom>
            <a:solidFill>
              <a:srgbClr val="FDEBD3"/>
            </a:solidFill>
            <a:ln w="2234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7484" y="1331897"/>
              <a:ext cx="2014010" cy="234541"/>
            </a:xfrm>
            <a:prstGeom prst="rect">
              <a:avLst/>
            </a:prstGeom>
            <a:noFill/>
          </p:spPr>
          <p:txBody>
            <a:bodyPr wrap="none" anchor="ctr" lIns="0" rIns="0" tIns="0" bIns="0">
              <a:noAutofit/>
            </a:bodyPr>
            <a:lstStyle/>
            <a:p>
              <a:pPr algn="ctr"/>
              <a:r>
                <a:rPr sz="1280" b="1">
                  <a:solidFill>
                    <a:srgbClr val="B45409"/>
                  </a:solidFill>
                  <a:latin typeface="맑은 고딕"/>
                  <a:ea typeface="맑은 고딕"/>
                  <a:cs typeface="맑은 고딕"/>
                </a:rPr>
                <a:t>큰 유닛 · 고정 크기 행렬 유닛</a:t>
              </a:r>
            </a:p>
          </p:txBody>
        </p:sp>
        <p:sp>
          <p:nvSpPr>
            <p:cNvPr id="39" name="Rounded Rectangle 38"/>
            <p:cNvSpPr/>
            <p:nvPr/>
          </p:nvSpPr>
          <p:spPr>
            <a:xfrm>
              <a:off x="6944825" y="1720863"/>
              <a:ext cx="2055420" cy="1161759"/>
            </a:xfrm>
            <a:prstGeom prst="roundRect">
              <a:avLst>
                <a:gd name="adj" fmla="val 4807"/>
              </a:avLst>
            </a:prstGeom>
            <a:solidFill>
              <a:srgbClr val="FFFFFF"/>
            </a:solidFill>
            <a:ln w="2010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44825" y="1720863"/>
              <a:ext cx="848978" cy="491514"/>
            </a:xfrm>
            <a:prstGeom prst="rect">
              <a:avLst/>
            </a:prstGeom>
            <a:solidFill>
              <a:srgbClr val="F7C88A"/>
            </a:solidFill>
            <a:ln w="134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19070" y="1886414"/>
              <a:ext cx="500489" cy="169840"/>
            </a:xfrm>
            <a:prstGeom prst="rect">
              <a:avLst/>
            </a:prstGeom>
            <a:noFill/>
          </p:spPr>
          <p:txBody>
            <a:bodyPr wrap="none" anchor="ctr" lIns="0" rIns="0" tIns="0" bIns="0">
              <a:noAutofit/>
            </a:bodyPr>
            <a:lstStyle/>
            <a:p>
              <a:pPr algn="ctr"/>
              <a:r>
                <a:rPr sz="919" b="1">
                  <a:solidFill>
                    <a:srgbClr val="7A3A06"/>
                  </a:solidFill>
                  <a:latin typeface="맑은 고딕"/>
                  <a:ea typeface="맑은 고딕"/>
                  <a:cs typeface="맑은 고딕"/>
                </a:rPr>
                <a:t>실제 연산</a:t>
              </a:r>
            </a:p>
          </p:txBody>
        </p:sp>
        <p:sp>
          <p:nvSpPr>
            <p:cNvPr id="42" name="TextBox 41"/>
            <p:cNvSpPr txBox="1"/>
            <p:nvPr/>
          </p:nvSpPr>
          <p:spPr>
            <a:xfrm>
              <a:off x="8146956" y="2478464"/>
              <a:ext cx="500137" cy="169840"/>
            </a:xfrm>
            <a:prstGeom prst="rect">
              <a:avLst/>
            </a:prstGeom>
            <a:noFill/>
          </p:spPr>
          <p:txBody>
            <a:bodyPr wrap="none" anchor="ctr" lIns="0" rIns="0" tIns="0" bIns="0">
              <a:noAutofit/>
            </a:bodyPr>
            <a:lstStyle/>
            <a:p>
              <a:pPr algn="ctr"/>
              <a:r>
                <a:rPr sz="919" b="0">
                  <a:solidFill>
                    <a:srgbClr val="B45409"/>
                  </a:solidFill>
                  <a:latin typeface="맑은 고딕"/>
                  <a:ea typeface="맑은 고딕"/>
                  <a:cs typeface="맑은 고딕"/>
                </a:rPr>
                <a:t>노는 영역</a:t>
              </a:r>
            </a:p>
          </p:txBody>
        </p:sp>
        <p:sp>
          <p:nvSpPr>
            <p:cNvPr id="43" name="TextBox 42"/>
            <p:cNvSpPr txBox="1"/>
            <p:nvPr/>
          </p:nvSpPr>
          <p:spPr>
            <a:xfrm>
              <a:off x="9178978" y="1871356"/>
              <a:ext cx="985422" cy="174693"/>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추론의 텐서 모양은</a:t>
              </a:r>
            </a:p>
          </p:txBody>
        </p:sp>
        <p:sp>
          <p:nvSpPr>
            <p:cNvPr id="44" name="TextBox 43"/>
            <p:cNvSpPr txBox="1"/>
            <p:nvPr/>
          </p:nvSpPr>
          <p:spPr>
            <a:xfrm>
              <a:off x="9178978" y="2072429"/>
              <a:ext cx="598395" cy="174693"/>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제각각이다</a:t>
              </a:r>
            </a:p>
          </p:txBody>
        </p:sp>
        <p:sp>
          <p:nvSpPr>
            <p:cNvPr id="45" name="TextBox 44"/>
            <p:cNvSpPr txBox="1"/>
            <p:nvPr/>
          </p:nvSpPr>
          <p:spPr>
            <a:xfrm>
              <a:off x="9178978" y="2362869"/>
              <a:ext cx="1022098" cy="174693"/>
            </a:xfrm>
            <a:prstGeom prst="rect">
              <a:avLst/>
            </a:prstGeom>
            <a:noFill/>
          </p:spPr>
          <p:txBody>
            <a:bodyPr wrap="none" anchor="ctr" lIns="0" rIns="0" tIns="0" bIns="0">
              <a:noAutofit/>
            </a:bodyPr>
            <a:lstStyle/>
            <a:p>
              <a:pPr algn="l"/>
              <a:r>
                <a:rPr sz="950" b="0">
                  <a:solidFill>
                    <a:srgbClr val="B45409"/>
                  </a:solidFill>
                  <a:latin typeface="맑은 고딕"/>
                  <a:ea typeface="맑은 고딕"/>
                  <a:cs typeface="맑은 고딕"/>
                </a:rPr>
                <a:t>→ 큰 유닛을 끝까지</a:t>
              </a:r>
            </a:p>
          </p:txBody>
        </p:sp>
        <p:sp>
          <p:nvSpPr>
            <p:cNvPr id="46" name="TextBox 45"/>
            <p:cNvSpPr txBox="1"/>
            <p:nvPr/>
          </p:nvSpPr>
          <p:spPr>
            <a:xfrm>
              <a:off x="9335369" y="2563943"/>
              <a:ext cx="736412" cy="174693"/>
            </a:xfrm>
            <a:prstGeom prst="rect">
              <a:avLst/>
            </a:prstGeom>
            <a:noFill/>
          </p:spPr>
          <p:txBody>
            <a:bodyPr wrap="none" anchor="ctr" lIns="0" rIns="0" tIns="0" bIns="0">
              <a:noAutofit/>
            </a:bodyPr>
            <a:lstStyle/>
            <a:p>
              <a:pPr algn="l"/>
              <a:r>
                <a:rPr sz="950" b="0">
                  <a:solidFill>
                    <a:srgbClr val="B45409"/>
                  </a:solidFill>
                  <a:latin typeface="맑은 고딕"/>
                  <a:ea typeface="맑은 고딕"/>
                  <a:cs typeface="맑은 고딕"/>
                </a:rPr>
                <a:t>채우기 어렵다</a:t>
              </a:r>
            </a:p>
          </p:txBody>
        </p:sp>
        <p:sp>
          <p:nvSpPr>
            <p:cNvPr id="47" name="Rounded Rectangle 46"/>
            <p:cNvSpPr/>
            <p:nvPr/>
          </p:nvSpPr>
          <p:spPr>
            <a:xfrm>
              <a:off x="6408629" y="3016672"/>
              <a:ext cx="4691720" cy="603221"/>
            </a:xfrm>
            <a:prstGeom prst="roundRect">
              <a:avLst>
                <a:gd name="adj" fmla="val 11111"/>
              </a:avLst>
            </a:prstGeom>
            <a:solidFill>
              <a:srgbClr val="FFFFFF"/>
            </a:solidFill>
            <a:ln w="134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65020" y="3109523"/>
              <a:ext cx="1858460" cy="190868"/>
            </a:xfrm>
            <a:prstGeom prst="rect">
              <a:avLst/>
            </a:prstGeom>
            <a:noFill/>
          </p:spPr>
          <p:txBody>
            <a:bodyPr wrap="none" anchor="ctr" lIns="0" rIns="0" tIns="0" bIns="0">
              <a:noAutofit/>
            </a:bodyPr>
            <a:lstStyle/>
            <a:p>
              <a:pPr algn="l"/>
              <a:r>
                <a:rPr sz="1040" b="1">
                  <a:solidFill>
                    <a:srgbClr val="B45409"/>
                  </a:solidFill>
                  <a:latin typeface="맑은 고딕"/>
                  <a:ea typeface="맑은 고딕"/>
                  <a:cs typeface="맑은 고딕"/>
                </a:rPr>
                <a:t>문제 C — 활용률을 채우지 못한다</a:t>
              </a:r>
            </a:p>
          </p:txBody>
        </p:sp>
        <p:sp>
          <p:nvSpPr>
            <p:cNvPr id="49" name="TextBox 48"/>
            <p:cNvSpPr txBox="1"/>
            <p:nvPr/>
          </p:nvSpPr>
          <p:spPr>
            <a:xfrm>
              <a:off x="6565020" y="3352375"/>
              <a:ext cx="2988309" cy="166605"/>
            </a:xfrm>
            <a:prstGeom prst="rect">
              <a:avLst/>
            </a:prstGeom>
            <a:noFill/>
          </p:spPr>
          <p:txBody>
            <a:bodyPr wrap="none" anchor="ctr" lIns="0" rIns="0" tIns="0" bIns="0">
              <a:noAutofit/>
            </a:bodyPr>
            <a:lstStyle/>
            <a:p>
              <a:pPr algn="l"/>
              <a:r>
                <a:rPr sz="910" b="0">
                  <a:solidFill>
                    <a:srgbClr val="16202C"/>
                  </a:solidFill>
                  <a:latin typeface="맑은 고딕"/>
                  <a:ea typeface="맑은 고딕"/>
                  <a:cs typeface="맑은 고딕"/>
                </a:rPr>
                <a:t>다양한 shape·type 의 텐서 연산 전반에서 어렵다 [3][23][25]</a:t>
              </a:r>
            </a:p>
          </p:txBody>
        </p:sp>
        <p:sp>
          <p:nvSpPr>
            <p:cNvPr id="50" name="Rounded Rectangle 49"/>
            <p:cNvSpPr/>
            <p:nvPr/>
          </p:nvSpPr>
          <p:spPr>
            <a:xfrm>
              <a:off x="6408629" y="3709259"/>
              <a:ext cx="4691720" cy="603221"/>
            </a:xfrm>
            <a:prstGeom prst="roundRect">
              <a:avLst>
                <a:gd name="adj" fmla="val 11111"/>
              </a:avLst>
            </a:prstGeom>
            <a:solidFill>
              <a:srgbClr val="FDF3E6"/>
            </a:solidFill>
            <a:ln w="13404">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65020" y="3817660"/>
              <a:ext cx="2027181" cy="171458"/>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배치 크기뿐 아니라 텐서 모양에서 나오는</a:t>
              </a:r>
            </a:p>
          </p:txBody>
        </p:sp>
        <p:sp>
          <p:nvSpPr>
            <p:cNvPr id="52" name="TextBox 51"/>
            <p:cNvSpPr txBox="1"/>
            <p:nvPr/>
          </p:nvSpPr>
          <p:spPr>
            <a:xfrm>
              <a:off x="6565020" y="4041075"/>
              <a:ext cx="2393897" cy="171458"/>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병렬성·재사용까지 끌어내야 한다는 것이 요구다</a:t>
              </a:r>
            </a:p>
          </p:txBody>
        </p:sp>
        <p:cxnSp>
          <p:nvCxnSpPr>
            <p:cNvPr id="53" name="Connector 52"/>
            <p:cNvCxnSpPr/>
            <p:nvPr/>
          </p:nvCxnSpPr>
          <p:spPr>
            <a:xfrm>
              <a:off x="3437206" y="4513554"/>
              <a:ext cx="848978" cy="256927"/>
            </a:xfrm>
            <a:prstGeom prst="line">
              <a:avLst/>
            </a:prstGeom>
            <a:ln w="26809">
              <a:solidFill>
                <a:srgbClr val="0B5FC0"/>
              </a:solidFill>
            </a:ln>
          </p:spPr>
          <p:style>
            <a:lnRef idx="2">
              <a:schemeClr val="accent1"/>
            </a:lnRef>
            <a:fillRef idx="0">
              <a:schemeClr val="accent1"/>
            </a:fillRef>
            <a:effectRef idx="1">
              <a:schemeClr val="accent1"/>
            </a:effectRef>
            <a:fontRef idx="minor">
              <a:schemeClr val="tx1"/>
            </a:fontRef>
          </p:style>
        </p:cxnSp>
        <p:sp>
          <p:nvSpPr>
            <p:cNvPr id="54" name="Freeform 53"/>
            <p:cNvSpPr/>
            <p:nvPr/>
          </p:nvSpPr>
          <p:spPr>
            <a:xfrm>
              <a:off x="4250437" y="4705691"/>
              <a:ext cx="169796" cy="127347"/>
            </a:xfrm>
            <a:custGeom>
              <a:avLst/>
              <a:gdLst/>
              <a:ahLst/>
              <a:cxnLst/>
              <a:rect l="l" t="t" r="r" b="b"/>
              <a:pathLst>
                <a:path w="169796" h="127347">
                  <a:moveTo>
                    <a:pt x="169796" y="109473"/>
                  </a:moveTo>
                  <a:lnTo>
                    <a:pt x="0" y="127347"/>
                  </a:lnTo>
                  <a:lnTo>
                    <a:pt x="40215"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flipH="1">
              <a:off x="7905511" y="4513554"/>
              <a:ext cx="848978" cy="256927"/>
            </a:xfrm>
            <a:prstGeom prst="line">
              <a:avLst/>
            </a:prstGeom>
            <a:ln w="26809">
              <a:solidFill>
                <a:srgbClr val="0B5FC0"/>
              </a:solidFill>
            </a:ln>
          </p:spPr>
          <p:style>
            <a:lnRef idx="2">
              <a:schemeClr val="accent1"/>
            </a:lnRef>
            <a:fillRef idx="0">
              <a:schemeClr val="accent1"/>
            </a:fillRef>
            <a:effectRef idx="1">
              <a:schemeClr val="accent1"/>
            </a:effectRef>
            <a:fontRef idx="minor">
              <a:schemeClr val="tx1"/>
            </a:fontRef>
          </p:style>
        </p:cxnSp>
        <p:sp>
          <p:nvSpPr>
            <p:cNvPr id="56" name="Freeform 55"/>
            <p:cNvSpPr/>
            <p:nvPr/>
          </p:nvSpPr>
          <p:spPr>
            <a:xfrm>
              <a:off x="7771462" y="4705691"/>
              <a:ext cx="169796" cy="127347"/>
            </a:xfrm>
            <a:custGeom>
              <a:avLst/>
              <a:gdLst/>
              <a:ahLst/>
              <a:cxnLst/>
              <a:rect l="l" t="t" r="r" b="b"/>
              <a:pathLst>
                <a:path w="169796" h="127347">
                  <a:moveTo>
                    <a:pt x="0" y="109473"/>
                  </a:moveTo>
                  <a:lnTo>
                    <a:pt x="129581" y="0"/>
                  </a:lnTo>
                  <a:lnTo>
                    <a:pt x="169796" y="12734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526572" y="4848677"/>
              <a:ext cx="5138551" cy="692587"/>
            </a:xfrm>
            <a:prstGeom prst="roundRect">
              <a:avLst>
                <a:gd name="adj" fmla="val 16129"/>
              </a:avLst>
            </a:prstGeom>
            <a:solidFill>
              <a:srgbClr val="E3EEFB"/>
            </a:solidFill>
            <a:ln w="2457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90361" y="4951224"/>
              <a:ext cx="3010973" cy="234541"/>
            </a:xfrm>
            <a:prstGeom prst="rect">
              <a:avLst/>
            </a:prstGeom>
            <a:noFill/>
          </p:spPr>
          <p:txBody>
            <a:bodyPr wrap="none" anchor="ctr" lIns="0" rIns="0" tIns="0" bIns="0">
              <a:noAutofit/>
            </a:bodyPr>
            <a:lstStyle/>
            <a:p>
              <a:pPr algn="ctr"/>
              <a:r>
                <a:rPr sz="1280" b="1">
                  <a:solidFill>
                    <a:srgbClr val="083F80"/>
                  </a:solidFill>
                  <a:latin typeface="맑은 고딕"/>
                  <a:ea typeface="맑은 고딕"/>
                  <a:cs typeface="맑은 고딕"/>
                </a:rPr>
                <a:t>양쪽 다 문제 → 고정 크기라는 전제를 버린다</a:t>
              </a:r>
            </a:p>
          </p:txBody>
        </p:sp>
        <p:sp>
          <p:nvSpPr>
            <p:cNvPr id="59" name="TextBox 58"/>
            <p:cNvSpPr txBox="1"/>
            <p:nvPr/>
          </p:nvSpPr>
          <p:spPr>
            <a:xfrm>
              <a:off x="5052426" y="5242334"/>
              <a:ext cx="2086844" cy="177928"/>
            </a:xfrm>
            <a:prstGeom prst="rect">
              <a:avLst/>
            </a:prstGeom>
            <a:noFill/>
          </p:spPr>
          <p:txBody>
            <a:bodyPr wrap="none" anchor="ctr" lIns="0" rIns="0" tIns="0" bIns="0">
              <a:noAutofit/>
            </a:bodyPr>
            <a:lstStyle/>
            <a:p>
              <a:pPr algn="ctr"/>
              <a:r>
                <a:rPr sz="969" b="0">
                  <a:solidFill>
                    <a:srgbClr val="0B5FC0"/>
                  </a:solidFill>
                  <a:latin typeface="맑은 고딕"/>
                  <a:ea typeface="맑은 고딕"/>
                  <a:cs typeface="맑은 고딕"/>
                </a:rPr>
                <a:t>TCP 의 답: 크게 만들고, 필요하면 쪼갠다</a:t>
              </a:r>
            </a:p>
          </p:txBody>
        </p:sp>
      </p:grpSp>
      <p:sp>
        <p:nvSpPr>
          <p:cNvPr id="60" name="Rectangle 5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작아도 문제, 커도 문제 — 그렇다면 '고정 크기'라는 전제를 버려야 한다.</a:t>
            </a:r>
          </a:p>
        </p:txBody>
      </p:sp>
      <p:sp>
        <p:nvSpPr>
          <p:cNvPr id="61" name="Rectangle 6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(5/11) — 문제 C, 그리고 서론이 세운 딜레마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문제 A·B 는 앞 두 슬라이드(서론 3/11, 4/11)에서 나온 것이고, 이 슬라이드가 문제 C 다. 세 문단을 한 화면에 겹쳐 놓은 그림이다</a:t>
            </a:r>
          </a:p>
          <a:p>
            <a:pPr algn="l">
              <a:lnSpc>
                <a:spcPct val="118000"/>
              </a:lnSpc>
              <a:spcBef>
                <a:spcPts val="600"/>
              </a:spcBef>
              <a:spcAft>
                <a:spcPts val="200"/>
              </a:spcAft>
            </a:pPr>
            <a:r>
              <a:rPr sz="1900" b="0" i="0">
                <a:solidFill>
                  <a:srgbClr val="16202C"/>
                </a:solidFill>
                <a:latin typeface="Segoe UI"/>
                <a:ea typeface="맑은 고딕"/>
                <a:cs typeface="맑은 고딕"/>
              </a:rPr>
              <a:t>▪  A 와 B 의 근거는 둘 다 [7] TPU v4 (ISCA 2023) 다. 이 논문의 가장 직접적인 대화 상대가 구글 TPU 라는 뜻이다</a:t>
            </a:r>
          </a:p>
          <a:p>
            <a:pPr algn="l">
              <a:lnSpc>
                <a:spcPct val="118000"/>
              </a:lnSpc>
              <a:spcBef>
                <a:spcPts val="600"/>
              </a:spcBef>
              <a:spcAft>
                <a:spcPts val="200"/>
              </a:spcAft>
            </a:pPr>
            <a:r>
              <a:rPr sz="1900" b="0" i="0">
                <a:solidFill>
                  <a:srgbClr val="16202C"/>
                </a:solidFill>
                <a:latin typeface="Segoe UI"/>
                <a:ea typeface="맑은 고딕"/>
                <a:cs typeface="맑은 고딕"/>
              </a:rPr>
              <a:t>▪  C 의 근거는 [3] Dally 외, [23] Wang 외, [25] Zhang 외 세 편이다</a:t>
            </a:r>
          </a:p>
          <a:p>
            <a:pPr algn="l">
              <a:lnSpc>
                <a:spcPct val="118000"/>
              </a:lnSpc>
              <a:spcBef>
                <a:spcPts val="600"/>
              </a:spcBef>
              <a:spcAft>
                <a:spcPts val="200"/>
              </a:spcAft>
            </a:pPr>
            <a:r>
              <a:rPr sz="1900" b="0" i="0">
                <a:solidFill>
                  <a:srgbClr val="16202C"/>
                </a:solidFill>
                <a:latin typeface="Segoe UI"/>
                <a:ea typeface="맑은 고딕"/>
                <a:cs typeface="맑은 고딕"/>
              </a:rPr>
              <a:t>▪  B 는 이론이 아니라 시장 관찰이다 — GPU 를 제외하면 성공한 상용 사례가 거의 없다고 논문이 스스로 인정한다</a:t>
            </a:r>
          </a:p>
          <a:p>
            <a:pPr algn="l">
              <a:lnSpc>
                <a:spcPct val="118000"/>
              </a:lnSpc>
              <a:spcBef>
                <a:spcPts val="600"/>
              </a:spcBef>
              <a:spcAft>
                <a:spcPts val="200"/>
              </a:spcAft>
            </a:pPr>
            <a:r>
              <a:rPr sz="1900" b="1" i="0">
                <a:solidFill>
                  <a:srgbClr val="083F80"/>
                </a:solidFill>
                <a:latin typeface="Segoe UI"/>
                <a:ea typeface="맑은 고딕"/>
                <a:cs typeface="맑은 고딕"/>
              </a:rPr>
              <a:t>▪  맨 아래 파란 결론은 논문이 그대로 쓴 문장이 아니라 세 문단을 종합한 해설이다. 문제는 행렬곱이 아니라 '고정 크기'라는 수식어다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(6/11) — TCP 의 답 (1): 축약을 primitive 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"Instead of matrix multiplications, we use tensor contraction as a primitive."</a:t>
            </a:r>
          </a:p>
          <a:p>
            <a:pPr algn="l">
              <a:lnSpc>
                <a:spcPct val="118000"/>
              </a:lnSpc>
              <a:spcBef>
                <a:spcPts val="200"/>
              </a:spcBef>
              <a:spcAft>
                <a:spcPts val="100"/>
              </a:spcAft>
            </a:pPr>
            <a:r>
              <a:rPr sz="1580" b="0" i="0">
                <a:solidFill>
                  <a:srgbClr val="2C3A4B"/>
                </a:solidFill>
                <a:latin typeface="Segoe UI"/>
                <a:ea typeface="맑은 고딕"/>
                <a:cs typeface="맑은 고딕"/>
              </a:rPr>
              <a:t>–  행렬곱 대신, 텐서 축약을 primitive (기본 연산, 1급 연산) 로 사용한다</a:t>
            </a:r>
          </a:p>
          <a:p>
            <a:pPr algn="l">
              <a:lnSpc>
                <a:spcPct val="118000"/>
              </a:lnSpc>
              <a:spcBef>
                <a:spcPts val="200"/>
              </a:spcBef>
              <a:spcAft>
                <a:spcPts val="100"/>
              </a:spcAft>
            </a:pPr>
            <a:r>
              <a:rPr sz="1580" b="0" i="0">
                <a:solidFill>
                  <a:srgbClr val="2C3A4B"/>
                </a:solidFill>
                <a:latin typeface="Segoe UI"/>
                <a:ea typeface="맑은 고딕"/>
                <a:cs typeface="맑은 고딕"/>
              </a:rPr>
              <a:t>–  하드웨어가 직접 받아 실행하는 최소 단위가 '고정 크기 행렬곱'이 아니라 '텐서 축약'이라는 뜻이다</a:t>
            </a:r>
          </a:p>
          <a:p>
            <a:pPr algn="l">
              <a:lnSpc>
                <a:spcPct val="118000"/>
              </a:lnSpc>
              <a:spcBef>
                <a:spcPts val="600"/>
              </a:spcBef>
              <a:spcAft>
                <a:spcPts val="200"/>
              </a:spcAft>
            </a:pPr>
            <a:r>
              <a:rPr sz="1700" b="1" i="0">
                <a:solidFill>
                  <a:srgbClr val="083F80"/>
                </a:solidFill>
                <a:latin typeface="Segoe UI"/>
                <a:ea typeface="맑은 고딕"/>
                <a:cs typeface="맑은 고딕"/>
              </a:rPr>
              <a:t>▪  원문: "This approach not only enables massively parallel operations but also incorporates pipelining over the time axis, similar to vector processors."</a:t>
            </a:r>
          </a:p>
          <a:p>
            <a:pPr algn="l">
              <a:lnSpc>
                <a:spcPct val="118000"/>
              </a:lnSpc>
              <a:spcBef>
                <a:spcPts val="200"/>
              </a:spcBef>
              <a:spcAft>
                <a:spcPts val="100"/>
              </a:spcAft>
            </a:pPr>
            <a:r>
              <a:rPr sz="1580" b="0" i="0">
                <a:solidFill>
                  <a:srgbClr val="2C3A4B"/>
                </a:solidFill>
                <a:latin typeface="Segoe UI"/>
                <a:ea typeface="맑은 고딕"/>
                <a:cs typeface="맑은 고딕"/>
              </a:rPr>
              <a:t>–  이 접근은 대규모 병렬 연산(massively parallel operations)을 가능하게 할 뿐 아니라</a:t>
            </a:r>
          </a:p>
          <a:p>
            <a:pPr algn="l">
              <a:lnSpc>
                <a:spcPct val="118000"/>
              </a:lnSpc>
              <a:spcBef>
                <a:spcPts val="200"/>
              </a:spcBef>
              <a:spcAft>
                <a:spcPts val="100"/>
              </a:spcAft>
            </a:pPr>
            <a:r>
              <a:rPr sz="1580" b="0" i="0">
                <a:solidFill>
                  <a:srgbClr val="2C3A4B"/>
                </a:solidFill>
                <a:latin typeface="Segoe UI"/>
                <a:ea typeface="맑은 고딕"/>
                <a:cs typeface="맑은 고딕"/>
              </a:rPr>
              <a:t>–  시간 축에 대한 파이프라이닝(pipelining over the time axis)까지 포함한다</a:t>
            </a:r>
          </a:p>
          <a:p>
            <a:pPr algn="l">
              <a:lnSpc>
                <a:spcPct val="118000"/>
              </a:lnSpc>
              <a:spcBef>
                <a:spcPts val="200"/>
              </a:spcBef>
              <a:spcAft>
                <a:spcPts val="100"/>
              </a:spcAft>
            </a:pPr>
            <a:r>
              <a:rPr sz="1580" b="0" i="0">
                <a:solidFill>
                  <a:srgbClr val="2C3A4B"/>
                </a:solidFill>
                <a:latin typeface="Segoe UI"/>
                <a:ea typeface="맑은 고딕"/>
                <a:cs typeface="맑은 고딕"/>
              </a:rPr>
              <a:t>–  그 방식이 벡터 프로세서(vector processors)와 유사하다</a:t>
            </a:r>
          </a:p>
          <a:p>
            <a:pPr algn="l">
              <a:lnSpc>
                <a:spcPct val="118000"/>
              </a:lnSpc>
              <a:spcBef>
                <a:spcPts val="600"/>
              </a:spcBef>
              <a:spcAft>
                <a:spcPts val="200"/>
              </a:spcAft>
            </a:pPr>
            <a:r>
              <a:rPr sz="1700" b="1" i="0">
                <a:solidFill>
                  <a:srgbClr val="083F80"/>
                </a:solidFill>
                <a:latin typeface="Segoe UI"/>
                <a:ea typeface="맑은 고딕"/>
                <a:cs typeface="맑은 고딕"/>
              </a:rPr>
              <a:t>▪  두 축을 동시에 쓴다는 점을 놓치면 안 된다</a:t>
            </a:r>
          </a:p>
          <a:p>
            <a:pPr algn="l">
              <a:lnSpc>
                <a:spcPct val="118000"/>
              </a:lnSpc>
              <a:spcBef>
                <a:spcPts val="200"/>
              </a:spcBef>
              <a:spcAft>
                <a:spcPts val="100"/>
              </a:spcAft>
            </a:pPr>
            <a:r>
              <a:rPr sz="1580" b="0" i="0">
                <a:solidFill>
                  <a:srgbClr val="2C3A4B"/>
                </a:solidFill>
                <a:latin typeface="Segoe UI"/>
                <a:ea typeface="맑은 고딕"/>
                <a:cs typeface="맑은 고딕"/>
              </a:rPr>
              <a:t>–  공간 축(space) — 여러 slice 가 동시에 계산한다 (병렬)</a:t>
            </a:r>
          </a:p>
          <a:p>
            <a:pPr algn="l">
              <a:lnSpc>
                <a:spcPct val="118000"/>
              </a:lnSpc>
              <a:spcBef>
                <a:spcPts val="200"/>
              </a:spcBef>
              <a:spcAft>
                <a:spcPts val="100"/>
              </a:spcAft>
            </a:pPr>
            <a:r>
              <a:rPr sz="1580" b="0" i="0">
                <a:solidFill>
                  <a:srgbClr val="2C3A4B"/>
                </a:solidFill>
                <a:latin typeface="Segoe UI"/>
                <a:ea typeface="맑은 고딕"/>
                <a:cs typeface="맑은 고딕"/>
              </a:rPr>
              <a:t>–  시간 축(time) — 데이터가 계속 흘러 들어오며 파이프라인이 채워진다 (스트리밍)</a:t>
            </a:r>
          </a:p>
          <a:p>
            <a:pPr algn="l">
              <a:lnSpc>
                <a:spcPct val="118000"/>
              </a:lnSpc>
              <a:spcBef>
                <a:spcPts val="200"/>
              </a:spcBef>
              <a:spcAft>
                <a:spcPts val="100"/>
              </a:spcAft>
            </a:pPr>
            <a:r>
              <a:rPr sz="1580" b="0" i="0">
                <a:solidFill>
                  <a:srgbClr val="2C3A4B"/>
                </a:solidFill>
                <a:latin typeface="Segoe UI"/>
                <a:ea typeface="맑은 고딕"/>
                <a:cs typeface="맑은 고딕"/>
              </a:rPr>
              <a:t>–  Fig. 3 에도 fetch unit → operation unit → commit unit 흐름 옆에 'time' 과 'space' 축이 그려져 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축약을 기본 연산으로 삼으면, 공간 방향 병렬성과 시간 방향 파이프라인을 동시에 얻는다.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서론 (7/11) — TCP 의 답 (2): 굵은 PE 와 slice</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a:t>
            </a:r>
          </a:p>
        </p:txBody>
      </p:sp>
      <p:grpSp>
        <p:nvGrpSpPr>
          <p:cNvPr id="8" name="도해 A1#21"/>
          <p:cNvGrpSpPr/>
          <p:nvPr/>
        </p:nvGrpSpPr>
        <p:grpSpPr>
          <a:xfrm>
            <a:off x="838512" y="1207008"/>
            <a:ext cx="10514672" cy="4334256"/>
            <a:chOff x="838512" y="1207008"/>
            <a:chExt cx="10514672" cy="4334256"/>
          </a:xfrm>
        </p:grpSpPr>
        <p:sp>
          <p:nvSpPr>
            <p:cNvPr id="9" name="TextBox 8"/>
            <p:cNvSpPr txBox="1"/>
            <p:nvPr/>
          </p:nvSpPr>
          <p:spPr>
            <a:xfrm>
              <a:off x="838512" y="1207008"/>
              <a:ext cx="4463783" cy="171529"/>
            </a:xfrm>
            <a:prstGeom prst="rect">
              <a:avLst/>
            </a:prstGeom>
            <a:noFill/>
          </p:spPr>
          <p:txBody>
            <a:bodyPr wrap="none" anchor="ctr" lIns="0" rIns="0" tIns="0" bIns="0">
              <a:noAutofit/>
            </a:bodyPr>
            <a:lstStyle/>
            <a:p>
              <a:pPr algn="l"/>
              <a:r>
                <a:rPr sz="930" b="0">
                  <a:solidFill>
                    <a:srgbClr val="5B6B7B"/>
                  </a:solidFill>
                  <a:latin typeface="맑은 고딕"/>
                  <a:ea typeface="맑은 고딕"/>
                  <a:cs typeface="맑은 고딕"/>
                </a:rPr>
                <a:t>그림은 slice 를 8개만 그렸다 — 실제 TU 는 slice 64+1개를 가진다 (Fig. 3 도 8개로 그린다)</a:t>
              </a:r>
            </a:p>
          </p:txBody>
        </p:sp>
        <p:sp>
          <p:nvSpPr>
            <p:cNvPr id="10" name="TextBox 9"/>
            <p:cNvSpPr txBox="1"/>
            <p:nvPr/>
          </p:nvSpPr>
          <p:spPr>
            <a:xfrm>
              <a:off x="2163259" y="1447988"/>
              <a:ext cx="2495023" cy="236873"/>
            </a:xfrm>
            <a:prstGeom prst="rect">
              <a:avLst/>
            </a:prstGeom>
            <a:noFill/>
          </p:spPr>
          <p:txBody>
            <a:bodyPr wrap="none" anchor="ctr" lIns="0" rIns="0" tIns="0" bIns="0">
              <a:noAutofit/>
            </a:bodyPr>
            <a:lstStyle/>
            <a:p>
              <a:pPr algn="ctr"/>
              <a:r>
                <a:rPr sz="1290" b="1">
                  <a:solidFill>
                    <a:srgbClr val="083F80"/>
                  </a:solidFill>
                  <a:latin typeface="맑은 고딕"/>
                  <a:ea typeface="맑은 고딕"/>
                  <a:cs typeface="맑은 고딕"/>
                </a:rPr>
                <a:t>설정 A — slice 전체가 하나의 큰 PE</a:t>
              </a:r>
            </a:p>
          </p:txBody>
        </p:sp>
        <p:sp>
          <p:nvSpPr>
            <p:cNvPr id="11" name="Rounded Rectangle 10"/>
            <p:cNvSpPr/>
            <p:nvPr/>
          </p:nvSpPr>
          <p:spPr>
            <a:xfrm>
              <a:off x="838512" y="1773131"/>
              <a:ext cx="5144518" cy="2820459"/>
            </a:xfrm>
            <a:prstGeom prst="roundRect">
              <a:avLst>
                <a:gd name="adj" fmla="val 4000"/>
              </a:avLst>
            </a:prstGeom>
            <a:solidFill>
              <a:srgbClr val="F4F8FD"/>
            </a:solidFill>
            <a:ln w="2256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30303" y="2021331"/>
              <a:ext cx="4760935" cy="315891"/>
            </a:xfrm>
            <a:prstGeom prst="roundRect">
              <a:avLst>
                <a:gd name="adj" fmla="val 17857"/>
              </a:avLst>
            </a:prstGeom>
            <a:solidFill>
              <a:srgbClr val="B8D4F3"/>
            </a:solidFill>
            <a:ln w="157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39165" y="2085186"/>
              <a:ext cx="1343210" cy="187865"/>
            </a:xfrm>
            <a:prstGeom prst="rect">
              <a:avLst/>
            </a:prstGeom>
            <a:noFill/>
          </p:spPr>
          <p:txBody>
            <a:bodyPr wrap="none" anchor="ctr" lIns="0" rIns="0" tIns="0" bIns="0">
              <a:noAutofit/>
            </a:bodyPr>
            <a:lstStyle/>
            <a:p>
              <a:pPr algn="ctr"/>
              <a:r>
                <a:rPr sz="1019" b="1">
                  <a:solidFill>
                    <a:srgbClr val="083F80"/>
                  </a:solidFill>
                  <a:latin typeface="맑은 고딕"/>
                  <a:ea typeface="맑은 고딕"/>
                  <a:cs typeface="맑은 고딕"/>
                </a:rPr>
                <a:t>큰 축약 1건 — 텐서 하나</a:t>
              </a:r>
            </a:p>
          </p:txBody>
        </p:sp>
        <p:cxnSp>
          <p:nvCxnSpPr>
            <p:cNvPr id="14" name="Connector 13"/>
            <p:cNvCxnSpPr/>
            <p:nvPr/>
          </p:nvCxnSpPr>
          <p:spPr>
            <a:xfrm>
              <a:off x="1278503" y="2337222"/>
              <a:ext cx="0" cy="90255"/>
            </a:xfrm>
            <a:prstGeom prst="line">
              <a:avLst/>
            </a:prstGeom>
            <a:ln w="18050">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496942" y="2337222"/>
              <a:ext cx="0" cy="90255"/>
            </a:xfrm>
            <a:prstGeom prst="line">
              <a:avLst/>
            </a:prstGeom>
            <a:ln w="18050">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15380" y="2337222"/>
              <a:ext cx="0" cy="90255"/>
            </a:xfrm>
            <a:prstGeom prst="line">
              <a:avLst/>
            </a:prstGeom>
            <a:ln w="18050">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33818" y="2337222"/>
              <a:ext cx="0" cy="90255"/>
            </a:xfrm>
            <a:prstGeom prst="line">
              <a:avLst/>
            </a:prstGeom>
            <a:ln w="18050">
              <a:solidFill>
                <a:srgbClr val="0B5FC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1210812" y="2404913"/>
              <a:ext cx="135382" cy="112819"/>
            </a:xfrm>
            <a:custGeom>
              <a:avLst/>
              <a:gdLst/>
              <a:ahLst/>
              <a:cxnLst/>
              <a:rect l="l" t="t" r="r" b="b"/>
              <a:pathLst>
                <a:path w="135382" h="112819">
                  <a:moveTo>
                    <a:pt x="67691" y="112819"/>
                  </a:moveTo>
                  <a:lnTo>
                    <a:pt x="0" y="0"/>
                  </a:lnTo>
                  <a:lnTo>
                    <a:pt x="135382"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429251" y="2404913"/>
              <a:ext cx="135382" cy="112819"/>
            </a:xfrm>
            <a:custGeom>
              <a:avLst/>
              <a:gdLst/>
              <a:ahLst/>
              <a:cxnLst/>
              <a:rect l="l" t="t" r="r" b="b"/>
              <a:pathLst>
                <a:path w="135382" h="112819">
                  <a:moveTo>
                    <a:pt x="67691" y="112819"/>
                  </a:moveTo>
                  <a:lnTo>
                    <a:pt x="0" y="0"/>
                  </a:lnTo>
                  <a:lnTo>
                    <a:pt x="135382"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647689" y="2404913"/>
              <a:ext cx="135382" cy="112819"/>
            </a:xfrm>
            <a:custGeom>
              <a:avLst/>
              <a:gdLst/>
              <a:ahLst/>
              <a:cxnLst/>
              <a:rect l="l" t="t" r="r" b="b"/>
              <a:pathLst>
                <a:path w="135382" h="112819">
                  <a:moveTo>
                    <a:pt x="67691" y="112819"/>
                  </a:moveTo>
                  <a:lnTo>
                    <a:pt x="0" y="0"/>
                  </a:lnTo>
                  <a:lnTo>
                    <a:pt x="135382"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4866127" y="2404913"/>
              <a:ext cx="135382" cy="112819"/>
            </a:xfrm>
            <a:custGeom>
              <a:avLst/>
              <a:gdLst/>
              <a:ahLst/>
              <a:cxnLst/>
              <a:rect l="l" t="t" r="r" b="b"/>
              <a:pathLst>
                <a:path w="135382" h="112819">
                  <a:moveTo>
                    <a:pt x="67691" y="112819"/>
                  </a:moveTo>
                  <a:lnTo>
                    <a:pt x="0" y="0"/>
                  </a:lnTo>
                  <a:lnTo>
                    <a:pt x="135382"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30303"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639522"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248741"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857960"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67180"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076399"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85618"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294837" y="2517732"/>
              <a:ext cx="496401" cy="767165"/>
            </a:xfrm>
            <a:prstGeom prst="roundRect">
              <a:avLst>
                <a:gd name="adj" fmla="val 9090"/>
              </a:avLst>
            </a:prstGeom>
            <a:solidFill>
              <a:srgbClr val="DCEBF9"/>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5276"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S0</a:t>
              </a:r>
            </a:p>
          </p:txBody>
        </p:sp>
        <p:sp>
          <p:nvSpPr>
            <p:cNvPr id="31" name="TextBox 30"/>
            <p:cNvSpPr txBox="1"/>
            <p:nvPr/>
          </p:nvSpPr>
          <p:spPr>
            <a:xfrm>
              <a:off x="1794495"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S1</a:t>
              </a:r>
            </a:p>
          </p:txBody>
        </p:sp>
        <p:sp>
          <p:nvSpPr>
            <p:cNvPr id="32" name="TextBox 31"/>
            <p:cNvSpPr txBox="1"/>
            <p:nvPr/>
          </p:nvSpPr>
          <p:spPr>
            <a:xfrm>
              <a:off x="2403714"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S2</a:t>
              </a:r>
            </a:p>
          </p:txBody>
        </p:sp>
        <p:sp>
          <p:nvSpPr>
            <p:cNvPr id="33" name="TextBox 32"/>
            <p:cNvSpPr txBox="1"/>
            <p:nvPr/>
          </p:nvSpPr>
          <p:spPr>
            <a:xfrm>
              <a:off x="3012933"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S3</a:t>
              </a:r>
            </a:p>
          </p:txBody>
        </p:sp>
        <p:sp>
          <p:nvSpPr>
            <p:cNvPr id="34" name="TextBox 33"/>
            <p:cNvSpPr txBox="1"/>
            <p:nvPr/>
          </p:nvSpPr>
          <p:spPr>
            <a:xfrm>
              <a:off x="3622153"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S4</a:t>
              </a:r>
            </a:p>
          </p:txBody>
        </p:sp>
        <p:sp>
          <p:nvSpPr>
            <p:cNvPr id="35" name="TextBox 34"/>
            <p:cNvSpPr txBox="1"/>
            <p:nvPr/>
          </p:nvSpPr>
          <p:spPr>
            <a:xfrm>
              <a:off x="4231372"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S5</a:t>
              </a:r>
            </a:p>
          </p:txBody>
        </p:sp>
        <p:sp>
          <p:nvSpPr>
            <p:cNvPr id="36" name="TextBox 35"/>
            <p:cNvSpPr txBox="1"/>
            <p:nvPr/>
          </p:nvSpPr>
          <p:spPr>
            <a:xfrm>
              <a:off x="4840591"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S6</a:t>
              </a:r>
            </a:p>
          </p:txBody>
        </p:sp>
        <p:sp>
          <p:nvSpPr>
            <p:cNvPr id="37" name="TextBox 36"/>
            <p:cNvSpPr txBox="1"/>
            <p:nvPr/>
          </p:nvSpPr>
          <p:spPr>
            <a:xfrm>
              <a:off x="5449810" y="2831592"/>
              <a:ext cx="186455" cy="171529"/>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S7</a:t>
              </a:r>
            </a:p>
          </p:txBody>
        </p:sp>
        <p:cxnSp>
          <p:nvCxnSpPr>
            <p:cNvPr id="38" name="Connector 37"/>
            <p:cNvCxnSpPr/>
            <p:nvPr/>
          </p:nvCxnSpPr>
          <p:spPr>
            <a:xfrm>
              <a:off x="1278503"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887722"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496942"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106161"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15380"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24599"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933818"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543038"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030303" y="3465406"/>
              <a:ext cx="4760935" cy="315891"/>
            </a:xfrm>
            <a:prstGeom prst="roundRect">
              <a:avLst>
                <a:gd name="adj" fmla="val 17857"/>
              </a:avLst>
            </a:prstGeom>
            <a:solidFill>
              <a:srgbClr val="CBE0F7"/>
            </a:solidFill>
            <a:ln w="203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31324" y="3529261"/>
              <a:ext cx="2158892" cy="187865"/>
            </a:xfrm>
            <a:prstGeom prst="rect">
              <a:avLst/>
            </a:prstGeom>
            <a:noFill/>
          </p:spPr>
          <p:txBody>
            <a:bodyPr wrap="none" anchor="ctr" lIns="0" rIns="0" tIns="0" bIns="0">
              <a:noAutofit/>
            </a:bodyPr>
            <a:lstStyle/>
            <a:p>
              <a:pPr algn="ctr"/>
              <a:r>
                <a:rPr sz="1019" b="1">
                  <a:solidFill>
                    <a:srgbClr val="083F80"/>
                  </a:solidFill>
                  <a:latin typeface="맑은 고딕"/>
                  <a:ea typeface="맑은 고딕"/>
                  <a:cs typeface="맑은 고딕"/>
                </a:rPr>
                <a:t>fetch network — 한 줄로 이어져 있다</a:t>
              </a:r>
            </a:p>
          </p:txBody>
        </p:sp>
        <p:sp>
          <p:nvSpPr>
            <p:cNvPr id="48" name="TextBox 47"/>
            <p:cNvSpPr txBox="1"/>
            <p:nvPr/>
          </p:nvSpPr>
          <p:spPr>
            <a:xfrm>
              <a:off x="2182551" y="3885542"/>
              <a:ext cx="2456439" cy="179697"/>
            </a:xfrm>
            <a:prstGeom prst="rect">
              <a:avLst/>
            </a:prstGeom>
            <a:noFill/>
          </p:spPr>
          <p:txBody>
            <a:bodyPr wrap="none" anchor="ctr" lIns="0" rIns="0" tIns="0" bIns="0">
              <a:noAutofit/>
            </a:bodyPr>
            <a:lstStyle/>
            <a:p>
              <a:pPr algn="ctr"/>
              <a:r>
                <a:rPr sz="980" b="0">
                  <a:solidFill>
                    <a:srgbClr val="16202C"/>
                  </a:solidFill>
                  <a:latin typeface="맑은 고딕"/>
                  <a:ea typeface="맑은 고딕"/>
                  <a:cs typeface="맑은 고딕"/>
                </a:rPr>
                <a:t>slice 전체가 하나의 processing element 처럼</a:t>
              </a:r>
            </a:p>
          </p:txBody>
        </p:sp>
        <p:sp>
          <p:nvSpPr>
            <p:cNvPr id="49" name="TextBox 48"/>
            <p:cNvSpPr txBox="1"/>
            <p:nvPr/>
          </p:nvSpPr>
          <p:spPr>
            <a:xfrm>
              <a:off x="2730278" y="4127199"/>
              <a:ext cx="1360984" cy="187865"/>
            </a:xfrm>
            <a:prstGeom prst="rect">
              <a:avLst/>
            </a:prstGeom>
            <a:noFill/>
          </p:spPr>
          <p:txBody>
            <a:bodyPr wrap="none" anchor="ctr" lIns="0" rIns="0" tIns="0" bIns="0">
              <a:noAutofit/>
            </a:bodyPr>
            <a:lstStyle/>
            <a:p>
              <a:pPr algn="ctr"/>
              <a:r>
                <a:rPr sz="1019" b="1">
                  <a:solidFill>
                    <a:srgbClr val="0B5FC0"/>
                  </a:solidFill>
                  <a:latin typeface="맑은 고딕"/>
                  <a:ea typeface="맑은 고딕"/>
                  <a:cs typeface="맑은 고딕"/>
                </a:rPr>
                <a:t>재사용 범위 = slice 전체</a:t>
              </a:r>
            </a:p>
          </p:txBody>
        </p:sp>
        <p:sp>
          <p:nvSpPr>
            <p:cNvPr id="50" name="TextBox 49"/>
            <p:cNvSpPr txBox="1"/>
            <p:nvPr/>
          </p:nvSpPr>
          <p:spPr>
            <a:xfrm>
              <a:off x="2949212" y="4368540"/>
              <a:ext cx="923116" cy="16826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프로그래밍이 쉽다</a:t>
              </a:r>
            </a:p>
          </p:txBody>
        </p:sp>
        <p:sp>
          <p:nvSpPr>
            <p:cNvPr id="51" name="TextBox 50"/>
            <p:cNvSpPr txBox="1"/>
            <p:nvPr/>
          </p:nvSpPr>
          <p:spPr>
            <a:xfrm>
              <a:off x="7559750" y="1447988"/>
              <a:ext cx="2442348" cy="236873"/>
            </a:xfrm>
            <a:prstGeom prst="rect">
              <a:avLst/>
            </a:prstGeom>
            <a:noFill/>
          </p:spPr>
          <p:txBody>
            <a:bodyPr wrap="none" anchor="ctr" lIns="0" rIns="0" tIns="0" bIns="0">
              <a:noAutofit/>
            </a:bodyPr>
            <a:lstStyle/>
            <a:p>
              <a:pPr algn="ctr"/>
              <a:r>
                <a:rPr sz="1290" b="1">
                  <a:solidFill>
                    <a:srgbClr val="B45409"/>
                  </a:solidFill>
                  <a:latin typeface="맑은 고딕"/>
                  <a:ea typeface="맑은 고딕"/>
                  <a:cs typeface="맑은 고딕"/>
                </a:rPr>
                <a:t>설정 B — slice 들이 독립 병렬 유닛</a:t>
              </a:r>
            </a:p>
          </p:txBody>
        </p:sp>
        <p:sp>
          <p:nvSpPr>
            <p:cNvPr id="52" name="Rounded Rectangle 51"/>
            <p:cNvSpPr/>
            <p:nvPr/>
          </p:nvSpPr>
          <p:spPr>
            <a:xfrm>
              <a:off x="6208666" y="1773131"/>
              <a:ext cx="5144518" cy="2820459"/>
            </a:xfrm>
            <a:prstGeom prst="roundRect">
              <a:avLst>
                <a:gd name="adj" fmla="val 4000"/>
              </a:avLst>
            </a:prstGeom>
            <a:solidFill>
              <a:srgbClr val="FDF7F0"/>
            </a:solidFill>
            <a:ln w="2256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400457" y="2021331"/>
              <a:ext cx="1105620" cy="315891"/>
            </a:xfrm>
            <a:prstGeom prst="roundRect">
              <a:avLst>
                <a:gd name="adj" fmla="val 17857"/>
              </a:avLst>
            </a:prstGeom>
            <a:solidFill>
              <a:srgbClr val="FDEBD3"/>
            </a:solidFill>
            <a:ln w="157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618895" y="2021331"/>
              <a:ext cx="1105620" cy="315891"/>
            </a:xfrm>
            <a:prstGeom prst="roundRect">
              <a:avLst>
                <a:gd name="adj" fmla="val 17857"/>
              </a:avLst>
            </a:prstGeom>
            <a:solidFill>
              <a:srgbClr val="E2F4E8"/>
            </a:solidFill>
            <a:ln w="1579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837334" y="2021331"/>
              <a:ext cx="1105620" cy="315891"/>
            </a:xfrm>
            <a:prstGeom prst="roundRect">
              <a:avLst>
                <a:gd name="adj" fmla="val 17857"/>
              </a:avLst>
            </a:prstGeom>
            <a:solidFill>
              <a:srgbClr val="E3EEFB"/>
            </a:solidFill>
            <a:ln w="157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0055772" y="2021331"/>
              <a:ext cx="1105620" cy="315891"/>
            </a:xfrm>
            <a:prstGeom prst="roundRect">
              <a:avLst>
                <a:gd name="adj" fmla="val 17857"/>
              </a:avLst>
            </a:prstGeom>
            <a:solidFill>
              <a:srgbClr val="EEF2F7"/>
            </a:solidFill>
            <a:ln w="1579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062" y="2091730"/>
              <a:ext cx="374410" cy="179697"/>
            </a:xfrm>
            <a:prstGeom prst="rect">
              <a:avLst/>
            </a:prstGeom>
            <a:noFill/>
          </p:spPr>
          <p:txBody>
            <a:bodyPr wrap="none" anchor="ctr" lIns="0" rIns="0" tIns="0" bIns="0">
              <a:noAutofit/>
            </a:bodyPr>
            <a:lstStyle/>
            <a:p>
              <a:pPr algn="ctr"/>
              <a:r>
                <a:rPr sz="980" b="1">
                  <a:solidFill>
                    <a:srgbClr val="B45409"/>
                  </a:solidFill>
                  <a:latin typeface="맑은 고딕"/>
                  <a:ea typeface="맑은 고딕"/>
                  <a:cs typeface="맑은 고딕"/>
                </a:rPr>
                <a:t>축약 1</a:t>
              </a:r>
            </a:p>
          </p:txBody>
        </p:sp>
        <p:sp>
          <p:nvSpPr>
            <p:cNvPr id="58" name="TextBox 57"/>
            <p:cNvSpPr txBox="1"/>
            <p:nvPr/>
          </p:nvSpPr>
          <p:spPr>
            <a:xfrm>
              <a:off x="7984500" y="2091730"/>
              <a:ext cx="374410" cy="179697"/>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축약 2</a:t>
              </a:r>
            </a:p>
          </p:txBody>
        </p:sp>
        <p:sp>
          <p:nvSpPr>
            <p:cNvPr id="59" name="TextBox 58"/>
            <p:cNvSpPr txBox="1"/>
            <p:nvPr/>
          </p:nvSpPr>
          <p:spPr>
            <a:xfrm>
              <a:off x="9202939" y="2091730"/>
              <a:ext cx="374410" cy="179697"/>
            </a:xfrm>
            <a:prstGeom prst="rect">
              <a:avLst/>
            </a:prstGeom>
            <a:noFill/>
          </p:spPr>
          <p:txBody>
            <a:bodyPr wrap="none" anchor="ctr" lIns="0" rIns="0" tIns="0" bIns="0">
              <a:noAutofit/>
            </a:bodyPr>
            <a:lstStyle/>
            <a:p>
              <a:pPr algn="ctr"/>
              <a:r>
                <a:rPr sz="980" b="1">
                  <a:solidFill>
                    <a:srgbClr val="0B5FC0"/>
                  </a:solidFill>
                  <a:latin typeface="맑은 고딕"/>
                  <a:ea typeface="맑은 고딕"/>
                  <a:cs typeface="맑은 고딕"/>
                </a:rPr>
                <a:t>축약 3</a:t>
              </a:r>
            </a:p>
          </p:txBody>
        </p:sp>
        <p:sp>
          <p:nvSpPr>
            <p:cNvPr id="60" name="TextBox 59"/>
            <p:cNvSpPr txBox="1"/>
            <p:nvPr/>
          </p:nvSpPr>
          <p:spPr>
            <a:xfrm>
              <a:off x="10421377" y="2091730"/>
              <a:ext cx="374410" cy="179697"/>
            </a:xfrm>
            <a:prstGeom prst="rect">
              <a:avLst/>
            </a:prstGeom>
            <a:noFill/>
          </p:spPr>
          <p:txBody>
            <a:bodyPr wrap="none" anchor="ctr" lIns="0" rIns="0" tIns="0" bIns="0">
              <a:noAutofit/>
            </a:bodyPr>
            <a:lstStyle/>
            <a:p>
              <a:pPr algn="ctr"/>
              <a:r>
                <a:rPr sz="980" b="1">
                  <a:solidFill>
                    <a:srgbClr val="5B6B7B"/>
                  </a:solidFill>
                  <a:latin typeface="맑은 고딕"/>
                  <a:ea typeface="맑은 고딕"/>
                  <a:cs typeface="맑은 고딕"/>
                </a:rPr>
                <a:t>축약 4</a:t>
              </a:r>
            </a:p>
          </p:txBody>
        </p:sp>
        <p:cxnSp>
          <p:nvCxnSpPr>
            <p:cNvPr id="61" name="Connector 60"/>
            <p:cNvCxnSpPr/>
            <p:nvPr/>
          </p:nvCxnSpPr>
          <p:spPr>
            <a:xfrm>
              <a:off x="6953267" y="2337222"/>
              <a:ext cx="0" cy="90255"/>
            </a:xfrm>
            <a:prstGeom prst="line">
              <a:avLst/>
            </a:prstGeom>
            <a:ln w="18050">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171705" y="2337222"/>
              <a:ext cx="0" cy="90255"/>
            </a:xfrm>
            <a:prstGeom prst="line">
              <a:avLst/>
            </a:prstGeom>
            <a:ln w="1805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390144" y="2337222"/>
              <a:ext cx="0" cy="90255"/>
            </a:xfrm>
            <a:prstGeom prst="line">
              <a:avLst/>
            </a:prstGeom>
            <a:ln w="18050">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608582" y="2337222"/>
              <a:ext cx="0" cy="90255"/>
            </a:xfrm>
            <a:prstGeom prst="line">
              <a:avLst/>
            </a:prstGeom>
            <a:ln w="18050">
              <a:solidFill>
                <a:srgbClr val="5B6B7B"/>
              </a:solidFill>
            </a:ln>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6885576" y="2404913"/>
              <a:ext cx="135382" cy="112819"/>
            </a:xfrm>
            <a:custGeom>
              <a:avLst/>
              <a:gdLst/>
              <a:ahLst/>
              <a:cxnLst/>
              <a:rect l="l" t="t" r="r" b="b"/>
              <a:pathLst>
                <a:path w="135382" h="112819">
                  <a:moveTo>
                    <a:pt x="67691" y="112819"/>
                  </a:moveTo>
                  <a:lnTo>
                    <a:pt x="0" y="0"/>
                  </a:lnTo>
                  <a:lnTo>
                    <a:pt x="135382"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8104014" y="2404913"/>
              <a:ext cx="135382" cy="112819"/>
            </a:xfrm>
            <a:custGeom>
              <a:avLst/>
              <a:gdLst/>
              <a:ahLst/>
              <a:cxnLst/>
              <a:rect l="l" t="t" r="r" b="b"/>
              <a:pathLst>
                <a:path w="135382" h="112819">
                  <a:moveTo>
                    <a:pt x="67691" y="112819"/>
                  </a:moveTo>
                  <a:lnTo>
                    <a:pt x="0" y="0"/>
                  </a:lnTo>
                  <a:lnTo>
                    <a:pt x="135382" y="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9322453" y="2404913"/>
              <a:ext cx="135382" cy="112819"/>
            </a:xfrm>
            <a:custGeom>
              <a:avLst/>
              <a:gdLst/>
              <a:ahLst/>
              <a:cxnLst/>
              <a:rect l="l" t="t" r="r" b="b"/>
              <a:pathLst>
                <a:path w="135382" h="112819">
                  <a:moveTo>
                    <a:pt x="67691" y="112819"/>
                  </a:moveTo>
                  <a:lnTo>
                    <a:pt x="0" y="0"/>
                  </a:lnTo>
                  <a:lnTo>
                    <a:pt x="135382"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10540891" y="2404913"/>
              <a:ext cx="135382" cy="112819"/>
            </a:xfrm>
            <a:custGeom>
              <a:avLst/>
              <a:gdLst/>
              <a:ahLst/>
              <a:cxnLst/>
              <a:rect l="l" t="t" r="r" b="b"/>
              <a:pathLst>
                <a:path w="135382" h="112819">
                  <a:moveTo>
                    <a:pt x="67691" y="112819"/>
                  </a:moveTo>
                  <a:lnTo>
                    <a:pt x="0" y="0"/>
                  </a:lnTo>
                  <a:lnTo>
                    <a:pt x="135382"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400457" y="2517732"/>
              <a:ext cx="496401" cy="767165"/>
            </a:xfrm>
            <a:prstGeom prst="roundRect">
              <a:avLst>
                <a:gd name="adj" fmla="val 9090"/>
              </a:avLst>
            </a:prstGeom>
            <a:solidFill>
              <a:srgbClr val="FDEBD3"/>
            </a:solidFill>
            <a:ln w="1466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009676" y="2517732"/>
              <a:ext cx="496401" cy="767165"/>
            </a:xfrm>
            <a:prstGeom prst="roundRect">
              <a:avLst>
                <a:gd name="adj" fmla="val 9090"/>
              </a:avLst>
            </a:prstGeom>
            <a:solidFill>
              <a:srgbClr val="FDEBD3"/>
            </a:solidFill>
            <a:ln w="1466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618895" y="2517732"/>
              <a:ext cx="496401" cy="767165"/>
            </a:xfrm>
            <a:prstGeom prst="roundRect">
              <a:avLst>
                <a:gd name="adj" fmla="val 9090"/>
              </a:avLst>
            </a:prstGeom>
            <a:solidFill>
              <a:srgbClr val="E2F4E8"/>
            </a:solidFill>
            <a:ln w="1466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228115" y="2517732"/>
              <a:ext cx="496401" cy="767165"/>
            </a:xfrm>
            <a:prstGeom prst="roundRect">
              <a:avLst>
                <a:gd name="adj" fmla="val 9090"/>
              </a:avLst>
            </a:prstGeom>
            <a:solidFill>
              <a:srgbClr val="E2F4E8"/>
            </a:solidFill>
            <a:ln w="1466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837334" y="2517732"/>
              <a:ext cx="496401" cy="767165"/>
            </a:xfrm>
            <a:prstGeom prst="roundRect">
              <a:avLst>
                <a:gd name="adj" fmla="val 9090"/>
              </a:avLst>
            </a:prstGeom>
            <a:solidFill>
              <a:srgbClr val="E3EEFB"/>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446553" y="2517732"/>
              <a:ext cx="496401" cy="767165"/>
            </a:xfrm>
            <a:prstGeom prst="roundRect">
              <a:avLst>
                <a:gd name="adj" fmla="val 9090"/>
              </a:avLst>
            </a:prstGeom>
            <a:solidFill>
              <a:srgbClr val="E3EEFB"/>
            </a:solidFill>
            <a:ln w="1466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0055772" y="2517732"/>
              <a:ext cx="496401" cy="767165"/>
            </a:xfrm>
            <a:prstGeom prst="roundRect">
              <a:avLst>
                <a:gd name="adj" fmla="val 9090"/>
              </a:avLst>
            </a:prstGeom>
            <a:solidFill>
              <a:srgbClr val="EEF2F7"/>
            </a:solidFill>
            <a:ln w="14666">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10664991" y="2517732"/>
              <a:ext cx="496401" cy="767165"/>
            </a:xfrm>
            <a:prstGeom prst="roundRect">
              <a:avLst>
                <a:gd name="adj" fmla="val 9090"/>
              </a:avLst>
            </a:prstGeom>
            <a:solidFill>
              <a:srgbClr val="EEF2F7"/>
            </a:solidFill>
            <a:ln w="14666">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555430" y="2831592"/>
              <a:ext cx="186455" cy="171529"/>
            </a:xfrm>
            <a:prstGeom prst="rect">
              <a:avLst/>
            </a:prstGeom>
            <a:noFill/>
          </p:spPr>
          <p:txBody>
            <a:bodyPr wrap="none" anchor="ctr" lIns="0" rIns="0" tIns="0" bIns="0">
              <a:noAutofit/>
            </a:bodyPr>
            <a:lstStyle/>
            <a:p>
              <a:pPr algn="ctr"/>
              <a:r>
                <a:rPr sz="930" b="1">
                  <a:solidFill>
                    <a:srgbClr val="B45409"/>
                  </a:solidFill>
                  <a:latin typeface="맑은 고딕"/>
                  <a:ea typeface="맑은 고딕"/>
                  <a:cs typeface="맑은 고딕"/>
                </a:rPr>
                <a:t>S0</a:t>
              </a:r>
            </a:p>
          </p:txBody>
        </p:sp>
        <p:sp>
          <p:nvSpPr>
            <p:cNvPr id="78" name="TextBox 77"/>
            <p:cNvSpPr txBox="1"/>
            <p:nvPr/>
          </p:nvSpPr>
          <p:spPr>
            <a:xfrm>
              <a:off x="7164649" y="2831592"/>
              <a:ext cx="186455" cy="171529"/>
            </a:xfrm>
            <a:prstGeom prst="rect">
              <a:avLst/>
            </a:prstGeom>
            <a:noFill/>
          </p:spPr>
          <p:txBody>
            <a:bodyPr wrap="none" anchor="ctr" lIns="0" rIns="0" tIns="0" bIns="0">
              <a:noAutofit/>
            </a:bodyPr>
            <a:lstStyle/>
            <a:p>
              <a:pPr algn="ctr"/>
              <a:r>
                <a:rPr sz="930" b="1">
                  <a:solidFill>
                    <a:srgbClr val="B45409"/>
                  </a:solidFill>
                  <a:latin typeface="맑은 고딕"/>
                  <a:ea typeface="맑은 고딕"/>
                  <a:cs typeface="맑은 고딕"/>
                </a:rPr>
                <a:t>S1</a:t>
              </a:r>
            </a:p>
          </p:txBody>
        </p:sp>
        <p:sp>
          <p:nvSpPr>
            <p:cNvPr id="79" name="TextBox 78"/>
            <p:cNvSpPr txBox="1"/>
            <p:nvPr/>
          </p:nvSpPr>
          <p:spPr>
            <a:xfrm>
              <a:off x="7773868" y="2831592"/>
              <a:ext cx="186455" cy="171529"/>
            </a:xfrm>
            <a:prstGeom prst="rect">
              <a:avLst/>
            </a:prstGeom>
            <a:noFill/>
          </p:spPr>
          <p:txBody>
            <a:bodyPr wrap="none" anchor="ctr" lIns="0" rIns="0" tIns="0" bIns="0">
              <a:noAutofit/>
            </a:bodyPr>
            <a:lstStyle/>
            <a:p>
              <a:pPr algn="ctr"/>
              <a:r>
                <a:rPr sz="930" b="1">
                  <a:solidFill>
                    <a:srgbClr val="1A7F37"/>
                  </a:solidFill>
                  <a:latin typeface="맑은 고딕"/>
                  <a:ea typeface="맑은 고딕"/>
                  <a:cs typeface="맑은 고딕"/>
                </a:rPr>
                <a:t>S2</a:t>
              </a:r>
            </a:p>
          </p:txBody>
        </p:sp>
        <p:sp>
          <p:nvSpPr>
            <p:cNvPr id="80" name="TextBox 79"/>
            <p:cNvSpPr txBox="1"/>
            <p:nvPr/>
          </p:nvSpPr>
          <p:spPr>
            <a:xfrm>
              <a:off x="8383088" y="2831592"/>
              <a:ext cx="186455" cy="171529"/>
            </a:xfrm>
            <a:prstGeom prst="rect">
              <a:avLst/>
            </a:prstGeom>
            <a:noFill/>
          </p:spPr>
          <p:txBody>
            <a:bodyPr wrap="none" anchor="ctr" lIns="0" rIns="0" tIns="0" bIns="0">
              <a:noAutofit/>
            </a:bodyPr>
            <a:lstStyle/>
            <a:p>
              <a:pPr algn="ctr"/>
              <a:r>
                <a:rPr sz="930" b="1">
                  <a:solidFill>
                    <a:srgbClr val="1A7F37"/>
                  </a:solidFill>
                  <a:latin typeface="맑은 고딕"/>
                  <a:ea typeface="맑은 고딕"/>
                  <a:cs typeface="맑은 고딕"/>
                </a:rPr>
                <a:t>S3</a:t>
              </a:r>
            </a:p>
          </p:txBody>
        </p:sp>
        <p:sp>
          <p:nvSpPr>
            <p:cNvPr id="81" name="TextBox 80"/>
            <p:cNvSpPr txBox="1"/>
            <p:nvPr/>
          </p:nvSpPr>
          <p:spPr>
            <a:xfrm>
              <a:off x="8992307" y="2831592"/>
              <a:ext cx="186455" cy="171529"/>
            </a:xfrm>
            <a:prstGeom prst="rect">
              <a:avLst/>
            </a:prstGeom>
            <a:noFill/>
          </p:spPr>
          <p:txBody>
            <a:bodyPr wrap="none" anchor="ctr" lIns="0" rIns="0" tIns="0" bIns="0">
              <a:noAutofit/>
            </a:bodyPr>
            <a:lstStyle/>
            <a:p>
              <a:pPr algn="ctr"/>
              <a:r>
                <a:rPr sz="930" b="1">
                  <a:solidFill>
                    <a:srgbClr val="0B5FC0"/>
                  </a:solidFill>
                  <a:latin typeface="맑은 고딕"/>
                  <a:ea typeface="맑은 고딕"/>
                  <a:cs typeface="맑은 고딕"/>
                </a:rPr>
                <a:t>S4</a:t>
              </a:r>
            </a:p>
          </p:txBody>
        </p:sp>
        <p:sp>
          <p:nvSpPr>
            <p:cNvPr id="82" name="TextBox 81"/>
            <p:cNvSpPr txBox="1"/>
            <p:nvPr/>
          </p:nvSpPr>
          <p:spPr>
            <a:xfrm>
              <a:off x="9601526" y="2831592"/>
              <a:ext cx="186455" cy="171529"/>
            </a:xfrm>
            <a:prstGeom prst="rect">
              <a:avLst/>
            </a:prstGeom>
            <a:noFill/>
          </p:spPr>
          <p:txBody>
            <a:bodyPr wrap="none" anchor="ctr" lIns="0" rIns="0" tIns="0" bIns="0">
              <a:noAutofit/>
            </a:bodyPr>
            <a:lstStyle/>
            <a:p>
              <a:pPr algn="ctr"/>
              <a:r>
                <a:rPr sz="930" b="1">
                  <a:solidFill>
                    <a:srgbClr val="0B5FC0"/>
                  </a:solidFill>
                  <a:latin typeface="맑은 고딕"/>
                  <a:ea typeface="맑은 고딕"/>
                  <a:cs typeface="맑은 고딕"/>
                </a:rPr>
                <a:t>S5</a:t>
              </a:r>
            </a:p>
          </p:txBody>
        </p:sp>
        <p:sp>
          <p:nvSpPr>
            <p:cNvPr id="83" name="TextBox 82"/>
            <p:cNvSpPr txBox="1"/>
            <p:nvPr/>
          </p:nvSpPr>
          <p:spPr>
            <a:xfrm>
              <a:off x="10210745" y="2831592"/>
              <a:ext cx="186455" cy="171529"/>
            </a:xfrm>
            <a:prstGeom prst="rect">
              <a:avLst/>
            </a:prstGeom>
            <a:noFill/>
          </p:spPr>
          <p:txBody>
            <a:bodyPr wrap="none" anchor="ctr" lIns="0" rIns="0" tIns="0" bIns="0">
              <a:noAutofit/>
            </a:bodyPr>
            <a:lstStyle/>
            <a:p>
              <a:pPr algn="ctr"/>
              <a:r>
                <a:rPr sz="930" b="1">
                  <a:solidFill>
                    <a:srgbClr val="5B6B7B"/>
                  </a:solidFill>
                  <a:latin typeface="맑은 고딕"/>
                  <a:ea typeface="맑은 고딕"/>
                  <a:cs typeface="맑은 고딕"/>
                </a:rPr>
                <a:t>S6</a:t>
              </a:r>
            </a:p>
          </p:txBody>
        </p:sp>
        <p:sp>
          <p:nvSpPr>
            <p:cNvPr id="84" name="TextBox 83"/>
            <p:cNvSpPr txBox="1"/>
            <p:nvPr/>
          </p:nvSpPr>
          <p:spPr>
            <a:xfrm>
              <a:off x="10819964" y="2831592"/>
              <a:ext cx="186455" cy="171529"/>
            </a:xfrm>
            <a:prstGeom prst="rect">
              <a:avLst/>
            </a:prstGeom>
            <a:noFill/>
          </p:spPr>
          <p:txBody>
            <a:bodyPr wrap="none" anchor="ctr" lIns="0" rIns="0" tIns="0" bIns="0">
              <a:noAutofit/>
            </a:bodyPr>
            <a:lstStyle/>
            <a:p>
              <a:pPr algn="ctr"/>
              <a:r>
                <a:rPr sz="930" b="1">
                  <a:solidFill>
                    <a:srgbClr val="5B6B7B"/>
                  </a:solidFill>
                  <a:latin typeface="맑은 고딕"/>
                  <a:ea typeface="맑은 고딕"/>
                  <a:cs typeface="맑은 고딕"/>
                </a:rPr>
                <a:t>S7</a:t>
              </a:r>
            </a:p>
          </p:txBody>
        </p:sp>
        <p:cxnSp>
          <p:nvCxnSpPr>
            <p:cNvPr id="85" name="Connector 84"/>
            <p:cNvCxnSpPr/>
            <p:nvPr/>
          </p:nvCxnSpPr>
          <p:spPr>
            <a:xfrm>
              <a:off x="6648657" y="3284897"/>
              <a:ext cx="0" cy="180509"/>
            </a:xfrm>
            <a:prstGeom prst="line">
              <a:avLst/>
            </a:prstGeom>
            <a:ln w="1353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257877" y="3284897"/>
              <a:ext cx="0" cy="180509"/>
            </a:xfrm>
            <a:prstGeom prst="line">
              <a:avLst/>
            </a:prstGeom>
            <a:ln w="1353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867096" y="3284897"/>
              <a:ext cx="0" cy="180509"/>
            </a:xfrm>
            <a:prstGeom prst="line">
              <a:avLst/>
            </a:prstGeom>
            <a:ln w="13538">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476315" y="3284897"/>
              <a:ext cx="0" cy="180509"/>
            </a:xfrm>
            <a:prstGeom prst="line">
              <a:avLst/>
            </a:prstGeom>
            <a:ln w="13538">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085534"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694753" y="3284897"/>
              <a:ext cx="0" cy="180509"/>
            </a:xfrm>
            <a:prstGeom prst="line">
              <a:avLst/>
            </a:prstGeom>
            <a:ln w="13538">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303973" y="3284897"/>
              <a:ext cx="0" cy="180509"/>
            </a:xfrm>
            <a:prstGeom prst="line">
              <a:avLst/>
            </a:prstGeom>
            <a:ln w="13538">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913192" y="3284897"/>
              <a:ext cx="0" cy="180509"/>
            </a:xfrm>
            <a:prstGeom prst="line">
              <a:avLst/>
            </a:prstGeom>
            <a:ln w="13538">
              <a:solidFill>
                <a:srgbClr val="5B6B7B"/>
              </a:solidFill>
            </a:ln>
          </p:spPr>
          <p:style>
            <a:lnRef idx="2">
              <a:schemeClr val="accent1"/>
            </a:lnRef>
            <a:fillRef idx="0">
              <a:schemeClr val="accent1"/>
            </a:fillRef>
            <a:effectRef idx="1">
              <a:schemeClr val="accent1"/>
            </a:effectRef>
            <a:fontRef idx="minor">
              <a:schemeClr val="tx1"/>
            </a:fontRef>
          </p:style>
        </p:cxnSp>
        <p:sp>
          <p:nvSpPr>
            <p:cNvPr id="93" name="Rounded Rectangle 92"/>
            <p:cNvSpPr/>
            <p:nvPr/>
          </p:nvSpPr>
          <p:spPr>
            <a:xfrm>
              <a:off x="6400457" y="3465406"/>
              <a:ext cx="1105620" cy="315891"/>
            </a:xfrm>
            <a:prstGeom prst="roundRect">
              <a:avLst>
                <a:gd name="adj" fmla="val 17857"/>
              </a:avLst>
            </a:prstGeom>
            <a:solidFill>
              <a:srgbClr val="FDEBD3"/>
            </a:solidFill>
            <a:ln w="2030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7618895" y="3465406"/>
              <a:ext cx="1105620" cy="315891"/>
            </a:xfrm>
            <a:prstGeom prst="roundRect">
              <a:avLst>
                <a:gd name="adj" fmla="val 17857"/>
              </a:avLst>
            </a:prstGeom>
            <a:solidFill>
              <a:srgbClr val="E2F4E8"/>
            </a:solidFill>
            <a:ln w="2030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8837334" y="3465406"/>
              <a:ext cx="1105620" cy="315891"/>
            </a:xfrm>
            <a:prstGeom prst="roundRect">
              <a:avLst>
                <a:gd name="adj" fmla="val 17857"/>
              </a:avLst>
            </a:prstGeom>
            <a:solidFill>
              <a:srgbClr val="E3EEFB"/>
            </a:solidFill>
            <a:ln w="203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10055772" y="3465406"/>
              <a:ext cx="1105620" cy="315891"/>
            </a:xfrm>
            <a:prstGeom prst="roundRect">
              <a:avLst>
                <a:gd name="adj" fmla="val 17857"/>
              </a:avLst>
            </a:prstGeom>
            <a:solidFill>
              <a:srgbClr val="EEF2F7"/>
            </a:solidFill>
            <a:ln w="2030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12738" y="3548892"/>
              <a:ext cx="481058" cy="163361"/>
            </a:xfrm>
            <a:prstGeom prst="rect">
              <a:avLst/>
            </a:prstGeom>
            <a:noFill/>
          </p:spPr>
          <p:txBody>
            <a:bodyPr wrap="none" anchor="ctr" lIns="0" rIns="0" tIns="0" bIns="0">
              <a:noAutofit/>
            </a:bodyPr>
            <a:lstStyle/>
            <a:p>
              <a:pPr algn="ctr"/>
              <a:r>
                <a:rPr sz="890" b="0">
                  <a:solidFill>
                    <a:srgbClr val="B45409"/>
                  </a:solidFill>
                  <a:latin typeface="맑은 고딕"/>
                  <a:ea typeface="맑은 고딕"/>
                  <a:cs typeface="맑은 고딕"/>
                </a:rPr>
                <a:t>따로 연결</a:t>
              </a:r>
            </a:p>
          </p:txBody>
        </p:sp>
        <p:sp>
          <p:nvSpPr>
            <p:cNvPr id="98" name="TextBox 97"/>
            <p:cNvSpPr txBox="1"/>
            <p:nvPr/>
          </p:nvSpPr>
          <p:spPr>
            <a:xfrm>
              <a:off x="7931177" y="3548892"/>
              <a:ext cx="481058" cy="163361"/>
            </a:xfrm>
            <a:prstGeom prst="rect">
              <a:avLst/>
            </a:prstGeom>
            <a:noFill/>
          </p:spPr>
          <p:txBody>
            <a:bodyPr wrap="none" anchor="ctr" lIns="0" rIns="0" tIns="0" bIns="0">
              <a:noAutofit/>
            </a:bodyPr>
            <a:lstStyle/>
            <a:p>
              <a:pPr algn="ctr"/>
              <a:r>
                <a:rPr sz="890" b="0">
                  <a:solidFill>
                    <a:srgbClr val="1A7F37"/>
                  </a:solidFill>
                  <a:latin typeface="맑은 고딕"/>
                  <a:ea typeface="맑은 고딕"/>
                  <a:cs typeface="맑은 고딕"/>
                </a:rPr>
                <a:t>따로 연결</a:t>
              </a:r>
            </a:p>
          </p:txBody>
        </p:sp>
        <p:sp>
          <p:nvSpPr>
            <p:cNvPr id="99" name="TextBox 98"/>
            <p:cNvSpPr txBox="1"/>
            <p:nvPr/>
          </p:nvSpPr>
          <p:spPr>
            <a:xfrm>
              <a:off x="9149615" y="3548892"/>
              <a:ext cx="481058" cy="163361"/>
            </a:xfrm>
            <a:prstGeom prst="rect">
              <a:avLst/>
            </a:prstGeom>
            <a:noFill/>
          </p:spPr>
          <p:txBody>
            <a:bodyPr wrap="none" anchor="ctr" lIns="0" rIns="0" tIns="0" bIns="0">
              <a:noAutofit/>
            </a:bodyPr>
            <a:lstStyle/>
            <a:p>
              <a:pPr algn="ctr"/>
              <a:r>
                <a:rPr sz="890" b="0">
                  <a:solidFill>
                    <a:srgbClr val="0B5FC0"/>
                  </a:solidFill>
                  <a:latin typeface="맑은 고딕"/>
                  <a:ea typeface="맑은 고딕"/>
                  <a:cs typeface="맑은 고딕"/>
                </a:rPr>
                <a:t>따로 연결</a:t>
              </a:r>
            </a:p>
          </p:txBody>
        </p:sp>
        <p:sp>
          <p:nvSpPr>
            <p:cNvPr id="100" name="TextBox 99"/>
            <p:cNvSpPr txBox="1"/>
            <p:nvPr/>
          </p:nvSpPr>
          <p:spPr>
            <a:xfrm>
              <a:off x="10368053" y="3548892"/>
              <a:ext cx="481058" cy="163361"/>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따로 연결</a:t>
              </a:r>
            </a:p>
          </p:txBody>
        </p:sp>
        <p:cxnSp>
          <p:nvCxnSpPr>
            <p:cNvPr id="101" name="Connector 100"/>
            <p:cNvCxnSpPr/>
            <p:nvPr/>
          </p:nvCxnSpPr>
          <p:spPr>
            <a:xfrm>
              <a:off x="7506077" y="3533097"/>
              <a:ext cx="112818"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7506077" y="3533097"/>
              <a:ext cx="112818"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724515" y="3533097"/>
              <a:ext cx="112819"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8724515" y="3533097"/>
              <a:ext cx="112819"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942954" y="3533097"/>
              <a:ext cx="112818"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9942954" y="3533097"/>
              <a:ext cx="112818" cy="180509"/>
            </a:xfrm>
            <a:prstGeom prst="line">
              <a:avLst/>
            </a:prstGeom>
            <a:ln w="18050">
              <a:solidFill>
                <a:srgbClr val="B4222A"/>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7761814" y="3885542"/>
              <a:ext cx="2038222" cy="179697"/>
            </a:xfrm>
            <a:prstGeom prst="rect">
              <a:avLst/>
            </a:prstGeom>
            <a:noFill/>
          </p:spPr>
          <p:txBody>
            <a:bodyPr wrap="none" anchor="ctr" lIns="0" rIns="0" tIns="0" bIns="0">
              <a:noAutofit/>
            </a:bodyPr>
            <a:lstStyle/>
            <a:p>
              <a:pPr algn="ctr"/>
              <a:r>
                <a:rPr sz="980" b="0">
                  <a:solidFill>
                    <a:srgbClr val="16202C"/>
                  </a:solidFill>
                  <a:latin typeface="맑은 고딕"/>
                  <a:ea typeface="맑은 고딕"/>
                  <a:cs typeface="맑은 고딕"/>
                </a:rPr>
                <a:t>각 묶음이 작고 독립적인 병렬 연산 유닛</a:t>
              </a:r>
            </a:p>
          </p:txBody>
        </p:sp>
        <p:sp>
          <p:nvSpPr>
            <p:cNvPr id="108" name="TextBox 107"/>
            <p:cNvSpPr txBox="1"/>
            <p:nvPr/>
          </p:nvSpPr>
          <p:spPr>
            <a:xfrm>
              <a:off x="7922817" y="4127199"/>
              <a:ext cx="1716216" cy="187865"/>
            </a:xfrm>
            <a:prstGeom prst="rect">
              <a:avLst/>
            </a:prstGeom>
            <a:noFill/>
          </p:spPr>
          <p:txBody>
            <a:bodyPr wrap="none" anchor="ctr" lIns="0" rIns="0" tIns="0" bIns="0">
              <a:noAutofit/>
            </a:bodyPr>
            <a:lstStyle/>
            <a:p>
              <a:pPr algn="ctr"/>
              <a:r>
                <a:rPr sz="1019" b="1">
                  <a:solidFill>
                    <a:srgbClr val="B45409"/>
                  </a:solidFill>
                  <a:latin typeface="맑은 고딕"/>
                  <a:ea typeface="맑은 고딕"/>
                  <a:cs typeface="맑은 고딕"/>
                </a:rPr>
                <a:t>다양한 텐서 모양에 맞춰 쪼갠다</a:t>
              </a:r>
            </a:p>
          </p:txBody>
        </p:sp>
        <p:sp>
          <p:nvSpPr>
            <p:cNvPr id="109" name="TextBox 108"/>
            <p:cNvSpPr txBox="1"/>
            <p:nvPr/>
          </p:nvSpPr>
          <p:spPr>
            <a:xfrm>
              <a:off x="8319367" y="4368540"/>
              <a:ext cx="923116" cy="16826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활용률이 올라간다</a:t>
              </a:r>
            </a:p>
          </p:txBody>
        </p:sp>
        <p:sp>
          <p:nvSpPr>
            <p:cNvPr id="110" name="Rounded Rectangle 109"/>
            <p:cNvSpPr/>
            <p:nvPr/>
          </p:nvSpPr>
          <p:spPr>
            <a:xfrm>
              <a:off x="838512" y="4819226"/>
              <a:ext cx="10514672" cy="722038"/>
            </a:xfrm>
            <a:prstGeom prst="roundRect">
              <a:avLst>
                <a:gd name="adj" fmla="val 15625"/>
              </a:avLst>
            </a:prstGeom>
            <a:solidFill>
              <a:srgbClr val="EEF2F7"/>
            </a:solidFill>
            <a:ln w="18050">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867248" y="4935881"/>
              <a:ext cx="4457200" cy="220537"/>
            </a:xfrm>
            <a:prstGeom prst="rect">
              <a:avLst/>
            </a:prstGeom>
            <a:noFill/>
          </p:spPr>
          <p:txBody>
            <a:bodyPr wrap="none" anchor="ctr" lIns="0" rIns="0" tIns="0" bIns="0">
              <a:noAutofit/>
            </a:bodyPr>
            <a:lstStyle/>
            <a:p>
              <a:pPr algn="ctr"/>
              <a:r>
                <a:rPr sz="1200" b="1">
                  <a:solidFill>
                    <a:srgbClr val="16202C"/>
                  </a:solidFill>
                  <a:latin typeface="맑은 고딕"/>
                  <a:ea typeface="맑은 고딕"/>
                  <a:cs typeface="맑은 고딕"/>
                </a:rPr>
                <a:t>바뀌는 것은 fetch network 설정뿐이다 — 같은 실리콘, 같은 slice 다</a:t>
              </a:r>
            </a:p>
          </p:txBody>
        </p:sp>
        <p:sp>
          <p:nvSpPr>
            <p:cNvPr id="112" name="TextBox 111"/>
            <p:cNvSpPr txBox="1"/>
            <p:nvPr/>
          </p:nvSpPr>
          <p:spPr>
            <a:xfrm>
              <a:off x="4198666" y="5239362"/>
              <a:ext cx="3794364" cy="179697"/>
            </a:xfrm>
            <a:prstGeom prst="rect">
              <a:avLst/>
            </a:prstGeom>
            <a:noFill/>
          </p:spPr>
          <p:txBody>
            <a:bodyPr wrap="none" anchor="ctr" lIns="0" rIns="0" tIns="0" bIns="0">
              <a:noAutofit/>
            </a:bodyPr>
            <a:lstStyle/>
            <a:p>
              <a:pPr algn="ctr"/>
              <a:r>
                <a:rPr sz="980" b="0">
                  <a:solidFill>
                    <a:srgbClr val="5B6B7B"/>
                  </a:solidFill>
                  <a:latin typeface="맑은 고딕"/>
                  <a:ea typeface="맑은 고딕"/>
                  <a:cs typeface="맑은 고딕"/>
                </a:rPr>
                <a:t>초록이 말한 circuit switch-based fetch network 가 이 전환의 스위치다</a:t>
              </a:r>
            </a:p>
          </p:txBody>
        </p:sp>
      </p:grpSp>
      <p:sp>
        <p:nvSpPr>
          <p:cNvPr id="113" name="Rectangle 112"/>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network 의 설정 하나로 같은 하드웨어가 '하나의 큰 PE' 도 되고 '독립적인 slice 무리' 도 된다.</a:t>
            </a:r>
          </a:p>
        </p:txBody>
      </p:sp>
      <p:sp>
        <p:nvSpPr>
          <p:cNvPr id="114" name="Rectangle 113"/>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(7/11) — TCP 의 답 (2): 굵은 PE 와 slice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원문: "the entire set of slices can function as one large processing element or individual slices can operate as small, independent, and parallel compute units."</a:t>
            </a:r>
          </a:p>
          <a:p>
            <a:pPr algn="l">
              <a:lnSpc>
                <a:spcPct val="118000"/>
              </a:lnSpc>
              <a:spcBef>
                <a:spcPts val="600"/>
              </a:spcBef>
              <a:spcAft>
                <a:spcPts val="200"/>
              </a:spcAft>
            </a:pPr>
            <a:r>
              <a:rPr sz="1900" b="0" i="0">
                <a:solidFill>
                  <a:srgbClr val="16202C"/>
                </a:solidFill>
                <a:latin typeface="Segoe UI"/>
                <a:ea typeface="맑은 고딕"/>
                <a:cs typeface="맑은 고딕"/>
              </a:rPr>
              <a:t>▪  이 문단이 앞 슬라이드의 딜레마(작아도 문제, 커도 문제)에 대한 직접적인 답이다</a:t>
            </a:r>
          </a:p>
          <a:p>
            <a:pPr algn="l">
              <a:lnSpc>
                <a:spcPct val="118000"/>
              </a:lnSpc>
              <a:spcBef>
                <a:spcPts val="600"/>
              </a:spcBef>
              <a:spcAft>
                <a:spcPts val="200"/>
              </a:spcAft>
            </a:pPr>
            <a:r>
              <a:rPr sz="1900" b="1" i="0">
                <a:solidFill>
                  <a:srgbClr val="083F80"/>
                </a:solidFill>
                <a:latin typeface="Segoe UI"/>
                <a:ea typeface="맑은 고딕"/>
                <a:cs typeface="맑은 고딕"/>
              </a:rPr>
              <a:t>▪  그래서 fetch network 는 단순한 배선이 아니라 아키텍처의 성격을 결정하는 장치다. 상세는 IV절 Fig. 5 에 있다</a:t>
            </a:r>
          </a:p>
          <a:p>
            <a:pPr algn="l">
              <a:lnSpc>
                <a:spcPct val="118000"/>
              </a:lnSpc>
              <a:spcBef>
                <a:spcPts val="600"/>
              </a:spcBef>
              <a:spcAft>
                <a:spcPts val="200"/>
              </a:spcAft>
            </a:pPr>
            <a:r>
              <a:rPr sz="1900" b="0" i="0">
                <a:solidFill>
                  <a:srgbClr val="16202C"/>
                </a:solidFill>
                <a:latin typeface="Segoe UI"/>
                <a:ea typeface="맑은 고딕"/>
                <a:cs typeface="맑은 고딕"/>
              </a:rPr>
              <a:t>▪  구조 자체는 Fig. 3 에 그려져 있고 III절에서 상세히 다룬다. 서론은 그림만 가리키고 지나간다</a:t>
            </a:r>
          </a:p>
          <a:p>
            <a:pPr algn="l">
              <a:lnSpc>
                <a:spcPct val="118000"/>
              </a:lnSpc>
              <a:spcBef>
                <a:spcPts val="600"/>
              </a:spcBef>
              <a:spcAft>
                <a:spcPts val="200"/>
              </a:spcAft>
            </a:pPr>
            <a:r>
              <a:rPr sz="1900" b="0" i="0">
                <a:solidFill>
                  <a:srgbClr val="16202C"/>
                </a:solidFill>
                <a:latin typeface="Segoe UI"/>
                <a:ea typeface="맑은 고딕"/>
                <a:cs typeface="맑은 고딕"/>
              </a:rPr>
              <a:t>▪  둘 중 무엇을 고를지 결정하는 주체는 컴파일러다 — 그 근거는 서론 9/11 에서 이어진다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서론 (8/11) — TCP 의 답 (3): attention 에서의 구체적 예</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a:t>
            </a:r>
          </a:p>
        </p:txBody>
      </p:sp>
      <p:grpSp>
        <p:nvGrpSpPr>
          <p:cNvPr id="8" name="도해 A1#22"/>
          <p:cNvGrpSpPr/>
          <p:nvPr/>
        </p:nvGrpSpPr>
        <p:grpSpPr>
          <a:xfrm>
            <a:off x="734972" y="1207008"/>
            <a:ext cx="10721750" cy="4334256"/>
            <a:chOff x="734972" y="1207008"/>
            <a:chExt cx="10721750" cy="4334256"/>
          </a:xfrm>
        </p:grpSpPr>
        <p:sp>
          <p:nvSpPr>
            <p:cNvPr id="9" name="TextBox 8"/>
            <p:cNvSpPr txBox="1"/>
            <p:nvPr/>
          </p:nvSpPr>
          <p:spPr>
            <a:xfrm>
              <a:off x="734972" y="1207008"/>
              <a:ext cx="3417201" cy="183236"/>
            </a:xfrm>
            <a:prstGeom prst="rect">
              <a:avLst/>
            </a:prstGeom>
            <a:noFill/>
          </p:spPr>
          <p:txBody>
            <a:bodyPr wrap="none" anchor="ctr" lIns="0" rIns="0" tIns="0" bIns="0">
              <a:noAutofit/>
            </a:bodyPr>
            <a:lstStyle/>
            <a:p>
              <a:pPr algn="l"/>
              <a:r>
                <a:rPr sz="1000" b="0">
                  <a:solidFill>
                    <a:srgbClr val="5B6B7B"/>
                  </a:solidFill>
                  <a:latin typeface="맑은 고딕"/>
                  <a:ea typeface="맑은 고딕"/>
                  <a:cs typeface="맑은 고딕"/>
                </a:rPr>
                <a:t>서론이 든 유일한 구체 수치 — e.g., 16 slices per head (Fig. 10)</a:t>
              </a:r>
            </a:p>
          </p:txBody>
        </p:sp>
        <p:sp>
          <p:nvSpPr>
            <p:cNvPr id="10" name="TextBox 9"/>
            <p:cNvSpPr txBox="1"/>
            <p:nvPr/>
          </p:nvSpPr>
          <p:spPr>
            <a:xfrm>
              <a:off x="1036769" y="1525439"/>
              <a:ext cx="1789244" cy="216552"/>
            </a:xfrm>
            <a:prstGeom prst="rect">
              <a:avLst/>
            </a:prstGeom>
            <a:noFill/>
          </p:spPr>
          <p:txBody>
            <a:bodyPr wrap="none" anchor="ctr" lIns="0" rIns="0" tIns="0" bIns="0">
              <a:noAutofit/>
            </a:bodyPr>
            <a:lstStyle/>
            <a:p>
              <a:pPr algn="ctr"/>
              <a:r>
                <a:rPr sz="1180" b="1">
                  <a:solidFill>
                    <a:srgbClr val="16202C"/>
                  </a:solidFill>
                  <a:latin typeface="맑은 고딕"/>
                  <a:ea typeface="맑은 고딕"/>
                  <a:cs typeface="맑은 고딕"/>
                </a:rPr>
                <a:t>모델 쪽 — attention head</a:t>
              </a:r>
            </a:p>
          </p:txBody>
        </p:sp>
        <p:sp>
          <p:nvSpPr>
            <p:cNvPr id="11" name="Rounded Rectangle 10"/>
            <p:cNvSpPr/>
            <p:nvPr/>
          </p:nvSpPr>
          <p:spPr>
            <a:xfrm>
              <a:off x="850013" y="1836968"/>
              <a:ext cx="2162756" cy="552193"/>
            </a:xfrm>
            <a:prstGeom prst="roundRect">
              <a:avLst>
                <a:gd name="adj" fmla="val 14583"/>
              </a:avLst>
            </a:prstGeom>
            <a:solidFill>
              <a:srgbClr val="FDEBD3"/>
            </a:solidFill>
            <a:ln w="1840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71184" y="1923249"/>
              <a:ext cx="520413" cy="208223"/>
            </a:xfrm>
            <a:prstGeom prst="rect">
              <a:avLst/>
            </a:prstGeom>
            <a:noFill/>
          </p:spPr>
          <p:txBody>
            <a:bodyPr wrap="none" anchor="ctr" lIns="0" rIns="0" tIns="0" bIns="0">
              <a:noAutofit/>
            </a:bodyPr>
            <a:lstStyle/>
            <a:p>
              <a:pPr algn="ctr"/>
              <a:r>
                <a:rPr sz="1130" b="1">
                  <a:solidFill>
                    <a:srgbClr val="B45409"/>
                  </a:solidFill>
                  <a:latin typeface="맑은 고딕"/>
                  <a:ea typeface="맑은 고딕"/>
                  <a:cs typeface="맑은 고딕"/>
                </a:rPr>
                <a:t>head 0</a:t>
              </a:r>
            </a:p>
          </p:txBody>
        </p:sp>
        <p:sp>
          <p:nvSpPr>
            <p:cNvPr id="13" name="TextBox 12"/>
            <p:cNvSpPr txBox="1"/>
            <p:nvPr/>
          </p:nvSpPr>
          <p:spPr>
            <a:xfrm>
              <a:off x="1505856" y="2154848"/>
              <a:ext cx="851070" cy="163247"/>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Q · K · V 각자 몫</a:t>
              </a:r>
            </a:p>
          </p:txBody>
        </p:sp>
        <p:sp>
          <p:nvSpPr>
            <p:cNvPr id="14" name="Rounded Rectangle 13"/>
            <p:cNvSpPr/>
            <p:nvPr/>
          </p:nvSpPr>
          <p:spPr>
            <a:xfrm>
              <a:off x="850013" y="2527210"/>
              <a:ext cx="2162756" cy="552193"/>
            </a:xfrm>
            <a:prstGeom prst="roundRect">
              <a:avLst>
                <a:gd name="adj" fmla="val 14583"/>
              </a:avLst>
            </a:prstGeom>
            <a:solidFill>
              <a:srgbClr val="E2F4E8"/>
            </a:solidFill>
            <a:ln w="1840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71184" y="2613490"/>
              <a:ext cx="520413" cy="208223"/>
            </a:xfrm>
            <a:prstGeom prst="rect">
              <a:avLst/>
            </a:prstGeom>
            <a:noFill/>
          </p:spPr>
          <p:txBody>
            <a:bodyPr wrap="none" anchor="ctr" lIns="0" rIns="0" tIns="0" bIns="0">
              <a:noAutofit/>
            </a:bodyPr>
            <a:lstStyle/>
            <a:p>
              <a:pPr algn="ctr"/>
              <a:r>
                <a:rPr sz="1130" b="1">
                  <a:solidFill>
                    <a:srgbClr val="1A7F37"/>
                  </a:solidFill>
                  <a:latin typeface="맑은 고딕"/>
                  <a:ea typeface="맑은 고딕"/>
                  <a:cs typeface="맑은 고딕"/>
                </a:rPr>
                <a:t>head 1</a:t>
              </a:r>
            </a:p>
          </p:txBody>
        </p:sp>
        <p:sp>
          <p:nvSpPr>
            <p:cNvPr id="16" name="TextBox 15"/>
            <p:cNvSpPr txBox="1"/>
            <p:nvPr/>
          </p:nvSpPr>
          <p:spPr>
            <a:xfrm>
              <a:off x="1505856" y="2845089"/>
              <a:ext cx="851070" cy="163247"/>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Q · K · V 각자 몫</a:t>
              </a:r>
            </a:p>
          </p:txBody>
        </p:sp>
        <p:sp>
          <p:nvSpPr>
            <p:cNvPr id="17" name="Rounded Rectangle 16"/>
            <p:cNvSpPr/>
            <p:nvPr/>
          </p:nvSpPr>
          <p:spPr>
            <a:xfrm>
              <a:off x="850013" y="3217451"/>
              <a:ext cx="2162756" cy="552193"/>
            </a:xfrm>
            <a:prstGeom prst="roundRect">
              <a:avLst>
                <a:gd name="adj" fmla="val 14583"/>
              </a:avLst>
            </a:prstGeom>
            <a:solidFill>
              <a:srgbClr val="E3EEFB"/>
            </a:solidFill>
            <a:ln w="184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1184" y="3303731"/>
              <a:ext cx="520413" cy="208223"/>
            </a:xfrm>
            <a:prstGeom prst="rect">
              <a:avLst/>
            </a:prstGeom>
            <a:noFill/>
          </p:spPr>
          <p:txBody>
            <a:bodyPr wrap="none" anchor="ctr" lIns="0" rIns="0" tIns="0" bIns="0">
              <a:noAutofit/>
            </a:bodyPr>
            <a:lstStyle/>
            <a:p>
              <a:pPr algn="ctr"/>
              <a:r>
                <a:rPr sz="1130" b="1">
                  <a:solidFill>
                    <a:srgbClr val="0B5FC0"/>
                  </a:solidFill>
                  <a:latin typeface="맑은 고딕"/>
                  <a:ea typeface="맑은 고딕"/>
                  <a:cs typeface="맑은 고딕"/>
                </a:rPr>
                <a:t>head 2</a:t>
              </a:r>
            </a:p>
          </p:txBody>
        </p:sp>
        <p:sp>
          <p:nvSpPr>
            <p:cNvPr id="19" name="TextBox 18"/>
            <p:cNvSpPr txBox="1"/>
            <p:nvPr/>
          </p:nvSpPr>
          <p:spPr>
            <a:xfrm>
              <a:off x="1505856" y="3535330"/>
              <a:ext cx="851070" cy="163247"/>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Q · K · V 각자 몫</a:t>
              </a:r>
            </a:p>
          </p:txBody>
        </p:sp>
        <p:sp>
          <p:nvSpPr>
            <p:cNvPr id="20" name="Rounded Rectangle 19"/>
            <p:cNvSpPr/>
            <p:nvPr/>
          </p:nvSpPr>
          <p:spPr>
            <a:xfrm>
              <a:off x="850013" y="3907693"/>
              <a:ext cx="2162756" cy="552193"/>
            </a:xfrm>
            <a:prstGeom prst="roundRect">
              <a:avLst>
                <a:gd name="adj" fmla="val 14583"/>
              </a:avLst>
            </a:prstGeom>
            <a:solidFill>
              <a:srgbClr val="EEF2F7"/>
            </a:solidFill>
            <a:ln w="18406">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71184" y="3993973"/>
              <a:ext cx="520413" cy="208223"/>
            </a:xfrm>
            <a:prstGeom prst="rect">
              <a:avLst/>
            </a:prstGeom>
            <a:noFill/>
          </p:spPr>
          <p:txBody>
            <a:bodyPr wrap="none" anchor="ctr" lIns="0" rIns="0" tIns="0" bIns="0">
              <a:noAutofit/>
            </a:bodyPr>
            <a:lstStyle/>
            <a:p>
              <a:pPr algn="ctr"/>
              <a:r>
                <a:rPr sz="1130" b="1">
                  <a:solidFill>
                    <a:srgbClr val="5B6B7B"/>
                  </a:solidFill>
                  <a:latin typeface="맑은 고딕"/>
                  <a:ea typeface="맑은 고딕"/>
                  <a:cs typeface="맑은 고딕"/>
                </a:rPr>
                <a:t>head 3</a:t>
              </a:r>
            </a:p>
          </p:txBody>
        </p:sp>
        <p:sp>
          <p:nvSpPr>
            <p:cNvPr id="22" name="TextBox 21"/>
            <p:cNvSpPr txBox="1"/>
            <p:nvPr/>
          </p:nvSpPr>
          <p:spPr>
            <a:xfrm>
              <a:off x="1505856" y="4225572"/>
              <a:ext cx="851070" cy="163247"/>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Q · K · V 각자 몫</a:t>
              </a:r>
            </a:p>
          </p:txBody>
        </p:sp>
        <p:cxnSp>
          <p:nvCxnSpPr>
            <p:cNvPr id="23" name="Connector 22"/>
            <p:cNvCxnSpPr/>
            <p:nvPr/>
          </p:nvCxnSpPr>
          <p:spPr>
            <a:xfrm>
              <a:off x="3058785" y="2113065"/>
              <a:ext cx="276097" cy="0"/>
            </a:xfrm>
            <a:prstGeom prst="line">
              <a:avLst/>
            </a:prstGeom>
            <a:ln w="20707">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58785" y="2803306"/>
              <a:ext cx="276097" cy="0"/>
            </a:xfrm>
            <a:prstGeom prst="line">
              <a:avLst/>
            </a:prstGeom>
            <a:ln w="20707">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58785" y="3493548"/>
              <a:ext cx="276097" cy="0"/>
            </a:xfrm>
            <a:prstGeom prst="line">
              <a:avLst/>
            </a:prstGeom>
            <a:ln w="20707">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58785" y="4183789"/>
              <a:ext cx="276097" cy="0"/>
            </a:xfrm>
            <a:prstGeom prst="line">
              <a:avLst/>
            </a:prstGeom>
            <a:ln w="20707">
              <a:solidFill>
                <a:srgbClr val="5B6B7B"/>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3311874" y="2044041"/>
              <a:ext cx="138048" cy="138048"/>
            </a:xfrm>
            <a:custGeom>
              <a:avLst/>
              <a:gdLst/>
              <a:ahLst/>
              <a:cxnLst/>
              <a:rect l="l" t="t" r="r" b="b"/>
              <a:pathLst>
                <a:path w="138048" h="138048">
                  <a:moveTo>
                    <a:pt x="138048" y="69024"/>
                  </a:moveTo>
                  <a:lnTo>
                    <a:pt x="0" y="0"/>
                  </a:lnTo>
                  <a:lnTo>
                    <a:pt x="0" y="138048"/>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3311874" y="2734282"/>
              <a:ext cx="138048" cy="138048"/>
            </a:xfrm>
            <a:custGeom>
              <a:avLst/>
              <a:gdLst/>
              <a:ahLst/>
              <a:cxnLst/>
              <a:rect l="l" t="t" r="r" b="b"/>
              <a:pathLst>
                <a:path w="138048" h="138048">
                  <a:moveTo>
                    <a:pt x="138048" y="69024"/>
                  </a:moveTo>
                  <a:lnTo>
                    <a:pt x="0" y="0"/>
                  </a:lnTo>
                  <a:lnTo>
                    <a:pt x="0" y="138048"/>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3311874" y="3424524"/>
              <a:ext cx="138048" cy="138048"/>
            </a:xfrm>
            <a:custGeom>
              <a:avLst/>
              <a:gdLst/>
              <a:ahLst/>
              <a:cxnLst/>
              <a:rect l="l" t="t" r="r" b="b"/>
              <a:pathLst>
                <a:path w="138048" h="138048">
                  <a:moveTo>
                    <a:pt x="138048" y="69024"/>
                  </a:moveTo>
                  <a:lnTo>
                    <a:pt x="0" y="0"/>
                  </a:lnTo>
                  <a:lnTo>
                    <a:pt x="0" y="138048"/>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3311874" y="4114765"/>
              <a:ext cx="138048" cy="138048"/>
            </a:xfrm>
            <a:custGeom>
              <a:avLst/>
              <a:gdLst/>
              <a:ahLst/>
              <a:cxnLst/>
              <a:rect l="l" t="t" r="r" b="b"/>
              <a:pathLst>
                <a:path w="138048" h="138048">
                  <a:moveTo>
                    <a:pt x="138048" y="69024"/>
                  </a:moveTo>
                  <a:lnTo>
                    <a:pt x="0" y="0"/>
                  </a:lnTo>
                  <a:lnTo>
                    <a:pt x="0" y="138048"/>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541954" y="1629896"/>
              <a:ext cx="5199819" cy="3106086"/>
            </a:xfrm>
            <a:prstGeom prst="roundRect">
              <a:avLst>
                <a:gd name="adj" fmla="val 3703"/>
              </a:avLst>
            </a:prstGeom>
            <a:solidFill>
              <a:srgbClr val="F7FAFD"/>
            </a:solidFill>
            <a:ln w="2530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78048" y="1709504"/>
              <a:ext cx="2327632" cy="216552"/>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하드웨어 쪽 — PE 하나의 slice 64개</a:t>
              </a:r>
            </a:p>
          </p:txBody>
        </p:sp>
        <p:sp>
          <p:nvSpPr>
            <p:cNvPr id="33" name="Rounded Rectangle 32"/>
            <p:cNvSpPr/>
            <p:nvPr/>
          </p:nvSpPr>
          <p:spPr>
            <a:xfrm>
              <a:off x="3703011"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24228"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45445"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566662"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87880"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09097"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430314"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51532" y="2021033"/>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703011"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324228"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945445"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566662"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187880"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809097"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430314"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051532" y="2343145"/>
              <a:ext cx="529185" cy="253089"/>
            </a:xfrm>
            <a:prstGeom prst="roundRect">
              <a:avLst>
                <a:gd name="adj" fmla="val 13636"/>
              </a:avLst>
            </a:prstGeom>
            <a:solidFill>
              <a:srgbClr val="FDEBD3"/>
            </a:solidFill>
            <a:ln w="115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703011"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324228"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945445"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566662"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187880"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809097"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430314"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051532" y="2665258"/>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703011"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324228"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945445"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566662"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187880"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809097"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430314"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051532" y="2987371"/>
              <a:ext cx="529185" cy="253089"/>
            </a:xfrm>
            <a:prstGeom prst="roundRect">
              <a:avLst>
                <a:gd name="adj" fmla="val 13636"/>
              </a:avLst>
            </a:prstGeom>
            <a:solidFill>
              <a:srgbClr val="E2F4E8"/>
            </a:solidFill>
            <a:ln w="1150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3703011"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4324228"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945445"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566662"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187880"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809097"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430314"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051532" y="3309483"/>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703011"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4324228"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945445"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5566662"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6187880"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6809097"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430314"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8051532" y="3631596"/>
              <a:ext cx="529185" cy="253089"/>
            </a:xfrm>
            <a:prstGeom prst="roundRect">
              <a:avLst>
                <a:gd name="adj" fmla="val 13636"/>
              </a:avLst>
            </a:prstGeom>
            <a:solidFill>
              <a:srgbClr val="E3EEFB"/>
            </a:solidFill>
            <a:ln w="1150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3703011"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4324228"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4945445"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5566662"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6187880"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6809097"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7430314"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8051532" y="3953709"/>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3703011"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4324228"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4945445"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5566662"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6187880"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6809097"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7430314"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8051532" y="4275821"/>
              <a:ext cx="529185" cy="253089"/>
            </a:xfrm>
            <a:prstGeom prst="roundRect">
              <a:avLst>
                <a:gd name="adj" fmla="val 13636"/>
              </a:avLst>
            </a:prstGeom>
            <a:solidFill>
              <a:srgbClr val="EEF2F7"/>
            </a:solidFill>
            <a:ln w="1150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856813" y="2201186"/>
              <a:ext cx="1147273" cy="191565"/>
            </a:xfrm>
            <a:prstGeom prst="rect">
              <a:avLst/>
            </a:prstGeom>
            <a:noFill/>
          </p:spPr>
          <p:txBody>
            <a:bodyPr wrap="none" anchor="ctr" lIns="0" rIns="0" tIns="0" bIns="0">
              <a:noAutofit/>
            </a:bodyPr>
            <a:lstStyle/>
            <a:p>
              <a:pPr algn="l"/>
              <a:r>
                <a:rPr sz="1040" b="1">
                  <a:solidFill>
                    <a:srgbClr val="B45409"/>
                  </a:solidFill>
                  <a:latin typeface="맑은 고딕"/>
                  <a:ea typeface="맑은 고딕"/>
                  <a:cs typeface="맑은 고딕"/>
                </a:rPr>
                <a:t>head 0 → 16 slice</a:t>
              </a:r>
            </a:p>
          </p:txBody>
        </p:sp>
        <p:sp>
          <p:nvSpPr>
            <p:cNvPr id="98" name="TextBox 97"/>
            <p:cNvSpPr txBox="1"/>
            <p:nvPr/>
          </p:nvSpPr>
          <p:spPr>
            <a:xfrm>
              <a:off x="8856813" y="2845411"/>
              <a:ext cx="1147273" cy="191565"/>
            </a:xfrm>
            <a:prstGeom prst="rect">
              <a:avLst/>
            </a:prstGeom>
            <a:noFill/>
          </p:spPr>
          <p:txBody>
            <a:bodyPr wrap="none" anchor="ctr" lIns="0" rIns="0" tIns="0" bIns="0">
              <a:noAutofit/>
            </a:bodyPr>
            <a:lstStyle/>
            <a:p>
              <a:pPr algn="l"/>
              <a:r>
                <a:rPr sz="1040" b="1">
                  <a:solidFill>
                    <a:srgbClr val="1A7F37"/>
                  </a:solidFill>
                  <a:latin typeface="맑은 고딕"/>
                  <a:ea typeface="맑은 고딕"/>
                  <a:cs typeface="맑은 고딕"/>
                </a:rPr>
                <a:t>head 1 → 16 slice</a:t>
              </a:r>
            </a:p>
          </p:txBody>
        </p:sp>
        <p:sp>
          <p:nvSpPr>
            <p:cNvPr id="99" name="TextBox 98"/>
            <p:cNvSpPr txBox="1"/>
            <p:nvPr/>
          </p:nvSpPr>
          <p:spPr>
            <a:xfrm>
              <a:off x="8856813" y="3489636"/>
              <a:ext cx="1147273" cy="191565"/>
            </a:xfrm>
            <a:prstGeom prst="rect">
              <a:avLst/>
            </a:prstGeom>
            <a:noFill/>
          </p:spPr>
          <p:txBody>
            <a:bodyPr wrap="none" anchor="ctr" lIns="0" rIns="0" tIns="0" bIns="0">
              <a:noAutofit/>
            </a:bodyPr>
            <a:lstStyle/>
            <a:p>
              <a:pPr algn="l"/>
              <a:r>
                <a:rPr sz="1040" b="1">
                  <a:solidFill>
                    <a:srgbClr val="0B5FC0"/>
                  </a:solidFill>
                  <a:latin typeface="맑은 고딕"/>
                  <a:ea typeface="맑은 고딕"/>
                  <a:cs typeface="맑은 고딕"/>
                </a:rPr>
                <a:t>head 2 → 16 slice</a:t>
              </a:r>
            </a:p>
          </p:txBody>
        </p:sp>
        <p:sp>
          <p:nvSpPr>
            <p:cNvPr id="100" name="TextBox 99"/>
            <p:cNvSpPr txBox="1"/>
            <p:nvPr/>
          </p:nvSpPr>
          <p:spPr>
            <a:xfrm>
              <a:off x="8856813" y="4133862"/>
              <a:ext cx="1147273" cy="191565"/>
            </a:xfrm>
            <a:prstGeom prst="rect">
              <a:avLst/>
            </a:prstGeom>
            <a:noFill/>
          </p:spPr>
          <p:txBody>
            <a:bodyPr wrap="none" anchor="ctr" lIns="0" rIns="0" tIns="0" bIns="0">
              <a:noAutofit/>
            </a:bodyPr>
            <a:lstStyle/>
            <a:p>
              <a:pPr algn="l"/>
              <a:r>
                <a:rPr sz="1040" b="1">
                  <a:solidFill>
                    <a:srgbClr val="5B6B7B"/>
                  </a:solidFill>
                  <a:latin typeface="맑은 고딕"/>
                  <a:ea typeface="맑은 고딕"/>
                  <a:cs typeface="맑은 고딕"/>
                </a:rPr>
                <a:t>head 3 → 16 slice</a:t>
              </a:r>
            </a:p>
          </p:txBody>
        </p:sp>
        <p:sp>
          <p:nvSpPr>
            <p:cNvPr id="101" name="TextBox 100"/>
            <p:cNvSpPr txBox="1"/>
            <p:nvPr/>
          </p:nvSpPr>
          <p:spPr>
            <a:xfrm>
              <a:off x="8856813" y="4421140"/>
              <a:ext cx="1590302" cy="163247"/>
            </a:xfrm>
            <a:prstGeom prst="rect">
              <a:avLst/>
            </a:prstGeom>
            <a:noFill/>
          </p:spPr>
          <p:txBody>
            <a:bodyPr wrap="none" anchor="ctr" lIns="0" rIns="0" tIns="0" bIns="0">
              <a:noAutofit/>
            </a:bodyPr>
            <a:lstStyle/>
            <a:p>
              <a:pPr algn="l"/>
              <a:r>
                <a:rPr sz="890" b="0">
                  <a:solidFill>
                    <a:srgbClr val="5B6B7B"/>
                  </a:solidFill>
                  <a:latin typeface="맑은 고딕"/>
                  <a:ea typeface="맑은 고딕"/>
                  <a:cs typeface="맑은 고딕"/>
                </a:rPr>
                <a:t>64 ÷ 16 = head 4개 라는 계산은</a:t>
              </a:r>
            </a:p>
          </p:txBody>
        </p:sp>
        <p:sp>
          <p:nvSpPr>
            <p:cNvPr id="102" name="TextBox 101"/>
            <p:cNvSpPr txBox="1"/>
            <p:nvPr/>
          </p:nvSpPr>
          <p:spPr>
            <a:xfrm>
              <a:off x="8856813" y="4593701"/>
              <a:ext cx="1774631" cy="163247"/>
            </a:xfrm>
            <a:prstGeom prst="rect">
              <a:avLst/>
            </a:prstGeom>
            <a:noFill/>
          </p:spPr>
          <p:txBody>
            <a:bodyPr wrap="none" anchor="ctr" lIns="0" rIns="0" tIns="0" bIns="0">
              <a:noAutofit/>
            </a:bodyPr>
            <a:lstStyle/>
            <a:p>
              <a:pPr algn="l"/>
              <a:r>
                <a:rPr sz="890" b="0">
                  <a:solidFill>
                    <a:srgbClr val="5B6B7B"/>
                  </a:solidFill>
                  <a:latin typeface="맑은 고딕"/>
                  <a:ea typeface="맑은 고딕"/>
                  <a:cs typeface="맑은 고딕"/>
                </a:rPr>
                <a:t>서론에 없다. III절 값과 맞춰 본 것이다</a:t>
              </a:r>
            </a:p>
          </p:txBody>
        </p:sp>
        <p:sp>
          <p:nvSpPr>
            <p:cNvPr id="103" name="Rounded Rectangle 102"/>
            <p:cNvSpPr/>
            <p:nvPr/>
          </p:nvSpPr>
          <p:spPr>
            <a:xfrm>
              <a:off x="734972" y="4897039"/>
              <a:ext cx="10721750" cy="644225"/>
            </a:xfrm>
            <a:prstGeom prst="roundRect">
              <a:avLst>
                <a:gd name="adj" fmla="val 16071"/>
              </a:avLst>
            </a:prstGeom>
            <a:solidFill>
              <a:srgbClr val="F4F8FD"/>
            </a:solidFill>
            <a:ln w="184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9037" y="5012999"/>
              <a:ext cx="5725829" cy="199894"/>
            </a:xfrm>
            <a:prstGeom prst="rect">
              <a:avLst/>
            </a:prstGeom>
            <a:noFill/>
          </p:spPr>
          <p:txBody>
            <a:bodyPr wrap="none" anchor="ctr" lIns="0" rIns="0" tIns="0" bIns="0">
              <a:noAutofit/>
            </a:bodyPr>
            <a:lstStyle/>
            <a:p>
              <a:pPr algn="l"/>
              <a:r>
                <a:rPr sz="1090" b="1">
                  <a:solidFill>
                    <a:srgbClr val="083F80"/>
                  </a:solidFill>
                  <a:latin typeface="맑은 고딕"/>
                  <a:ea typeface="맑은 고딕"/>
                  <a:cs typeface="맑은 고딕"/>
                </a:rPr>
                <a:t>fetch network 가 파이프라인으로 끊임없이 공급한다 → operation unit 이 높은 처리량으로 돈다</a:t>
              </a:r>
            </a:p>
          </p:txBody>
        </p:sp>
        <p:sp>
          <p:nvSpPr>
            <p:cNvPr id="105" name="TextBox 104"/>
            <p:cNvSpPr txBox="1"/>
            <p:nvPr/>
          </p:nvSpPr>
          <p:spPr>
            <a:xfrm>
              <a:off x="919037" y="5263097"/>
              <a:ext cx="6324441" cy="174907"/>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그 위에서 slice 의 제한된 input · weight · output 버퍼를 아껴 쓰는 재사용 전략이 선다 (실증은 VI절 LLaMA-2 7B 사례 연구)</a:t>
              </a:r>
            </a:p>
          </p:txBody>
        </p:sp>
      </p:grpSp>
      <p:sp>
        <p:nvSpPr>
          <p:cNvPr id="106" name="Rectangle 10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head 당 16개 slice — attention 의 head 병렬성을 하드웨어 분할에 그대로 대응시킨다.</a:t>
            </a:r>
          </a:p>
        </p:txBody>
      </p:sp>
      <p:sp>
        <p:nvSpPr>
          <p:cNvPr id="107" name="Rectangle 10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서론 (8/11) — TCP 의 답 (3): attention 에서의 구체적 예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원문: "a PE's slices can be configured to operate in parallel for each head, e.g., 16 slices per head (see Fig. 10)."</a:t>
            </a:r>
          </a:p>
          <a:p>
            <a:pPr algn="l">
              <a:lnSpc>
                <a:spcPct val="118000"/>
              </a:lnSpc>
              <a:spcBef>
                <a:spcPts val="600"/>
              </a:spcBef>
              <a:spcAft>
                <a:spcPts val="200"/>
              </a:spcAft>
            </a:pPr>
            <a:r>
              <a:rPr sz="1900" b="0" i="0">
                <a:solidFill>
                  <a:srgbClr val="16202C"/>
                </a:solidFill>
                <a:latin typeface="Segoe UI"/>
                <a:ea typeface="맑은 고딕"/>
                <a:cs typeface="맑은 고딕"/>
              </a:rPr>
              <a:t>▪  e.g. 로 든 예시 값이지 고정 규격이 아니다. 서론에 나오는 몇 안 되는 구체 수치라는 점에서 의미가 있다</a:t>
            </a:r>
          </a:p>
          <a:p>
            <a:pPr algn="l">
              <a:lnSpc>
                <a:spcPct val="118000"/>
              </a:lnSpc>
              <a:spcBef>
                <a:spcPts val="600"/>
              </a:spcBef>
              <a:spcAft>
                <a:spcPts val="200"/>
              </a:spcAft>
            </a:pPr>
            <a:r>
              <a:rPr sz="1900" b="1" i="0">
                <a:solidFill>
                  <a:srgbClr val="083F80"/>
                </a:solidFill>
                <a:latin typeface="Segoe UI"/>
                <a:ea typeface="맑은 고딕"/>
                <a:cs typeface="맑은 고딕"/>
              </a:rPr>
              <a:t>▪  요점은 숫자가 아니라, 모델의 구조적 병렬성(head)을 하드웨어 분할(slice)에 그대로 대응시킬 수 있다는 것이다</a:t>
            </a:r>
          </a:p>
          <a:p>
            <a:pPr algn="l">
              <a:lnSpc>
                <a:spcPct val="118000"/>
              </a:lnSpc>
              <a:spcBef>
                <a:spcPts val="600"/>
              </a:spcBef>
              <a:spcAft>
                <a:spcPts val="200"/>
              </a:spcAft>
            </a:pPr>
            <a:r>
              <a:rPr sz="1900" b="0" i="0">
                <a:solidFill>
                  <a:srgbClr val="16202C"/>
                </a:solidFill>
                <a:latin typeface="Segoe UI"/>
                <a:ea typeface="맑은 고딕"/>
                <a:cs typeface="맑은 고딕"/>
              </a:rPr>
              <a:t>▪  Fig. 10 은 QK^T 계산의 tactic 예시로 VI절에 있다. 여기서는 이름만 심어 두고 넘어간다</a:t>
            </a:r>
          </a:p>
          <a:p>
            <a:pPr algn="l">
              <a:lnSpc>
                <a:spcPct val="118000"/>
              </a:lnSpc>
              <a:spcBef>
                <a:spcPts val="600"/>
              </a:spcBef>
              <a:spcAft>
                <a:spcPts val="200"/>
              </a:spcAft>
            </a:pPr>
            <a:r>
              <a:rPr sz="1900" b="0" i="0">
                <a:solidFill>
                  <a:srgbClr val="16202C"/>
                </a:solidFill>
                <a:latin typeface="Segoe UI"/>
                <a:ea typeface="맑은 고딕"/>
                <a:cs typeface="맑은 고딕"/>
              </a:rPr>
              <a:t>▪  재사용 전략의 목적은 slice 의 제한된 입력·가중치·출력 버퍼를 효율적으로 쓰는 것이고, 실증은 VI절 LLaMA-2 7B 사례 연구다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서론 (9/11) — TCP 의 답 (4): 결정론적 실행이 컴파일러를 살린다</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a:t>
            </a:r>
          </a:p>
        </p:txBody>
      </p:sp>
      <p:grpSp>
        <p:nvGrpSpPr>
          <p:cNvPr id="8" name="도해 A1#23"/>
          <p:cNvGrpSpPr/>
          <p:nvPr/>
        </p:nvGrpSpPr>
        <p:grpSpPr>
          <a:xfrm>
            <a:off x="566928" y="1406644"/>
            <a:ext cx="11057839" cy="3934984"/>
            <a:chOff x="566928" y="1406644"/>
            <a:chExt cx="11057839" cy="3934984"/>
          </a:xfrm>
        </p:grpSpPr>
        <p:sp>
          <p:nvSpPr>
            <p:cNvPr id="9" name="TextBox 8"/>
            <p:cNvSpPr txBox="1"/>
            <p:nvPr/>
          </p:nvSpPr>
          <p:spPr>
            <a:xfrm>
              <a:off x="566928" y="1406644"/>
              <a:ext cx="2641595" cy="222385"/>
            </a:xfrm>
            <a:prstGeom prst="rect">
              <a:avLst/>
            </a:prstGeom>
            <a:noFill/>
          </p:spPr>
          <p:txBody>
            <a:bodyPr wrap="none" anchor="ctr" lIns="0" rIns="0" tIns="0" bIns="0">
              <a:noAutofit/>
            </a:bodyPr>
            <a:lstStyle/>
            <a:p>
              <a:pPr algn="l"/>
              <a:r>
                <a:rPr sz="1210" b="1">
                  <a:solidFill>
                    <a:srgbClr val="083F80"/>
                  </a:solidFill>
                  <a:latin typeface="맑은 고딕"/>
                  <a:ea typeface="맑은 고딕"/>
                  <a:cs typeface="맑은 고딕"/>
                </a:rPr>
                <a:t>TCP — 결정론적이기 때문에 열리는 사슬</a:t>
              </a:r>
            </a:p>
          </p:txBody>
        </p:sp>
        <p:sp>
          <p:nvSpPr>
            <p:cNvPr id="10" name="Rounded Rectangle 9"/>
            <p:cNvSpPr/>
            <p:nvPr/>
          </p:nvSpPr>
          <p:spPr>
            <a:xfrm>
              <a:off x="566928" y="1726565"/>
              <a:ext cx="2410042" cy="1134137"/>
            </a:xfrm>
            <a:prstGeom prst="roundRect">
              <a:avLst>
                <a:gd name="adj" fmla="val 8333"/>
              </a:avLst>
            </a:prstGeom>
            <a:solidFill>
              <a:srgbClr val="E3EEFB"/>
            </a:solidFill>
            <a:ln w="236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2989" y="1879201"/>
              <a:ext cx="937920" cy="222385"/>
            </a:xfrm>
            <a:prstGeom prst="rect">
              <a:avLst/>
            </a:prstGeom>
            <a:noFill/>
          </p:spPr>
          <p:txBody>
            <a:bodyPr wrap="none" anchor="ctr" lIns="0" rIns="0" tIns="0" bIns="0">
              <a:noAutofit/>
            </a:bodyPr>
            <a:lstStyle/>
            <a:p>
              <a:pPr algn="ctr"/>
              <a:r>
                <a:rPr sz="1210" b="1">
                  <a:solidFill>
                    <a:srgbClr val="083F80"/>
                  </a:solidFill>
                  <a:latin typeface="맑은 고딕"/>
                  <a:ea typeface="맑은 고딕"/>
                  <a:cs typeface="맑은 고딕"/>
                </a:rPr>
                <a:t>결정론적 실행</a:t>
              </a:r>
            </a:p>
          </p:txBody>
        </p:sp>
        <p:sp>
          <p:nvSpPr>
            <p:cNvPr id="12" name="TextBox 11"/>
            <p:cNvSpPr txBox="1"/>
            <p:nvPr/>
          </p:nvSpPr>
          <p:spPr>
            <a:xfrm>
              <a:off x="950999" y="2203848"/>
              <a:ext cx="1641900"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operation unit 이 소프트웨어가</a:t>
              </a:r>
            </a:p>
          </p:txBody>
        </p:sp>
        <p:sp>
          <p:nvSpPr>
            <p:cNvPr id="13" name="TextBox 12"/>
            <p:cNvSpPr txBox="1"/>
            <p:nvPr/>
          </p:nvSpPr>
          <p:spPr>
            <a:xfrm>
              <a:off x="1180780" y="2392871"/>
              <a:ext cx="1182338"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정의한 대로만 계산한다</a:t>
              </a:r>
            </a:p>
          </p:txBody>
        </p:sp>
        <p:cxnSp>
          <p:nvCxnSpPr>
            <p:cNvPr id="14" name="Connector 13"/>
            <p:cNvCxnSpPr/>
            <p:nvPr/>
          </p:nvCxnSpPr>
          <p:spPr>
            <a:xfrm>
              <a:off x="3024226" y="2293634"/>
              <a:ext cx="283534" cy="0"/>
            </a:xfrm>
            <a:prstGeom prst="line">
              <a:avLst/>
            </a:prstGeom>
            <a:ln w="28353">
              <a:solidFill>
                <a:srgbClr val="0B5FC0"/>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3260504" y="2222750"/>
              <a:ext cx="141767" cy="141767"/>
            </a:xfrm>
            <a:custGeom>
              <a:avLst/>
              <a:gdLst/>
              <a:ahLst/>
              <a:cxnLst/>
              <a:rect l="l" t="t" r="r" b="b"/>
              <a:pathLst>
                <a:path w="141767" h="141767">
                  <a:moveTo>
                    <a:pt x="141767" y="70884"/>
                  </a:moveTo>
                  <a:lnTo>
                    <a:pt x="0" y="0"/>
                  </a:lnTo>
                  <a:lnTo>
                    <a:pt x="0" y="14176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49527" y="1726565"/>
              <a:ext cx="2410042" cy="1134137"/>
            </a:xfrm>
            <a:prstGeom prst="roundRect">
              <a:avLst>
                <a:gd name="adj" fmla="val 8333"/>
              </a:avLst>
            </a:prstGeom>
            <a:solidFill>
              <a:srgbClr val="E3EEFB"/>
            </a:solidFill>
            <a:ln w="236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7509" y="1879201"/>
              <a:ext cx="1114077" cy="222385"/>
            </a:xfrm>
            <a:prstGeom prst="rect">
              <a:avLst/>
            </a:prstGeom>
            <a:noFill/>
          </p:spPr>
          <p:txBody>
            <a:bodyPr wrap="none" anchor="ctr" lIns="0" rIns="0" tIns="0" bIns="0">
              <a:noAutofit/>
            </a:bodyPr>
            <a:lstStyle/>
            <a:p>
              <a:pPr algn="ctr"/>
              <a:r>
                <a:rPr sz="1210" b="1">
                  <a:solidFill>
                    <a:srgbClr val="083F80"/>
                  </a:solidFill>
                  <a:latin typeface="맑은 고딕"/>
                  <a:ea typeface="맑은 고딕"/>
                  <a:cs typeface="맑은 고딕"/>
                </a:rPr>
                <a:t>예측 가능한 성능</a:t>
              </a:r>
            </a:p>
          </p:txBody>
        </p:sp>
        <p:sp>
          <p:nvSpPr>
            <p:cNvPr id="18" name="TextBox 17"/>
            <p:cNvSpPr txBox="1"/>
            <p:nvPr/>
          </p:nvSpPr>
          <p:spPr>
            <a:xfrm>
              <a:off x="3949434" y="2203848"/>
              <a:ext cx="1410229"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캐시 미스 · 동적 스케줄링에</a:t>
              </a:r>
            </a:p>
          </p:txBody>
        </p:sp>
        <p:sp>
          <p:nvSpPr>
            <p:cNvPr id="19" name="TextBox 18"/>
            <p:cNvSpPr txBox="1"/>
            <p:nvPr/>
          </p:nvSpPr>
          <p:spPr>
            <a:xfrm>
              <a:off x="4063379" y="2392871"/>
              <a:ext cx="1182338"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성능이 좌우되지 않는다</a:t>
              </a:r>
            </a:p>
          </p:txBody>
        </p:sp>
        <p:cxnSp>
          <p:nvCxnSpPr>
            <p:cNvPr id="20" name="Connector 19"/>
            <p:cNvCxnSpPr/>
            <p:nvPr/>
          </p:nvCxnSpPr>
          <p:spPr>
            <a:xfrm>
              <a:off x="5906825" y="2293634"/>
              <a:ext cx="283534" cy="0"/>
            </a:xfrm>
            <a:prstGeom prst="line">
              <a:avLst/>
            </a:prstGeom>
            <a:ln w="28353">
              <a:solidFill>
                <a:srgbClr val="0B5FC0"/>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143103" y="2222750"/>
              <a:ext cx="141767" cy="141767"/>
            </a:xfrm>
            <a:custGeom>
              <a:avLst/>
              <a:gdLst/>
              <a:ahLst/>
              <a:cxnLst/>
              <a:rect l="l" t="t" r="r" b="b"/>
              <a:pathLst>
                <a:path w="141767" h="141767">
                  <a:moveTo>
                    <a:pt x="141767" y="70884"/>
                  </a:moveTo>
                  <a:lnTo>
                    <a:pt x="0" y="0"/>
                  </a:lnTo>
                  <a:lnTo>
                    <a:pt x="0" y="14176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32126" y="1726565"/>
              <a:ext cx="2410042" cy="1134137"/>
            </a:xfrm>
            <a:prstGeom prst="roundRect">
              <a:avLst>
                <a:gd name="adj" fmla="val 8333"/>
              </a:avLst>
            </a:prstGeom>
            <a:solidFill>
              <a:srgbClr val="E3EEFB"/>
            </a:solidFill>
            <a:ln w="236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67917" y="1879201"/>
              <a:ext cx="1338459" cy="222385"/>
            </a:xfrm>
            <a:prstGeom prst="rect">
              <a:avLst/>
            </a:prstGeom>
            <a:noFill/>
          </p:spPr>
          <p:txBody>
            <a:bodyPr wrap="none" anchor="ctr" lIns="0" rIns="0" tIns="0" bIns="0">
              <a:noAutofit/>
            </a:bodyPr>
            <a:lstStyle/>
            <a:p>
              <a:pPr algn="ctr"/>
              <a:r>
                <a:rPr sz="1210" b="1">
                  <a:solidFill>
                    <a:srgbClr val="083F80"/>
                  </a:solidFill>
                  <a:latin typeface="맑은 고딕"/>
                  <a:ea typeface="맑은 고딕"/>
                  <a:cs typeface="맑은 고딕"/>
                </a:rPr>
                <a:t>정확한 cost model</a:t>
              </a:r>
            </a:p>
          </p:txBody>
        </p:sp>
        <p:sp>
          <p:nvSpPr>
            <p:cNvPr id="24" name="TextBox 23"/>
            <p:cNvSpPr txBox="1"/>
            <p:nvPr/>
          </p:nvSpPr>
          <p:spPr>
            <a:xfrm>
              <a:off x="7000322" y="2203848"/>
              <a:ext cx="1073650"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성능과 에너지 소비를</a:t>
              </a:r>
            </a:p>
          </p:txBody>
        </p:sp>
        <p:sp>
          <p:nvSpPr>
            <p:cNvPr id="25" name="TextBox 24"/>
            <p:cNvSpPr txBox="1"/>
            <p:nvPr/>
          </p:nvSpPr>
          <p:spPr>
            <a:xfrm>
              <a:off x="7041435" y="2392871"/>
              <a:ext cx="991425"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미리 계산할 수 있다</a:t>
              </a:r>
            </a:p>
          </p:txBody>
        </p:sp>
        <p:cxnSp>
          <p:nvCxnSpPr>
            <p:cNvPr id="26" name="Connector 25"/>
            <p:cNvCxnSpPr/>
            <p:nvPr/>
          </p:nvCxnSpPr>
          <p:spPr>
            <a:xfrm>
              <a:off x="8789424" y="2293634"/>
              <a:ext cx="283534" cy="0"/>
            </a:xfrm>
            <a:prstGeom prst="line">
              <a:avLst/>
            </a:prstGeom>
            <a:ln w="28353">
              <a:solidFill>
                <a:srgbClr val="0B5FC0"/>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9025702" y="2222750"/>
              <a:ext cx="141767" cy="141767"/>
            </a:xfrm>
            <a:custGeom>
              <a:avLst/>
              <a:gdLst/>
              <a:ahLst/>
              <a:cxnLst/>
              <a:rect l="l" t="t" r="r" b="b"/>
              <a:pathLst>
                <a:path w="141767" h="141767">
                  <a:moveTo>
                    <a:pt x="141767" y="70884"/>
                  </a:moveTo>
                  <a:lnTo>
                    <a:pt x="0" y="0"/>
                  </a:lnTo>
                  <a:lnTo>
                    <a:pt x="0" y="14176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214725" y="1726565"/>
              <a:ext cx="2410042" cy="1134137"/>
            </a:xfrm>
            <a:prstGeom prst="roundRect">
              <a:avLst>
                <a:gd name="adj" fmla="val 8333"/>
              </a:avLst>
            </a:prstGeom>
            <a:solidFill>
              <a:srgbClr val="CBE0F7"/>
            </a:solidFill>
            <a:ln w="283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62687" y="1879201"/>
              <a:ext cx="1714119" cy="222385"/>
            </a:xfrm>
            <a:prstGeom prst="rect">
              <a:avLst/>
            </a:prstGeom>
            <a:noFill/>
          </p:spPr>
          <p:txBody>
            <a:bodyPr wrap="none" anchor="ctr" lIns="0" rIns="0" tIns="0" bIns="0">
              <a:noAutofit/>
            </a:bodyPr>
            <a:lstStyle/>
            <a:p>
              <a:pPr algn="ctr"/>
              <a:r>
                <a:rPr sz="1210" b="1">
                  <a:solidFill>
                    <a:srgbClr val="083F80"/>
                  </a:solidFill>
                  <a:latin typeface="맑은 고딕"/>
                  <a:ea typeface="맑은 고딕"/>
                  <a:cs typeface="맑은 고딕"/>
                </a:rPr>
                <a:t>컴파일러의 설계 공간 탐색</a:t>
              </a:r>
            </a:p>
          </p:txBody>
        </p:sp>
        <p:sp>
          <p:nvSpPr>
            <p:cNvPr id="30" name="TextBox 29"/>
            <p:cNvSpPr txBox="1"/>
            <p:nvPr/>
          </p:nvSpPr>
          <p:spPr>
            <a:xfrm>
              <a:off x="9927755" y="2203848"/>
              <a:ext cx="983982"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lowered shape 와</a:t>
              </a:r>
            </a:p>
          </p:txBody>
        </p:sp>
        <p:sp>
          <p:nvSpPr>
            <p:cNvPr id="31" name="TextBox 30"/>
            <p:cNvSpPr txBox="1"/>
            <p:nvPr/>
          </p:nvSpPr>
          <p:spPr>
            <a:xfrm>
              <a:off x="9673874" y="2392871"/>
              <a:ext cx="1491745"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contraction order 를 고른다</a:t>
              </a:r>
            </a:p>
          </p:txBody>
        </p:sp>
        <p:sp>
          <p:nvSpPr>
            <p:cNvPr id="32" name="TextBox 31"/>
            <p:cNvSpPr txBox="1"/>
            <p:nvPr/>
          </p:nvSpPr>
          <p:spPr>
            <a:xfrm>
              <a:off x="566928" y="3131478"/>
              <a:ext cx="2453612" cy="222385"/>
            </a:xfrm>
            <a:prstGeom prst="rect">
              <a:avLst/>
            </a:prstGeom>
            <a:noFill/>
          </p:spPr>
          <p:txBody>
            <a:bodyPr wrap="none" anchor="ctr" lIns="0" rIns="0" tIns="0" bIns="0">
              <a:noAutofit/>
            </a:bodyPr>
            <a:lstStyle/>
            <a:p>
              <a:pPr algn="l"/>
              <a:r>
                <a:rPr sz="1210" b="1">
                  <a:solidFill>
                    <a:srgbClr val="B4222A"/>
                  </a:solidFill>
                  <a:latin typeface="맑은 고딕"/>
                  <a:ea typeface="맑은 고딕"/>
                  <a:cs typeface="맑은 고딕"/>
                </a:rPr>
                <a:t>비교 — 실행이 흔들리는 하드웨어라면</a:t>
              </a:r>
            </a:p>
          </p:txBody>
        </p:sp>
        <p:sp>
          <p:nvSpPr>
            <p:cNvPr id="33" name="TextBox 32"/>
            <p:cNvSpPr txBox="1"/>
            <p:nvPr/>
          </p:nvSpPr>
          <p:spPr>
            <a:xfrm>
              <a:off x="9325540" y="3172590"/>
              <a:ext cx="2299227" cy="171066"/>
            </a:xfrm>
            <a:prstGeom prst="rect">
              <a:avLst/>
            </a:prstGeom>
            <a:noFill/>
          </p:spPr>
          <p:txBody>
            <a:bodyPr wrap="none" anchor="ctr" lIns="0" rIns="0" tIns="0" bIns="0">
              <a:noAutofit/>
            </a:bodyPr>
            <a:lstStyle/>
            <a:p>
              <a:pPr algn="r"/>
              <a:r>
                <a:rPr sz="930" b="0">
                  <a:solidFill>
                    <a:srgbClr val="5B6B7B"/>
                  </a:solidFill>
                  <a:latin typeface="맑은 고딕"/>
                  <a:ea typeface="맑은 고딕"/>
                  <a:cs typeface="맑은 고딕"/>
                </a:rPr>
                <a:t>대비를 위한 해설이다. 논문에 이런 문장은 없다</a:t>
              </a:r>
            </a:p>
          </p:txBody>
        </p:sp>
        <p:sp>
          <p:nvSpPr>
            <p:cNvPr id="34" name="Rounded Rectangle 33"/>
            <p:cNvSpPr/>
            <p:nvPr/>
          </p:nvSpPr>
          <p:spPr>
            <a:xfrm>
              <a:off x="566928" y="3451399"/>
              <a:ext cx="2410042" cy="1086882"/>
            </a:xfrm>
            <a:prstGeom prst="roundRect">
              <a:avLst>
                <a:gd name="adj" fmla="val 8695"/>
              </a:avLst>
            </a:prstGeom>
            <a:solidFill>
              <a:srgbClr val="FDE8E8"/>
            </a:solidFill>
            <a:ln w="1890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976" y="3617739"/>
              <a:ext cx="1567945" cy="205279"/>
            </a:xfrm>
            <a:prstGeom prst="rect">
              <a:avLst/>
            </a:prstGeom>
            <a:noFill/>
          </p:spPr>
          <p:txBody>
            <a:bodyPr wrap="none" anchor="ctr" lIns="0" rIns="0" tIns="0" bIns="0">
              <a:noAutofit/>
            </a:bodyPr>
            <a:lstStyle/>
            <a:p>
              <a:pPr algn="ctr"/>
              <a:r>
                <a:rPr sz="1120" b="1">
                  <a:solidFill>
                    <a:srgbClr val="B4222A"/>
                  </a:solidFill>
                  <a:latin typeface="맑은 고딕"/>
                  <a:ea typeface="맑은 고딕"/>
                  <a:cs typeface="맑은 고딕"/>
                </a:rPr>
                <a:t>캐시 미스 · 동적 스케줄링</a:t>
              </a:r>
            </a:p>
          </p:txBody>
        </p:sp>
        <p:sp>
          <p:nvSpPr>
            <p:cNvPr id="36" name="TextBox 35"/>
            <p:cNvSpPr txBox="1"/>
            <p:nvPr/>
          </p:nvSpPr>
          <p:spPr>
            <a:xfrm>
              <a:off x="1113204" y="3928682"/>
              <a:ext cx="1317490"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실행 시간이 매번 달라진다</a:t>
              </a:r>
            </a:p>
          </p:txBody>
        </p:sp>
        <p:cxnSp>
          <p:nvCxnSpPr>
            <p:cNvPr id="37" name="Connector 36"/>
            <p:cNvCxnSpPr/>
            <p:nvPr/>
          </p:nvCxnSpPr>
          <p:spPr>
            <a:xfrm>
              <a:off x="3024226" y="3994840"/>
              <a:ext cx="283534" cy="0"/>
            </a:xfrm>
            <a:prstGeom prst="line">
              <a:avLst/>
            </a:prstGeom>
            <a:ln w="25990">
              <a:solidFill>
                <a:srgbClr val="B4222A"/>
              </a:solidFill>
            </a:ln>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3260504" y="3923956"/>
              <a:ext cx="141767" cy="141767"/>
            </a:xfrm>
            <a:custGeom>
              <a:avLst/>
              <a:gdLst/>
              <a:ahLst/>
              <a:cxnLst/>
              <a:rect l="l" t="t" r="r" b="b"/>
              <a:pathLst>
                <a:path w="141767" h="141767">
                  <a:moveTo>
                    <a:pt x="141767" y="70884"/>
                  </a:moveTo>
                  <a:lnTo>
                    <a:pt x="0" y="0"/>
                  </a:lnTo>
                  <a:lnTo>
                    <a:pt x="0" y="141767"/>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449527" y="3451399"/>
              <a:ext cx="2410042" cy="1086882"/>
            </a:xfrm>
            <a:prstGeom prst="roundRect">
              <a:avLst>
                <a:gd name="adj" fmla="val 8695"/>
              </a:avLst>
            </a:prstGeom>
            <a:solidFill>
              <a:srgbClr val="FDE8E8"/>
            </a:solidFill>
            <a:ln w="1890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93842" y="3617739"/>
              <a:ext cx="1321412" cy="205279"/>
            </a:xfrm>
            <a:prstGeom prst="rect">
              <a:avLst/>
            </a:prstGeom>
            <a:noFill/>
          </p:spPr>
          <p:txBody>
            <a:bodyPr wrap="none" anchor="ctr" lIns="0" rIns="0" tIns="0" bIns="0">
              <a:noAutofit/>
            </a:bodyPr>
            <a:lstStyle/>
            <a:p>
              <a:pPr algn="ctr"/>
              <a:r>
                <a:rPr sz="1120" b="1">
                  <a:solidFill>
                    <a:srgbClr val="B4222A"/>
                  </a:solidFill>
                  <a:latin typeface="맑은 고딕"/>
                  <a:ea typeface="맑은 고딕"/>
                  <a:cs typeface="맑은 고딕"/>
                </a:rPr>
                <a:t>성능을 예측할 수 없다</a:t>
              </a:r>
            </a:p>
          </p:txBody>
        </p:sp>
        <p:sp>
          <p:nvSpPr>
            <p:cNvPr id="41" name="TextBox 40"/>
            <p:cNvSpPr txBox="1"/>
            <p:nvPr/>
          </p:nvSpPr>
          <p:spPr>
            <a:xfrm>
              <a:off x="3995803" y="3928682"/>
              <a:ext cx="1317490"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같은 코드도 결과가 다르다</a:t>
              </a:r>
            </a:p>
          </p:txBody>
        </p:sp>
        <p:cxnSp>
          <p:nvCxnSpPr>
            <p:cNvPr id="42" name="Connector 41"/>
            <p:cNvCxnSpPr/>
            <p:nvPr/>
          </p:nvCxnSpPr>
          <p:spPr>
            <a:xfrm>
              <a:off x="5906825" y="3994840"/>
              <a:ext cx="283534" cy="0"/>
            </a:xfrm>
            <a:prstGeom prst="line">
              <a:avLst/>
            </a:prstGeom>
            <a:ln w="25990">
              <a:solidFill>
                <a:srgbClr val="B4222A"/>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6143103" y="3923956"/>
              <a:ext cx="141767" cy="141767"/>
            </a:xfrm>
            <a:custGeom>
              <a:avLst/>
              <a:gdLst/>
              <a:ahLst/>
              <a:cxnLst/>
              <a:rect l="l" t="t" r="r" b="b"/>
              <a:pathLst>
                <a:path w="141767" h="141767">
                  <a:moveTo>
                    <a:pt x="141767" y="70884"/>
                  </a:moveTo>
                  <a:lnTo>
                    <a:pt x="0" y="0"/>
                  </a:lnTo>
                  <a:lnTo>
                    <a:pt x="0" y="141767"/>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32126" y="3451399"/>
              <a:ext cx="2410042" cy="1086882"/>
            </a:xfrm>
            <a:prstGeom prst="roundRect">
              <a:avLst>
                <a:gd name="adj" fmla="val 8695"/>
              </a:avLst>
            </a:prstGeom>
            <a:solidFill>
              <a:srgbClr val="FDE8E8"/>
            </a:solidFill>
            <a:ln w="1890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07667" y="3617739"/>
              <a:ext cx="1658959" cy="205279"/>
            </a:xfrm>
            <a:prstGeom prst="rect">
              <a:avLst/>
            </a:prstGeom>
            <a:noFill/>
          </p:spPr>
          <p:txBody>
            <a:bodyPr wrap="none" anchor="ctr" lIns="0" rIns="0" tIns="0" bIns="0">
              <a:noAutofit/>
            </a:bodyPr>
            <a:lstStyle/>
            <a:p>
              <a:pPr algn="ctr"/>
              <a:r>
                <a:rPr sz="1120" b="1">
                  <a:solidFill>
                    <a:srgbClr val="B4222A"/>
                  </a:solidFill>
                  <a:latin typeface="맑은 고딕"/>
                  <a:ea typeface="맑은 고딕"/>
                  <a:cs typeface="맑은 고딕"/>
                </a:rPr>
                <a:t>cost model 이 부정확하다</a:t>
              </a:r>
            </a:p>
          </p:txBody>
        </p:sp>
        <p:sp>
          <p:nvSpPr>
            <p:cNvPr id="46" name="TextBox 45"/>
            <p:cNvSpPr txBox="1"/>
            <p:nvPr/>
          </p:nvSpPr>
          <p:spPr>
            <a:xfrm>
              <a:off x="6764457" y="3928682"/>
              <a:ext cx="1545380"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몇 사이클 · 몇 와트인지 모른다</a:t>
              </a:r>
            </a:p>
          </p:txBody>
        </p:sp>
        <p:cxnSp>
          <p:nvCxnSpPr>
            <p:cNvPr id="47" name="Connector 46"/>
            <p:cNvCxnSpPr/>
            <p:nvPr/>
          </p:nvCxnSpPr>
          <p:spPr>
            <a:xfrm>
              <a:off x="8789424" y="3994840"/>
              <a:ext cx="283534" cy="0"/>
            </a:xfrm>
            <a:prstGeom prst="line">
              <a:avLst/>
            </a:prstGeom>
            <a:ln w="25990">
              <a:solidFill>
                <a:srgbClr val="B4222A"/>
              </a:solidFill>
            </a:ln>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9025702" y="3923956"/>
              <a:ext cx="141767" cy="141767"/>
            </a:xfrm>
            <a:custGeom>
              <a:avLst/>
              <a:gdLst/>
              <a:ahLst/>
              <a:cxnLst/>
              <a:rect l="l" t="t" r="r" b="b"/>
              <a:pathLst>
                <a:path w="141767" h="141767">
                  <a:moveTo>
                    <a:pt x="141767" y="70884"/>
                  </a:moveTo>
                  <a:lnTo>
                    <a:pt x="0" y="0"/>
                  </a:lnTo>
                  <a:lnTo>
                    <a:pt x="0" y="141767"/>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14725" y="3451399"/>
              <a:ext cx="2410042" cy="1086882"/>
            </a:xfrm>
            <a:prstGeom prst="roundRect">
              <a:avLst>
                <a:gd name="adj" fmla="val 8695"/>
              </a:avLst>
            </a:prstGeom>
            <a:solidFill>
              <a:srgbClr val="FDE8E8"/>
            </a:solidFill>
            <a:ln w="1890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93827" y="3617739"/>
              <a:ext cx="1451838" cy="205279"/>
            </a:xfrm>
            <a:prstGeom prst="rect">
              <a:avLst/>
            </a:prstGeom>
            <a:noFill/>
          </p:spPr>
          <p:txBody>
            <a:bodyPr wrap="none" anchor="ctr" lIns="0" rIns="0" tIns="0" bIns="0">
              <a:noAutofit/>
            </a:bodyPr>
            <a:lstStyle/>
            <a:p>
              <a:pPr algn="ctr"/>
              <a:r>
                <a:rPr sz="1120" b="1">
                  <a:solidFill>
                    <a:srgbClr val="B4222A"/>
                  </a:solidFill>
                  <a:latin typeface="맑은 고딕"/>
                  <a:ea typeface="맑은 고딕"/>
                  <a:cs typeface="맑은 고딕"/>
                </a:rPr>
                <a:t>컴파일러가 고를 수 없다</a:t>
              </a:r>
            </a:p>
          </p:txBody>
        </p:sp>
        <p:sp>
          <p:nvSpPr>
            <p:cNvPr id="51" name="TextBox 50"/>
            <p:cNvSpPr txBox="1"/>
            <p:nvPr/>
          </p:nvSpPr>
          <p:spPr>
            <a:xfrm>
              <a:off x="9828577" y="3928682"/>
              <a:ext cx="1182338" cy="17106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탐색이 추측으로 바뀐다</a:t>
              </a:r>
            </a:p>
          </p:txBody>
        </p:sp>
        <p:sp>
          <p:nvSpPr>
            <p:cNvPr id="52" name="Rounded Rectangle 51"/>
            <p:cNvSpPr/>
            <p:nvPr/>
          </p:nvSpPr>
          <p:spPr>
            <a:xfrm>
              <a:off x="566928" y="4727304"/>
              <a:ext cx="11057839" cy="614324"/>
            </a:xfrm>
            <a:prstGeom prst="roundRect">
              <a:avLst>
                <a:gd name="adj" fmla="val 17307"/>
              </a:avLst>
            </a:prstGeom>
            <a:solidFill>
              <a:srgbClr val="E3EEFB"/>
            </a:solidFill>
            <a:ln w="236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77634" y="4911601"/>
              <a:ext cx="4436426" cy="256599"/>
            </a:xfrm>
            <a:prstGeom prst="rect">
              <a:avLst/>
            </a:prstGeom>
            <a:noFill/>
          </p:spPr>
          <p:txBody>
            <a:bodyPr wrap="none" anchor="ctr" lIns="0" rIns="0" tIns="0" bIns="0">
              <a:noAutofit/>
            </a:bodyPr>
            <a:lstStyle/>
            <a:p>
              <a:pPr algn="ctr"/>
              <a:r>
                <a:rPr sz="1400" b="1">
                  <a:solidFill>
                    <a:srgbClr val="083F80"/>
                  </a:solidFill>
                  <a:latin typeface="맑은 고딕"/>
                  <a:ea typeface="맑은 고딕"/>
                  <a:cs typeface="맑은 고딕"/>
                </a:rPr>
                <a:t>예측 가능해야 계산할 수 있고, 계산할 수 있어야 고를 수 있다</a:t>
              </a:r>
            </a:p>
          </p:txBody>
        </p:sp>
      </p:grpSp>
      <p:sp>
        <p:nvSpPr>
          <p:cNvPr id="54" name="Rectangle 5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결정론적 실행은 그 자체가 목적이 아니라, 컴파일러가 최적 구성을 계산으로 고를 수 있게 만드는 전제다.</a:t>
            </a:r>
          </a:p>
        </p:txBody>
      </p:sp>
      <p:sp>
        <p:nvSpPr>
          <p:cNvPr id="55" name="Rectangle 5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서론 (9/11) — TCP 의 답 (4): 결정론적 실행이 컴파일러를 살린다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원문: "Since the operation units perform computations deterministically (as defined by the software), TCP achieves predictable performance." / "This enables us to develop accurate cost models for performance and energy consumption."</a:t>
            </a:r>
          </a:p>
          <a:p>
            <a:pPr algn="l">
              <a:lnSpc>
                <a:spcPct val="118000"/>
              </a:lnSpc>
              <a:spcBef>
                <a:spcPts val="600"/>
              </a:spcBef>
              <a:spcAft>
                <a:spcPts val="200"/>
              </a:spcAft>
            </a:pPr>
            <a:r>
              <a:rPr sz="1900" b="1" i="0">
                <a:solidFill>
                  <a:srgbClr val="083F80"/>
                </a:solidFill>
                <a:latin typeface="Segoe UI"/>
                <a:ea typeface="맑은 고딕"/>
                <a:cs typeface="맑은 고딕"/>
              </a:rPr>
              <a:t>▪  하드웨어를 유연하게 만들면 선택지가 폭발한다. 그 선택을 컴파일러가 하려면 '이 구성이 몇 사이클, 몇 와트'인지 미리 계산할 수 있어야 한다</a:t>
            </a:r>
          </a:p>
          <a:p>
            <a:pPr algn="l">
              <a:lnSpc>
                <a:spcPct val="118000"/>
              </a:lnSpc>
              <a:spcBef>
                <a:spcPts val="600"/>
              </a:spcBef>
              <a:spcAft>
                <a:spcPts val="200"/>
              </a:spcAft>
            </a:pPr>
            <a:r>
              <a:rPr sz="1900" b="0" i="0">
                <a:solidFill>
                  <a:srgbClr val="16202C"/>
                </a:solidFill>
                <a:latin typeface="Segoe UI"/>
                <a:ea typeface="맑은 고딕"/>
                <a:cs typeface="맑은 고딕"/>
              </a:rPr>
              <a:t>▪  여기 나온 lowered tensor shape 과 contraction order 가 곧 II절의 lowered shape 와 tactic 이다</a:t>
            </a:r>
          </a:p>
          <a:p>
            <a:pPr algn="l">
              <a:lnSpc>
                <a:spcPct val="118000"/>
              </a:lnSpc>
              <a:spcBef>
                <a:spcPts val="600"/>
              </a:spcBef>
              <a:spcAft>
                <a:spcPts val="200"/>
              </a:spcAft>
            </a:pPr>
            <a:r>
              <a:rPr sz="1900" b="0" i="0">
                <a:solidFill>
                  <a:srgbClr val="16202C"/>
                </a:solidFill>
                <a:latin typeface="Segoe UI"/>
                <a:ea typeface="맑은 고딕"/>
                <a:cs typeface="맑은 고딕"/>
              </a:rPr>
              <a:t>▪  초록의 "컴파일러가 설계 공간을 탐색한다"가 성립하는 이유가 바로 이 문단이다</a:t>
            </a:r>
          </a:p>
          <a:p>
            <a:pPr algn="l">
              <a:lnSpc>
                <a:spcPct val="118000"/>
              </a:lnSpc>
              <a:spcBef>
                <a:spcPts val="600"/>
              </a:spcBef>
              <a:spcAft>
                <a:spcPts val="200"/>
              </a:spcAft>
            </a:pPr>
            <a:r>
              <a:rPr sz="1900" b="0" i="0">
                <a:solidFill>
                  <a:srgbClr val="16202C"/>
                </a:solidFill>
                <a:latin typeface="Segoe UI"/>
                <a:ea typeface="맑은 고딕"/>
                <a:cs typeface="맑은 고딕"/>
              </a:rPr>
              <a:t>▪  VII절 lessons learned 에 'Accurate Cost Model for End-to-End Optimization' 이 항목으로 다시 등장한다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서론 (10/11) — 논문이 직접 밝힌 로드맵</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a:t>
            </a:r>
          </a:p>
        </p:txBody>
      </p:sp>
      <p:graphicFrame>
        <p:nvGraphicFramePr>
          <p:cNvPr id="8" name="Table 7"/>
          <p:cNvGraphicFramePr>
            <a:graphicFrameLocks noGrp="1"/>
          </p:cNvGraphicFramePr>
          <p:nvPr/>
        </p:nvGraphicFramePr>
        <p:xfrm>
          <a:off x="566928" y="1517904"/>
          <a:ext cx="11057840" cy="2688336"/>
        </p:xfrm>
        <a:graphic>
          <a:graphicData uri="http://schemas.openxmlformats.org/drawingml/2006/table">
            <a:tbl>
              <a:tblPr firstRow="1" bandRow="1">
                <a:tableStyleId>{5C22544A-7EE6-4342-B048-85BDC9FD1C3A}</a:tableStyleId>
              </a:tblPr>
              <a:tblGrid>
                <a:gridCol w="1054860"/>
                <a:gridCol w="8184256"/>
                <a:gridCol w="1818724"/>
              </a:tblGrid>
              <a:tr h="384048">
                <a:tc>
                  <a:txBody>
                    <a:bodyPr wrap="square"/>
                    <a:lstStyle/>
                    <a:p>
                      <a:r>
                        <a:rPr sz="900" b="1" i="0">
                          <a:solidFill>
                            <a:srgbClr val="FFFFFF"/>
                          </a:solidFill>
                          <a:latin typeface="Segoe UI"/>
                          <a:ea typeface="맑은 고딕"/>
                          <a:cs typeface="맑은 고딕"/>
                        </a:rPr>
                        <a:t>절</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서론이 예고한 내용 (원문 요지)</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우리 발표에서의 위치</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II</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"we first explain our low-level representations of tensors and operations" — 텐서와 연산의 저수준 표현을 먼저 설명한다</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다음 부</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III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"we describe the chip-level architecture" — 칩 수준 아키텍처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이후</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IV</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"and micro-architecture" — 마이크로아키텍처</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이후</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V</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"We explain our programming interface and software stack" — 프로그래밍 인터페이스와 소프트웨어 스택</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이후</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VI</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"we show how a popular machine learning model such as LLaMA-2 7B can be executed on our chip, discuss the performance results" — LLaMA-2 7B 실행 방법과 성능 결과</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이후</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VII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"share our lessons learned during the development of the chip" — 칩 개발 과정에서 얻은 교훈</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이후</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서론의 마지막 문단은 논문 자신의 목차다. VIII(결론)은 여기 언급되지 않는다.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0·1부 · 논문 소개와 서론</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서론 (11/11) — 이 부의 정리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1. 무엇을 바꿨나 — 하드웨어의 기본 연산(primitive)을 고정 크기 행렬곱에서 텐서 축약으로 바꿨다</a:t>
            </a:r>
          </a:p>
          <a:p>
            <a:pPr algn="l">
              <a:lnSpc>
                <a:spcPct val="118000"/>
              </a:lnSpc>
              <a:spcBef>
                <a:spcPts val="200"/>
              </a:spcBef>
              <a:spcAft>
                <a:spcPts val="100"/>
              </a:spcAft>
            </a:pPr>
            <a:r>
              <a:rPr sz="1280" b="0" i="0">
                <a:solidFill>
                  <a:srgbClr val="2C3A4B"/>
                </a:solidFill>
                <a:latin typeface="Segoe UI"/>
                <a:ea typeface="맑은 고딕"/>
                <a:cs typeface="맑은 고딕"/>
              </a:rPr>
              <a:t>–  행렬곱은 축약의 대표 사례일 뿐이다 (mk,kn→mn, k 축에서 축약)</a:t>
            </a:r>
          </a:p>
          <a:p>
            <a:pPr algn="l">
              <a:lnSpc>
                <a:spcPct val="118000"/>
              </a:lnSpc>
              <a:spcBef>
                <a:spcPts val="600"/>
              </a:spcBef>
              <a:spcAft>
                <a:spcPts val="200"/>
              </a:spcAft>
            </a:pPr>
            <a:r>
              <a:rPr sz="1400" b="1" i="0">
                <a:solidFill>
                  <a:srgbClr val="083F80"/>
                </a:solidFill>
                <a:latin typeface="Segoe UI"/>
                <a:ea typeface="맑은 고딕"/>
                <a:cs typeface="맑은 고딕"/>
              </a:rPr>
              <a:t>▪  2. 왜 바꿨나 — 세 가지 한계 때문이다</a:t>
            </a:r>
          </a:p>
          <a:p>
            <a:pPr algn="l">
              <a:lnSpc>
                <a:spcPct val="118000"/>
              </a:lnSpc>
              <a:spcBef>
                <a:spcPts val="200"/>
              </a:spcBef>
              <a:spcAft>
                <a:spcPts val="100"/>
              </a:spcAft>
            </a:pPr>
            <a:r>
              <a:rPr sz="1280" b="0" i="0">
                <a:solidFill>
                  <a:srgbClr val="2C3A4B"/>
                </a:solidFill>
                <a:latin typeface="Segoe UI"/>
                <a:ea typeface="맑은 고딕"/>
                <a:cs typeface="맑은 고딕"/>
              </a:rPr>
              <a:t>–  A. 축약을 행렬곱 유닛으로 자르면 내재된 병렬성·지역성을 잃는다. 유닛이 작으면 재사용 범위가 좁아진다 [7]</a:t>
            </a:r>
          </a:p>
          <a:p>
            <a:pPr algn="l">
              <a:lnSpc>
                <a:spcPct val="118000"/>
              </a:lnSpc>
              <a:spcBef>
                <a:spcPts val="200"/>
              </a:spcBef>
              <a:spcAft>
                <a:spcPts val="100"/>
              </a:spcAft>
            </a:pPr>
            <a:r>
              <a:rPr sz="1280" b="0" i="0">
                <a:solidFill>
                  <a:srgbClr val="2C3A4B"/>
                </a:solidFill>
                <a:latin typeface="Segoe UI"/>
                <a:ea typeface="맑은 고딕"/>
                <a:cs typeface="맑은 고딕"/>
              </a:rPr>
              <a:t>–  B. 작은 PE 를 많이 깔고 NoC 로 잇는 방식은 병렬화 복잡도가 높고, wimpy core 용 프로그램 생성이 brawny core 보다 어렵다 [7]. GPU 외에 성공한 상용 사례가 거의 없다</a:t>
            </a:r>
          </a:p>
          <a:p>
            <a:pPr algn="l">
              <a:lnSpc>
                <a:spcPct val="118000"/>
              </a:lnSpc>
              <a:spcBef>
                <a:spcPts val="200"/>
              </a:spcBef>
              <a:spcAft>
                <a:spcPts val="100"/>
              </a:spcAft>
            </a:pPr>
            <a:r>
              <a:rPr sz="1280" b="0" i="0">
                <a:solidFill>
                  <a:srgbClr val="2C3A4B"/>
                </a:solidFill>
                <a:latin typeface="Segoe UI"/>
                <a:ea typeface="맑은 고딕"/>
                <a:cs typeface="맑은 고딕"/>
              </a:rPr>
              <a:t>–  C. 추론은 텐서 모양이 다양해서, 큰 행렬 유닛을 가진 칩은 활용률을 채우기 어렵다 [3][23][25]</a:t>
            </a:r>
          </a:p>
          <a:p>
            <a:pPr algn="l">
              <a:lnSpc>
                <a:spcPct val="118000"/>
              </a:lnSpc>
              <a:spcBef>
                <a:spcPts val="600"/>
              </a:spcBef>
              <a:spcAft>
                <a:spcPts val="200"/>
              </a:spcAft>
            </a:pPr>
            <a:r>
              <a:rPr sz="1400" b="1" i="0">
                <a:solidFill>
                  <a:srgbClr val="083F80"/>
                </a:solidFill>
                <a:latin typeface="Segoe UI"/>
                <a:ea typeface="맑은 고딕"/>
                <a:cs typeface="맑은 고딕"/>
              </a:rPr>
              <a:t>▪  3. 어떻게 바꿨나 — 크게 만들고, 필요하면 쪼갠다</a:t>
            </a:r>
          </a:p>
          <a:p>
            <a:pPr algn="l">
              <a:lnSpc>
                <a:spcPct val="118000"/>
              </a:lnSpc>
              <a:spcBef>
                <a:spcPts val="200"/>
              </a:spcBef>
              <a:spcAft>
                <a:spcPts val="100"/>
              </a:spcAft>
            </a:pPr>
            <a:r>
              <a:rPr sz="1280" b="0" i="0">
                <a:solidFill>
                  <a:srgbClr val="2C3A4B"/>
                </a:solidFill>
                <a:latin typeface="Segoe UI"/>
                <a:ea typeface="맑은 고딕"/>
                <a:cs typeface="맑은 고딕"/>
              </a:rPr>
              <a:t>–  coarse-grained PE 를 slice 로 분할 가능하게 설계했다 (Fig. 3)</a:t>
            </a:r>
          </a:p>
          <a:p>
            <a:pPr algn="l">
              <a:lnSpc>
                <a:spcPct val="118000"/>
              </a:lnSpc>
              <a:spcBef>
                <a:spcPts val="200"/>
              </a:spcBef>
              <a:spcAft>
                <a:spcPts val="100"/>
              </a:spcAft>
            </a:pPr>
            <a:r>
              <a:rPr sz="1280" b="0" i="0">
                <a:solidFill>
                  <a:srgbClr val="2C3A4B"/>
                </a:solidFill>
                <a:latin typeface="Segoe UI"/>
                <a:ea typeface="맑은 고딕"/>
                <a:cs typeface="맑은 고딕"/>
              </a:rPr>
              <a:t>–  fetch network 설정에 따라 전체가 하나의 큰 PE 가 되거나 slice 들이 독립 병렬 유닛이 된다</a:t>
            </a:r>
          </a:p>
          <a:p>
            <a:pPr algn="l">
              <a:lnSpc>
                <a:spcPct val="118000"/>
              </a:lnSpc>
              <a:spcBef>
                <a:spcPts val="200"/>
              </a:spcBef>
              <a:spcAft>
                <a:spcPts val="100"/>
              </a:spcAft>
            </a:pPr>
            <a:r>
              <a:rPr sz="1280" b="0" i="0">
                <a:solidFill>
                  <a:srgbClr val="2C3A4B"/>
                </a:solidFill>
                <a:latin typeface="Segoe UI"/>
                <a:ea typeface="맑은 고딕"/>
                <a:cs typeface="맑은 고딕"/>
              </a:rPr>
              <a:t>–  공간 병렬 + 시간축 파이프라이닝을 함께 쓴다 (벡터 프로세서와 유사)</a:t>
            </a:r>
          </a:p>
          <a:p>
            <a:pPr algn="l">
              <a:lnSpc>
                <a:spcPct val="118000"/>
              </a:lnSpc>
              <a:spcBef>
                <a:spcPts val="600"/>
              </a:spcBef>
              <a:spcAft>
                <a:spcPts val="200"/>
              </a:spcAft>
            </a:pPr>
            <a:r>
              <a:rPr sz="1400" b="1" i="0">
                <a:solidFill>
                  <a:srgbClr val="083F80"/>
                </a:solidFill>
                <a:latin typeface="Segoe UI"/>
                <a:ea typeface="맑은 고딕"/>
                <a:cs typeface="맑은 고딕"/>
              </a:rPr>
              <a:t>▪  4. 무엇이 그것을 가능하게 하나 — 결정론적 실행 → 정확한 cost model → 컴파일러의 lowered shape·contraction order 탐색</a:t>
            </a:r>
          </a:p>
          <a:p>
            <a:pPr algn="l">
              <a:lnSpc>
                <a:spcPct val="118000"/>
              </a:lnSpc>
              <a:spcBef>
                <a:spcPts val="600"/>
              </a:spcBef>
              <a:spcAft>
                <a:spcPts val="200"/>
              </a:spcAft>
            </a:pPr>
            <a:r>
              <a:rPr sz="1400" b="1" i="0">
                <a:solidFill>
                  <a:srgbClr val="083F80"/>
                </a:solidFill>
                <a:latin typeface="Segoe UI"/>
                <a:ea typeface="맑은 고딕"/>
                <a:cs typeface="맑은 고딕"/>
              </a:rPr>
              <a:t>▪  5. 증거 — 5nm 로 실제 제작, 150 W TDP, LLaMA-2 7B 에서 H100 대비 2.7×, L40s 대비 4.1× 와트당 성능</a:t>
            </a:r>
          </a:p>
          <a:p>
            <a:pPr algn="l">
              <a:lnSpc>
                <a:spcPct val="118000"/>
              </a:lnSpc>
              <a:spcBef>
                <a:spcPts val="600"/>
              </a:spcBef>
              <a:spcAft>
                <a:spcPts val="200"/>
              </a:spcAft>
            </a:pPr>
            <a:r>
              <a:rPr sz="1400" b="1" i="0">
                <a:solidFill>
                  <a:srgbClr val="083F80"/>
                </a:solidFill>
                <a:latin typeface="Segoe UI"/>
                <a:ea typeface="맑은 고딕"/>
                <a:cs typeface="맑은 고딕"/>
              </a:rPr>
              <a:t>▪  다음 부에서는 II. PRELIMINARIES — lowered shape 와 tactic 이라는 언어를 배운다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고정 크기를 버리고 축약을 1급으로. 유연성의 값은 컴파일러가 치르고, 그 청구서를 감당하게 해주는 것이 결정론적 실행이다.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2</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PRELIMINARIES — 논문의 어휘</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low-level einsum · lowered shape · tactic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절이 하는 일</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논문은 텐서 축약(tensor contraction)을 einsum [4] 표기로 기술한다.</a:t>
            </a:r>
          </a:p>
          <a:p>
            <a:pPr algn="l">
              <a:lnSpc>
                <a:spcPct val="118000"/>
              </a:lnSpc>
              <a:spcBef>
                <a:spcPts val="600"/>
              </a:spcBef>
              <a:spcAft>
                <a:spcPts val="200"/>
              </a:spcAft>
            </a:pPr>
            <a:r>
              <a:rPr sz="1900" b="0" i="0">
                <a:solidFill>
                  <a:srgbClr val="16202C"/>
                </a:solidFill>
                <a:latin typeface="Segoe UI"/>
                <a:ea typeface="맑은 고딕"/>
                <a:cs typeface="맑은 고딕"/>
              </a:rPr>
              <a:t>▪  그런데 표준 einsum 만으로는 TCP 아키텍처의 핵심을 표현할 수 없다.</a:t>
            </a:r>
          </a:p>
          <a:p>
            <a:pPr algn="l">
              <a:lnSpc>
                <a:spcPct val="118000"/>
              </a:lnSpc>
              <a:spcBef>
                <a:spcPts val="600"/>
              </a:spcBef>
              <a:spcAft>
                <a:spcPts val="200"/>
              </a:spcAft>
            </a:pPr>
            <a:r>
              <a:rPr sz="1900" b="1" i="0">
                <a:solidFill>
                  <a:srgbClr val="083F80"/>
                </a:solidFill>
                <a:latin typeface="Segoe UI"/>
                <a:ea typeface="맑은 고딕"/>
                <a:cs typeface="맑은 고딕"/>
              </a:rPr>
              <a:t>▪  그래서 저자들은 표기를 확장한다 → low-level einsum notation(저수준 einsum 표기).</a:t>
            </a:r>
          </a:p>
          <a:p>
            <a:pPr algn="l">
              <a:lnSpc>
                <a:spcPct val="118000"/>
              </a:lnSpc>
              <a:spcBef>
                <a:spcPts val="600"/>
              </a:spcBef>
              <a:spcAft>
                <a:spcPts val="200"/>
              </a:spcAft>
            </a:pPr>
            <a:r>
              <a:rPr sz="1900" b="0" i="0">
                <a:solidFill>
                  <a:srgbClr val="16202C"/>
                </a:solidFill>
                <a:latin typeface="Segoe UI"/>
                <a:ea typeface="맑은 고딕"/>
                <a:cs typeface="맑은 고딕"/>
              </a:rPr>
              <a:t>▪  확장의 내용은 정확히 두 가지다.</a:t>
            </a:r>
          </a:p>
          <a:p>
            <a:pPr algn="l">
              <a:lnSpc>
                <a:spcPct val="118000"/>
              </a:lnSpc>
              <a:spcBef>
                <a:spcPts val="200"/>
              </a:spcBef>
              <a:spcAft>
                <a:spcPts val="100"/>
              </a:spcAft>
            </a:pPr>
            <a:r>
              <a:rPr sz="1780" b="0" i="0">
                <a:solidFill>
                  <a:srgbClr val="2C3A4B"/>
                </a:solidFill>
                <a:latin typeface="Segoe UI"/>
                <a:ea typeface="맑은 고딕"/>
                <a:cs typeface="맑은 고딕"/>
              </a:rPr>
              <a:t>–  lowered shape (하강된 모양) — 텐서가 슬라이스들에 어떻게 실려 있는가</a:t>
            </a:r>
          </a:p>
          <a:p>
            <a:pPr algn="l">
              <a:lnSpc>
                <a:spcPct val="118000"/>
              </a:lnSpc>
              <a:spcBef>
                <a:spcPts val="200"/>
              </a:spcBef>
              <a:spcAft>
                <a:spcPts val="100"/>
              </a:spcAft>
            </a:pPr>
            <a:r>
              <a:rPr sz="1780" b="0" i="0">
                <a:solidFill>
                  <a:srgbClr val="2C3A4B"/>
                </a:solidFill>
                <a:latin typeface="Segoe UI"/>
                <a:ea typeface="맑은 고딕"/>
                <a:cs typeface="맑은 고딕"/>
              </a:rPr>
              <a:t>–  tactic (택틱) — 루프 축을 바깥에서 안쪽으로 어떤 순서로 도는가</a:t>
            </a:r>
          </a:p>
          <a:p>
            <a:pPr algn="l">
              <a:lnSpc>
                <a:spcPct val="118000"/>
              </a:lnSpc>
              <a:spcBef>
                <a:spcPts val="600"/>
              </a:spcBef>
              <a:spcAft>
                <a:spcPts val="200"/>
              </a:spcAft>
            </a:pPr>
            <a:r>
              <a:rPr sz="1900" b="0" i="0">
                <a:solidFill>
                  <a:srgbClr val="16202C"/>
                </a:solidFill>
                <a:latin typeface="Segoe UI"/>
                <a:ea typeface="맑은 고딕"/>
                <a:cs typeface="맑은 고딕"/>
              </a:rPr>
              <a:t>▪  논문 원문 순서: 도입 → A. Lowered Shape → B. Tactics.</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low-level einsum = einsum + lowered shape + tactic. 딱 이 등식 하나다.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왜 einsum 표기인가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텐서 축약을 기술하는 방법은 여러 가지다.</a:t>
            </a:r>
          </a:p>
          <a:p>
            <a:pPr algn="l">
              <a:lnSpc>
                <a:spcPct val="118000"/>
              </a:lnSpc>
              <a:spcBef>
                <a:spcPts val="200"/>
              </a:spcBef>
              <a:spcAft>
                <a:spcPts val="100"/>
              </a:spcAft>
            </a:pPr>
            <a:r>
              <a:rPr sz="1780" b="0" i="0">
                <a:solidFill>
                  <a:srgbClr val="2C3A4B"/>
                </a:solidFill>
                <a:latin typeface="Segoe UI"/>
                <a:ea typeface="맑은 고딕"/>
                <a:cs typeface="맑은 고딕"/>
              </a:rPr>
              <a:t>–  PyTorch [16] 나 TensorFlow [1] 의 matmul 함수</a:t>
            </a:r>
          </a:p>
          <a:p>
            <a:pPr algn="l">
              <a:lnSpc>
                <a:spcPct val="118000"/>
              </a:lnSpc>
              <a:spcBef>
                <a:spcPts val="200"/>
              </a:spcBef>
              <a:spcAft>
                <a:spcPts val="100"/>
              </a:spcAft>
            </a:pPr>
            <a:r>
              <a:rPr sz="1780" b="0" i="0">
                <a:solidFill>
                  <a:srgbClr val="2C3A4B"/>
                </a:solidFill>
                <a:latin typeface="Segoe UI"/>
                <a:ea typeface="맑은 고딕"/>
                <a:cs typeface="맑은 고딕"/>
              </a:rPr>
              <a:t>–  그냥 'for' 루프로 쓰기</a:t>
            </a:r>
          </a:p>
          <a:p>
            <a:pPr algn="l">
              <a:lnSpc>
                <a:spcPct val="118000"/>
              </a:lnSpc>
              <a:spcBef>
                <a:spcPts val="600"/>
              </a:spcBef>
              <a:spcAft>
                <a:spcPts val="200"/>
              </a:spcAft>
            </a:pPr>
            <a:r>
              <a:rPr sz="1900" b="1" i="0">
                <a:solidFill>
                  <a:srgbClr val="083F80"/>
                </a:solidFill>
                <a:latin typeface="Segoe UI"/>
                <a:ea typeface="맑은 고딕"/>
                <a:cs typeface="맑은 고딕"/>
              </a:rPr>
              <a:t>▪  이 논문은 einsum [4] 표기를 쓴다.</a:t>
            </a:r>
          </a:p>
          <a:p>
            <a:pPr algn="l">
              <a:lnSpc>
                <a:spcPct val="118000"/>
              </a:lnSpc>
              <a:spcBef>
                <a:spcPts val="200"/>
              </a:spcBef>
              <a:spcAft>
                <a:spcPts val="100"/>
              </a:spcAft>
            </a:pPr>
            <a:r>
              <a:rPr sz="1780" b="0" i="0">
                <a:solidFill>
                  <a:srgbClr val="2C3A4B"/>
                </a:solidFill>
                <a:latin typeface="Segoe UI"/>
                <a:ea typeface="맑은 고딕"/>
                <a:cs typeface="맑은 고딕"/>
              </a:rPr>
              <a:t>–  NumPy, PyTorch 같은 프레임워크가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텐서 방정식을 기술하는 데 쓰이는 Einstein notation(아인슈타인 표기)에서 유래했다.</a:t>
            </a:r>
          </a:p>
          <a:p>
            <a:pPr algn="l">
              <a:lnSpc>
                <a:spcPct val="118000"/>
              </a:lnSpc>
              <a:spcBef>
                <a:spcPts val="600"/>
              </a:spcBef>
              <a:spcAft>
                <a:spcPts val="200"/>
              </a:spcAft>
            </a:pPr>
            <a:r>
              <a:rPr sz="1900" b="0" i="0">
                <a:solidFill>
                  <a:srgbClr val="16202C"/>
                </a:solidFill>
                <a:latin typeface="Segoe UI"/>
                <a:ea typeface="맑은 고딕"/>
                <a:cs typeface="맑은 고딕"/>
              </a:rPr>
              <a:t>▪  규칙은 단순하다.</a:t>
            </a:r>
          </a:p>
          <a:p>
            <a:pPr algn="l">
              <a:lnSpc>
                <a:spcPct val="118000"/>
              </a:lnSpc>
              <a:spcBef>
                <a:spcPts val="200"/>
              </a:spcBef>
              <a:spcAft>
                <a:spcPts val="100"/>
              </a:spcAft>
            </a:pPr>
            <a:r>
              <a:rPr sz="1780" b="0" i="0">
                <a:solidFill>
                  <a:srgbClr val="2C3A4B"/>
                </a:solidFill>
                <a:latin typeface="Segoe UI"/>
                <a:ea typeface="맑은 고딕"/>
                <a:cs typeface="맑은 고딕"/>
              </a:rPr>
              <a:t>–  텐서의 각 차원(dimension)을 인덱스 문자 하나로 표현한다.</a:t>
            </a:r>
          </a:p>
          <a:p>
            <a:pPr algn="l">
              <a:lnSpc>
                <a:spcPct val="118000"/>
              </a:lnSpc>
              <a:spcBef>
                <a:spcPts val="200"/>
              </a:spcBef>
              <a:spcAft>
                <a:spcPts val="100"/>
              </a:spcAft>
            </a:pPr>
            <a:r>
              <a:rPr sz="1780" b="1" i="0">
                <a:solidFill>
                  <a:srgbClr val="2C3A4B"/>
                </a:solidFill>
                <a:latin typeface="Segoe UI"/>
                <a:ea typeface="맑은 고딕"/>
                <a:cs typeface="맑은 고딕"/>
              </a:rPr>
              <a:t>–  두 입력 텐서에 공통으로 나타나는 인덱스가 곧 축약(contraction)될 축이다.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공통 인덱스 = 축약되는 축. einsum 읽기의 전부다.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einsum 예제: Transformer feed-forward layer</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ble, ef → blf — 이 절이 끝까지 따라가는 단 하나의 예제</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33</a:t>
            </a:r>
          </a:p>
        </p:txBody>
      </p:sp>
      <p:grpSp>
        <p:nvGrpSpPr>
          <p:cNvPr id="9" name="도해 A2#03"/>
          <p:cNvGrpSpPr/>
          <p:nvPr/>
        </p:nvGrpSpPr>
        <p:grpSpPr>
          <a:xfrm>
            <a:off x="1340805" y="1463040"/>
            <a:ext cx="9510086" cy="4078224"/>
            <a:chOff x="1340805" y="1463040"/>
            <a:chExt cx="9510086" cy="4078224"/>
          </a:xfrm>
        </p:grpSpPr>
        <p:sp>
          <p:nvSpPr>
            <p:cNvPr id="10" name="TextBox 9"/>
            <p:cNvSpPr txBox="1"/>
            <p:nvPr/>
          </p:nvSpPr>
          <p:spPr>
            <a:xfrm>
              <a:off x="1991834" y="1463040"/>
              <a:ext cx="1027378" cy="208880"/>
            </a:xfrm>
            <a:prstGeom prst="rect">
              <a:avLst/>
            </a:prstGeom>
            <a:noFill/>
          </p:spPr>
          <p:txBody>
            <a:bodyPr wrap="none" anchor="ctr" lIns="0" rIns="0" tIns="0" bIns="0">
              <a:noAutofit/>
            </a:bodyPr>
            <a:lstStyle/>
            <a:p>
              <a:pPr algn="ctr"/>
              <a:r>
                <a:rPr sz="1140" b="1">
                  <a:solidFill>
                    <a:srgbClr val="16202C"/>
                  </a:solidFill>
                  <a:latin typeface="맑은 고딕"/>
                  <a:ea typeface="맑은 고딕"/>
                  <a:cs typeface="맑은 고딕"/>
                </a:rPr>
                <a:t>in0 : b × l × e</a:t>
              </a:r>
            </a:p>
          </p:txBody>
        </p:sp>
        <p:sp>
          <p:nvSpPr>
            <p:cNvPr id="11" name="TextBox 10"/>
            <p:cNvSpPr txBox="1"/>
            <p:nvPr/>
          </p:nvSpPr>
          <p:spPr>
            <a:xfrm>
              <a:off x="2322160" y="1686367"/>
              <a:ext cx="366726" cy="170198"/>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활성값</a:t>
              </a:r>
            </a:p>
          </p:txBody>
        </p:sp>
        <p:sp>
          <p:nvSpPr>
            <p:cNvPr id="12" name="Freeform 11"/>
            <p:cNvSpPr/>
            <p:nvPr/>
          </p:nvSpPr>
          <p:spPr>
            <a:xfrm>
              <a:off x="1661369" y="2015052"/>
              <a:ext cx="1688308" cy="256452"/>
            </a:xfrm>
            <a:custGeom>
              <a:avLst/>
              <a:gdLst/>
              <a:ahLst/>
              <a:cxnLst/>
              <a:rect l="l" t="t" r="r" b="b"/>
              <a:pathLst>
                <a:path w="1688308" h="256452">
                  <a:moveTo>
                    <a:pt x="0" y="256452"/>
                  </a:moveTo>
                  <a:lnTo>
                    <a:pt x="1389114" y="256452"/>
                  </a:lnTo>
                  <a:lnTo>
                    <a:pt x="1688308" y="0"/>
                  </a:lnTo>
                  <a:lnTo>
                    <a:pt x="299194" y="0"/>
                  </a:lnTo>
                  <a:close/>
                </a:path>
              </a:pathLst>
            </a:custGeom>
            <a:solidFill>
              <a:srgbClr val="CBE0F7"/>
            </a:solidFill>
            <a:ln w="1709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050483" y="2015052"/>
              <a:ext cx="299194" cy="1645566"/>
            </a:xfrm>
            <a:custGeom>
              <a:avLst/>
              <a:gdLst/>
              <a:ahLst/>
              <a:cxnLst/>
              <a:rect l="l" t="t" r="r" b="b"/>
              <a:pathLst>
                <a:path w="299194" h="1645566">
                  <a:moveTo>
                    <a:pt x="0" y="256452"/>
                  </a:moveTo>
                  <a:lnTo>
                    <a:pt x="299194" y="0"/>
                  </a:lnTo>
                  <a:lnTo>
                    <a:pt x="299194" y="1389114"/>
                  </a:lnTo>
                  <a:lnTo>
                    <a:pt x="0" y="1645566"/>
                  </a:lnTo>
                  <a:close/>
                </a:path>
              </a:pathLst>
            </a:custGeom>
            <a:solidFill>
              <a:srgbClr val="B8D4F3"/>
            </a:solidFill>
            <a:ln w="1709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61369" y="2271504"/>
              <a:ext cx="1389114" cy="1389114"/>
            </a:xfrm>
            <a:prstGeom prst="rect">
              <a:avLst/>
            </a:prstGeom>
            <a:solidFill>
              <a:srgbClr val="DCEBF9"/>
            </a:solidFill>
            <a:ln w="1923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661369" y="3660618"/>
              <a:ext cx="1389114" cy="0"/>
            </a:xfrm>
            <a:prstGeom prst="line">
              <a:avLst/>
            </a:prstGeom>
            <a:ln w="38467">
              <a:solidFill>
                <a:srgbClr val="B4540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65055" y="2858351"/>
              <a:ext cx="89459" cy="201144"/>
            </a:xfrm>
            <a:prstGeom prst="rect">
              <a:avLst/>
            </a:prstGeom>
            <a:noFill/>
          </p:spPr>
          <p:txBody>
            <a:bodyPr wrap="none" anchor="ctr" lIns="0" rIns="0" tIns="0" bIns="0">
              <a:noAutofit/>
            </a:bodyPr>
            <a:lstStyle/>
            <a:p>
              <a:pPr algn="r"/>
              <a:r>
                <a:rPr sz="1090" b="0">
                  <a:solidFill>
                    <a:srgbClr val="5B6B7B"/>
                  </a:solidFill>
                  <a:latin typeface="맑은 고딕"/>
                  <a:ea typeface="맑은 고딕"/>
                  <a:cs typeface="맑은 고딕"/>
                </a:rPr>
                <a:t>l</a:t>
              </a:r>
            </a:p>
          </p:txBody>
        </p:sp>
        <p:sp>
          <p:nvSpPr>
            <p:cNvPr id="17" name="TextBox 16"/>
            <p:cNvSpPr txBox="1"/>
            <p:nvPr/>
          </p:nvSpPr>
          <p:spPr>
            <a:xfrm>
              <a:off x="2285541" y="3711481"/>
              <a:ext cx="140771" cy="216616"/>
            </a:xfrm>
            <a:prstGeom prst="rect">
              <a:avLst/>
            </a:prstGeom>
            <a:noFill/>
          </p:spPr>
          <p:txBody>
            <a:bodyPr wrap="none" anchor="ctr" lIns="0" rIns="0" tIns="0" bIns="0">
              <a:noAutofit/>
            </a:bodyPr>
            <a:lstStyle/>
            <a:p>
              <a:pPr algn="ctr"/>
              <a:r>
                <a:rPr sz="1180" b="1">
                  <a:solidFill>
                    <a:srgbClr val="B45409"/>
                  </a:solidFill>
                  <a:latin typeface="맑은 고딕"/>
                  <a:ea typeface="맑은 고딕"/>
                  <a:cs typeface="맑은 고딕"/>
                </a:rPr>
                <a:t>e</a:t>
              </a:r>
            </a:p>
          </p:txBody>
        </p:sp>
        <p:sp>
          <p:nvSpPr>
            <p:cNvPr id="18" name="TextBox 17"/>
            <p:cNvSpPr txBox="1"/>
            <p:nvPr/>
          </p:nvSpPr>
          <p:spPr>
            <a:xfrm>
              <a:off x="3509959" y="2024883"/>
              <a:ext cx="135855" cy="201144"/>
            </a:xfrm>
            <a:prstGeom prst="rect">
              <a:avLst/>
            </a:prstGeom>
            <a:noFill/>
          </p:spPr>
          <p:txBody>
            <a:bodyPr wrap="none" anchor="ctr" lIns="0" rIns="0" tIns="0" bIns="0">
              <a:noAutofit/>
            </a:bodyPr>
            <a:lstStyle/>
            <a:p>
              <a:pPr algn="l"/>
              <a:r>
                <a:rPr sz="1090" b="0">
                  <a:solidFill>
                    <a:srgbClr val="5B6B7B"/>
                  </a:solidFill>
                  <a:latin typeface="맑은 고딕"/>
                  <a:ea typeface="맑은 고딕"/>
                  <a:cs typeface="맑은 고딕"/>
                </a:rPr>
                <a:t>b</a:t>
              </a:r>
            </a:p>
          </p:txBody>
        </p:sp>
        <p:sp>
          <p:nvSpPr>
            <p:cNvPr id="19" name="TextBox 18"/>
            <p:cNvSpPr txBox="1"/>
            <p:nvPr/>
          </p:nvSpPr>
          <p:spPr>
            <a:xfrm>
              <a:off x="3602709" y="2754061"/>
              <a:ext cx="348774" cy="371342"/>
            </a:xfrm>
            <a:prstGeom prst="rect">
              <a:avLst/>
            </a:prstGeom>
            <a:noFill/>
          </p:spPr>
          <p:txBody>
            <a:bodyPr wrap="none" anchor="ctr" lIns="0" rIns="0" tIns="0" bIns="0">
              <a:noAutofit/>
            </a:bodyPr>
            <a:lstStyle/>
            <a:p>
              <a:pPr algn="ctr"/>
              <a:r>
                <a:rPr sz="2020" b="0">
                  <a:solidFill>
                    <a:srgbClr val="16202C"/>
                  </a:solidFill>
                  <a:latin typeface="맑은 고딕"/>
                  <a:ea typeface="맑은 고딕"/>
                  <a:cs typeface="맑은 고딕"/>
                </a:rPr>
                <a:t>×</a:t>
              </a:r>
            </a:p>
          </p:txBody>
        </p:sp>
        <p:sp>
          <p:nvSpPr>
            <p:cNvPr id="20" name="TextBox 19"/>
            <p:cNvSpPr txBox="1"/>
            <p:nvPr/>
          </p:nvSpPr>
          <p:spPr>
            <a:xfrm>
              <a:off x="4628764" y="1463040"/>
              <a:ext cx="732955" cy="208880"/>
            </a:xfrm>
            <a:prstGeom prst="rect">
              <a:avLst/>
            </a:prstGeom>
            <a:noFill/>
          </p:spPr>
          <p:txBody>
            <a:bodyPr wrap="none" anchor="ctr" lIns="0" rIns="0" tIns="0" bIns="0">
              <a:noAutofit/>
            </a:bodyPr>
            <a:lstStyle/>
            <a:p>
              <a:pPr algn="ctr"/>
              <a:r>
                <a:rPr sz="1140" b="1">
                  <a:solidFill>
                    <a:srgbClr val="16202C"/>
                  </a:solidFill>
                  <a:latin typeface="맑은 고딕"/>
                  <a:ea typeface="맑은 고딕"/>
                  <a:cs typeface="맑은 고딕"/>
                </a:rPr>
                <a:t>in1 : e × f</a:t>
              </a:r>
            </a:p>
          </p:txBody>
        </p:sp>
        <p:sp>
          <p:nvSpPr>
            <p:cNvPr id="21" name="TextBox 20"/>
            <p:cNvSpPr txBox="1"/>
            <p:nvPr/>
          </p:nvSpPr>
          <p:spPr>
            <a:xfrm>
              <a:off x="4811879" y="1686367"/>
              <a:ext cx="366726" cy="170198"/>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가중치</a:t>
              </a:r>
            </a:p>
          </p:txBody>
        </p:sp>
        <p:sp>
          <p:nvSpPr>
            <p:cNvPr id="22" name="Rectangle 21"/>
            <p:cNvSpPr/>
            <p:nvPr/>
          </p:nvSpPr>
          <p:spPr>
            <a:xfrm>
              <a:off x="4354113" y="2271504"/>
              <a:ext cx="1282259" cy="1389114"/>
            </a:xfrm>
            <a:prstGeom prst="rect">
              <a:avLst/>
            </a:prstGeom>
            <a:solidFill>
              <a:srgbClr val="FDEBD3"/>
            </a:solidFill>
            <a:ln w="1923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460968" y="2549327"/>
              <a:ext cx="1068549" cy="0"/>
            </a:xfrm>
            <a:prstGeom prst="line">
              <a:avLst/>
            </a:prstGeom>
            <a:ln w="10685">
              <a:solidFill>
                <a:srgbClr val="F0D29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60968" y="2827150"/>
              <a:ext cx="1068549" cy="0"/>
            </a:xfrm>
            <a:prstGeom prst="line">
              <a:avLst/>
            </a:prstGeom>
            <a:ln w="10685">
              <a:solidFill>
                <a:srgbClr val="F0D29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60968" y="3104972"/>
              <a:ext cx="1068549" cy="0"/>
            </a:xfrm>
            <a:prstGeom prst="line">
              <a:avLst/>
            </a:prstGeom>
            <a:ln w="10685">
              <a:solidFill>
                <a:srgbClr val="F0D29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60968" y="3382795"/>
              <a:ext cx="1068549" cy="0"/>
            </a:xfrm>
            <a:prstGeom prst="line">
              <a:avLst/>
            </a:prstGeom>
            <a:ln w="10685">
              <a:solidFill>
                <a:srgbClr val="F0D29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354113" y="2271504"/>
              <a:ext cx="0" cy="1389114"/>
            </a:xfrm>
            <a:prstGeom prst="line">
              <a:avLst/>
            </a:prstGeom>
            <a:ln w="38467">
              <a:solidFill>
                <a:srgbClr val="B4540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06487" y="2845956"/>
              <a:ext cx="140771" cy="216616"/>
            </a:xfrm>
            <a:prstGeom prst="rect">
              <a:avLst/>
            </a:prstGeom>
            <a:noFill/>
          </p:spPr>
          <p:txBody>
            <a:bodyPr wrap="none" anchor="ctr" lIns="0" rIns="0" tIns="0" bIns="0">
              <a:noAutofit/>
            </a:bodyPr>
            <a:lstStyle/>
            <a:p>
              <a:pPr algn="r"/>
              <a:r>
                <a:rPr sz="1180" b="1">
                  <a:solidFill>
                    <a:srgbClr val="B45409"/>
                  </a:solidFill>
                  <a:latin typeface="맑은 고딕"/>
                  <a:ea typeface="맑은 고딕"/>
                  <a:cs typeface="맑은 고딕"/>
                </a:rPr>
                <a:t>e</a:t>
              </a:r>
            </a:p>
          </p:txBody>
        </p:sp>
        <p:sp>
          <p:nvSpPr>
            <p:cNvPr id="29" name="TextBox 28"/>
            <p:cNvSpPr txBox="1"/>
            <p:nvPr/>
          </p:nvSpPr>
          <p:spPr>
            <a:xfrm>
              <a:off x="4947665" y="3723876"/>
              <a:ext cx="95154" cy="201144"/>
            </a:xfrm>
            <a:prstGeom prst="rect">
              <a:avLst/>
            </a:prstGeom>
            <a:noFill/>
          </p:spPr>
          <p:txBody>
            <a:bodyPr wrap="none" anchor="ctr" lIns="0" rIns="0" tIns="0" bIns="0">
              <a:noAutofit/>
            </a:bodyPr>
            <a:lstStyle/>
            <a:p>
              <a:pPr algn="ctr"/>
              <a:r>
                <a:rPr sz="1090" b="0">
                  <a:solidFill>
                    <a:srgbClr val="5B6B7B"/>
                  </a:solidFill>
                  <a:latin typeface="맑은 고딕"/>
                  <a:ea typeface="맑은 고딕"/>
                  <a:cs typeface="맑은 고딕"/>
                </a:rPr>
                <a:t>f</a:t>
              </a:r>
            </a:p>
          </p:txBody>
        </p:sp>
        <p:sp>
          <p:nvSpPr>
            <p:cNvPr id="30" name="TextBox 29"/>
            <p:cNvSpPr txBox="1"/>
            <p:nvPr/>
          </p:nvSpPr>
          <p:spPr>
            <a:xfrm>
              <a:off x="5917710" y="2690803"/>
              <a:ext cx="484501" cy="170198"/>
            </a:xfrm>
            <a:prstGeom prst="rect">
              <a:avLst/>
            </a:prstGeom>
            <a:noFill/>
          </p:spPr>
          <p:txBody>
            <a:bodyPr wrap="none" anchor="ctr" lIns="0" rIns="0" tIns="0" bIns="0">
              <a:noAutofit/>
            </a:bodyPr>
            <a:lstStyle/>
            <a:p>
              <a:pPr algn="ctr"/>
              <a:r>
                <a:rPr sz="930" b="0">
                  <a:solidFill>
                    <a:srgbClr val="B45409"/>
                  </a:solidFill>
                  <a:latin typeface="맑은 고딕"/>
                  <a:ea typeface="맑은 고딕"/>
                  <a:cs typeface="맑은 고딕"/>
                </a:rPr>
                <a:t>e 축 축약</a:t>
              </a:r>
            </a:p>
          </p:txBody>
        </p:sp>
        <p:cxnSp>
          <p:nvCxnSpPr>
            <p:cNvPr id="31" name="Connector 30"/>
            <p:cNvCxnSpPr/>
            <p:nvPr/>
          </p:nvCxnSpPr>
          <p:spPr>
            <a:xfrm>
              <a:off x="5850081" y="2966061"/>
              <a:ext cx="491533" cy="0"/>
            </a:xfrm>
            <a:prstGeom prst="line">
              <a:avLst/>
            </a:prstGeom>
            <a:ln w="23508">
              <a:solidFill>
                <a:srgbClr val="16202C"/>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6298872" y="2891263"/>
              <a:ext cx="192339" cy="149596"/>
            </a:xfrm>
            <a:custGeom>
              <a:avLst/>
              <a:gdLst/>
              <a:ahLst/>
              <a:cxnLst/>
              <a:rect l="l" t="t" r="r" b="b"/>
              <a:pathLst>
                <a:path w="192339" h="149596">
                  <a:moveTo>
                    <a:pt x="0" y="0"/>
                  </a:moveTo>
                  <a:lnTo>
                    <a:pt x="192339" y="74798"/>
                  </a:lnTo>
                  <a:lnTo>
                    <a:pt x="0" y="149596"/>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68745" y="1463040"/>
              <a:ext cx="1018723" cy="208880"/>
            </a:xfrm>
            <a:prstGeom prst="rect">
              <a:avLst/>
            </a:prstGeom>
            <a:noFill/>
          </p:spPr>
          <p:txBody>
            <a:bodyPr wrap="none" anchor="ctr" lIns="0" rIns="0" tIns="0" bIns="0">
              <a:noAutofit/>
            </a:bodyPr>
            <a:lstStyle/>
            <a:p>
              <a:pPr algn="ctr"/>
              <a:r>
                <a:rPr sz="1140" b="1">
                  <a:solidFill>
                    <a:srgbClr val="16202C"/>
                  </a:solidFill>
                  <a:latin typeface="맑은 고딕"/>
                  <a:ea typeface="맑은 고딕"/>
                  <a:cs typeface="맑은 고딕"/>
                </a:rPr>
                <a:t>out : b × l × f</a:t>
              </a:r>
            </a:p>
          </p:txBody>
        </p:sp>
        <p:sp>
          <p:nvSpPr>
            <p:cNvPr id="34" name="TextBox 33"/>
            <p:cNvSpPr txBox="1"/>
            <p:nvPr/>
          </p:nvSpPr>
          <p:spPr>
            <a:xfrm>
              <a:off x="7027718" y="1686367"/>
              <a:ext cx="700776" cy="170198"/>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e 가 사라졌다</a:t>
              </a:r>
            </a:p>
          </p:txBody>
        </p:sp>
        <p:sp>
          <p:nvSpPr>
            <p:cNvPr id="35" name="Freeform 34"/>
            <p:cNvSpPr/>
            <p:nvPr/>
          </p:nvSpPr>
          <p:spPr>
            <a:xfrm>
              <a:off x="6683549" y="2015052"/>
              <a:ext cx="1688308" cy="256452"/>
            </a:xfrm>
            <a:custGeom>
              <a:avLst/>
              <a:gdLst/>
              <a:ahLst/>
              <a:cxnLst/>
              <a:rect l="l" t="t" r="r" b="b"/>
              <a:pathLst>
                <a:path w="1688308" h="256452">
                  <a:moveTo>
                    <a:pt x="0" y="256452"/>
                  </a:moveTo>
                  <a:lnTo>
                    <a:pt x="1389114" y="256452"/>
                  </a:lnTo>
                  <a:lnTo>
                    <a:pt x="1688308" y="0"/>
                  </a:lnTo>
                  <a:lnTo>
                    <a:pt x="299194" y="0"/>
                  </a:lnTo>
                  <a:close/>
                </a:path>
              </a:pathLst>
            </a:custGeom>
            <a:solidFill>
              <a:srgbClr val="CBE9D7"/>
            </a:solidFill>
            <a:ln w="1709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8072663" y="2015052"/>
              <a:ext cx="299194" cy="1645566"/>
            </a:xfrm>
            <a:custGeom>
              <a:avLst/>
              <a:gdLst/>
              <a:ahLst/>
              <a:cxnLst/>
              <a:rect l="l" t="t" r="r" b="b"/>
              <a:pathLst>
                <a:path w="299194" h="1645566">
                  <a:moveTo>
                    <a:pt x="0" y="256452"/>
                  </a:moveTo>
                  <a:lnTo>
                    <a:pt x="299194" y="0"/>
                  </a:lnTo>
                  <a:lnTo>
                    <a:pt x="299194" y="1389114"/>
                  </a:lnTo>
                  <a:lnTo>
                    <a:pt x="0" y="1645566"/>
                  </a:lnTo>
                  <a:close/>
                </a:path>
              </a:pathLst>
            </a:custGeom>
            <a:solidFill>
              <a:srgbClr val="BDE2CC"/>
            </a:solidFill>
            <a:ln w="1709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83549" y="2271504"/>
              <a:ext cx="1389114" cy="1389114"/>
            </a:xfrm>
            <a:prstGeom prst="rect">
              <a:avLst/>
            </a:prstGeom>
            <a:solidFill>
              <a:srgbClr val="E2F4E8"/>
            </a:solidFill>
            <a:ln w="1923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236" y="2858351"/>
              <a:ext cx="89459" cy="201144"/>
            </a:xfrm>
            <a:prstGeom prst="rect">
              <a:avLst/>
            </a:prstGeom>
            <a:noFill/>
          </p:spPr>
          <p:txBody>
            <a:bodyPr wrap="none" anchor="ctr" lIns="0" rIns="0" tIns="0" bIns="0">
              <a:noAutofit/>
            </a:bodyPr>
            <a:lstStyle/>
            <a:p>
              <a:pPr algn="r"/>
              <a:r>
                <a:rPr sz="1090" b="0">
                  <a:solidFill>
                    <a:srgbClr val="5B6B7B"/>
                  </a:solidFill>
                  <a:latin typeface="맑은 고딕"/>
                  <a:ea typeface="맑은 고딕"/>
                  <a:cs typeface="맑은 고딕"/>
                </a:rPr>
                <a:t>l</a:t>
              </a:r>
            </a:p>
          </p:txBody>
        </p:sp>
        <p:sp>
          <p:nvSpPr>
            <p:cNvPr id="39" name="TextBox 38"/>
            <p:cNvSpPr txBox="1"/>
            <p:nvPr/>
          </p:nvSpPr>
          <p:spPr>
            <a:xfrm>
              <a:off x="7330529" y="3723876"/>
              <a:ext cx="95154" cy="201144"/>
            </a:xfrm>
            <a:prstGeom prst="rect">
              <a:avLst/>
            </a:prstGeom>
            <a:noFill/>
          </p:spPr>
          <p:txBody>
            <a:bodyPr wrap="none" anchor="ctr" lIns="0" rIns="0" tIns="0" bIns="0">
              <a:noAutofit/>
            </a:bodyPr>
            <a:lstStyle/>
            <a:p>
              <a:pPr algn="ctr"/>
              <a:r>
                <a:rPr sz="1090" b="0">
                  <a:solidFill>
                    <a:srgbClr val="5B6B7B"/>
                  </a:solidFill>
                  <a:latin typeface="맑은 고딕"/>
                  <a:ea typeface="맑은 고딕"/>
                  <a:cs typeface="맑은 고딕"/>
                </a:rPr>
                <a:t>f</a:t>
              </a:r>
            </a:p>
          </p:txBody>
        </p:sp>
        <p:sp>
          <p:nvSpPr>
            <p:cNvPr id="40" name="TextBox 39"/>
            <p:cNvSpPr txBox="1"/>
            <p:nvPr/>
          </p:nvSpPr>
          <p:spPr>
            <a:xfrm>
              <a:off x="8532139" y="2024883"/>
              <a:ext cx="135855" cy="201144"/>
            </a:xfrm>
            <a:prstGeom prst="rect">
              <a:avLst/>
            </a:prstGeom>
            <a:noFill/>
          </p:spPr>
          <p:txBody>
            <a:bodyPr wrap="none" anchor="ctr" lIns="0" rIns="0" tIns="0" bIns="0">
              <a:noAutofit/>
            </a:bodyPr>
            <a:lstStyle/>
            <a:p>
              <a:pPr algn="l"/>
              <a:r>
                <a:rPr sz="1090" b="0">
                  <a:solidFill>
                    <a:srgbClr val="5B6B7B"/>
                  </a:solidFill>
                  <a:latin typeface="맑은 고딕"/>
                  <a:ea typeface="맑은 고딕"/>
                  <a:cs typeface="맑은 고딕"/>
                </a:rPr>
                <a:t>b</a:t>
              </a:r>
            </a:p>
          </p:txBody>
        </p:sp>
        <p:sp>
          <p:nvSpPr>
            <p:cNvPr id="41" name="Rounded Rectangle 40"/>
            <p:cNvSpPr/>
            <p:nvPr/>
          </p:nvSpPr>
          <p:spPr>
            <a:xfrm>
              <a:off x="8671051" y="2271504"/>
              <a:ext cx="2179840" cy="1389114"/>
            </a:xfrm>
            <a:prstGeom prst="roundRect">
              <a:avLst>
                <a:gd name="adj" fmla="val 6153"/>
              </a:avLst>
            </a:prstGeom>
            <a:solidFill>
              <a:srgbClr val="FFF7E6"/>
            </a:solidFill>
            <a:ln w="1709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5353" y="2394387"/>
              <a:ext cx="1231236" cy="193407"/>
            </a:xfrm>
            <a:prstGeom prst="rect">
              <a:avLst/>
            </a:prstGeom>
            <a:noFill/>
          </p:spPr>
          <p:txBody>
            <a:bodyPr wrap="none" anchor="ctr" lIns="0" rIns="0" tIns="0" bIns="0">
              <a:noAutofit/>
            </a:bodyPr>
            <a:lstStyle/>
            <a:p>
              <a:pPr algn="ctr"/>
              <a:r>
                <a:rPr sz="1050" b="1">
                  <a:solidFill>
                    <a:srgbClr val="B45409"/>
                  </a:solidFill>
                  <a:latin typeface="맑은 고딕"/>
                  <a:ea typeface="맑은 고딕"/>
                  <a:cs typeface="맑은 고딕"/>
                </a:rPr>
                <a:t>공통 인덱스 = 축약 축</a:t>
              </a:r>
            </a:p>
          </p:txBody>
        </p:sp>
        <p:sp>
          <p:nvSpPr>
            <p:cNvPr id="43" name="TextBox 42"/>
            <p:cNvSpPr txBox="1"/>
            <p:nvPr/>
          </p:nvSpPr>
          <p:spPr>
            <a:xfrm>
              <a:off x="9101628" y="2690803"/>
              <a:ext cx="1318686" cy="170198"/>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e 가 in0 · in1 양쪽에 있다</a:t>
              </a:r>
            </a:p>
          </p:txBody>
        </p:sp>
        <p:sp>
          <p:nvSpPr>
            <p:cNvPr id="44" name="TextBox 43"/>
            <p:cNvSpPr txBox="1"/>
            <p:nvPr/>
          </p:nvSpPr>
          <p:spPr>
            <a:xfrm>
              <a:off x="9128427" y="2883142"/>
              <a:ext cx="1265087" cy="170198"/>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그런데 출력 blf 에는 없다</a:t>
              </a:r>
            </a:p>
          </p:txBody>
        </p:sp>
        <p:sp>
          <p:nvSpPr>
            <p:cNvPr id="45" name="TextBox 44"/>
            <p:cNvSpPr txBox="1"/>
            <p:nvPr/>
          </p:nvSpPr>
          <p:spPr>
            <a:xfrm>
              <a:off x="9215054" y="3182335"/>
              <a:ext cx="1091833" cy="170198"/>
            </a:xfrm>
            <a:prstGeom prst="rect">
              <a:avLst/>
            </a:prstGeom>
            <a:noFill/>
          </p:spPr>
          <p:txBody>
            <a:bodyPr wrap="none" anchor="ctr" lIns="0" rIns="0" tIns="0" bIns="0">
              <a:noAutofit/>
            </a:bodyPr>
            <a:lstStyle/>
            <a:p>
              <a:pPr algn="ctr"/>
              <a:r>
                <a:rPr sz="930" b="1">
                  <a:solidFill>
                    <a:srgbClr val="B45409"/>
                  </a:solidFill>
                  <a:latin typeface="맑은 고딕"/>
                  <a:ea typeface="맑은 고딕"/>
                  <a:cs typeface="맑은 고딕"/>
                </a:rPr>
                <a:t>→ 그래서 e 축을 따라</a:t>
              </a:r>
            </a:p>
          </p:txBody>
        </p:sp>
        <p:sp>
          <p:nvSpPr>
            <p:cNvPr id="46" name="TextBox 45"/>
            <p:cNvSpPr txBox="1"/>
            <p:nvPr/>
          </p:nvSpPr>
          <p:spPr>
            <a:xfrm>
              <a:off x="9213173" y="3374674"/>
              <a:ext cx="1095594" cy="170198"/>
            </a:xfrm>
            <a:prstGeom prst="rect">
              <a:avLst/>
            </a:prstGeom>
            <a:noFill/>
          </p:spPr>
          <p:txBody>
            <a:bodyPr wrap="none" anchor="ctr" lIns="0" rIns="0" tIns="0" bIns="0">
              <a:noAutofit/>
            </a:bodyPr>
            <a:lstStyle/>
            <a:p>
              <a:pPr algn="ctr"/>
              <a:r>
                <a:rPr sz="930" b="1">
                  <a:solidFill>
                    <a:srgbClr val="B45409"/>
                  </a:solidFill>
                  <a:latin typeface="맑은 고딕"/>
                  <a:ea typeface="맑은 고딕"/>
                  <a:cs typeface="맑은 고딕"/>
                </a:rPr>
                <a:t>곱하고 더한 뒤 없앤다</a:t>
              </a:r>
            </a:p>
          </p:txBody>
        </p:sp>
        <p:sp>
          <p:nvSpPr>
            <p:cNvPr id="47" name="Rounded Rectangle 46"/>
            <p:cNvSpPr/>
            <p:nvPr/>
          </p:nvSpPr>
          <p:spPr>
            <a:xfrm>
              <a:off x="1340805" y="4066666"/>
              <a:ext cx="9189521" cy="1474598"/>
            </a:xfrm>
            <a:prstGeom prst="roundRect">
              <a:avLst>
                <a:gd name="adj" fmla="val 7246"/>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54514" y="4208142"/>
              <a:ext cx="2410753" cy="170198"/>
            </a:xfrm>
            <a:prstGeom prst="rect">
              <a:avLst/>
            </a:prstGeom>
            <a:noFill/>
          </p:spPr>
          <p:txBody>
            <a:bodyPr wrap="none" anchor="ctr" lIns="0" rIns="0" tIns="0" bIns="0">
              <a:noAutofit/>
            </a:bodyPr>
            <a:lstStyle/>
            <a:p>
              <a:pPr algn="l"/>
              <a:r>
                <a:rPr sz="930" b="0">
                  <a:solidFill>
                    <a:srgbClr val="9FB3C8"/>
                  </a:solidFill>
                  <a:latin typeface="맑은 고딕"/>
                  <a:ea typeface="맑은 고딕"/>
                  <a:cs typeface="맑은 고딕"/>
                </a:rPr>
                <a:t>einsum 표기 — 이 절 전체가 이 한 식만 따라간다</a:t>
              </a:r>
            </a:p>
          </p:txBody>
        </p:sp>
        <p:sp>
          <p:nvSpPr>
            <p:cNvPr id="49" name="TextBox 48"/>
            <p:cNvSpPr txBox="1"/>
            <p:nvPr/>
          </p:nvSpPr>
          <p:spPr>
            <a:xfrm>
              <a:off x="2237958" y="4531699"/>
              <a:ext cx="556500" cy="433232"/>
            </a:xfrm>
            <a:prstGeom prst="rect">
              <a:avLst/>
            </a:prstGeom>
            <a:noFill/>
          </p:spPr>
          <p:txBody>
            <a:bodyPr wrap="none" anchor="ctr" lIns="0" rIns="0" tIns="0" bIns="0">
              <a:noAutofit/>
            </a:bodyPr>
            <a:lstStyle/>
            <a:p>
              <a:pPr algn="ctr"/>
              <a:r>
                <a:rPr sz="2140" b="0">
                  <a:solidFill>
                    <a:srgbClr val="7FB3EE"/>
                  </a:solidFill>
                  <a:latin typeface="Consolas"/>
                  <a:ea typeface="Consolas"/>
                  <a:cs typeface="Consolas"/>
                </a:rPr>
                <a:t>ble</a:t>
              </a:r>
            </a:p>
          </p:txBody>
        </p:sp>
        <p:sp>
          <p:nvSpPr>
            <p:cNvPr id="50" name="TextBox 49"/>
            <p:cNvSpPr txBox="1"/>
            <p:nvPr/>
          </p:nvSpPr>
          <p:spPr>
            <a:xfrm>
              <a:off x="2879088" y="4531699"/>
              <a:ext cx="257307" cy="433232"/>
            </a:xfrm>
            <a:prstGeom prst="rect">
              <a:avLst/>
            </a:prstGeom>
            <a:noFill/>
          </p:spPr>
          <p:txBody>
            <a:bodyPr wrap="none" anchor="ctr" lIns="0" rIns="0" tIns="0" bIns="0">
              <a:noAutofit/>
            </a:bodyPr>
            <a:lstStyle/>
            <a:p>
              <a:pPr algn="ctr"/>
              <a:r>
                <a:rPr sz="2140" b="0">
                  <a:solidFill>
                    <a:srgbClr val="9FB3C8"/>
                  </a:solidFill>
                  <a:latin typeface="Consolas"/>
                  <a:ea typeface="Consolas"/>
                  <a:cs typeface="Consolas"/>
                </a:rPr>
                <a:t>,</a:t>
              </a:r>
            </a:p>
          </p:txBody>
        </p:sp>
        <p:sp>
          <p:nvSpPr>
            <p:cNvPr id="51" name="TextBox 50"/>
            <p:cNvSpPr txBox="1"/>
            <p:nvPr/>
          </p:nvSpPr>
          <p:spPr>
            <a:xfrm>
              <a:off x="3274451" y="4531699"/>
              <a:ext cx="406903" cy="433232"/>
            </a:xfrm>
            <a:prstGeom prst="rect">
              <a:avLst/>
            </a:prstGeom>
            <a:noFill/>
          </p:spPr>
          <p:txBody>
            <a:bodyPr wrap="none" anchor="ctr" lIns="0" rIns="0" tIns="0" bIns="0">
              <a:noAutofit/>
            </a:bodyPr>
            <a:lstStyle/>
            <a:p>
              <a:pPr algn="ctr"/>
              <a:r>
                <a:rPr sz="2140" b="0">
                  <a:solidFill>
                    <a:srgbClr val="E8A765"/>
                  </a:solidFill>
                  <a:latin typeface="Consolas"/>
                  <a:ea typeface="Consolas"/>
                  <a:cs typeface="Consolas"/>
                </a:rPr>
                <a:t>ef</a:t>
              </a:r>
            </a:p>
          </p:txBody>
        </p:sp>
        <p:cxnSp>
          <p:nvCxnSpPr>
            <p:cNvPr id="52" name="Connector 51"/>
            <p:cNvCxnSpPr/>
            <p:nvPr/>
          </p:nvCxnSpPr>
          <p:spPr>
            <a:xfrm>
              <a:off x="3905322" y="4793280"/>
              <a:ext cx="427420" cy="0"/>
            </a:xfrm>
            <a:prstGeom prst="line">
              <a:avLst/>
            </a:prstGeom>
            <a:ln w="27782">
              <a:solidFill>
                <a:srgbClr val="9FB3C8"/>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4290000" y="4707796"/>
              <a:ext cx="192339" cy="170968"/>
            </a:xfrm>
            <a:custGeom>
              <a:avLst/>
              <a:gdLst/>
              <a:ahLst/>
              <a:cxnLst/>
              <a:rect l="l" t="t" r="r" b="b"/>
              <a:pathLst>
                <a:path w="192339" h="170968">
                  <a:moveTo>
                    <a:pt x="0" y="0"/>
                  </a:moveTo>
                  <a:lnTo>
                    <a:pt x="192339" y="85484"/>
                  </a:lnTo>
                  <a:lnTo>
                    <a:pt x="0" y="170968"/>
                  </a:lnTo>
                  <a:close/>
                </a:path>
              </a:pathLst>
            </a:cu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95621" y="4531699"/>
              <a:ext cx="556500" cy="433232"/>
            </a:xfrm>
            <a:prstGeom prst="rect">
              <a:avLst/>
            </a:prstGeom>
            <a:noFill/>
          </p:spPr>
          <p:txBody>
            <a:bodyPr wrap="none" anchor="ctr" lIns="0" rIns="0" tIns="0" bIns="0">
              <a:noAutofit/>
            </a:bodyPr>
            <a:lstStyle/>
            <a:p>
              <a:pPr algn="ctr"/>
              <a:r>
                <a:rPr sz="2140" b="0">
                  <a:solidFill>
                    <a:srgbClr val="86D6A4"/>
                  </a:solidFill>
                  <a:latin typeface="Consolas"/>
                  <a:ea typeface="Consolas"/>
                  <a:cs typeface="Consolas"/>
                </a:rPr>
                <a:t>blf</a:t>
              </a:r>
            </a:p>
          </p:txBody>
        </p:sp>
        <p:cxnSp>
          <p:nvCxnSpPr>
            <p:cNvPr id="55" name="Connector 54"/>
            <p:cNvCxnSpPr/>
            <p:nvPr/>
          </p:nvCxnSpPr>
          <p:spPr>
            <a:xfrm>
              <a:off x="2516208" y="4985619"/>
              <a:ext cx="0" cy="85483"/>
            </a:xfrm>
            <a:prstGeom prst="line">
              <a:avLst/>
            </a:prstGeom>
            <a:ln w="10685">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477903" y="4985619"/>
              <a:ext cx="0" cy="85483"/>
            </a:xfrm>
            <a:prstGeom prst="line">
              <a:avLst/>
            </a:prstGeom>
            <a:ln w="10685">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3871" y="4985619"/>
              <a:ext cx="0" cy="85483"/>
            </a:xfrm>
            <a:prstGeom prst="line">
              <a:avLst/>
            </a:prstGeom>
            <a:ln w="10685">
              <a:solidFill>
                <a:srgbClr val="5B6B7B"/>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265035" y="5099526"/>
              <a:ext cx="502346" cy="177935"/>
            </a:xfrm>
            <a:prstGeom prst="rect">
              <a:avLst/>
            </a:prstGeom>
            <a:noFill/>
          </p:spPr>
          <p:txBody>
            <a:bodyPr wrap="none" anchor="ctr" lIns="0" rIns="0" tIns="0" bIns="0">
              <a:noAutofit/>
            </a:bodyPr>
            <a:lstStyle/>
            <a:p>
              <a:pPr algn="ctr"/>
              <a:r>
                <a:rPr sz="969" b="0">
                  <a:solidFill>
                    <a:srgbClr val="9FB3C8"/>
                  </a:solidFill>
                  <a:latin typeface="맑은 고딕"/>
                  <a:ea typeface="맑은 고딕"/>
                  <a:cs typeface="맑은 고딕"/>
                </a:rPr>
                <a:t>in0 의 축</a:t>
              </a:r>
            </a:p>
          </p:txBody>
        </p:sp>
        <p:sp>
          <p:nvSpPr>
            <p:cNvPr id="59" name="TextBox 58"/>
            <p:cNvSpPr txBox="1"/>
            <p:nvPr/>
          </p:nvSpPr>
          <p:spPr>
            <a:xfrm>
              <a:off x="3226729" y="5099526"/>
              <a:ext cx="502346" cy="177935"/>
            </a:xfrm>
            <a:prstGeom prst="rect">
              <a:avLst/>
            </a:prstGeom>
            <a:noFill/>
          </p:spPr>
          <p:txBody>
            <a:bodyPr wrap="none" anchor="ctr" lIns="0" rIns="0" tIns="0" bIns="0">
              <a:noAutofit/>
            </a:bodyPr>
            <a:lstStyle/>
            <a:p>
              <a:pPr algn="ctr"/>
              <a:r>
                <a:rPr sz="969" b="0">
                  <a:solidFill>
                    <a:srgbClr val="9FB3C8"/>
                  </a:solidFill>
                  <a:latin typeface="맑은 고딕"/>
                  <a:ea typeface="맑은 고딕"/>
                  <a:cs typeface="맑은 고딕"/>
                </a:rPr>
                <a:t>in1 의 축</a:t>
              </a:r>
            </a:p>
          </p:txBody>
        </p:sp>
        <p:sp>
          <p:nvSpPr>
            <p:cNvPr id="60" name="TextBox 59"/>
            <p:cNvSpPr txBox="1"/>
            <p:nvPr/>
          </p:nvSpPr>
          <p:spPr>
            <a:xfrm>
              <a:off x="4585069" y="5099526"/>
              <a:ext cx="777604" cy="177935"/>
            </a:xfrm>
            <a:prstGeom prst="rect">
              <a:avLst/>
            </a:prstGeom>
            <a:noFill/>
          </p:spPr>
          <p:txBody>
            <a:bodyPr wrap="none" anchor="ctr" lIns="0" rIns="0" tIns="0" bIns="0">
              <a:noAutofit/>
            </a:bodyPr>
            <a:lstStyle/>
            <a:p>
              <a:pPr algn="ctr"/>
              <a:r>
                <a:rPr sz="969" b="0">
                  <a:solidFill>
                    <a:srgbClr val="9FB3C8"/>
                  </a:solidFill>
                  <a:latin typeface="맑은 고딕"/>
                  <a:ea typeface="맑은 고딕"/>
                  <a:cs typeface="맑은 고딕"/>
                </a:rPr>
                <a:t>출력에 남는 축</a:t>
              </a:r>
            </a:p>
          </p:txBody>
        </p:sp>
        <p:sp>
          <p:nvSpPr>
            <p:cNvPr id="61" name="TextBox 60"/>
            <p:cNvSpPr txBox="1"/>
            <p:nvPr/>
          </p:nvSpPr>
          <p:spPr>
            <a:xfrm>
              <a:off x="6042420" y="4317775"/>
              <a:ext cx="447054" cy="193407"/>
            </a:xfrm>
            <a:prstGeom prst="rect">
              <a:avLst/>
            </a:prstGeom>
            <a:noFill/>
          </p:spPr>
          <p:txBody>
            <a:bodyPr wrap="none" anchor="ctr" lIns="0" rIns="0" tIns="0" bIns="0">
              <a:noAutofit/>
            </a:bodyPr>
            <a:lstStyle/>
            <a:p>
              <a:pPr algn="l"/>
              <a:r>
                <a:rPr sz="1050" b="1">
                  <a:solidFill>
                    <a:srgbClr val="86D6A4"/>
                  </a:solidFill>
                  <a:latin typeface="맑은 고딕"/>
                  <a:ea typeface="맑은 고딕"/>
                  <a:cs typeface="맑은 고딕"/>
                </a:rPr>
                <a:t>읽는 법</a:t>
              </a:r>
            </a:p>
          </p:txBody>
        </p:sp>
        <p:sp>
          <p:nvSpPr>
            <p:cNvPr id="62" name="TextBox 61"/>
            <p:cNvSpPr txBox="1"/>
            <p:nvPr/>
          </p:nvSpPr>
          <p:spPr>
            <a:xfrm>
              <a:off x="6042420" y="4601796"/>
              <a:ext cx="2059051" cy="185671"/>
            </a:xfrm>
            <a:prstGeom prst="rect">
              <a:avLst/>
            </a:prstGeom>
            <a:noFill/>
          </p:spPr>
          <p:txBody>
            <a:bodyPr wrap="none" anchor="ctr" lIns="0" rIns="0" tIns="0" bIns="0">
              <a:noAutofit/>
            </a:bodyPr>
            <a:lstStyle/>
            <a:p>
              <a:pPr algn="l"/>
              <a:r>
                <a:rPr sz="1010" b="0">
                  <a:solidFill>
                    <a:srgbClr val="E6EDF3"/>
                  </a:solidFill>
                  <a:latin typeface="맑은 고딕"/>
                  <a:ea typeface="맑은 고딕"/>
                  <a:cs typeface="맑은 고딕"/>
                </a:rPr>
                <a:t>두 입력에 공통으로 나오는 인덱스 e 가</a:t>
              </a:r>
            </a:p>
          </p:txBody>
        </p:sp>
        <p:sp>
          <p:nvSpPr>
            <p:cNvPr id="63" name="TextBox 62"/>
            <p:cNvSpPr txBox="1"/>
            <p:nvPr/>
          </p:nvSpPr>
          <p:spPr>
            <a:xfrm>
              <a:off x="6042420" y="4836877"/>
              <a:ext cx="2302296" cy="185671"/>
            </a:xfrm>
            <a:prstGeom prst="rect">
              <a:avLst/>
            </a:prstGeom>
            <a:noFill/>
          </p:spPr>
          <p:txBody>
            <a:bodyPr wrap="none" anchor="ctr" lIns="0" rIns="0" tIns="0" bIns="0">
              <a:noAutofit/>
            </a:bodyPr>
            <a:lstStyle/>
            <a:p>
              <a:pPr algn="l"/>
              <a:r>
                <a:rPr sz="1010" b="0">
                  <a:solidFill>
                    <a:srgbClr val="E6EDF3"/>
                  </a:solidFill>
                  <a:latin typeface="맑은 고딕"/>
                  <a:ea typeface="맑은 고딕"/>
                  <a:cs typeface="맑은 고딕"/>
                </a:rPr>
                <a:t>출력 blf 에서 사라진다 → 그 축이 축약된다</a:t>
              </a:r>
            </a:p>
          </p:txBody>
        </p:sp>
        <p:sp>
          <p:nvSpPr>
            <p:cNvPr id="64" name="TextBox 63"/>
            <p:cNvSpPr txBox="1"/>
            <p:nvPr/>
          </p:nvSpPr>
          <p:spPr>
            <a:xfrm>
              <a:off x="6042420" y="5099526"/>
              <a:ext cx="2050305" cy="177935"/>
            </a:xfrm>
            <a:prstGeom prst="rect">
              <a:avLst/>
            </a:prstGeom>
            <a:noFill/>
          </p:spPr>
          <p:txBody>
            <a:bodyPr wrap="none" anchor="ctr" lIns="0" rIns="0" tIns="0" bIns="0">
              <a:noAutofit/>
            </a:bodyPr>
            <a:lstStyle/>
            <a:p>
              <a:pPr algn="l"/>
              <a:r>
                <a:rPr sz="969" b="0">
                  <a:solidFill>
                    <a:srgbClr val="9FB3C8"/>
                  </a:solidFill>
                  <a:latin typeface="맑은 고딕"/>
                  <a:ea typeface="맑은 고딕"/>
                  <a:cs typeface="맑은 고딕"/>
                </a:rPr>
                <a:t>b · l · f 는 축약되지 않고 그대로 남는다</a:t>
              </a:r>
            </a:p>
          </p:txBody>
        </p:sp>
      </p:grpSp>
      <p:sp>
        <p:nvSpPr>
          <p:cNvPr id="65" name="Rectangle 64"/>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ble,ef→blf 는 이 절 전체를 관통하는 하나의 예제다. 끝까지 이 예제만 따라간다.</a:t>
            </a:r>
          </a:p>
        </p:txBody>
      </p:sp>
      <p:sp>
        <p:nvSpPr>
          <p:cNvPr id="66" name="Rectangle 65"/>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einsum 예제: Transformer feed-forward layer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ble, ef → blf — 이 절이 끝까지 따라가는 단 하나의 예제</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II절 도입부의 예제다. Transformer [21] 의 feed-forward layer 한 층을 그대로 가져왔다.</a:t>
            </a:r>
          </a:p>
          <a:p>
            <a:pPr algn="l">
              <a:lnSpc>
                <a:spcPct val="118000"/>
              </a:lnSpc>
              <a:spcBef>
                <a:spcPts val="600"/>
              </a:spcBef>
              <a:spcAft>
                <a:spcPts val="200"/>
              </a:spcAft>
            </a:pPr>
            <a:r>
              <a:rPr sz="1900" b="0" i="0">
                <a:solidFill>
                  <a:srgbClr val="16202C"/>
                </a:solidFill>
                <a:latin typeface="Segoe UI"/>
                <a:ea typeface="맑은 고딕"/>
                <a:cs typeface="맑은 고딕"/>
              </a:rPr>
              <a:t>▪  축 기호는 논문이 명시한다 — b = batch size, l = sequence length, e = 입력의 임베딩 크기, f = FFN 의 임베딩 크기.</a:t>
            </a:r>
          </a:p>
          <a:p>
            <a:pPr algn="l">
              <a:lnSpc>
                <a:spcPct val="118000"/>
              </a:lnSpc>
              <a:spcBef>
                <a:spcPts val="600"/>
              </a:spcBef>
              <a:spcAft>
                <a:spcPts val="200"/>
              </a:spcAft>
            </a:pPr>
            <a:r>
              <a:rPr sz="1900" b="1" i="0">
                <a:solidFill>
                  <a:srgbClr val="083F80"/>
                </a:solidFill>
                <a:latin typeface="Segoe UI"/>
                <a:ea typeface="맑은 고딕"/>
                <a:cs typeface="맑은 고딕"/>
              </a:rPr>
              <a:t>▪  소문자는 축의 이름, 대문자 B·L·E·F 는 그 축의 길이다. 이 구분을 놓치면 뒤의 tactic 식이 안 읽힌다.</a:t>
            </a:r>
          </a:p>
          <a:p>
            <a:pPr algn="l">
              <a:lnSpc>
                <a:spcPct val="118000"/>
              </a:lnSpc>
              <a:spcBef>
                <a:spcPts val="600"/>
              </a:spcBef>
              <a:spcAft>
                <a:spcPts val="200"/>
              </a:spcAft>
            </a:pPr>
            <a:r>
              <a:rPr sz="1900" b="0" i="0">
                <a:solidFill>
                  <a:srgbClr val="16202C"/>
                </a:solidFill>
                <a:latin typeface="Segoe UI"/>
                <a:ea typeface="맑은 고딕"/>
                <a:cs typeface="맑은 고딕"/>
              </a:rPr>
              <a:t>▪  einsum [4] 은 NumPy·PyTorch 가 지원하는 표기이고, Einstein notation 에서 유래했다.</a:t>
            </a:r>
          </a:p>
          <a:p>
            <a:pPr algn="l">
              <a:lnSpc>
                <a:spcPct val="118000"/>
              </a:lnSpc>
              <a:spcBef>
                <a:spcPts val="600"/>
              </a:spcBef>
              <a:spcAft>
                <a:spcPts val="200"/>
              </a:spcAft>
            </a:pPr>
            <a:r>
              <a:rPr sz="1900" b="1" i="0">
                <a:solidFill>
                  <a:srgbClr val="083F80"/>
                </a:solidFill>
                <a:latin typeface="Segoe UI"/>
                <a:ea typeface="맑은 고딕"/>
                <a:cs typeface="맑은 고딕"/>
              </a:rPr>
              <a:t>▪  이 절은 끝까지 이 예제 하나만 따라간다. Fig. 8 과 VI절 LLaMA-2 설명도 같은 식 위에서 쓰인다.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축 기호 정의 (논문이 명시한 그대로)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35</a:t>
            </a:r>
          </a:p>
        </p:txBody>
      </p:sp>
      <p:graphicFrame>
        <p:nvGraphicFramePr>
          <p:cNvPr id="8" name="Table 7"/>
          <p:cNvGraphicFramePr>
            <a:graphicFrameLocks noGrp="1"/>
          </p:cNvGraphicFramePr>
          <p:nvPr/>
        </p:nvGraphicFramePr>
        <p:xfrm>
          <a:off x="566928" y="1517904"/>
          <a:ext cx="11057839" cy="1920240"/>
        </p:xfrm>
        <a:graphic>
          <a:graphicData uri="http://schemas.openxmlformats.org/drawingml/2006/table">
            <a:tbl>
              <a:tblPr firstRow="1" bandRow="1">
                <a:tableStyleId>{5C22544A-7EE6-4342-B048-85BDC9FD1C3A}</a:tableStyleId>
              </a:tblPr>
              <a:tblGrid>
                <a:gridCol w="1060341"/>
                <a:gridCol w="5857120"/>
                <a:gridCol w="4140378"/>
              </a:tblGrid>
              <a:tr h="384048">
                <a:tc>
                  <a:txBody>
                    <a:bodyPr wrap="square"/>
                    <a:lstStyle/>
                    <a:p>
                      <a:r>
                        <a:rPr sz="1000" b="1" i="0">
                          <a:solidFill>
                            <a:srgbClr val="FFFFFF"/>
                          </a:solidFill>
                          <a:latin typeface="Segoe UI"/>
                          <a:ea typeface="맑은 고딕"/>
                          <a:cs typeface="맑은 고딕"/>
                        </a:rPr>
                        <a:t>기호</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논문의 정의</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이 예제에서의 위치</a:t>
                      </a:r>
                    </a:p>
                  </a:txBody>
                  <a:tcPr marL="73152" marR="73152" marT="27432" marB="27432">
                    <a:solidFill>
                      <a:srgbClr val="0B5FC0"/>
                    </a:solidFill>
                  </a:tcPr>
                </a:tc>
              </a:tr>
              <a:tr h="384048">
                <a:tc>
                  <a:txBody>
                    <a:bodyPr wrap="square"/>
                    <a:lstStyle/>
                    <a:p>
                      <a:r>
                        <a:rPr sz="1000" b="0" i="0">
                          <a:solidFill>
                            <a:srgbClr val="16202C"/>
                          </a:solidFill>
                          <a:latin typeface="Segoe UI"/>
                          <a:ea typeface="맑은 고딕"/>
                          <a:cs typeface="맑은 고딕"/>
                        </a:rPr>
                        <a:t>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batch size (배치 크기)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in0 의 첫 축</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l</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sequence length (시퀀스 길이)</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in0 의 둘째 축</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e</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embedding size of input (입력의 임베딩 크기)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in0 의 셋째 축 = in1 의 첫 축 → 축약 대상</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f</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embedding size of feed-forward network (FFN의 임베딩 크기)</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in1 의 둘째 축, 출력에 남음</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소문자는 축 이름, 대문자는 축 길이.</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표준 einsum 의 한계 — 왜 확장이 필요한가</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einsum 이 비워 둔 두 칸이 그대로 lowered shape 과 tactic 이 된다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36</a:t>
            </a:r>
          </a:p>
        </p:txBody>
      </p:sp>
      <p:grpSp>
        <p:nvGrpSpPr>
          <p:cNvPr id="9" name="도해 A2#05"/>
          <p:cNvGrpSpPr/>
          <p:nvPr/>
        </p:nvGrpSpPr>
        <p:grpSpPr>
          <a:xfrm>
            <a:off x="566928" y="1777526"/>
            <a:ext cx="11057839" cy="3449253"/>
            <a:chOff x="566928" y="1777526"/>
            <a:chExt cx="11057839" cy="3449253"/>
          </a:xfrm>
        </p:grpSpPr>
        <p:sp>
          <p:nvSpPr>
            <p:cNvPr id="10" name="TextBox 9"/>
            <p:cNvSpPr txBox="1"/>
            <p:nvPr/>
          </p:nvSpPr>
          <p:spPr>
            <a:xfrm>
              <a:off x="1554410" y="1777526"/>
              <a:ext cx="1049825" cy="251306"/>
            </a:xfrm>
            <a:prstGeom prst="rect">
              <a:avLst/>
            </a:prstGeom>
            <a:noFill/>
          </p:spPr>
          <p:txBody>
            <a:bodyPr wrap="none" anchor="ctr" lIns="0" rIns="0" tIns="0" bIns="0">
              <a:noAutofit/>
            </a:bodyPr>
            <a:lstStyle/>
            <a:p>
              <a:pPr algn="ctr"/>
              <a:r>
                <a:rPr sz="1370" b="1">
                  <a:solidFill>
                    <a:srgbClr val="083F80"/>
                  </a:solidFill>
                  <a:latin typeface="맑은 고딕"/>
                  <a:ea typeface="맑은 고딕"/>
                  <a:cs typeface="맑은 고딕"/>
                </a:rPr>
                <a:t>표준 einsum</a:t>
              </a:r>
            </a:p>
          </p:txBody>
        </p:sp>
        <p:sp>
          <p:nvSpPr>
            <p:cNvPr id="11" name="Rounded Rectangle 10"/>
            <p:cNvSpPr/>
            <p:nvPr/>
          </p:nvSpPr>
          <p:spPr>
            <a:xfrm>
              <a:off x="566928" y="2201988"/>
              <a:ext cx="3024790" cy="1735535"/>
            </a:xfrm>
            <a:prstGeom prst="roundRect">
              <a:avLst>
                <a:gd name="adj" fmla="val 6428"/>
              </a:avLst>
            </a:prstGeom>
            <a:solidFill>
              <a:srgbClr val="E3EEFB"/>
            </a:solidFill>
            <a:ln w="2479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6473" y="2428599"/>
              <a:ext cx="1445701" cy="305157"/>
            </a:xfrm>
            <a:prstGeom prst="rect">
              <a:avLst/>
            </a:prstGeom>
            <a:noFill/>
          </p:spPr>
          <p:txBody>
            <a:bodyPr wrap="none" anchor="ctr" lIns="0" rIns="0" tIns="0" bIns="0">
              <a:noAutofit/>
            </a:bodyPr>
            <a:lstStyle/>
            <a:p>
              <a:pPr algn="ctr"/>
              <a:r>
                <a:rPr sz="1510" b="0">
                  <a:solidFill>
                    <a:srgbClr val="083F80"/>
                  </a:solidFill>
                  <a:latin typeface="Consolas"/>
                  <a:ea typeface="Consolas"/>
                  <a:cs typeface="Consolas"/>
                </a:rPr>
                <a:t>ble,ef → blf</a:t>
              </a:r>
            </a:p>
          </p:txBody>
        </p:sp>
        <p:sp>
          <p:nvSpPr>
            <p:cNvPr id="13" name="TextBox 12"/>
            <p:cNvSpPr txBox="1"/>
            <p:nvPr/>
          </p:nvSpPr>
          <p:spPr>
            <a:xfrm>
              <a:off x="1393244" y="2904384"/>
              <a:ext cx="1372158" cy="206430"/>
            </a:xfrm>
            <a:prstGeom prst="rect">
              <a:avLst/>
            </a:prstGeom>
            <a:noFill/>
          </p:spPr>
          <p:txBody>
            <a:bodyPr wrap="none" anchor="ctr" lIns="0" rIns="0" tIns="0" bIns="0">
              <a:noAutofit/>
            </a:bodyPr>
            <a:lstStyle/>
            <a:p>
              <a:pPr algn="ctr"/>
              <a:r>
                <a:rPr sz="1120" b="0">
                  <a:solidFill>
                    <a:srgbClr val="16202C"/>
                  </a:solidFill>
                  <a:latin typeface="맑은 고딕"/>
                  <a:ea typeface="맑은 고딕"/>
                  <a:cs typeface="맑은 고딕"/>
                </a:rPr>
                <a:t>declarative — 선언적</a:t>
              </a:r>
            </a:p>
          </p:txBody>
        </p:sp>
        <p:sp>
          <p:nvSpPr>
            <p:cNvPr id="14" name="TextBox 13"/>
            <p:cNvSpPr txBox="1"/>
            <p:nvPr/>
          </p:nvSpPr>
          <p:spPr>
            <a:xfrm>
              <a:off x="1218178" y="3226698"/>
              <a:ext cx="1722289" cy="206430"/>
            </a:xfrm>
            <a:prstGeom prst="rect">
              <a:avLst/>
            </a:prstGeom>
            <a:noFill/>
          </p:spPr>
          <p:txBody>
            <a:bodyPr wrap="none" anchor="ctr" lIns="0" rIns="0" tIns="0" bIns="0">
              <a:noAutofit/>
            </a:bodyPr>
            <a:lstStyle/>
            <a:p>
              <a:pPr algn="ctr"/>
              <a:r>
                <a:rPr sz="1120" b="1">
                  <a:solidFill>
                    <a:srgbClr val="0B5FC0"/>
                  </a:solidFill>
                  <a:latin typeface="맑은 고딕"/>
                  <a:ea typeface="맑은 고딕"/>
                  <a:cs typeface="맑은 고딕"/>
                </a:rPr>
                <a:t>무엇을 계산하는가 만 말한다</a:t>
              </a:r>
            </a:p>
          </p:txBody>
        </p:sp>
        <p:sp>
          <p:nvSpPr>
            <p:cNvPr id="15" name="TextBox 14"/>
            <p:cNvSpPr txBox="1"/>
            <p:nvPr/>
          </p:nvSpPr>
          <p:spPr>
            <a:xfrm>
              <a:off x="1055184" y="3538598"/>
              <a:ext cx="2048279" cy="188479"/>
            </a:xfrm>
            <a:prstGeom prst="rect">
              <a:avLst/>
            </a:prstGeom>
            <a:noFill/>
          </p:spPr>
          <p:txBody>
            <a:bodyPr wrap="none" anchor="ctr" lIns="0" rIns="0" tIns="0" bIns="0">
              <a:noAutofit/>
            </a:bodyPr>
            <a:lstStyle/>
            <a:p>
              <a:pPr algn="ctr"/>
              <a:r>
                <a:rPr sz="1019" b="0">
                  <a:solidFill>
                    <a:srgbClr val="5B6B7B"/>
                  </a:solidFill>
                  <a:latin typeface="맑은 고딕"/>
                  <a:ea typeface="맑은 고딕"/>
                  <a:cs typeface="맑은 고딕"/>
                </a:rPr>
                <a:t>여기까지가 einsum 이 말하는 전부다</a:t>
              </a:r>
            </a:p>
          </p:txBody>
        </p:sp>
        <p:cxnSp>
          <p:nvCxnSpPr>
            <p:cNvPr id="16" name="Connector 15"/>
            <p:cNvCxnSpPr/>
            <p:nvPr/>
          </p:nvCxnSpPr>
          <p:spPr>
            <a:xfrm>
              <a:off x="3616511" y="3069756"/>
              <a:ext cx="223141" cy="0"/>
            </a:xfrm>
            <a:prstGeom prst="line">
              <a:avLst/>
            </a:prstGeom>
            <a:ln w="22314">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839652" y="2598682"/>
              <a:ext cx="0" cy="942148"/>
            </a:xfrm>
            <a:prstGeom prst="line">
              <a:avLst/>
            </a:prstGeom>
            <a:ln w="22314">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839652" y="2598682"/>
              <a:ext cx="49586" cy="0"/>
            </a:xfrm>
            <a:prstGeom prst="line">
              <a:avLst/>
            </a:prstGeom>
            <a:ln w="22314">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39652" y="3540830"/>
              <a:ext cx="49586" cy="0"/>
            </a:xfrm>
            <a:prstGeom prst="line">
              <a:avLst/>
            </a:prstGeom>
            <a:ln w="22314">
              <a:solidFill>
                <a:srgbClr val="5B6B7B"/>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864445" y="2524302"/>
              <a:ext cx="148760" cy="148760"/>
            </a:xfrm>
            <a:custGeom>
              <a:avLst/>
              <a:gdLst/>
              <a:ahLst/>
              <a:cxnLst/>
              <a:rect l="l" t="t" r="r" b="b"/>
              <a:pathLst>
                <a:path w="148760" h="148760">
                  <a:moveTo>
                    <a:pt x="0" y="0"/>
                  </a:moveTo>
                  <a:lnTo>
                    <a:pt x="148760" y="74380"/>
                  </a:lnTo>
                  <a:lnTo>
                    <a:pt x="0" y="14876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64445" y="3466450"/>
              <a:ext cx="148760" cy="148760"/>
            </a:xfrm>
            <a:custGeom>
              <a:avLst/>
              <a:gdLst/>
              <a:ahLst/>
              <a:cxnLst/>
              <a:rect l="l" t="t" r="r" b="b"/>
              <a:pathLst>
                <a:path w="148760" h="148760">
                  <a:moveTo>
                    <a:pt x="0" y="0"/>
                  </a:moveTo>
                  <a:lnTo>
                    <a:pt x="148760" y="74380"/>
                  </a:lnTo>
                  <a:lnTo>
                    <a:pt x="0" y="14876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9902" y="1784716"/>
              <a:ext cx="2396024" cy="242330"/>
            </a:xfrm>
            <a:prstGeom prst="rect">
              <a:avLst/>
            </a:prstGeom>
            <a:noFill/>
          </p:spPr>
          <p:txBody>
            <a:bodyPr wrap="none" anchor="ctr" lIns="0" rIns="0" tIns="0" bIns="0">
              <a:noAutofit/>
            </a:bodyPr>
            <a:lstStyle/>
            <a:p>
              <a:pPr algn="ctr"/>
              <a:r>
                <a:rPr sz="1320" b="1">
                  <a:solidFill>
                    <a:srgbClr val="B4222A"/>
                  </a:solidFill>
                  <a:latin typeface="맑은 고딕"/>
                  <a:ea typeface="맑은 고딕"/>
                  <a:cs typeface="맑은 고딕"/>
                </a:rPr>
                <a:t>einsum 이 지정하지 않는 두 가지</a:t>
              </a:r>
            </a:p>
          </p:txBody>
        </p:sp>
        <p:sp>
          <p:nvSpPr>
            <p:cNvPr id="23" name="Rounded Rectangle 22"/>
            <p:cNvSpPr/>
            <p:nvPr/>
          </p:nvSpPr>
          <p:spPr>
            <a:xfrm>
              <a:off x="3988412" y="2201988"/>
              <a:ext cx="3719004" cy="793388"/>
            </a:xfrm>
            <a:prstGeom prst="roundRect">
              <a:avLst>
                <a:gd name="adj" fmla="val 12500"/>
              </a:avLst>
            </a:prstGeom>
            <a:solidFill>
              <a:srgbClr val="FDE8E8"/>
            </a:solidFill>
            <a:ln w="2231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86759" y="2344550"/>
              <a:ext cx="2489873" cy="224380"/>
            </a:xfrm>
            <a:prstGeom prst="rect">
              <a:avLst/>
            </a:prstGeom>
            <a:noFill/>
          </p:spPr>
          <p:txBody>
            <a:bodyPr wrap="none" anchor="ctr" lIns="0" rIns="0" tIns="0" bIns="0">
              <a:noAutofit/>
            </a:bodyPr>
            <a:lstStyle/>
            <a:p>
              <a:pPr algn="l"/>
              <a:r>
                <a:rPr sz="1220" b="1">
                  <a:solidFill>
                    <a:srgbClr val="B4222A"/>
                  </a:solidFill>
                  <a:latin typeface="맑은 고딕"/>
                  <a:ea typeface="맑은 고딕"/>
                  <a:cs typeface="맑은 고딕"/>
                </a:rPr>
                <a:t>① 텐서가 메모리에 어떻게 저장되는가</a:t>
              </a:r>
            </a:p>
          </p:txBody>
        </p:sp>
        <p:sp>
          <p:nvSpPr>
            <p:cNvPr id="25" name="TextBox 24"/>
            <p:cNvSpPr txBox="1"/>
            <p:nvPr/>
          </p:nvSpPr>
          <p:spPr>
            <a:xfrm>
              <a:off x="4186759" y="2638847"/>
              <a:ext cx="2877679" cy="197454"/>
            </a:xfrm>
            <a:prstGeom prst="rect">
              <a:avLst/>
            </a:prstGeom>
            <a:noFill/>
          </p:spPr>
          <p:txBody>
            <a:bodyPr wrap="none" anchor="ctr" lIns="0" rIns="0" tIns="0" bIns="0">
              <a:noAutofit/>
            </a:bodyPr>
            <a:lstStyle/>
            <a:p>
              <a:pPr algn="l"/>
              <a:r>
                <a:rPr sz="1070" b="0">
                  <a:solidFill>
                    <a:srgbClr val="16202C"/>
                  </a:solidFill>
                  <a:latin typeface="맑은 고딕"/>
                  <a:ea typeface="맑은 고딕"/>
                  <a:cs typeface="맑은 고딕"/>
                </a:rPr>
                <a:t>how tensors are physically stored in memory</a:t>
              </a:r>
            </a:p>
          </p:txBody>
        </p:sp>
        <p:sp>
          <p:nvSpPr>
            <p:cNvPr id="26" name="Rounded Rectangle 25"/>
            <p:cNvSpPr/>
            <p:nvPr/>
          </p:nvSpPr>
          <p:spPr>
            <a:xfrm>
              <a:off x="3988412" y="3144136"/>
              <a:ext cx="3719004" cy="793388"/>
            </a:xfrm>
            <a:prstGeom prst="roundRect">
              <a:avLst>
                <a:gd name="adj" fmla="val 12500"/>
              </a:avLst>
            </a:prstGeom>
            <a:solidFill>
              <a:srgbClr val="FDE8E8"/>
            </a:solidFill>
            <a:ln w="2231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86759" y="3286698"/>
              <a:ext cx="1884450" cy="224380"/>
            </a:xfrm>
            <a:prstGeom prst="rect">
              <a:avLst/>
            </a:prstGeom>
            <a:noFill/>
          </p:spPr>
          <p:txBody>
            <a:bodyPr wrap="none" anchor="ctr" lIns="0" rIns="0" tIns="0" bIns="0">
              <a:noAutofit/>
            </a:bodyPr>
            <a:lstStyle/>
            <a:p>
              <a:pPr algn="l"/>
              <a:r>
                <a:rPr sz="1220" b="1">
                  <a:solidFill>
                    <a:srgbClr val="B4222A"/>
                  </a:solidFill>
                  <a:latin typeface="맑은 고딕"/>
                  <a:ea typeface="맑은 고딕"/>
                  <a:cs typeface="맑은 고딕"/>
                </a:rPr>
                <a:t>② 계산이 어떻게 수행되는가</a:t>
              </a:r>
            </a:p>
          </p:txBody>
        </p:sp>
        <p:sp>
          <p:nvSpPr>
            <p:cNvPr id="28" name="TextBox 27"/>
            <p:cNvSpPr txBox="1"/>
            <p:nvPr/>
          </p:nvSpPr>
          <p:spPr>
            <a:xfrm>
              <a:off x="4186759" y="3580995"/>
              <a:ext cx="2254361" cy="197454"/>
            </a:xfrm>
            <a:prstGeom prst="rect">
              <a:avLst/>
            </a:prstGeom>
            <a:noFill/>
          </p:spPr>
          <p:txBody>
            <a:bodyPr wrap="none" anchor="ctr" lIns="0" rIns="0" tIns="0" bIns="0">
              <a:noAutofit/>
            </a:bodyPr>
            <a:lstStyle/>
            <a:p>
              <a:pPr algn="l"/>
              <a:r>
                <a:rPr sz="1070" b="0">
                  <a:solidFill>
                    <a:srgbClr val="16202C"/>
                  </a:solidFill>
                  <a:latin typeface="맑은 고딕"/>
                  <a:ea typeface="맑은 고딕"/>
                  <a:cs typeface="맑은 고딕"/>
                </a:rPr>
                <a:t>how the computation is performed</a:t>
              </a:r>
            </a:p>
          </p:txBody>
        </p:sp>
        <p:cxnSp>
          <p:nvCxnSpPr>
            <p:cNvPr id="29" name="Connector 28"/>
            <p:cNvCxnSpPr/>
            <p:nvPr/>
          </p:nvCxnSpPr>
          <p:spPr>
            <a:xfrm>
              <a:off x="7732209" y="2598682"/>
              <a:ext cx="223141" cy="0"/>
            </a:xfrm>
            <a:prstGeom prst="line">
              <a:avLst/>
            </a:prstGeom>
            <a:ln w="24793">
              <a:solidFill>
                <a:srgbClr val="1A7F37"/>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7930556" y="2524302"/>
              <a:ext cx="148760" cy="148760"/>
            </a:xfrm>
            <a:custGeom>
              <a:avLst/>
              <a:gdLst/>
              <a:ahLst/>
              <a:cxnLst/>
              <a:rect l="l" t="t" r="r" b="b"/>
              <a:pathLst>
                <a:path w="148760" h="148760">
                  <a:moveTo>
                    <a:pt x="0" y="0"/>
                  </a:moveTo>
                  <a:lnTo>
                    <a:pt x="148760" y="74380"/>
                  </a:lnTo>
                  <a:lnTo>
                    <a:pt x="0" y="14876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7732209" y="3540830"/>
              <a:ext cx="223141" cy="0"/>
            </a:xfrm>
            <a:prstGeom prst="line">
              <a:avLst/>
            </a:prstGeom>
            <a:ln w="24793">
              <a:solidFill>
                <a:srgbClr val="1A7F37"/>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7930556" y="3466450"/>
              <a:ext cx="148760" cy="148760"/>
            </a:xfrm>
            <a:custGeom>
              <a:avLst/>
              <a:gdLst/>
              <a:ahLst/>
              <a:cxnLst/>
              <a:rect l="l" t="t" r="r" b="b"/>
              <a:pathLst>
                <a:path w="148760" h="148760">
                  <a:moveTo>
                    <a:pt x="0" y="0"/>
                  </a:moveTo>
                  <a:lnTo>
                    <a:pt x="148760" y="74380"/>
                  </a:lnTo>
                  <a:lnTo>
                    <a:pt x="0" y="14876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78146" y="1784716"/>
              <a:ext cx="2572584" cy="242330"/>
            </a:xfrm>
            <a:prstGeom prst="rect">
              <a:avLst/>
            </a:prstGeom>
            <a:noFill/>
          </p:spPr>
          <p:txBody>
            <a:bodyPr wrap="none" anchor="ctr" lIns="0" rIns="0" tIns="0" bIns="0">
              <a:noAutofit/>
            </a:bodyPr>
            <a:lstStyle/>
            <a:p>
              <a:pPr algn="ctr"/>
              <a:r>
                <a:rPr sz="1320" b="1">
                  <a:solidFill>
                    <a:srgbClr val="1A7F37"/>
                  </a:solidFill>
                  <a:latin typeface="맑은 고딕"/>
                  <a:ea typeface="맑은 고딕"/>
                  <a:cs typeface="맑은 고딕"/>
                </a:rPr>
                <a:t>그런데 TCP 의 성능은 여기서 나온다</a:t>
              </a:r>
            </a:p>
          </p:txBody>
        </p:sp>
        <p:sp>
          <p:nvSpPr>
            <p:cNvPr id="34" name="Rounded Rectangle 33"/>
            <p:cNvSpPr/>
            <p:nvPr/>
          </p:nvSpPr>
          <p:spPr>
            <a:xfrm>
              <a:off x="8104110" y="2201988"/>
              <a:ext cx="3520657" cy="793388"/>
            </a:xfrm>
            <a:prstGeom prst="roundRect">
              <a:avLst>
                <a:gd name="adj" fmla="val 12500"/>
              </a:avLst>
            </a:prstGeom>
            <a:solidFill>
              <a:srgbClr val="E2F4E8"/>
            </a:solidFill>
            <a:ln w="2231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2457" y="2344550"/>
              <a:ext cx="1694316" cy="224380"/>
            </a:xfrm>
            <a:prstGeom prst="rect">
              <a:avLst/>
            </a:prstGeom>
            <a:noFill/>
          </p:spPr>
          <p:txBody>
            <a:bodyPr wrap="none" anchor="ctr" lIns="0" rIns="0" tIns="0" bIns="0">
              <a:noAutofit/>
            </a:bodyPr>
            <a:lstStyle/>
            <a:p>
              <a:pPr algn="l"/>
              <a:r>
                <a:rPr sz="1220" b="1">
                  <a:solidFill>
                    <a:srgbClr val="1A7F37"/>
                  </a:solidFill>
                  <a:latin typeface="맑은 고딕"/>
                  <a:ea typeface="맑은 고딕"/>
                  <a:cs typeface="맑은 고딕"/>
                </a:rPr>
                <a:t>어느 슬라이스에 실리는가</a:t>
              </a:r>
            </a:p>
          </p:txBody>
        </p:sp>
        <p:sp>
          <p:nvSpPr>
            <p:cNvPr id="36" name="TextBox 35"/>
            <p:cNvSpPr txBox="1"/>
            <p:nvPr/>
          </p:nvSpPr>
          <p:spPr>
            <a:xfrm>
              <a:off x="8302457" y="2638847"/>
              <a:ext cx="2189452" cy="197454"/>
            </a:xfrm>
            <a:prstGeom prst="rect">
              <a:avLst/>
            </a:prstGeom>
            <a:noFill/>
          </p:spPr>
          <p:txBody>
            <a:bodyPr wrap="none" anchor="ctr" lIns="0" rIns="0" tIns="0" bIns="0">
              <a:noAutofit/>
            </a:bodyPr>
            <a:lstStyle/>
            <a:p>
              <a:pPr algn="l"/>
              <a:r>
                <a:rPr sz="1070" b="0">
                  <a:solidFill>
                    <a:srgbClr val="16202C"/>
                  </a:solidFill>
                  <a:latin typeface="맑은 고딕"/>
                  <a:ea typeface="맑은 고딕"/>
                  <a:cs typeface="맑은 고딕"/>
                </a:rPr>
                <a:t>→ 데이터 재사용과 병렬성이 결정된다</a:t>
              </a:r>
            </a:p>
          </p:txBody>
        </p:sp>
        <p:sp>
          <p:nvSpPr>
            <p:cNvPr id="37" name="Rounded Rectangle 36"/>
            <p:cNvSpPr/>
            <p:nvPr/>
          </p:nvSpPr>
          <p:spPr>
            <a:xfrm>
              <a:off x="8104110" y="3144136"/>
              <a:ext cx="3520657" cy="793388"/>
            </a:xfrm>
            <a:prstGeom prst="roundRect">
              <a:avLst>
                <a:gd name="adj" fmla="val 12500"/>
              </a:avLst>
            </a:prstGeom>
            <a:solidFill>
              <a:srgbClr val="E2F4E8"/>
            </a:solidFill>
            <a:ln w="2231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02457" y="3286698"/>
              <a:ext cx="1907229" cy="224380"/>
            </a:xfrm>
            <a:prstGeom prst="rect">
              <a:avLst/>
            </a:prstGeom>
            <a:noFill/>
          </p:spPr>
          <p:txBody>
            <a:bodyPr wrap="none" anchor="ctr" lIns="0" rIns="0" tIns="0" bIns="0">
              <a:noAutofit/>
            </a:bodyPr>
            <a:lstStyle/>
            <a:p>
              <a:pPr algn="l"/>
              <a:r>
                <a:rPr sz="1220" b="1">
                  <a:solidFill>
                    <a:srgbClr val="1A7F37"/>
                  </a:solidFill>
                  <a:latin typeface="맑은 고딕"/>
                  <a:ea typeface="맑은 고딕"/>
                  <a:cs typeface="맑은 고딕"/>
                </a:rPr>
                <a:t>어느 축을 바깥 루프로 도는가</a:t>
              </a:r>
            </a:p>
          </p:txBody>
        </p:sp>
        <p:sp>
          <p:nvSpPr>
            <p:cNvPr id="39" name="TextBox 38"/>
            <p:cNvSpPr txBox="1"/>
            <p:nvPr/>
          </p:nvSpPr>
          <p:spPr>
            <a:xfrm>
              <a:off x="8302457" y="3580995"/>
              <a:ext cx="1813089" cy="197454"/>
            </a:xfrm>
            <a:prstGeom prst="rect">
              <a:avLst/>
            </a:prstGeom>
            <a:noFill/>
          </p:spPr>
          <p:txBody>
            <a:bodyPr wrap="none" anchor="ctr" lIns="0" rIns="0" tIns="0" bIns="0">
              <a:noAutofit/>
            </a:bodyPr>
            <a:lstStyle/>
            <a:p>
              <a:pPr algn="l"/>
              <a:r>
                <a:rPr sz="1070" b="0">
                  <a:solidFill>
                    <a:srgbClr val="16202C"/>
                  </a:solidFill>
                  <a:latin typeface="맑은 고딕"/>
                  <a:ea typeface="맑은 고딕"/>
                  <a:cs typeface="맑은 고딕"/>
                </a:rPr>
                <a:t>→ 버퍼 재사용 횟수가 결정된다</a:t>
              </a:r>
            </a:p>
          </p:txBody>
        </p:sp>
        <p:sp>
          <p:nvSpPr>
            <p:cNvPr id="40" name="Rounded Rectangle 39"/>
            <p:cNvSpPr/>
            <p:nvPr/>
          </p:nvSpPr>
          <p:spPr>
            <a:xfrm>
              <a:off x="566928" y="4359011"/>
              <a:ext cx="11057839" cy="867768"/>
            </a:xfrm>
            <a:prstGeom prst="roundRect">
              <a:avLst>
                <a:gd name="adj" fmla="val 14285"/>
              </a:avLst>
            </a:prstGeom>
            <a:solidFill>
              <a:srgbClr val="FFF7E6"/>
            </a:solidFill>
            <a:ln w="2231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99090" y="4500829"/>
              <a:ext cx="5193515" cy="287206"/>
            </a:xfrm>
            <a:prstGeom prst="rect">
              <a:avLst/>
            </a:prstGeom>
            <a:noFill/>
          </p:spPr>
          <p:txBody>
            <a:bodyPr wrap="none" anchor="ctr" lIns="0" rIns="0" tIns="0" bIns="0">
              <a:noAutofit/>
            </a:bodyPr>
            <a:lstStyle/>
            <a:p>
              <a:pPr algn="ctr"/>
              <a:r>
                <a:rPr sz="1560" b="1">
                  <a:solidFill>
                    <a:srgbClr val="B45409"/>
                  </a:solidFill>
                  <a:latin typeface="맑은 고딕"/>
                  <a:ea typeface="맑은 고딕"/>
                  <a:cs typeface="맑은 고딕"/>
                </a:rPr>
                <a:t>그래서 einsum 을 확장한다 — low-level einsum notation</a:t>
              </a:r>
            </a:p>
          </p:txBody>
        </p:sp>
        <p:sp>
          <p:nvSpPr>
            <p:cNvPr id="42" name="TextBox 41"/>
            <p:cNvSpPr txBox="1"/>
            <p:nvPr/>
          </p:nvSpPr>
          <p:spPr>
            <a:xfrm>
              <a:off x="3279322" y="4873473"/>
              <a:ext cx="5633052" cy="224380"/>
            </a:xfrm>
            <a:prstGeom prst="rect">
              <a:avLst/>
            </a:prstGeom>
            <a:noFill/>
          </p:spPr>
          <p:txBody>
            <a:bodyPr wrap="none" anchor="ctr" lIns="0" rIns="0" tIns="0" bIns="0">
              <a:noAutofit/>
            </a:bodyPr>
            <a:lstStyle/>
            <a:p>
              <a:pPr algn="ctr"/>
              <a:r>
                <a:rPr sz="1220" b="1">
                  <a:solidFill>
                    <a:srgbClr val="16202C"/>
                  </a:solidFill>
                  <a:latin typeface="맑은 고딕"/>
                  <a:ea typeface="맑은 고딕"/>
                  <a:cs typeface="맑은 고딕"/>
                </a:rPr>
                <a:t>low-level einsum  =  einsum  +  lowered shape (어디에)  +  tactic (어떤 순서로)</a:t>
              </a:r>
            </a:p>
          </p:txBody>
        </p:sp>
      </p:grpSp>
      <p:sp>
        <p:nvSpPr>
          <p:cNvPr id="43" name="Rectangle 42"/>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einsum 은 '무엇'만 말한다. TCP는 '어디에'와 '어떤 순서로'까지 적어야 한다.</a:t>
            </a:r>
          </a:p>
        </p:txBody>
      </p:sp>
      <p:sp>
        <p:nvSpPr>
          <p:cNvPr id="44" name="Rectangle 43"/>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표준 einsum 의 한계 — 왜 확장이 필요한가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einsum 이 비워 둔 두 칸이 그대로 lowered shape 과 tactic 이 된다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37</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원문이 그대로 두 개를 든다 — "how tensors are physically stored in memory", "how the computation is performed".</a:t>
            </a:r>
          </a:p>
          <a:p>
            <a:pPr algn="l">
              <a:lnSpc>
                <a:spcPct val="118000"/>
              </a:lnSpc>
              <a:spcBef>
                <a:spcPts val="600"/>
              </a:spcBef>
              <a:spcAft>
                <a:spcPts val="200"/>
              </a:spcAft>
            </a:pPr>
            <a:r>
              <a:rPr sz="1900" b="0" i="0">
                <a:solidFill>
                  <a:srgbClr val="16202C"/>
                </a:solidFill>
                <a:latin typeface="Segoe UI"/>
                <a:ea typeface="맑은 고딕"/>
                <a:cs typeface="맑은 고딕"/>
              </a:rPr>
              <a:t>▪  확장은 정확히 이 두 가지뿐이다. 그 이상도 이하도 아니다.</a:t>
            </a:r>
          </a:p>
          <a:p>
            <a:pPr algn="l">
              <a:lnSpc>
                <a:spcPct val="118000"/>
              </a:lnSpc>
              <a:spcBef>
                <a:spcPts val="600"/>
              </a:spcBef>
              <a:spcAft>
                <a:spcPts val="200"/>
              </a:spcAft>
            </a:pPr>
            <a:r>
              <a:rPr sz="1900" b="1" i="0">
                <a:solidFill>
                  <a:srgbClr val="083F80"/>
                </a:solidFill>
                <a:latin typeface="Segoe UI"/>
                <a:ea typeface="맑은 고딕"/>
                <a:cs typeface="맑은 고딕"/>
              </a:rPr>
              <a:t>▪  여기가 II절의 논리적 전환점이다. 선언적 표기에서 실행 전략까지 담는 표기로 넘어간다.</a:t>
            </a:r>
          </a:p>
          <a:p>
            <a:pPr algn="l">
              <a:lnSpc>
                <a:spcPct val="118000"/>
              </a:lnSpc>
              <a:spcBef>
                <a:spcPts val="600"/>
              </a:spcBef>
              <a:spcAft>
                <a:spcPts val="200"/>
              </a:spcAft>
            </a:pPr>
            <a:r>
              <a:rPr sz="1900" b="0" i="0">
                <a:solidFill>
                  <a:srgbClr val="16202C"/>
                </a:solidFill>
                <a:latin typeface="Segoe UI"/>
                <a:ea typeface="맑은 고딕"/>
                <a:cs typeface="맑은 고딕"/>
              </a:rPr>
              <a:t>▪  논문 원문 순서도 이대로다: 도입 → A. Lowered Shape → B. Tactics.</a:t>
            </a:r>
          </a:p>
          <a:p>
            <a:pPr algn="l">
              <a:lnSpc>
                <a:spcPct val="118000"/>
              </a:lnSpc>
              <a:spcBef>
                <a:spcPts val="600"/>
              </a:spcBef>
              <a:spcAft>
                <a:spcPts val="200"/>
              </a:spcAft>
            </a:pPr>
            <a:r>
              <a:rPr sz="1900" b="1" i="0">
                <a:solidFill>
                  <a:srgbClr val="083F80"/>
                </a:solidFill>
                <a:latin typeface="Segoe UI"/>
                <a:ea typeface="맑은 고딕"/>
                <a:cs typeface="맑은 고딕"/>
              </a:rPr>
              <a:t>▪  오늘 외울 단어는 이 두 개다. Fig. 8, Fig. 10, VI절 LLaMA-2 실행 전략이 전부 이 표기로 쓰여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 Lowered Shape — 표기의 골격</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주어진 텐서의 완전한 lowered shape 은 다음 형식으로 쓴다.</a:t>
            </a:r>
          </a:p>
          <a:p>
            <a:pPr algn="l">
              <a:lnSpc>
                <a:spcPct val="118000"/>
              </a:lnSpc>
              <a:spcBef>
                <a:spcPts val="200"/>
              </a:spcBef>
              <a:spcAft>
                <a:spcPts val="100"/>
              </a:spcAft>
            </a:pPr>
            <a:r>
              <a:rPr sz="1780" b="1" i="0">
                <a:solidFill>
                  <a:srgbClr val="2C3A4B"/>
                </a:solidFill>
                <a:latin typeface="Segoe UI"/>
                <a:ea typeface="맑은 고딕"/>
                <a:cs typeface="맑은 고딕"/>
              </a:rPr>
              <a:t>–  "inter-slice partitioning shape | intra-slice shape"</a:t>
            </a:r>
          </a:p>
          <a:p>
            <a:pPr algn="l">
              <a:lnSpc>
                <a:spcPct val="118000"/>
              </a:lnSpc>
              <a:spcBef>
                <a:spcPts val="200"/>
              </a:spcBef>
              <a:spcAft>
                <a:spcPts val="100"/>
              </a:spcAft>
            </a:pPr>
            <a:r>
              <a:rPr sz="1780" b="0" i="0">
                <a:solidFill>
                  <a:srgbClr val="2C3A4B"/>
                </a:solidFill>
                <a:latin typeface="Segoe UI"/>
                <a:ea typeface="맑은 고딕"/>
                <a:cs typeface="맑은 고딕"/>
              </a:rPr>
              <a:t>–  (슬라이스 간 분할 모양 | 슬라이스 내부 모양)</a:t>
            </a:r>
          </a:p>
          <a:p>
            <a:pPr algn="l">
              <a:lnSpc>
                <a:spcPct val="118000"/>
              </a:lnSpc>
              <a:spcBef>
                <a:spcPts val="600"/>
              </a:spcBef>
              <a:spcAft>
                <a:spcPts val="200"/>
              </a:spcAft>
            </a:pPr>
            <a:r>
              <a:rPr sz="1900" b="1" i="0">
                <a:solidFill>
                  <a:srgbClr val="083F80"/>
                </a:solidFill>
                <a:latin typeface="Segoe UI"/>
                <a:ea typeface="맑은 고딕"/>
                <a:cs typeface="맑은 고딕"/>
              </a:rPr>
              <a:t>▪  세로 막대 | 를 기준으로 왼쪽과 오른쪽의 의미가 완전히 다르다.</a:t>
            </a:r>
          </a:p>
          <a:p>
            <a:pPr algn="l">
              <a:lnSpc>
                <a:spcPct val="118000"/>
              </a:lnSpc>
              <a:spcBef>
                <a:spcPts val="200"/>
              </a:spcBef>
              <a:spcAft>
                <a:spcPts val="100"/>
              </a:spcAft>
            </a:pPr>
            <a:r>
              <a:rPr sz="1780" b="0" i="0">
                <a:solidFill>
                  <a:srgbClr val="2C3A4B"/>
                </a:solidFill>
                <a:latin typeface="Segoe UI"/>
                <a:ea typeface="맑은 고딕"/>
                <a:cs typeface="맑은 고딕"/>
              </a:rPr>
              <a:t>–  왼쪽 = 텐서를 여러 슬라이스에 어떻게 쪼개 나눠 실었는가</a:t>
            </a:r>
          </a:p>
          <a:p>
            <a:pPr algn="l">
              <a:lnSpc>
                <a:spcPct val="118000"/>
              </a:lnSpc>
              <a:spcBef>
                <a:spcPts val="200"/>
              </a:spcBef>
              <a:spcAft>
                <a:spcPts val="100"/>
              </a:spcAft>
            </a:pPr>
            <a:r>
              <a:rPr sz="1780" b="0" i="0">
                <a:solidFill>
                  <a:srgbClr val="2C3A4B"/>
                </a:solidFill>
                <a:latin typeface="Segoe UI"/>
                <a:ea typeface="맑은 고딕"/>
                <a:cs typeface="맑은 고딕"/>
              </a:rPr>
              <a:t>–  오른쪽 = 슬라이스 하나가 자기 안에 무엇을 어떤 모양으로 갖고 있는가</a:t>
            </a:r>
          </a:p>
          <a:p>
            <a:pPr algn="l">
              <a:lnSpc>
                <a:spcPct val="118000"/>
              </a:lnSpc>
              <a:spcBef>
                <a:spcPts val="600"/>
              </a:spcBef>
              <a:spcAft>
                <a:spcPts val="200"/>
              </a:spcAft>
            </a:pPr>
            <a:r>
              <a:rPr sz="1900" b="0" i="0">
                <a:solidFill>
                  <a:srgbClr val="16202C"/>
                </a:solidFill>
                <a:latin typeface="Segoe UI"/>
                <a:ea typeface="맑은 고딕"/>
                <a:cs typeface="맑은 고딕"/>
              </a:rPr>
              <a:t>▪  이 절에서 slice(슬라이스)는 '기본 연산 단위'를 뜻하는 용어로 쓴다.</a:t>
            </a:r>
          </a:p>
          <a:p>
            <a:pPr algn="l">
              <a:lnSpc>
                <a:spcPct val="118000"/>
              </a:lnSpc>
              <a:spcBef>
                <a:spcPts val="200"/>
              </a:spcBef>
              <a:spcAft>
                <a:spcPts val="100"/>
              </a:spcAft>
            </a:pPr>
            <a:r>
              <a:rPr sz="1780" b="0" i="0">
                <a:solidFill>
                  <a:srgbClr val="2C3A4B"/>
                </a:solidFill>
                <a:latin typeface="Segoe UI"/>
                <a:ea typeface="맑은 고딕"/>
                <a:cs typeface="맑은 고딕"/>
              </a:rPr>
              <a:t>–  입력과 출력을 위한 메모리 + 계산을 위한 datapath(데이터 경로)를 포함한다.</a:t>
            </a:r>
          </a:p>
          <a:p>
            <a:pPr algn="l">
              <a:lnSpc>
                <a:spcPct val="118000"/>
              </a:lnSpc>
              <a:spcBef>
                <a:spcPts val="200"/>
              </a:spcBef>
              <a:spcAft>
                <a:spcPts val="100"/>
              </a:spcAft>
            </a:pPr>
            <a:r>
              <a:rPr sz="1780" b="0" i="0">
                <a:solidFill>
                  <a:srgbClr val="2C3A4B"/>
                </a:solidFill>
                <a:latin typeface="Segoe UI"/>
                <a:ea typeface="맑은 고딕"/>
                <a:cs typeface="맑은 고딕"/>
              </a:rPr>
              <a:t>–  슬라이스의 더 구체적인 정의는 III절에서 제시한다고 논문이 명시한다.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lowered shape = 슬라이스 사이 분할 | 슬라이스 내부 모양.</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표기 문법 한 글자씩 — b²[2] 읽는 법</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축 이름 · 위첨자(보폭) · 대괄호(개수) — 모든 항은 예외 없이 세 조각이다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39</a:t>
            </a:r>
          </a:p>
        </p:txBody>
      </p:sp>
      <p:grpSp>
        <p:nvGrpSpPr>
          <p:cNvPr id="9" name="도해 A2#07"/>
          <p:cNvGrpSpPr/>
          <p:nvPr/>
        </p:nvGrpSpPr>
        <p:grpSpPr>
          <a:xfrm>
            <a:off x="1481015" y="1463040"/>
            <a:ext cx="9229665" cy="4078224"/>
            <a:chOff x="1481015" y="1463040"/>
            <a:chExt cx="9229665" cy="4078224"/>
          </a:xfrm>
        </p:grpSpPr>
        <p:sp>
          <p:nvSpPr>
            <p:cNvPr id="10" name="Rounded Rectangle 9"/>
            <p:cNvSpPr/>
            <p:nvPr/>
          </p:nvSpPr>
          <p:spPr>
            <a:xfrm>
              <a:off x="4271379" y="1463040"/>
              <a:ext cx="3648937" cy="1244932"/>
            </a:xfrm>
            <a:prstGeom prst="roundRect">
              <a:avLst>
                <a:gd name="adj" fmla="val 8620"/>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59191" y="1638189"/>
              <a:ext cx="443024" cy="745929"/>
            </a:xfrm>
            <a:prstGeom prst="rect">
              <a:avLst/>
            </a:prstGeom>
            <a:noFill/>
          </p:spPr>
          <p:txBody>
            <a:bodyPr wrap="none" anchor="ctr" lIns="0" rIns="0" tIns="0" bIns="0">
              <a:noAutofit/>
            </a:bodyPr>
            <a:lstStyle/>
            <a:p>
              <a:pPr algn="ctr"/>
              <a:r>
                <a:rPr sz="3690" b="0">
                  <a:solidFill>
                    <a:srgbClr val="7FB3EE"/>
                  </a:solidFill>
                  <a:latin typeface="Consolas"/>
                  <a:ea typeface="Consolas"/>
                  <a:cs typeface="Consolas"/>
                </a:rPr>
                <a:t>b</a:t>
              </a:r>
            </a:p>
          </p:txBody>
        </p:sp>
        <p:sp>
          <p:nvSpPr>
            <p:cNvPr id="12" name="TextBox 11"/>
            <p:cNvSpPr txBox="1"/>
            <p:nvPr/>
          </p:nvSpPr>
          <p:spPr>
            <a:xfrm>
              <a:off x="5639687" y="1638189"/>
              <a:ext cx="397176" cy="745929"/>
            </a:xfrm>
            <a:prstGeom prst="rect">
              <a:avLst/>
            </a:prstGeom>
            <a:noFill/>
          </p:spPr>
          <p:txBody>
            <a:bodyPr wrap="none" anchor="ctr" lIns="0" rIns="0" tIns="0" bIns="0">
              <a:noAutofit/>
            </a:bodyPr>
            <a:lstStyle/>
            <a:p>
              <a:pPr algn="ctr"/>
              <a:r>
                <a:rPr sz="3690" b="0">
                  <a:solidFill>
                    <a:srgbClr val="E8A765"/>
                  </a:solidFill>
                  <a:latin typeface="Consolas"/>
                  <a:ea typeface="Consolas"/>
                  <a:cs typeface="Consolas"/>
                </a:rPr>
                <a:t>²</a:t>
              </a:r>
            </a:p>
          </p:txBody>
        </p:sp>
        <p:sp>
          <p:nvSpPr>
            <p:cNvPr id="13" name="TextBox 12"/>
            <p:cNvSpPr txBox="1"/>
            <p:nvPr/>
          </p:nvSpPr>
          <p:spPr>
            <a:xfrm>
              <a:off x="5874336" y="1638189"/>
              <a:ext cx="958168" cy="745929"/>
            </a:xfrm>
            <a:prstGeom prst="rect">
              <a:avLst/>
            </a:prstGeom>
            <a:noFill/>
          </p:spPr>
          <p:txBody>
            <a:bodyPr wrap="none" anchor="ctr" lIns="0" rIns="0" tIns="0" bIns="0">
              <a:noAutofit/>
            </a:bodyPr>
            <a:lstStyle/>
            <a:p>
              <a:pPr algn="ctr"/>
              <a:r>
                <a:rPr sz="3690" b="0">
                  <a:solidFill>
                    <a:srgbClr val="86D6A4"/>
                  </a:solidFill>
                  <a:latin typeface="Consolas"/>
                  <a:ea typeface="Consolas"/>
                  <a:cs typeface="Consolas"/>
                </a:rPr>
                <a:t>[2]</a:t>
              </a:r>
            </a:p>
          </p:txBody>
        </p:sp>
        <p:sp>
          <p:nvSpPr>
            <p:cNvPr id="14" name="TextBox 13"/>
            <p:cNvSpPr txBox="1"/>
            <p:nvPr/>
          </p:nvSpPr>
          <p:spPr>
            <a:xfrm>
              <a:off x="5234999" y="2399314"/>
              <a:ext cx="1721697" cy="170942"/>
            </a:xfrm>
            <a:prstGeom prst="rect">
              <a:avLst/>
            </a:prstGeom>
            <a:noFill/>
          </p:spPr>
          <p:txBody>
            <a:bodyPr wrap="none" anchor="ctr" lIns="0" rIns="0" tIns="0" bIns="0">
              <a:noAutofit/>
            </a:bodyPr>
            <a:lstStyle/>
            <a:p>
              <a:pPr algn="ctr"/>
              <a:r>
                <a:rPr sz="930" b="0">
                  <a:solidFill>
                    <a:srgbClr val="9FB3C8"/>
                  </a:solidFill>
                  <a:latin typeface="맑은 고딕"/>
                  <a:ea typeface="맑은 고딕"/>
                  <a:cs typeface="맑은 고딕"/>
                </a:rPr>
                <a:t>모든 항은 예외 없이 이 세 조각이다</a:t>
              </a:r>
            </a:p>
          </p:txBody>
        </p:sp>
        <p:cxnSp>
          <p:nvCxnSpPr>
            <p:cNvPr id="15" name="Connector 14"/>
            <p:cNvCxnSpPr/>
            <p:nvPr/>
          </p:nvCxnSpPr>
          <p:spPr>
            <a:xfrm>
              <a:off x="5580703" y="2729436"/>
              <a:ext cx="0" cy="193179"/>
            </a:xfrm>
            <a:prstGeom prst="line">
              <a:avLst/>
            </a:prstGeom>
            <a:ln w="19317">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76197" y="2922615"/>
              <a:ext cx="2704506" cy="0"/>
            </a:xfrm>
            <a:prstGeom prst="line">
              <a:avLst/>
            </a:prstGeom>
            <a:ln w="19317">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876197" y="2922615"/>
              <a:ext cx="0" cy="128786"/>
            </a:xfrm>
            <a:prstGeom prst="line">
              <a:avLst/>
            </a:prstGeom>
            <a:ln w="19317">
              <a:solidFill>
                <a:srgbClr val="0B5FC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811804" y="3029937"/>
              <a:ext cx="128786" cy="128786"/>
            </a:xfrm>
            <a:custGeom>
              <a:avLst/>
              <a:gdLst/>
              <a:ahLst/>
              <a:cxnLst/>
              <a:rect l="l" t="t" r="r" b="b"/>
              <a:pathLst>
                <a:path w="128786" h="128786">
                  <a:moveTo>
                    <a:pt x="0" y="0"/>
                  </a:moveTo>
                  <a:lnTo>
                    <a:pt x="128786" y="0"/>
                  </a:lnTo>
                  <a:lnTo>
                    <a:pt x="64393" y="128786"/>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5838275" y="2729436"/>
              <a:ext cx="0" cy="193179"/>
            </a:xfrm>
            <a:prstGeom prst="line">
              <a:avLst/>
            </a:prstGeom>
            <a:ln w="19317">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38275" y="2922615"/>
              <a:ext cx="257573" cy="0"/>
            </a:xfrm>
            <a:prstGeom prst="line">
              <a:avLst/>
            </a:prstGeom>
            <a:ln w="19317">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5848" y="2922615"/>
              <a:ext cx="0" cy="128786"/>
            </a:xfrm>
            <a:prstGeom prst="line">
              <a:avLst/>
            </a:prstGeom>
            <a:ln w="19317">
              <a:solidFill>
                <a:srgbClr val="B45409"/>
              </a:solidFill>
            </a:ln>
          </p:spPr>
          <p:style>
            <a:lnRef idx="2">
              <a:schemeClr val="accent1"/>
            </a:lnRef>
            <a:fillRef idx="0">
              <a:schemeClr val="accent1"/>
            </a:fillRef>
            <a:effectRef idx="1">
              <a:schemeClr val="accent1"/>
            </a:effectRef>
            <a:fontRef idx="minor">
              <a:schemeClr val="tx1"/>
            </a:fontRef>
          </p:style>
        </p:cxnSp>
        <p:sp>
          <p:nvSpPr>
            <p:cNvPr id="22" name="Freeform 21"/>
            <p:cNvSpPr/>
            <p:nvPr/>
          </p:nvSpPr>
          <p:spPr>
            <a:xfrm>
              <a:off x="6031454" y="3029937"/>
              <a:ext cx="128787" cy="128786"/>
            </a:xfrm>
            <a:custGeom>
              <a:avLst/>
              <a:gdLst/>
              <a:ahLst/>
              <a:cxnLst/>
              <a:rect l="l" t="t" r="r" b="b"/>
              <a:pathLst>
                <a:path w="128787" h="128786">
                  <a:moveTo>
                    <a:pt x="0" y="0"/>
                  </a:moveTo>
                  <a:lnTo>
                    <a:pt x="128787" y="0"/>
                  </a:lnTo>
                  <a:lnTo>
                    <a:pt x="64394" y="128786"/>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6353420" y="2729436"/>
              <a:ext cx="0" cy="193179"/>
            </a:xfrm>
            <a:prstGeom prst="line">
              <a:avLst/>
            </a:prstGeom>
            <a:ln w="19317">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53420" y="2922615"/>
              <a:ext cx="2962078" cy="0"/>
            </a:xfrm>
            <a:prstGeom prst="line">
              <a:avLst/>
            </a:prstGeom>
            <a:ln w="19317">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15498" y="2922615"/>
              <a:ext cx="0" cy="128786"/>
            </a:xfrm>
            <a:prstGeom prst="line">
              <a:avLst/>
            </a:prstGeom>
            <a:ln w="19317">
              <a:solidFill>
                <a:srgbClr val="1A7F37"/>
              </a:solidFill>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9251105" y="3029937"/>
              <a:ext cx="128786" cy="128786"/>
            </a:xfrm>
            <a:custGeom>
              <a:avLst/>
              <a:gdLst/>
              <a:ahLst/>
              <a:cxnLst/>
              <a:rect l="l" t="t" r="r" b="b"/>
              <a:pathLst>
                <a:path w="128786" h="128786">
                  <a:moveTo>
                    <a:pt x="0" y="0"/>
                  </a:moveTo>
                  <a:lnTo>
                    <a:pt x="128786" y="0"/>
                  </a:lnTo>
                  <a:lnTo>
                    <a:pt x="64393" y="128786"/>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481015" y="3158723"/>
              <a:ext cx="2790364" cy="1008824"/>
            </a:xfrm>
            <a:prstGeom prst="roundRect">
              <a:avLst>
                <a:gd name="adj" fmla="val 9574"/>
              </a:avLst>
            </a:prstGeom>
            <a:solidFill>
              <a:srgbClr val="E3EEFB"/>
            </a:solidFill>
            <a:ln w="2146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18682" y="3248229"/>
              <a:ext cx="1115029" cy="209792"/>
            </a:xfrm>
            <a:prstGeom prst="rect">
              <a:avLst/>
            </a:prstGeom>
            <a:noFill/>
          </p:spPr>
          <p:txBody>
            <a:bodyPr wrap="none" anchor="ctr" lIns="0" rIns="0" tIns="0" bIns="0">
              <a:noAutofit/>
            </a:bodyPr>
            <a:lstStyle/>
            <a:p>
              <a:pPr algn="ctr"/>
              <a:r>
                <a:rPr sz="1140" b="1">
                  <a:solidFill>
                    <a:srgbClr val="083F80"/>
                  </a:solidFill>
                  <a:latin typeface="맑은 고딕"/>
                  <a:ea typeface="맑은 고딕"/>
                  <a:cs typeface="맑은 고딕"/>
                </a:rPr>
                <a:t>앞 글자 — 축 이름</a:t>
              </a:r>
            </a:p>
          </p:txBody>
        </p:sp>
        <p:sp>
          <p:nvSpPr>
            <p:cNvPr id="29" name="TextBox 28"/>
            <p:cNvSpPr txBox="1"/>
            <p:nvPr/>
          </p:nvSpPr>
          <p:spPr>
            <a:xfrm>
              <a:off x="2296080" y="3536924"/>
              <a:ext cx="1160233" cy="17094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b, l, e, f 같은 축의 이름</a:t>
              </a:r>
            </a:p>
          </p:txBody>
        </p:sp>
        <p:sp>
          <p:nvSpPr>
            <p:cNvPr id="30" name="TextBox 29"/>
            <p:cNvSpPr txBox="1"/>
            <p:nvPr/>
          </p:nvSpPr>
          <p:spPr>
            <a:xfrm>
              <a:off x="2456693" y="3773032"/>
              <a:ext cx="839009" cy="17094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소문자 = 축 이름</a:t>
              </a:r>
            </a:p>
          </p:txBody>
        </p:sp>
        <p:sp>
          <p:nvSpPr>
            <p:cNvPr id="31" name="Rounded Rectangle 30"/>
            <p:cNvSpPr/>
            <p:nvPr/>
          </p:nvSpPr>
          <p:spPr>
            <a:xfrm>
              <a:off x="4700666" y="3158723"/>
              <a:ext cx="2790364" cy="1008824"/>
            </a:xfrm>
            <a:prstGeom prst="roundRect">
              <a:avLst>
                <a:gd name="adj" fmla="val 9574"/>
              </a:avLst>
            </a:prstGeom>
            <a:solidFill>
              <a:srgbClr val="FDEBD3"/>
            </a:solidFill>
            <a:ln w="2146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76062" y="3248229"/>
              <a:ext cx="1439570" cy="209792"/>
            </a:xfrm>
            <a:prstGeom prst="rect">
              <a:avLst/>
            </a:prstGeom>
            <a:noFill/>
          </p:spPr>
          <p:txBody>
            <a:bodyPr wrap="none" anchor="ctr" lIns="0" rIns="0" tIns="0" bIns="0">
              <a:noAutofit/>
            </a:bodyPr>
            <a:lstStyle/>
            <a:p>
              <a:pPr algn="ctr"/>
              <a:r>
                <a:rPr sz="1140" b="1">
                  <a:solidFill>
                    <a:srgbClr val="B45409"/>
                  </a:solidFill>
                  <a:latin typeface="맑은 고딕"/>
                  <a:ea typeface="맑은 고딕"/>
                  <a:cs typeface="맑은 고딕"/>
                </a:rPr>
                <a:t>위첨자 — stride(보폭)</a:t>
              </a:r>
            </a:p>
          </p:txBody>
        </p:sp>
        <p:sp>
          <p:nvSpPr>
            <p:cNvPr id="33" name="TextBox 32"/>
            <p:cNvSpPr txBox="1"/>
            <p:nvPr/>
          </p:nvSpPr>
          <p:spPr>
            <a:xfrm>
              <a:off x="5491884" y="3536924"/>
              <a:ext cx="1207927" cy="17094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다음 조각으로 넘어갈 때</a:t>
              </a:r>
            </a:p>
          </p:txBody>
        </p:sp>
        <p:sp>
          <p:nvSpPr>
            <p:cNvPr id="34" name="TextBox 33"/>
            <p:cNvSpPr txBox="1"/>
            <p:nvPr/>
          </p:nvSpPr>
          <p:spPr>
            <a:xfrm>
              <a:off x="5370052" y="3773032"/>
              <a:ext cx="1451590" cy="17094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이 축에서 몇 칸을 건너뛰는가</a:t>
              </a:r>
            </a:p>
          </p:txBody>
        </p:sp>
        <p:sp>
          <p:nvSpPr>
            <p:cNvPr id="35" name="Rounded Rectangle 34"/>
            <p:cNvSpPr/>
            <p:nvPr/>
          </p:nvSpPr>
          <p:spPr>
            <a:xfrm>
              <a:off x="7920316" y="3158723"/>
              <a:ext cx="2790364" cy="1008824"/>
            </a:xfrm>
            <a:prstGeom prst="roundRect">
              <a:avLst>
                <a:gd name="adj" fmla="val 9574"/>
              </a:avLst>
            </a:prstGeom>
            <a:solidFill>
              <a:srgbClr val="E2F4E8"/>
            </a:solidFill>
            <a:ln w="2146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57519" y="3248229"/>
              <a:ext cx="915958" cy="209792"/>
            </a:xfrm>
            <a:prstGeom prst="rect">
              <a:avLst/>
            </a:prstGeom>
            <a:noFill/>
          </p:spPr>
          <p:txBody>
            <a:bodyPr wrap="none" anchor="ctr" lIns="0" rIns="0" tIns="0" bIns="0">
              <a:noAutofit/>
            </a:bodyPr>
            <a:lstStyle/>
            <a:p>
              <a:pPr algn="ctr"/>
              <a:r>
                <a:rPr sz="1140" b="1">
                  <a:solidFill>
                    <a:srgbClr val="1A7F37"/>
                  </a:solidFill>
                  <a:latin typeface="맑은 고딕"/>
                  <a:ea typeface="맑은 고딕"/>
                  <a:cs typeface="맑은 고딕"/>
                </a:rPr>
                <a:t>대괄호 — 개수</a:t>
              </a:r>
            </a:p>
          </p:txBody>
        </p:sp>
        <p:sp>
          <p:nvSpPr>
            <p:cNvPr id="37" name="TextBox 36"/>
            <p:cNvSpPr txBox="1"/>
            <p:nvPr/>
          </p:nvSpPr>
          <p:spPr>
            <a:xfrm>
              <a:off x="8445205" y="3536924"/>
              <a:ext cx="1740586" cy="17094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 왼쪽 → 몇 개 슬라이스에 나누나</a:t>
              </a:r>
            </a:p>
          </p:txBody>
        </p:sp>
        <p:sp>
          <p:nvSpPr>
            <p:cNvPr id="38" name="TextBox 37"/>
            <p:cNvSpPr txBox="1"/>
            <p:nvPr/>
          </p:nvSpPr>
          <p:spPr>
            <a:xfrm>
              <a:off x="8499510" y="3773032"/>
              <a:ext cx="1631976" cy="17094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 오른쪽 → 슬라이스 안의 칸 수</a:t>
              </a:r>
            </a:p>
          </p:txBody>
        </p:sp>
        <p:sp>
          <p:nvSpPr>
            <p:cNvPr id="39" name="Rounded Rectangle 38"/>
            <p:cNvSpPr/>
            <p:nvPr/>
          </p:nvSpPr>
          <p:spPr>
            <a:xfrm>
              <a:off x="1481015" y="4382190"/>
              <a:ext cx="5366084" cy="1159074"/>
            </a:xfrm>
            <a:prstGeom prst="roundRect">
              <a:avLst>
                <a:gd name="adj" fmla="val 8333"/>
              </a:avLst>
            </a:prstGeom>
            <a:solidFill>
              <a:srgbClr val="EEF2F7"/>
            </a:solidFill>
            <a:ln w="1502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74194" y="4484145"/>
              <a:ext cx="171715" cy="194252"/>
            </a:xfrm>
            <a:prstGeom prst="rect">
              <a:avLst/>
            </a:prstGeom>
            <a:noFill/>
          </p:spPr>
          <p:txBody>
            <a:bodyPr wrap="none" anchor="ctr" lIns="0" rIns="0" tIns="0" bIns="0">
              <a:noAutofit/>
            </a:bodyPr>
            <a:lstStyle/>
            <a:p>
              <a:pPr algn="l"/>
              <a:r>
                <a:rPr sz="1060" b="1">
                  <a:solidFill>
                    <a:srgbClr val="16202C"/>
                  </a:solidFill>
                  <a:latin typeface="맑은 고딕"/>
                  <a:ea typeface="맑은 고딕"/>
                  <a:cs typeface="맑은 고딕"/>
                </a:rPr>
                <a:t>예</a:t>
              </a:r>
            </a:p>
          </p:txBody>
        </p:sp>
        <p:sp>
          <p:nvSpPr>
            <p:cNvPr id="41" name="TextBox 40"/>
            <p:cNvSpPr txBox="1"/>
            <p:nvPr/>
          </p:nvSpPr>
          <p:spPr>
            <a:xfrm>
              <a:off x="1674194" y="4769406"/>
              <a:ext cx="2959503" cy="186482"/>
            </a:xfrm>
            <a:prstGeom prst="rect">
              <a:avLst/>
            </a:prstGeom>
            <a:noFill/>
          </p:spPr>
          <p:txBody>
            <a:bodyPr wrap="none" anchor="ctr" lIns="0" rIns="0" tIns="0" bIns="0">
              <a:noAutofit/>
            </a:bodyPr>
            <a:lstStyle/>
            <a:p>
              <a:pPr algn="l"/>
              <a:r>
                <a:rPr sz="919" b="0">
                  <a:solidFill>
                    <a:srgbClr val="16202C"/>
                  </a:solidFill>
                  <a:latin typeface="Consolas"/>
                  <a:ea typeface="Consolas"/>
                  <a:cs typeface="Consolas"/>
                </a:rPr>
                <a:t>b^2[2]      → b 축 보폭 2, 슬라이스 2개에 분할</a:t>
              </a:r>
            </a:p>
          </p:txBody>
        </p:sp>
        <p:sp>
          <p:nvSpPr>
            <p:cNvPr id="42" name="TextBox 41"/>
            <p:cNvSpPr txBox="1"/>
            <p:nvPr/>
          </p:nvSpPr>
          <p:spPr>
            <a:xfrm>
              <a:off x="1674194" y="5005514"/>
              <a:ext cx="2786929" cy="186482"/>
            </a:xfrm>
            <a:prstGeom prst="rect">
              <a:avLst/>
            </a:prstGeom>
            <a:noFill/>
          </p:spPr>
          <p:txBody>
            <a:bodyPr wrap="none" anchor="ctr" lIns="0" rIns="0" tIns="0" bIns="0">
              <a:noAutofit/>
            </a:bodyPr>
            <a:lstStyle/>
            <a:p>
              <a:pPr algn="l"/>
              <a:r>
                <a:rPr sz="919" b="0">
                  <a:solidFill>
                    <a:srgbClr val="16202C"/>
                  </a:solidFill>
                  <a:latin typeface="Consolas"/>
                  <a:ea typeface="Consolas"/>
                  <a:cs typeface="Consolas"/>
                </a:rPr>
                <a:t>e^(E/2)[2]  → e 축 보폭 E/2, 슬라이스 2개에</a:t>
              </a:r>
            </a:p>
          </p:txBody>
        </p:sp>
        <p:sp>
          <p:nvSpPr>
            <p:cNvPr id="43" name="TextBox 42"/>
            <p:cNvSpPr txBox="1"/>
            <p:nvPr/>
          </p:nvSpPr>
          <p:spPr>
            <a:xfrm>
              <a:off x="1674194" y="5241622"/>
              <a:ext cx="2766324" cy="186482"/>
            </a:xfrm>
            <a:prstGeom prst="rect">
              <a:avLst/>
            </a:prstGeom>
            <a:noFill/>
          </p:spPr>
          <p:txBody>
            <a:bodyPr wrap="none" anchor="ctr" lIns="0" rIns="0" tIns="0" bIns="0">
              <a:noAutofit/>
            </a:bodyPr>
            <a:lstStyle/>
            <a:p>
              <a:pPr algn="l"/>
              <a:r>
                <a:rPr sz="919" b="0">
                  <a:solidFill>
                    <a:srgbClr val="16202C"/>
                  </a:solidFill>
                  <a:latin typeface="Consolas"/>
                  <a:ea typeface="Consolas"/>
                  <a:cs typeface="Consolas"/>
                </a:rPr>
                <a:t>b^1[2]      → 슬라이스 안에서 b 가 2칸 연속</a:t>
              </a:r>
            </a:p>
          </p:txBody>
        </p:sp>
        <p:sp>
          <p:nvSpPr>
            <p:cNvPr id="44" name="Rounded Rectangle 43"/>
            <p:cNvSpPr/>
            <p:nvPr/>
          </p:nvSpPr>
          <p:spPr>
            <a:xfrm>
              <a:off x="7169064" y="4382190"/>
              <a:ext cx="3541616" cy="1159074"/>
            </a:xfrm>
            <a:prstGeom prst="roundRect">
              <a:avLst>
                <a:gd name="adj" fmla="val 8333"/>
              </a:avLst>
            </a:prstGeom>
            <a:solidFill>
              <a:srgbClr val="F4F8FD"/>
            </a:solidFill>
            <a:ln w="1717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2243" y="4484145"/>
              <a:ext cx="572427" cy="194252"/>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검산 규칙</a:t>
              </a:r>
            </a:p>
          </p:txBody>
        </p:sp>
        <p:sp>
          <p:nvSpPr>
            <p:cNvPr id="46" name="TextBox 45"/>
            <p:cNvSpPr txBox="1"/>
            <p:nvPr/>
          </p:nvSpPr>
          <p:spPr>
            <a:xfrm>
              <a:off x="7362243" y="4775631"/>
              <a:ext cx="1373911" cy="178712"/>
            </a:xfrm>
            <a:prstGeom prst="rect">
              <a:avLst/>
            </a:prstGeom>
            <a:noFill/>
          </p:spPr>
          <p:txBody>
            <a:bodyPr wrap="none" anchor="ctr" lIns="0" rIns="0" tIns="0" bIns="0">
              <a:noAutofit/>
            </a:bodyPr>
            <a:lstStyle/>
            <a:p>
              <a:pPr algn="l"/>
              <a:r>
                <a:rPr sz="969" b="0">
                  <a:solidFill>
                    <a:srgbClr val="16202C"/>
                  </a:solidFill>
                  <a:latin typeface="맑은 고딕"/>
                  <a:ea typeface="맑은 고딕"/>
                  <a:cs typeface="맑은 고딕"/>
                </a:rPr>
                <a:t>(슬라이스 안의 그 축 길이)</a:t>
              </a:r>
            </a:p>
          </p:txBody>
        </p:sp>
        <p:sp>
          <p:nvSpPr>
            <p:cNvPr id="47" name="TextBox 46"/>
            <p:cNvSpPr txBox="1"/>
            <p:nvPr/>
          </p:nvSpPr>
          <p:spPr>
            <a:xfrm>
              <a:off x="7362243" y="4990274"/>
              <a:ext cx="1524977" cy="178712"/>
            </a:xfrm>
            <a:prstGeom prst="rect">
              <a:avLst/>
            </a:prstGeom>
            <a:noFill/>
          </p:spPr>
          <p:txBody>
            <a:bodyPr wrap="none" anchor="ctr" lIns="0" rIns="0" tIns="0" bIns="0">
              <a:noAutofit/>
            </a:bodyPr>
            <a:lstStyle/>
            <a:p>
              <a:pPr algn="l"/>
              <a:r>
                <a:rPr sz="969" b="0">
                  <a:solidFill>
                    <a:srgbClr val="16202C"/>
                  </a:solidFill>
                  <a:latin typeface="맑은 고딕"/>
                  <a:ea typeface="맑은 고딕"/>
                  <a:cs typeface="맑은 고딕"/>
                </a:rPr>
                <a:t>× (그 축을 나눈 슬라이스 수)</a:t>
              </a:r>
            </a:p>
          </p:txBody>
        </p:sp>
        <p:sp>
          <p:nvSpPr>
            <p:cNvPr id="48" name="TextBox 47"/>
            <p:cNvSpPr txBox="1"/>
            <p:nvPr/>
          </p:nvSpPr>
          <p:spPr>
            <a:xfrm>
              <a:off x="7362243" y="5226382"/>
              <a:ext cx="1024139" cy="178712"/>
            </a:xfrm>
            <a:prstGeom prst="rect">
              <a:avLst/>
            </a:prstGeom>
            <a:noFill/>
          </p:spPr>
          <p:txBody>
            <a:bodyPr wrap="none" anchor="ctr" lIns="0" rIns="0" tIns="0" bIns="0">
              <a:noAutofit/>
            </a:bodyPr>
            <a:lstStyle/>
            <a:p>
              <a:pPr algn="l"/>
              <a:r>
                <a:rPr sz="969" b="1">
                  <a:solidFill>
                    <a:srgbClr val="0B5FC0"/>
                  </a:solidFill>
                  <a:latin typeface="맑은 고딕"/>
                  <a:ea typeface="맑은 고딕"/>
                  <a:cs typeface="맑은 고딕"/>
                </a:rPr>
                <a:t>= 원래 그 축의 길이</a:t>
              </a:r>
            </a:p>
          </p:txBody>
        </p:sp>
      </p:grpSp>
      <p:sp>
        <p:nvSpPr>
          <p:cNvPr id="49" name="Rectangle 4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위첨자는 보폭, 대괄호는 개수. 이 두 줄만 외우면 된다.</a:t>
            </a:r>
          </a:p>
        </p:txBody>
      </p:sp>
      <p:sp>
        <p:nvSpPr>
          <p:cNvPr id="50" name="Rectangle 4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표기 문법 한 글자씩 — b²[2] 읽는 법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축 이름 · 위첨자(보폭) · 대괄호(개수) — 모든 항은 예외 없이 세 조각이다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40</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논문 원문은 b², e^(E/2) 처럼 위첨자로 쓴다. 슬라이드의 예 상자에서는 읽기 쉽게 캐럿(^)으로 옮겨 적었다.</a:t>
            </a:r>
          </a:p>
          <a:p>
            <a:pPr algn="l">
              <a:lnSpc>
                <a:spcPct val="118000"/>
              </a:lnSpc>
              <a:spcBef>
                <a:spcPts val="600"/>
              </a:spcBef>
              <a:spcAft>
                <a:spcPts val="200"/>
              </a:spcAft>
            </a:pPr>
            <a:r>
              <a:rPr sz="1900" b="1" i="0">
                <a:solidFill>
                  <a:srgbClr val="083F80"/>
                </a:solidFill>
                <a:latin typeface="Segoe UI"/>
                <a:ea typeface="맑은 고딕"/>
                <a:cs typeface="맑은 고딕"/>
              </a:rPr>
              <a:t>▪  inter-slice 쪽 대괄호 숫자들을 전부 곱하면 그 텐서가 쓰는 총 슬라이스 수가 된다.</a:t>
            </a:r>
          </a:p>
          <a:p>
            <a:pPr algn="l">
              <a:lnSpc>
                <a:spcPct val="118000"/>
              </a:lnSpc>
              <a:spcBef>
                <a:spcPts val="600"/>
              </a:spcBef>
              <a:spcAft>
                <a:spcPts val="200"/>
              </a:spcAft>
            </a:pPr>
            <a:r>
              <a:rPr sz="1900" b="0" i="0">
                <a:solidFill>
                  <a:srgbClr val="16202C"/>
                </a:solidFill>
                <a:latin typeface="Segoe UI"/>
                <a:ea typeface="맑은 고딕"/>
                <a:cs typeface="맑은 고딕"/>
              </a:rPr>
              <a:t>▪  검산 규칙은 논문이 별도 문장으로 쓰지 않았지만, 논문이 제시한 수치들에서 그대로 성립하는 산술이다.</a:t>
            </a:r>
          </a:p>
          <a:p>
            <a:pPr algn="l">
              <a:lnSpc>
                <a:spcPct val="118000"/>
              </a:lnSpc>
              <a:spcBef>
                <a:spcPts val="600"/>
              </a:spcBef>
              <a:spcAft>
                <a:spcPts val="200"/>
              </a:spcAft>
            </a:pPr>
            <a:r>
              <a:rPr sz="1900" b="1" i="0">
                <a:solidFill>
                  <a:srgbClr val="083F80"/>
                </a:solidFill>
                <a:latin typeface="Segoe UI"/>
                <a:ea typeface="맑은 고딕"/>
                <a:cs typeface="맑은 고딕"/>
              </a:rPr>
              <a:t>▪  같은 축 문자가 │ 좌우에 모두 나올 수 있고, 그때 위첨자 값이 서로 다르다 (예: b²[2] │ b¹[2]).</a:t>
            </a:r>
          </a:p>
          <a:p>
            <a:pPr algn="l">
              <a:lnSpc>
                <a:spcPct val="118000"/>
              </a:lnSpc>
              <a:spcBef>
                <a:spcPts val="600"/>
              </a:spcBef>
              <a:spcAft>
                <a:spcPts val="200"/>
              </a:spcAft>
            </a:pPr>
            <a:r>
              <a:rPr sz="1900" b="0" i="0">
                <a:solidFill>
                  <a:srgbClr val="16202C"/>
                </a:solidFill>
                <a:latin typeface="Segoe UI"/>
                <a:ea typeface="맑은 고딕"/>
                <a:cs typeface="맑은 고딕"/>
              </a:rPr>
              <a:t>▪  lowered shape 과 tactic 은 이 문법을 그대로 공유한다. 다른 것은 뜻뿐이다 — 앞은 데이터 배치, 뒤는 루프 순서.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1: 하나의 텐서 (b × l × e) 를 4개 슬라이스로 내리는 세 가지 방법</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41</a:t>
            </a:r>
          </a:p>
        </p:txBody>
      </p:sp>
      <p:pic>
        <p:nvPicPr>
          <p:cNvPr id="8" name="Picture 7" descr="isca_fig1.png"/>
          <p:cNvPicPr>
            <a:picLocks noChangeAspect="1"/>
          </p:cNvPicPr>
          <p:nvPr/>
        </p:nvPicPr>
        <p:blipFill>
          <a:blip r:embed="rId2"/>
          <a:stretch>
            <a:fillRect/>
          </a:stretch>
        </p:blipFill>
        <p:spPr>
          <a:xfrm>
            <a:off x="2163707" y="1517904"/>
            <a:ext cx="7864280" cy="2728570"/>
          </a:xfrm>
          <a:prstGeom prst="rect">
            <a:avLst/>
          </a:prstGeom>
        </p:spPr>
      </p:pic>
      <p:sp>
        <p:nvSpPr>
          <p:cNvPr id="9" name="Rectangle 8"/>
          <p:cNvSpPr/>
          <p:nvPr/>
        </p:nvSpPr>
        <p:spPr>
          <a:xfrm>
            <a:off x="2163707" y="1517904"/>
            <a:ext cx="7864280" cy="2728570"/>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273906"/>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1 — TCP: A Tensor Contraction Processor for AI Workloads (ISCA 2024)</a:t>
            </a:r>
          </a:p>
        </p:txBody>
      </p:sp>
      <p:sp>
        <p:nvSpPr>
          <p:cNvPr id="11" name="TextBox 10"/>
          <p:cNvSpPr txBox="1"/>
          <p:nvPr/>
        </p:nvSpPr>
        <p:spPr>
          <a:xfrm>
            <a:off x="566928" y="4593946"/>
            <a:ext cx="11057839" cy="1678838"/>
          </a:xfrm>
          <a:prstGeom prst="rect">
            <a:avLst/>
          </a:prstGeom>
          <a:noFill/>
        </p:spPr>
        <p:txBody>
          <a:bodyPr wrap="square" anchor="t" lIns="0" rIns="0" tIns="0" bIns="0">
            <a:spAutoFit/>
          </a:bodyPr>
          <a:lstStyle/>
          <a:p>
            <a:pPr algn="l">
              <a:lnSpc>
                <a:spcPct val="118000"/>
              </a:lnSpc>
              <a:spcBef>
                <a:spcPts val="200"/>
              </a:spcBef>
              <a:spcAft>
                <a:spcPts val="200"/>
              </a:spcAft>
            </a:pPr>
            <a:r>
              <a:rPr sz="1200" b="1" i="0">
                <a:solidFill>
                  <a:srgbClr val="083F80"/>
                </a:solidFill>
                <a:latin typeface="Segoe UI"/>
                <a:ea typeface="맑은 고딕"/>
                <a:cs typeface="맑은 고딕"/>
              </a:rPr>
              <a:t>▪  공통 전제: 텐서 차원은 b = 4, l = 4, e = E 이고, 목표는 4개의 슬라이스(S0~S3)로 나누는 것이다.</a:t>
            </a:r>
          </a:p>
          <a:p>
            <a:pPr algn="l">
              <a:lnSpc>
                <a:spcPct val="118000"/>
              </a:lnSpc>
              <a:spcBef>
                <a:spcPts val="600"/>
              </a:spcBef>
              <a:spcAft>
                <a:spcPts val="200"/>
              </a:spcAft>
            </a:pPr>
            <a:r>
              <a:rPr sz="1200" b="0" i="0">
                <a:solidFill>
                  <a:srgbClr val="16202C"/>
                </a:solidFill>
                <a:latin typeface="Segoe UI"/>
                <a:ea typeface="맑은 고딕"/>
                <a:cs typeface="맑은 고딕"/>
              </a:rPr>
              <a:t>▪  위쪽 큐브의 빨간 선이 '자르는 면'이고, 아래 네 개의 상자 S0~S3 가 각 슬라이스가 실제로 갖는 내용물이다.</a:t>
            </a:r>
          </a:p>
          <a:p>
            <a:pPr algn="l">
              <a:lnSpc>
                <a:spcPct val="118000"/>
              </a:lnSpc>
              <a:spcBef>
                <a:spcPts val="600"/>
              </a:spcBef>
              <a:spcAft>
                <a:spcPts val="200"/>
              </a:spcAft>
            </a:pPr>
            <a:r>
              <a:rPr sz="1200" b="0" i="0">
                <a:solidFill>
                  <a:srgbClr val="16202C"/>
                </a:solidFill>
                <a:latin typeface="Segoe UI"/>
                <a:ea typeface="맑은 고딕"/>
                <a:cs typeface="맑은 고딕"/>
              </a:rPr>
              <a:t>▪  (a) b^2[2] e^(E/2)[2] | b^1[2] l^1[4] e^1[E/2] — b축과 e축을 모두 자른다. 2×2 = 4 슬라이스.</a:t>
            </a:r>
          </a:p>
          <a:p>
            <a:pPr algn="l">
              <a:lnSpc>
                <a:spcPct val="118000"/>
              </a:lnSpc>
              <a:spcBef>
                <a:spcPts val="200"/>
              </a:spcBef>
              <a:spcAft>
                <a:spcPts val="100"/>
              </a:spcAft>
            </a:pPr>
            <a:r>
              <a:rPr sz="1080" b="0" i="0">
                <a:solidFill>
                  <a:srgbClr val="2C3A4B"/>
                </a:solidFill>
                <a:latin typeface="Segoe UI"/>
                <a:ea typeface="맑은 고딕"/>
                <a:cs typeface="맑은 고딕"/>
              </a:rPr>
              <a:t>–  큐브가 가로(b)로 한 번, 세로(e)로 한 번 잘려 4등분된다. 슬라이스당 2 × 4 × E/2.</a:t>
            </a:r>
          </a:p>
          <a:p>
            <a:pPr algn="l">
              <a:lnSpc>
                <a:spcPct val="118000"/>
              </a:lnSpc>
              <a:spcBef>
                <a:spcPts val="600"/>
              </a:spcBef>
              <a:spcAft>
                <a:spcPts val="200"/>
              </a:spcAft>
            </a:pPr>
            <a:r>
              <a:rPr sz="1200" b="0" i="0">
                <a:solidFill>
                  <a:srgbClr val="16202C"/>
                </a:solidFill>
                <a:latin typeface="Segoe UI"/>
                <a:ea typeface="맑은 고딕"/>
                <a:cs typeface="맑은 고딕"/>
              </a:rPr>
              <a:t>▪  (b) b^1[4] | l^1[4] e^1[E] — b축만 4등분한다. 빨간 선 3개가 b 방향으로만 그어져 있다.</a:t>
            </a:r>
          </a:p>
          <a:p>
            <a:pPr algn="l">
              <a:lnSpc>
                <a:spcPct val="118000"/>
              </a:lnSpc>
              <a:spcBef>
                <a:spcPts val="200"/>
              </a:spcBef>
              <a:spcAft>
                <a:spcPts val="100"/>
              </a:spcAft>
            </a:pPr>
            <a:r>
              <a:rPr sz="1080" b="0" i="0">
                <a:solidFill>
                  <a:srgbClr val="2C3A4B"/>
                </a:solidFill>
                <a:latin typeface="Segoe UI"/>
                <a:ea typeface="맑은 고딕"/>
                <a:cs typeface="맑은 고딕"/>
              </a:rPr>
              <a:t>–  슬라이스당 1 × 4 × E. 즉 배치 원소 하나씩을 통째로 갖는다. e축은 전혀 안 잘렸으므로 슬라이스 안에 e^1[E] 로 전부 남는다.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1: 하나의 텐서 (b × l × e) 를 4개 슬라이스로 내리는 세 가지 방법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(c) e^(E/4)[4] | b^1[4] l^1[4] e^1[E/4] — e축만 4등분한다. 빨간 선이 e 방향으로만 그어져 있다.</a:t>
            </a:r>
          </a:p>
          <a:p>
            <a:pPr algn="l">
              <a:lnSpc>
                <a:spcPct val="118000"/>
              </a:lnSpc>
              <a:spcBef>
                <a:spcPts val="200"/>
              </a:spcBef>
              <a:spcAft>
                <a:spcPts val="100"/>
              </a:spcAft>
            </a:pPr>
            <a:r>
              <a:rPr sz="1780" b="0" i="0">
                <a:solidFill>
                  <a:srgbClr val="2C3A4B"/>
                </a:solidFill>
                <a:latin typeface="Segoe UI"/>
                <a:ea typeface="맑은 고딕"/>
                <a:cs typeface="맑은 고딕"/>
              </a:rPr>
              <a:t>–  슬라이스당 4 × 4 × E/4. b와 l은 안 잘렸으므로 각 슬라이스가 b, l 전체를 갖고 e만 1/4 토막씩 갖는다.</a:t>
            </a:r>
          </a:p>
          <a:p>
            <a:pPr algn="l">
              <a:lnSpc>
                <a:spcPct val="118000"/>
              </a:lnSpc>
              <a:spcBef>
                <a:spcPts val="600"/>
              </a:spcBef>
              <a:spcAft>
                <a:spcPts val="200"/>
              </a:spcAft>
            </a:pPr>
            <a:r>
              <a:rPr sz="1900" b="1" i="0">
                <a:solidFill>
                  <a:srgbClr val="083F80"/>
                </a:solidFill>
                <a:latin typeface="Segoe UI"/>
                <a:ea typeface="맑은 고딕"/>
                <a:cs typeface="맑은 고딕"/>
              </a:rPr>
              <a:t>▪  세 경우 모두 슬라이스 하나가 텐서의 1/4을 갖는다는 총량은 같다. 다른 것은 '어느 축을 잘랐는가'뿐이다.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텐서, 같은 4 슬라이스, 그러나 세 개의 전혀 다른 lowered shape.</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 (a) 정밀 해부 — 논문이 유일하게 문장으로 풀어 쓴 예</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0" i="0">
                <a:solidFill>
                  <a:srgbClr val="16202C"/>
                </a:solidFill>
                <a:latin typeface="Segoe UI"/>
                <a:ea typeface="맑은 고딕"/>
                <a:cs typeface="맑은 고딕"/>
              </a:rPr>
              <a:t>▪  논문 본문이 (a)를 다음과 같이 한 단계씩 설명한다.</a:t>
            </a:r>
          </a:p>
          <a:p>
            <a:pPr algn="l">
              <a:lnSpc>
                <a:spcPct val="118000"/>
              </a:lnSpc>
              <a:spcBef>
                <a:spcPts val="600"/>
              </a:spcBef>
              <a:spcAft>
                <a:spcPts val="200"/>
              </a:spcAft>
            </a:pPr>
            <a:r>
              <a:rPr sz="1700" b="1" i="0">
                <a:solidFill>
                  <a:srgbClr val="083F80"/>
                </a:solidFill>
                <a:latin typeface="Segoe UI"/>
                <a:ea typeface="맑은 고딕"/>
                <a:cs typeface="맑은 고딕"/>
              </a:rPr>
              <a:t>▪  1. b축과 e축을 따라 텐서를 분할한다 (we partition the tensor along the b and e axes).</a:t>
            </a:r>
          </a:p>
          <a:p>
            <a:pPr algn="l">
              <a:lnSpc>
                <a:spcPct val="118000"/>
              </a:lnSpc>
              <a:spcBef>
                <a:spcPts val="600"/>
              </a:spcBef>
              <a:spcAft>
                <a:spcPts val="200"/>
              </a:spcAft>
            </a:pPr>
            <a:r>
              <a:rPr sz="1700" b="1" i="0">
                <a:solidFill>
                  <a:srgbClr val="083F80"/>
                </a:solidFill>
                <a:latin typeface="Segoe UI"/>
                <a:ea typeface="맑은 고딕"/>
                <a:cs typeface="맑은 고딕"/>
              </a:rPr>
              <a:t>▪  2. b축 방향 분할은 step size 또는 stride 가 2다 → 그래서 b^2 라고 쓴다.</a:t>
            </a:r>
          </a:p>
          <a:p>
            <a:pPr algn="l">
              <a:lnSpc>
                <a:spcPct val="118000"/>
              </a:lnSpc>
              <a:spcBef>
                <a:spcPts val="200"/>
              </a:spcBef>
              <a:spcAft>
                <a:spcPts val="100"/>
              </a:spcAft>
            </a:pPr>
            <a:r>
              <a:rPr sz="1580" b="0" i="0">
                <a:solidFill>
                  <a:srgbClr val="2C3A4B"/>
                </a:solidFill>
                <a:latin typeface="Segoe UI"/>
                <a:ea typeface="맑은 고딕"/>
                <a:cs typeface="맑은 고딕"/>
              </a:rPr>
              <a:t>–  b = 4 를 2개로 나누므로 슬라이스 하나가 b를 2칸 가져간다 → 보폭이 2.</a:t>
            </a:r>
          </a:p>
          <a:p>
            <a:pPr algn="l">
              <a:lnSpc>
                <a:spcPct val="118000"/>
              </a:lnSpc>
              <a:spcBef>
                <a:spcPts val="600"/>
              </a:spcBef>
              <a:spcAft>
                <a:spcPts val="200"/>
              </a:spcAft>
            </a:pPr>
            <a:r>
              <a:rPr sz="1700" b="1" i="0">
                <a:solidFill>
                  <a:srgbClr val="083F80"/>
                </a:solidFill>
                <a:latin typeface="Segoe UI"/>
                <a:ea typeface="맑은 고딕"/>
                <a:cs typeface="맑은 고딕"/>
              </a:rPr>
              <a:t>▪  3. 그 분할은 2개의 슬라이스에 걸쳐 이루어진다 → 그래서 [2] 를 붙여 b^2[2].</a:t>
            </a:r>
          </a:p>
          <a:p>
            <a:pPr algn="l">
              <a:lnSpc>
                <a:spcPct val="118000"/>
              </a:lnSpc>
              <a:spcBef>
                <a:spcPts val="600"/>
              </a:spcBef>
              <a:spcAft>
                <a:spcPts val="200"/>
              </a:spcAft>
            </a:pPr>
            <a:r>
              <a:rPr sz="1700" b="1" i="0">
                <a:solidFill>
                  <a:srgbClr val="083F80"/>
                </a:solidFill>
                <a:latin typeface="Segoe UI"/>
                <a:ea typeface="맑은 고딕"/>
                <a:cs typeface="맑은 고딕"/>
              </a:rPr>
              <a:t>▪  4. e축도 똑같다. e축은 보폭이 E/2 이고 2개 슬라이스에 걸치므로 e^(E/2)[2].</a:t>
            </a:r>
          </a:p>
          <a:p>
            <a:pPr algn="l">
              <a:lnSpc>
                <a:spcPct val="118000"/>
              </a:lnSpc>
              <a:spcBef>
                <a:spcPts val="600"/>
              </a:spcBef>
              <a:spcAft>
                <a:spcPts val="200"/>
              </a:spcAft>
            </a:pPr>
            <a:r>
              <a:rPr sz="1700" b="1" i="0">
                <a:solidFill>
                  <a:srgbClr val="083F80"/>
                </a:solidFill>
                <a:latin typeface="Segoe UI"/>
                <a:ea typeface="맑은 고딕"/>
                <a:cs typeface="맑은 고딕"/>
              </a:rPr>
              <a:t>▪  5. 각 슬라이스는 텐서의 1/4 을 저장한다 (each slice stores a quarter of the tensor).</a:t>
            </a:r>
          </a:p>
          <a:p>
            <a:pPr algn="l">
              <a:lnSpc>
                <a:spcPct val="118000"/>
              </a:lnSpc>
              <a:spcBef>
                <a:spcPts val="600"/>
              </a:spcBef>
              <a:spcAft>
                <a:spcPts val="200"/>
              </a:spcAft>
            </a:pPr>
            <a:r>
              <a:rPr sz="1700" b="1" i="0">
                <a:solidFill>
                  <a:srgbClr val="083F80"/>
                </a:solidFill>
                <a:latin typeface="Segoe UI"/>
                <a:ea typeface="맑은 고딕"/>
                <a:cs typeface="맑은 고딕"/>
              </a:rPr>
              <a:t>▪  6. 네 슬라이스는 모두 같은 모양 2 × 4 × E/2 를 갖고, 각 축의 stride 는 1이다.</a:t>
            </a:r>
          </a:p>
          <a:p>
            <a:pPr algn="l">
              <a:lnSpc>
                <a:spcPct val="118000"/>
              </a:lnSpc>
              <a:spcBef>
                <a:spcPts val="600"/>
              </a:spcBef>
              <a:spcAft>
                <a:spcPts val="200"/>
              </a:spcAft>
            </a:pPr>
            <a:r>
              <a:rPr sz="1700" b="1" i="0">
                <a:solidFill>
                  <a:srgbClr val="083F80"/>
                </a:solidFill>
                <a:latin typeface="Segoe UI"/>
                <a:ea typeface="맑은 고딕"/>
                <a:cs typeface="맑은 고딕"/>
              </a:rPr>
              <a:t>▪  7. 따라서 intra-slice shape 은 b^1[2] l^1[4] e^1[E/2] 다.</a:t>
            </a:r>
          </a:p>
          <a:p>
            <a:pPr algn="l">
              <a:lnSpc>
                <a:spcPct val="118000"/>
              </a:lnSpc>
              <a:spcBef>
                <a:spcPts val="600"/>
              </a:spcBef>
              <a:spcAft>
                <a:spcPts val="200"/>
              </a:spcAft>
            </a:pPr>
            <a:r>
              <a:rPr sz="1700" b="0" i="0">
                <a:solidFill>
                  <a:srgbClr val="16202C"/>
                </a:solidFill>
                <a:latin typeface="Segoe UI"/>
                <a:ea typeface="맑은 고딕"/>
                <a:cs typeface="맑은 고딕"/>
              </a:rPr>
              <a:t>▪  완성형: b^2[2] e^(E/2)[2] | b^1[2] l^1[4] e^1[E/2]</a:t>
            </a:r>
          </a:p>
          <a:p>
            <a:pPr algn="l">
              <a:lnSpc>
                <a:spcPct val="118000"/>
              </a:lnSpc>
              <a:spcBef>
                <a:spcPts val="600"/>
              </a:spcBef>
              <a:spcAft>
                <a:spcPts val="200"/>
              </a:spcAft>
            </a:pPr>
            <a:r>
              <a:rPr sz="1700" b="0" i="0">
                <a:solidFill>
                  <a:srgbClr val="16202C"/>
                </a:solidFill>
                <a:latin typeface="Segoe UI"/>
                <a:ea typeface="맑은 고딕"/>
                <a:cs typeface="맑은 고딕"/>
              </a:rPr>
              <a:t>▪  검산: b는 2×2=4, l은 4×1=4, e는 (E/2)×2=E. 원래 텐서와 정확히 일치한다.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문자 b가 | 왼쪽에서는 b^2[2](분할 보폭 2), 오른쪽에서는 b^1[2](내부 연속 2칸)로 나타난다.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 (b) 읽기 — b축만 자른 경우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표기: b^1[4] | l^1[4] e^1[E]</a:t>
            </a:r>
          </a:p>
          <a:p>
            <a:pPr algn="l">
              <a:lnSpc>
                <a:spcPct val="118000"/>
              </a:lnSpc>
              <a:spcBef>
                <a:spcPts val="600"/>
              </a:spcBef>
              <a:spcAft>
                <a:spcPts val="200"/>
              </a:spcAft>
            </a:pPr>
            <a:r>
              <a:rPr sz="1700" b="0" i="0">
                <a:solidFill>
                  <a:srgbClr val="16202C"/>
                </a:solidFill>
                <a:latin typeface="Segoe UI"/>
                <a:ea typeface="맑은 고딕"/>
                <a:cs typeface="맑은 고딕"/>
              </a:rPr>
              <a:t>▪  논문 본문은 (b)를 별도의 문장으로 설명하지 않는다. 아래는 표기 규칙을 그대로 적용한 해독이다.</a:t>
            </a:r>
          </a:p>
          <a:p>
            <a:pPr algn="l">
              <a:lnSpc>
                <a:spcPct val="118000"/>
              </a:lnSpc>
              <a:spcBef>
                <a:spcPts val="600"/>
              </a:spcBef>
              <a:spcAft>
                <a:spcPts val="200"/>
              </a:spcAft>
            </a:pPr>
            <a:r>
              <a:rPr sz="1700" b="0" i="0">
                <a:solidFill>
                  <a:srgbClr val="16202C"/>
                </a:solidFill>
                <a:latin typeface="Segoe UI"/>
                <a:ea typeface="맑은 고딕"/>
                <a:cs typeface="맑은 고딕"/>
              </a:rPr>
              <a:t>▪  inter-slice 부분 b^1[4] : b축을 보폭 1로, 4개 슬라이스에 걸쳐 나눈다.</a:t>
            </a:r>
          </a:p>
          <a:p>
            <a:pPr algn="l">
              <a:lnSpc>
                <a:spcPct val="118000"/>
              </a:lnSpc>
              <a:spcBef>
                <a:spcPts val="200"/>
              </a:spcBef>
              <a:spcAft>
                <a:spcPts val="100"/>
              </a:spcAft>
            </a:pPr>
            <a:r>
              <a:rPr sz="1580" b="0" i="0">
                <a:solidFill>
                  <a:srgbClr val="2C3A4B"/>
                </a:solidFill>
                <a:latin typeface="Segoe UI"/>
                <a:ea typeface="맑은 고딕"/>
                <a:cs typeface="맑은 고딕"/>
              </a:rPr>
              <a:t>–  b = 4 를 4개로 나누므로 슬라이스 하나가 b를 1칸만 가져간다 → 보폭이 1.</a:t>
            </a:r>
          </a:p>
          <a:p>
            <a:pPr algn="l">
              <a:lnSpc>
                <a:spcPct val="118000"/>
              </a:lnSpc>
              <a:spcBef>
                <a:spcPts val="600"/>
              </a:spcBef>
              <a:spcAft>
                <a:spcPts val="200"/>
              </a:spcAft>
            </a:pPr>
            <a:r>
              <a:rPr sz="1700" b="0" i="0">
                <a:solidFill>
                  <a:srgbClr val="16202C"/>
                </a:solidFill>
                <a:latin typeface="Segoe UI"/>
                <a:ea typeface="맑은 고딕"/>
                <a:cs typeface="맑은 고딕"/>
              </a:rPr>
              <a:t>▪  intra-slice 부분 l^1[4] e^1[E] : 슬라이스 하나는 l 4칸, e E칸을 갖는다.</a:t>
            </a:r>
          </a:p>
          <a:p>
            <a:pPr algn="l">
              <a:lnSpc>
                <a:spcPct val="118000"/>
              </a:lnSpc>
              <a:spcBef>
                <a:spcPts val="200"/>
              </a:spcBef>
              <a:spcAft>
                <a:spcPts val="100"/>
              </a:spcAft>
            </a:pPr>
            <a:r>
              <a:rPr sz="1580" b="1" i="0">
                <a:solidFill>
                  <a:srgbClr val="2C3A4B"/>
                </a:solidFill>
                <a:latin typeface="Segoe UI"/>
                <a:ea typeface="맑은 고딕"/>
                <a:cs typeface="맑은 고딕"/>
              </a:rPr>
              <a:t>–  b 축이 intra-slice 쪽에 아예 나타나지 않는다 → 슬라이스당 b가 1이라 표기가 생략된 형태로 읽힌다.</a:t>
            </a:r>
          </a:p>
          <a:p>
            <a:pPr algn="l">
              <a:lnSpc>
                <a:spcPct val="118000"/>
              </a:lnSpc>
              <a:spcBef>
                <a:spcPts val="600"/>
              </a:spcBef>
              <a:spcAft>
                <a:spcPts val="200"/>
              </a:spcAft>
            </a:pPr>
            <a:r>
              <a:rPr sz="1700" b="0" i="0">
                <a:solidFill>
                  <a:srgbClr val="16202C"/>
                </a:solidFill>
                <a:latin typeface="Segoe UI"/>
                <a:ea typeface="맑은 고딕"/>
                <a:cs typeface="맑은 고딕"/>
              </a:rPr>
              <a:t>▪  슬라이스당 모양은 1 × 4 × E, 즉 배치 원소 하나를 통째로 하나의 슬라이스가 담당한다.</a:t>
            </a:r>
          </a:p>
          <a:p>
            <a:pPr algn="l">
              <a:lnSpc>
                <a:spcPct val="118000"/>
              </a:lnSpc>
              <a:spcBef>
                <a:spcPts val="600"/>
              </a:spcBef>
              <a:spcAft>
                <a:spcPts val="200"/>
              </a:spcAft>
            </a:pPr>
            <a:r>
              <a:rPr sz="1700" b="0" i="0">
                <a:solidFill>
                  <a:srgbClr val="16202C"/>
                </a:solidFill>
                <a:latin typeface="Segoe UI"/>
                <a:ea typeface="맑은 고딕"/>
                <a:cs typeface="맑은 고딕"/>
              </a:rPr>
              <a:t>▪  검산: b는 1×4=4, l은 4, e는 E. 원 텐서와 일치한다.</a:t>
            </a:r>
          </a:p>
          <a:p>
            <a:pPr algn="l">
              <a:lnSpc>
                <a:spcPct val="118000"/>
              </a:lnSpc>
              <a:spcBef>
                <a:spcPts val="600"/>
              </a:spcBef>
              <a:spcAft>
                <a:spcPts val="200"/>
              </a:spcAft>
            </a:pPr>
            <a:r>
              <a:rPr sz="1700" b="0" i="0">
                <a:solidFill>
                  <a:srgbClr val="16202C"/>
                </a:solidFill>
                <a:latin typeface="Segoe UI"/>
                <a:ea typeface="맑은 고딕"/>
                <a:cs typeface="맑은 고딕"/>
              </a:rPr>
              <a:t>▪  의미: e축(축약 대상)이 한 슬라이스 안에 전부 있으므로, 축약을 슬라이스 내부에서 끝낼 수 있는 배치다.</a:t>
            </a:r>
          </a:p>
          <a:p>
            <a:pPr algn="l">
              <a:lnSpc>
                <a:spcPct val="118000"/>
              </a:lnSpc>
              <a:spcBef>
                <a:spcPts val="200"/>
              </a:spcBef>
              <a:spcAft>
                <a:spcPts val="100"/>
              </a:spcAft>
            </a:pPr>
            <a:r>
              <a:rPr sz="1580" b="0" i="0">
                <a:solidFill>
                  <a:srgbClr val="2C3A4B"/>
                </a:solidFill>
                <a:latin typeface="Segoe UI"/>
                <a:ea typeface="맑은 고딕"/>
                <a:cs typeface="맑은 고딕"/>
              </a:rPr>
              <a:t>–  단, 이 해석에 대한 논문의 명시적 서술은 II절에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(b)는 '배치 병렬' 배치다. 슬라이스 하나 = 배치 원소 하나.</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 (c) 읽기 — e축만 자른 경우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표기: e^(E/4)[4] | b^1[4] l^1[4] e^1[E/4]</a:t>
            </a:r>
          </a:p>
          <a:p>
            <a:pPr algn="l">
              <a:lnSpc>
                <a:spcPct val="118000"/>
              </a:lnSpc>
              <a:spcBef>
                <a:spcPts val="600"/>
              </a:spcBef>
              <a:spcAft>
                <a:spcPts val="200"/>
              </a:spcAft>
            </a:pPr>
            <a:r>
              <a:rPr sz="1900" b="0" i="0">
                <a:solidFill>
                  <a:srgbClr val="16202C"/>
                </a:solidFill>
                <a:latin typeface="Segoe UI"/>
                <a:ea typeface="맑은 고딕"/>
                <a:cs typeface="맑은 고딕"/>
              </a:rPr>
              <a:t>▪  inter-slice 부분 e^(E/4)[4] : e축을 보폭 E/4 로, 4개 슬라이스에 걸쳐 나눈다.</a:t>
            </a:r>
          </a:p>
          <a:p>
            <a:pPr algn="l">
              <a:lnSpc>
                <a:spcPct val="118000"/>
              </a:lnSpc>
              <a:spcBef>
                <a:spcPts val="600"/>
              </a:spcBef>
              <a:spcAft>
                <a:spcPts val="200"/>
              </a:spcAft>
            </a:pPr>
            <a:r>
              <a:rPr sz="1900" b="0" i="0">
                <a:solidFill>
                  <a:srgbClr val="16202C"/>
                </a:solidFill>
                <a:latin typeface="Segoe UI"/>
                <a:ea typeface="맑은 고딕"/>
                <a:cs typeface="맑은 고딕"/>
              </a:rPr>
              <a:t>▪  intra-slice 부분 b^1[4] l^1[4] e^1[E/4] : 슬라이스 하나가 b 4칸, l 4칸, e E/4칸을 갖는다.</a:t>
            </a:r>
          </a:p>
          <a:p>
            <a:pPr algn="l">
              <a:lnSpc>
                <a:spcPct val="118000"/>
              </a:lnSpc>
              <a:spcBef>
                <a:spcPts val="600"/>
              </a:spcBef>
              <a:spcAft>
                <a:spcPts val="200"/>
              </a:spcAft>
            </a:pPr>
            <a:r>
              <a:rPr sz="1900" b="0" i="0">
                <a:solidFill>
                  <a:srgbClr val="16202C"/>
                </a:solidFill>
                <a:latin typeface="Segoe UI"/>
                <a:ea typeface="맑은 고딕"/>
                <a:cs typeface="맑은 고딕"/>
              </a:rPr>
              <a:t>▪  슬라이스당 모양은 4 × 4 × E/4. b와 l은 전혀 안 잘렸으므로 inter-slice 쪽에 등장하지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검산: b는 4, l은 4, e는 (E/4)×4 = E.</a:t>
            </a:r>
          </a:p>
          <a:p>
            <a:pPr algn="l">
              <a:lnSpc>
                <a:spcPct val="118000"/>
              </a:lnSpc>
              <a:spcBef>
                <a:spcPts val="600"/>
              </a:spcBef>
              <a:spcAft>
                <a:spcPts val="200"/>
              </a:spcAft>
            </a:pPr>
            <a:r>
              <a:rPr sz="1900" b="1" i="0">
                <a:solidFill>
                  <a:srgbClr val="083F80"/>
                </a:solidFill>
                <a:latin typeface="Segoe UI"/>
                <a:ea typeface="맑은 고딕"/>
                <a:cs typeface="맑은 고딕"/>
              </a:rPr>
              <a:t>▪  중요: 논문은 바로 이 (c)의 lowered shape 을 B절 tactic 예제의 입력 텐서 배치로 사용한다.</a:t>
            </a:r>
          </a:p>
          <a:p>
            <a:pPr algn="l">
              <a:lnSpc>
                <a:spcPct val="118000"/>
              </a:lnSpc>
              <a:spcBef>
                <a:spcPts val="600"/>
              </a:spcBef>
              <a:spcAft>
                <a:spcPts val="200"/>
              </a:spcAft>
            </a:pPr>
            <a:r>
              <a:rPr sz="1900" b="0" i="0">
                <a:solidFill>
                  <a:srgbClr val="16202C"/>
                </a:solidFill>
                <a:latin typeface="Segoe UI"/>
                <a:ea typeface="맑은 고딕"/>
                <a:cs typeface="맑은 고딕"/>
              </a:rPr>
              <a:t>▪  즉 (c)는 축약 대상 축인 e 자체가 슬라이스들에 쪼개진 배치다.</a:t>
            </a:r>
          </a:p>
          <a:p>
            <a:pPr algn="l">
              <a:lnSpc>
                <a:spcPct val="118000"/>
              </a:lnSpc>
              <a:spcBef>
                <a:spcPts val="200"/>
              </a:spcBef>
              <a:spcAft>
                <a:spcPts val="100"/>
              </a:spcAft>
            </a:pPr>
            <a:r>
              <a:rPr sz="1780" b="0" i="0">
                <a:solidFill>
                  <a:srgbClr val="2C3A4B"/>
                </a:solidFill>
                <a:latin typeface="Segoe UI"/>
                <a:ea typeface="맑은 고딕"/>
                <a:cs typeface="맑은 고딕"/>
              </a:rPr>
              <a:t>–  각 슬라이스는 자기가 가진 E/4 구간에 대해서만 곱셈-누산을 할 수 있다.</a:t>
            </a:r>
          </a:p>
          <a:p>
            <a:pPr algn="l">
              <a:lnSpc>
                <a:spcPct val="118000"/>
              </a:lnSpc>
              <a:spcBef>
                <a:spcPts val="600"/>
              </a:spcBef>
              <a:spcAft>
                <a:spcPts val="200"/>
              </a:spcAft>
            </a:pPr>
            <a:r>
              <a:rPr sz="1900" b="0" i="0">
                <a:solidFill>
                  <a:srgbClr val="16202C"/>
                </a:solidFill>
                <a:latin typeface="Segoe UI"/>
                <a:ea typeface="맑은 고딕"/>
                <a:cs typeface="맑은 고딕"/>
              </a:rPr>
              <a:t>▪  그림에서 s = 4 였던 것을 일반화해 다음 슬라이드부터 s(슬라이스 수)로 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(c)는 '축약 축 분할' 배치다. 그리고 이게 바로 tactic 예제의 무대다.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 (a)(b)(c) 한 장 비교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46</a:t>
            </a:r>
          </a:p>
        </p:txBody>
      </p:sp>
      <p:graphicFrame>
        <p:nvGraphicFramePr>
          <p:cNvPr id="8" name="Table 7"/>
          <p:cNvGraphicFramePr>
            <a:graphicFrameLocks noGrp="1"/>
          </p:cNvGraphicFramePr>
          <p:nvPr/>
        </p:nvGraphicFramePr>
        <p:xfrm>
          <a:off x="566928" y="1517904"/>
          <a:ext cx="11057838" cy="3072384"/>
        </p:xfrm>
        <a:graphic>
          <a:graphicData uri="http://schemas.openxmlformats.org/drawingml/2006/table">
            <a:tbl>
              <a:tblPr firstRow="1" bandRow="1">
                <a:tableStyleId>{5C22544A-7EE6-4342-B048-85BDC9FD1C3A}</a:tableStyleId>
              </a:tblPr>
              <a:tblGrid>
                <a:gridCol w="2112171"/>
                <a:gridCol w="3354625"/>
                <a:gridCol w="1739435"/>
                <a:gridCol w="3851607"/>
              </a:tblGrid>
              <a:tr h="384048">
                <a:tc>
                  <a:txBody>
                    <a:bodyPr wrap="square"/>
                    <a:lstStyle/>
                    <a:p>
                      <a:r>
                        <a:rPr sz="115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(a)</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(b)</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(c)</a:t>
                      </a:r>
                    </a:p>
                  </a:txBody>
                  <a:tcPr marL="73152" marR="73152" marT="27432" marB="27432">
                    <a:solidFill>
                      <a:srgbClr val="0B5FC0"/>
                    </a:solidFill>
                  </a:tcPr>
                </a:tc>
              </a:tr>
              <a:tr h="384048">
                <a:tc>
                  <a:txBody>
                    <a:bodyPr wrap="square"/>
                    <a:lstStyle/>
                    <a:p>
                      <a:r>
                        <a:rPr sz="1150" b="0" i="0">
                          <a:solidFill>
                            <a:srgbClr val="16202C"/>
                          </a:solidFill>
                          <a:latin typeface="Segoe UI"/>
                          <a:ea typeface="맑은 고딕"/>
                          <a:cs typeface="맑은 고딕"/>
                        </a:rPr>
                        <a:t>inter-slice 부분</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b^2[2] e^(E/2)[2]</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b^1[4]</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e^(E/4)[4]</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자른 축</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b 와 e</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b 만</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e 만</a:t>
                      </a:r>
                    </a:p>
                  </a:txBody>
                  <a:tcPr marL="73152" marR="73152" marT="27432" marB="27432">
                    <a:solidFill>
                      <a:srgbClr val="F6F9FC"/>
                    </a:solidFill>
                  </a:tcPr>
                </a:tc>
              </a:tr>
              <a:tr h="384048">
                <a:tc>
                  <a:txBody>
                    <a:bodyPr wrap="square"/>
                    <a:lstStyle/>
                    <a:p>
                      <a:r>
                        <a:rPr sz="1150" b="0" i="0">
                          <a:solidFill>
                            <a:srgbClr val="16202C"/>
                          </a:solidFill>
                          <a:latin typeface="Segoe UI"/>
                          <a:ea typeface="맑은 고딕"/>
                          <a:cs typeface="맑은 고딕"/>
                        </a:rPr>
                        <a:t>intra-slice 부분</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b^1[2] l^1[4] e^1[E/2]</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l^1[4] e^1[E]</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b^1[4] l^1[4] e^1[E/4]</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슬라이스당 모양</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2 × 4 × E/2</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1 × 4 × E</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4 × 4 × E/4</a:t>
                      </a:r>
                    </a:p>
                  </a:txBody>
                  <a:tcPr marL="73152" marR="73152" marT="27432" marB="27432">
                    <a:solidFill>
                      <a:srgbClr val="F6F9FC"/>
                    </a:solidFill>
                  </a:tcPr>
                </a:tc>
              </a:tr>
              <a:tr h="384048">
                <a:tc>
                  <a:txBody>
                    <a:bodyPr wrap="square"/>
                    <a:lstStyle/>
                    <a:p>
                      <a:r>
                        <a:rPr sz="1150" b="0" i="0">
                          <a:solidFill>
                            <a:srgbClr val="16202C"/>
                          </a:solidFill>
                          <a:latin typeface="Segoe UI"/>
                          <a:ea typeface="맑은 고딕"/>
                          <a:cs typeface="맑은 고딕"/>
                        </a:rPr>
                        <a:t>총 슬라이스 수</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2 × 2 = 4</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4</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슬라이스당 저장량</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텐서의 1/4</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텐서의 1/4</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텐서의 1/4</a:t>
                      </a:r>
                    </a:p>
                  </a:txBody>
                  <a:tcPr marL="73152" marR="73152" marT="27432" marB="27432">
                    <a:solidFill>
                      <a:srgbClr val="F6F9FC"/>
                    </a:solidFill>
                  </a:tcPr>
                </a:tc>
              </a:tr>
              <a:tr h="384048">
                <a:tc>
                  <a:txBody>
                    <a:bodyPr wrap="square"/>
                    <a:lstStyle/>
                    <a:p>
                      <a:r>
                        <a:rPr sz="1150" b="0" i="0">
                          <a:solidFill>
                            <a:srgbClr val="16202C"/>
                          </a:solidFill>
                          <a:latin typeface="Segoe UI"/>
                          <a:ea typeface="맑은 고딕"/>
                          <a:cs typeface="맑은 고딕"/>
                        </a:rPr>
                        <a:t>논문의 서술</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본문에서 단계별로 상세 설명</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별도 설명 없음</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B절 tactic 예제의 입력으로 사용</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저장량은 같고 재사용 구조가 다르다. 그래서 lowered shape 이 탐색 대상이 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B. Tactics — 정의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논문의 정의: "A tactic for contraction describes the order of computing axes, from the outermost to the innermost."</a:t>
            </a:r>
          </a:p>
          <a:p>
            <a:pPr algn="l">
              <a:lnSpc>
                <a:spcPct val="118000"/>
              </a:lnSpc>
              <a:spcBef>
                <a:spcPts val="600"/>
              </a:spcBef>
              <a:spcAft>
                <a:spcPts val="200"/>
              </a:spcAft>
            </a:pPr>
            <a:r>
              <a:rPr sz="1900" b="0" i="0">
                <a:solidFill>
                  <a:srgbClr val="16202C"/>
                </a:solidFill>
                <a:latin typeface="Segoe UI"/>
                <a:ea typeface="맑은 고딕"/>
                <a:cs typeface="맑은 고딕"/>
              </a:rPr>
              <a:t>▪  축약을 위한 tactic(택틱) 은 계산 축의 순서를 가장 바깥에서 가장 안쪽까지 기술한다.</a:t>
            </a:r>
          </a:p>
          <a:p>
            <a:pPr algn="l">
              <a:lnSpc>
                <a:spcPct val="118000"/>
              </a:lnSpc>
              <a:spcBef>
                <a:spcPts val="600"/>
              </a:spcBef>
              <a:spcAft>
                <a:spcPts val="200"/>
              </a:spcAft>
            </a:pPr>
            <a:r>
              <a:rPr sz="1900" b="0" i="0">
                <a:solidFill>
                  <a:srgbClr val="16202C"/>
                </a:solidFill>
                <a:latin typeface="Segoe UI"/>
                <a:ea typeface="맑은 고딕"/>
                <a:cs typeface="맑은 고딕"/>
              </a:rPr>
              <a:t>▪  즉 tactic 은 중첩 루프의 순서를 적어 놓은 것이다.</a:t>
            </a:r>
          </a:p>
          <a:p>
            <a:pPr algn="l">
              <a:lnSpc>
                <a:spcPct val="118000"/>
              </a:lnSpc>
              <a:spcBef>
                <a:spcPts val="600"/>
              </a:spcBef>
              <a:spcAft>
                <a:spcPts val="200"/>
              </a:spcAft>
            </a:pPr>
            <a:r>
              <a:rPr sz="1900" b="1" i="0">
                <a:solidFill>
                  <a:srgbClr val="083F80"/>
                </a:solidFill>
                <a:latin typeface="Segoe UI"/>
                <a:ea typeface="맑은 고딕"/>
                <a:cs typeface="맑은 고딕"/>
              </a:rPr>
              <a:t>▪  lowered shape 이 '데이터가 어디 있는가'라면, tactic 은 '그 데이터를 어떤 순서로 도는가'다.</a:t>
            </a:r>
          </a:p>
          <a:p>
            <a:pPr algn="l">
              <a:lnSpc>
                <a:spcPct val="118000"/>
              </a:lnSpc>
              <a:spcBef>
                <a:spcPts val="600"/>
              </a:spcBef>
              <a:spcAft>
                <a:spcPts val="200"/>
              </a:spcAft>
            </a:pPr>
            <a:r>
              <a:rPr sz="1900" b="0" i="0">
                <a:solidFill>
                  <a:srgbClr val="16202C"/>
                </a:solidFill>
                <a:latin typeface="Segoe UI"/>
                <a:ea typeface="맑은 고딕"/>
                <a:cs typeface="맑은 고딕"/>
              </a:rPr>
              <a:t>▪  tactic 도 lowered shape 과 똑같이 세로 막대 | 로 두 부분으로 나뉜다.</a:t>
            </a:r>
          </a:p>
          <a:p>
            <a:pPr algn="l">
              <a:lnSpc>
                <a:spcPct val="118000"/>
              </a:lnSpc>
              <a:spcBef>
                <a:spcPts val="200"/>
              </a:spcBef>
              <a:spcAft>
                <a:spcPts val="100"/>
              </a:spcAft>
            </a:pPr>
            <a:r>
              <a:rPr sz="1780" b="0" i="0">
                <a:solidFill>
                  <a:srgbClr val="2C3A4B"/>
                </a:solidFill>
                <a:latin typeface="Segoe UI"/>
                <a:ea typeface="맑은 고딕"/>
                <a:cs typeface="맑은 고딕"/>
              </a:rPr>
              <a:t>–  | 왼쪽 : 슬라이스들에 걸친 가장 바깥 루프 (병렬로 도는 부분)</a:t>
            </a:r>
          </a:p>
          <a:p>
            <a:pPr algn="l">
              <a:lnSpc>
                <a:spcPct val="118000"/>
              </a:lnSpc>
              <a:spcBef>
                <a:spcPts val="200"/>
              </a:spcBef>
              <a:spcAft>
                <a:spcPts val="100"/>
              </a:spcAft>
            </a:pPr>
            <a:r>
              <a:rPr sz="1780" b="1" i="0">
                <a:solidFill>
                  <a:srgbClr val="2C3A4B"/>
                </a:solidFill>
                <a:latin typeface="Segoe UI"/>
                <a:ea typeface="맑은 고딕"/>
                <a:cs typeface="맑은 고딕"/>
              </a:rPr>
              <a:t>–  | 오른쪽 : slice tactic(슬라이스 택틱) — 각 슬라이스가 내부에서 도는 나머지 루프들</a:t>
            </a:r>
          </a:p>
          <a:p>
            <a:pPr algn="l">
              <a:lnSpc>
                <a:spcPct val="118000"/>
              </a:lnSpc>
              <a:spcBef>
                <a:spcPts val="600"/>
              </a:spcBef>
              <a:spcAft>
                <a:spcPts val="200"/>
              </a:spcAft>
            </a:pPr>
            <a:r>
              <a:rPr sz="1900" b="0" i="0">
                <a:solidFill>
                  <a:srgbClr val="16202C"/>
                </a:solidFill>
                <a:latin typeface="Segoe UI"/>
                <a:ea typeface="맑은 고딕"/>
                <a:cs typeface="맑은 고딕"/>
              </a:rPr>
              <a:t>▪  쓰는 항의 문법은 lowered shape 과 동일하다. 축이름 ^ 보폭 [개수].</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tactic = 바깥에서 안쪽으로의 축 순서. 왼쪽은 병렬, 오른쪽은 순차.</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tactic 예제의 전제 — 세 텐서의 lowered shape</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48</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연산: ble,ef → blf / 입력 텐서는 Fig. 1 (c) 의 lowered shape 을 쓴다 / s = 슬라이스 수 (그림에서 s = 4)</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000" b="0" i="0">
                <a:solidFill>
                  <a:srgbClr val="E6EDF3"/>
                </a:solidFill>
                <a:latin typeface="Consolas"/>
                <a:ea typeface="Consolas"/>
                <a:cs typeface="Consolas"/>
              </a:rPr>
              <a:t>첫 번째 텐서 (b × l × e, 활성값)</a:t>
            </a:r>
          </a:p>
          <a:p>
            <a:pPr algn="l">
              <a:lnSpc>
                <a:spcPct val="124000"/>
              </a:lnSpc>
              <a:spcAft>
                <a:spcPts val="0"/>
              </a:spcAft>
            </a:pPr>
            <a:r>
              <a:rPr sz="1000" b="0" i="0">
                <a:solidFill>
                  <a:srgbClr val="E6EDF3"/>
                </a:solidFill>
                <a:latin typeface="Consolas"/>
                <a:ea typeface="Consolas"/>
                <a:cs typeface="Consolas"/>
              </a:rPr>
              <a:t>    e^(E/s)[s] | b^1[B] l^1[L] e^1[E/s]</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두 번째 텐서 (e × f, 가중치)</a:t>
            </a:r>
          </a:p>
          <a:p>
            <a:pPr algn="l">
              <a:lnSpc>
                <a:spcPct val="124000"/>
              </a:lnSpc>
              <a:spcAft>
                <a:spcPts val="0"/>
              </a:spcAft>
            </a:pPr>
            <a:r>
              <a:rPr sz="1000" b="0" i="0">
                <a:solidFill>
                  <a:srgbClr val="E6EDF3"/>
                </a:solidFill>
                <a:latin typeface="Consolas"/>
                <a:ea typeface="Consolas"/>
                <a:cs typeface="Consolas"/>
              </a:rPr>
              <a:t>    e^(E/s)[s] |        f^1[F] e^1[E/s]</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출력 텐서 (b × l × f)</a:t>
            </a:r>
          </a:p>
          <a:p>
            <a:pPr algn="l">
              <a:lnSpc>
                <a:spcPct val="124000"/>
              </a:lnSpc>
              <a:spcAft>
                <a:spcPts val="0"/>
              </a:spcAft>
            </a:pPr>
            <a:r>
              <a:rPr sz="1000" b="0" i="0">
                <a:solidFill>
                  <a:srgbClr val="E6EDF3"/>
                </a:solidFill>
                <a:latin typeface="Consolas"/>
                <a:ea typeface="Consolas"/>
                <a:cs typeface="Consolas"/>
              </a:rPr>
              <a:t>    f^(F/s)[s] | b^1[B] l^1[L] f^1[F/s]</a:t>
            </a:r>
          </a:p>
          <a:p>
            <a:pPr algn="l">
              <a:lnSpc>
                <a:spcPct val="124000"/>
              </a:lnSpc>
              <a:spcAft>
                <a:spcPts val="0"/>
              </a:spcAft>
            </a:pPr>
            <a:r>
              <a:rPr sz="1000" b="0" i="0">
                <a:solidFill>
                  <a:srgbClr val="E6EDF3"/>
                </a:solidFill>
                <a:latin typeface="Consolas"/>
                <a:ea typeface="Consolas"/>
                <a:cs typeface="Consolas"/>
              </a:rPr>
              <a:t> </a:t>
            </a:r>
          </a:p>
          <a:p>
            <a:pPr algn="l">
              <a:lnSpc>
                <a:spcPct val="124000"/>
              </a:lnSpc>
              <a:spcAft>
                <a:spcPts val="0"/>
              </a:spcAft>
            </a:pPr>
            <a:r>
              <a:rPr sz="1000" b="0" i="0">
                <a:solidFill>
                  <a:srgbClr val="E6EDF3"/>
                </a:solidFill>
                <a:latin typeface="Consolas"/>
                <a:ea typeface="Consolas"/>
                <a:cs typeface="Consolas"/>
              </a:rPr>
              <a:t>   B, L, E, F = 각 텐서 차원의 크기</a:t>
            </a:r>
          </a:p>
          <a:p>
            <a:pPr algn="l">
              <a:lnSpc>
                <a:spcPct val="124000"/>
              </a:lnSpc>
              <a:spcAft>
                <a:spcPts val="0"/>
              </a:spcAft>
            </a:pPr>
            <a:r>
              <a:rPr sz="1000" b="0" i="0">
                <a:solidFill>
                  <a:srgbClr val="E6EDF3"/>
                </a:solidFill>
                <a:latin typeface="Consolas"/>
                <a:ea typeface="Consolas"/>
                <a:cs typeface="Consolas"/>
              </a:rPr>
              <a:t>   s          = 슬라이스 개수 (그림에서 s = 4)</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첫 번째 텐서는 Fig. 1 (c) 를 s 로 일반화한 형태 그대로다. e축을 s개 슬라이스에 나눈다.</a:t>
            </a:r>
          </a:p>
          <a:p>
            <a:pPr algn="l">
              <a:lnSpc>
                <a:spcPct val="118000"/>
              </a:lnSpc>
              <a:spcBef>
                <a:spcPts val="600"/>
              </a:spcBef>
              <a:spcAft>
                <a:spcPts val="200"/>
              </a:spcAft>
            </a:pPr>
            <a:r>
              <a:rPr sz="1900" b="1" i="0">
                <a:solidFill>
                  <a:srgbClr val="083F80"/>
                </a:solidFill>
                <a:latin typeface="Segoe UI"/>
                <a:ea typeface="맑은 고딕"/>
                <a:cs typeface="맑은 고딕"/>
              </a:rPr>
              <a:t>▪  두 번째 텐서(가중치)도 같은 e축을 같은 방식 e^(E/s)[s] 로 나눈다.</a:t>
            </a:r>
          </a:p>
          <a:p>
            <a:pPr algn="l">
              <a:lnSpc>
                <a:spcPct val="118000"/>
              </a:lnSpc>
              <a:spcBef>
                <a:spcPts val="600"/>
              </a:spcBef>
              <a:spcAft>
                <a:spcPts val="200"/>
              </a:spcAft>
            </a:pPr>
            <a:r>
              <a:rPr sz="1900" b="1" i="0">
                <a:solidFill>
                  <a:srgbClr val="083F80"/>
                </a:solidFill>
                <a:latin typeface="Segoe UI"/>
                <a:ea typeface="맑은 고딕"/>
                <a:cs typeface="맑은 고딕"/>
              </a:rPr>
              <a:t>▪  출력만 다르다. 출력은 e가 사라진 대신 f축을 f^(F/s)[s] 로 s개 슬라이스에 나눈다.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두 입력이 e축을 '같은 방식으로' 쪼갠다는 점이 이 예제 설계의 핵심이다.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세 lowered shape 을 슬라이스에 그려 보면 — 그리고 논문이 말하지 않은 것</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슬라이스 k 는 활성값과 가중치의 같은 e 구간을 함께 갖는다. 그런데 출력은 f 로 쪼개진다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49</a:t>
            </a:r>
          </a:p>
        </p:txBody>
      </p:sp>
      <p:grpSp>
        <p:nvGrpSpPr>
          <p:cNvPr id="9" name="도해 A2#15"/>
          <p:cNvGrpSpPr/>
          <p:nvPr/>
        </p:nvGrpSpPr>
        <p:grpSpPr>
          <a:xfrm>
            <a:off x="2320527" y="1463040"/>
            <a:ext cx="7550641" cy="4078224"/>
            <a:chOff x="2320527" y="1463040"/>
            <a:chExt cx="7550641" cy="4078224"/>
          </a:xfrm>
        </p:grpSpPr>
        <p:sp>
          <p:nvSpPr>
            <p:cNvPr id="10" name="TextBox 9"/>
            <p:cNvSpPr txBox="1"/>
            <p:nvPr/>
          </p:nvSpPr>
          <p:spPr>
            <a:xfrm>
              <a:off x="4590054" y="1463040"/>
              <a:ext cx="3011586" cy="158915"/>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ble,ef → blf · 슬라이스 수 s = 4 · 두 입력이 e 축을 똑같이 나눈다</a:t>
              </a:r>
            </a:p>
          </p:txBody>
        </p:sp>
        <p:sp>
          <p:nvSpPr>
            <p:cNvPr id="11" name="Rounded Rectangle 10"/>
            <p:cNvSpPr/>
            <p:nvPr/>
          </p:nvSpPr>
          <p:spPr>
            <a:xfrm>
              <a:off x="2320527" y="1748384"/>
              <a:ext cx="1475009" cy="1615486"/>
            </a:xfrm>
            <a:prstGeom prst="roundRect">
              <a:avLst>
                <a:gd name="adj" fmla="val 5357"/>
              </a:avLst>
            </a:prstGeom>
            <a:solidFill>
              <a:srgbClr val="F7FAFD"/>
            </a:solidFill>
            <a:ln w="1580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65767" y="1826700"/>
              <a:ext cx="384530" cy="165271"/>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slice 0</a:t>
              </a:r>
            </a:p>
          </p:txBody>
        </p:sp>
        <p:sp>
          <p:nvSpPr>
            <p:cNvPr id="13" name="Rounded Rectangle 12"/>
            <p:cNvSpPr/>
            <p:nvPr/>
          </p:nvSpPr>
          <p:spPr>
            <a:xfrm>
              <a:off x="2425885" y="2064457"/>
              <a:ext cx="1264293" cy="544349"/>
            </a:xfrm>
            <a:prstGeom prst="roundRect">
              <a:avLst>
                <a:gd name="adj" fmla="val 9677"/>
              </a:avLst>
            </a:prstGeom>
            <a:solidFill>
              <a:srgbClr val="DCEBF9"/>
            </a:solidFill>
            <a:ln w="1053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66711" y="2128023"/>
              <a:ext cx="382642" cy="139845"/>
            </a:xfrm>
            <a:prstGeom prst="rect">
              <a:avLst/>
            </a:prstGeom>
            <a:noFill/>
          </p:spPr>
          <p:txBody>
            <a:bodyPr wrap="none" anchor="ctr" lIns="0" rIns="0" tIns="0" bIns="0">
              <a:noAutofit/>
            </a:bodyPr>
            <a:lstStyle/>
            <a:p>
              <a:pPr algn="ctr"/>
              <a:r>
                <a:rPr sz="760" b="1">
                  <a:solidFill>
                    <a:srgbClr val="083F80"/>
                  </a:solidFill>
                  <a:latin typeface="맑은 고딕"/>
                  <a:ea typeface="맑은 고딕"/>
                  <a:cs typeface="맑은 고딕"/>
                </a:rPr>
                <a:t>in0 조각</a:t>
              </a:r>
            </a:p>
          </p:txBody>
        </p:sp>
        <p:sp>
          <p:nvSpPr>
            <p:cNvPr id="15" name="TextBox 14"/>
            <p:cNvSpPr txBox="1"/>
            <p:nvPr/>
          </p:nvSpPr>
          <p:spPr>
            <a:xfrm>
              <a:off x="2711712" y="2280968"/>
              <a:ext cx="69264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B × L × E/s</a:t>
              </a:r>
            </a:p>
          </p:txBody>
        </p:sp>
        <p:sp>
          <p:nvSpPr>
            <p:cNvPr id="16" name="TextBox 15"/>
            <p:cNvSpPr txBox="1"/>
            <p:nvPr/>
          </p:nvSpPr>
          <p:spPr>
            <a:xfrm>
              <a:off x="2893103" y="2445501"/>
              <a:ext cx="329858"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e 구간 0</a:t>
              </a:r>
            </a:p>
          </p:txBody>
        </p:sp>
        <p:sp>
          <p:nvSpPr>
            <p:cNvPr id="17" name="TextBox 16"/>
            <p:cNvSpPr txBox="1"/>
            <p:nvPr/>
          </p:nvSpPr>
          <p:spPr>
            <a:xfrm>
              <a:off x="2986388" y="2574389"/>
              <a:ext cx="143287" cy="15255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a:t>
              </a:r>
            </a:p>
          </p:txBody>
        </p:sp>
        <p:sp>
          <p:nvSpPr>
            <p:cNvPr id="18" name="Rounded Rectangle 17"/>
            <p:cNvSpPr/>
            <p:nvPr/>
          </p:nvSpPr>
          <p:spPr>
            <a:xfrm>
              <a:off x="2425885" y="2714164"/>
              <a:ext cx="1264293" cy="544349"/>
            </a:xfrm>
            <a:prstGeom prst="roundRect">
              <a:avLst>
                <a:gd name="adj" fmla="val 9677"/>
              </a:avLst>
            </a:prstGeom>
            <a:solidFill>
              <a:srgbClr val="FDEBD3"/>
            </a:solidFill>
            <a:ln w="105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6711" y="2777729"/>
              <a:ext cx="382642" cy="139845"/>
            </a:xfrm>
            <a:prstGeom prst="rect">
              <a:avLst/>
            </a:prstGeom>
            <a:noFill/>
          </p:spPr>
          <p:txBody>
            <a:bodyPr wrap="none" anchor="ctr" lIns="0" rIns="0" tIns="0" bIns="0">
              <a:noAutofit/>
            </a:bodyPr>
            <a:lstStyle/>
            <a:p>
              <a:pPr algn="ctr"/>
              <a:r>
                <a:rPr sz="760" b="1">
                  <a:solidFill>
                    <a:srgbClr val="B45409"/>
                  </a:solidFill>
                  <a:latin typeface="맑은 고딕"/>
                  <a:ea typeface="맑은 고딕"/>
                  <a:cs typeface="맑은 고딕"/>
                </a:rPr>
                <a:t>in1 조각</a:t>
              </a:r>
            </a:p>
          </p:txBody>
        </p:sp>
        <p:sp>
          <p:nvSpPr>
            <p:cNvPr id="20" name="TextBox 19"/>
            <p:cNvSpPr txBox="1"/>
            <p:nvPr/>
          </p:nvSpPr>
          <p:spPr>
            <a:xfrm>
              <a:off x="2837922" y="2930674"/>
              <a:ext cx="44022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E/s × F</a:t>
              </a:r>
            </a:p>
          </p:txBody>
        </p:sp>
        <p:sp>
          <p:nvSpPr>
            <p:cNvPr id="21" name="TextBox 20"/>
            <p:cNvSpPr txBox="1"/>
            <p:nvPr/>
          </p:nvSpPr>
          <p:spPr>
            <a:xfrm>
              <a:off x="2802495" y="3095208"/>
              <a:ext cx="511073"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같은 e 구간 0</a:t>
              </a:r>
            </a:p>
          </p:txBody>
        </p:sp>
        <p:cxnSp>
          <p:nvCxnSpPr>
            <p:cNvPr id="22" name="Connector 21"/>
            <p:cNvCxnSpPr/>
            <p:nvPr/>
          </p:nvCxnSpPr>
          <p:spPr>
            <a:xfrm>
              <a:off x="3058032" y="3381430"/>
              <a:ext cx="0" cy="175596"/>
            </a:xfrm>
            <a:prstGeom prst="line">
              <a:avLst/>
            </a:prstGeom>
            <a:ln w="15803">
              <a:solidFill>
                <a:srgbClr val="5B6B7B"/>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3005353" y="3521907"/>
              <a:ext cx="105357" cy="105357"/>
            </a:xfrm>
            <a:custGeom>
              <a:avLst/>
              <a:gdLst/>
              <a:ahLst/>
              <a:cxnLst/>
              <a:rect l="l" t="t" r="r" b="b"/>
              <a:pathLst>
                <a:path w="105357" h="105357">
                  <a:moveTo>
                    <a:pt x="0" y="0"/>
                  </a:moveTo>
                  <a:lnTo>
                    <a:pt x="105357" y="0"/>
                  </a:lnTo>
                  <a:lnTo>
                    <a:pt x="52679" y="105357"/>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25885" y="3644824"/>
              <a:ext cx="1264293" cy="456550"/>
            </a:xfrm>
            <a:prstGeom prst="roundRect">
              <a:avLst>
                <a:gd name="adj" fmla="val 11538"/>
              </a:avLst>
            </a:prstGeom>
            <a:solidFill>
              <a:srgbClr val="EEF2F7"/>
            </a:solidFill>
            <a:ln w="1229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67918" y="3725949"/>
              <a:ext cx="380227" cy="139845"/>
            </a:xfrm>
            <a:prstGeom prst="rect">
              <a:avLst/>
            </a:prstGeom>
            <a:noFill/>
          </p:spPr>
          <p:txBody>
            <a:bodyPr wrap="none" anchor="ctr" lIns="0" rIns="0" tIns="0" bIns="0">
              <a:noAutofit/>
            </a:bodyPr>
            <a:lstStyle/>
            <a:p>
              <a:pPr algn="ctr"/>
              <a:r>
                <a:rPr sz="760" b="1">
                  <a:solidFill>
                    <a:srgbClr val="16202C"/>
                  </a:solidFill>
                  <a:latin typeface="맑은 고딕"/>
                  <a:ea typeface="맑은 고딕"/>
                  <a:cs typeface="맑은 고딕"/>
                </a:rPr>
                <a:t>부분합 0</a:t>
              </a:r>
            </a:p>
          </p:txBody>
        </p:sp>
        <p:sp>
          <p:nvSpPr>
            <p:cNvPr id="26" name="TextBox 25"/>
            <p:cNvSpPr txBox="1"/>
            <p:nvPr/>
          </p:nvSpPr>
          <p:spPr>
            <a:xfrm>
              <a:off x="2787921" y="3889078"/>
              <a:ext cx="540222" cy="133488"/>
            </a:xfrm>
            <a:prstGeom prst="rect">
              <a:avLst/>
            </a:prstGeom>
            <a:noFill/>
          </p:spPr>
          <p:txBody>
            <a:bodyPr wrap="none" anchor="ctr" lIns="0" rIns="0" tIns="0" bIns="0">
              <a:noAutofit/>
            </a:bodyPr>
            <a:lstStyle/>
            <a:p>
              <a:pPr algn="ctr"/>
              <a:r>
                <a:rPr sz="660" b="0">
                  <a:solidFill>
                    <a:srgbClr val="5B6B7B"/>
                  </a:solidFill>
                  <a:latin typeface="Consolas"/>
                  <a:ea typeface="Consolas"/>
                  <a:cs typeface="Consolas"/>
                </a:rPr>
                <a:t>B × L × F</a:t>
              </a:r>
            </a:p>
          </p:txBody>
        </p:sp>
        <p:cxnSp>
          <p:nvCxnSpPr>
            <p:cNvPr id="27" name="Connector 26"/>
            <p:cNvCxnSpPr/>
            <p:nvPr/>
          </p:nvCxnSpPr>
          <p:spPr>
            <a:xfrm>
              <a:off x="3058032" y="4118934"/>
              <a:ext cx="0" cy="70239"/>
            </a:xfrm>
            <a:prstGeom prst="line">
              <a:avLst/>
            </a:prstGeom>
            <a:ln w="15803">
              <a:solidFill>
                <a:srgbClr val="B4222A"/>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3014132" y="4162833"/>
              <a:ext cx="87799" cy="87798"/>
            </a:xfrm>
            <a:custGeom>
              <a:avLst/>
              <a:gdLst/>
              <a:ahLst/>
              <a:cxnLst/>
              <a:rect l="l" t="t" r="r" b="b"/>
              <a:pathLst>
                <a:path w="87799" h="87798">
                  <a:moveTo>
                    <a:pt x="0" y="0"/>
                  </a:moveTo>
                  <a:lnTo>
                    <a:pt x="87799" y="0"/>
                  </a:lnTo>
                  <a:lnTo>
                    <a:pt x="43900" y="8779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00894" y="1748384"/>
              <a:ext cx="1475009" cy="1615486"/>
            </a:xfrm>
            <a:prstGeom prst="roundRect">
              <a:avLst>
                <a:gd name="adj" fmla="val 5357"/>
              </a:avLst>
            </a:prstGeom>
            <a:solidFill>
              <a:srgbClr val="F7FAFD"/>
            </a:solidFill>
            <a:ln w="1580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46133" y="1826700"/>
              <a:ext cx="384530" cy="165271"/>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slice 1</a:t>
              </a:r>
            </a:p>
          </p:txBody>
        </p:sp>
        <p:sp>
          <p:nvSpPr>
            <p:cNvPr id="31" name="Rounded Rectangle 30"/>
            <p:cNvSpPr/>
            <p:nvPr/>
          </p:nvSpPr>
          <p:spPr>
            <a:xfrm>
              <a:off x="4006252" y="2064457"/>
              <a:ext cx="1264293" cy="544349"/>
            </a:xfrm>
            <a:prstGeom prst="roundRect">
              <a:avLst>
                <a:gd name="adj" fmla="val 9677"/>
              </a:avLst>
            </a:prstGeom>
            <a:solidFill>
              <a:srgbClr val="DCEBF9"/>
            </a:solidFill>
            <a:ln w="1053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7077" y="2128023"/>
              <a:ext cx="382642" cy="139845"/>
            </a:xfrm>
            <a:prstGeom prst="rect">
              <a:avLst/>
            </a:prstGeom>
            <a:noFill/>
          </p:spPr>
          <p:txBody>
            <a:bodyPr wrap="none" anchor="ctr" lIns="0" rIns="0" tIns="0" bIns="0">
              <a:noAutofit/>
            </a:bodyPr>
            <a:lstStyle/>
            <a:p>
              <a:pPr algn="ctr"/>
              <a:r>
                <a:rPr sz="760" b="1">
                  <a:solidFill>
                    <a:srgbClr val="083F80"/>
                  </a:solidFill>
                  <a:latin typeface="맑은 고딕"/>
                  <a:ea typeface="맑은 고딕"/>
                  <a:cs typeface="맑은 고딕"/>
                </a:rPr>
                <a:t>in0 조각</a:t>
              </a:r>
            </a:p>
          </p:txBody>
        </p:sp>
        <p:sp>
          <p:nvSpPr>
            <p:cNvPr id="33" name="TextBox 32"/>
            <p:cNvSpPr txBox="1"/>
            <p:nvPr/>
          </p:nvSpPr>
          <p:spPr>
            <a:xfrm>
              <a:off x="4292078" y="2280968"/>
              <a:ext cx="69264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B × L × E/s</a:t>
              </a:r>
            </a:p>
          </p:txBody>
        </p:sp>
        <p:sp>
          <p:nvSpPr>
            <p:cNvPr id="34" name="TextBox 33"/>
            <p:cNvSpPr txBox="1"/>
            <p:nvPr/>
          </p:nvSpPr>
          <p:spPr>
            <a:xfrm>
              <a:off x="4473469" y="2445501"/>
              <a:ext cx="329858"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e 구간 1</a:t>
              </a:r>
            </a:p>
          </p:txBody>
        </p:sp>
        <p:sp>
          <p:nvSpPr>
            <p:cNvPr id="35" name="TextBox 34"/>
            <p:cNvSpPr txBox="1"/>
            <p:nvPr/>
          </p:nvSpPr>
          <p:spPr>
            <a:xfrm>
              <a:off x="4566755" y="2574389"/>
              <a:ext cx="143287" cy="15255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a:t>
              </a:r>
            </a:p>
          </p:txBody>
        </p:sp>
        <p:sp>
          <p:nvSpPr>
            <p:cNvPr id="36" name="Rounded Rectangle 35"/>
            <p:cNvSpPr/>
            <p:nvPr/>
          </p:nvSpPr>
          <p:spPr>
            <a:xfrm>
              <a:off x="4006252" y="2714164"/>
              <a:ext cx="1264293" cy="544349"/>
            </a:xfrm>
            <a:prstGeom prst="roundRect">
              <a:avLst>
                <a:gd name="adj" fmla="val 9677"/>
              </a:avLst>
            </a:prstGeom>
            <a:solidFill>
              <a:srgbClr val="FDEBD3"/>
            </a:solidFill>
            <a:ln w="105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47077" y="2777729"/>
              <a:ext cx="382642" cy="139845"/>
            </a:xfrm>
            <a:prstGeom prst="rect">
              <a:avLst/>
            </a:prstGeom>
            <a:noFill/>
          </p:spPr>
          <p:txBody>
            <a:bodyPr wrap="none" anchor="ctr" lIns="0" rIns="0" tIns="0" bIns="0">
              <a:noAutofit/>
            </a:bodyPr>
            <a:lstStyle/>
            <a:p>
              <a:pPr algn="ctr"/>
              <a:r>
                <a:rPr sz="760" b="1">
                  <a:solidFill>
                    <a:srgbClr val="B45409"/>
                  </a:solidFill>
                  <a:latin typeface="맑은 고딕"/>
                  <a:ea typeface="맑은 고딕"/>
                  <a:cs typeface="맑은 고딕"/>
                </a:rPr>
                <a:t>in1 조각</a:t>
              </a:r>
            </a:p>
          </p:txBody>
        </p:sp>
        <p:sp>
          <p:nvSpPr>
            <p:cNvPr id="38" name="TextBox 37"/>
            <p:cNvSpPr txBox="1"/>
            <p:nvPr/>
          </p:nvSpPr>
          <p:spPr>
            <a:xfrm>
              <a:off x="4418288" y="2930674"/>
              <a:ext cx="44022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E/s × F</a:t>
              </a:r>
            </a:p>
          </p:txBody>
        </p:sp>
        <p:sp>
          <p:nvSpPr>
            <p:cNvPr id="39" name="TextBox 38"/>
            <p:cNvSpPr txBox="1"/>
            <p:nvPr/>
          </p:nvSpPr>
          <p:spPr>
            <a:xfrm>
              <a:off x="4382862" y="3095208"/>
              <a:ext cx="511073"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같은 e 구간 1</a:t>
              </a:r>
            </a:p>
          </p:txBody>
        </p:sp>
        <p:cxnSp>
          <p:nvCxnSpPr>
            <p:cNvPr id="40" name="Connector 39"/>
            <p:cNvCxnSpPr/>
            <p:nvPr/>
          </p:nvCxnSpPr>
          <p:spPr>
            <a:xfrm>
              <a:off x="4638398" y="3381430"/>
              <a:ext cx="0" cy="175596"/>
            </a:xfrm>
            <a:prstGeom prst="line">
              <a:avLst/>
            </a:prstGeom>
            <a:ln w="15803">
              <a:solidFill>
                <a:srgbClr val="5B6B7B"/>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4585719" y="3521907"/>
              <a:ext cx="105358" cy="105357"/>
            </a:xfrm>
            <a:custGeom>
              <a:avLst/>
              <a:gdLst/>
              <a:ahLst/>
              <a:cxnLst/>
              <a:rect l="l" t="t" r="r" b="b"/>
              <a:pathLst>
                <a:path w="105358" h="105357">
                  <a:moveTo>
                    <a:pt x="0" y="0"/>
                  </a:moveTo>
                  <a:lnTo>
                    <a:pt x="105358" y="0"/>
                  </a:lnTo>
                  <a:lnTo>
                    <a:pt x="52679" y="105357"/>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006252" y="3644824"/>
              <a:ext cx="1264293" cy="456550"/>
            </a:xfrm>
            <a:prstGeom prst="roundRect">
              <a:avLst>
                <a:gd name="adj" fmla="val 11538"/>
              </a:avLst>
            </a:prstGeom>
            <a:solidFill>
              <a:srgbClr val="EEF2F7"/>
            </a:solidFill>
            <a:ln w="1229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48285" y="3725949"/>
              <a:ext cx="380227" cy="139845"/>
            </a:xfrm>
            <a:prstGeom prst="rect">
              <a:avLst/>
            </a:prstGeom>
            <a:noFill/>
          </p:spPr>
          <p:txBody>
            <a:bodyPr wrap="none" anchor="ctr" lIns="0" rIns="0" tIns="0" bIns="0">
              <a:noAutofit/>
            </a:bodyPr>
            <a:lstStyle/>
            <a:p>
              <a:pPr algn="ctr"/>
              <a:r>
                <a:rPr sz="760" b="1">
                  <a:solidFill>
                    <a:srgbClr val="16202C"/>
                  </a:solidFill>
                  <a:latin typeface="맑은 고딕"/>
                  <a:ea typeface="맑은 고딕"/>
                  <a:cs typeface="맑은 고딕"/>
                </a:rPr>
                <a:t>부분합 1</a:t>
              </a:r>
            </a:p>
          </p:txBody>
        </p:sp>
        <p:sp>
          <p:nvSpPr>
            <p:cNvPr id="44" name="TextBox 43"/>
            <p:cNvSpPr txBox="1"/>
            <p:nvPr/>
          </p:nvSpPr>
          <p:spPr>
            <a:xfrm>
              <a:off x="4368287" y="3889078"/>
              <a:ext cx="540222" cy="133488"/>
            </a:xfrm>
            <a:prstGeom prst="rect">
              <a:avLst/>
            </a:prstGeom>
            <a:noFill/>
          </p:spPr>
          <p:txBody>
            <a:bodyPr wrap="none" anchor="ctr" lIns="0" rIns="0" tIns="0" bIns="0">
              <a:noAutofit/>
            </a:bodyPr>
            <a:lstStyle/>
            <a:p>
              <a:pPr algn="ctr"/>
              <a:r>
                <a:rPr sz="660" b="0">
                  <a:solidFill>
                    <a:srgbClr val="5B6B7B"/>
                  </a:solidFill>
                  <a:latin typeface="Consolas"/>
                  <a:ea typeface="Consolas"/>
                  <a:cs typeface="Consolas"/>
                </a:rPr>
                <a:t>B × L × F</a:t>
              </a:r>
            </a:p>
          </p:txBody>
        </p:sp>
        <p:cxnSp>
          <p:nvCxnSpPr>
            <p:cNvPr id="45" name="Connector 44"/>
            <p:cNvCxnSpPr/>
            <p:nvPr/>
          </p:nvCxnSpPr>
          <p:spPr>
            <a:xfrm>
              <a:off x="4638398" y="4118934"/>
              <a:ext cx="0" cy="70239"/>
            </a:xfrm>
            <a:prstGeom prst="line">
              <a:avLst/>
            </a:prstGeom>
            <a:ln w="15803">
              <a:solidFill>
                <a:srgbClr val="B4222A"/>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594499" y="4162833"/>
              <a:ext cx="87798" cy="87798"/>
            </a:xfrm>
            <a:custGeom>
              <a:avLst/>
              <a:gdLst/>
              <a:ahLst/>
              <a:cxnLst/>
              <a:rect l="l" t="t" r="r" b="b"/>
              <a:pathLst>
                <a:path w="87798" h="87798">
                  <a:moveTo>
                    <a:pt x="0" y="0"/>
                  </a:moveTo>
                  <a:lnTo>
                    <a:pt x="87798" y="0"/>
                  </a:lnTo>
                  <a:lnTo>
                    <a:pt x="43899" y="8779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481260" y="1748384"/>
              <a:ext cx="1475009" cy="1615486"/>
            </a:xfrm>
            <a:prstGeom prst="roundRect">
              <a:avLst>
                <a:gd name="adj" fmla="val 5357"/>
              </a:avLst>
            </a:prstGeom>
            <a:solidFill>
              <a:srgbClr val="F7FAFD"/>
            </a:solidFill>
            <a:ln w="1580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26500" y="1826700"/>
              <a:ext cx="384530" cy="165271"/>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slice 2</a:t>
              </a:r>
            </a:p>
          </p:txBody>
        </p:sp>
        <p:sp>
          <p:nvSpPr>
            <p:cNvPr id="49" name="Rounded Rectangle 48"/>
            <p:cNvSpPr/>
            <p:nvPr/>
          </p:nvSpPr>
          <p:spPr>
            <a:xfrm>
              <a:off x="5586618" y="2064457"/>
              <a:ext cx="1264293" cy="544349"/>
            </a:xfrm>
            <a:prstGeom prst="roundRect">
              <a:avLst>
                <a:gd name="adj" fmla="val 9677"/>
              </a:avLst>
            </a:prstGeom>
            <a:solidFill>
              <a:srgbClr val="DCEBF9"/>
            </a:solidFill>
            <a:ln w="1053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27444" y="2128023"/>
              <a:ext cx="382642" cy="139845"/>
            </a:xfrm>
            <a:prstGeom prst="rect">
              <a:avLst/>
            </a:prstGeom>
            <a:noFill/>
          </p:spPr>
          <p:txBody>
            <a:bodyPr wrap="none" anchor="ctr" lIns="0" rIns="0" tIns="0" bIns="0">
              <a:noAutofit/>
            </a:bodyPr>
            <a:lstStyle/>
            <a:p>
              <a:pPr algn="ctr"/>
              <a:r>
                <a:rPr sz="760" b="1">
                  <a:solidFill>
                    <a:srgbClr val="083F80"/>
                  </a:solidFill>
                  <a:latin typeface="맑은 고딕"/>
                  <a:ea typeface="맑은 고딕"/>
                  <a:cs typeface="맑은 고딕"/>
                </a:rPr>
                <a:t>in0 조각</a:t>
              </a:r>
            </a:p>
          </p:txBody>
        </p:sp>
        <p:sp>
          <p:nvSpPr>
            <p:cNvPr id="51" name="TextBox 50"/>
            <p:cNvSpPr txBox="1"/>
            <p:nvPr/>
          </p:nvSpPr>
          <p:spPr>
            <a:xfrm>
              <a:off x="5872445" y="2280968"/>
              <a:ext cx="69264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B × L × E/s</a:t>
              </a:r>
            </a:p>
          </p:txBody>
        </p:sp>
        <p:sp>
          <p:nvSpPr>
            <p:cNvPr id="52" name="TextBox 51"/>
            <p:cNvSpPr txBox="1"/>
            <p:nvPr/>
          </p:nvSpPr>
          <p:spPr>
            <a:xfrm>
              <a:off x="6053836" y="2445501"/>
              <a:ext cx="329858"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e 구간 2</a:t>
              </a:r>
            </a:p>
          </p:txBody>
        </p:sp>
        <p:sp>
          <p:nvSpPr>
            <p:cNvPr id="53" name="TextBox 52"/>
            <p:cNvSpPr txBox="1"/>
            <p:nvPr/>
          </p:nvSpPr>
          <p:spPr>
            <a:xfrm>
              <a:off x="6147122" y="2574389"/>
              <a:ext cx="143287" cy="15255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a:t>
              </a:r>
            </a:p>
          </p:txBody>
        </p:sp>
        <p:sp>
          <p:nvSpPr>
            <p:cNvPr id="54" name="Rounded Rectangle 53"/>
            <p:cNvSpPr/>
            <p:nvPr/>
          </p:nvSpPr>
          <p:spPr>
            <a:xfrm>
              <a:off x="5586618" y="2714164"/>
              <a:ext cx="1264293" cy="544349"/>
            </a:xfrm>
            <a:prstGeom prst="roundRect">
              <a:avLst>
                <a:gd name="adj" fmla="val 9677"/>
              </a:avLst>
            </a:prstGeom>
            <a:solidFill>
              <a:srgbClr val="FDEBD3"/>
            </a:solidFill>
            <a:ln w="105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27444" y="2777729"/>
              <a:ext cx="382642" cy="139845"/>
            </a:xfrm>
            <a:prstGeom prst="rect">
              <a:avLst/>
            </a:prstGeom>
            <a:noFill/>
          </p:spPr>
          <p:txBody>
            <a:bodyPr wrap="none" anchor="ctr" lIns="0" rIns="0" tIns="0" bIns="0">
              <a:noAutofit/>
            </a:bodyPr>
            <a:lstStyle/>
            <a:p>
              <a:pPr algn="ctr"/>
              <a:r>
                <a:rPr sz="760" b="1">
                  <a:solidFill>
                    <a:srgbClr val="B45409"/>
                  </a:solidFill>
                  <a:latin typeface="맑은 고딕"/>
                  <a:ea typeface="맑은 고딕"/>
                  <a:cs typeface="맑은 고딕"/>
                </a:rPr>
                <a:t>in1 조각</a:t>
              </a:r>
            </a:p>
          </p:txBody>
        </p:sp>
        <p:sp>
          <p:nvSpPr>
            <p:cNvPr id="56" name="TextBox 55"/>
            <p:cNvSpPr txBox="1"/>
            <p:nvPr/>
          </p:nvSpPr>
          <p:spPr>
            <a:xfrm>
              <a:off x="5998655" y="2930674"/>
              <a:ext cx="44022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E/s × F</a:t>
              </a:r>
            </a:p>
          </p:txBody>
        </p:sp>
        <p:sp>
          <p:nvSpPr>
            <p:cNvPr id="57" name="TextBox 56"/>
            <p:cNvSpPr txBox="1"/>
            <p:nvPr/>
          </p:nvSpPr>
          <p:spPr>
            <a:xfrm>
              <a:off x="5963228" y="3095208"/>
              <a:ext cx="511073"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같은 e 구간 2</a:t>
              </a:r>
            </a:p>
          </p:txBody>
        </p:sp>
        <p:cxnSp>
          <p:nvCxnSpPr>
            <p:cNvPr id="58" name="Connector 57"/>
            <p:cNvCxnSpPr/>
            <p:nvPr/>
          </p:nvCxnSpPr>
          <p:spPr>
            <a:xfrm>
              <a:off x="6218765" y="3381430"/>
              <a:ext cx="0" cy="175596"/>
            </a:xfrm>
            <a:prstGeom prst="line">
              <a:avLst/>
            </a:prstGeom>
            <a:ln w="15803">
              <a:solidFill>
                <a:srgbClr val="5B6B7B"/>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6166086" y="3521907"/>
              <a:ext cx="105358" cy="105357"/>
            </a:xfrm>
            <a:custGeom>
              <a:avLst/>
              <a:gdLst/>
              <a:ahLst/>
              <a:cxnLst/>
              <a:rect l="l" t="t" r="r" b="b"/>
              <a:pathLst>
                <a:path w="105358" h="105357">
                  <a:moveTo>
                    <a:pt x="0" y="0"/>
                  </a:moveTo>
                  <a:lnTo>
                    <a:pt x="105358" y="0"/>
                  </a:lnTo>
                  <a:lnTo>
                    <a:pt x="52679" y="105357"/>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586618" y="3644824"/>
              <a:ext cx="1264293" cy="456550"/>
            </a:xfrm>
            <a:prstGeom prst="roundRect">
              <a:avLst>
                <a:gd name="adj" fmla="val 11538"/>
              </a:avLst>
            </a:prstGeom>
            <a:solidFill>
              <a:srgbClr val="EEF2F7"/>
            </a:solidFill>
            <a:ln w="1229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28651" y="3725949"/>
              <a:ext cx="380227" cy="139845"/>
            </a:xfrm>
            <a:prstGeom prst="rect">
              <a:avLst/>
            </a:prstGeom>
            <a:noFill/>
          </p:spPr>
          <p:txBody>
            <a:bodyPr wrap="none" anchor="ctr" lIns="0" rIns="0" tIns="0" bIns="0">
              <a:noAutofit/>
            </a:bodyPr>
            <a:lstStyle/>
            <a:p>
              <a:pPr algn="ctr"/>
              <a:r>
                <a:rPr sz="760" b="1">
                  <a:solidFill>
                    <a:srgbClr val="16202C"/>
                  </a:solidFill>
                  <a:latin typeface="맑은 고딕"/>
                  <a:ea typeface="맑은 고딕"/>
                  <a:cs typeface="맑은 고딕"/>
                </a:rPr>
                <a:t>부분합 2</a:t>
              </a:r>
            </a:p>
          </p:txBody>
        </p:sp>
        <p:sp>
          <p:nvSpPr>
            <p:cNvPr id="62" name="TextBox 61"/>
            <p:cNvSpPr txBox="1"/>
            <p:nvPr/>
          </p:nvSpPr>
          <p:spPr>
            <a:xfrm>
              <a:off x="5948654" y="3889078"/>
              <a:ext cx="540222" cy="133488"/>
            </a:xfrm>
            <a:prstGeom prst="rect">
              <a:avLst/>
            </a:prstGeom>
            <a:noFill/>
          </p:spPr>
          <p:txBody>
            <a:bodyPr wrap="none" anchor="ctr" lIns="0" rIns="0" tIns="0" bIns="0">
              <a:noAutofit/>
            </a:bodyPr>
            <a:lstStyle/>
            <a:p>
              <a:pPr algn="ctr"/>
              <a:r>
                <a:rPr sz="660" b="0">
                  <a:solidFill>
                    <a:srgbClr val="5B6B7B"/>
                  </a:solidFill>
                  <a:latin typeface="Consolas"/>
                  <a:ea typeface="Consolas"/>
                  <a:cs typeface="Consolas"/>
                </a:rPr>
                <a:t>B × L × F</a:t>
              </a:r>
            </a:p>
          </p:txBody>
        </p:sp>
        <p:cxnSp>
          <p:nvCxnSpPr>
            <p:cNvPr id="63" name="Connector 62"/>
            <p:cNvCxnSpPr/>
            <p:nvPr/>
          </p:nvCxnSpPr>
          <p:spPr>
            <a:xfrm>
              <a:off x="6218765" y="4118934"/>
              <a:ext cx="0" cy="70239"/>
            </a:xfrm>
            <a:prstGeom prst="line">
              <a:avLst/>
            </a:prstGeom>
            <a:ln w="15803">
              <a:solidFill>
                <a:srgbClr val="B4222A"/>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74866" y="4162833"/>
              <a:ext cx="87798" cy="87798"/>
            </a:xfrm>
            <a:custGeom>
              <a:avLst/>
              <a:gdLst/>
              <a:ahLst/>
              <a:cxnLst/>
              <a:rect l="l" t="t" r="r" b="b"/>
              <a:pathLst>
                <a:path w="87798" h="87798">
                  <a:moveTo>
                    <a:pt x="0" y="0"/>
                  </a:moveTo>
                  <a:lnTo>
                    <a:pt x="87798" y="0"/>
                  </a:lnTo>
                  <a:lnTo>
                    <a:pt x="43899" y="8779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061627" y="1748384"/>
              <a:ext cx="1475009" cy="1615486"/>
            </a:xfrm>
            <a:prstGeom prst="roundRect">
              <a:avLst>
                <a:gd name="adj" fmla="val 5357"/>
              </a:avLst>
            </a:prstGeom>
            <a:solidFill>
              <a:srgbClr val="F7FAFD"/>
            </a:solidFill>
            <a:ln w="1580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06867" y="1826700"/>
              <a:ext cx="384530" cy="165271"/>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slice 3</a:t>
              </a:r>
            </a:p>
          </p:txBody>
        </p:sp>
        <p:sp>
          <p:nvSpPr>
            <p:cNvPr id="67" name="Rounded Rectangle 66"/>
            <p:cNvSpPr/>
            <p:nvPr/>
          </p:nvSpPr>
          <p:spPr>
            <a:xfrm>
              <a:off x="7166985" y="2064457"/>
              <a:ext cx="1264293" cy="544349"/>
            </a:xfrm>
            <a:prstGeom prst="roundRect">
              <a:avLst>
                <a:gd name="adj" fmla="val 9677"/>
              </a:avLst>
            </a:prstGeom>
            <a:solidFill>
              <a:srgbClr val="DCEBF9"/>
            </a:solidFill>
            <a:ln w="1053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07811" y="2128023"/>
              <a:ext cx="382642" cy="139845"/>
            </a:xfrm>
            <a:prstGeom prst="rect">
              <a:avLst/>
            </a:prstGeom>
            <a:noFill/>
          </p:spPr>
          <p:txBody>
            <a:bodyPr wrap="none" anchor="ctr" lIns="0" rIns="0" tIns="0" bIns="0">
              <a:noAutofit/>
            </a:bodyPr>
            <a:lstStyle/>
            <a:p>
              <a:pPr algn="ctr"/>
              <a:r>
                <a:rPr sz="760" b="1">
                  <a:solidFill>
                    <a:srgbClr val="083F80"/>
                  </a:solidFill>
                  <a:latin typeface="맑은 고딕"/>
                  <a:ea typeface="맑은 고딕"/>
                  <a:cs typeface="맑은 고딕"/>
                </a:rPr>
                <a:t>in0 조각</a:t>
              </a:r>
            </a:p>
          </p:txBody>
        </p:sp>
        <p:sp>
          <p:nvSpPr>
            <p:cNvPr id="69" name="TextBox 68"/>
            <p:cNvSpPr txBox="1"/>
            <p:nvPr/>
          </p:nvSpPr>
          <p:spPr>
            <a:xfrm>
              <a:off x="7452812" y="2280968"/>
              <a:ext cx="69264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B × L × E/s</a:t>
              </a:r>
            </a:p>
          </p:txBody>
        </p:sp>
        <p:sp>
          <p:nvSpPr>
            <p:cNvPr id="70" name="TextBox 69"/>
            <p:cNvSpPr txBox="1"/>
            <p:nvPr/>
          </p:nvSpPr>
          <p:spPr>
            <a:xfrm>
              <a:off x="7634203" y="2445501"/>
              <a:ext cx="329858"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e 구간 3</a:t>
              </a:r>
            </a:p>
          </p:txBody>
        </p:sp>
        <p:sp>
          <p:nvSpPr>
            <p:cNvPr id="71" name="TextBox 70"/>
            <p:cNvSpPr txBox="1"/>
            <p:nvPr/>
          </p:nvSpPr>
          <p:spPr>
            <a:xfrm>
              <a:off x="7727488" y="2574389"/>
              <a:ext cx="143287" cy="15255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a:t>
              </a:r>
            </a:p>
          </p:txBody>
        </p:sp>
        <p:sp>
          <p:nvSpPr>
            <p:cNvPr id="72" name="Rounded Rectangle 71"/>
            <p:cNvSpPr/>
            <p:nvPr/>
          </p:nvSpPr>
          <p:spPr>
            <a:xfrm>
              <a:off x="7166985" y="2714164"/>
              <a:ext cx="1264293" cy="544349"/>
            </a:xfrm>
            <a:prstGeom prst="roundRect">
              <a:avLst>
                <a:gd name="adj" fmla="val 9677"/>
              </a:avLst>
            </a:prstGeom>
            <a:solidFill>
              <a:srgbClr val="FDEBD3"/>
            </a:solidFill>
            <a:ln w="105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607811" y="2777729"/>
              <a:ext cx="382642" cy="139845"/>
            </a:xfrm>
            <a:prstGeom prst="rect">
              <a:avLst/>
            </a:prstGeom>
            <a:noFill/>
          </p:spPr>
          <p:txBody>
            <a:bodyPr wrap="none" anchor="ctr" lIns="0" rIns="0" tIns="0" bIns="0">
              <a:noAutofit/>
            </a:bodyPr>
            <a:lstStyle/>
            <a:p>
              <a:pPr algn="ctr"/>
              <a:r>
                <a:rPr sz="760" b="1">
                  <a:solidFill>
                    <a:srgbClr val="B45409"/>
                  </a:solidFill>
                  <a:latin typeface="맑은 고딕"/>
                  <a:ea typeface="맑은 고딕"/>
                  <a:cs typeface="맑은 고딕"/>
                </a:rPr>
                <a:t>in1 조각</a:t>
              </a:r>
            </a:p>
          </p:txBody>
        </p:sp>
        <p:sp>
          <p:nvSpPr>
            <p:cNvPr id="74" name="TextBox 73"/>
            <p:cNvSpPr txBox="1"/>
            <p:nvPr/>
          </p:nvSpPr>
          <p:spPr>
            <a:xfrm>
              <a:off x="7579022" y="2930674"/>
              <a:ext cx="440220" cy="146201"/>
            </a:xfrm>
            <a:prstGeom prst="rect">
              <a:avLst/>
            </a:prstGeom>
            <a:noFill/>
          </p:spPr>
          <p:txBody>
            <a:bodyPr wrap="none" anchor="ctr" lIns="0" rIns="0" tIns="0" bIns="0">
              <a:noAutofit/>
            </a:bodyPr>
            <a:lstStyle/>
            <a:p>
              <a:pPr algn="ctr"/>
              <a:r>
                <a:rPr sz="720" b="0">
                  <a:solidFill>
                    <a:srgbClr val="16202C"/>
                  </a:solidFill>
                  <a:latin typeface="Consolas"/>
                  <a:ea typeface="Consolas"/>
                  <a:cs typeface="Consolas"/>
                </a:rPr>
                <a:t>E/s × F</a:t>
              </a:r>
            </a:p>
          </p:txBody>
        </p:sp>
        <p:sp>
          <p:nvSpPr>
            <p:cNvPr id="75" name="TextBox 74"/>
            <p:cNvSpPr txBox="1"/>
            <p:nvPr/>
          </p:nvSpPr>
          <p:spPr>
            <a:xfrm>
              <a:off x="7543595" y="3095208"/>
              <a:ext cx="511073" cy="127132"/>
            </a:xfrm>
            <a:prstGeom prst="rect">
              <a:avLst/>
            </a:prstGeom>
            <a:noFill/>
          </p:spPr>
          <p:txBody>
            <a:bodyPr wrap="none" anchor="ctr" lIns="0" rIns="0" tIns="0" bIns="0">
              <a:noAutofit/>
            </a:bodyPr>
            <a:lstStyle/>
            <a:p>
              <a:pPr algn="ctr"/>
              <a:r>
                <a:rPr sz="690" b="0">
                  <a:solidFill>
                    <a:srgbClr val="5B6B7B"/>
                  </a:solidFill>
                  <a:latin typeface="맑은 고딕"/>
                  <a:ea typeface="맑은 고딕"/>
                  <a:cs typeface="맑은 고딕"/>
                </a:rPr>
                <a:t>같은 e 구간 3</a:t>
              </a:r>
            </a:p>
          </p:txBody>
        </p:sp>
        <p:cxnSp>
          <p:nvCxnSpPr>
            <p:cNvPr id="76" name="Connector 75"/>
            <p:cNvCxnSpPr/>
            <p:nvPr/>
          </p:nvCxnSpPr>
          <p:spPr>
            <a:xfrm>
              <a:off x="7799132" y="3381430"/>
              <a:ext cx="0" cy="175596"/>
            </a:xfrm>
            <a:prstGeom prst="line">
              <a:avLst/>
            </a:prstGeom>
            <a:ln w="15803">
              <a:solidFill>
                <a:srgbClr val="5B6B7B"/>
              </a:solidFill>
            </a:ln>
          </p:spPr>
          <p:style>
            <a:lnRef idx="2">
              <a:schemeClr val="accent1"/>
            </a:lnRef>
            <a:fillRef idx="0">
              <a:schemeClr val="accent1"/>
            </a:fillRef>
            <a:effectRef idx="1">
              <a:schemeClr val="accent1"/>
            </a:effectRef>
            <a:fontRef idx="minor">
              <a:schemeClr val="tx1"/>
            </a:fontRef>
          </p:style>
        </p:cxnSp>
        <p:sp>
          <p:nvSpPr>
            <p:cNvPr id="77" name="Freeform 76"/>
            <p:cNvSpPr/>
            <p:nvPr/>
          </p:nvSpPr>
          <p:spPr>
            <a:xfrm>
              <a:off x="7746453" y="3521907"/>
              <a:ext cx="105357" cy="105357"/>
            </a:xfrm>
            <a:custGeom>
              <a:avLst/>
              <a:gdLst/>
              <a:ahLst/>
              <a:cxnLst/>
              <a:rect l="l" t="t" r="r" b="b"/>
              <a:pathLst>
                <a:path w="105357" h="105357">
                  <a:moveTo>
                    <a:pt x="0" y="0"/>
                  </a:moveTo>
                  <a:lnTo>
                    <a:pt x="105357" y="0"/>
                  </a:lnTo>
                  <a:lnTo>
                    <a:pt x="52679" y="105357"/>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7166985" y="3644824"/>
              <a:ext cx="1264293" cy="456550"/>
            </a:xfrm>
            <a:prstGeom prst="roundRect">
              <a:avLst>
                <a:gd name="adj" fmla="val 11538"/>
              </a:avLst>
            </a:prstGeom>
            <a:solidFill>
              <a:srgbClr val="EEF2F7"/>
            </a:solidFill>
            <a:ln w="1229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609018" y="3725949"/>
              <a:ext cx="380227" cy="139845"/>
            </a:xfrm>
            <a:prstGeom prst="rect">
              <a:avLst/>
            </a:prstGeom>
            <a:noFill/>
          </p:spPr>
          <p:txBody>
            <a:bodyPr wrap="none" anchor="ctr" lIns="0" rIns="0" tIns="0" bIns="0">
              <a:noAutofit/>
            </a:bodyPr>
            <a:lstStyle/>
            <a:p>
              <a:pPr algn="ctr"/>
              <a:r>
                <a:rPr sz="760" b="1">
                  <a:solidFill>
                    <a:srgbClr val="16202C"/>
                  </a:solidFill>
                  <a:latin typeface="맑은 고딕"/>
                  <a:ea typeface="맑은 고딕"/>
                  <a:cs typeface="맑은 고딕"/>
                </a:rPr>
                <a:t>부분합 3</a:t>
              </a:r>
            </a:p>
          </p:txBody>
        </p:sp>
        <p:sp>
          <p:nvSpPr>
            <p:cNvPr id="80" name="TextBox 79"/>
            <p:cNvSpPr txBox="1"/>
            <p:nvPr/>
          </p:nvSpPr>
          <p:spPr>
            <a:xfrm>
              <a:off x="7529021" y="3889078"/>
              <a:ext cx="540222" cy="133488"/>
            </a:xfrm>
            <a:prstGeom prst="rect">
              <a:avLst/>
            </a:prstGeom>
            <a:noFill/>
          </p:spPr>
          <p:txBody>
            <a:bodyPr wrap="none" anchor="ctr" lIns="0" rIns="0" tIns="0" bIns="0">
              <a:noAutofit/>
            </a:bodyPr>
            <a:lstStyle/>
            <a:p>
              <a:pPr algn="ctr"/>
              <a:r>
                <a:rPr sz="660" b="0">
                  <a:solidFill>
                    <a:srgbClr val="5B6B7B"/>
                  </a:solidFill>
                  <a:latin typeface="Consolas"/>
                  <a:ea typeface="Consolas"/>
                  <a:cs typeface="Consolas"/>
                </a:rPr>
                <a:t>B × L × F</a:t>
              </a:r>
            </a:p>
          </p:txBody>
        </p:sp>
        <p:cxnSp>
          <p:nvCxnSpPr>
            <p:cNvPr id="81" name="Connector 80"/>
            <p:cNvCxnSpPr/>
            <p:nvPr/>
          </p:nvCxnSpPr>
          <p:spPr>
            <a:xfrm>
              <a:off x="7799132" y="4118934"/>
              <a:ext cx="0" cy="70239"/>
            </a:xfrm>
            <a:prstGeom prst="line">
              <a:avLst/>
            </a:prstGeom>
            <a:ln w="15803">
              <a:solidFill>
                <a:srgbClr val="B4222A"/>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7755233" y="4162833"/>
              <a:ext cx="87798" cy="87798"/>
            </a:xfrm>
            <a:custGeom>
              <a:avLst/>
              <a:gdLst/>
              <a:ahLst/>
              <a:cxnLst/>
              <a:rect l="l" t="t" r="r" b="b"/>
              <a:pathLst>
                <a:path w="87798" h="87798">
                  <a:moveTo>
                    <a:pt x="0" y="0"/>
                  </a:moveTo>
                  <a:lnTo>
                    <a:pt x="87798" y="0"/>
                  </a:lnTo>
                  <a:lnTo>
                    <a:pt x="43899" y="8779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712232" y="1748384"/>
              <a:ext cx="1158936" cy="2124715"/>
            </a:xfrm>
            <a:prstGeom prst="roundRect">
              <a:avLst>
                <a:gd name="adj" fmla="val 6060"/>
              </a:avLst>
            </a:prstGeom>
            <a:solidFill>
              <a:srgbClr val="E2F4E8"/>
            </a:solidFill>
            <a:ln w="1404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006497" y="1854444"/>
              <a:ext cx="570407" cy="152558"/>
            </a:xfrm>
            <a:prstGeom prst="rect">
              <a:avLst/>
            </a:prstGeom>
            <a:noFill/>
          </p:spPr>
          <p:txBody>
            <a:bodyPr wrap="none" anchor="ctr" lIns="0" rIns="0" tIns="0" bIns="0">
              <a:noAutofit/>
            </a:bodyPr>
            <a:lstStyle/>
            <a:p>
              <a:pPr algn="ctr"/>
              <a:r>
                <a:rPr sz="830" b="1">
                  <a:solidFill>
                    <a:srgbClr val="1A7F37"/>
                  </a:solidFill>
                  <a:latin typeface="맑은 고딕"/>
                  <a:ea typeface="맑은 고딕"/>
                  <a:cs typeface="맑은 고딕"/>
                </a:rPr>
                <a:t>이 배치의 뜻</a:t>
              </a:r>
            </a:p>
          </p:txBody>
        </p:sp>
        <p:sp>
          <p:nvSpPr>
            <p:cNvPr id="85" name="TextBox 84"/>
            <p:cNvSpPr txBox="1"/>
            <p:nvPr/>
          </p:nvSpPr>
          <p:spPr>
            <a:xfrm>
              <a:off x="9016980" y="2097996"/>
              <a:ext cx="549441"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슬라이스 k 가</a:t>
              </a:r>
            </a:p>
          </p:txBody>
        </p:sp>
        <p:sp>
          <p:nvSpPr>
            <p:cNvPr id="86" name="TextBox 85"/>
            <p:cNvSpPr txBox="1"/>
            <p:nvPr/>
          </p:nvSpPr>
          <p:spPr>
            <a:xfrm>
              <a:off x="8885980" y="2238473"/>
              <a:ext cx="811439"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활성값의 e 구간 k 와</a:t>
              </a:r>
            </a:p>
          </p:txBody>
        </p:sp>
        <p:sp>
          <p:nvSpPr>
            <p:cNvPr id="87" name="TextBox 86"/>
            <p:cNvSpPr txBox="1"/>
            <p:nvPr/>
          </p:nvSpPr>
          <p:spPr>
            <a:xfrm>
              <a:off x="8872798" y="2378950"/>
              <a:ext cx="837805"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가중치의 같은 구간을</a:t>
              </a:r>
            </a:p>
          </p:txBody>
        </p:sp>
        <p:sp>
          <p:nvSpPr>
            <p:cNvPr id="88" name="TextBox 87"/>
            <p:cNvSpPr txBox="1"/>
            <p:nvPr/>
          </p:nvSpPr>
          <p:spPr>
            <a:xfrm>
              <a:off x="9052749" y="2519427"/>
              <a:ext cx="477903"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함께 갖는다</a:t>
              </a:r>
            </a:p>
          </p:txBody>
        </p:sp>
        <p:sp>
          <p:nvSpPr>
            <p:cNvPr id="89" name="TextBox 88"/>
            <p:cNvSpPr txBox="1"/>
            <p:nvPr/>
          </p:nvSpPr>
          <p:spPr>
            <a:xfrm>
              <a:off x="8868833" y="2765262"/>
              <a:ext cx="845733" cy="133488"/>
            </a:xfrm>
            <a:prstGeom prst="rect">
              <a:avLst/>
            </a:prstGeom>
            <a:noFill/>
          </p:spPr>
          <p:txBody>
            <a:bodyPr wrap="none" anchor="ctr" lIns="0" rIns="0" tIns="0" bIns="0">
              <a:noAutofit/>
            </a:bodyPr>
            <a:lstStyle/>
            <a:p>
              <a:pPr algn="ctr"/>
              <a:r>
                <a:rPr sz="730" b="1">
                  <a:solidFill>
                    <a:srgbClr val="1A7F37"/>
                  </a:solidFill>
                  <a:latin typeface="맑은 고딕"/>
                  <a:ea typeface="맑은 고딕"/>
                  <a:cs typeface="맑은 고딕"/>
                </a:rPr>
                <a:t>→ 자기 데이터만으로</a:t>
              </a:r>
            </a:p>
          </p:txBody>
        </p:sp>
        <p:sp>
          <p:nvSpPr>
            <p:cNvPr id="90" name="TextBox 89"/>
            <p:cNvSpPr txBox="1"/>
            <p:nvPr/>
          </p:nvSpPr>
          <p:spPr>
            <a:xfrm>
              <a:off x="8908336" y="2905739"/>
              <a:ext cx="766728" cy="133488"/>
            </a:xfrm>
            <a:prstGeom prst="rect">
              <a:avLst/>
            </a:prstGeom>
            <a:noFill/>
          </p:spPr>
          <p:txBody>
            <a:bodyPr wrap="none" anchor="ctr" lIns="0" rIns="0" tIns="0" bIns="0">
              <a:noAutofit/>
            </a:bodyPr>
            <a:lstStyle/>
            <a:p>
              <a:pPr algn="ctr"/>
              <a:r>
                <a:rPr sz="730" b="1">
                  <a:solidFill>
                    <a:srgbClr val="1A7F37"/>
                  </a:solidFill>
                  <a:latin typeface="맑은 고딕"/>
                  <a:ea typeface="맑은 고딕"/>
                  <a:cs typeface="맑은 고딕"/>
                </a:rPr>
                <a:t>곱셈-누산을 끝낸다</a:t>
              </a:r>
            </a:p>
          </p:txBody>
        </p:sp>
        <p:sp>
          <p:nvSpPr>
            <p:cNvPr id="91" name="TextBox 90"/>
            <p:cNvSpPr txBox="1"/>
            <p:nvPr/>
          </p:nvSpPr>
          <p:spPr>
            <a:xfrm>
              <a:off x="8940694" y="3169134"/>
              <a:ext cx="702012"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in1 에는 b·l 축이</a:t>
              </a:r>
            </a:p>
          </p:txBody>
        </p:sp>
        <p:sp>
          <p:nvSpPr>
            <p:cNvPr id="92" name="TextBox 91"/>
            <p:cNvSpPr txBox="1"/>
            <p:nvPr/>
          </p:nvSpPr>
          <p:spPr>
            <a:xfrm>
              <a:off x="8997528" y="3309611"/>
              <a:ext cx="588344"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없다. 가중치라</a:t>
              </a:r>
            </a:p>
          </p:txBody>
        </p:sp>
        <p:sp>
          <p:nvSpPr>
            <p:cNvPr id="93" name="TextBox 92"/>
            <p:cNvSpPr txBox="1"/>
            <p:nvPr/>
          </p:nvSpPr>
          <p:spPr>
            <a:xfrm>
              <a:off x="8942077" y="3450088"/>
              <a:ext cx="699246"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배치·시퀀스 축이</a:t>
              </a:r>
            </a:p>
          </p:txBody>
        </p:sp>
        <p:sp>
          <p:nvSpPr>
            <p:cNvPr id="94" name="TextBox 93"/>
            <p:cNvSpPr txBox="1"/>
            <p:nvPr/>
          </p:nvSpPr>
          <p:spPr>
            <a:xfrm>
              <a:off x="9010342" y="3590565"/>
              <a:ext cx="562716" cy="133488"/>
            </a:xfrm>
            <a:prstGeom prst="rect">
              <a:avLst/>
            </a:prstGeom>
            <a:noFill/>
          </p:spPr>
          <p:txBody>
            <a:bodyPr wrap="none" anchor="ctr" lIns="0" rIns="0" tIns="0" bIns="0">
              <a:noAutofit/>
            </a:bodyPr>
            <a:lstStyle/>
            <a:p>
              <a:pPr algn="ctr"/>
              <a:r>
                <a:rPr sz="730" b="0">
                  <a:solidFill>
                    <a:srgbClr val="16202C"/>
                  </a:solidFill>
                  <a:latin typeface="맑은 고딕"/>
                  <a:ea typeface="맑은 고딕"/>
                  <a:cs typeface="맑은 고딕"/>
                </a:rPr>
                <a:t>없기 때문이다</a:t>
              </a:r>
            </a:p>
          </p:txBody>
        </p:sp>
        <p:sp>
          <p:nvSpPr>
            <p:cNvPr id="95" name="Rounded Rectangle 94"/>
            <p:cNvSpPr/>
            <p:nvPr/>
          </p:nvSpPr>
          <p:spPr>
            <a:xfrm>
              <a:off x="2320527" y="4276971"/>
              <a:ext cx="7550641" cy="544349"/>
            </a:xfrm>
            <a:prstGeom prst="roundRect">
              <a:avLst>
                <a:gd name="adj" fmla="val 14516"/>
              </a:avLst>
            </a:prstGeom>
            <a:solidFill>
              <a:srgbClr val="FDE8E8"/>
            </a:solidFill>
            <a:ln w="17559">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687521" y="4362662"/>
              <a:ext cx="2816652" cy="177984"/>
            </a:xfrm>
            <a:prstGeom prst="rect">
              <a:avLst/>
            </a:prstGeom>
            <a:noFill/>
          </p:spPr>
          <p:txBody>
            <a:bodyPr wrap="none" anchor="ctr" lIns="0" rIns="0" tIns="0" bIns="0">
              <a:noAutofit/>
            </a:bodyPr>
            <a:lstStyle/>
            <a:p>
              <a:pPr algn="ctr"/>
              <a:r>
                <a:rPr sz="969" b="1">
                  <a:solidFill>
                    <a:srgbClr val="B4222A"/>
                  </a:solidFill>
                  <a:latin typeface="맑은 고딕"/>
                  <a:ea typeface="맑은 고딕"/>
                  <a:cs typeface="맑은 고딕"/>
                </a:rPr>
                <a:t>s 개의 부분합을 합치고, f 축 기준으로 다시 나눠야 한다</a:t>
              </a:r>
            </a:p>
          </p:txBody>
        </p:sp>
        <p:sp>
          <p:nvSpPr>
            <p:cNvPr id="97" name="TextBox 96"/>
            <p:cNvSpPr txBox="1"/>
            <p:nvPr/>
          </p:nvSpPr>
          <p:spPr>
            <a:xfrm>
              <a:off x="4408806" y="4576187"/>
              <a:ext cx="3374083" cy="152558"/>
            </a:xfrm>
            <a:prstGeom prst="rect">
              <a:avLst/>
            </a:prstGeom>
            <a:noFill/>
          </p:spPr>
          <p:txBody>
            <a:bodyPr wrap="none" anchor="ctr" lIns="0" rIns="0" tIns="0" bIns="0">
              <a:noAutofit/>
            </a:bodyPr>
            <a:lstStyle/>
            <a:p>
              <a:pPr algn="ctr"/>
              <a:r>
                <a:rPr sz="830" b="1">
                  <a:solidFill>
                    <a:srgbClr val="B4222A"/>
                  </a:solidFill>
                  <a:latin typeface="맑은 고딕"/>
                  <a:ea typeface="맑은 고딕"/>
                  <a:cs typeface="맑은 고딕"/>
                </a:rPr>
                <a:t>논문 II절은 이 병합 방법을 설명하지 않는다 — 표기 정의가 목적이기 때문이다</a:t>
              </a:r>
            </a:p>
          </p:txBody>
        </p:sp>
        <p:sp>
          <p:nvSpPr>
            <p:cNvPr id="98" name="TextBox 97"/>
            <p:cNvSpPr txBox="1"/>
            <p:nvPr/>
          </p:nvSpPr>
          <p:spPr>
            <a:xfrm>
              <a:off x="2320527" y="4882076"/>
              <a:ext cx="1447265" cy="165271"/>
            </a:xfrm>
            <a:prstGeom prst="rect">
              <a:avLst/>
            </a:prstGeom>
            <a:noFill/>
          </p:spPr>
          <p:txBody>
            <a:bodyPr wrap="none" anchor="ctr" lIns="0" rIns="0" tIns="0" bIns="0">
              <a:noAutofit/>
            </a:bodyPr>
            <a:lstStyle/>
            <a:p>
              <a:pPr algn="l"/>
              <a:r>
                <a:rPr sz="900" b="1">
                  <a:solidFill>
                    <a:srgbClr val="1A7F37"/>
                  </a:solidFill>
                  <a:latin typeface="맑은 고딕"/>
                  <a:ea typeface="맑은 고딕"/>
                  <a:cs typeface="맑은 고딕"/>
                </a:rPr>
                <a:t>그런데 출력은 f 축으로 나뉜다</a:t>
              </a:r>
            </a:p>
          </p:txBody>
        </p:sp>
        <p:sp>
          <p:nvSpPr>
            <p:cNvPr id="99" name="TextBox 98"/>
            <p:cNvSpPr txBox="1"/>
            <p:nvPr/>
          </p:nvSpPr>
          <p:spPr>
            <a:xfrm>
              <a:off x="4164288" y="4887168"/>
              <a:ext cx="1821043" cy="158915"/>
            </a:xfrm>
            <a:prstGeom prst="rect">
              <a:avLst/>
            </a:prstGeom>
            <a:noFill/>
          </p:spPr>
          <p:txBody>
            <a:bodyPr wrap="none" anchor="ctr" lIns="0" rIns="0" tIns="0" bIns="0">
              <a:noAutofit/>
            </a:bodyPr>
            <a:lstStyle/>
            <a:p>
              <a:pPr algn="l"/>
              <a:r>
                <a:rPr sz="790" b="0">
                  <a:solidFill>
                    <a:srgbClr val="16202C"/>
                  </a:solidFill>
                  <a:latin typeface="Consolas"/>
                  <a:ea typeface="Consolas"/>
                  <a:cs typeface="Consolas"/>
                </a:rPr>
                <a:t>f^(F/s)[s] │ b¹[B] l¹[L] f¹[F/s]</a:t>
              </a:r>
            </a:p>
          </p:txBody>
        </p:sp>
        <p:sp>
          <p:nvSpPr>
            <p:cNvPr id="100" name="Rounded Rectangle 99"/>
            <p:cNvSpPr/>
            <p:nvPr/>
          </p:nvSpPr>
          <p:spPr>
            <a:xfrm>
              <a:off x="2425885" y="5137393"/>
              <a:ext cx="1264293" cy="403871"/>
            </a:xfrm>
            <a:prstGeom prst="roundRect">
              <a:avLst>
                <a:gd name="adj" fmla="val 13043"/>
              </a:avLst>
            </a:prstGeom>
            <a:solidFill>
              <a:srgbClr val="E2F4E8"/>
            </a:solidFill>
            <a:ln w="1316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95346" y="5200958"/>
              <a:ext cx="325371" cy="139845"/>
            </a:xfrm>
            <a:prstGeom prst="rect">
              <a:avLst/>
            </a:prstGeom>
            <a:noFill/>
          </p:spPr>
          <p:txBody>
            <a:bodyPr wrap="none" anchor="ctr" lIns="0" rIns="0" tIns="0" bIns="0">
              <a:noAutofit/>
            </a:bodyPr>
            <a:lstStyle/>
            <a:p>
              <a:pPr algn="ctr"/>
              <a:r>
                <a:rPr sz="760" b="1">
                  <a:solidFill>
                    <a:srgbClr val="1A7F37"/>
                  </a:solidFill>
                  <a:latin typeface="맑은 고딕"/>
                  <a:ea typeface="맑은 고딕"/>
                  <a:cs typeface="맑은 고딕"/>
                </a:rPr>
                <a:t>slice 0</a:t>
              </a:r>
            </a:p>
          </p:txBody>
        </p:sp>
        <p:sp>
          <p:nvSpPr>
            <p:cNvPr id="102" name="TextBox 101"/>
            <p:cNvSpPr txBox="1"/>
            <p:nvPr/>
          </p:nvSpPr>
          <p:spPr>
            <a:xfrm>
              <a:off x="2726769" y="5358995"/>
              <a:ext cx="662525" cy="139845"/>
            </a:xfrm>
            <a:prstGeom prst="rect">
              <a:avLst/>
            </a:prstGeom>
            <a:noFill/>
          </p:spPr>
          <p:txBody>
            <a:bodyPr wrap="none" anchor="ctr" lIns="0" rIns="0" tIns="0" bIns="0">
              <a:noAutofit/>
            </a:bodyPr>
            <a:lstStyle/>
            <a:p>
              <a:pPr algn="ctr"/>
              <a:r>
                <a:rPr sz="690" b="0">
                  <a:solidFill>
                    <a:srgbClr val="16202C"/>
                  </a:solidFill>
                  <a:latin typeface="Consolas"/>
                  <a:ea typeface="Consolas"/>
                  <a:cs typeface="Consolas"/>
                </a:rPr>
                <a:t>B × L × F/s</a:t>
              </a:r>
            </a:p>
          </p:txBody>
        </p:sp>
        <p:sp>
          <p:nvSpPr>
            <p:cNvPr id="103" name="Rounded Rectangle 102"/>
            <p:cNvSpPr/>
            <p:nvPr/>
          </p:nvSpPr>
          <p:spPr>
            <a:xfrm>
              <a:off x="4006252" y="5137393"/>
              <a:ext cx="1264293" cy="403871"/>
            </a:xfrm>
            <a:prstGeom prst="roundRect">
              <a:avLst>
                <a:gd name="adj" fmla="val 13043"/>
              </a:avLst>
            </a:prstGeom>
            <a:solidFill>
              <a:srgbClr val="E2F4E8"/>
            </a:solidFill>
            <a:ln w="1316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475713" y="5200958"/>
              <a:ext cx="325371" cy="139845"/>
            </a:xfrm>
            <a:prstGeom prst="rect">
              <a:avLst/>
            </a:prstGeom>
            <a:noFill/>
          </p:spPr>
          <p:txBody>
            <a:bodyPr wrap="none" anchor="ctr" lIns="0" rIns="0" tIns="0" bIns="0">
              <a:noAutofit/>
            </a:bodyPr>
            <a:lstStyle/>
            <a:p>
              <a:pPr algn="ctr"/>
              <a:r>
                <a:rPr sz="760" b="1">
                  <a:solidFill>
                    <a:srgbClr val="1A7F37"/>
                  </a:solidFill>
                  <a:latin typeface="맑은 고딕"/>
                  <a:ea typeface="맑은 고딕"/>
                  <a:cs typeface="맑은 고딕"/>
                </a:rPr>
                <a:t>slice 1</a:t>
              </a:r>
            </a:p>
          </p:txBody>
        </p:sp>
        <p:sp>
          <p:nvSpPr>
            <p:cNvPr id="105" name="TextBox 104"/>
            <p:cNvSpPr txBox="1"/>
            <p:nvPr/>
          </p:nvSpPr>
          <p:spPr>
            <a:xfrm>
              <a:off x="4307136" y="5358995"/>
              <a:ext cx="662525" cy="139845"/>
            </a:xfrm>
            <a:prstGeom prst="rect">
              <a:avLst/>
            </a:prstGeom>
            <a:noFill/>
          </p:spPr>
          <p:txBody>
            <a:bodyPr wrap="none" anchor="ctr" lIns="0" rIns="0" tIns="0" bIns="0">
              <a:noAutofit/>
            </a:bodyPr>
            <a:lstStyle/>
            <a:p>
              <a:pPr algn="ctr"/>
              <a:r>
                <a:rPr sz="690" b="0">
                  <a:solidFill>
                    <a:srgbClr val="16202C"/>
                  </a:solidFill>
                  <a:latin typeface="Consolas"/>
                  <a:ea typeface="Consolas"/>
                  <a:cs typeface="Consolas"/>
                </a:rPr>
                <a:t>B × L × F/s</a:t>
              </a:r>
            </a:p>
          </p:txBody>
        </p:sp>
        <p:sp>
          <p:nvSpPr>
            <p:cNvPr id="106" name="Rounded Rectangle 105"/>
            <p:cNvSpPr/>
            <p:nvPr/>
          </p:nvSpPr>
          <p:spPr>
            <a:xfrm>
              <a:off x="5586618" y="5137393"/>
              <a:ext cx="1264293" cy="403871"/>
            </a:xfrm>
            <a:prstGeom prst="roundRect">
              <a:avLst>
                <a:gd name="adj" fmla="val 13043"/>
              </a:avLst>
            </a:prstGeom>
            <a:solidFill>
              <a:srgbClr val="E2F4E8"/>
            </a:solidFill>
            <a:ln w="1316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056079" y="5200958"/>
              <a:ext cx="325371" cy="139845"/>
            </a:xfrm>
            <a:prstGeom prst="rect">
              <a:avLst/>
            </a:prstGeom>
            <a:noFill/>
          </p:spPr>
          <p:txBody>
            <a:bodyPr wrap="none" anchor="ctr" lIns="0" rIns="0" tIns="0" bIns="0">
              <a:noAutofit/>
            </a:bodyPr>
            <a:lstStyle/>
            <a:p>
              <a:pPr algn="ctr"/>
              <a:r>
                <a:rPr sz="760" b="1">
                  <a:solidFill>
                    <a:srgbClr val="1A7F37"/>
                  </a:solidFill>
                  <a:latin typeface="맑은 고딕"/>
                  <a:ea typeface="맑은 고딕"/>
                  <a:cs typeface="맑은 고딕"/>
                </a:rPr>
                <a:t>slice 2</a:t>
              </a:r>
            </a:p>
          </p:txBody>
        </p:sp>
        <p:sp>
          <p:nvSpPr>
            <p:cNvPr id="108" name="TextBox 107"/>
            <p:cNvSpPr txBox="1"/>
            <p:nvPr/>
          </p:nvSpPr>
          <p:spPr>
            <a:xfrm>
              <a:off x="5887502" y="5358995"/>
              <a:ext cx="662525" cy="139845"/>
            </a:xfrm>
            <a:prstGeom prst="rect">
              <a:avLst/>
            </a:prstGeom>
            <a:noFill/>
          </p:spPr>
          <p:txBody>
            <a:bodyPr wrap="none" anchor="ctr" lIns="0" rIns="0" tIns="0" bIns="0">
              <a:noAutofit/>
            </a:bodyPr>
            <a:lstStyle/>
            <a:p>
              <a:pPr algn="ctr"/>
              <a:r>
                <a:rPr sz="690" b="0">
                  <a:solidFill>
                    <a:srgbClr val="16202C"/>
                  </a:solidFill>
                  <a:latin typeface="Consolas"/>
                  <a:ea typeface="Consolas"/>
                  <a:cs typeface="Consolas"/>
                </a:rPr>
                <a:t>B × L × F/s</a:t>
              </a:r>
            </a:p>
          </p:txBody>
        </p:sp>
        <p:sp>
          <p:nvSpPr>
            <p:cNvPr id="109" name="Rounded Rectangle 108"/>
            <p:cNvSpPr/>
            <p:nvPr/>
          </p:nvSpPr>
          <p:spPr>
            <a:xfrm>
              <a:off x="7166985" y="5137393"/>
              <a:ext cx="1264293" cy="403871"/>
            </a:xfrm>
            <a:prstGeom prst="roundRect">
              <a:avLst>
                <a:gd name="adj" fmla="val 13043"/>
              </a:avLst>
            </a:prstGeom>
            <a:solidFill>
              <a:srgbClr val="E2F4E8"/>
            </a:solidFill>
            <a:ln w="1316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636446" y="5200958"/>
              <a:ext cx="325371" cy="139845"/>
            </a:xfrm>
            <a:prstGeom prst="rect">
              <a:avLst/>
            </a:prstGeom>
            <a:noFill/>
          </p:spPr>
          <p:txBody>
            <a:bodyPr wrap="none" anchor="ctr" lIns="0" rIns="0" tIns="0" bIns="0">
              <a:noAutofit/>
            </a:bodyPr>
            <a:lstStyle/>
            <a:p>
              <a:pPr algn="ctr"/>
              <a:r>
                <a:rPr sz="760" b="1">
                  <a:solidFill>
                    <a:srgbClr val="1A7F37"/>
                  </a:solidFill>
                  <a:latin typeface="맑은 고딕"/>
                  <a:ea typeface="맑은 고딕"/>
                  <a:cs typeface="맑은 고딕"/>
                </a:rPr>
                <a:t>slice 3</a:t>
              </a:r>
            </a:p>
          </p:txBody>
        </p:sp>
        <p:sp>
          <p:nvSpPr>
            <p:cNvPr id="111" name="TextBox 110"/>
            <p:cNvSpPr txBox="1"/>
            <p:nvPr/>
          </p:nvSpPr>
          <p:spPr>
            <a:xfrm>
              <a:off x="7467869" y="5358995"/>
              <a:ext cx="662525" cy="139845"/>
            </a:xfrm>
            <a:prstGeom prst="rect">
              <a:avLst/>
            </a:prstGeom>
            <a:noFill/>
          </p:spPr>
          <p:txBody>
            <a:bodyPr wrap="none" anchor="ctr" lIns="0" rIns="0" tIns="0" bIns="0">
              <a:noAutofit/>
            </a:bodyPr>
            <a:lstStyle/>
            <a:p>
              <a:pPr algn="ctr"/>
              <a:r>
                <a:rPr sz="690" b="0">
                  <a:solidFill>
                    <a:srgbClr val="16202C"/>
                  </a:solidFill>
                  <a:latin typeface="Consolas"/>
                  <a:ea typeface="Consolas"/>
                  <a:cs typeface="Consolas"/>
                </a:rPr>
                <a:t>B × L × F/s</a:t>
              </a:r>
            </a:p>
          </p:txBody>
        </p:sp>
      </p:grpSp>
      <p:sp>
        <p:nvSpPr>
          <p:cNvPr id="112" name="Rectangle 1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입력은 e 로 쪼개고 출력은 f 로 쪼갠다. 그 사이 병합 절차는 II절에 없다.</a:t>
            </a:r>
          </a:p>
        </p:txBody>
      </p:sp>
      <p:sp>
        <p:nvSpPr>
          <p:cNvPr id="113" name="Rectangle 1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세 lowered shape 을 슬라이스에 그려 보면 — 그리고 논문이 말하지 않은 것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슬라이스 k 는 활성값과 가중치의 같은 e 구간을 함께 갖는다. 그런데 출력은 f 로 쪼개진다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50</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원문은 "The first tensor is assumed to be lowered to …, and the second one to …, respectively" 다. assumed 라는 말대로 여러 가능한 배치 중 하나를 가정한 것이다.</a:t>
            </a:r>
          </a:p>
          <a:p>
            <a:pPr algn="l">
              <a:lnSpc>
                <a:spcPct val="118000"/>
              </a:lnSpc>
              <a:spcBef>
                <a:spcPts val="600"/>
              </a:spcBef>
              <a:spcAft>
                <a:spcPts val="200"/>
              </a:spcAft>
            </a:pPr>
            <a:r>
              <a:rPr sz="1900" b="0" i="0">
                <a:solidFill>
                  <a:srgbClr val="16202C"/>
                </a:solidFill>
                <a:latin typeface="Segoe UI"/>
                <a:ea typeface="맑은 고딕"/>
                <a:cs typeface="맑은 고딕"/>
              </a:rPr>
              <a:t>▪  첫 텐서의 배치는 Fig. 1 (c) 를 s 로 일반화한 형태 그대로다. 그림에서는 s = 4 였다.</a:t>
            </a:r>
          </a:p>
          <a:p>
            <a:pPr algn="l">
              <a:lnSpc>
                <a:spcPct val="118000"/>
              </a:lnSpc>
              <a:spcBef>
                <a:spcPts val="600"/>
              </a:spcBef>
              <a:spcAft>
                <a:spcPts val="200"/>
              </a:spcAft>
            </a:pPr>
            <a:r>
              <a:rPr sz="1900" b="1" i="0">
                <a:solidFill>
                  <a:srgbClr val="083F80"/>
                </a:solidFill>
                <a:latin typeface="Segoe UI"/>
                <a:ea typeface="맑은 고딕"/>
                <a:cs typeface="맑은 고딕"/>
              </a:rPr>
              <a:t>▪  입력은 e 축으로, 출력은 f 축으로 쪼개진다. 층 하나를 지나며 분할 축이 바뀐다.</a:t>
            </a:r>
          </a:p>
          <a:p>
            <a:pPr algn="l">
              <a:lnSpc>
                <a:spcPct val="118000"/>
              </a:lnSpc>
              <a:spcBef>
                <a:spcPts val="600"/>
              </a:spcBef>
              <a:spcAft>
                <a:spcPts val="200"/>
              </a:spcAft>
            </a:pPr>
            <a:r>
              <a:rPr sz="1900" b="1" i="0">
                <a:solidFill>
                  <a:srgbClr val="083F80"/>
                </a:solidFill>
                <a:latin typeface="Segoe UI"/>
                <a:ea typeface="맑은 고딕"/>
                <a:cs typeface="맑은 고딕"/>
              </a:rPr>
              <a:t>▪  슬라이스 간 부분합 병합 방법은 II절에 없다. 없는 내용을 지어내지 말고 물음표로 남겨 둔다.</a:t>
            </a:r>
          </a:p>
          <a:p>
            <a:pPr algn="l">
              <a:lnSpc>
                <a:spcPct val="118000"/>
              </a:lnSpc>
              <a:spcBef>
                <a:spcPts val="600"/>
              </a:spcBef>
              <a:spcAft>
                <a:spcPts val="200"/>
              </a:spcAft>
            </a:pPr>
            <a:r>
              <a:rPr sz="1900" b="0" i="0">
                <a:solidFill>
                  <a:srgbClr val="16202C"/>
                </a:solidFill>
                <a:latin typeface="Segoe UI"/>
                <a:ea typeface="맑은 고딕"/>
                <a:cs typeface="맑은 고딕"/>
              </a:rPr>
              <a:t>▪  이 불일치가 뒤의 bridge operator 가 필요한 이유이며, 답은 IV절(마이크로아키텍처)과 V절(컴파일러)에서 나온다.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경우의 한 가지 가능한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51</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논문 원문: "In this case, one possible tactic is ..." — 유일한 답이 아니라 '가능한 하나'다</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E6EDF3"/>
                </a:solidFill>
                <a:latin typeface="Consolas"/>
                <a:ea typeface="Consolas"/>
                <a:cs typeface="Consolas"/>
              </a:rPr>
              <a:t>tactic  =   e^(E/s)[s]  |  b^1[B]  l^1[L]  f^1[F]  e^1[E/s]</a:t>
            </a:r>
          </a:p>
          <a:p>
            <a:pPr algn="l">
              <a:lnSpc>
                <a:spcPct val="124000"/>
              </a:lnSpc>
              <a:spcAft>
                <a:spcPts val="0"/>
              </a:spcAft>
            </a:pPr>
            <a:r>
              <a:rPr sz="1500" b="0" i="0">
                <a:solidFill>
                  <a:srgbClr val="E6EDF3"/>
                </a:solidFill>
                <a:latin typeface="Consolas"/>
                <a:ea typeface="Consolas"/>
                <a:cs typeface="Consolas"/>
              </a:rPr>
              <a:t>            └── inter ──┘  └────────── slice tactic ──────────┘</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E6EDF3"/>
                </a:solidFill>
                <a:latin typeface="Consolas"/>
                <a:ea typeface="Consolas"/>
                <a:cs typeface="Consolas"/>
              </a:rPr>
              <a:t>             가장 바깥 루프                 안쪽으로 갈수록 →</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E6EDF3"/>
                </a:solidFill>
                <a:latin typeface="Consolas"/>
                <a:ea typeface="Consolas"/>
                <a:cs typeface="Consolas"/>
              </a:rPr>
              <a:t>  루프 순서 :   e(슬라이스 병렬)  →  b  →  l  →  f  →  e(축약)</a:t>
            </a:r>
          </a:p>
          <a:p>
            <a:pPr algn="l">
              <a:lnSpc>
                <a:spcPct val="124000"/>
              </a:lnSpc>
              <a:spcAft>
                <a:spcPts val="0"/>
              </a:spcAft>
            </a:pPr>
            <a:r>
              <a:rPr sz="1500" b="0" i="0">
                <a:solidFill>
                  <a:srgbClr val="E6EDF3"/>
                </a:solidFill>
                <a:latin typeface="Consolas"/>
                <a:ea typeface="Consolas"/>
                <a:cs typeface="Consolas"/>
              </a:rPr>
              <a:t>                    ①              ②     ③     ④      ⑤(최내곽)</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e 가 두 번 등장한다. 맨 왼쪽의 e^(E/s)[s] 와 맨 오른쪽의 e^1[E/s] 다.</a:t>
            </a:r>
          </a:p>
          <a:p>
            <a:pPr algn="l">
              <a:lnSpc>
                <a:spcPct val="118000"/>
              </a:lnSpc>
              <a:spcBef>
                <a:spcPts val="200"/>
              </a:spcBef>
              <a:spcAft>
                <a:spcPts val="100"/>
              </a:spcAft>
            </a:pPr>
            <a:r>
              <a:rPr sz="1380" b="0" i="0">
                <a:solidFill>
                  <a:srgbClr val="2C3A4B"/>
                </a:solidFill>
                <a:latin typeface="Segoe UI"/>
                <a:ea typeface="맑은 고딕"/>
                <a:cs typeface="맑은 고딕"/>
              </a:rPr>
              <a:t>–  왼쪽 e = 슬라이스들에 나눠 병렬로 도는 바깥 루프.</a:t>
            </a:r>
          </a:p>
          <a:p>
            <a:pPr algn="l">
              <a:lnSpc>
                <a:spcPct val="118000"/>
              </a:lnSpc>
              <a:spcBef>
                <a:spcPts val="200"/>
              </a:spcBef>
              <a:spcAft>
                <a:spcPts val="100"/>
              </a:spcAft>
            </a:pPr>
            <a:r>
              <a:rPr sz="1380" b="0" i="0">
                <a:solidFill>
                  <a:srgbClr val="2C3A4B"/>
                </a:solidFill>
                <a:latin typeface="Segoe UI"/>
                <a:ea typeface="맑은 고딕"/>
                <a:cs typeface="맑은 고딕"/>
              </a:rPr>
              <a:t>–  오른쪽 e = 슬라이스 안에서 순차로 도는 최내곽 루프이자 실제 축약.</a:t>
            </a:r>
          </a:p>
          <a:p>
            <a:pPr algn="l">
              <a:lnSpc>
                <a:spcPct val="118000"/>
              </a:lnSpc>
              <a:spcBef>
                <a:spcPts val="600"/>
              </a:spcBef>
              <a:spcAft>
                <a:spcPts val="200"/>
              </a:spcAft>
            </a:pPr>
            <a:r>
              <a:rPr sz="1500" b="0" i="0">
                <a:solidFill>
                  <a:srgbClr val="16202C"/>
                </a:solidFill>
                <a:latin typeface="Segoe UI"/>
                <a:ea typeface="맑은 고딕"/>
                <a:cs typeface="맑은 고딕"/>
              </a:rPr>
              <a:t>▪  같은 e축이 '슬라이스 간'과 '슬라이스 내'로 두 층으로 쪼개져 있다는 뜻이다.</a:t>
            </a:r>
          </a:p>
          <a:p>
            <a:pPr algn="l">
              <a:lnSpc>
                <a:spcPct val="118000"/>
              </a:lnSpc>
              <a:spcBef>
                <a:spcPts val="600"/>
              </a:spcBef>
              <a:spcAft>
                <a:spcPts val="200"/>
              </a:spcAft>
            </a:pPr>
            <a:r>
              <a:rPr sz="1500" b="1" i="0">
                <a:solidFill>
                  <a:srgbClr val="083F80"/>
                </a:solidFill>
                <a:latin typeface="Segoe UI"/>
                <a:ea typeface="맑은 고딕"/>
                <a:cs typeface="맑은 고딕"/>
              </a:rPr>
              <a:t>▪  논문은 이것을 'one possible tactic'이라고 명시한다. 다른 tactic 도 존재한다.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축 e 가 두 번 나오는 것은 오타가 아니라 2단 분할이다.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tactic 해설 ① — 첫 항 e^(E/s)[s]</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원문 그대로: tactic 의 첫 항 e^(E/s)[s] 는 가장 바깥 루프가 e축 위에 있음을 나타낸다.</a:t>
            </a:r>
          </a:p>
          <a:p>
            <a:pPr algn="l">
              <a:lnSpc>
                <a:spcPct val="118000"/>
              </a:lnSpc>
              <a:spcBef>
                <a:spcPts val="600"/>
              </a:spcBef>
              <a:spcAft>
                <a:spcPts val="200"/>
              </a:spcAft>
            </a:pPr>
            <a:r>
              <a:rPr sz="1900" b="0" i="0">
                <a:solidFill>
                  <a:srgbClr val="16202C"/>
                </a:solidFill>
                <a:latin typeface="Segoe UI"/>
                <a:ea typeface="맑은 고딕"/>
                <a:cs typeface="맑은 고딕"/>
              </a:rPr>
              <a:t>▪  보폭(stride)은 E/s 이고, s개의 슬라이스에 걸쳐 있다 (그림의 경우 s = 4).</a:t>
            </a:r>
          </a:p>
          <a:p>
            <a:pPr algn="l">
              <a:lnSpc>
                <a:spcPct val="118000"/>
              </a:lnSpc>
              <a:spcBef>
                <a:spcPts val="600"/>
              </a:spcBef>
              <a:spcAft>
                <a:spcPts val="200"/>
              </a:spcAft>
            </a:pPr>
            <a:r>
              <a:rPr sz="1900" b="0" i="0">
                <a:solidFill>
                  <a:srgbClr val="16202C"/>
                </a:solidFill>
                <a:latin typeface="Segoe UI"/>
                <a:ea typeface="맑은 고딕"/>
                <a:cs typeface="맑은 고딕"/>
              </a:rPr>
              <a:t>▪  그리고 그 의미는 다음 한 문장이다.</a:t>
            </a:r>
          </a:p>
          <a:p>
            <a:pPr algn="l">
              <a:lnSpc>
                <a:spcPct val="118000"/>
              </a:lnSpc>
              <a:spcBef>
                <a:spcPts val="200"/>
              </a:spcBef>
              <a:spcAft>
                <a:spcPts val="100"/>
              </a:spcAft>
            </a:pPr>
            <a:r>
              <a:rPr sz="1780" b="1" i="0">
                <a:solidFill>
                  <a:srgbClr val="2C3A4B"/>
                </a:solidFill>
                <a:latin typeface="Segoe UI"/>
                <a:ea typeface="맑은 고딕"/>
                <a:cs typeface="맑은 고딕"/>
              </a:rPr>
              <a:t>–  "which means we perform s outermost sub-loops in parallel" — s개의 최외곽 서브 루프를 병렬로 수행한다.</a:t>
            </a:r>
          </a:p>
          <a:p>
            <a:pPr algn="l">
              <a:lnSpc>
                <a:spcPct val="118000"/>
              </a:lnSpc>
              <a:spcBef>
                <a:spcPts val="600"/>
              </a:spcBef>
              <a:spcAft>
                <a:spcPts val="200"/>
              </a:spcAft>
            </a:pPr>
            <a:r>
              <a:rPr sz="1900" b="1" i="0">
                <a:solidFill>
                  <a:srgbClr val="083F80"/>
                </a:solidFill>
                <a:latin typeface="Segoe UI"/>
                <a:ea typeface="맑은 고딕"/>
                <a:cs typeface="맑은 고딕"/>
              </a:rPr>
              <a:t>▪  즉 | 왼쪽에 놓인 항은 '순서'가 아니라 '동시에'를 뜻한다.</a:t>
            </a:r>
          </a:p>
          <a:p>
            <a:pPr algn="l">
              <a:lnSpc>
                <a:spcPct val="118000"/>
              </a:lnSpc>
              <a:spcBef>
                <a:spcPts val="200"/>
              </a:spcBef>
              <a:spcAft>
                <a:spcPts val="100"/>
              </a:spcAft>
            </a:pPr>
            <a:r>
              <a:rPr sz="1780" b="0" i="0">
                <a:solidFill>
                  <a:srgbClr val="2C3A4B"/>
                </a:solidFill>
                <a:latin typeface="Segoe UI"/>
                <a:ea typeface="맑은 고딕"/>
                <a:cs typeface="맑은 고딕"/>
              </a:rPr>
              <a:t>–  보통의 중첩 루프에서 가장 바깥 루프는 순차 반복이지만, 여기서는 슬라이스 s개가 동시에 각자의 서브 루프를 돈다.</a:t>
            </a:r>
          </a:p>
          <a:p>
            <a:pPr algn="l">
              <a:lnSpc>
                <a:spcPct val="118000"/>
              </a:lnSpc>
              <a:spcBef>
                <a:spcPts val="600"/>
              </a:spcBef>
              <a:spcAft>
                <a:spcPts val="200"/>
              </a:spcAft>
            </a:pPr>
            <a:r>
              <a:rPr sz="1900" b="1" i="0">
                <a:solidFill>
                  <a:srgbClr val="083F80"/>
                </a:solidFill>
                <a:latin typeface="Segoe UI"/>
                <a:ea typeface="맑은 고딕"/>
                <a:cs typeface="맑은 고딕"/>
              </a:rPr>
              <a:t>▪  이것이 tactic 표기가 | 로 좌우를 나눈 이유다. 왼쪽은 공간(병렬), 오른쪽은 시간(순차).</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 왼쪽 = 공간에 펼친 병렬 루프, | 오른쪽 = 시간에 펼친 순차 루프.</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tactic 해설 ② — slice tactic b¹[B] l¹[L] f¹[F] e¹[E/s]</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네 겹 루프. 안쪽이 축약이고, 그 바로 바깥이 재사용을 만든다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53</a:t>
            </a:r>
          </a:p>
        </p:txBody>
      </p:sp>
      <p:grpSp>
        <p:nvGrpSpPr>
          <p:cNvPr id="9" name="도해 A2#18"/>
          <p:cNvGrpSpPr/>
          <p:nvPr/>
        </p:nvGrpSpPr>
        <p:grpSpPr>
          <a:xfrm>
            <a:off x="1322442" y="1463040"/>
            <a:ext cx="9546810" cy="4078224"/>
            <a:chOff x="1322442" y="1463040"/>
            <a:chExt cx="9546810" cy="4078224"/>
          </a:xfrm>
        </p:grpSpPr>
        <p:sp>
          <p:nvSpPr>
            <p:cNvPr id="10" name="TextBox 9"/>
            <p:cNvSpPr txBox="1"/>
            <p:nvPr/>
          </p:nvSpPr>
          <p:spPr>
            <a:xfrm>
              <a:off x="2037650" y="1463040"/>
              <a:ext cx="3668449" cy="188506"/>
            </a:xfrm>
            <a:prstGeom prst="rect">
              <a:avLst/>
            </a:prstGeom>
            <a:noFill/>
          </p:spPr>
          <p:txBody>
            <a:bodyPr wrap="none" anchor="ctr" lIns="0" rIns="0" tIns="0" bIns="0">
              <a:noAutofit/>
            </a:bodyPr>
            <a:lstStyle/>
            <a:p>
              <a:pPr algn="ctr"/>
              <a:r>
                <a:rPr sz="1030" b="0">
                  <a:solidFill>
                    <a:srgbClr val="5B6B7B"/>
                  </a:solidFill>
                  <a:latin typeface="맑은 고딕"/>
                  <a:ea typeface="맑은 고딕"/>
                  <a:cs typeface="맑은 고딕"/>
                </a:rPr>
                <a:t>tactic 의 왼쪽 e^(E/s)[s] (슬라이스 s 개 병렬) 안쪽에서 도는 루프들</a:t>
              </a:r>
            </a:p>
          </p:txBody>
        </p:sp>
        <p:sp>
          <p:nvSpPr>
            <p:cNvPr id="11" name="Rounded Rectangle 10"/>
            <p:cNvSpPr/>
            <p:nvPr/>
          </p:nvSpPr>
          <p:spPr>
            <a:xfrm>
              <a:off x="1322442" y="1765934"/>
              <a:ext cx="5098865" cy="3775330"/>
            </a:xfrm>
            <a:prstGeom prst="roundRect">
              <a:avLst>
                <a:gd name="adj" fmla="val 2873"/>
              </a:avLst>
            </a:prstGeom>
            <a:solidFill>
              <a:srgbClr val="F4F8FD"/>
            </a:solidFill>
            <a:ln w="216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9737" y="1862704"/>
              <a:ext cx="1204276" cy="204215"/>
            </a:xfrm>
            <a:prstGeom prst="rect">
              <a:avLst/>
            </a:prstGeom>
            <a:noFill/>
          </p:spPr>
          <p:txBody>
            <a:bodyPr wrap="none" anchor="ctr" lIns="0" rIns="0" tIns="0" bIns="0">
              <a:noAutofit/>
            </a:bodyPr>
            <a:lstStyle/>
            <a:p>
              <a:pPr algn="ctr"/>
              <a:r>
                <a:rPr sz="1110" b="1">
                  <a:solidFill>
                    <a:srgbClr val="083F80"/>
                  </a:solidFill>
                  <a:latin typeface="맑은 고딕"/>
                  <a:ea typeface="맑은 고딕"/>
                  <a:cs typeface="맑은 고딕"/>
                </a:rPr>
                <a:t>b¹[B]  —  b 축 루프</a:t>
              </a:r>
            </a:p>
          </p:txBody>
        </p:sp>
        <p:sp>
          <p:nvSpPr>
            <p:cNvPr id="13" name="Rounded Rectangle 12"/>
            <p:cNvSpPr/>
            <p:nvPr/>
          </p:nvSpPr>
          <p:spPr>
            <a:xfrm>
              <a:off x="1604507" y="2178183"/>
              <a:ext cx="4534735" cy="3211200"/>
            </a:xfrm>
            <a:prstGeom prst="roundRect">
              <a:avLst>
                <a:gd name="adj" fmla="val 3040"/>
              </a:avLst>
            </a:prstGeom>
            <a:solidFill>
              <a:srgbClr val="E3EEFB"/>
            </a:solidFill>
            <a:ln w="195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23399" y="2274953"/>
              <a:ext cx="1096950" cy="204215"/>
            </a:xfrm>
            <a:prstGeom prst="rect">
              <a:avLst/>
            </a:prstGeom>
            <a:noFill/>
          </p:spPr>
          <p:txBody>
            <a:bodyPr wrap="none" anchor="ctr" lIns="0" rIns="0" tIns="0" bIns="0">
              <a:noAutofit/>
            </a:bodyPr>
            <a:lstStyle/>
            <a:p>
              <a:pPr algn="ctr"/>
              <a:r>
                <a:rPr sz="1110" b="1">
                  <a:solidFill>
                    <a:srgbClr val="083F80"/>
                  </a:solidFill>
                  <a:latin typeface="맑은 고딕"/>
                  <a:ea typeface="맑은 고딕"/>
                  <a:cs typeface="맑은 고딕"/>
                </a:rPr>
                <a:t>l¹[L]  —  l 축 루프</a:t>
              </a:r>
            </a:p>
          </p:txBody>
        </p:sp>
        <p:sp>
          <p:nvSpPr>
            <p:cNvPr id="15" name="Rounded Rectangle 14"/>
            <p:cNvSpPr/>
            <p:nvPr/>
          </p:nvSpPr>
          <p:spPr>
            <a:xfrm>
              <a:off x="1821480" y="2590432"/>
              <a:ext cx="4100789" cy="325459"/>
            </a:xfrm>
            <a:prstGeom prst="roundRect">
              <a:avLst>
                <a:gd name="adj" fmla="val 16666"/>
              </a:avLst>
            </a:prstGeom>
            <a:solidFill>
              <a:srgbClr val="FDEBD3"/>
            </a:solidFill>
            <a:ln w="1518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55776" y="2662684"/>
              <a:ext cx="2232196" cy="180652"/>
            </a:xfrm>
            <a:prstGeom prst="rect">
              <a:avLst/>
            </a:prstGeom>
            <a:noFill/>
          </p:spPr>
          <p:txBody>
            <a:bodyPr wrap="none" anchor="ctr" lIns="0" rIns="0" tIns="0" bIns="0">
              <a:noAutofit/>
            </a:bodyPr>
            <a:lstStyle/>
            <a:p>
              <a:pPr algn="ctr"/>
              <a:r>
                <a:rPr sz="980" b="1">
                  <a:solidFill>
                    <a:srgbClr val="B45409"/>
                  </a:solidFill>
                  <a:latin typeface="맑은 고딕"/>
                  <a:ea typeface="맑은 고딕"/>
                  <a:cs typeface="맑은 고딕"/>
                </a:rPr>
                <a:t>fetch — 여기서 길이 E/s 벡터 하나를 인출</a:t>
              </a:r>
            </a:p>
          </p:txBody>
        </p:sp>
        <p:sp>
          <p:nvSpPr>
            <p:cNvPr id="17" name="Rounded Rectangle 16"/>
            <p:cNvSpPr/>
            <p:nvPr/>
          </p:nvSpPr>
          <p:spPr>
            <a:xfrm>
              <a:off x="1886572" y="3046075"/>
              <a:ext cx="3970605" cy="2148032"/>
            </a:xfrm>
            <a:prstGeom prst="roundRect">
              <a:avLst>
                <a:gd name="adj" fmla="val 4040"/>
              </a:avLst>
            </a:prstGeom>
            <a:solidFill>
              <a:srgbClr val="DCEBF9"/>
            </a:solidFill>
            <a:ln w="195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4867" y="3142845"/>
              <a:ext cx="1114015" cy="204215"/>
            </a:xfrm>
            <a:prstGeom prst="rect">
              <a:avLst/>
            </a:prstGeom>
            <a:noFill/>
          </p:spPr>
          <p:txBody>
            <a:bodyPr wrap="none" anchor="ctr" lIns="0" rIns="0" tIns="0" bIns="0">
              <a:noAutofit/>
            </a:bodyPr>
            <a:lstStyle/>
            <a:p>
              <a:pPr algn="ctr"/>
              <a:r>
                <a:rPr sz="1110" b="1">
                  <a:solidFill>
                    <a:srgbClr val="083F80"/>
                  </a:solidFill>
                  <a:latin typeface="맑은 고딕"/>
                  <a:ea typeface="맑은 고딕"/>
                  <a:cs typeface="맑은 고딕"/>
                </a:rPr>
                <a:t>f¹[F]  —  f 축 루프</a:t>
              </a:r>
            </a:p>
          </p:txBody>
        </p:sp>
        <p:sp>
          <p:nvSpPr>
            <p:cNvPr id="19" name="TextBox 18"/>
            <p:cNvSpPr txBox="1"/>
            <p:nvPr/>
          </p:nvSpPr>
          <p:spPr>
            <a:xfrm>
              <a:off x="3010223" y="3400392"/>
              <a:ext cx="1723302" cy="180652"/>
            </a:xfrm>
            <a:prstGeom prst="rect">
              <a:avLst/>
            </a:prstGeom>
            <a:noFill/>
          </p:spPr>
          <p:txBody>
            <a:bodyPr wrap="none" anchor="ctr" lIns="0" rIns="0" tIns="0" bIns="0">
              <a:noAutofit/>
            </a:bodyPr>
            <a:lstStyle/>
            <a:p>
              <a:pPr algn="ctr"/>
              <a:r>
                <a:rPr sz="980" b="1">
                  <a:solidFill>
                    <a:srgbClr val="B45409"/>
                  </a:solidFill>
                  <a:latin typeface="맑은 고딕"/>
                  <a:ea typeface="맑은 고딕"/>
                  <a:cs typeface="맑은 고딕"/>
                </a:rPr>
                <a:t>인출한 데이터를 F 번 재사용한다</a:t>
              </a:r>
            </a:p>
          </p:txBody>
        </p:sp>
        <p:sp>
          <p:nvSpPr>
            <p:cNvPr id="20" name="Rounded Rectangle 19"/>
            <p:cNvSpPr/>
            <p:nvPr/>
          </p:nvSpPr>
          <p:spPr>
            <a:xfrm>
              <a:off x="2190334" y="3762086"/>
              <a:ext cx="3363081" cy="1236746"/>
            </a:xfrm>
            <a:prstGeom prst="roundRect">
              <a:avLst>
                <a:gd name="adj" fmla="val 6140"/>
              </a:avLst>
            </a:prstGeom>
            <a:solidFill>
              <a:srgbClr val="B8D4F3"/>
            </a:solidFill>
            <a:ln w="195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0651" y="3874261"/>
              <a:ext cx="1622448" cy="212069"/>
            </a:xfrm>
            <a:prstGeom prst="rect">
              <a:avLst/>
            </a:prstGeom>
            <a:noFill/>
          </p:spPr>
          <p:txBody>
            <a:bodyPr wrap="none" anchor="ctr" lIns="0" rIns="0" tIns="0" bIns="0">
              <a:noAutofit/>
            </a:bodyPr>
            <a:lstStyle/>
            <a:p>
              <a:pPr algn="ctr"/>
              <a:r>
                <a:rPr sz="1150" b="1">
                  <a:solidFill>
                    <a:srgbClr val="083F80"/>
                  </a:solidFill>
                  <a:latin typeface="맑은 고딕"/>
                  <a:ea typeface="맑은 고딕"/>
                  <a:cs typeface="맑은 고딕"/>
                </a:rPr>
                <a:t>e¹[E/s]  —  최내곽 = 축약</a:t>
              </a:r>
            </a:p>
          </p:txBody>
        </p:sp>
        <p:sp>
          <p:nvSpPr>
            <p:cNvPr id="22" name="Rounded Rectangle 21"/>
            <p:cNvSpPr/>
            <p:nvPr/>
          </p:nvSpPr>
          <p:spPr>
            <a:xfrm>
              <a:off x="2407307" y="4239426"/>
              <a:ext cx="2929135" cy="585827"/>
            </a:xfrm>
            <a:prstGeom prst="roundRect">
              <a:avLst>
                <a:gd name="adj" fmla="val 11111"/>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98208" y="4342488"/>
              <a:ext cx="1947332" cy="196361"/>
            </a:xfrm>
            <a:prstGeom prst="rect">
              <a:avLst/>
            </a:prstGeom>
            <a:noFill/>
          </p:spPr>
          <p:txBody>
            <a:bodyPr wrap="none" anchor="ctr" lIns="0" rIns="0" tIns="0" bIns="0">
              <a:noAutofit/>
            </a:bodyPr>
            <a:lstStyle/>
            <a:p>
              <a:pPr algn="ctr"/>
              <a:r>
                <a:rPr sz="969" b="0">
                  <a:solidFill>
                    <a:srgbClr val="E6EDF3"/>
                  </a:solidFill>
                  <a:latin typeface="Consolas"/>
                  <a:ea typeface="Consolas"/>
                  <a:cs typeface="Consolas"/>
                </a:rPr>
                <a:t>acc += in0[b,l,e] * in1[e,f]</a:t>
              </a:r>
            </a:p>
          </p:txBody>
        </p:sp>
        <p:sp>
          <p:nvSpPr>
            <p:cNvPr id="24" name="TextBox 23"/>
            <p:cNvSpPr txBox="1"/>
            <p:nvPr/>
          </p:nvSpPr>
          <p:spPr>
            <a:xfrm>
              <a:off x="3233461" y="4584630"/>
              <a:ext cx="1276826" cy="164943"/>
            </a:xfrm>
            <a:prstGeom prst="rect">
              <a:avLst/>
            </a:prstGeom>
            <a:noFill/>
          </p:spPr>
          <p:txBody>
            <a:bodyPr wrap="none" anchor="ctr" lIns="0" rIns="0" tIns="0" bIns="0">
              <a:noAutofit/>
            </a:bodyPr>
            <a:lstStyle/>
            <a:p>
              <a:pPr algn="ctr"/>
              <a:r>
                <a:rPr sz="900" b="0">
                  <a:solidFill>
                    <a:srgbClr val="9FB3C8"/>
                  </a:solidFill>
                  <a:latin typeface="맑은 고딕"/>
                  <a:ea typeface="맑은 고딕"/>
                  <a:cs typeface="맑은 고딕"/>
                </a:rPr>
                <a:t>E/s 차원 벡터 두 개의 내적</a:t>
              </a:r>
            </a:p>
          </p:txBody>
        </p:sp>
        <p:sp>
          <p:nvSpPr>
            <p:cNvPr id="25" name="Rounded Rectangle 24"/>
            <p:cNvSpPr/>
            <p:nvPr/>
          </p:nvSpPr>
          <p:spPr>
            <a:xfrm>
              <a:off x="6746766" y="1765934"/>
              <a:ext cx="4122486" cy="1236746"/>
            </a:xfrm>
            <a:prstGeom prst="roundRect">
              <a:avLst>
                <a:gd name="adj" fmla="val 7894"/>
              </a:avLst>
            </a:prstGeom>
            <a:solidFill>
              <a:srgbClr val="FFF7E6"/>
            </a:solidFill>
            <a:ln w="195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7331" y="1899807"/>
              <a:ext cx="1601358" cy="212069"/>
            </a:xfrm>
            <a:prstGeom prst="rect">
              <a:avLst/>
            </a:prstGeom>
            <a:noFill/>
          </p:spPr>
          <p:txBody>
            <a:bodyPr wrap="none" anchor="ctr" lIns="0" rIns="0" tIns="0" bIns="0">
              <a:noAutofit/>
            </a:bodyPr>
            <a:lstStyle/>
            <a:p>
              <a:pPr algn="ctr"/>
              <a:r>
                <a:rPr sz="1150" b="1">
                  <a:solidFill>
                    <a:srgbClr val="B45409"/>
                  </a:solidFill>
                  <a:latin typeface="맑은 고딕"/>
                  <a:ea typeface="맑은 고딕"/>
                  <a:cs typeface="맑은 고딕"/>
                </a:rPr>
                <a:t>재사용은 순서에서 나온다</a:t>
              </a:r>
            </a:p>
          </p:txBody>
        </p:sp>
        <p:sp>
          <p:nvSpPr>
            <p:cNvPr id="27" name="TextBox 26"/>
            <p:cNvSpPr txBox="1"/>
            <p:nvPr/>
          </p:nvSpPr>
          <p:spPr>
            <a:xfrm>
              <a:off x="6942042" y="2207040"/>
              <a:ext cx="1963839" cy="180652"/>
            </a:xfrm>
            <a:prstGeom prst="rect">
              <a:avLst/>
            </a:prstGeom>
            <a:noFill/>
          </p:spPr>
          <p:txBody>
            <a:bodyPr wrap="none" anchor="ctr" lIns="0" rIns="0" tIns="0" bIns="0">
              <a:noAutofit/>
            </a:bodyPr>
            <a:lstStyle/>
            <a:p>
              <a:pPr algn="l"/>
              <a:r>
                <a:rPr sz="980" b="0">
                  <a:solidFill>
                    <a:srgbClr val="16202C"/>
                  </a:solidFill>
                  <a:latin typeface="맑은 고딕"/>
                  <a:ea typeface="맑은 고딕"/>
                  <a:cs typeface="맑은 고딕"/>
                </a:rPr>
                <a:t>f 루프가 e 루프 바로 바깥에 있으므로,</a:t>
              </a:r>
            </a:p>
          </p:txBody>
        </p:sp>
        <p:sp>
          <p:nvSpPr>
            <p:cNvPr id="28" name="TextBox 27"/>
            <p:cNvSpPr txBox="1"/>
            <p:nvPr/>
          </p:nvSpPr>
          <p:spPr>
            <a:xfrm>
              <a:off x="6942042" y="2424013"/>
              <a:ext cx="1860039" cy="180652"/>
            </a:xfrm>
            <a:prstGeom prst="rect">
              <a:avLst/>
            </a:prstGeom>
            <a:noFill/>
          </p:spPr>
          <p:txBody>
            <a:bodyPr wrap="none" anchor="ctr" lIns="0" rIns="0" tIns="0" bIns="0">
              <a:noAutofit/>
            </a:bodyPr>
            <a:lstStyle/>
            <a:p>
              <a:pPr algn="l"/>
              <a:r>
                <a:rPr sz="980" b="0">
                  <a:solidFill>
                    <a:srgbClr val="16202C"/>
                  </a:solidFill>
                  <a:latin typeface="맑은 고딕"/>
                  <a:ea typeface="맑은 고딕"/>
                  <a:cs typeface="맑은 고딕"/>
                </a:rPr>
                <a:t>f 루프 앞에서 한 번 인출한 데이터를</a:t>
              </a:r>
            </a:p>
          </p:txBody>
        </p:sp>
        <p:sp>
          <p:nvSpPr>
            <p:cNvPr id="29" name="TextBox 28"/>
            <p:cNvSpPr txBox="1"/>
            <p:nvPr/>
          </p:nvSpPr>
          <p:spPr>
            <a:xfrm>
              <a:off x="6942042" y="2640986"/>
              <a:ext cx="1920422" cy="180652"/>
            </a:xfrm>
            <a:prstGeom prst="rect">
              <a:avLst/>
            </a:prstGeom>
            <a:noFill/>
          </p:spPr>
          <p:txBody>
            <a:bodyPr wrap="none" anchor="ctr" lIns="0" rIns="0" tIns="0" bIns="0">
              <a:noAutofit/>
            </a:bodyPr>
            <a:lstStyle/>
            <a:p>
              <a:pPr algn="l"/>
              <a:r>
                <a:rPr sz="980" b="1">
                  <a:solidFill>
                    <a:srgbClr val="B45409"/>
                  </a:solidFill>
                  <a:latin typeface="맑은 고딕"/>
                  <a:ea typeface="맑은 고딕"/>
                  <a:cs typeface="맑은 고딕"/>
                </a:rPr>
                <a:t>F 번 재사용한다 (reused F times).</a:t>
              </a:r>
            </a:p>
          </p:txBody>
        </p:sp>
        <p:sp>
          <p:nvSpPr>
            <p:cNvPr id="30" name="Rounded Rectangle 29"/>
            <p:cNvSpPr/>
            <p:nvPr/>
          </p:nvSpPr>
          <p:spPr>
            <a:xfrm>
              <a:off x="6746766" y="3176259"/>
              <a:ext cx="4122486" cy="1149957"/>
            </a:xfrm>
            <a:prstGeom prst="roundRect">
              <a:avLst>
                <a:gd name="adj" fmla="val 8490"/>
              </a:avLst>
            </a:prstGeom>
            <a:solidFill>
              <a:srgbClr val="E3EEFB"/>
            </a:solidFill>
            <a:ln w="195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0286" y="3288434"/>
              <a:ext cx="1715448" cy="212069"/>
            </a:xfrm>
            <a:prstGeom prst="rect">
              <a:avLst/>
            </a:prstGeom>
            <a:noFill/>
          </p:spPr>
          <p:txBody>
            <a:bodyPr wrap="none" anchor="ctr" lIns="0" rIns="0" tIns="0" bIns="0">
              <a:noAutofit/>
            </a:bodyPr>
            <a:lstStyle/>
            <a:p>
              <a:pPr algn="ctr"/>
              <a:r>
                <a:rPr sz="1150" b="1">
                  <a:solidFill>
                    <a:srgbClr val="083F80"/>
                  </a:solidFill>
                  <a:latin typeface="맑은 고딕"/>
                  <a:ea typeface="맑은 고딕"/>
                  <a:cs typeface="맑은 고딕"/>
                </a:rPr>
                <a:t>f 루프는 B × L 번 반복된다</a:t>
              </a:r>
            </a:p>
          </p:txBody>
        </p:sp>
        <p:sp>
          <p:nvSpPr>
            <p:cNvPr id="32" name="TextBox 31"/>
            <p:cNvSpPr txBox="1"/>
            <p:nvPr/>
          </p:nvSpPr>
          <p:spPr>
            <a:xfrm>
              <a:off x="6942042" y="3595667"/>
              <a:ext cx="1671028" cy="180652"/>
            </a:xfrm>
            <a:prstGeom prst="rect">
              <a:avLst/>
            </a:prstGeom>
            <a:noFill/>
          </p:spPr>
          <p:txBody>
            <a:bodyPr wrap="none" anchor="ctr" lIns="0" rIns="0" tIns="0" bIns="0">
              <a:noAutofit/>
            </a:bodyPr>
            <a:lstStyle/>
            <a:p>
              <a:pPr algn="l"/>
              <a:r>
                <a:rPr sz="980" b="0">
                  <a:solidFill>
                    <a:srgbClr val="16202C"/>
                  </a:solidFill>
                  <a:latin typeface="맑은 고딕"/>
                  <a:ea typeface="맑은 고딕"/>
                  <a:cs typeface="맑은 고딕"/>
                </a:rPr>
                <a:t>바깥 두 루프 b¹[B], l¹[L] 위에서</a:t>
              </a:r>
            </a:p>
          </p:txBody>
        </p:sp>
        <p:sp>
          <p:nvSpPr>
            <p:cNvPr id="33" name="TextBox 32"/>
            <p:cNvSpPr txBox="1"/>
            <p:nvPr/>
          </p:nvSpPr>
          <p:spPr>
            <a:xfrm>
              <a:off x="6942042" y="3812640"/>
              <a:ext cx="1609272" cy="180652"/>
            </a:xfrm>
            <a:prstGeom prst="rect">
              <a:avLst/>
            </a:prstGeom>
            <a:noFill/>
          </p:spPr>
          <p:txBody>
            <a:bodyPr wrap="none" anchor="ctr" lIns="0" rIns="0" tIns="0" bIns="0">
              <a:noAutofit/>
            </a:bodyPr>
            <a:lstStyle/>
            <a:p>
              <a:pPr algn="l"/>
              <a:r>
                <a:rPr sz="980" b="0">
                  <a:solidFill>
                    <a:srgbClr val="16202C"/>
                  </a:solidFill>
                  <a:latin typeface="맑은 고딕"/>
                  <a:ea typeface="맑은 고딕"/>
                  <a:cs typeface="맑은 고딕"/>
                </a:rPr>
                <a:t>f 축 루프가 통째로 되풀이된다.</a:t>
              </a:r>
            </a:p>
          </p:txBody>
        </p:sp>
        <p:sp>
          <p:nvSpPr>
            <p:cNvPr id="34" name="TextBox 33"/>
            <p:cNvSpPr txBox="1"/>
            <p:nvPr/>
          </p:nvSpPr>
          <p:spPr>
            <a:xfrm>
              <a:off x="6942042" y="4035906"/>
              <a:ext cx="2896980" cy="172797"/>
            </a:xfrm>
            <a:prstGeom prst="rect">
              <a:avLst/>
            </a:prstGeom>
            <a:noFill/>
          </p:spPr>
          <p:txBody>
            <a:bodyPr wrap="none" anchor="ctr" lIns="0" rIns="0" tIns="0" bIns="0">
              <a:noAutofit/>
            </a:bodyPr>
            <a:lstStyle/>
            <a:p>
              <a:pPr algn="l"/>
              <a:r>
                <a:rPr sz="940" b="0">
                  <a:solidFill>
                    <a:srgbClr val="5B6B7B"/>
                  </a:solidFill>
                  <a:latin typeface="맑은 고딕"/>
                  <a:ea typeface="맑은 고딕"/>
                  <a:cs typeface="맑은 고딕"/>
                </a:rPr>
                <a:t>“repeated B × L times on the two outermost loops”</a:t>
              </a:r>
            </a:p>
          </p:txBody>
        </p:sp>
        <p:sp>
          <p:nvSpPr>
            <p:cNvPr id="35" name="Rounded Rectangle 34"/>
            <p:cNvSpPr/>
            <p:nvPr/>
          </p:nvSpPr>
          <p:spPr>
            <a:xfrm>
              <a:off x="6746766" y="4499794"/>
              <a:ext cx="4122486" cy="1041470"/>
            </a:xfrm>
            <a:prstGeom prst="roundRect">
              <a:avLst>
                <a:gd name="adj" fmla="val 9375"/>
              </a:avLst>
            </a:prstGeom>
            <a:solidFill>
              <a:srgbClr val="EEF2F7"/>
            </a:solidFill>
            <a:ln w="1735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66735" y="4618261"/>
              <a:ext cx="1282549" cy="204215"/>
            </a:xfrm>
            <a:prstGeom prst="rect">
              <a:avLst/>
            </a:prstGeom>
            <a:noFill/>
          </p:spPr>
          <p:txBody>
            <a:bodyPr wrap="none" anchor="ctr" lIns="0" rIns="0" tIns="0" bIns="0">
              <a:noAutofit/>
            </a:bodyPr>
            <a:lstStyle/>
            <a:p>
              <a:pPr algn="ctr"/>
              <a:r>
                <a:rPr sz="1110" b="1">
                  <a:solidFill>
                    <a:srgbClr val="16202C"/>
                  </a:solidFill>
                  <a:latin typeface="맑은 고딕"/>
                  <a:ea typeface="맑은 고딕"/>
                  <a:cs typeface="맑은 고딕"/>
                </a:rPr>
                <a:t>재사용의 물리적 근거</a:t>
              </a:r>
            </a:p>
          </p:txBody>
        </p:sp>
        <p:sp>
          <p:nvSpPr>
            <p:cNvPr id="37" name="TextBox 36"/>
            <p:cNvSpPr txBox="1"/>
            <p:nvPr/>
          </p:nvSpPr>
          <p:spPr>
            <a:xfrm>
              <a:off x="6942042" y="4919202"/>
              <a:ext cx="1769339" cy="180652"/>
            </a:xfrm>
            <a:prstGeom prst="rect">
              <a:avLst/>
            </a:prstGeom>
            <a:noFill/>
          </p:spPr>
          <p:txBody>
            <a:bodyPr wrap="none" anchor="ctr" lIns="0" rIns="0" tIns="0" bIns="0">
              <a:noAutofit/>
            </a:bodyPr>
            <a:lstStyle/>
            <a:p>
              <a:pPr algn="l"/>
              <a:r>
                <a:rPr sz="980" b="0">
                  <a:solidFill>
                    <a:srgbClr val="16202C"/>
                  </a:solidFill>
                  <a:latin typeface="맑은 고딕"/>
                  <a:ea typeface="맑은 고딕"/>
                  <a:cs typeface="맑은 고딕"/>
                </a:rPr>
                <a:t>슬라이스 내부의 input buffer 다.</a:t>
              </a:r>
            </a:p>
          </p:txBody>
        </p:sp>
        <p:sp>
          <p:nvSpPr>
            <p:cNvPr id="38" name="TextBox 37"/>
            <p:cNvSpPr txBox="1"/>
            <p:nvPr/>
          </p:nvSpPr>
          <p:spPr>
            <a:xfrm>
              <a:off x="6942042" y="5136175"/>
              <a:ext cx="2021353" cy="180652"/>
            </a:xfrm>
            <a:prstGeom prst="rect">
              <a:avLst/>
            </a:prstGeom>
            <a:noFill/>
          </p:spPr>
          <p:txBody>
            <a:bodyPr wrap="none" anchor="ctr" lIns="0" rIns="0" tIns="0" bIns="0">
              <a:noAutofit/>
            </a:bodyPr>
            <a:lstStyle/>
            <a:p>
              <a:pPr algn="l"/>
              <a:r>
                <a:rPr sz="980" b="0">
                  <a:solidFill>
                    <a:srgbClr val="5B6B7B"/>
                  </a:solidFill>
                  <a:latin typeface="맑은 고딕"/>
                  <a:ea typeface="맑은 고딕"/>
                  <a:cs typeface="맑은 고딕"/>
                </a:rPr>
                <a:t>상세는 IV절로 미룬다고 논문이 밝힌다.</a:t>
              </a:r>
            </a:p>
          </p:txBody>
        </p:sp>
      </p:grpSp>
      <p:sp>
        <p:nvSpPr>
          <p:cNvPr id="39" name="Rectangle 3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최내곽 e = 실제 곱셈-누산, 그 바로 바깥 f = 재사용을 만들어내는 루프.</a:t>
            </a:r>
          </a:p>
        </p:txBody>
      </p:sp>
      <p:sp>
        <p:nvSpPr>
          <p:cNvPr id="40" name="Rectangle 3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tactic 해설 ② — slice tactic b¹[B] l¹[L] f¹[F] e¹[E/s]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네 겹 루프. 안쪽이 축약이고, 그 바로 바깥이 재사용을 만든다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세 문장을 그대로 그린 것이다 — 최내곽 e¹[E/s] 가 축약이고, f 루프 앞에서 인출한 데이터를 F 번 재사용하며, f 축 루프가 B × L 번 반복된다.</a:t>
            </a:r>
          </a:p>
          <a:p>
            <a:pPr algn="l">
              <a:lnSpc>
                <a:spcPct val="118000"/>
              </a:lnSpc>
              <a:spcBef>
                <a:spcPts val="600"/>
              </a:spcBef>
              <a:spcAft>
                <a:spcPts val="200"/>
              </a:spcAft>
            </a:pPr>
            <a:r>
              <a:rPr sz="1900" b="0" i="0">
                <a:solidFill>
                  <a:srgbClr val="16202C"/>
                </a:solidFill>
                <a:latin typeface="Segoe UI"/>
                <a:ea typeface="맑은 고딕"/>
                <a:cs typeface="맑은 고딕"/>
              </a:rPr>
              <a:t>▪  최내곽에서 각 슬라이스가 하는 일은 E/s 차원 벡터 두 개의 내적(dot product)이다.</a:t>
            </a:r>
          </a:p>
          <a:p>
            <a:pPr algn="l">
              <a:lnSpc>
                <a:spcPct val="118000"/>
              </a:lnSpc>
              <a:spcBef>
                <a:spcPts val="600"/>
              </a:spcBef>
              <a:spcAft>
                <a:spcPts val="200"/>
              </a:spcAft>
            </a:pPr>
            <a:r>
              <a:rPr sz="1900" b="1" i="0">
                <a:solidFill>
                  <a:srgbClr val="083F80"/>
                </a:solidFill>
                <a:latin typeface="Segoe UI"/>
                <a:ea typeface="맑은 고딕"/>
                <a:cs typeface="맑은 고딕"/>
              </a:rPr>
              <a:t>▪  tactic 문자열의 항 순서가 곧 루프 중첩 순서다. 왼쪽부터 읽으면 바깥에서 안쪽이다.</a:t>
            </a:r>
          </a:p>
          <a:p>
            <a:pPr algn="l">
              <a:lnSpc>
                <a:spcPct val="118000"/>
              </a:lnSpc>
              <a:spcBef>
                <a:spcPts val="600"/>
              </a:spcBef>
              <a:spcAft>
                <a:spcPts val="200"/>
              </a:spcAft>
            </a:pPr>
            <a:r>
              <a:rPr sz="1900" b="1" i="0">
                <a:solidFill>
                  <a:srgbClr val="083F80"/>
                </a:solidFill>
                <a:latin typeface="Segoe UI"/>
                <a:ea typeface="맑은 고딕"/>
                <a:cs typeface="맑은 고딕"/>
              </a:rPr>
              <a:t>▪  f 와 e 의 순서를 바꾸거나 f 를 더 바깥으로 빼면 재사용 횟수가 달라진다. 같은 einsum 이라도 성능·전력이 갈리는 지점이다.</a:t>
            </a:r>
          </a:p>
          <a:p>
            <a:pPr algn="l">
              <a:lnSpc>
                <a:spcPct val="118000"/>
              </a:lnSpc>
              <a:spcBef>
                <a:spcPts val="600"/>
              </a:spcBef>
              <a:spcAft>
                <a:spcPts val="200"/>
              </a:spcAft>
            </a:pPr>
            <a:r>
              <a:rPr sz="1900" b="0" i="0">
                <a:solidFill>
                  <a:srgbClr val="16202C"/>
                </a:solidFill>
                <a:latin typeface="Segoe UI"/>
                <a:ea typeface="맑은 고딕"/>
                <a:cs typeface="맑은 고딕"/>
              </a:rPr>
              <a:t>▪  대안 tactic 들의 구체적 수치는 II절에 없다. Fig. 8 과 VI절에서 다룬다.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tactic 을 중첩 루프로 펼쳐 보기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55</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논문 문장을 그대로 루프 형태로 옮긴 것 (논문에는 이 의사코드가 실려 있지 않다)</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750" b="0" i="0">
                <a:solidFill>
                  <a:srgbClr val="E6EDF3"/>
                </a:solidFill>
                <a:latin typeface="Consolas"/>
                <a:ea typeface="Consolas"/>
                <a:cs typeface="Consolas"/>
              </a:rPr>
              <a:t>parallel for k in 0 .. s-1:          # e^(E/s)[s] : 슬라이스 s개가 병렬로</a:t>
            </a:r>
          </a:p>
          <a:p>
            <a:pPr algn="l">
              <a:lnSpc>
                <a:spcPct val="124000"/>
              </a:lnSpc>
              <a:spcAft>
                <a:spcPts val="0"/>
              </a:spcAft>
            </a:pPr>
            <a:r>
              <a:rPr sz="750" b="0" i="0">
                <a:solidFill>
                  <a:srgbClr val="7D91A8"/>
                </a:solidFill>
                <a:latin typeface="Consolas"/>
                <a:ea typeface="Consolas"/>
                <a:cs typeface="Consolas"/>
              </a:rPr>
              <a:t>                                     #   각자 자기 e 구간(길이 E/s)을 담당</a:t>
            </a:r>
          </a:p>
          <a:p>
            <a:pPr algn="l">
              <a:lnSpc>
                <a:spcPct val="124000"/>
              </a:lnSpc>
              <a:spcAft>
                <a:spcPts val="0"/>
              </a:spcAft>
            </a:pPr>
            <a:r>
              <a:rPr sz="750" b="0" i="0">
                <a:solidFill>
                  <a:srgbClr val="E6EDF3"/>
                </a:solidFill>
                <a:latin typeface="Consolas"/>
                <a:ea typeface="Consolas"/>
                <a:cs typeface="Consolas"/>
              </a:rPr>
              <a:t>  for b in 0 .. B-1:                 # b^1[B]   ┐</a:t>
            </a:r>
          </a:p>
          <a:p>
            <a:pPr algn="l">
              <a:lnSpc>
                <a:spcPct val="124000"/>
              </a:lnSpc>
              <a:spcAft>
                <a:spcPts val="0"/>
              </a:spcAft>
            </a:pPr>
            <a:r>
              <a:rPr sz="750" b="0" i="0">
                <a:solidFill>
                  <a:srgbClr val="E6EDF3"/>
                </a:solidFill>
                <a:latin typeface="Consolas"/>
                <a:ea typeface="Consolas"/>
                <a:cs typeface="Consolas"/>
              </a:rPr>
              <a:t>    for l in 0 .. L-1:               # l^1[L]   ┘ 이 둘이 최외곽 2중 루프</a:t>
            </a:r>
          </a:p>
          <a:p>
            <a:pPr algn="l">
              <a:lnSpc>
                <a:spcPct val="124000"/>
              </a:lnSpc>
              <a:spcAft>
                <a:spcPts val="0"/>
              </a:spcAft>
            </a:pPr>
            <a:r>
              <a:rPr sz="750" b="0" i="0">
                <a:solidFill>
                  <a:srgbClr val="E6EDF3"/>
                </a:solidFill>
                <a:latin typeface="Consolas"/>
                <a:ea typeface="Consolas"/>
                <a:cs typeface="Consolas"/>
              </a:rPr>
              <a:t> </a:t>
            </a:r>
          </a:p>
          <a:p>
            <a:pPr algn="l">
              <a:lnSpc>
                <a:spcPct val="124000"/>
              </a:lnSpc>
              <a:spcAft>
                <a:spcPts val="0"/>
              </a:spcAft>
            </a:pPr>
            <a:r>
              <a:rPr sz="750" b="0" i="0">
                <a:solidFill>
                  <a:srgbClr val="7D91A8"/>
                </a:solidFill>
                <a:latin typeface="Consolas"/>
                <a:ea typeface="Consolas"/>
                <a:cs typeface="Consolas"/>
              </a:rPr>
              <a:t>      # ← 이 지점에서 in0 의 벡터 하나(길이 E/s)를 fetch 한다</a:t>
            </a:r>
          </a:p>
          <a:p>
            <a:pPr algn="l">
              <a:lnSpc>
                <a:spcPct val="124000"/>
              </a:lnSpc>
              <a:spcAft>
                <a:spcPts val="0"/>
              </a:spcAft>
            </a:pPr>
            <a:r>
              <a:rPr sz="750" b="0" i="0">
                <a:solidFill>
                  <a:srgbClr val="E6EDF3"/>
                </a:solidFill>
                <a:latin typeface="Consolas"/>
                <a:ea typeface="Consolas"/>
                <a:cs typeface="Consolas"/>
              </a:rPr>
              <a:t> </a:t>
            </a:r>
          </a:p>
          <a:p>
            <a:pPr algn="l">
              <a:lnSpc>
                <a:spcPct val="124000"/>
              </a:lnSpc>
              <a:spcAft>
                <a:spcPts val="0"/>
              </a:spcAft>
            </a:pPr>
            <a:r>
              <a:rPr sz="750" b="0" i="0">
                <a:solidFill>
                  <a:srgbClr val="E6EDF3"/>
                </a:solidFill>
                <a:latin typeface="Consolas"/>
                <a:ea typeface="Consolas"/>
                <a:cs typeface="Consolas"/>
              </a:rPr>
              <a:t>      for f in 0 .. F-1:             # f^1[F]  ← fetch 한 데이터를 F 번 재사용</a:t>
            </a:r>
          </a:p>
          <a:p>
            <a:pPr algn="l">
              <a:lnSpc>
                <a:spcPct val="124000"/>
              </a:lnSpc>
              <a:spcAft>
                <a:spcPts val="0"/>
              </a:spcAft>
            </a:pPr>
            <a:r>
              <a:rPr sz="750" b="0" i="0">
                <a:solidFill>
                  <a:srgbClr val="7D91A8"/>
                </a:solidFill>
                <a:latin typeface="Consolas"/>
                <a:ea typeface="Consolas"/>
                <a:cs typeface="Consolas"/>
              </a:rPr>
              <a:t>                                     #   (슬라이스 내부 input buffer 사용, IV절)</a:t>
            </a:r>
          </a:p>
          <a:p>
            <a:pPr algn="l">
              <a:lnSpc>
                <a:spcPct val="124000"/>
              </a:lnSpc>
              <a:spcAft>
                <a:spcPts val="0"/>
              </a:spcAft>
            </a:pPr>
            <a:r>
              <a:rPr sz="750" b="0" i="0">
                <a:solidFill>
                  <a:srgbClr val="E6EDF3"/>
                </a:solidFill>
                <a:latin typeface="Consolas"/>
                <a:ea typeface="Consolas"/>
                <a:cs typeface="Consolas"/>
              </a:rPr>
              <a:t>        acc = 0</a:t>
            </a:r>
          </a:p>
          <a:p>
            <a:pPr algn="l">
              <a:lnSpc>
                <a:spcPct val="124000"/>
              </a:lnSpc>
              <a:spcAft>
                <a:spcPts val="0"/>
              </a:spcAft>
            </a:pPr>
            <a:r>
              <a:rPr sz="750" b="0" i="0">
                <a:solidFill>
                  <a:srgbClr val="E6EDF3"/>
                </a:solidFill>
                <a:latin typeface="Consolas"/>
                <a:ea typeface="Consolas"/>
                <a:cs typeface="Consolas"/>
              </a:rPr>
              <a:t>        for e in 0 .. (E/s)-1:       # e^1[E/s] ← 최내곽 = 축약 그 자체</a:t>
            </a:r>
          </a:p>
          <a:p>
            <a:pPr algn="l">
              <a:lnSpc>
                <a:spcPct val="124000"/>
              </a:lnSpc>
              <a:spcAft>
                <a:spcPts val="0"/>
              </a:spcAft>
            </a:pPr>
            <a:r>
              <a:rPr sz="750" b="0" i="0">
                <a:solidFill>
                  <a:srgbClr val="E6EDF3"/>
                </a:solidFill>
                <a:latin typeface="Consolas"/>
                <a:ea typeface="Consolas"/>
                <a:cs typeface="Consolas"/>
              </a:rPr>
              <a:t>          acc += in0[b,l,e] * in1[e,f]     #   E/s 차원 벡터 두 개의 내적</a:t>
            </a:r>
          </a:p>
          <a:p>
            <a:pPr algn="l">
              <a:lnSpc>
                <a:spcPct val="124000"/>
              </a:lnSpc>
              <a:spcAft>
                <a:spcPts val="0"/>
              </a:spcAft>
            </a:pPr>
            <a:r>
              <a:rPr sz="750" b="0" i="0">
                <a:solidFill>
                  <a:srgbClr val="E6EDF3"/>
                </a:solidFill>
                <a:latin typeface="Consolas"/>
                <a:ea typeface="Consolas"/>
                <a:cs typeface="Consolas"/>
              </a:rPr>
              <a:t> </a:t>
            </a:r>
          </a:p>
          <a:p>
            <a:pPr algn="l">
              <a:lnSpc>
                <a:spcPct val="124000"/>
              </a:lnSpc>
              <a:spcAft>
                <a:spcPts val="0"/>
              </a:spcAft>
            </a:pPr>
            <a:r>
              <a:rPr sz="750" b="0" i="0">
                <a:solidFill>
                  <a:srgbClr val="E6EDF3"/>
                </a:solidFill>
                <a:latin typeface="Consolas"/>
                <a:ea typeface="Consolas"/>
                <a:cs typeface="Consolas"/>
              </a:rPr>
              <a:t>        out_partial[b,l,f] = acc     # 슬라이스 k 의 부분합</a:t>
            </a:r>
          </a:p>
          <a:p>
            <a:pPr algn="l">
              <a:lnSpc>
                <a:spcPct val="124000"/>
              </a:lnSpc>
              <a:spcAft>
                <a:spcPts val="0"/>
              </a:spcAft>
            </a:pPr>
            <a:r>
              <a:rPr sz="750" b="0" i="0">
                <a:solidFill>
                  <a:srgbClr val="7D91A8"/>
                </a:solidFill>
                <a:latin typeface="Consolas"/>
                <a:ea typeface="Consolas"/>
                <a:cs typeface="Consolas"/>
              </a:rPr>
              <a:t>                                     # 슬라이스 간 합산 방법은 II절에 없다</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이 의사코드는 논문 본문의 서술을 루프로 옮긴 것이며, 논문 자체에 실린 코드가 아니다.</a:t>
            </a:r>
          </a:p>
          <a:p>
            <a:pPr algn="l">
              <a:lnSpc>
                <a:spcPct val="118000"/>
              </a:lnSpc>
              <a:spcBef>
                <a:spcPts val="600"/>
              </a:spcBef>
              <a:spcAft>
                <a:spcPts val="200"/>
              </a:spcAft>
            </a:pPr>
            <a:r>
              <a:rPr sz="1900" b="0" i="0">
                <a:solidFill>
                  <a:srgbClr val="16202C"/>
                </a:solidFill>
                <a:latin typeface="Segoe UI"/>
                <a:ea typeface="맑은 고딕"/>
                <a:cs typeface="맑은 고딕"/>
              </a:rPr>
              <a:t>▪  tactic 문자열의 항 순서가 그대로 루프 중첩 순서가 된다는 점만 확인하면 된다.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tactic 문자열을 왼쪽부터 읽으면 그대로 루프 중첩 순서다.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tactic 을 중첩 루프로 펼쳐 보기 (계속 2)</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56</a:t>
            </a:r>
          </a:p>
        </p:txBody>
      </p:sp>
      <p:sp>
        <p:nvSpPr>
          <p:cNvPr id="8" name="Rectangle 7"/>
          <p:cNvSpPr/>
          <p:nvPr/>
        </p:nvSpPr>
        <p:spPr>
          <a:xfrm>
            <a:off x="566928" y="1517904"/>
            <a:ext cx="11057839" cy="475488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 f축 루프는 전체적으로 B × L 번 반복된다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재사용(reuse) 관점에서 이 tactic 이 얻는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tactic 을 정하는 순간 데이터 재사용 횟수가 결정된다. 이것이 tactic 의 존재 이유다.</a:t>
            </a:r>
          </a:p>
          <a:p>
            <a:pPr algn="l">
              <a:lnSpc>
                <a:spcPct val="118000"/>
              </a:lnSpc>
              <a:spcBef>
                <a:spcPts val="600"/>
              </a:spcBef>
              <a:spcAft>
                <a:spcPts val="200"/>
              </a:spcAft>
            </a:pPr>
            <a:r>
              <a:rPr sz="1900" b="0" i="0">
                <a:solidFill>
                  <a:srgbClr val="16202C"/>
                </a:solidFill>
                <a:latin typeface="Segoe UI"/>
                <a:ea typeface="맑은 고딕"/>
                <a:cs typeface="맑은 고딕"/>
              </a:rPr>
              <a:t>▪  f^1[F] 가 e^1[E/s] 바로 바깥에 놓였기 때문에 생기는 효과</a:t>
            </a:r>
          </a:p>
          <a:p>
            <a:pPr algn="l">
              <a:lnSpc>
                <a:spcPct val="118000"/>
              </a:lnSpc>
              <a:spcBef>
                <a:spcPts val="200"/>
              </a:spcBef>
              <a:spcAft>
                <a:spcPts val="100"/>
              </a:spcAft>
            </a:pPr>
            <a:r>
              <a:rPr sz="1780" b="1" i="0">
                <a:solidFill>
                  <a:srgbClr val="2C3A4B"/>
                </a:solidFill>
                <a:latin typeface="Segoe UI"/>
                <a:ea typeface="맑은 고딕"/>
                <a:cs typeface="맑은 고딕"/>
              </a:rPr>
              <a:t>–  f 루프 앞에서 한 번 fetch 한 데이터를 F 번 재사용한다 (reused F times).</a:t>
            </a:r>
          </a:p>
          <a:p>
            <a:pPr algn="l">
              <a:lnSpc>
                <a:spcPct val="118000"/>
              </a:lnSpc>
              <a:spcBef>
                <a:spcPts val="200"/>
              </a:spcBef>
              <a:spcAft>
                <a:spcPts val="100"/>
              </a:spcAft>
            </a:pPr>
            <a:r>
              <a:rPr sz="1780" b="0" i="0">
                <a:solidFill>
                  <a:srgbClr val="2C3A4B"/>
                </a:solidFill>
                <a:latin typeface="Segoe UI"/>
                <a:ea typeface="맑은 고딕"/>
                <a:cs typeface="맑은 고딕"/>
              </a:rPr>
              <a:t>–  재사용의 물리적 근거는 슬라이스 내부의 input buffer 다. 논문은 상세를 IV절로 미룬다.</a:t>
            </a:r>
          </a:p>
          <a:p>
            <a:pPr algn="l">
              <a:lnSpc>
                <a:spcPct val="118000"/>
              </a:lnSpc>
              <a:spcBef>
                <a:spcPts val="600"/>
              </a:spcBef>
              <a:spcAft>
                <a:spcPts val="200"/>
              </a:spcAft>
            </a:pPr>
            <a:r>
              <a:rPr sz="1900" b="0" i="0">
                <a:solidFill>
                  <a:srgbClr val="16202C"/>
                </a:solidFill>
                <a:latin typeface="Segoe UI"/>
                <a:ea typeface="맑은 고딕"/>
                <a:cs typeface="맑은 고딕"/>
              </a:rPr>
              <a:t>▪  만약 f 와 e 의 순서를 바꾸거나 f 를 더 바깥으로 빼면 재사용 횟수가 달라진다.</a:t>
            </a:r>
          </a:p>
          <a:p>
            <a:pPr algn="l">
              <a:lnSpc>
                <a:spcPct val="118000"/>
              </a:lnSpc>
              <a:spcBef>
                <a:spcPts val="600"/>
              </a:spcBef>
              <a:spcAft>
                <a:spcPts val="200"/>
              </a:spcAft>
            </a:pPr>
            <a:r>
              <a:rPr sz="1900" b="1" i="0">
                <a:solidFill>
                  <a:srgbClr val="083F80"/>
                </a:solidFill>
                <a:latin typeface="Segoe UI"/>
                <a:ea typeface="맑은 고딕"/>
                <a:cs typeface="맑은 고딕"/>
              </a:rPr>
              <a:t>▪  이 때문에 같은 einsum 식이라도 tactic 이 다르면 성능과 전력이 달라진다.</a:t>
            </a:r>
          </a:p>
          <a:p>
            <a:pPr algn="l">
              <a:lnSpc>
                <a:spcPct val="118000"/>
              </a:lnSpc>
              <a:spcBef>
                <a:spcPts val="600"/>
              </a:spcBef>
              <a:spcAft>
                <a:spcPts val="200"/>
              </a:spcAft>
            </a:pPr>
            <a:r>
              <a:rPr sz="1900" b="0" i="0">
                <a:solidFill>
                  <a:srgbClr val="16202C"/>
                </a:solidFill>
                <a:latin typeface="Segoe UI"/>
                <a:ea typeface="맑은 고딕"/>
                <a:cs typeface="맑은 고딕"/>
              </a:rPr>
              <a:t>▪  논문은 II절에서 이 대안 tactic 들의 구체적 수치를 제시하지 않는다. Fig. 8 과 VI절에서 다룬다.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루프 순서 하나 바꾸면 재사용 횟수가 바뀌고, 재사용이 바뀌면 전력이 바뀐다.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tactic 은 유일하지 않다 — 컴파일러의 탐색 공간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입력 텐서 쌍과 텐서 연산이 주어져도 tactic 선택지는 여러 개다.</a:t>
            </a:r>
          </a:p>
          <a:p>
            <a:pPr algn="l">
              <a:lnSpc>
                <a:spcPct val="118000"/>
              </a:lnSpc>
              <a:spcBef>
                <a:spcPts val="600"/>
              </a:spcBef>
              <a:spcAft>
                <a:spcPts val="200"/>
              </a:spcAft>
            </a:pPr>
            <a:r>
              <a:rPr sz="1900" b="0" i="0">
                <a:solidFill>
                  <a:srgbClr val="16202C"/>
                </a:solidFill>
                <a:latin typeface="Segoe UI"/>
                <a:ea typeface="맑은 고딕"/>
                <a:cs typeface="맑은 고딕"/>
              </a:rPr>
              <a:t>▪  선택지를 결정하는 요인은 논문이 두 가지로 명시한다.</a:t>
            </a:r>
          </a:p>
          <a:p>
            <a:pPr algn="l">
              <a:lnSpc>
                <a:spcPct val="118000"/>
              </a:lnSpc>
              <a:spcBef>
                <a:spcPts val="200"/>
              </a:spcBef>
              <a:spcAft>
                <a:spcPts val="100"/>
              </a:spcAft>
            </a:pPr>
            <a:r>
              <a:rPr sz="1780" b="0" i="0">
                <a:solidFill>
                  <a:srgbClr val="2C3A4B"/>
                </a:solidFill>
                <a:latin typeface="Segoe UI"/>
                <a:ea typeface="맑은 고딕"/>
                <a:cs typeface="맑은 고딕"/>
              </a:rPr>
              <a:t>–  입력·출력 텐서의 lowered shape</a:t>
            </a:r>
          </a:p>
          <a:p>
            <a:pPr algn="l">
              <a:lnSpc>
                <a:spcPct val="118000"/>
              </a:lnSpc>
              <a:spcBef>
                <a:spcPts val="200"/>
              </a:spcBef>
              <a:spcAft>
                <a:spcPts val="100"/>
              </a:spcAft>
            </a:pPr>
            <a:r>
              <a:rPr sz="1780" b="0" i="0">
                <a:solidFill>
                  <a:srgbClr val="2C3A4B"/>
                </a:solidFill>
                <a:latin typeface="Segoe UI"/>
                <a:ea typeface="맑은 고딕"/>
                <a:cs typeface="맑은 고딕"/>
              </a:rPr>
              <a:t>–  연산 유닛의 가용성 (예: 사용 가능한 슬라이스의 개수)</a:t>
            </a:r>
          </a:p>
          <a:p>
            <a:pPr algn="l">
              <a:lnSpc>
                <a:spcPct val="118000"/>
              </a:lnSpc>
              <a:spcBef>
                <a:spcPts val="600"/>
              </a:spcBef>
              <a:spcAft>
                <a:spcPts val="200"/>
              </a:spcAft>
            </a:pPr>
            <a:r>
              <a:rPr sz="1900" b="1" i="0">
                <a:solidFill>
                  <a:srgbClr val="083F80"/>
                </a:solidFill>
                <a:latin typeface="Segoe UI"/>
                <a:ea typeface="맑은 고딕"/>
                <a:cs typeface="맑은 고딕"/>
              </a:rPr>
              <a:t>▪  연산 유닛이 할당되면, 컴파일러는 후보 lowered shape 들을 탐색해야 한다.</a:t>
            </a:r>
          </a:p>
          <a:p>
            <a:pPr algn="l">
              <a:lnSpc>
                <a:spcPct val="118000"/>
              </a:lnSpc>
              <a:spcBef>
                <a:spcPts val="600"/>
              </a:spcBef>
              <a:spcAft>
                <a:spcPts val="200"/>
              </a:spcAft>
            </a:pPr>
            <a:r>
              <a:rPr sz="1900" b="1" i="0">
                <a:solidFill>
                  <a:srgbClr val="083F80"/>
                </a:solidFill>
                <a:latin typeface="Segoe UI"/>
                <a:ea typeface="맑은 고딕"/>
                <a:cs typeface="맑은 고딕"/>
              </a:rPr>
              <a:t>▪  탐색의 목표는 주어진 성능(performance) 및 전력 소모(power consumption) 요구를 만족하는 tactic 을 고르는 것이다.</a:t>
            </a:r>
          </a:p>
          <a:p>
            <a:pPr algn="l">
              <a:lnSpc>
                <a:spcPct val="118000"/>
              </a:lnSpc>
              <a:spcBef>
                <a:spcPts val="600"/>
              </a:spcBef>
              <a:spcAft>
                <a:spcPts val="200"/>
              </a:spcAft>
            </a:pPr>
            <a:r>
              <a:rPr sz="1900" b="0" i="0">
                <a:solidFill>
                  <a:srgbClr val="16202C"/>
                </a:solidFill>
                <a:latin typeface="Segoe UI"/>
                <a:ea typeface="맑은 고딕"/>
                <a:cs typeface="맑은 고딕"/>
              </a:rPr>
              <a:t>▪  즉 lowered shape 과 tactic 은 사람이 손으로 정하는 상수가 아니라 컴파일러가 탐색하는 변수다.</a:t>
            </a:r>
          </a:p>
          <a:p>
            <a:pPr algn="l">
              <a:lnSpc>
                <a:spcPct val="118000"/>
              </a:lnSpc>
              <a:spcBef>
                <a:spcPts val="600"/>
              </a:spcBef>
              <a:spcAft>
                <a:spcPts val="200"/>
              </a:spcAft>
            </a:pPr>
            <a:r>
              <a:rPr sz="1900" b="0" i="0">
                <a:solidFill>
                  <a:srgbClr val="16202C"/>
                </a:solidFill>
                <a:latin typeface="Segoe UI"/>
                <a:ea typeface="맑은 고딕"/>
                <a:cs typeface="맑은 고딕"/>
              </a:rPr>
              <a:t>▪  II절은 이 탐색이 어떤 알고리즘·비용 모델로 이루어지는지는 설명하지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lowered shape 과 tactic 은 컴파일러의 설계 공간 탐색(DSE) 대상이다.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bridge operator — lowered shape 이 안 맞을 때</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문제 상황: 이웃한 두 연산의 lowered shape 이 서로 맞지 않을 수 있다.</a:t>
            </a:r>
          </a:p>
          <a:p>
            <a:pPr algn="l">
              <a:lnSpc>
                <a:spcPct val="118000"/>
              </a:lnSpc>
              <a:spcBef>
                <a:spcPts val="200"/>
              </a:spcBef>
              <a:spcAft>
                <a:spcPts val="100"/>
              </a:spcAft>
            </a:pPr>
            <a:r>
              <a:rPr sz="1780" b="0" i="0">
                <a:solidFill>
                  <a:srgbClr val="2C3A4B"/>
                </a:solidFill>
                <a:latin typeface="Segoe UI"/>
                <a:ea typeface="맑은 고딕"/>
                <a:cs typeface="맑은 고딕"/>
              </a:rPr>
              <a:t>–  어떤 층의 출력의 lowered shape 과, 그 다음 층의 입력의 lowered shape 이 다른 경우</a:t>
            </a:r>
          </a:p>
          <a:p>
            <a:pPr algn="l">
              <a:lnSpc>
                <a:spcPct val="118000"/>
              </a:lnSpc>
              <a:spcBef>
                <a:spcPts val="600"/>
              </a:spcBef>
              <a:spcAft>
                <a:spcPts val="200"/>
              </a:spcAft>
            </a:pPr>
            <a:r>
              <a:rPr sz="1900" b="1" i="0">
                <a:solidFill>
                  <a:srgbClr val="083F80"/>
                </a:solidFill>
                <a:latin typeface="Segoe UI"/>
                <a:ea typeface="맑은 고딕"/>
                <a:cs typeface="맑은 고딕"/>
              </a:rPr>
              <a:t>▪  해결: 컴파일러가 bridge operator(브리지 연산자) 를 추가한다.</a:t>
            </a:r>
          </a:p>
          <a:p>
            <a:pPr algn="l">
              <a:lnSpc>
                <a:spcPct val="118000"/>
              </a:lnSpc>
              <a:spcBef>
                <a:spcPts val="600"/>
              </a:spcBef>
              <a:spcAft>
                <a:spcPts val="200"/>
              </a:spcAft>
            </a:pPr>
            <a:r>
              <a:rPr sz="1900" b="0" i="0">
                <a:solidFill>
                  <a:srgbClr val="16202C"/>
                </a:solidFill>
                <a:latin typeface="Segoe UI"/>
                <a:ea typeface="맑은 고딕"/>
                <a:cs typeface="맑은 고딕"/>
              </a:rPr>
              <a:t>▪  bridge operator 는 텐서의 lowered shape 을 변환하는 역할을 한다.</a:t>
            </a:r>
          </a:p>
          <a:p>
            <a:pPr algn="l">
              <a:lnSpc>
                <a:spcPct val="118000"/>
              </a:lnSpc>
              <a:spcBef>
                <a:spcPts val="600"/>
              </a:spcBef>
              <a:spcAft>
                <a:spcPts val="200"/>
              </a:spcAft>
            </a:pPr>
            <a:r>
              <a:rPr sz="1900" b="0" i="0">
                <a:solidFill>
                  <a:srgbClr val="16202C"/>
                </a:solidFill>
                <a:latin typeface="Segoe UI"/>
                <a:ea typeface="맑은 고딕"/>
                <a:cs typeface="맑은 고딕"/>
              </a:rPr>
              <a:t>▪  앞의 예제에서 이미 그 필요성이 보인다. 입력은 e축 분할, 출력은 f축 분할이었다.</a:t>
            </a:r>
          </a:p>
          <a:p>
            <a:pPr algn="l">
              <a:lnSpc>
                <a:spcPct val="118000"/>
              </a:lnSpc>
              <a:spcBef>
                <a:spcPts val="600"/>
              </a:spcBef>
              <a:spcAft>
                <a:spcPts val="200"/>
              </a:spcAft>
            </a:pPr>
            <a:r>
              <a:rPr sz="1900" b="0" i="0">
                <a:solidFill>
                  <a:srgbClr val="16202C"/>
                </a:solidFill>
                <a:latin typeface="Segoe UI"/>
                <a:ea typeface="맑은 고딕"/>
                <a:cs typeface="맑은 고딕"/>
              </a:rPr>
              <a:t>▪  즉 층을 넘어갈 때 '어느 슬라이스가 무엇을 갖는가'가 달라질 수 있고, 그 재배치를 누군가는 해야 한다.</a:t>
            </a:r>
          </a:p>
          <a:p>
            <a:pPr algn="l">
              <a:lnSpc>
                <a:spcPct val="118000"/>
              </a:lnSpc>
              <a:spcBef>
                <a:spcPts val="600"/>
              </a:spcBef>
              <a:spcAft>
                <a:spcPts val="200"/>
              </a:spcAft>
            </a:pPr>
            <a:r>
              <a:rPr sz="1900" b="1" i="0">
                <a:solidFill>
                  <a:srgbClr val="083F80"/>
                </a:solidFill>
                <a:latin typeface="Segoe UI"/>
                <a:ea typeface="맑은 고딕"/>
                <a:cs typeface="맑은 고딕"/>
              </a:rPr>
              <a:t>▪  논문은 II절에서 bridge operator 의 구현 방식이나 비용을 제시하지 않는다. 존재와 역할만 언급한다.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lowered shape 불일치는 공짜가 아니다. 컴파일러가 bridge operator 를 끼워 넣는다.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동적 텐서 모양(dynamic shape)과 분할</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TCP 는 low-level einsum 연산을 primitive(기본 연산) 으로 가속한다.</a:t>
            </a:r>
          </a:p>
          <a:p>
            <a:pPr algn="l">
              <a:lnSpc>
                <a:spcPct val="118000"/>
              </a:lnSpc>
              <a:spcBef>
                <a:spcPts val="600"/>
              </a:spcBef>
              <a:spcAft>
                <a:spcPts val="200"/>
              </a:spcAft>
            </a:pPr>
            <a:r>
              <a:rPr sz="1900" b="1" i="0">
                <a:solidFill>
                  <a:srgbClr val="083F80"/>
                </a:solidFill>
                <a:latin typeface="Segoe UI"/>
                <a:ea typeface="맑은 고딕"/>
                <a:cs typeface="맑은 고딕"/>
              </a:rPr>
              <a:t>▪  동시에 dynamic tensor shape(동적 텐서 모양) 도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지원 수단은 control register(제어 레지스터) 다. 텐서의 모양을 제어 레지스터가 기술한다.</a:t>
            </a:r>
          </a:p>
          <a:p>
            <a:pPr algn="l">
              <a:lnSpc>
                <a:spcPct val="118000"/>
              </a:lnSpc>
              <a:spcBef>
                <a:spcPts val="200"/>
              </a:spcBef>
              <a:spcAft>
                <a:spcPts val="100"/>
              </a:spcAft>
            </a:pPr>
            <a:r>
              <a:rPr sz="1780" b="0" i="0">
                <a:solidFill>
                  <a:srgbClr val="2C3A4B"/>
                </a:solidFill>
                <a:latin typeface="Segoe UI"/>
                <a:ea typeface="맑은 고딕"/>
                <a:cs typeface="맑은 고딕"/>
              </a:rPr>
              <a:t>–  제어 레지스터에 대한 설명은 이후 절들에서 다룬다고 논문이 밝힌다.</a:t>
            </a:r>
          </a:p>
          <a:p>
            <a:pPr algn="l">
              <a:lnSpc>
                <a:spcPct val="118000"/>
              </a:lnSpc>
              <a:spcBef>
                <a:spcPts val="600"/>
              </a:spcBef>
              <a:spcAft>
                <a:spcPts val="200"/>
              </a:spcAft>
            </a:pPr>
            <a:r>
              <a:rPr sz="1900" b="1" i="0">
                <a:solidFill>
                  <a:srgbClr val="083F80"/>
                </a:solidFill>
                <a:latin typeface="Segoe UI"/>
                <a:ea typeface="맑은 고딕"/>
                <a:cs typeface="맑은 고딕"/>
              </a:rPr>
              <a:t>▪  앞의 예제에서 b 축과 l 축은 실행 시점에 동적으로 결정될 수 있다.</a:t>
            </a:r>
          </a:p>
          <a:p>
            <a:pPr algn="l">
              <a:lnSpc>
                <a:spcPct val="118000"/>
              </a:lnSpc>
              <a:spcBef>
                <a:spcPts val="200"/>
              </a:spcBef>
              <a:spcAft>
                <a:spcPts val="100"/>
              </a:spcAft>
            </a:pPr>
            <a:r>
              <a:rPr sz="1780" b="0" i="0">
                <a:solidFill>
                  <a:srgbClr val="2C3A4B"/>
                </a:solidFill>
                <a:latin typeface="Segoe UI"/>
                <a:ea typeface="맑은 고딕"/>
                <a:cs typeface="맑은 고딕"/>
              </a:rPr>
              <a:t>–  b : 새로 들어온 요청(request)의 개수에 따라</a:t>
            </a:r>
          </a:p>
          <a:p>
            <a:pPr algn="l">
              <a:lnSpc>
                <a:spcPct val="118000"/>
              </a:lnSpc>
              <a:spcBef>
                <a:spcPts val="200"/>
              </a:spcBef>
              <a:spcAft>
                <a:spcPts val="100"/>
              </a:spcAft>
            </a:pPr>
            <a:r>
              <a:rPr sz="1780" b="0" i="0">
                <a:solidFill>
                  <a:srgbClr val="2C3A4B"/>
                </a:solidFill>
                <a:latin typeface="Segoe UI"/>
                <a:ea typeface="맑은 고딕"/>
                <a:cs typeface="맑은 고딕"/>
              </a:rPr>
              <a:t>–  l : 각 요청의 토큰 생성 길이(token generation length)에 따라</a:t>
            </a:r>
          </a:p>
          <a:p>
            <a:pPr algn="l">
              <a:lnSpc>
                <a:spcPct val="118000"/>
              </a:lnSpc>
              <a:spcBef>
                <a:spcPts val="200"/>
              </a:spcBef>
              <a:spcAft>
                <a:spcPts val="100"/>
              </a:spcAft>
            </a:pPr>
            <a:r>
              <a:rPr sz="1780" b="1" i="0">
                <a:solidFill>
                  <a:srgbClr val="2C3A4B"/>
                </a:solidFill>
                <a:latin typeface="Segoe UI"/>
                <a:ea typeface="맑은 고딕"/>
                <a:cs typeface="맑은 고딕"/>
              </a:rPr>
              <a:t>–  두 값 모두 LLM(대규모 언어 모델)을 실행할 때 동적으로 결정된다.</a:t>
            </a:r>
          </a:p>
          <a:p>
            <a:pPr algn="l">
              <a:lnSpc>
                <a:spcPct val="118000"/>
              </a:lnSpc>
              <a:spcBef>
                <a:spcPts val="600"/>
              </a:spcBef>
              <a:spcAft>
                <a:spcPts val="200"/>
              </a:spcAft>
            </a:pPr>
            <a:r>
              <a:rPr sz="1900" b="1" i="0">
                <a:solidFill>
                  <a:srgbClr val="083F80"/>
                </a:solidFill>
                <a:latin typeface="Segoe UI"/>
                <a:ea typeface="맑은 고딕"/>
                <a:cs typeface="맑은 고딕"/>
              </a:rPr>
              <a:t>▪  텐서가 메모리 용량(PE 또는 칩의)을 초과하면 반드시 분할(split)해야 한다.</a:t>
            </a:r>
          </a:p>
          <a:p>
            <a:pPr algn="l">
              <a:lnSpc>
                <a:spcPct val="118000"/>
              </a:lnSpc>
              <a:spcBef>
                <a:spcPts val="200"/>
              </a:spcBef>
              <a:spcAft>
                <a:spcPts val="100"/>
              </a:spcAft>
            </a:pPr>
            <a:r>
              <a:rPr sz="1780" b="1" i="0">
                <a:solidFill>
                  <a:srgbClr val="2C3A4B"/>
                </a:solidFill>
                <a:latin typeface="Segoe UI"/>
                <a:ea typeface="맑은 고딕"/>
                <a:cs typeface="맑은 고딕"/>
              </a:rPr>
              <a:t>–  그리고 tactic 도 그 분할에 맞춰 결정되어야 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LLM 서빙에서 b와 l은 런타임에 바뀐다. 그래서 모양이 레지스터로 기술된다.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low-level einsum 표기는 어디에 쓰이는가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논문이 밝히는 용도는 두 가지다.</a:t>
            </a:r>
          </a:p>
          <a:p>
            <a:pPr algn="l">
              <a:lnSpc>
                <a:spcPct val="118000"/>
              </a:lnSpc>
              <a:spcBef>
                <a:spcPts val="600"/>
              </a:spcBef>
              <a:spcAft>
                <a:spcPts val="200"/>
              </a:spcAft>
            </a:pPr>
            <a:r>
              <a:rPr sz="1900" b="1" i="0">
                <a:solidFill>
                  <a:srgbClr val="083F80"/>
                </a:solidFill>
                <a:latin typeface="Segoe UI"/>
                <a:ea typeface="맑은 고딕"/>
                <a:cs typeface="맑은 고딕"/>
              </a:rPr>
              <a:t>▪  1. 컴파일러 안에서 축약의 설계 공간 탐색(design space exploration)을 수월하게 하는 데 쓰인다.</a:t>
            </a:r>
          </a:p>
          <a:p>
            <a:pPr algn="l">
              <a:lnSpc>
                <a:spcPct val="118000"/>
              </a:lnSpc>
              <a:spcBef>
                <a:spcPts val="600"/>
              </a:spcBef>
              <a:spcAft>
                <a:spcPts val="200"/>
              </a:spcAft>
            </a:pPr>
            <a:r>
              <a:rPr sz="1900" b="1" i="0">
                <a:solidFill>
                  <a:srgbClr val="083F80"/>
                </a:solidFill>
                <a:latin typeface="Segoe UI"/>
                <a:ea typeface="맑은 고딕"/>
                <a:cs typeface="맑은 고딕"/>
              </a:rPr>
              <a:t>▪  2. 설계자에게 low-level API(저수준 API) 를 노출하는 데 쓰인다 (V절).</a:t>
            </a:r>
          </a:p>
          <a:p>
            <a:pPr algn="l">
              <a:lnSpc>
                <a:spcPct val="118000"/>
              </a:lnSpc>
              <a:spcBef>
                <a:spcPts val="600"/>
              </a:spcBef>
              <a:spcAft>
                <a:spcPts val="200"/>
              </a:spcAft>
            </a:pPr>
            <a:r>
              <a:rPr sz="1900" b="0" i="0">
                <a:solidFill>
                  <a:srgbClr val="16202C"/>
                </a:solidFill>
                <a:latin typeface="Segoe UI"/>
                <a:ea typeface="맑은 고딕"/>
                <a:cs typeface="맑은 고딕"/>
              </a:rPr>
              <a:t>▪  즉 이 표기는 내부 IR(중간 표현) 이면서 동시에 사용자에게 열려 있는 인터페이스다.</a:t>
            </a:r>
          </a:p>
          <a:p>
            <a:pPr algn="l">
              <a:lnSpc>
                <a:spcPct val="118000"/>
              </a:lnSpc>
              <a:spcBef>
                <a:spcPts val="600"/>
              </a:spcBef>
              <a:spcAft>
                <a:spcPts val="200"/>
              </a:spcAft>
            </a:pPr>
            <a:r>
              <a:rPr sz="1900" b="1" i="0">
                <a:solidFill>
                  <a:srgbClr val="083F80"/>
                </a:solidFill>
                <a:latin typeface="Segoe UI"/>
                <a:ea typeface="맑은 고딕"/>
                <a:cs typeface="맑은 고딕"/>
              </a:rPr>
              <a:t>▪  그리고 논문은 이 표기로 VI절에서 LLaMA-2 7B 모델의 TCP 칩 실행 전략을 기술한다.</a:t>
            </a:r>
          </a:p>
          <a:p>
            <a:pPr algn="l">
              <a:lnSpc>
                <a:spcPct val="118000"/>
              </a:lnSpc>
              <a:spcBef>
                <a:spcPts val="600"/>
              </a:spcBef>
              <a:spcAft>
                <a:spcPts val="200"/>
              </a:spcAft>
            </a:pPr>
            <a:r>
              <a:rPr sz="1900" b="0" i="0">
                <a:solidFill>
                  <a:srgbClr val="16202C"/>
                </a:solidFill>
                <a:latin typeface="Segoe UI"/>
                <a:ea typeface="맑은 고딕"/>
                <a:cs typeface="맑은 고딕"/>
              </a:rPr>
              <a:t>▪  앞으로 볼 것들이 전부 이 표기로 쓰여 있다.</a:t>
            </a:r>
          </a:p>
          <a:p>
            <a:pPr algn="l">
              <a:lnSpc>
                <a:spcPct val="118000"/>
              </a:lnSpc>
              <a:spcBef>
                <a:spcPts val="200"/>
              </a:spcBef>
              <a:spcAft>
                <a:spcPts val="100"/>
              </a:spcAft>
            </a:pPr>
            <a:r>
              <a:rPr sz="1780" b="0" i="0">
                <a:solidFill>
                  <a:srgbClr val="2C3A4B"/>
                </a:solidFill>
                <a:latin typeface="Segoe UI"/>
                <a:ea typeface="맑은 고딕"/>
                <a:cs typeface="맑은 고딕"/>
              </a:rPr>
              <a:t>–  Fig. 8 : ble,ef 축약에 대한 세 가지 lowered shape 과 tactic 예시</a:t>
            </a:r>
          </a:p>
          <a:p>
            <a:pPr algn="l">
              <a:lnSpc>
                <a:spcPct val="118000"/>
              </a:lnSpc>
              <a:spcBef>
                <a:spcPts val="200"/>
              </a:spcBef>
              <a:spcAft>
                <a:spcPts val="100"/>
              </a:spcAft>
            </a:pPr>
            <a:r>
              <a:rPr sz="1780" b="0" i="0">
                <a:solidFill>
                  <a:srgbClr val="2C3A4B"/>
                </a:solidFill>
                <a:latin typeface="Segoe UI"/>
                <a:ea typeface="맑은 고딕"/>
                <a:cs typeface="맑은 고딕"/>
              </a:rPr>
              <a:t>–  Fig. 10 : attention 층의 QK^T 계산, 즉 HQD,HKD → HQK 의 tactic 예시</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이 표기는 컴파일러의 내부 언어이자, 설계자에게 열린 API다.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2부 · PRELIMINARIES — 논문의 어휘</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62</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II절 요약: 세 문장</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einsum 은 '무엇'만 말하고, TCP 는 '어디에'와 '어떤 순서로'까지 적는다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3</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SYSTEM-ON-CHIP</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PE 8개 · NoC · HBM3 · 칩 제원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절의 구성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III절은 두 층위를 다룬다: SoC 레벨과 PE 레벨</a:t>
            </a:r>
          </a:p>
          <a:p>
            <a:pPr algn="l">
              <a:lnSpc>
                <a:spcPct val="118000"/>
              </a:lnSpc>
              <a:spcBef>
                <a:spcPts val="200"/>
              </a:spcBef>
              <a:spcAft>
                <a:spcPts val="100"/>
              </a:spcAft>
            </a:pPr>
            <a:r>
              <a:rPr sz="1780" b="0" i="0">
                <a:solidFill>
                  <a:srgbClr val="5B6B7B"/>
                </a:solidFill>
                <a:latin typeface="Segoe UI"/>
                <a:ea typeface="맑은 고딕"/>
                <a:cs typeface="맑은 고딕"/>
              </a:rPr>
              <a:t>·  SoC 레벨: PE 8개, PE 융합, SR-IOV, TDP, HBM3, NoC, PCIe Gen5 P2P, 주소 변환 유닛</a:t>
            </a:r>
          </a:p>
          <a:p>
            <a:pPr algn="l">
              <a:lnSpc>
                <a:spcPct val="118000"/>
              </a:lnSpc>
              <a:spcBef>
                <a:spcPts val="200"/>
              </a:spcBef>
              <a:spcAft>
                <a:spcPts val="100"/>
              </a:spcAft>
            </a:pPr>
            <a:r>
              <a:rPr sz="1780" b="0" i="0">
                <a:solidFill>
                  <a:srgbClr val="5B6B7B"/>
                </a:solidFill>
                <a:latin typeface="Segoe UI"/>
                <a:ea typeface="맑은 고딕"/>
                <a:cs typeface="맑은 고딕"/>
              </a:rPr>
              <a:t>·  TABLE I: 칩 특성표 (공정·클럭·다이 크기·TDP·DRAM·SRAM·호스트 연결·MAC·Vector Engine)</a:t>
            </a:r>
          </a:p>
          <a:p>
            <a:pPr algn="l">
              <a:lnSpc>
                <a:spcPct val="118000"/>
              </a:lnSpc>
              <a:spcBef>
                <a:spcPts val="200"/>
              </a:spcBef>
              <a:spcAft>
                <a:spcPts val="100"/>
              </a:spcAft>
            </a:pPr>
            <a:r>
              <a:rPr sz="1780" b="0" i="0">
                <a:solidFill>
                  <a:srgbClr val="5B6B7B"/>
                </a:solidFill>
                <a:latin typeface="Segoe UI"/>
                <a:ea typeface="맑은 고딕"/>
                <a:cs typeface="맑은 고딕"/>
              </a:rPr>
              <a:t>·  III-A. Processing Element: CPU core + Tensor Unit(TU) + Tensor DMA engine(TDMA)</a:t>
            </a:r>
          </a:p>
          <a:p>
            <a:pPr algn="l">
              <a:lnSpc>
                <a:spcPct val="118000"/>
              </a:lnSpc>
              <a:spcBef>
                <a:spcPts val="200"/>
              </a:spcBef>
              <a:spcAft>
                <a:spcPts val="100"/>
              </a:spcAft>
            </a:pPr>
            <a:r>
              <a:rPr sz="1780" b="0" i="0">
                <a:solidFill>
                  <a:srgbClr val="5B6B7B"/>
                </a:solidFill>
                <a:latin typeface="Segoe UI"/>
                <a:ea typeface="맑은 고딕"/>
                <a:cs typeface="맑은 고딕"/>
              </a:rPr>
              <a:t>·  III-B. Tensor Unit: slice 분할, fetch network, CE/VE/TE, 64+1 slice, dual context(이중 컨텍스트)</a:t>
            </a:r>
          </a:p>
          <a:p>
            <a:pPr algn="l">
              <a:lnSpc>
                <a:spcPct val="118000"/>
              </a:lnSpc>
              <a:spcBef>
                <a:spcPts val="200"/>
              </a:spcBef>
              <a:spcAft>
                <a:spcPts val="100"/>
              </a:spcAft>
            </a:pPr>
            <a:r>
              <a:rPr sz="1780" b="0" i="0">
                <a:solidFill>
                  <a:srgbClr val="2C3A4B"/>
                </a:solidFill>
                <a:latin typeface="Segoe UI"/>
                <a:ea typeface="맑은 고딕"/>
                <a:cs typeface="맑은 고딕"/>
              </a:rPr>
              <a:t>–  마이크로아키텍처 세부(데이터 메모리 뱅크, DPE 비트폭, fetch network 상세)는 IV절로 넘어간다</a:t>
            </a:r>
          </a:p>
          <a:p>
            <a:pPr algn="l">
              <a:lnSpc>
                <a:spcPct val="118000"/>
              </a:lnSpc>
              <a:spcBef>
                <a:spcPts val="200"/>
              </a:spcBef>
              <a:spcAft>
                <a:spcPts val="100"/>
              </a:spcAft>
            </a:pPr>
            <a:r>
              <a:rPr sz="1780" b="0" i="0">
                <a:solidFill>
                  <a:srgbClr val="2C3A4B"/>
                </a:solidFill>
                <a:latin typeface="Segoe UI"/>
                <a:ea typeface="맑은 고딕"/>
                <a:cs typeface="맑은 고딕"/>
              </a:rPr>
              <a:t>–  즉 III절은 '무엇이 몇 개 있고 얼마나 빠른가', IV절은 '그 안이 어떻게 생겼는가'다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III절 = 칩 조감도. 숫자와 연결 관계가 핵심이다.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2 — SoC 블록도와 다이 사진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64</a:t>
            </a:r>
          </a:p>
        </p:txBody>
      </p:sp>
      <p:pic>
        <p:nvPicPr>
          <p:cNvPr id="8" name="Picture 7" descr="isca_fig2.png"/>
          <p:cNvPicPr>
            <a:picLocks noChangeAspect="1"/>
          </p:cNvPicPr>
          <p:nvPr/>
        </p:nvPicPr>
        <p:blipFill>
          <a:blip r:embed="rId2"/>
          <a:stretch>
            <a:fillRect/>
          </a:stretch>
        </p:blipFill>
        <p:spPr>
          <a:xfrm>
            <a:off x="566928" y="1517904"/>
            <a:ext cx="5971233" cy="2996674"/>
          </a:xfrm>
          <a:prstGeom prst="rect">
            <a:avLst/>
          </a:prstGeom>
        </p:spPr>
      </p:pic>
      <p:sp>
        <p:nvSpPr>
          <p:cNvPr id="9" name="Rectangle 8"/>
          <p:cNvSpPr/>
          <p:nvPr/>
        </p:nvSpPr>
        <p:spPr>
          <a:xfrm>
            <a:off x="566928" y="1517904"/>
            <a:ext cx="5971233" cy="2996674"/>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542010"/>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2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100"/>
              </a:spcAft>
            </a:pPr>
            <a:r>
              <a:rPr sz="1080" b="1" i="0">
                <a:solidFill>
                  <a:srgbClr val="2C3A4B"/>
                </a:solidFill>
                <a:latin typeface="Segoe UI"/>
                <a:ea typeface="맑은 고딕"/>
                <a:cs typeface="맑은 고딕"/>
              </a:rPr>
              <a:t>–  (a) 블록도: PE 8개가 위 4개 / 아래 4개로 배치되고, 가운데를 NoC(Network-on-Chip, 온칩 네트워크)가 가로지른다</a:t>
            </a:r>
          </a:p>
          <a:p>
            <a:pPr algn="l">
              <a:lnSpc>
                <a:spcPct val="118000"/>
              </a:lnSpc>
              <a:spcBef>
                <a:spcPts val="200"/>
              </a:spcBef>
              <a:spcAft>
                <a:spcPts val="100"/>
              </a:spcAft>
            </a:pPr>
            <a:r>
              <a:rPr sz="1080" b="0" i="0">
                <a:solidFill>
                  <a:srgbClr val="5B6B7B"/>
                </a:solidFill>
                <a:latin typeface="Segoe UI"/>
                <a:ea typeface="맑은 고딕"/>
                <a:cs typeface="맑은 고딕"/>
              </a:rPr>
              <a:t>·  PE 하나 = Core + SRAM + Tensor DMA + Tensor Unit. Tensor Unit 안을 채운 격자가 slice(슬라이스)다</a:t>
            </a:r>
          </a:p>
          <a:p>
            <a:pPr algn="l">
              <a:lnSpc>
                <a:spcPct val="118000"/>
              </a:lnSpc>
              <a:spcBef>
                <a:spcPts val="200"/>
              </a:spcBef>
              <a:spcAft>
                <a:spcPts val="100"/>
              </a:spcAft>
            </a:pPr>
            <a:r>
              <a:rPr sz="1080" b="0" i="0">
                <a:solidFill>
                  <a:srgbClr val="5B6B7B"/>
                </a:solidFill>
                <a:latin typeface="Segoe UI"/>
                <a:ea typeface="맑은 고딕"/>
                <a:cs typeface="맑은 고딕"/>
              </a:rPr>
              <a:t>·  그림에 표기된 PE 1개 성능: 64 TOPS / 32 TFLOPS, SRAM 32MB</a:t>
            </a:r>
          </a:p>
          <a:p>
            <a:pPr algn="l">
              <a:lnSpc>
                <a:spcPct val="118000"/>
              </a:lnSpc>
              <a:spcBef>
                <a:spcPts val="200"/>
              </a:spcBef>
              <a:spcAft>
                <a:spcPts val="100"/>
              </a:spcAft>
            </a:pPr>
            <a:r>
              <a:rPr sz="1080" b="0" i="0">
                <a:solidFill>
                  <a:srgbClr val="5B6B7B"/>
                </a:solidFill>
                <a:latin typeface="Segoe UI"/>
                <a:ea typeface="맑은 고딕"/>
                <a:cs typeface="맑은 고딕"/>
              </a:rPr>
              <a:t>·  PE 4개를 묶었을 때: 256 TOPS / 128 TFLOPS, SRAM 128MB — 최대 4개까지 fuse(융합)할 수 있다는 본문과 대응한다</a:t>
            </a:r>
          </a:p>
          <a:p>
            <a:pPr algn="l">
              <a:lnSpc>
                <a:spcPct val="118000"/>
              </a:lnSpc>
              <a:spcBef>
                <a:spcPts val="200"/>
              </a:spcBef>
              <a:spcAft>
                <a:spcPts val="100"/>
              </a:spcAft>
            </a:pPr>
            <a:r>
              <a:rPr sz="1080" b="0" i="0">
                <a:solidFill>
                  <a:srgbClr val="5B6B7B"/>
                </a:solidFill>
                <a:latin typeface="Segoe UI"/>
                <a:ea typeface="맑은 고딕"/>
                <a:cs typeface="맑은 고딕"/>
              </a:rPr>
              <a:t>·  좌우 끝에 HBM Mem Ctrl.(HBM 메모리 컨트롤러)이 2개 — HBM3 스택 2개에 대응한다</a:t>
            </a:r>
          </a:p>
          <a:p>
            <a:pPr algn="l">
              <a:lnSpc>
                <a:spcPct val="118000"/>
              </a:lnSpc>
              <a:spcBef>
                <a:spcPts val="200"/>
              </a:spcBef>
              <a:spcAft>
                <a:spcPts val="100"/>
              </a:spcAft>
            </a:pPr>
            <a:r>
              <a:rPr sz="1080" b="0" i="0">
                <a:solidFill>
                  <a:srgbClr val="5B6B7B"/>
                </a:solidFill>
                <a:latin typeface="Segoe UI"/>
                <a:ea typeface="맑은 고딕"/>
                <a:cs typeface="맑은 고딕"/>
              </a:rPr>
              <a:t>·  좌측 하단에 Cmd Proc.(command processor, 명령 처리기)와 PCIe Gen5 블록이 붙는다</a:t>
            </a:r>
          </a:p>
          <a:p>
            <a:pPr algn="l">
              <a:lnSpc>
                <a:spcPct val="118000"/>
              </a:lnSpc>
              <a:spcBef>
                <a:spcPts val="200"/>
              </a:spcBef>
              <a:spcAft>
                <a:spcPts val="100"/>
              </a:spcAft>
            </a:pPr>
            <a:r>
              <a:rPr sz="1080" b="1" i="0">
                <a:solidFill>
                  <a:srgbClr val="2C3A4B"/>
                </a:solidFill>
                <a:latin typeface="Segoe UI"/>
                <a:ea typeface="맑은 고딕"/>
                <a:cs typeface="맑은 고딕"/>
              </a:rPr>
              <a:t>–  (b) 다이 사진: PE 8개(4+4), 중앙의 NoC, 좌측의 CPU/Crypto, 좌하단 PCI/e, 우측의 HBM3 SubSystem이 라벨로 보인다</a:t>
            </a:r>
          </a:p>
          <a:p>
            <a:pPr algn="l">
              <a:lnSpc>
                <a:spcPct val="118000"/>
              </a:lnSpc>
              <a:spcBef>
                <a:spcPts val="200"/>
              </a:spcBef>
              <a:spcAft>
                <a:spcPts val="100"/>
              </a:spcAft>
            </a:pPr>
            <a:r>
              <a:rPr sz="1080" b="0" i="0">
                <a:solidFill>
                  <a:srgbClr val="5B6B7B"/>
                </a:solidFill>
                <a:latin typeface="Segoe UI"/>
                <a:ea typeface="맑은 고딕"/>
                <a:cs typeface="맑은 고딕"/>
              </a:rPr>
              <a:t>·  다이 면적 대부분을 PE 8개가 차지하고, HBM3 서브시스템은 한쪽 변에 몰려 있다</a:t>
            </a:r>
          </a:p>
          <a:p>
            <a:pPr algn="l">
              <a:lnSpc>
                <a:spcPct val="118000"/>
              </a:lnSpc>
              <a:spcBef>
                <a:spcPts val="200"/>
              </a:spcBef>
              <a:spcAft>
                <a:spcPts val="100"/>
              </a:spcAft>
            </a:pPr>
            <a:r>
              <a:rPr sz="1080" b="0" i="0">
                <a:solidFill>
                  <a:srgbClr val="5B6B7B"/>
                </a:solidFill>
                <a:latin typeface="Segoe UI"/>
                <a:ea typeface="맑은 고딕"/>
                <a:cs typeface="맑은 고딕"/>
              </a:rPr>
              <a:t>·  블록도와 다이 사진의 배치가 거의 그대로 일치한다 — 논리 구조가 물리 배치에 직결된 설계다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 8개 + NoC + HBM3 2스택 + PCIe Gen5 — TCP SoC의 골격은 이 네 덩어리다.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PE 8개 — 쪼개 쓰고 묶어 쓴다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TCP는 PE(Processing Element, 처리 요소) 8개로 구성된다</a:t>
            </a:r>
          </a:p>
          <a:p>
            <a:pPr algn="l">
              <a:lnSpc>
                <a:spcPct val="118000"/>
              </a:lnSpc>
              <a:spcBef>
                <a:spcPts val="200"/>
              </a:spcBef>
              <a:spcAft>
                <a:spcPts val="100"/>
              </a:spcAft>
            </a:pPr>
            <a:r>
              <a:rPr sz="1780" b="0" i="0">
                <a:solidFill>
                  <a:srgbClr val="2C3A4B"/>
                </a:solidFill>
                <a:latin typeface="Segoe UI"/>
                <a:ea typeface="맑은 고딕"/>
                <a:cs typeface="맑은 고딕"/>
              </a:rPr>
              <a:t>–  각 PE는 호스트 입장에서 독립된 디바이스(independent device)로 동작한다</a:t>
            </a:r>
          </a:p>
          <a:p>
            <a:pPr algn="l">
              <a:lnSpc>
                <a:spcPct val="118000"/>
              </a:lnSpc>
              <a:spcBef>
                <a:spcPts val="200"/>
              </a:spcBef>
              <a:spcAft>
                <a:spcPts val="100"/>
              </a:spcAft>
            </a:pPr>
            <a:r>
              <a:rPr sz="1780" b="0" i="0">
                <a:solidFill>
                  <a:srgbClr val="5B6B7B"/>
                </a:solidFill>
                <a:latin typeface="Segoe UI"/>
                <a:ea typeface="맑은 고딕"/>
                <a:cs typeface="맑은 고딕"/>
              </a:rPr>
              <a:t>·  논문은 이를 일부 GPU의 multi-instance(다중 인스턴스) 기능에 비유한다 [14]</a:t>
            </a:r>
          </a:p>
          <a:p>
            <a:pPr algn="l">
              <a:lnSpc>
                <a:spcPct val="118000"/>
              </a:lnSpc>
              <a:spcBef>
                <a:spcPts val="200"/>
              </a:spcBef>
              <a:spcAft>
                <a:spcPts val="100"/>
              </a:spcAft>
            </a:pPr>
            <a:r>
              <a:rPr sz="1780" b="0" i="0">
                <a:solidFill>
                  <a:srgbClr val="2C3A4B"/>
                </a:solidFill>
                <a:latin typeface="Segoe UI"/>
                <a:ea typeface="맑은 고딕"/>
                <a:cs typeface="맑은 고딕"/>
              </a:rPr>
              <a:t>–  반대 방향으로, 최대 4개의 PE를 fuse(융합)해 하나의 더 큰 PE로 만들 수 있다</a:t>
            </a:r>
          </a:p>
          <a:p>
            <a:pPr algn="l">
              <a:lnSpc>
                <a:spcPct val="118000"/>
              </a:lnSpc>
              <a:spcBef>
                <a:spcPts val="200"/>
              </a:spcBef>
              <a:spcAft>
                <a:spcPts val="100"/>
              </a:spcAft>
            </a:pPr>
            <a:r>
              <a:rPr sz="1780" b="0" i="0">
                <a:solidFill>
                  <a:srgbClr val="5B6B7B"/>
                </a:solidFill>
                <a:latin typeface="Segoe UI"/>
                <a:ea typeface="맑은 고딕"/>
                <a:cs typeface="맑은 고딕"/>
              </a:rPr>
              <a:t>·  즉 세밀도 조절이 양방향이다: 독립 디바이스 8개 ↔ 큰 PE 2개(4+4) 같은 구성</a:t>
            </a:r>
          </a:p>
          <a:p>
            <a:pPr algn="l">
              <a:lnSpc>
                <a:spcPct val="118000"/>
              </a:lnSpc>
              <a:spcBef>
                <a:spcPts val="200"/>
              </a:spcBef>
              <a:spcAft>
                <a:spcPts val="100"/>
              </a:spcAft>
            </a:pPr>
            <a:r>
              <a:rPr sz="1780" b="0" i="0">
                <a:solidFill>
                  <a:srgbClr val="5B6B7B"/>
                </a:solidFill>
                <a:latin typeface="Segoe UI"/>
                <a:ea typeface="맑은 고딕"/>
                <a:cs typeface="맑은 고딕"/>
              </a:rPr>
              <a:t>·  작은 요청은 PE 하나씩 나눠 받고, 큰 모델은 PE를 묶어 처리한다</a:t>
            </a:r>
          </a:p>
          <a:p>
            <a:pPr algn="l">
              <a:lnSpc>
                <a:spcPct val="118000"/>
              </a:lnSpc>
              <a:spcBef>
                <a:spcPts val="200"/>
              </a:spcBef>
              <a:spcAft>
                <a:spcPts val="100"/>
              </a:spcAft>
            </a:pPr>
            <a:r>
              <a:rPr sz="1780" b="0" i="0">
                <a:solidFill>
                  <a:srgbClr val="2C3A4B"/>
                </a:solidFill>
                <a:latin typeface="Segoe UI"/>
                <a:ea typeface="맑은 고딕"/>
                <a:cs typeface="맑은 고딕"/>
              </a:rPr>
              <a:t>–  이 유연성이 II절의 lowered shape / tactic 탐색 공간을 하드웨어 쪽에서 뒷받침한다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PE는 '나눠서 8개'로도, '합쳐서 큰 것'으로도 쓴다. 최대 융합 단위는 4개다.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SR-IOV와 멀티테넌시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SoC는 SR-IOV(Single Root I/O Virtualization, 단일 루트 I/O 가상화)를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덕분에 여러 개의 virtual machine(가상 머신)이 서로 분리된 주소 공간(separate address spaces)으로 칩을 나눠 쓴다</a:t>
            </a:r>
          </a:p>
          <a:p>
            <a:pPr algn="l">
              <a:lnSpc>
                <a:spcPct val="118000"/>
              </a:lnSpc>
              <a:spcBef>
                <a:spcPts val="200"/>
              </a:spcBef>
              <a:spcAft>
                <a:spcPts val="100"/>
              </a:spcAft>
            </a:pPr>
            <a:r>
              <a:rPr sz="1780" b="0" i="0">
                <a:solidFill>
                  <a:srgbClr val="2C3A4B"/>
                </a:solidFill>
                <a:latin typeface="Segoe UI"/>
                <a:ea typeface="맑은 고딕"/>
                <a:cs typeface="맑은 고딕"/>
              </a:rPr>
              <a:t>–  결과적으로 클라우드 서버에서 multi-tenancy(다중 사용자 공유)를 제공한다</a:t>
            </a:r>
          </a:p>
          <a:p>
            <a:pPr algn="l">
              <a:lnSpc>
                <a:spcPct val="118000"/>
              </a:lnSpc>
              <a:spcBef>
                <a:spcPts val="200"/>
              </a:spcBef>
              <a:spcAft>
                <a:spcPts val="100"/>
              </a:spcAft>
            </a:pPr>
            <a:r>
              <a:rPr sz="1780" b="0" i="0">
                <a:solidFill>
                  <a:srgbClr val="5B6B7B"/>
                </a:solidFill>
                <a:latin typeface="Segoe UI"/>
                <a:ea typeface="맑은 고딕"/>
                <a:cs typeface="맑은 고딕"/>
              </a:rPr>
              <a:t>·  여러 사용자가 동시에 올라타므로 칩 활용률(utilization)이 높아진다</a:t>
            </a:r>
          </a:p>
          <a:p>
            <a:pPr algn="l">
              <a:lnSpc>
                <a:spcPct val="118000"/>
              </a:lnSpc>
              <a:spcBef>
                <a:spcPts val="200"/>
              </a:spcBef>
              <a:spcAft>
                <a:spcPts val="100"/>
              </a:spcAft>
            </a:pPr>
            <a:r>
              <a:rPr sz="1780" b="0" i="0">
                <a:solidFill>
                  <a:srgbClr val="5B6B7B"/>
                </a:solidFill>
                <a:latin typeface="Segoe UI"/>
                <a:ea typeface="맑은 고딕"/>
                <a:cs typeface="맑은 고딕"/>
              </a:rPr>
              <a:t>·  추론 서비스는 요청 크기가 들쭉날쭉하므로, 칩 한 장을 한 사용자가 독점하면 낭비가 크다</a:t>
            </a:r>
          </a:p>
          <a:p>
            <a:pPr algn="l">
              <a:lnSpc>
                <a:spcPct val="118000"/>
              </a:lnSpc>
              <a:spcBef>
                <a:spcPts val="200"/>
              </a:spcBef>
              <a:spcAft>
                <a:spcPts val="100"/>
              </a:spcAft>
            </a:pPr>
            <a:r>
              <a:rPr sz="1780" b="0" i="0">
                <a:solidFill>
                  <a:srgbClr val="2C3A4B"/>
                </a:solidFill>
                <a:latin typeface="Segoe UI"/>
                <a:ea typeface="맑은 고딕"/>
                <a:cs typeface="맑은 고딕"/>
              </a:rPr>
              <a:t>–  PE 단위 독립 동작(하드웨어 분할)과 SR-IOV(가상화 인터페이스)는 한 세트로 이해해야 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 단위 독립 + SR-IOV = 클라우드에서 한 칩을 여러 테넌트가 동시에 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150 W TDP — 결과가 아니라 전제였다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TABLE I이 칩 특성(chip characteristics)을 정리한다</a:t>
            </a:r>
          </a:p>
          <a:p>
            <a:pPr algn="l">
              <a:lnSpc>
                <a:spcPct val="118000"/>
              </a:lnSpc>
              <a:spcBef>
                <a:spcPts val="200"/>
              </a:spcBef>
              <a:spcAft>
                <a:spcPts val="100"/>
              </a:spcAft>
            </a:pPr>
            <a:r>
              <a:rPr sz="1780" b="1" i="0">
                <a:solidFill>
                  <a:srgbClr val="2C3A4B"/>
                </a:solidFill>
                <a:latin typeface="Segoe UI"/>
                <a:ea typeface="맑은 고딕"/>
                <a:cs typeface="맑은 고딕"/>
              </a:rPr>
              <a:t>–  추론(inference)은 낮은 지연시간(low latency)과 낮은 전력(low power), 그리고 공랭(air cooling)을 요구한다 [8]</a:t>
            </a:r>
          </a:p>
          <a:p>
            <a:pPr algn="l">
              <a:lnSpc>
                <a:spcPct val="118000"/>
              </a:lnSpc>
              <a:spcBef>
                <a:spcPts val="200"/>
              </a:spcBef>
              <a:spcAft>
                <a:spcPts val="100"/>
              </a:spcAft>
            </a:pPr>
            <a:r>
              <a:rPr sz="1780" b="0" i="0">
                <a:solidFill>
                  <a:srgbClr val="2C3A4B"/>
                </a:solidFill>
                <a:latin typeface="Segoe UI"/>
                <a:ea typeface="맑은 고딕"/>
                <a:cs typeface="맑은 고딕"/>
              </a:rPr>
              <a:t>–  그래서 TCP는 설계 초기(from the outset)부터 TDP 150 W를 목표로 잡았다</a:t>
            </a:r>
          </a:p>
          <a:p>
            <a:pPr algn="l">
              <a:lnSpc>
                <a:spcPct val="118000"/>
              </a:lnSpc>
              <a:spcBef>
                <a:spcPts val="200"/>
              </a:spcBef>
              <a:spcAft>
                <a:spcPts val="100"/>
              </a:spcAft>
            </a:pPr>
            <a:r>
              <a:rPr sz="1780" b="0" i="0">
                <a:solidFill>
                  <a:srgbClr val="5B6B7B"/>
                </a:solidFill>
                <a:latin typeface="Segoe UI"/>
                <a:ea typeface="맑은 고딕"/>
                <a:cs typeface="맑은 고딕"/>
              </a:rPr>
              <a:t>·  150 W면 기존 대부분의 데이터센터에서 최대 성능으로 조밀하게(dense) 그리고 확장 가능하게(scalable) 쓸 수 있다</a:t>
            </a:r>
          </a:p>
          <a:p>
            <a:pPr algn="l">
              <a:lnSpc>
                <a:spcPct val="118000"/>
              </a:lnSpc>
              <a:spcBef>
                <a:spcPts val="200"/>
              </a:spcBef>
              <a:spcAft>
                <a:spcPts val="100"/>
              </a:spcAft>
            </a:pPr>
            <a:r>
              <a:rPr sz="1780" b="0" i="0">
                <a:solidFill>
                  <a:srgbClr val="2C3A4B"/>
                </a:solidFill>
                <a:latin typeface="Segoe UI"/>
                <a:ea typeface="맑은 고딕"/>
                <a:cs typeface="맑은 고딕"/>
              </a:rPr>
              <a:t>–  핵심은 TDP가 사후 측정값이 아니라 설계 제약(design constraint)이었다는 점이다</a:t>
            </a:r>
          </a:p>
          <a:p>
            <a:pPr algn="l">
              <a:lnSpc>
                <a:spcPct val="118000"/>
              </a:lnSpc>
              <a:spcBef>
                <a:spcPts val="200"/>
              </a:spcBef>
              <a:spcAft>
                <a:spcPts val="100"/>
              </a:spcAft>
            </a:pPr>
            <a:r>
              <a:rPr sz="1780" b="0" i="0">
                <a:solidFill>
                  <a:srgbClr val="5B6B7B"/>
                </a:solidFill>
                <a:latin typeface="Segoe UI"/>
                <a:ea typeface="맑은 고딕"/>
                <a:cs typeface="맑은 고딕"/>
              </a:rPr>
              <a:t>·  수랭 없이 꽂을 수 있다는 것은 기존 랙·전원·냉방을 그대로 쓴다는 뜻이다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150 W는 결과가 아니라 전제다. 공랭 데이터센터에 그대로 꽂는 것이 목표였다.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 — TCP 칩 특성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68</a:t>
            </a:r>
          </a:p>
        </p:txBody>
      </p:sp>
      <p:pic>
        <p:nvPicPr>
          <p:cNvPr id="8" name="Picture 7" descr="isca_tableI.png"/>
          <p:cNvPicPr>
            <a:picLocks noChangeAspect="1"/>
          </p:cNvPicPr>
          <p:nvPr/>
        </p:nvPicPr>
        <p:blipFill>
          <a:blip r:embed="rId2"/>
          <a:stretch>
            <a:fillRect/>
          </a:stretch>
        </p:blipFill>
        <p:spPr>
          <a:xfrm>
            <a:off x="566928" y="1517904"/>
            <a:ext cx="5971233" cy="2588098"/>
          </a:xfrm>
          <a:prstGeom prst="rect">
            <a:avLst/>
          </a:prstGeom>
        </p:spPr>
      </p:pic>
      <p:sp>
        <p:nvSpPr>
          <p:cNvPr id="9" name="Rectangle 8"/>
          <p:cNvSpPr/>
          <p:nvPr/>
        </p:nvSpPr>
        <p:spPr>
          <a:xfrm>
            <a:off x="566928" y="1517904"/>
            <a:ext cx="5971233" cy="2588098"/>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133434"/>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TABLE I — TCP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100"/>
              </a:spcAft>
            </a:pPr>
            <a:r>
              <a:rPr sz="1380" b="1" i="0">
                <a:solidFill>
                  <a:srgbClr val="2C3A4B"/>
                </a:solidFill>
                <a:latin typeface="Segoe UI"/>
                <a:ea typeface="맑은 고딕"/>
                <a:cs typeface="맑은 고딕"/>
              </a:rPr>
              <a:t>–  논문이 밝힌 칩 스펙 전체가 이 표 한 장에 들어 있다</a:t>
            </a:r>
          </a:p>
          <a:p>
            <a:pPr algn="l">
              <a:lnSpc>
                <a:spcPct val="118000"/>
              </a:lnSpc>
              <a:spcBef>
                <a:spcPts val="200"/>
              </a:spcBef>
              <a:spcAft>
                <a:spcPts val="100"/>
              </a:spcAft>
            </a:pPr>
            <a:r>
              <a:rPr sz="1380" b="0" i="0">
                <a:solidFill>
                  <a:srgbClr val="5B6B7B"/>
                </a:solidFill>
                <a:latin typeface="Segoe UI"/>
                <a:ea typeface="맑은 고딕"/>
                <a:cs typeface="맑은 고딕"/>
              </a:rPr>
              <a:t>·  공정 TSMC 5nm, 동작 주파수 1 GHz — 클럭을 높여 성능을 얻는 설계가 아니다</a:t>
            </a:r>
          </a:p>
          <a:p>
            <a:pPr algn="l">
              <a:lnSpc>
                <a:spcPct val="118000"/>
              </a:lnSpc>
              <a:spcBef>
                <a:spcPts val="200"/>
              </a:spcBef>
              <a:spcAft>
                <a:spcPts val="100"/>
              </a:spcAft>
            </a:pPr>
            <a:r>
              <a:rPr sz="1380" b="0" i="0">
                <a:solidFill>
                  <a:srgbClr val="5B6B7B"/>
                </a:solidFill>
                <a:latin typeface="Segoe UI"/>
                <a:ea typeface="맑은 고딕"/>
                <a:cs typeface="맑은 고딕"/>
              </a:rPr>
              <a:t>·  다이 크기 24.59 × 25.71 mm, 면적 632.1 mm²</a:t>
            </a:r>
          </a:p>
          <a:p>
            <a:pPr algn="l">
              <a:lnSpc>
                <a:spcPct val="118000"/>
              </a:lnSpc>
              <a:spcBef>
                <a:spcPts val="200"/>
              </a:spcBef>
              <a:spcAft>
                <a:spcPts val="100"/>
              </a:spcAft>
            </a:pPr>
            <a:r>
              <a:rPr sz="1380" b="0" i="0">
                <a:solidFill>
                  <a:srgbClr val="5B6B7B"/>
                </a:solidFill>
                <a:latin typeface="Segoe UI"/>
                <a:ea typeface="맑은 고딕"/>
                <a:cs typeface="맑은 고딕"/>
              </a:rPr>
              <a:t>·  TDP 150 W</a:t>
            </a:r>
          </a:p>
          <a:p>
            <a:pPr algn="l">
              <a:lnSpc>
                <a:spcPct val="118000"/>
              </a:lnSpc>
              <a:spcBef>
                <a:spcPts val="200"/>
              </a:spcBef>
              <a:spcAft>
                <a:spcPts val="100"/>
              </a:spcAft>
            </a:pPr>
            <a:r>
              <a:rPr sz="1380" b="0" i="0">
                <a:solidFill>
                  <a:srgbClr val="5B6B7B"/>
                </a:solidFill>
                <a:latin typeface="Segoe UI"/>
                <a:ea typeface="맑은 고딕"/>
                <a:cs typeface="맑은 고딕"/>
              </a:rPr>
              <a:t>·  DRAM은 HBM3 스택 2개, 용량 48 GB, 대역폭 1.5 TB/s</a:t>
            </a:r>
          </a:p>
          <a:p>
            <a:pPr algn="l">
              <a:lnSpc>
                <a:spcPct val="118000"/>
              </a:lnSpc>
              <a:spcBef>
                <a:spcPts val="200"/>
              </a:spcBef>
              <a:spcAft>
                <a:spcPts val="100"/>
              </a:spcAft>
            </a:pPr>
            <a:r>
              <a:rPr sz="1380" b="0" i="0">
                <a:solidFill>
                  <a:srgbClr val="5B6B7B"/>
                </a:solidFill>
                <a:latin typeface="Segoe UI"/>
                <a:ea typeface="맑은 고딕"/>
                <a:cs typeface="맑은 고딕"/>
              </a:rPr>
              <a:t>·  온칩 SRAM 256 MB, 대역폭 384 TB/s</a:t>
            </a:r>
          </a:p>
          <a:p>
            <a:pPr algn="l">
              <a:lnSpc>
                <a:spcPct val="118000"/>
              </a:lnSpc>
              <a:spcBef>
                <a:spcPts val="200"/>
              </a:spcBef>
              <a:spcAft>
                <a:spcPts val="100"/>
              </a:spcAft>
            </a:pPr>
            <a:r>
              <a:rPr sz="1380" b="0" i="0">
                <a:solidFill>
                  <a:srgbClr val="5B6B7B"/>
                </a:solidFill>
                <a:latin typeface="Segoe UI"/>
                <a:ea typeface="맑은 고딕"/>
                <a:cs typeface="맑은 고딕"/>
              </a:rPr>
              <a:t>·  호스트 연결은 PCIe Gen5 x16 (128 GB/s)</a:t>
            </a:r>
          </a:p>
          <a:p>
            <a:pPr algn="l">
              <a:lnSpc>
                <a:spcPct val="118000"/>
              </a:lnSpc>
              <a:spcBef>
                <a:spcPts val="200"/>
              </a:spcBef>
              <a:spcAft>
                <a:spcPts val="100"/>
              </a:spcAft>
            </a:pPr>
            <a:r>
              <a:rPr sz="1380" b="0" i="0">
                <a:solidFill>
                  <a:srgbClr val="5B6B7B"/>
                </a:solidFill>
                <a:latin typeface="Segoe UI"/>
                <a:ea typeface="맑은 고딕"/>
                <a:cs typeface="맑은 고딕"/>
              </a:rPr>
              <a:t>·  MAC 성능은 정밀도별 4가지: INT8 512 TOPS, INT4 1024 TOPS, BF16 256 TFLOPS, FP8 512 TFLOPS</a:t>
            </a:r>
          </a:p>
          <a:p>
            <a:pPr algn="l">
              <a:lnSpc>
                <a:spcPct val="118000"/>
              </a:lnSpc>
              <a:spcBef>
                <a:spcPts val="200"/>
              </a:spcBef>
              <a:spcAft>
                <a:spcPts val="100"/>
              </a:spcAft>
            </a:pPr>
            <a:r>
              <a:rPr sz="1380" b="0" i="0">
                <a:solidFill>
                  <a:srgbClr val="5B6B7B"/>
                </a:solidFill>
                <a:latin typeface="Segoe UI"/>
                <a:ea typeface="맑은 고딕"/>
                <a:cs typeface="맑은 고딕"/>
              </a:rPr>
              <a:t>·  Vector Engine은 PE당 512 way이며 exp, cos, tanh 등 transcendental function(초월함수)을 지원한다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5nm · 1 GHz · 632.1 mm² · 150 W · HBM3 48GB 1.5TB/s · SRAM 256MB 384TB/s.</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 전체 항목 — 값 그대로 옮김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69</a:t>
            </a:r>
          </a:p>
        </p:txBody>
      </p:sp>
      <p:graphicFrame>
        <p:nvGraphicFramePr>
          <p:cNvPr id="8" name="Table 7"/>
          <p:cNvGraphicFramePr>
            <a:graphicFrameLocks noGrp="1"/>
          </p:cNvGraphicFramePr>
          <p:nvPr/>
        </p:nvGraphicFramePr>
        <p:xfrm>
          <a:off x="566928" y="1517904"/>
          <a:ext cx="11057839" cy="4041648"/>
        </p:xfrm>
        <a:graphic>
          <a:graphicData uri="http://schemas.openxmlformats.org/drawingml/2006/table">
            <a:tbl>
              <a:tblPr firstRow="1" bandRow="1">
                <a:tableStyleId>{5C22544A-7EE6-4342-B048-85BDC9FD1C3A}</a:tableStyleId>
              </a:tblPr>
              <a:tblGrid>
                <a:gridCol w="3726011"/>
                <a:gridCol w="7331828"/>
              </a:tblGrid>
              <a:tr h="367422">
                <a:tc>
                  <a:txBody>
                    <a:bodyPr wrap="square"/>
                    <a:lstStyle/>
                    <a:p>
                      <a:r>
                        <a:rPr sz="10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값</a:t>
                      </a:r>
                    </a:p>
                  </a:txBody>
                  <a:tcPr marL="73152" marR="73152" marT="27432" marB="27432">
                    <a:solidFill>
                      <a:srgbClr val="0B5FC0"/>
                    </a:solidFill>
                  </a:tcPr>
                </a:tc>
              </a:tr>
              <a:tr h="367422">
                <a:tc>
                  <a:txBody>
                    <a:bodyPr wrap="square"/>
                    <a:lstStyle/>
                    <a:p>
                      <a:r>
                        <a:rPr sz="1000" b="0" i="0">
                          <a:solidFill>
                            <a:srgbClr val="16202C"/>
                          </a:solidFill>
                          <a:latin typeface="Segoe UI"/>
                          <a:ea typeface="맑은 고딕"/>
                          <a:cs typeface="맑은 고딕"/>
                        </a:rPr>
                        <a:t>Technology (공정)</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TSMC 5nm</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Frequency (동작 주파수)</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 GHz</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Dimensions (다이 크기)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24.59 × 25.71 mm (632.1 mm²)</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TDP (열설계전력)</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150 W</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DRAM</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2x HBM3 stack, 48 GB, 1.5 TB/s</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On-Chip SRAM (온칩 SRAM)</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256 MB, 384 TB/s</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Host Connectivity (호스트 연결)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PCIe Gen5 x16 (128 GB/s)</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MACs (정수)</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512 TOPS (INT8), 1024 TOPS (INT4)</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MACs (부동소수점)</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256 TFLOPS (BF16), 512 TFLOPS (FP8)</a:t>
                      </a:r>
                    </a:p>
                  </a:txBody>
                  <a:tcPr marL="73152" marR="73152" marT="27432" marB="27432">
                    <a:solidFill>
                      <a:srgbClr val="FFFFFF"/>
                    </a:solidFill>
                  </a:tcPr>
                </a:tc>
              </a:tr>
              <a:tr h="367428">
                <a:tc>
                  <a:txBody>
                    <a:bodyPr wrap="square"/>
                    <a:lstStyle/>
                    <a:p>
                      <a:r>
                        <a:rPr sz="1000" b="0" i="0">
                          <a:solidFill>
                            <a:srgbClr val="16202C"/>
                          </a:solidFill>
                          <a:latin typeface="Segoe UI"/>
                          <a:ea typeface="맑은 고딕"/>
                          <a:cs typeface="맑은 고딕"/>
                        </a:rPr>
                        <a:t>Vector Engine</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512 ways per PE, transcendental functions (exp, cos, tanh 등)</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 TABLE I의 모든 행을 그대로 옮긴 것이다. 여기 없는 수치는 논문에도 없다.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표에서 읽어야 할 것 — 같은 자로 재 보면</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70</a:t>
            </a:r>
          </a:p>
        </p:txBody>
      </p:sp>
      <p:grpSp>
        <p:nvGrpSpPr>
          <p:cNvPr id="8" name="도해 A3#08"/>
          <p:cNvGrpSpPr/>
          <p:nvPr/>
        </p:nvGrpSpPr>
        <p:grpSpPr>
          <a:xfrm>
            <a:off x="1209059" y="1207008"/>
            <a:ext cx="9773578" cy="4334256"/>
            <a:chOff x="1209059" y="1207008"/>
            <a:chExt cx="9773578" cy="4334256"/>
          </a:xfrm>
        </p:grpSpPr>
        <p:sp>
          <p:nvSpPr>
            <p:cNvPr id="9" name="TextBox 8"/>
            <p:cNvSpPr txBox="1"/>
            <p:nvPr/>
          </p:nvSpPr>
          <p:spPr>
            <a:xfrm>
              <a:off x="1209059" y="1207008"/>
              <a:ext cx="1589662" cy="220144"/>
            </a:xfrm>
            <a:prstGeom prst="rect">
              <a:avLst/>
            </a:prstGeom>
            <a:noFill/>
          </p:spPr>
          <p:txBody>
            <a:bodyPr wrap="none" anchor="ctr" lIns="0" rIns="0" tIns="0" bIns="0">
              <a:noAutofit/>
            </a:bodyPr>
            <a:lstStyle/>
            <a:p>
              <a:pPr algn="l"/>
              <a:r>
                <a:rPr sz="1200" b="1">
                  <a:solidFill>
                    <a:srgbClr val="083F80"/>
                  </a:solidFill>
                  <a:latin typeface="맑은 고딕"/>
                  <a:ea typeface="맑은 고딕"/>
                  <a:cs typeface="맑은 고딕"/>
                </a:rPr>
                <a:t>대역폭 — 같은 자로 재면</a:t>
              </a:r>
            </a:p>
          </p:txBody>
        </p:sp>
        <p:sp>
          <p:nvSpPr>
            <p:cNvPr id="10" name="TextBox 9"/>
            <p:cNvSpPr txBox="1"/>
            <p:nvPr/>
          </p:nvSpPr>
          <p:spPr>
            <a:xfrm>
              <a:off x="1209059" y="1468288"/>
              <a:ext cx="1376511" cy="1651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막대 길이는 값에 정비례한다</a:t>
              </a:r>
            </a:p>
          </p:txBody>
        </p:sp>
        <p:sp>
          <p:nvSpPr>
            <p:cNvPr id="11" name="TextBox 10"/>
            <p:cNvSpPr txBox="1"/>
            <p:nvPr/>
          </p:nvSpPr>
          <p:spPr>
            <a:xfrm>
              <a:off x="1252497" y="1877475"/>
              <a:ext cx="708449" cy="196558"/>
            </a:xfrm>
            <a:prstGeom prst="rect">
              <a:avLst/>
            </a:prstGeom>
            <a:noFill/>
          </p:spPr>
          <p:txBody>
            <a:bodyPr wrap="none" anchor="ctr" lIns="0" rIns="0" tIns="0" bIns="0">
              <a:noAutofit/>
            </a:bodyPr>
            <a:lstStyle/>
            <a:p>
              <a:pPr algn="l"/>
              <a:r>
                <a:rPr sz="1070" b="1">
                  <a:solidFill>
                    <a:srgbClr val="16202C"/>
                  </a:solidFill>
                  <a:latin typeface="맑은 고딕"/>
                  <a:ea typeface="맑은 고딕"/>
                  <a:cs typeface="맑은 고딕"/>
                </a:rPr>
                <a:t>온칩 SRAM</a:t>
              </a:r>
            </a:p>
          </p:txBody>
        </p:sp>
        <p:sp>
          <p:nvSpPr>
            <p:cNvPr id="12" name="Rounded Rectangle 11"/>
            <p:cNvSpPr/>
            <p:nvPr/>
          </p:nvSpPr>
          <p:spPr>
            <a:xfrm>
              <a:off x="2620798" y="1839467"/>
              <a:ext cx="7601672" cy="347505"/>
            </a:xfrm>
            <a:prstGeom prst="roundRect">
              <a:avLst>
                <a:gd name="adj" fmla="val 12500"/>
              </a:avLst>
            </a:prstGeom>
            <a:solidFill>
              <a:srgbClr val="B8D4F3"/>
            </a:solidFill>
            <a:ln w="1737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25841" y="1908317"/>
              <a:ext cx="666314" cy="212282"/>
            </a:xfrm>
            <a:prstGeom prst="rect">
              <a:avLst/>
            </a:prstGeom>
            <a:noFill/>
          </p:spPr>
          <p:txBody>
            <a:bodyPr wrap="none" anchor="ctr" lIns="0" rIns="0" tIns="0" bIns="0">
              <a:noAutofit/>
            </a:bodyPr>
            <a:lstStyle/>
            <a:p>
              <a:pPr algn="r"/>
              <a:r>
                <a:rPr sz="1150" b="1">
                  <a:solidFill>
                    <a:srgbClr val="083F80"/>
                  </a:solidFill>
                  <a:latin typeface="맑은 고딕"/>
                  <a:ea typeface="맑은 고딕"/>
                  <a:cs typeface="맑은 고딕"/>
                </a:rPr>
                <a:t>384 TB/s</a:t>
              </a:r>
            </a:p>
          </p:txBody>
        </p:sp>
        <p:sp>
          <p:nvSpPr>
            <p:cNvPr id="14" name="TextBox 13"/>
            <p:cNvSpPr txBox="1"/>
            <p:nvPr/>
          </p:nvSpPr>
          <p:spPr>
            <a:xfrm>
              <a:off x="1252497" y="2442171"/>
              <a:ext cx="800619" cy="196558"/>
            </a:xfrm>
            <a:prstGeom prst="rect">
              <a:avLst/>
            </a:prstGeom>
            <a:noFill/>
          </p:spPr>
          <p:txBody>
            <a:bodyPr wrap="none" anchor="ctr" lIns="0" rIns="0" tIns="0" bIns="0">
              <a:noAutofit/>
            </a:bodyPr>
            <a:lstStyle/>
            <a:p>
              <a:pPr algn="l"/>
              <a:r>
                <a:rPr sz="1070" b="1">
                  <a:solidFill>
                    <a:srgbClr val="16202C"/>
                  </a:solidFill>
                  <a:latin typeface="맑은 고딕"/>
                  <a:ea typeface="맑은 고딕"/>
                  <a:cs typeface="맑은 고딕"/>
                </a:rPr>
                <a:t>HBM3 2스택</a:t>
              </a:r>
            </a:p>
          </p:txBody>
        </p:sp>
        <p:sp>
          <p:nvSpPr>
            <p:cNvPr id="15" name="Rectangle 14"/>
            <p:cNvSpPr/>
            <p:nvPr/>
          </p:nvSpPr>
          <p:spPr>
            <a:xfrm>
              <a:off x="2620798" y="2382444"/>
              <a:ext cx="32579" cy="347505"/>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550" y="2383312"/>
              <a:ext cx="557746" cy="188695"/>
            </a:xfrm>
            <a:prstGeom prst="rect">
              <a:avLst/>
            </a:prstGeom>
            <a:noFill/>
          </p:spPr>
          <p:txBody>
            <a:bodyPr wrap="none" anchor="ctr" lIns="0" rIns="0" tIns="0" bIns="0">
              <a:noAutofit/>
            </a:bodyPr>
            <a:lstStyle/>
            <a:p>
              <a:pPr algn="l"/>
              <a:r>
                <a:rPr sz="1030" b="1">
                  <a:solidFill>
                    <a:srgbClr val="B45409"/>
                  </a:solidFill>
                  <a:latin typeface="맑은 고딕"/>
                  <a:ea typeface="맑은 고딕"/>
                  <a:cs typeface="맑은 고딕"/>
                </a:rPr>
                <a:t>1.5 TB/s</a:t>
              </a:r>
            </a:p>
          </p:txBody>
        </p:sp>
        <p:sp>
          <p:nvSpPr>
            <p:cNvPr id="17" name="TextBox 16"/>
            <p:cNvSpPr txBox="1"/>
            <p:nvPr/>
          </p:nvSpPr>
          <p:spPr>
            <a:xfrm>
              <a:off x="2794550" y="2575960"/>
              <a:ext cx="1271608" cy="1651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같은 자로 재면 이만큼이다</a:t>
              </a:r>
            </a:p>
          </p:txBody>
        </p:sp>
        <p:sp>
          <p:nvSpPr>
            <p:cNvPr id="18" name="Rounded Rectangle 17"/>
            <p:cNvSpPr/>
            <p:nvPr/>
          </p:nvSpPr>
          <p:spPr>
            <a:xfrm>
              <a:off x="2620798" y="2860263"/>
              <a:ext cx="7601672" cy="369224"/>
            </a:xfrm>
            <a:prstGeom prst="roundRect">
              <a:avLst>
                <a:gd name="adj" fmla="val 17647"/>
              </a:avLst>
            </a:prstGeom>
            <a:solidFill>
              <a:srgbClr val="FFF7E6"/>
            </a:solidFill>
            <a:ln w="1737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3098" y="2954307"/>
              <a:ext cx="4117071" cy="180833"/>
            </a:xfrm>
            <a:prstGeom prst="rect">
              <a:avLst/>
            </a:prstGeom>
            <a:noFill/>
          </p:spPr>
          <p:txBody>
            <a:bodyPr wrap="none" anchor="ctr" lIns="0" rIns="0" tIns="0" bIns="0">
              <a:noAutofit/>
            </a:bodyPr>
            <a:lstStyle/>
            <a:p>
              <a:pPr algn="ctr"/>
              <a:r>
                <a:rPr sz="980" b="1">
                  <a:solidFill>
                    <a:srgbClr val="B45409"/>
                  </a:solidFill>
                  <a:latin typeface="맑은 고딕"/>
                  <a:ea typeface="맑은 고딕"/>
                  <a:cs typeface="맑은 고딕"/>
                </a:rPr>
                <a:t>384 ÷ 1.5 = 256배 — 이 격차가 “SRAM 안에서 최대한 재사용하라”의 근거다</a:t>
              </a:r>
            </a:p>
          </p:txBody>
        </p:sp>
        <p:cxnSp>
          <p:nvCxnSpPr>
            <p:cNvPr id="20" name="Connector 19"/>
            <p:cNvCxnSpPr/>
            <p:nvPr/>
          </p:nvCxnSpPr>
          <p:spPr>
            <a:xfrm>
              <a:off x="1209059" y="3403240"/>
              <a:ext cx="9773577" cy="0"/>
            </a:xfrm>
            <a:prstGeom prst="line">
              <a:avLst/>
            </a:prstGeom>
            <a:ln w="13031">
              <a:solidFill>
                <a:srgbClr val="D6DEE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09059" y="3515527"/>
              <a:ext cx="2733425" cy="212282"/>
            </a:xfrm>
            <a:prstGeom prst="rect">
              <a:avLst/>
            </a:prstGeom>
            <a:noFill/>
          </p:spPr>
          <p:txBody>
            <a:bodyPr wrap="none" anchor="ctr" lIns="0" rIns="0" tIns="0" bIns="0">
              <a:noAutofit/>
            </a:bodyPr>
            <a:lstStyle/>
            <a:p>
              <a:pPr algn="l"/>
              <a:r>
                <a:rPr sz="1150" b="1">
                  <a:solidFill>
                    <a:srgbClr val="083F80"/>
                  </a:solidFill>
                  <a:latin typeface="맑은 고딕"/>
                  <a:ea typeface="맑은 고딕"/>
                  <a:cs typeface="맑은 고딕"/>
                </a:rPr>
                <a:t>정밀도를 반으로 낮추면 처리량은 정확히 2배</a:t>
              </a:r>
            </a:p>
          </p:txBody>
        </p:sp>
        <p:sp>
          <p:nvSpPr>
            <p:cNvPr id="22" name="TextBox 21"/>
            <p:cNvSpPr txBox="1"/>
            <p:nvPr/>
          </p:nvSpPr>
          <p:spPr>
            <a:xfrm>
              <a:off x="1252497" y="3937963"/>
              <a:ext cx="335190" cy="172971"/>
            </a:xfrm>
            <a:prstGeom prst="rect">
              <a:avLst/>
            </a:prstGeom>
            <a:noFill/>
          </p:spPr>
          <p:txBody>
            <a:bodyPr wrap="none" anchor="ctr" lIns="0" rIns="0" tIns="0" bIns="0">
              <a:noAutofit/>
            </a:bodyPr>
            <a:lstStyle/>
            <a:p>
              <a:pPr algn="l"/>
              <a:r>
                <a:rPr sz="940" b="1">
                  <a:solidFill>
                    <a:srgbClr val="0B5FC0"/>
                  </a:solidFill>
                  <a:latin typeface="맑은 고딕"/>
                  <a:ea typeface="맑은 고딕"/>
                  <a:cs typeface="맑은 고딕"/>
                </a:rPr>
                <a:t>BF16</a:t>
              </a:r>
            </a:p>
          </p:txBody>
        </p:sp>
        <p:sp>
          <p:nvSpPr>
            <p:cNvPr id="23" name="Rounded Rectangle 22"/>
            <p:cNvSpPr/>
            <p:nvPr/>
          </p:nvSpPr>
          <p:spPr>
            <a:xfrm>
              <a:off x="2620798" y="3902778"/>
              <a:ext cx="999077" cy="260629"/>
            </a:xfrm>
            <a:prstGeom prst="roundRect">
              <a:avLst>
                <a:gd name="adj" fmla="val 12500"/>
              </a:avLst>
            </a:prstGeom>
            <a:solidFill>
              <a:srgbClr val="CBE0F7"/>
            </a:solidFill>
            <a:ln w="141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64485" y="3961419"/>
              <a:ext cx="668513" cy="157246"/>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256 TFLOPS</a:t>
              </a:r>
            </a:p>
          </p:txBody>
        </p:sp>
        <p:sp>
          <p:nvSpPr>
            <p:cNvPr id="25" name="TextBox 24"/>
            <p:cNvSpPr txBox="1"/>
            <p:nvPr/>
          </p:nvSpPr>
          <p:spPr>
            <a:xfrm>
              <a:off x="1252497" y="4307187"/>
              <a:ext cx="263040" cy="172971"/>
            </a:xfrm>
            <a:prstGeom prst="rect">
              <a:avLst/>
            </a:prstGeom>
            <a:noFill/>
          </p:spPr>
          <p:txBody>
            <a:bodyPr wrap="none" anchor="ctr" lIns="0" rIns="0" tIns="0" bIns="0">
              <a:noAutofit/>
            </a:bodyPr>
            <a:lstStyle/>
            <a:p>
              <a:pPr algn="l"/>
              <a:r>
                <a:rPr sz="940" b="1">
                  <a:solidFill>
                    <a:srgbClr val="0B5FC0"/>
                  </a:solidFill>
                  <a:latin typeface="맑은 고딕"/>
                  <a:ea typeface="맑은 고딕"/>
                  <a:cs typeface="맑은 고딕"/>
                </a:rPr>
                <a:t>FP8</a:t>
              </a:r>
            </a:p>
          </p:txBody>
        </p:sp>
        <p:sp>
          <p:nvSpPr>
            <p:cNvPr id="26" name="Rounded Rectangle 25"/>
            <p:cNvSpPr/>
            <p:nvPr/>
          </p:nvSpPr>
          <p:spPr>
            <a:xfrm>
              <a:off x="2620798" y="4272002"/>
              <a:ext cx="1998154" cy="260629"/>
            </a:xfrm>
            <a:prstGeom prst="roundRect">
              <a:avLst>
                <a:gd name="adj" fmla="val 12500"/>
              </a:avLst>
            </a:prstGeom>
            <a:solidFill>
              <a:srgbClr val="CBE0F7"/>
            </a:solidFill>
            <a:ln w="141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63562" y="4330643"/>
              <a:ext cx="668513" cy="157246"/>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512 TFLOPS</a:t>
              </a:r>
            </a:p>
          </p:txBody>
        </p:sp>
        <p:sp>
          <p:nvSpPr>
            <p:cNvPr id="28" name="TextBox 27"/>
            <p:cNvSpPr txBox="1"/>
            <p:nvPr/>
          </p:nvSpPr>
          <p:spPr>
            <a:xfrm>
              <a:off x="4727547" y="4330643"/>
              <a:ext cx="599663" cy="157246"/>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BF16 의 2배</a:t>
              </a:r>
            </a:p>
          </p:txBody>
        </p:sp>
        <p:sp>
          <p:nvSpPr>
            <p:cNvPr id="29" name="TextBox 28"/>
            <p:cNvSpPr txBox="1"/>
            <p:nvPr/>
          </p:nvSpPr>
          <p:spPr>
            <a:xfrm>
              <a:off x="1252497" y="4741568"/>
              <a:ext cx="317033" cy="172971"/>
            </a:xfrm>
            <a:prstGeom prst="rect">
              <a:avLst/>
            </a:prstGeom>
            <a:noFill/>
          </p:spPr>
          <p:txBody>
            <a:bodyPr wrap="none" anchor="ctr" lIns="0" rIns="0" tIns="0" bIns="0">
              <a:noAutofit/>
            </a:bodyPr>
            <a:lstStyle/>
            <a:p>
              <a:pPr algn="l"/>
              <a:r>
                <a:rPr sz="940" b="1">
                  <a:solidFill>
                    <a:srgbClr val="B45409"/>
                  </a:solidFill>
                  <a:latin typeface="맑은 고딕"/>
                  <a:ea typeface="맑은 고딕"/>
                  <a:cs typeface="맑은 고딕"/>
                </a:rPr>
                <a:t>INT8</a:t>
              </a:r>
            </a:p>
          </p:txBody>
        </p:sp>
        <p:sp>
          <p:nvSpPr>
            <p:cNvPr id="30" name="Rounded Rectangle 29"/>
            <p:cNvSpPr/>
            <p:nvPr/>
          </p:nvSpPr>
          <p:spPr>
            <a:xfrm>
              <a:off x="2620798" y="4706383"/>
              <a:ext cx="1998154" cy="260629"/>
            </a:xfrm>
            <a:prstGeom prst="roundRect">
              <a:avLst>
                <a:gd name="adj" fmla="val 12500"/>
              </a:avLst>
            </a:prstGeom>
            <a:solidFill>
              <a:srgbClr val="FDEBD3"/>
            </a:solidFill>
            <a:ln w="141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89098" y="4765025"/>
              <a:ext cx="542977" cy="157246"/>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512 TOPS</a:t>
              </a:r>
            </a:p>
          </p:txBody>
        </p:sp>
        <p:sp>
          <p:nvSpPr>
            <p:cNvPr id="32" name="TextBox 31"/>
            <p:cNvSpPr txBox="1"/>
            <p:nvPr/>
          </p:nvSpPr>
          <p:spPr>
            <a:xfrm>
              <a:off x="1252497" y="5110792"/>
              <a:ext cx="317033" cy="172971"/>
            </a:xfrm>
            <a:prstGeom prst="rect">
              <a:avLst/>
            </a:prstGeom>
            <a:noFill/>
          </p:spPr>
          <p:txBody>
            <a:bodyPr wrap="none" anchor="ctr" lIns="0" rIns="0" tIns="0" bIns="0">
              <a:noAutofit/>
            </a:bodyPr>
            <a:lstStyle/>
            <a:p>
              <a:pPr algn="l"/>
              <a:r>
                <a:rPr sz="940" b="1">
                  <a:solidFill>
                    <a:srgbClr val="B45409"/>
                  </a:solidFill>
                  <a:latin typeface="맑은 고딕"/>
                  <a:ea typeface="맑은 고딕"/>
                  <a:cs typeface="맑은 고딕"/>
                </a:rPr>
                <a:t>INT4</a:t>
              </a:r>
            </a:p>
          </p:txBody>
        </p:sp>
        <p:sp>
          <p:nvSpPr>
            <p:cNvPr id="33" name="Rounded Rectangle 32"/>
            <p:cNvSpPr/>
            <p:nvPr/>
          </p:nvSpPr>
          <p:spPr>
            <a:xfrm>
              <a:off x="2620798" y="5075607"/>
              <a:ext cx="4007167" cy="260629"/>
            </a:xfrm>
            <a:prstGeom prst="roundRect">
              <a:avLst>
                <a:gd name="adj" fmla="val 12500"/>
              </a:avLst>
            </a:prstGeom>
            <a:solidFill>
              <a:srgbClr val="FDEBD3"/>
            </a:solidFill>
            <a:ln w="141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34040" y="5134249"/>
              <a:ext cx="607048" cy="157246"/>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1024 TOPS</a:t>
              </a:r>
            </a:p>
          </p:txBody>
        </p:sp>
        <p:sp>
          <p:nvSpPr>
            <p:cNvPr id="35" name="TextBox 34"/>
            <p:cNvSpPr txBox="1"/>
            <p:nvPr/>
          </p:nvSpPr>
          <p:spPr>
            <a:xfrm>
              <a:off x="2620798" y="5384018"/>
              <a:ext cx="1400337" cy="157246"/>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INT8 → INT4 도 그대로 2배다</a:t>
              </a:r>
            </a:p>
          </p:txBody>
        </p:sp>
        <p:sp>
          <p:nvSpPr>
            <p:cNvPr id="36" name="Rounded Rectangle 35"/>
            <p:cNvSpPr/>
            <p:nvPr/>
          </p:nvSpPr>
          <p:spPr>
            <a:xfrm>
              <a:off x="7507587" y="3642149"/>
              <a:ext cx="3475050" cy="1846120"/>
            </a:xfrm>
            <a:prstGeom prst="roundRect">
              <a:avLst>
                <a:gd name="adj" fmla="val 4705"/>
              </a:avLst>
            </a:prstGeom>
            <a:solidFill>
              <a:srgbClr val="FFF7E6"/>
            </a:solidFill>
            <a:ln w="1954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1339" y="3779631"/>
              <a:ext cx="1822066" cy="180833"/>
            </a:xfrm>
            <a:prstGeom prst="rect">
              <a:avLst/>
            </a:prstGeom>
            <a:noFill/>
          </p:spPr>
          <p:txBody>
            <a:bodyPr wrap="none" anchor="ctr" lIns="0" rIns="0" tIns="0" bIns="0">
              <a:noAutofit/>
            </a:bodyPr>
            <a:lstStyle/>
            <a:p>
              <a:pPr algn="l"/>
              <a:r>
                <a:rPr sz="980" b="1">
                  <a:solidFill>
                    <a:srgbClr val="B45409"/>
                  </a:solidFill>
                  <a:latin typeface="맑은 고딕"/>
                  <a:ea typeface="맑은 고딕"/>
                  <a:cs typeface="맑은 고딕"/>
                </a:rPr>
                <a:t>표의 값을 나눠 본 것 — 계산값이다</a:t>
              </a:r>
            </a:p>
          </p:txBody>
        </p:sp>
        <p:sp>
          <p:nvSpPr>
            <p:cNvPr id="38" name="TextBox 37"/>
            <p:cNvSpPr txBox="1"/>
            <p:nvPr/>
          </p:nvSpPr>
          <p:spPr>
            <a:xfrm>
              <a:off x="7681339" y="4089996"/>
              <a:ext cx="1568323" cy="172971"/>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384 TB/s ÷ 1.5 TB/s = 256배</a:t>
              </a:r>
            </a:p>
          </p:txBody>
        </p:sp>
        <p:sp>
          <p:nvSpPr>
            <p:cNvPr id="39" name="TextBox 38"/>
            <p:cNvSpPr txBox="1"/>
            <p:nvPr/>
          </p:nvSpPr>
          <p:spPr>
            <a:xfrm>
              <a:off x="7681339" y="4350625"/>
              <a:ext cx="1936363" cy="172971"/>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SRAM 256 MB ÷ PE 8 = PE당 32 MB</a:t>
              </a:r>
            </a:p>
          </p:txBody>
        </p:sp>
        <p:sp>
          <p:nvSpPr>
            <p:cNvPr id="40" name="TextBox 39"/>
            <p:cNvSpPr txBox="1"/>
            <p:nvPr/>
          </p:nvSpPr>
          <p:spPr>
            <a:xfrm>
              <a:off x="7681339" y="4611254"/>
              <a:ext cx="2089385" cy="172971"/>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VE 512 way × PE 8 = 칩 전체 4096 way</a:t>
              </a:r>
            </a:p>
          </p:txBody>
        </p:sp>
        <p:cxnSp>
          <p:nvCxnSpPr>
            <p:cNvPr id="41" name="Connector 40"/>
            <p:cNvCxnSpPr/>
            <p:nvPr/>
          </p:nvCxnSpPr>
          <p:spPr>
            <a:xfrm>
              <a:off x="7681339" y="4923574"/>
              <a:ext cx="3127545" cy="0"/>
            </a:xfrm>
            <a:prstGeom prst="line">
              <a:avLst/>
            </a:prstGeom>
            <a:ln w="13031">
              <a:solidFill>
                <a:srgbClr val="F0D29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681339" y="5023916"/>
              <a:ext cx="1940544" cy="172971"/>
            </a:xfrm>
            <a:prstGeom prst="rect">
              <a:avLst/>
            </a:prstGeom>
            <a:noFill/>
          </p:spPr>
          <p:txBody>
            <a:bodyPr wrap="none" anchor="ctr" lIns="0" rIns="0" tIns="0" bIns="0">
              <a:noAutofit/>
            </a:bodyPr>
            <a:lstStyle/>
            <a:p>
              <a:pPr algn="l"/>
              <a:r>
                <a:rPr sz="940" b="1">
                  <a:solidFill>
                    <a:srgbClr val="B45409"/>
                  </a:solidFill>
                  <a:latin typeface="맑은 고딕"/>
                  <a:ea typeface="맑은 고딕"/>
                  <a:cs typeface="맑은 고딕"/>
                </a:rPr>
                <a:t>1 GHz — 클럭으로 얻는 성능이 아니다</a:t>
              </a:r>
            </a:p>
          </p:txBody>
        </p:sp>
        <p:sp>
          <p:nvSpPr>
            <p:cNvPr id="43" name="TextBox 42"/>
            <p:cNvSpPr txBox="1"/>
            <p:nvPr/>
          </p:nvSpPr>
          <p:spPr>
            <a:xfrm>
              <a:off x="7681339" y="5253704"/>
              <a:ext cx="1769886" cy="157246"/>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632.1 mm² 대부분이 PE 8개에 쓰였다</a:t>
              </a:r>
            </a:p>
          </p:txBody>
        </p:sp>
      </p:grpSp>
      <p:sp>
        <p:nvSpPr>
          <p:cNvPr id="44" name="Rectangle 4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SRAM이 HBM보다 256배 빠르다 — 재사용을 짜내야 하는 이유가 숫자로 드러난다.</a:t>
            </a:r>
          </a:p>
        </p:txBody>
      </p:sp>
      <p:sp>
        <p:nvSpPr>
          <p:cNvPr id="45" name="Rectangle 4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표에서 읽어야 할 것 — 같은 자로 재 보면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71</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256배 · PE당 32 MB · 4096 way 는 표의 값을 나눈 계산값이다. 논문이 직접 적은 문장이 아니다</a:t>
            </a:r>
          </a:p>
          <a:p>
            <a:pPr algn="l">
              <a:lnSpc>
                <a:spcPct val="118000"/>
              </a:lnSpc>
              <a:spcBef>
                <a:spcPts val="200"/>
              </a:spcBef>
              <a:spcAft>
                <a:spcPts val="100"/>
              </a:spcAft>
            </a:pPr>
            <a:r>
              <a:rPr sz="1780" b="0" i="0">
                <a:solidFill>
                  <a:srgbClr val="5B6B7B"/>
                </a:solidFill>
                <a:latin typeface="Segoe UI"/>
                <a:ea typeface="맑은 고딕"/>
                <a:cs typeface="맑은 고딕"/>
              </a:rPr>
              <a:t>·  발표할 때 '계산해 보면'이라고 밝히는 편이 안전하다</a:t>
            </a:r>
          </a:p>
          <a:p>
            <a:pPr algn="l">
              <a:lnSpc>
                <a:spcPct val="118000"/>
              </a:lnSpc>
              <a:spcBef>
                <a:spcPts val="200"/>
              </a:spcBef>
              <a:spcAft>
                <a:spcPts val="100"/>
              </a:spcAft>
            </a:pPr>
            <a:r>
              <a:rPr sz="1780" b="0" i="0">
                <a:solidFill>
                  <a:srgbClr val="2C3A4B"/>
                </a:solidFill>
                <a:latin typeface="Segoe UI"/>
                <a:ea typeface="맑은 고딕"/>
                <a:cs typeface="맑은 고딕"/>
              </a:rPr>
              <a:t>–  1 GHz 는 GPU 대비 낮은 클럭이다 — 성능을 클럭이 아니라 병렬도와 재사용에서 얻겠다는 선언이다</a:t>
            </a:r>
          </a:p>
          <a:p>
            <a:pPr algn="l">
              <a:lnSpc>
                <a:spcPct val="118000"/>
              </a:lnSpc>
              <a:spcBef>
                <a:spcPts val="200"/>
              </a:spcBef>
              <a:spcAft>
                <a:spcPts val="100"/>
              </a:spcAft>
            </a:pPr>
            <a:r>
              <a:rPr sz="1780" b="0" i="0">
                <a:solidFill>
                  <a:srgbClr val="2C3A4B"/>
                </a:solidFill>
                <a:latin typeface="Segoe UI"/>
                <a:ea typeface="맑은 고딕"/>
                <a:cs typeface="맑은 고딕"/>
              </a:rPr>
              <a:t>–  SRAM 256 MB ÷ 8 = 32 MB 는 III-A 의 'TU 는 SRAM 32 MB' 기술과 정확히 맞아떨어진다</a:t>
            </a:r>
          </a:p>
          <a:p>
            <a:pPr algn="l">
              <a:lnSpc>
                <a:spcPct val="118000"/>
              </a:lnSpc>
              <a:spcBef>
                <a:spcPts val="200"/>
              </a:spcBef>
              <a:spcAft>
                <a:spcPts val="100"/>
              </a:spcAft>
            </a:pPr>
            <a:r>
              <a:rPr sz="1780" b="0" i="0">
                <a:solidFill>
                  <a:srgbClr val="2C3A4B"/>
                </a:solidFill>
                <a:latin typeface="Segoe UI"/>
                <a:ea typeface="맑은 고딕"/>
                <a:cs typeface="맑은 고딕"/>
              </a:rPr>
              <a:t>–  정밀도 절반 = 처리량 2배 관계가 INT4 까지 이어진다. 뒤의 fine-grained sparsity 미지원 결정과 한 짝이다</a:t>
            </a:r>
          </a:p>
          <a:p>
            <a:pPr algn="l">
              <a:lnSpc>
                <a:spcPct val="118000"/>
              </a:lnSpc>
              <a:spcBef>
                <a:spcPts val="200"/>
              </a:spcBef>
              <a:spcAft>
                <a:spcPts val="100"/>
              </a:spcAft>
            </a:pPr>
            <a:r>
              <a:rPr sz="1780" b="1" i="0">
                <a:solidFill>
                  <a:srgbClr val="2C3A4B"/>
                </a:solidFill>
                <a:latin typeface="Segoe UI"/>
                <a:ea typeface="맑은 고딕"/>
                <a:cs typeface="맑은 고딕"/>
              </a:rPr>
              <a:t>–  이 대역폭 격차가 TCP 설계 전체의 동기다. slice 분할도 엔진 체이닝도 결국 SRAM 밖으로 안 나가려는 장치다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메모리 — HBM3 2스택</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각 TCP 칩은 HBM3 스택 2개를 탑재한다 [15]</a:t>
            </a:r>
          </a:p>
          <a:p>
            <a:pPr algn="l">
              <a:lnSpc>
                <a:spcPct val="118000"/>
              </a:lnSpc>
              <a:spcBef>
                <a:spcPts val="200"/>
              </a:spcBef>
              <a:spcAft>
                <a:spcPts val="100"/>
              </a:spcAft>
            </a:pPr>
            <a:r>
              <a:rPr sz="1780" b="0" i="0">
                <a:solidFill>
                  <a:srgbClr val="5B6B7B"/>
                </a:solidFill>
                <a:latin typeface="Segoe UI"/>
                <a:ea typeface="맑은 고딕"/>
                <a:cs typeface="맑은 고딕"/>
              </a:rPr>
              <a:t>·  논문은 HBM3를 '설계 당시 가용한 최고 대역폭 메모리(the highest bandwidth memory available at the time)'라고 적는다</a:t>
            </a:r>
          </a:p>
          <a:p>
            <a:pPr algn="l">
              <a:lnSpc>
                <a:spcPct val="118000"/>
              </a:lnSpc>
              <a:spcBef>
                <a:spcPts val="200"/>
              </a:spcBef>
              <a:spcAft>
                <a:spcPts val="100"/>
              </a:spcAft>
            </a:pPr>
            <a:r>
              <a:rPr sz="1780" b="0" i="0">
                <a:solidFill>
                  <a:srgbClr val="2C3A4B"/>
                </a:solidFill>
                <a:latin typeface="Segoe UI"/>
                <a:ea typeface="맑은 고딕"/>
                <a:cs typeface="맑은 고딕"/>
              </a:rPr>
              <a:t>–  두 스택이 합쳐 최대 1.5 TB/s의 메모리 대역폭을 제공한다</a:t>
            </a:r>
          </a:p>
          <a:p>
            <a:pPr algn="l">
              <a:lnSpc>
                <a:spcPct val="118000"/>
              </a:lnSpc>
              <a:spcBef>
                <a:spcPts val="200"/>
              </a:spcBef>
              <a:spcAft>
                <a:spcPts val="100"/>
              </a:spcAft>
            </a:pPr>
            <a:r>
              <a:rPr sz="1780" b="1" i="0">
                <a:solidFill>
                  <a:srgbClr val="2C3A4B"/>
                </a:solidFill>
                <a:latin typeface="Segoe UI"/>
                <a:ea typeface="맑은 고딕"/>
                <a:cs typeface="맑은 고딕"/>
              </a:rPr>
              <a:t>–  중요한 것은 PE 8개가 이 대역폭을 전부 활용할 수 있다(fully utilize)는 점이다</a:t>
            </a:r>
          </a:p>
          <a:p>
            <a:pPr algn="l">
              <a:lnSpc>
                <a:spcPct val="118000"/>
              </a:lnSpc>
              <a:spcBef>
                <a:spcPts val="200"/>
              </a:spcBef>
              <a:spcAft>
                <a:spcPts val="100"/>
              </a:spcAft>
            </a:pPr>
            <a:r>
              <a:rPr sz="1780" b="0" i="0">
                <a:solidFill>
                  <a:srgbClr val="2C3A4B"/>
                </a:solidFill>
                <a:latin typeface="Segoe UI"/>
                <a:ea typeface="맑은 고딕"/>
                <a:cs typeface="맑은 고딕"/>
              </a:rPr>
              <a:t>–  PE 하나의 최대 전송률(maximum transfer rate)은 256 GB/s다</a:t>
            </a:r>
          </a:p>
          <a:p>
            <a:pPr algn="l">
              <a:lnSpc>
                <a:spcPct val="118000"/>
              </a:lnSpc>
              <a:spcBef>
                <a:spcPts val="200"/>
              </a:spcBef>
              <a:spcAft>
                <a:spcPts val="100"/>
              </a:spcAft>
            </a:pPr>
            <a:r>
              <a:rPr sz="1780" b="0" i="0">
                <a:solidFill>
                  <a:srgbClr val="5B6B7B"/>
                </a:solidFill>
                <a:latin typeface="Segoe UI"/>
                <a:ea typeface="맑은 고딕"/>
                <a:cs typeface="맑은 고딕"/>
              </a:rPr>
              <a:t>·  8 × 256 GB/s = 2048 GB/s이므로 PE 쪽 전송 능력이 HBM 대역폭 1.5 TB/s보다 넉넉하다</a:t>
            </a:r>
          </a:p>
          <a:p>
            <a:pPr algn="l">
              <a:lnSpc>
                <a:spcPct val="118000"/>
              </a:lnSpc>
              <a:spcBef>
                <a:spcPts val="200"/>
              </a:spcBef>
              <a:spcAft>
                <a:spcPts val="100"/>
              </a:spcAft>
            </a:pPr>
            <a:r>
              <a:rPr sz="1780" b="0" i="0">
                <a:solidFill>
                  <a:srgbClr val="5B6B7B"/>
                </a:solidFill>
                <a:latin typeface="Segoe UI"/>
                <a:ea typeface="맑은 고딕"/>
                <a:cs typeface="맑은 고딕"/>
              </a:rPr>
              <a:t>·  즉 HBM 대역폭이 PE 인터페이스 병목 때문에 낭비되는 일이 없다</a:t>
            </a:r>
          </a:p>
          <a:p>
            <a:pPr algn="l">
              <a:lnSpc>
                <a:spcPct val="118000"/>
              </a:lnSpc>
              <a:spcBef>
                <a:spcPts val="200"/>
              </a:spcBef>
              <a:spcAft>
                <a:spcPts val="100"/>
              </a:spcAft>
            </a:pPr>
            <a:r>
              <a:rPr sz="1780" b="0" i="0">
                <a:solidFill>
                  <a:srgbClr val="2C3A4B"/>
                </a:solidFill>
                <a:latin typeface="Segoe UI"/>
                <a:ea typeface="맑은 고딕"/>
                <a:cs typeface="맑은 고딕"/>
              </a:rPr>
              <a:t>–  용량은 48 GB — 이 값이 '한 칩에 담기는 모델 크기'의 상한을 정한다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HBM3 2스택 1.5 TB/s, PE당 최대 256 GB/s — 8개 PE가 대역폭을 전부 소진할 수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NoC — 경합 없는 온칩 데이터 이동</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SoC 중앙을 NoC(Network-on-Chip, 온칩 네트워크)가 가로지른다 (Fig. 2)</a:t>
            </a:r>
          </a:p>
          <a:p>
            <a:pPr algn="l">
              <a:lnSpc>
                <a:spcPct val="118000"/>
              </a:lnSpc>
              <a:spcBef>
                <a:spcPts val="200"/>
              </a:spcBef>
              <a:spcAft>
                <a:spcPts val="100"/>
              </a:spcAft>
            </a:pPr>
            <a:r>
              <a:rPr sz="1780" b="1" i="0">
                <a:solidFill>
                  <a:srgbClr val="2C3A4B"/>
                </a:solidFill>
                <a:latin typeface="Segoe UI"/>
                <a:ea typeface="맑은 고딕"/>
                <a:cs typeface="맑은 고딕"/>
              </a:rPr>
              <a:t>–  NoC는 PE 사이의 데이터 전송을 contention(경합) 없이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PE는 HBM으로도, 같은 칩의 다른 PE로도 최대 256 GB/s로 데이터를 보낼 수 있다</a:t>
            </a:r>
          </a:p>
          <a:p>
            <a:pPr algn="l">
              <a:lnSpc>
                <a:spcPct val="118000"/>
              </a:lnSpc>
              <a:spcBef>
                <a:spcPts val="200"/>
              </a:spcBef>
              <a:spcAft>
                <a:spcPts val="100"/>
              </a:spcAft>
            </a:pPr>
            <a:r>
              <a:rPr sz="1780" b="0" i="0">
                <a:solidFill>
                  <a:srgbClr val="5B6B7B"/>
                </a:solidFill>
                <a:latin typeface="Segoe UI"/>
                <a:ea typeface="맑은 고딕"/>
                <a:cs typeface="맑은 고딕"/>
              </a:rPr>
              <a:t>·  목적지가 HBM이든 이웃 PE든 대역폭 상한이 같다는 뜻이다</a:t>
            </a:r>
          </a:p>
          <a:p>
            <a:pPr algn="l">
              <a:lnSpc>
                <a:spcPct val="118000"/>
              </a:lnSpc>
              <a:spcBef>
                <a:spcPts val="200"/>
              </a:spcBef>
              <a:spcAft>
                <a:spcPts val="100"/>
              </a:spcAft>
            </a:pPr>
            <a:r>
              <a:rPr sz="1780" b="1" i="0">
                <a:solidFill>
                  <a:srgbClr val="2C3A4B"/>
                </a:solidFill>
                <a:latin typeface="Segoe UI"/>
                <a:ea typeface="맑은 고딕"/>
                <a:cs typeface="맑은 고딕"/>
              </a:rPr>
              <a:t>–  경합이 없다는 성질은 컴파일러에게 결정적이다 — 전송 시간이 예측 가능해진다</a:t>
            </a:r>
          </a:p>
          <a:p>
            <a:pPr algn="l">
              <a:lnSpc>
                <a:spcPct val="118000"/>
              </a:lnSpc>
              <a:spcBef>
                <a:spcPts val="200"/>
              </a:spcBef>
              <a:spcAft>
                <a:spcPts val="100"/>
              </a:spcAft>
            </a:pPr>
            <a:r>
              <a:rPr sz="1780" b="0" i="0">
                <a:solidFill>
                  <a:srgbClr val="5B6B7B"/>
                </a:solidFill>
                <a:latin typeface="Segoe UI"/>
                <a:ea typeface="맑은 고딕"/>
                <a:cs typeface="맑은 고딕"/>
              </a:rPr>
              <a:t>·  I절이 말한 predictable performance(예측 가능한 성능)와 accurate cost model(정확한 비용 모델)이 여기서 성립한다</a:t>
            </a:r>
          </a:p>
          <a:p>
            <a:pPr algn="l">
              <a:lnSpc>
                <a:spcPct val="118000"/>
              </a:lnSpc>
              <a:spcBef>
                <a:spcPts val="200"/>
              </a:spcBef>
              <a:spcAft>
                <a:spcPts val="100"/>
              </a:spcAft>
            </a:pPr>
            <a:r>
              <a:rPr sz="1780" b="0" i="0">
                <a:solidFill>
                  <a:srgbClr val="2C3A4B"/>
                </a:solidFill>
                <a:latin typeface="Segoe UI"/>
                <a:ea typeface="맑은 고딕"/>
                <a:cs typeface="맑은 고딕"/>
              </a:rPr>
              <a:t>–  PE를 4개까지 융합할 때도 PE 간 데이터 교환이 NoC를 타므로, 융합의 실효성은 NoC 성능에 달려 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PE→HBM, PE→PE 모두 256 GB/s. 경합이 없으니 전송 시간이 예측 가능하다.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칩을 넘어서 — PCIe Gen5와 P2P</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한 TCP의 메모리 용량(48 GB)을 넘는 LLM은 여러 칩으로 나눠 처리해야 한다</a:t>
            </a:r>
          </a:p>
          <a:p>
            <a:pPr algn="l">
              <a:lnSpc>
                <a:spcPct val="118000"/>
              </a:lnSpc>
              <a:spcBef>
                <a:spcPts val="200"/>
              </a:spcBef>
              <a:spcAft>
                <a:spcPts val="100"/>
              </a:spcAft>
            </a:pPr>
            <a:r>
              <a:rPr sz="1780" b="0" i="0">
                <a:solidFill>
                  <a:srgbClr val="5B6B7B"/>
                </a:solidFill>
                <a:latin typeface="Segoe UI"/>
                <a:ea typeface="맑은 고딕"/>
                <a:cs typeface="맑은 고딕"/>
              </a:rPr>
              <a:t>·  그러면 칩 간(inter-chip) PE 사이 통신이 필요해진다</a:t>
            </a:r>
          </a:p>
          <a:p>
            <a:pPr algn="l">
              <a:lnSpc>
                <a:spcPct val="118000"/>
              </a:lnSpc>
              <a:spcBef>
                <a:spcPts val="200"/>
              </a:spcBef>
              <a:spcAft>
                <a:spcPts val="100"/>
              </a:spcAft>
            </a:pPr>
            <a:r>
              <a:rPr sz="1780" b="1" i="0">
                <a:solidFill>
                  <a:srgbClr val="2C3A4B"/>
                </a:solidFill>
                <a:latin typeface="Segoe UI"/>
                <a:ea typeface="맑은 고딕"/>
                <a:cs typeface="맑은 고딕"/>
              </a:rPr>
              <a:t>–  TCP는 PCIe Gen5로 연결되며 P2P(peer-to-peer, 피어 투 피어) 통신을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여러 칩에 걸친 PE들이 각 방향(each direction)으로 최대 64 GB/s로 데이터를 주고받는다</a:t>
            </a:r>
          </a:p>
          <a:p>
            <a:pPr algn="l">
              <a:lnSpc>
                <a:spcPct val="118000"/>
              </a:lnSpc>
              <a:spcBef>
                <a:spcPts val="200"/>
              </a:spcBef>
              <a:spcAft>
                <a:spcPts val="100"/>
              </a:spcAft>
            </a:pPr>
            <a:r>
              <a:rPr sz="1780" b="0" i="0">
                <a:solidFill>
                  <a:srgbClr val="5B6B7B"/>
                </a:solidFill>
                <a:latin typeface="Segoe UI"/>
                <a:ea typeface="맑은 고딕"/>
                <a:cs typeface="맑은 고딕"/>
              </a:rPr>
              <a:t>·  64 GB/s는 방향당 값이지 양방향 합계가 아니다</a:t>
            </a:r>
          </a:p>
          <a:p>
            <a:pPr algn="l">
              <a:lnSpc>
                <a:spcPct val="118000"/>
              </a:lnSpc>
              <a:spcBef>
                <a:spcPts val="200"/>
              </a:spcBef>
              <a:spcAft>
                <a:spcPts val="100"/>
              </a:spcAft>
            </a:pPr>
            <a:r>
              <a:rPr sz="1780" b="0" i="0">
                <a:solidFill>
                  <a:srgbClr val="2C3A4B"/>
                </a:solidFill>
                <a:latin typeface="Segoe UI"/>
                <a:ea typeface="맑은 고딕"/>
                <a:cs typeface="맑은 고딕"/>
              </a:rPr>
              <a:t>–  호스트 연결 자체는 PCIe Gen5 x16으로 128 GB/s다 (TABLE I)</a:t>
            </a:r>
          </a:p>
          <a:p>
            <a:pPr algn="l">
              <a:lnSpc>
                <a:spcPct val="118000"/>
              </a:lnSpc>
              <a:spcBef>
                <a:spcPts val="200"/>
              </a:spcBef>
              <a:spcAft>
                <a:spcPts val="100"/>
              </a:spcAft>
            </a:pPr>
            <a:r>
              <a:rPr sz="1780" b="1" i="0">
                <a:solidFill>
                  <a:srgbClr val="2C3A4B"/>
                </a:solidFill>
                <a:latin typeface="Segoe UI"/>
                <a:ea typeface="맑은 고딕"/>
                <a:cs typeface="맑은 고딕"/>
              </a:rPr>
              <a:t>–  온칩 256 GB/s와 칩 간 64 GB/s의 격차가 멀티칩 분할 전략의 제약이 된다</a:t>
            </a:r>
          </a:p>
          <a:p>
            <a:pPr algn="l">
              <a:lnSpc>
                <a:spcPct val="118000"/>
              </a:lnSpc>
              <a:spcBef>
                <a:spcPts val="200"/>
              </a:spcBef>
              <a:spcAft>
                <a:spcPts val="100"/>
              </a:spcAft>
            </a:pPr>
            <a:r>
              <a:rPr sz="1780" b="0" i="0">
                <a:solidFill>
                  <a:srgbClr val="2C3A4B"/>
                </a:solidFill>
                <a:latin typeface="Segoe UI"/>
                <a:ea typeface="맑은 고딕"/>
                <a:cs typeface="맑은 고딕"/>
              </a:rPr>
              <a:t>–  별도의 전용 칩간 링크(NVLink류)를 두지 않고 PCIe P2P로 해결한 것이 설계 선택이다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칩 간 P2P는 방향당 64 GB/s — 온칩 256 GB/s와의 격차가 분할 설계의 제약이다.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주소 공간과 address translation unit</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각 PE는 독립된 주소 공간(address space)을 가지고 독립적으로 동작한다</a:t>
            </a:r>
          </a:p>
          <a:p>
            <a:pPr algn="l">
              <a:lnSpc>
                <a:spcPct val="118000"/>
              </a:lnSpc>
              <a:spcBef>
                <a:spcPts val="200"/>
              </a:spcBef>
              <a:spcAft>
                <a:spcPts val="100"/>
              </a:spcAft>
            </a:pPr>
            <a:r>
              <a:rPr sz="1780" b="0" i="0">
                <a:solidFill>
                  <a:srgbClr val="2C3A4B"/>
                </a:solidFill>
                <a:latin typeface="Segoe UI"/>
                <a:ea typeface="맑은 고딕"/>
                <a:cs typeface="맑은 고딕"/>
              </a:rPr>
              <a:t>–  허가되지 않은 주소(unauthorized addresses)로의 접근은 address translation unit(주소 변환 유닛)이 차단한다</a:t>
            </a:r>
          </a:p>
          <a:p>
            <a:pPr algn="l">
              <a:lnSpc>
                <a:spcPct val="118000"/>
              </a:lnSpc>
              <a:spcBef>
                <a:spcPts val="200"/>
              </a:spcBef>
              <a:spcAft>
                <a:spcPts val="100"/>
              </a:spcAft>
            </a:pPr>
            <a:r>
              <a:rPr sz="1780" b="0" i="0">
                <a:solidFill>
                  <a:srgbClr val="5B6B7B"/>
                </a:solidFill>
                <a:latin typeface="Segoe UI"/>
                <a:ea typeface="맑은 고딕"/>
                <a:cs typeface="맑은 고딕"/>
              </a:rPr>
              <a:t>·  이것이 SR-IOV 멀티테넌시에서 테넌트 간 격리를 실제로 보장하는 장치다</a:t>
            </a:r>
          </a:p>
          <a:p>
            <a:pPr algn="l">
              <a:lnSpc>
                <a:spcPct val="118000"/>
              </a:lnSpc>
              <a:spcBef>
                <a:spcPts val="200"/>
              </a:spcBef>
              <a:spcAft>
                <a:spcPts val="100"/>
              </a:spcAft>
            </a:pPr>
            <a:r>
              <a:rPr sz="1780" b="1" i="0">
                <a:solidFill>
                  <a:srgbClr val="2C3A4B"/>
                </a:solidFill>
                <a:latin typeface="Segoe UI"/>
                <a:ea typeface="맑은 고딕"/>
                <a:cs typeface="맑은 고딕"/>
              </a:rPr>
              <a:t>–  주소 변환은 PE의 주소 공간을 추상화(abstract)한다</a:t>
            </a:r>
          </a:p>
          <a:p>
            <a:pPr algn="l">
              <a:lnSpc>
                <a:spcPct val="118000"/>
              </a:lnSpc>
              <a:spcBef>
                <a:spcPts val="200"/>
              </a:spcBef>
              <a:spcAft>
                <a:spcPts val="100"/>
              </a:spcAft>
            </a:pPr>
            <a:r>
              <a:rPr sz="1780" b="0" i="0">
                <a:solidFill>
                  <a:srgbClr val="5B6B7B"/>
                </a:solidFill>
                <a:latin typeface="Segoe UI"/>
                <a:ea typeface="맑은 고딕"/>
                <a:cs typeface="맑은 고딕"/>
              </a:rPr>
              <a:t>·  그 결과 메모리 공간과 PE 사용을 런타임에 동적으로 할당(dynamic allocation)할 수 있다</a:t>
            </a:r>
          </a:p>
          <a:p>
            <a:pPr algn="l">
              <a:lnSpc>
                <a:spcPct val="118000"/>
              </a:lnSpc>
              <a:spcBef>
                <a:spcPts val="200"/>
              </a:spcBef>
              <a:spcAft>
                <a:spcPts val="100"/>
              </a:spcAft>
            </a:pPr>
            <a:r>
              <a:rPr sz="1780" b="0" i="0">
                <a:solidFill>
                  <a:srgbClr val="2C3A4B"/>
                </a:solidFill>
                <a:latin typeface="Segoe UI"/>
                <a:ea typeface="맑은 고딕"/>
                <a:cs typeface="맑은 고딕"/>
              </a:rPr>
              <a:t>–  이 추상화가 PE 간 통신의 기반(basis for inter-PE communication)이 된다</a:t>
            </a:r>
          </a:p>
          <a:p>
            <a:pPr algn="l">
              <a:lnSpc>
                <a:spcPct val="118000"/>
              </a:lnSpc>
              <a:spcBef>
                <a:spcPts val="200"/>
              </a:spcBef>
              <a:spcAft>
                <a:spcPts val="100"/>
              </a:spcAft>
            </a:pPr>
            <a:r>
              <a:rPr sz="1780" b="0" i="0">
                <a:solidFill>
                  <a:srgbClr val="2C3A4B"/>
                </a:solidFill>
                <a:latin typeface="Segoe UI"/>
                <a:ea typeface="맑은 고딕"/>
                <a:cs typeface="맑은 고딕"/>
              </a:rPr>
              <a:t>–  P2P 기능과 결합하면, 여러 칩에 걸친 PE들도 같은 추상화로 데이터를 교환한다</a:t>
            </a:r>
          </a:p>
          <a:p>
            <a:pPr algn="l">
              <a:lnSpc>
                <a:spcPct val="118000"/>
              </a:lnSpc>
              <a:spcBef>
                <a:spcPts val="200"/>
              </a:spcBef>
              <a:spcAft>
                <a:spcPts val="100"/>
              </a:spcAft>
            </a:pPr>
            <a:r>
              <a:rPr sz="1780" b="1" i="0">
                <a:solidFill>
                  <a:srgbClr val="2C3A4B"/>
                </a:solidFill>
                <a:latin typeface="Segoe UI"/>
                <a:ea typeface="맑은 고딕"/>
                <a:cs typeface="맑은 고딕"/>
              </a:rPr>
              <a:t>–  최종 효과는 두 가지다: scalable compilation(확장 가능한 컴파일)과 dynamic resource scheduling(동적 자원 스케줄링)</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주소 변환 = 보호 + 추상화. '어느 칩의 어느 PE인가'를 컴파일러가 몰라도 되게 만든다.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III-A. Processing Element — 세 덩어리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Fig. 3이 PE 하나의 구조를 보여준다 (Fig. 3 자체는 다른 파트에서 다룬다)</a:t>
            </a:r>
          </a:p>
          <a:p>
            <a:pPr algn="l">
              <a:lnSpc>
                <a:spcPct val="118000"/>
              </a:lnSpc>
              <a:spcBef>
                <a:spcPts val="200"/>
              </a:spcBef>
              <a:spcAft>
                <a:spcPts val="100"/>
              </a:spcAft>
            </a:pPr>
            <a:r>
              <a:rPr sz="1780" b="1" i="0">
                <a:solidFill>
                  <a:srgbClr val="2C3A4B"/>
                </a:solidFill>
                <a:latin typeface="Segoe UI"/>
                <a:ea typeface="맑은 고딕"/>
                <a:cs typeface="맑은 고딕"/>
              </a:rPr>
              <a:t>–  PE는 세 부분으로 이루어진다</a:t>
            </a:r>
          </a:p>
          <a:p>
            <a:pPr algn="l">
              <a:lnSpc>
                <a:spcPct val="118000"/>
              </a:lnSpc>
              <a:spcBef>
                <a:spcPts val="200"/>
              </a:spcBef>
              <a:spcAft>
                <a:spcPts val="100"/>
              </a:spcAft>
            </a:pPr>
            <a:r>
              <a:rPr sz="1780" b="0" i="0">
                <a:solidFill>
                  <a:srgbClr val="5B6B7B"/>
                </a:solidFill>
                <a:latin typeface="Segoe UI"/>
                <a:ea typeface="맑은 고딕"/>
                <a:cs typeface="맑은 고딕"/>
              </a:rPr>
              <a:t>·  (1) CPU core — 스칼라 처리와 제어</a:t>
            </a:r>
          </a:p>
          <a:p>
            <a:pPr algn="l">
              <a:lnSpc>
                <a:spcPct val="118000"/>
              </a:lnSpc>
              <a:spcBef>
                <a:spcPts val="200"/>
              </a:spcBef>
              <a:spcAft>
                <a:spcPts val="100"/>
              </a:spcAft>
            </a:pPr>
            <a:r>
              <a:rPr sz="1780" b="0" i="0">
                <a:solidFill>
                  <a:srgbClr val="5B6B7B"/>
                </a:solidFill>
                <a:latin typeface="Segoe UI"/>
                <a:ea typeface="맑은 고딕"/>
                <a:cs typeface="맑은 고딕"/>
              </a:rPr>
              <a:t>·  (2) Tensor Unit(TU, 텐서 유닛) — 대규모 텐서 연산(large-scale tensor operations) 실행</a:t>
            </a:r>
          </a:p>
          <a:p>
            <a:pPr algn="l">
              <a:lnSpc>
                <a:spcPct val="118000"/>
              </a:lnSpc>
              <a:spcBef>
                <a:spcPts val="200"/>
              </a:spcBef>
              <a:spcAft>
                <a:spcPts val="100"/>
              </a:spcAft>
            </a:pPr>
            <a:r>
              <a:rPr sz="1780" b="0" i="0">
                <a:solidFill>
                  <a:srgbClr val="5B6B7B"/>
                </a:solidFill>
                <a:latin typeface="Segoe UI"/>
                <a:ea typeface="맑은 고딕"/>
                <a:cs typeface="맑은 고딕"/>
              </a:rPr>
              <a:t>·  (3) Tensor DMA engine(TDMA, 텐서 DMA 엔진) — 텐서 전송</a:t>
            </a:r>
          </a:p>
          <a:p>
            <a:pPr algn="l">
              <a:lnSpc>
                <a:spcPct val="118000"/>
              </a:lnSpc>
              <a:spcBef>
                <a:spcPts val="200"/>
              </a:spcBef>
              <a:spcAft>
                <a:spcPts val="100"/>
              </a:spcAft>
            </a:pPr>
            <a:r>
              <a:rPr sz="1780" b="1" i="0">
                <a:solidFill>
                  <a:srgbClr val="2C3A4B"/>
                </a:solidFill>
                <a:latin typeface="Segoe UI"/>
                <a:ea typeface="맑은 고딕"/>
                <a:cs typeface="맑은 고딕"/>
              </a:rPr>
              <a:t>–  TU는 논문 표현으로 substantial entity(상당한 규모의 실체)이며, SRAM 32 MB를 갖추고 64 TOPS를 낸다</a:t>
            </a:r>
          </a:p>
          <a:p>
            <a:pPr algn="l">
              <a:lnSpc>
                <a:spcPct val="118000"/>
              </a:lnSpc>
              <a:spcBef>
                <a:spcPts val="200"/>
              </a:spcBef>
              <a:spcAft>
                <a:spcPts val="100"/>
              </a:spcAft>
            </a:pPr>
            <a:r>
              <a:rPr sz="1780" b="0" i="0">
                <a:solidFill>
                  <a:srgbClr val="2C3A4B"/>
                </a:solidFill>
                <a:latin typeface="Segoe UI"/>
                <a:ea typeface="맑은 고딕"/>
                <a:cs typeface="맑은 고딕"/>
              </a:rPr>
              <a:t>–  TU의 동작은 단순한 3박자다: SRAM에서 입력 텐서를 계속 fetch → 연산 처리 → 결과를 SRAM으로 commit</a:t>
            </a:r>
          </a:p>
          <a:p>
            <a:pPr algn="l">
              <a:lnSpc>
                <a:spcPct val="118000"/>
              </a:lnSpc>
              <a:spcBef>
                <a:spcPts val="200"/>
              </a:spcBef>
              <a:spcAft>
                <a:spcPts val="100"/>
              </a:spcAft>
            </a:pPr>
            <a:r>
              <a:rPr sz="1780" b="0" i="0">
                <a:solidFill>
                  <a:srgbClr val="2C3A4B"/>
                </a:solidFill>
                <a:latin typeface="Segoe UI"/>
                <a:ea typeface="맑은 고딕"/>
                <a:cs typeface="맑은 고딕"/>
              </a:rPr>
              <a:t>–  8 PE × 32 MB = 256 MB, 8 × 64 TOPS = 512 TOPS 로 TABLE I의 값과 맞아떨어진다</a:t>
            </a:r>
          </a:p>
          <a:p>
            <a:pPr algn="l">
              <a:lnSpc>
                <a:spcPct val="118000"/>
              </a:lnSpc>
              <a:spcBef>
                <a:spcPts val="200"/>
              </a:spcBef>
              <a:spcAft>
                <a:spcPts val="100"/>
              </a:spcAft>
            </a:pPr>
            <a:r>
              <a:rPr sz="1780" b="0" i="0">
                <a:solidFill>
                  <a:srgbClr val="5B6B7B"/>
                </a:solidFill>
                <a:latin typeface="Segoe UI"/>
                <a:ea typeface="맑은 고딕"/>
                <a:cs typeface="맑은 고딕"/>
              </a:rPr>
              <a:t>·  Fig. 2 (a)에 적힌 'PE당 64 TOPS / 32 TFLOPS / 32MB SRAM' 표기와도 일치한다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 = CPU core + Tensor Unit(32 MB SRAM, 64 TOPS) + Tensor DMA engine.</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CPU core — 제어를 맡는다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CPU core는 scalar processing(스칼라 처리), control flow(제어 흐름), 간단한 벡터 처리를 담당한다</a:t>
            </a:r>
          </a:p>
          <a:p>
            <a:pPr algn="l">
              <a:lnSpc>
                <a:spcPct val="118000"/>
              </a:lnSpc>
              <a:spcBef>
                <a:spcPts val="200"/>
              </a:spcBef>
              <a:spcAft>
                <a:spcPts val="100"/>
              </a:spcAft>
            </a:pPr>
            <a:r>
              <a:rPr sz="1780" b="1" i="0">
                <a:solidFill>
                  <a:srgbClr val="2C3A4B"/>
                </a:solidFill>
                <a:latin typeface="Segoe UI"/>
                <a:ea typeface="맑은 고딕"/>
                <a:cs typeface="맑은 고딕"/>
              </a:rPr>
              <a:t>–  TU를 co-processor(보조 프로세서)로 제어하되, 방식은 command queue(명령 큐)를 통한다</a:t>
            </a:r>
          </a:p>
          <a:p>
            <a:pPr algn="l">
              <a:lnSpc>
                <a:spcPct val="118000"/>
              </a:lnSpc>
              <a:spcBef>
                <a:spcPts val="200"/>
              </a:spcBef>
              <a:spcAft>
                <a:spcPts val="100"/>
              </a:spcAft>
            </a:pPr>
            <a:r>
              <a:rPr sz="1780" b="0" i="0">
                <a:solidFill>
                  <a:srgbClr val="2C3A4B"/>
                </a:solidFill>
                <a:latin typeface="Segoe UI"/>
                <a:ea typeface="맑은 고딕"/>
                <a:cs typeface="맑은 고딕"/>
              </a:rPr>
              <a:t>–  TDMA 엔진도 CPU core가 제어한다</a:t>
            </a:r>
          </a:p>
          <a:p>
            <a:pPr algn="l">
              <a:lnSpc>
                <a:spcPct val="118000"/>
              </a:lnSpc>
              <a:spcBef>
                <a:spcPts val="200"/>
              </a:spcBef>
              <a:spcAft>
                <a:spcPts val="100"/>
              </a:spcAft>
            </a:pPr>
            <a:r>
              <a:rPr sz="1780" b="0" i="0">
                <a:solidFill>
                  <a:srgbClr val="2C3A4B"/>
                </a:solidFill>
                <a:latin typeface="Segoe UI"/>
                <a:ea typeface="맑은 고딕"/>
                <a:cs typeface="맑은 고딕"/>
              </a:rPr>
              <a:t>–  캐시는 L1 I/D 각각 64 KB, L2 256 KB다</a:t>
            </a:r>
          </a:p>
          <a:p>
            <a:pPr algn="l">
              <a:lnSpc>
                <a:spcPct val="118000"/>
              </a:lnSpc>
              <a:spcBef>
                <a:spcPts val="200"/>
              </a:spcBef>
              <a:spcAft>
                <a:spcPts val="100"/>
              </a:spcAft>
            </a:pPr>
            <a:r>
              <a:rPr sz="1780" b="1" i="0">
                <a:solidFill>
                  <a:srgbClr val="2C3A4B"/>
                </a:solidFill>
                <a:latin typeface="Segoe UI"/>
                <a:ea typeface="맑은 고딕"/>
                <a:cs typeface="맑은 고딕"/>
              </a:rPr>
              <a:t>–  여기에 3.5 MB scratch pad memory(스크래치패드 메모리)를 별도로 갖는다</a:t>
            </a:r>
          </a:p>
          <a:p>
            <a:pPr algn="l">
              <a:lnSpc>
                <a:spcPct val="118000"/>
              </a:lnSpc>
              <a:spcBef>
                <a:spcPts val="200"/>
              </a:spcBef>
              <a:spcAft>
                <a:spcPts val="100"/>
              </a:spcAft>
            </a:pPr>
            <a:r>
              <a:rPr sz="1780" b="0" i="0">
                <a:solidFill>
                  <a:srgbClr val="5B6B7B"/>
                </a:solidFill>
                <a:latin typeface="Segoe UI"/>
                <a:ea typeface="맑은 고딕"/>
                <a:cs typeface="맑은 고딕"/>
              </a:rPr>
              <a:t>·  목적이 명확하다: 가속기의 성능을 더 예측 가능하게(predictable) 만들고 cache miss(캐시 미스) 페널티를 줄인다</a:t>
            </a:r>
          </a:p>
          <a:p>
            <a:pPr algn="l">
              <a:lnSpc>
                <a:spcPct val="118000"/>
              </a:lnSpc>
              <a:spcBef>
                <a:spcPts val="200"/>
              </a:spcBef>
              <a:spcAft>
                <a:spcPts val="100"/>
              </a:spcAft>
            </a:pPr>
            <a:r>
              <a:rPr sz="1780" b="0" i="0">
                <a:solidFill>
                  <a:srgbClr val="2C3A4B"/>
                </a:solidFill>
                <a:latin typeface="Segoe UI"/>
                <a:ea typeface="맑은 고딕"/>
                <a:cs typeface="맑은 고딕"/>
              </a:rPr>
              <a:t>–  스크래치패드가 충분히 크므로 모든 코드를 스크래치패드에서 실행할 수 있다</a:t>
            </a:r>
          </a:p>
          <a:p>
            <a:pPr algn="l">
              <a:lnSpc>
                <a:spcPct val="118000"/>
              </a:lnSpc>
              <a:spcBef>
                <a:spcPts val="200"/>
              </a:spcBef>
              <a:spcAft>
                <a:spcPts val="100"/>
              </a:spcAft>
            </a:pPr>
            <a:r>
              <a:rPr sz="1780" b="0" i="0">
                <a:solidFill>
                  <a:srgbClr val="5B6B7B"/>
                </a:solidFill>
                <a:latin typeface="Segoe UI"/>
                <a:ea typeface="맑은 고딕"/>
                <a:cs typeface="맑은 고딕"/>
              </a:rPr>
              <a:t>·  코드가 전부 스크래치패드에 올라가면 프로그래밍 모델이 단순해진다(simplifying the programming model)</a:t>
            </a:r>
          </a:p>
          <a:p>
            <a:pPr algn="l">
              <a:lnSpc>
                <a:spcPct val="118000"/>
              </a:lnSpc>
              <a:spcBef>
                <a:spcPts val="200"/>
              </a:spcBef>
              <a:spcAft>
                <a:spcPts val="100"/>
              </a:spcAft>
            </a:pPr>
            <a:r>
              <a:rPr sz="1780" b="0" i="0">
                <a:solidFill>
                  <a:srgbClr val="2C3A4B"/>
                </a:solidFill>
                <a:latin typeface="Segoe UI"/>
                <a:ea typeface="맑은 고딕"/>
                <a:cs typeface="맑은 고딕"/>
              </a:rPr>
              <a:t>–  뒤의 III-B에서 이 코어가 ARM 코어임이 드러난다 (ARM core의 LLPP 언급)</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3.5 MB 스크래치패드에 코드를 통째로 올린다 — 캐시 미스가 만드는 불확실성을 없앤다.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TDMA (1) — 전송을 연산 뒤에 숨긴다</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78</a:t>
            </a:r>
          </a:p>
        </p:txBody>
      </p:sp>
      <p:grpSp>
        <p:nvGrpSpPr>
          <p:cNvPr id="8" name="도해 A3#15"/>
          <p:cNvGrpSpPr/>
          <p:nvPr/>
        </p:nvGrpSpPr>
        <p:grpSpPr>
          <a:xfrm>
            <a:off x="1266474" y="1207008"/>
            <a:ext cx="9658748" cy="4334256"/>
            <a:chOff x="1266474" y="1207008"/>
            <a:chExt cx="9658748" cy="4334256"/>
          </a:xfrm>
        </p:grpSpPr>
        <p:sp>
          <p:nvSpPr>
            <p:cNvPr id="9" name="TextBox 8"/>
            <p:cNvSpPr txBox="1"/>
            <p:nvPr/>
          </p:nvSpPr>
          <p:spPr>
            <a:xfrm>
              <a:off x="1266474" y="1207008"/>
              <a:ext cx="1609864" cy="208860"/>
            </a:xfrm>
            <a:prstGeom prst="rect">
              <a:avLst/>
            </a:prstGeom>
            <a:noFill/>
          </p:spPr>
          <p:txBody>
            <a:bodyPr wrap="none" anchor="ctr" lIns="0" rIns="0" tIns="0" bIns="0">
              <a:noAutofit/>
            </a:bodyPr>
            <a:lstStyle/>
            <a:p>
              <a:pPr algn="l"/>
              <a:r>
                <a:rPr sz="1140" b="1">
                  <a:solidFill>
                    <a:srgbClr val="083F80"/>
                  </a:solidFill>
                  <a:latin typeface="맑은 고딕"/>
                  <a:ea typeface="맑은 고딕"/>
                  <a:cs typeface="맑은 고딕"/>
                </a:rPr>
                <a:t>발행과 실행이 갈라져 있다</a:t>
              </a:r>
            </a:p>
          </p:txBody>
        </p:sp>
        <p:sp>
          <p:nvSpPr>
            <p:cNvPr id="10" name="Rounded Rectangle 9"/>
            <p:cNvSpPr/>
            <p:nvPr/>
          </p:nvSpPr>
          <p:spPr>
            <a:xfrm>
              <a:off x="1266474" y="1566647"/>
              <a:ext cx="1816357" cy="1025708"/>
            </a:xfrm>
            <a:prstGeom prst="roundRect">
              <a:avLst>
                <a:gd name="adj" fmla="val 8333"/>
              </a:avLst>
            </a:prstGeom>
            <a:solidFill>
              <a:srgbClr val="E2F4E8"/>
            </a:solidFill>
            <a:ln w="1923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42270" y="1726059"/>
              <a:ext cx="664765" cy="201124"/>
            </a:xfrm>
            <a:prstGeom prst="rect">
              <a:avLst/>
            </a:prstGeom>
            <a:noFill/>
          </p:spPr>
          <p:txBody>
            <a:bodyPr wrap="none" anchor="ctr" lIns="0" rIns="0" tIns="0" bIns="0">
              <a:noAutofit/>
            </a:bodyPr>
            <a:lstStyle/>
            <a:p>
              <a:pPr algn="ctr"/>
              <a:r>
                <a:rPr sz="1090" b="1">
                  <a:solidFill>
                    <a:srgbClr val="1A7F37"/>
                  </a:solidFill>
                  <a:latin typeface="맑은 고딕"/>
                  <a:ea typeface="맑은 고딕"/>
                  <a:cs typeface="맑은 고딕"/>
                </a:rPr>
                <a:t>CPU core</a:t>
              </a:r>
            </a:p>
          </p:txBody>
        </p:sp>
        <p:sp>
          <p:nvSpPr>
            <p:cNvPr id="12" name="TextBox 11"/>
            <p:cNvSpPr txBox="1"/>
            <p:nvPr/>
          </p:nvSpPr>
          <p:spPr>
            <a:xfrm>
              <a:off x="1628036" y="1998299"/>
              <a:ext cx="1093233" cy="154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다음 명령을 큐에 넣는다</a:t>
              </a:r>
            </a:p>
          </p:txBody>
        </p:sp>
        <p:sp>
          <p:nvSpPr>
            <p:cNvPr id="13" name="TextBox 12"/>
            <p:cNvSpPr txBox="1"/>
            <p:nvPr/>
          </p:nvSpPr>
          <p:spPr>
            <a:xfrm>
              <a:off x="1628036" y="2190619"/>
              <a:ext cx="1093233" cy="154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넣자마자 다른 일을 한다</a:t>
              </a:r>
            </a:p>
          </p:txBody>
        </p:sp>
        <p:cxnSp>
          <p:nvCxnSpPr>
            <p:cNvPr id="14" name="Connector 13"/>
            <p:cNvCxnSpPr/>
            <p:nvPr/>
          </p:nvCxnSpPr>
          <p:spPr>
            <a:xfrm>
              <a:off x="3125569" y="2079501"/>
              <a:ext cx="470116" cy="0"/>
            </a:xfrm>
            <a:prstGeom prst="line">
              <a:avLst/>
            </a:prstGeom>
            <a:ln w="23505">
              <a:solidFill>
                <a:srgbClr val="1A7F37"/>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3574316" y="2015394"/>
              <a:ext cx="149582" cy="128213"/>
            </a:xfrm>
            <a:custGeom>
              <a:avLst/>
              <a:gdLst/>
              <a:ahLst/>
              <a:cxnLst/>
              <a:rect l="l" t="t" r="r" b="b"/>
              <a:pathLst>
                <a:path w="149582" h="128213">
                  <a:moveTo>
                    <a:pt x="0" y="0"/>
                  </a:moveTo>
                  <a:lnTo>
                    <a:pt x="149582" y="64107"/>
                  </a:lnTo>
                  <a:lnTo>
                    <a:pt x="0" y="128213"/>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76277" y="1833544"/>
              <a:ext cx="432806" cy="146975"/>
            </a:xfrm>
            <a:prstGeom prst="rect">
              <a:avLst/>
            </a:prstGeom>
            <a:noFill/>
          </p:spPr>
          <p:txBody>
            <a:bodyPr wrap="none" anchor="ctr" lIns="0" rIns="0" tIns="0" bIns="0">
              <a:noAutofit/>
            </a:bodyPr>
            <a:lstStyle/>
            <a:p>
              <a:pPr algn="ctr"/>
              <a:r>
                <a:rPr sz="800" b="0">
                  <a:solidFill>
                    <a:srgbClr val="1A7F37"/>
                  </a:solidFill>
                  <a:latin typeface="맑은 고딕"/>
                  <a:ea typeface="맑은 고딕"/>
                  <a:cs typeface="맑은 고딕"/>
                </a:rPr>
                <a:t>명령 발행</a:t>
              </a:r>
            </a:p>
          </p:txBody>
        </p:sp>
        <p:sp>
          <p:nvSpPr>
            <p:cNvPr id="17" name="Rounded Rectangle 16"/>
            <p:cNvSpPr/>
            <p:nvPr/>
          </p:nvSpPr>
          <p:spPr>
            <a:xfrm>
              <a:off x="3723898" y="1566647"/>
              <a:ext cx="2136891" cy="1025708"/>
            </a:xfrm>
            <a:prstGeom prst="roundRect">
              <a:avLst>
                <a:gd name="adj" fmla="val 8333"/>
              </a:avLst>
            </a:prstGeom>
            <a:solidFill>
              <a:srgbClr val="EEF2F7"/>
            </a:solidFill>
            <a:ln w="1923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8455" y="1689518"/>
              <a:ext cx="1147778" cy="193389"/>
            </a:xfrm>
            <a:prstGeom prst="rect">
              <a:avLst/>
            </a:prstGeom>
            <a:noFill/>
          </p:spPr>
          <p:txBody>
            <a:bodyPr wrap="none" anchor="ctr" lIns="0" rIns="0" tIns="0" bIns="0">
              <a:noAutofit/>
            </a:bodyPr>
            <a:lstStyle/>
            <a:p>
              <a:pPr algn="ctr"/>
              <a:r>
                <a:rPr sz="1050" b="1">
                  <a:solidFill>
                    <a:srgbClr val="16202C"/>
                  </a:solidFill>
                  <a:latin typeface="맑은 고딕"/>
                  <a:ea typeface="맑은 고딕"/>
                  <a:cs typeface="맑은 고딕"/>
                </a:rPr>
                <a:t>command queue</a:t>
              </a:r>
            </a:p>
          </p:txBody>
        </p:sp>
        <p:sp>
          <p:nvSpPr>
            <p:cNvPr id="19" name="Rounded Rectangle 18"/>
            <p:cNvSpPr/>
            <p:nvPr/>
          </p:nvSpPr>
          <p:spPr>
            <a:xfrm>
              <a:off x="3916219" y="1972656"/>
              <a:ext cx="576961" cy="363271"/>
            </a:xfrm>
            <a:prstGeom prst="roundRect">
              <a:avLst>
                <a:gd name="adj" fmla="val 11764"/>
              </a:avLst>
            </a:prstGeom>
            <a:solidFill>
              <a:srgbClr val="FFFFFF"/>
            </a:solidFill>
            <a:ln w="1282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8655" y="1972656"/>
              <a:ext cx="576961" cy="363271"/>
            </a:xfrm>
            <a:prstGeom prst="roundRect">
              <a:avLst>
                <a:gd name="adj" fmla="val 11764"/>
              </a:avLst>
            </a:prstGeom>
            <a:solidFill>
              <a:srgbClr val="FFFFFF"/>
            </a:solidFill>
            <a:ln w="1282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41091" y="1972656"/>
              <a:ext cx="576961" cy="363271"/>
            </a:xfrm>
            <a:prstGeom prst="roundRect">
              <a:avLst>
                <a:gd name="adj" fmla="val 11764"/>
              </a:avLst>
            </a:prstGeom>
            <a:solidFill>
              <a:srgbClr val="FFFFFF"/>
            </a:solidFill>
            <a:ln w="1282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82084" y="2089971"/>
              <a:ext cx="245230"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cmd</a:t>
              </a:r>
            </a:p>
          </p:txBody>
        </p:sp>
        <p:sp>
          <p:nvSpPr>
            <p:cNvPr id="23" name="TextBox 22"/>
            <p:cNvSpPr txBox="1"/>
            <p:nvPr/>
          </p:nvSpPr>
          <p:spPr>
            <a:xfrm>
              <a:off x="4744520" y="2089971"/>
              <a:ext cx="245230"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cmd</a:t>
              </a:r>
            </a:p>
          </p:txBody>
        </p:sp>
        <p:sp>
          <p:nvSpPr>
            <p:cNvPr id="24" name="TextBox 23"/>
            <p:cNvSpPr txBox="1"/>
            <p:nvPr/>
          </p:nvSpPr>
          <p:spPr>
            <a:xfrm>
              <a:off x="5406957" y="2089971"/>
              <a:ext cx="245230"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cmd</a:t>
              </a:r>
            </a:p>
          </p:txBody>
        </p:sp>
        <p:sp>
          <p:nvSpPr>
            <p:cNvPr id="25" name="TextBox 24"/>
            <p:cNvSpPr txBox="1"/>
            <p:nvPr/>
          </p:nvSpPr>
          <p:spPr>
            <a:xfrm>
              <a:off x="4465202" y="2399821"/>
              <a:ext cx="654284"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TUC 안에 있다</a:t>
              </a:r>
            </a:p>
          </p:txBody>
        </p:sp>
        <p:cxnSp>
          <p:nvCxnSpPr>
            <p:cNvPr id="26" name="Connector 25"/>
            <p:cNvCxnSpPr/>
            <p:nvPr/>
          </p:nvCxnSpPr>
          <p:spPr>
            <a:xfrm flipV="1">
              <a:off x="5903527" y="1737598"/>
              <a:ext cx="384641" cy="277796"/>
            </a:xfrm>
            <a:prstGeom prst="line">
              <a:avLst/>
            </a:prstGeom>
            <a:ln w="21368">
              <a:solidFill>
                <a:srgbClr val="0B5FC0"/>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266799" y="1673491"/>
              <a:ext cx="128213" cy="128214"/>
            </a:xfrm>
            <a:custGeom>
              <a:avLst/>
              <a:gdLst/>
              <a:ahLst/>
              <a:cxnLst/>
              <a:rect l="l" t="t" r="r" b="b"/>
              <a:pathLst>
                <a:path w="128213" h="128214">
                  <a:moveTo>
                    <a:pt x="0" y="0"/>
                  </a:moveTo>
                  <a:lnTo>
                    <a:pt x="128213" y="21369"/>
                  </a:lnTo>
                  <a:lnTo>
                    <a:pt x="21369" y="128214"/>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5903527" y="2164976"/>
              <a:ext cx="384641" cy="277796"/>
            </a:xfrm>
            <a:prstGeom prst="line">
              <a:avLst/>
            </a:prstGeom>
            <a:ln w="21368">
              <a:solidFill>
                <a:srgbClr val="B45409"/>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6266799" y="2378665"/>
              <a:ext cx="128213" cy="128214"/>
            </a:xfrm>
            <a:custGeom>
              <a:avLst/>
              <a:gdLst/>
              <a:ahLst/>
              <a:cxnLst/>
              <a:rect l="l" t="t" r="r" b="b"/>
              <a:pathLst>
                <a:path w="128213" h="128214">
                  <a:moveTo>
                    <a:pt x="0" y="128214"/>
                  </a:moveTo>
                  <a:lnTo>
                    <a:pt x="128213" y="106845"/>
                  </a:lnTo>
                  <a:lnTo>
                    <a:pt x="21369"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95012" y="1395695"/>
              <a:ext cx="1923202" cy="619698"/>
            </a:xfrm>
            <a:prstGeom prst="roundRect">
              <a:avLst>
                <a:gd name="adj" fmla="val 12068"/>
              </a:avLst>
            </a:prstGeom>
            <a:solidFill>
              <a:srgbClr val="DCEBF9"/>
            </a:solidFill>
            <a:ln w="1923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89035" y="1497198"/>
              <a:ext cx="935157" cy="193389"/>
            </a:xfrm>
            <a:prstGeom prst="rect">
              <a:avLst/>
            </a:prstGeom>
            <a:noFill/>
          </p:spPr>
          <p:txBody>
            <a:bodyPr wrap="none" anchor="ctr" lIns="0" rIns="0" tIns="0" bIns="0">
              <a:noAutofit/>
            </a:bodyPr>
            <a:lstStyle/>
            <a:p>
              <a:pPr algn="ctr"/>
              <a:r>
                <a:rPr sz="1050" b="1">
                  <a:solidFill>
                    <a:srgbClr val="083F80"/>
                  </a:solidFill>
                  <a:latin typeface="맑은 고딕"/>
                  <a:ea typeface="맑은 고딕"/>
                  <a:cs typeface="맑은 고딕"/>
                </a:rPr>
                <a:t>TU — 텐서 연산</a:t>
              </a:r>
            </a:p>
          </p:txBody>
        </p:sp>
        <p:sp>
          <p:nvSpPr>
            <p:cNvPr id="32" name="TextBox 31"/>
            <p:cNvSpPr txBox="1"/>
            <p:nvPr/>
          </p:nvSpPr>
          <p:spPr>
            <a:xfrm>
              <a:off x="6802969" y="1748069"/>
              <a:ext cx="1107289"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SRAM 32 MB · 64 TOPS</a:t>
              </a:r>
            </a:p>
          </p:txBody>
        </p:sp>
        <p:sp>
          <p:nvSpPr>
            <p:cNvPr id="33" name="Rounded Rectangle 32"/>
            <p:cNvSpPr/>
            <p:nvPr/>
          </p:nvSpPr>
          <p:spPr>
            <a:xfrm>
              <a:off x="6395012" y="2164976"/>
              <a:ext cx="1923202" cy="619698"/>
            </a:xfrm>
            <a:prstGeom prst="roundRect">
              <a:avLst>
                <a:gd name="adj" fmla="val 12068"/>
              </a:avLst>
            </a:prstGeom>
            <a:solidFill>
              <a:srgbClr val="FDEBD3"/>
            </a:solidFill>
            <a:ln w="1923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91539" y="2266479"/>
              <a:ext cx="1130148" cy="193389"/>
            </a:xfrm>
            <a:prstGeom prst="rect">
              <a:avLst/>
            </a:prstGeom>
            <a:noFill/>
          </p:spPr>
          <p:txBody>
            <a:bodyPr wrap="none" anchor="ctr" lIns="0" rIns="0" tIns="0" bIns="0">
              <a:noAutofit/>
            </a:bodyPr>
            <a:lstStyle/>
            <a:p>
              <a:pPr algn="ctr"/>
              <a:r>
                <a:rPr sz="1050" b="1">
                  <a:solidFill>
                    <a:srgbClr val="B45409"/>
                  </a:solidFill>
                  <a:latin typeface="맑은 고딕"/>
                  <a:ea typeface="맑은 고딕"/>
                  <a:cs typeface="맑은 고딕"/>
                </a:rPr>
                <a:t>TDMA — 텐서 전송</a:t>
              </a:r>
            </a:p>
          </p:txBody>
        </p:sp>
        <p:sp>
          <p:nvSpPr>
            <p:cNvPr id="35" name="TextBox 34"/>
            <p:cNvSpPr txBox="1"/>
            <p:nvPr/>
          </p:nvSpPr>
          <p:spPr>
            <a:xfrm>
              <a:off x="7046828" y="2517350"/>
              <a:ext cx="619570" cy="146975"/>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비동기로 돈다</a:t>
              </a:r>
            </a:p>
          </p:txBody>
        </p:sp>
        <p:cxnSp>
          <p:nvCxnSpPr>
            <p:cNvPr id="36" name="Connector 35"/>
            <p:cNvCxnSpPr/>
            <p:nvPr/>
          </p:nvCxnSpPr>
          <p:spPr>
            <a:xfrm>
              <a:off x="8360952" y="2079501"/>
              <a:ext cx="213689" cy="0"/>
            </a:xfrm>
            <a:prstGeom prst="line">
              <a:avLst/>
            </a:prstGeom>
            <a:ln w="21368">
              <a:solidFill>
                <a:srgbClr val="B45409"/>
              </a:solidFill>
            </a:ln>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8553272" y="2015394"/>
              <a:ext cx="149583" cy="128213"/>
            </a:xfrm>
            <a:custGeom>
              <a:avLst/>
              <a:gdLst/>
              <a:ahLst/>
              <a:cxnLst/>
              <a:rect l="l" t="t" r="r" b="b"/>
              <a:pathLst>
                <a:path w="149583" h="128213">
                  <a:moveTo>
                    <a:pt x="0" y="0"/>
                  </a:moveTo>
                  <a:lnTo>
                    <a:pt x="149583" y="64107"/>
                  </a:lnTo>
                  <a:lnTo>
                    <a:pt x="0" y="128213"/>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702855" y="1523909"/>
              <a:ext cx="2222367" cy="1132552"/>
            </a:xfrm>
            <a:prstGeom prst="roundRect">
              <a:avLst>
                <a:gd name="adj" fmla="val 7547"/>
              </a:avLst>
            </a:prstGeom>
            <a:solidFill>
              <a:srgbClr val="FFF7E6"/>
            </a:solidFill>
            <a:ln w="1923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5342" y="1659174"/>
              <a:ext cx="1117391" cy="177918"/>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자원이 확보되면 실행</a:t>
              </a:r>
            </a:p>
          </p:txBody>
        </p:sp>
        <p:sp>
          <p:nvSpPr>
            <p:cNvPr id="40" name="TextBox 39"/>
            <p:cNvSpPr txBox="1"/>
            <p:nvPr/>
          </p:nvSpPr>
          <p:spPr>
            <a:xfrm>
              <a:off x="9279388" y="1934192"/>
              <a:ext cx="1069300" cy="154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메모리든 연산 유닛이든</a:t>
              </a:r>
            </a:p>
          </p:txBody>
        </p:sp>
        <p:sp>
          <p:nvSpPr>
            <p:cNvPr id="41" name="TextBox 40"/>
            <p:cNvSpPr txBox="1"/>
            <p:nvPr/>
          </p:nvSpPr>
          <p:spPr>
            <a:xfrm>
              <a:off x="9438800" y="2147881"/>
              <a:ext cx="750476" cy="154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큐에 들어갔다고</a:t>
              </a:r>
            </a:p>
          </p:txBody>
        </p:sp>
        <p:sp>
          <p:nvSpPr>
            <p:cNvPr id="42" name="TextBox 41"/>
            <p:cNvSpPr txBox="1"/>
            <p:nvPr/>
          </p:nvSpPr>
          <p:spPr>
            <a:xfrm>
              <a:off x="9316570" y="2340201"/>
              <a:ext cx="994936" cy="154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바로 도는 것이 아니다</a:t>
              </a:r>
            </a:p>
          </p:txBody>
        </p:sp>
        <p:cxnSp>
          <p:nvCxnSpPr>
            <p:cNvPr id="43" name="Connector 42"/>
            <p:cNvCxnSpPr/>
            <p:nvPr/>
          </p:nvCxnSpPr>
          <p:spPr>
            <a:xfrm>
              <a:off x="1266474" y="2998364"/>
              <a:ext cx="9616009" cy="0"/>
            </a:xfrm>
            <a:prstGeom prst="line">
              <a:avLst/>
            </a:prstGeom>
            <a:ln w="12821">
              <a:solidFill>
                <a:srgbClr val="D6DE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266474" y="3130210"/>
              <a:ext cx="1013575" cy="208860"/>
            </a:xfrm>
            <a:prstGeom prst="rect">
              <a:avLst/>
            </a:prstGeom>
            <a:noFill/>
          </p:spPr>
          <p:txBody>
            <a:bodyPr wrap="none" anchor="ctr" lIns="0" rIns="0" tIns="0" bIns="0">
              <a:noAutofit/>
            </a:bodyPr>
            <a:lstStyle/>
            <a:p>
              <a:pPr algn="l"/>
              <a:r>
                <a:rPr sz="1140" b="1">
                  <a:solidFill>
                    <a:srgbClr val="083F80"/>
                  </a:solidFill>
                  <a:latin typeface="맑은 고딕"/>
                  <a:ea typeface="맑은 고딕"/>
                  <a:cs typeface="맑은 고딕"/>
                </a:rPr>
                <a:t>시간축에서 보면</a:t>
              </a:r>
            </a:p>
          </p:txBody>
        </p:sp>
        <p:sp>
          <p:nvSpPr>
            <p:cNvPr id="45" name="TextBox 44"/>
            <p:cNvSpPr txBox="1"/>
            <p:nvPr/>
          </p:nvSpPr>
          <p:spPr>
            <a:xfrm>
              <a:off x="10473910" y="3173589"/>
              <a:ext cx="365836" cy="154711"/>
            </a:xfrm>
            <a:prstGeom prst="rect">
              <a:avLst/>
            </a:prstGeom>
            <a:noFill/>
          </p:spPr>
          <p:txBody>
            <a:bodyPr wrap="none" anchor="ctr" lIns="0" rIns="0" tIns="0" bIns="0">
              <a:noAutofit/>
            </a:bodyPr>
            <a:lstStyle/>
            <a:p>
              <a:pPr algn="r"/>
              <a:r>
                <a:rPr sz="840" b="0">
                  <a:solidFill>
                    <a:srgbClr val="5B6B7B"/>
                  </a:solidFill>
                  <a:latin typeface="맑은 고딕"/>
                  <a:ea typeface="맑은 고딕"/>
                  <a:cs typeface="맑은 고딕"/>
                </a:rPr>
                <a:t>시간 →</a:t>
              </a:r>
            </a:p>
          </p:txBody>
        </p:sp>
        <p:sp>
          <p:nvSpPr>
            <p:cNvPr id="46" name="Rectangle 45"/>
            <p:cNvSpPr/>
            <p:nvPr/>
          </p:nvSpPr>
          <p:spPr>
            <a:xfrm>
              <a:off x="2655453" y="3468480"/>
              <a:ext cx="8227030" cy="363271"/>
            </a:xfrm>
            <a:prstGeom prst="rect">
              <a:avLst/>
            </a:prstGeom>
            <a:solidFill>
              <a:srgbClr val="F4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655453" y="3981334"/>
              <a:ext cx="8227030" cy="363271"/>
            </a:xfrm>
            <a:prstGeom prst="rect">
              <a:avLst/>
            </a:prstGeom>
            <a:solidFill>
              <a:srgbClr val="F4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655453" y="4494187"/>
              <a:ext cx="8227030" cy="363271"/>
            </a:xfrm>
            <a:prstGeom prst="rect">
              <a:avLst/>
            </a:prstGeom>
            <a:solidFill>
              <a:srgbClr val="F4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09212" y="3567204"/>
              <a:ext cx="562494" cy="170182"/>
            </a:xfrm>
            <a:prstGeom prst="rect">
              <a:avLst/>
            </a:prstGeom>
            <a:noFill/>
          </p:spPr>
          <p:txBody>
            <a:bodyPr wrap="none" anchor="ctr" lIns="0" rIns="0" tIns="0" bIns="0">
              <a:noAutofit/>
            </a:bodyPr>
            <a:lstStyle/>
            <a:p>
              <a:pPr algn="l"/>
              <a:r>
                <a:rPr sz="930" b="1">
                  <a:solidFill>
                    <a:srgbClr val="1A7F37"/>
                  </a:solidFill>
                  <a:latin typeface="맑은 고딕"/>
                  <a:ea typeface="맑은 고딕"/>
                  <a:cs typeface="맑은 고딕"/>
                </a:rPr>
                <a:t>CPU core</a:t>
              </a:r>
            </a:p>
          </p:txBody>
        </p:sp>
        <p:sp>
          <p:nvSpPr>
            <p:cNvPr id="50" name="TextBox 49"/>
            <p:cNvSpPr txBox="1"/>
            <p:nvPr/>
          </p:nvSpPr>
          <p:spPr>
            <a:xfrm>
              <a:off x="1309212" y="4080058"/>
              <a:ext cx="203678" cy="170182"/>
            </a:xfrm>
            <a:prstGeom prst="rect">
              <a:avLst/>
            </a:prstGeom>
            <a:noFill/>
          </p:spPr>
          <p:txBody>
            <a:bodyPr wrap="none" anchor="ctr" lIns="0" rIns="0" tIns="0" bIns="0">
              <a:noAutofit/>
            </a:bodyPr>
            <a:lstStyle/>
            <a:p>
              <a:pPr algn="l"/>
              <a:r>
                <a:rPr sz="930" b="1">
                  <a:solidFill>
                    <a:srgbClr val="0B5FC0"/>
                  </a:solidFill>
                  <a:latin typeface="맑은 고딕"/>
                  <a:ea typeface="맑은 고딕"/>
                  <a:cs typeface="맑은 고딕"/>
                </a:rPr>
                <a:t>TU</a:t>
              </a:r>
            </a:p>
          </p:txBody>
        </p:sp>
        <p:sp>
          <p:nvSpPr>
            <p:cNvPr id="51" name="TextBox 50"/>
            <p:cNvSpPr txBox="1"/>
            <p:nvPr/>
          </p:nvSpPr>
          <p:spPr>
            <a:xfrm>
              <a:off x="1309212" y="4592912"/>
              <a:ext cx="375270" cy="170182"/>
            </a:xfrm>
            <a:prstGeom prst="rect">
              <a:avLst/>
            </a:prstGeom>
            <a:noFill/>
          </p:spPr>
          <p:txBody>
            <a:bodyPr wrap="none" anchor="ctr" lIns="0" rIns="0" tIns="0" bIns="0">
              <a:noAutofit/>
            </a:bodyPr>
            <a:lstStyle/>
            <a:p>
              <a:pPr algn="l"/>
              <a:r>
                <a:rPr sz="930" b="1">
                  <a:solidFill>
                    <a:srgbClr val="B45409"/>
                  </a:solidFill>
                  <a:latin typeface="맑은 고딕"/>
                  <a:ea typeface="맑은 고딕"/>
                  <a:cs typeface="맑은 고딕"/>
                </a:rPr>
                <a:t>TDMA</a:t>
              </a:r>
            </a:p>
          </p:txBody>
        </p:sp>
        <p:sp>
          <p:nvSpPr>
            <p:cNvPr id="52" name="Rounded Rectangle 51"/>
            <p:cNvSpPr/>
            <p:nvPr/>
          </p:nvSpPr>
          <p:spPr>
            <a:xfrm>
              <a:off x="2762298" y="3511218"/>
              <a:ext cx="427378" cy="277796"/>
            </a:xfrm>
            <a:prstGeom prst="roundRect">
              <a:avLst>
                <a:gd name="adj" fmla="val 11538"/>
              </a:avLst>
            </a:prstGeom>
            <a:solidFill>
              <a:srgbClr val="E2F4E8"/>
            </a:solidFill>
            <a:ln w="128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258121" y="3511218"/>
              <a:ext cx="427378" cy="277796"/>
            </a:xfrm>
            <a:prstGeom prst="roundRect">
              <a:avLst>
                <a:gd name="adj" fmla="val 11538"/>
              </a:avLst>
            </a:prstGeom>
            <a:solidFill>
              <a:srgbClr val="E2F4E8"/>
            </a:solidFill>
            <a:ln w="128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074479" y="3511218"/>
              <a:ext cx="427378" cy="277796"/>
            </a:xfrm>
            <a:prstGeom prst="roundRect">
              <a:avLst>
                <a:gd name="adj" fmla="val 11538"/>
              </a:avLst>
            </a:prstGeom>
            <a:solidFill>
              <a:srgbClr val="E2F4E8"/>
            </a:solidFill>
            <a:ln w="128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890836" y="3511218"/>
              <a:ext cx="427378" cy="277796"/>
            </a:xfrm>
            <a:prstGeom prst="roundRect">
              <a:avLst>
                <a:gd name="adj" fmla="val 11538"/>
              </a:avLst>
            </a:prstGeom>
            <a:solidFill>
              <a:srgbClr val="E2F4E8"/>
            </a:solidFill>
            <a:ln w="128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600349" y="3511218"/>
              <a:ext cx="427378" cy="277796"/>
            </a:xfrm>
            <a:prstGeom prst="roundRect">
              <a:avLst>
                <a:gd name="adj" fmla="val 11538"/>
              </a:avLst>
            </a:prstGeom>
            <a:solidFill>
              <a:srgbClr val="E2F4E8"/>
            </a:solidFill>
            <a:ln w="128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70211" y="3591992"/>
              <a:ext cx="211552" cy="139240"/>
            </a:xfrm>
            <a:prstGeom prst="rect">
              <a:avLst/>
            </a:prstGeom>
            <a:noFill/>
          </p:spPr>
          <p:txBody>
            <a:bodyPr wrap="none" anchor="ctr" lIns="0" rIns="0" tIns="0" bIns="0">
              <a:noAutofit/>
            </a:bodyPr>
            <a:lstStyle/>
            <a:p>
              <a:pPr algn="ctr"/>
              <a:r>
                <a:rPr sz="760" b="0">
                  <a:solidFill>
                    <a:srgbClr val="1A7F37"/>
                  </a:solidFill>
                  <a:latin typeface="맑은 고딕"/>
                  <a:ea typeface="맑은 고딕"/>
                  <a:cs typeface="맑은 고딕"/>
                </a:rPr>
                <a:t>발행</a:t>
              </a:r>
            </a:p>
          </p:txBody>
        </p:sp>
        <p:sp>
          <p:nvSpPr>
            <p:cNvPr id="58" name="TextBox 57"/>
            <p:cNvSpPr txBox="1"/>
            <p:nvPr/>
          </p:nvSpPr>
          <p:spPr>
            <a:xfrm>
              <a:off x="4366034" y="3591992"/>
              <a:ext cx="211552" cy="139240"/>
            </a:xfrm>
            <a:prstGeom prst="rect">
              <a:avLst/>
            </a:prstGeom>
            <a:noFill/>
          </p:spPr>
          <p:txBody>
            <a:bodyPr wrap="none" anchor="ctr" lIns="0" rIns="0" tIns="0" bIns="0">
              <a:noAutofit/>
            </a:bodyPr>
            <a:lstStyle/>
            <a:p>
              <a:pPr algn="ctr"/>
              <a:r>
                <a:rPr sz="760" b="0">
                  <a:solidFill>
                    <a:srgbClr val="1A7F37"/>
                  </a:solidFill>
                  <a:latin typeface="맑은 고딕"/>
                  <a:ea typeface="맑은 고딕"/>
                  <a:cs typeface="맑은 고딕"/>
                </a:rPr>
                <a:t>발행</a:t>
              </a:r>
            </a:p>
          </p:txBody>
        </p:sp>
        <p:sp>
          <p:nvSpPr>
            <p:cNvPr id="59" name="TextBox 58"/>
            <p:cNvSpPr txBox="1"/>
            <p:nvPr/>
          </p:nvSpPr>
          <p:spPr>
            <a:xfrm>
              <a:off x="6182392" y="3591992"/>
              <a:ext cx="211552" cy="139240"/>
            </a:xfrm>
            <a:prstGeom prst="rect">
              <a:avLst/>
            </a:prstGeom>
            <a:noFill/>
          </p:spPr>
          <p:txBody>
            <a:bodyPr wrap="none" anchor="ctr" lIns="0" rIns="0" tIns="0" bIns="0">
              <a:noAutofit/>
            </a:bodyPr>
            <a:lstStyle/>
            <a:p>
              <a:pPr algn="ctr"/>
              <a:r>
                <a:rPr sz="760" b="0">
                  <a:solidFill>
                    <a:srgbClr val="1A7F37"/>
                  </a:solidFill>
                  <a:latin typeface="맑은 고딕"/>
                  <a:ea typeface="맑은 고딕"/>
                  <a:cs typeface="맑은 고딕"/>
                </a:rPr>
                <a:t>발행</a:t>
              </a:r>
            </a:p>
          </p:txBody>
        </p:sp>
        <p:sp>
          <p:nvSpPr>
            <p:cNvPr id="60" name="TextBox 59"/>
            <p:cNvSpPr txBox="1"/>
            <p:nvPr/>
          </p:nvSpPr>
          <p:spPr>
            <a:xfrm>
              <a:off x="7998749" y="3591992"/>
              <a:ext cx="211552" cy="139240"/>
            </a:xfrm>
            <a:prstGeom prst="rect">
              <a:avLst/>
            </a:prstGeom>
            <a:noFill/>
          </p:spPr>
          <p:txBody>
            <a:bodyPr wrap="none" anchor="ctr" lIns="0" rIns="0" tIns="0" bIns="0">
              <a:noAutofit/>
            </a:bodyPr>
            <a:lstStyle/>
            <a:p>
              <a:pPr algn="ctr"/>
              <a:r>
                <a:rPr sz="760" b="0">
                  <a:solidFill>
                    <a:srgbClr val="1A7F37"/>
                  </a:solidFill>
                  <a:latin typeface="맑은 고딕"/>
                  <a:ea typeface="맑은 고딕"/>
                  <a:cs typeface="맑은 고딕"/>
                </a:rPr>
                <a:t>발행</a:t>
              </a:r>
            </a:p>
          </p:txBody>
        </p:sp>
        <p:sp>
          <p:nvSpPr>
            <p:cNvPr id="61" name="TextBox 60"/>
            <p:cNvSpPr txBox="1"/>
            <p:nvPr/>
          </p:nvSpPr>
          <p:spPr>
            <a:xfrm>
              <a:off x="9708262" y="3591992"/>
              <a:ext cx="211552" cy="139240"/>
            </a:xfrm>
            <a:prstGeom prst="rect">
              <a:avLst/>
            </a:prstGeom>
            <a:noFill/>
          </p:spPr>
          <p:txBody>
            <a:bodyPr wrap="none" anchor="ctr" lIns="0" rIns="0" tIns="0" bIns="0">
              <a:noAutofit/>
            </a:bodyPr>
            <a:lstStyle/>
            <a:p>
              <a:pPr algn="ctr"/>
              <a:r>
                <a:rPr sz="760" b="0">
                  <a:solidFill>
                    <a:srgbClr val="1A7F37"/>
                  </a:solidFill>
                  <a:latin typeface="맑은 고딕"/>
                  <a:ea typeface="맑은 고딕"/>
                  <a:cs typeface="맑은 고딕"/>
                </a:rPr>
                <a:t>발행</a:t>
              </a:r>
            </a:p>
          </p:txBody>
        </p:sp>
        <p:sp>
          <p:nvSpPr>
            <p:cNvPr id="62" name="Rounded Rectangle 61"/>
            <p:cNvSpPr/>
            <p:nvPr/>
          </p:nvSpPr>
          <p:spPr>
            <a:xfrm>
              <a:off x="3189676" y="4024071"/>
              <a:ext cx="1602668" cy="277796"/>
            </a:xfrm>
            <a:prstGeom prst="roundRect">
              <a:avLst>
                <a:gd name="adj" fmla="val 11538"/>
              </a:avLst>
            </a:prstGeom>
            <a:solidFill>
              <a:srgbClr val="DCEBF9"/>
            </a:solidFill>
            <a:ln w="1495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006033" y="4024071"/>
              <a:ext cx="1923202" cy="277796"/>
            </a:xfrm>
            <a:prstGeom prst="roundRect">
              <a:avLst>
                <a:gd name="adj" fmla="val 11538"/>
              </a:avLst>
            </a:prstGeom>
            <a:solidFill>
              <a:srgbClr val="DCEBF9"/>
            </a:solidFill>
            <a:ln w="1495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142924" y="4024071"/>
              <a:ext cx="1709513" cy="277796"/>
            </a:xfrm>
            <a:prstGeom prst="roundRect">
              <a:avLst>
                <a:gd name="adj" fmla="val 11538"/>
              </a:avLst>
            </a:prstGeom>
            <a:solidFill>
              <a:srgbClr val="DCEBF9"/>
            </a:solidFill>
            <a:ln w="1495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9066126" y="4024071"/>
              <a:ext cx="1495824" cy="277796"/>
            </a:xfrm>
            <a:prstGeom prst="roundRect">
              <a:avLst>
                <a:gd name="adj" fmla="val 11538"/>
              </a:avLst>
            </a:prstGeom>
            <a:solidFill>
              <a:srgbClr val="DCEBF9"/>
            </a:solidFill>
            <a:ln w="1495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716686" y="4092452"/>
              <a:ext cx="548647" cy="154711"/>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텐서 연산 A</a:t>
              </a:r>
            </a:p>
          </p:txBody>
        </p:sp>
        <p:sp>
          <p:nvSpPr>
            <p:cNvPr id="67" name="TextBox 66"/>
            <p:cNvSpPr txBox="1"/>
            <p:nvPr/>
          </p:nvSpPr>
          <p:spPr>
            <a:xfrm>
              <a:off x="5691174" y="4092452"/>
              <a:ext cx="552921" cy="154711"/>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텐서 연산 B</a:t>
              </a:r>
            </a:p>
          </p:txBody>
        </p:sp>
        <p:sp>
          <p:nvSpPr>
            <p:cNvPr id="68" name="TextBox 67"/>
            <p:cNvSpPr txBox="1"/>
            <p:nvPr/>
          </p:nvSpPr>
          <p:spPr>
            <a:xfrm>
              <a:off x="7722556" y="4092452"/>
              <a:ext cx="550249" cy="154711"/>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텐서 연산 C</a:t>
              </a:r>
            </a:p>
          </p:txBody>
        </p:sp>
        <p:sp>
          <p:nvSpPr>
            <p:cNvPr id="69" name="TextBox 68"/>
            <p:cNvSpPr txBox="1"/>
            <p:nvPr/>
          </p:nvSpPr>
          <p:spPr>
            <a:xfrm>
              <a:off x="9535815" y="4092452"/>
              <a:ext cx="556446" cy="154711"/>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텐서 연산 D</a:t>
              </a:r>
            </a:p>
          </p:txBody>
        </p:sp>
        <p:sp>
          <p:nvSpPr>
            <p:cNvPr id="70" name="Rounded Rectangle 69"/>
            <p:cNvSpPr/>
            <p:nvPr/>
          </p:nvSpPr>
          <p:spPr>
            <a:xfrm>
              <a:off x="3296520" y="4536925"/>
              <a:ext cx="1495824" cy="277796"/>
            </a:xfrm>
            <a:prstGeom prst="roundRect">
              <a:avLst>
                <a:gd name="adj" fmla="val 11538"/>
              </a:avLst>
            </a:prstGeom>
            <a:solidFill>
              <a:srgbClr val="FDEBD3"/>
            </a:solidFill>
            <a:ln w="1495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5112878" y="4536925"/>
              <a:ext cx="1816357" cy="277796"/>
            </a:xfrm>
            <a:prstGeom prst="roundRect">
              <a:avLst>
                <a:gd name="adj" fmla="val 11538"/>
              </a:avLst>
            </a:prstGeom>
            <a:solidFill>
              <a:srgbClr val="FDEBD3"/>
            </a:solidFill>
            <a:ln w="1495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249769" y="4536925"/>
              <a:ext cx="1602668" cy="277796"/>
            </a:xfrm>
            <a:prstGeom prst="roundRect">
              <a:avLst>
                <a:gd name="adj" fmla="val 11538"/>
              </a:avLst>
            </a:prstGeom>
            <a:solidFill>
              <a:srgbClr val="FDEBD3"/>
            </a:solidFill>
            <a:ln w="1495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172971" y="4536925"/>
              <a:ext cx="1367610" cy="277796"/>
            </a:xfrm>
            <a:prstGeom prst="roundRect">
              <a:avLst>
                <a:gd name="adj" fmla="val 11538"/>
              </a:avLst>
            </a:prstGeom>
            <a:solidFill>
              <a:srgbClr val="FDEBD3"/>
            </a:solidFill>
            <a:ln w="1495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769575" y="4605306"/>
              <a:ext cx="549715" cy="154711"/>
            </a:xfrm>
            <a:prstGeom prst="rect">
              <a:avLst/>
            </a:prstGeom>
            <a:noFill/>
          </p:spPr>
          <p:txBody>
            <a:bodyPr wrap="none" anchor="ctr" lIns="0" rIns="0" tIns="0" bIns="0">
              <a:noAutofit/>
            </a:bodyPr>
            <a:lstStyle/>
            <a:p>
              <a:pPr algn="ctr"/>
              <a:r>
                <a:rPr sz="840" b="0">
                  <a:solidFill>
                    <a:srgbClr val="B45409"/>
                  </a:solidFill>
                  <a:latin typeface="맑은 고딕"/>
                  <a:ea typeface="맑은 고딕"/>
                  <a:cs typeface="맑은 고딕"/>
                </a:rPr>
                <a:t>B 입력 전송</a:t>
              </a:r>
            </a:p>
          </p:txBody>
        </p:sp>
        <p:sp>
          <p:nvSpPr>
            <p:cNvPr id="75" name="TextBox 74"/>
            <p:cNvSpPr txBox="1"/>
            <p:nvPr/>
          </p:nvSpPr>
          <p:spPr>
            <a:xfrm>
              <a:off x="5747214" y="4605306"/>
              <a:ext cx="547685" cy="154711"/>
            </a:xfrm>
            <a:prstGeom prst="rect">
              <a:avLst/>
            </a:prstGeom>
            <a:noFill/>
          </p:spPr>
          <p:txBody>
            <a:bodyPr wrap="none" anchor="ctr" lIns="0" rIns="0" tIns="0" bIns="0">
              <a:noAutofit/>
            </a:bodyPr>
            <a:lstStyle/>
            <a:p>
              <a:pPr algn="ctr"/>
              <a:r>
                <a:rPr sz="840" b="0">
                  <a:solidFill>
                    <a:srgbClr val="B45409"/>
                  </a:solidFill>
                  <a:latin typeface="맑은 고딕"/>
                  <a:ea typeface="맑은 고딕"/>
                  <a:cs typeface="맑은 고딕"/>
                </a:rPr>
                <a:t>C 입력 전송</a:t>
              </a:r>
            </a:p>
          </p:txBody>
        </p:sp>
        <p:sp>
          <p:nvSpPr>
            <p:cNvPr id="76" name="TextBox 75"/>
            <p:cNvSpPr txBox="1"/>
            <p:nvPr/>
          </p:nvSpPr>
          <p:spPr>
            <a:xfrm>
              <a:off x="7774589" y="4605306"/>
              <a:ext cx="553027" cy="154711"/>
            </a:xfrm>
            <a:prstGeom prst="rect">
              <a:avLst/>
            </a:prstGeom>
            <a:noFill/>
          </p:spPr>
          <p:txBody>
            <a:bodyPr wrap="none" anchor="ctr" lIns="0" rIns="0" tIns="0" bIns="0">
              <a:noAutofit/>
            </a:bodyPr>
            <a:lstStyle/>
            <a:p>
              <a:pPr algn="ctr"/>
              <a:r>
                <a:rPr sz="840" b="0">
                  <a:solidFill>
                    <a:srgbClr val="B45409"/>
                  </a:solidFill>
                  <a:latin typeface="맑은 고딕"/>
                  <a:ea typeface="맑은 고딕"/>
                  <a:cs typeface="맑은 고딕"/>
                </a:rPr>
                <a:t>D 입력 전송</a:t>
              </a:r>
            </a:p>
          </p:txBody>
        </p:sp>
        <p:sp>
          <p:nvSpPr>
            <p:cNvPr id="77" name="TextBox 76"/>
            <p:cNvSpPr txBox="1"/>
            <p:nvPr/>
          </p:nvSpPr>
          <p:spPr>
            <a:xfrm>
              <a:off x="9530686" y="4605306"/>
              <a:ext cx="652179" cy="154711"/>
            </a:xfrm>
            <a:prstGeom prst="rect">
              <a:avLst/>
            </a:prstGeom>
            <a:noFill/>
          </p:spPr>
          <p:txBody>
            <a:bodyPr wrap="none" anchor="ctr" lIns="0" rIns="0" tIns="0" bIns="0">
              <a:noAutofit/>
            </a:bodyPr>
            <a:lstStyle/>
            <a:p>
              <a:pPr algn="ctr"/>
              <a:r>
                <a:rPr sz="840" b="0">
                  <a:solidFill>
                    <a:srgbClr val="B45409"/>
                  </a:solidFill>
                  <a:latin typeface="맑은 고딕"/>
                  <a:ea typeface="맑은 고딕"/>
                  <a:cs typeface="맑은 고딕"/>
                </a:rPr>
                <a:t>결과 내보내기</a:t>
              </a:r>
            </a:p>
          </p:txBody>
        </p:sp>
        <p:cxnSp>
          <p:nvCxnSpPr>
            <p:cNvPr id="78" name="Connector 77"/>
            <p:cNvCxnSpPr/>
            <p:nvPr/>
          </p:nvCxnSpPr>
          <p:spPr>
            <a:xfrm>
              <a:off x="4792344" y="3938596"/>
              <a:ext cx="0" cy="961601"/>
            </a:xfrm>
            <a:prstGeom prst="line">
              <a:avLst/>
            </a:prstGeom>
            <a:ln w="10684">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929235" y="3938596"/>
              <a:ext cx="0" cy="961601"/>
            </a:xfrm>
            <a:prstGeom prst="line">
              <a:avLst/>
            </a:prstGeom>
            <a:ln w="10684">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52437" y="3938596"/>
              <a:ext cx="0" cy="961601"/>
            </a:xfrm>
            <a:prstGeom prst="line">
              <a:avLst/>
            </a:prstGeom>
            <a:ln w="10684">
              <a:solidFill>
                <a:srgbClr val="D6DEE7"/>
              </a:solidFill>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2655453" y="5049779"/>
              <a:ext cx="8227030" cy="491485"/>
            </a:xfrm>
            <a:prstGeom prst="roundRect">
              <a:avLst>
                <a:gd name="adj" fmla="val 17391"/>
              </a:avLst>
            </a:prstGeom>
            <a:solidFill>
              <a:srgbClr val="FFF7E6"/>
            </a:solidFill>
            <a:ln w="1709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21361" y="5142306"/>
              <a:ext cx="2895215" cy="177918"/>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전송 막대는 언제나 앞선 텐서 연산 막대 아래에 겹쳐 있다</a:t>
              </a:r>
            </a:p>
          </p:txBody>
        </p:sp>
        <p:sp>
          <p:nvSpPr>
            <p:cNvPr id="83" name="TextBox 82"/>
            <p:cNvSpPr txBox="1"/>
            <p:nvPr/>
          </p:nvSpPr>
          <p:spPr>
            <a:xfrm>
              <a:off x="5267460" y="5347021"/>
              <a:ext cx="3003016" cy="162446"/>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이 겹침을 만드는 것은 하드웨어가 아니라 컴파일러의 스케줄이다</a:t>
              </a:r>
            </a:p>
          </p:txBody>
        </p:sp>
      </p:grpSp>
      <p:sp>
        <p:nvSpPr>
          <p:cNvPr id="84" name="Rectangle 8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CPU는 큐에 던지고 빠지고, TU는 자원이 나면 꺼내 실행한다 — 전송과 연산이 계속 겹친다.</a:t>
            </a:r>
          </a:p>
        </p:txBody>
      </p:sp>
      <p:sp>
        <p:nvSpPr>
          <p:cNvPr id="85" name="Rectangle 8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TDMA (1) — 전송을 연산 뒤에 숨긴다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79</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논문: '대부분의 신경망, 특히 LLM에서 메모리 전송이 병목이다' — 겹치기는 성능 튜닝이 아니라 병목 대응이다</a:t>
            </a:r>
          </a:p>
          <a:p>
            <a:pPr algn="l">
              <a:lnSpc>
                <a:spcPct val="118000"/>
              </a:lnSpc>
              <a:spcBef>
                <a:spcPts val="200"/>
              </a:spcBef>
              <a:spcAft>
                <a:spcPts val="100"/>
              </a:spcAft>
            </a:pPr>
            <a:r>
              <a:rPr sz="1780" b="0" i="0">
                <a:solidFill>
                  <a:srgbClr val="2C3A4B"/>
                </a:solidFill>
                <a:latin typeface="Segoe UI"/>
                <a:ea typeface="맑은 고딕"/>
                <a:cs typeface="맑은 고딕"/>
              </a:rPr>
              <a:t>–  겹침을 만드는 주체는 컴파일러다. TU 연산과 데이터 전송을 함께 스케줄링해 겹침을 최대화한다</a:t>
            </a:r>
          </a:p>
          <a:p>
            <a:pPr algn="l">
              <a:lnSpc>
                <a:spcPct val="118000"/>
              </a:lnSpc>
              <a:spcBef>
                <a:spcPts val="200"/>
              </a:spcBef>
              <a:spcAft>
                <a:spcPts val="100"/>
              </a:spcAft>
            </a:pPr>
            <a:r>
              <a:rPr sz="1780" b="0" i="0">
                <a:solidFill>
                  <a:srgbClr val="2C3A4B"/>
                </a:solidFill>
                <a:latin typeface="Segoe UI"/>
                <a:ea typeface="맑은 고딕"/>
                <a:cs typeface="맑은 고딕"/>
              </a:rPr>
              <a:t>–  CPU 는 명령을 큐에 넣은 뒤 기다리지 않고 다른 작업을 병렬로 계속한다</a:t>
            </a:r>
          </a:p>
          <a:p>
            <a:pPr algn="l">
              <a:lnSpc>
                <a:spcPct val="118000"/>
              </a:lnSpc>
              <a:spcBef>
                <a:spcPts val="200"/>
              </a:spcBef>
              <a:spcAft>
                <a:spcPts val="100"/>
              </a:spcAft>
            </a:pPr>
            <a:r>
              <a:rPr sz="1780" b="0" i="0">
                <a:solidFill>
                  <a:srgbClr val="5B6B7B"/>
                </a:solidFill>
                <a:latin typeface="Segoe UI"/>
                <a:ea typeface="맑은 고딕"/>
                <a:cs typeface="맑은 고딕"/>
              </a:rPr>
              <a:t>·  TU 는 필요한 자원(메모리든 연산 유닛이든)이 확보돼야 실행을 시작한다 — 큐에 들어간 순간이 실행 시점은 아니다</a:t>
            </a:r>
          </a:p>
          <a:p>
            <a:pPr algn="l">
              <a:lnSpc>
                <a:spcPct val="118000"/>
              </a:lnSpc>
              <a:spcBef>
                <a:spcPts val="200"/>
              </a:spcBef>
              <a:spcAft>
                <a:spcPts val="100"/>
              </a:spcAft>
            </a:pPr>
            <a:r>
              <a:rPr sz="1780" b="0" i="0">
                <a:solidFill>
                  <a:srgbClr val="2C3A4B"/>
                </a:solidFill>
                <a:latin typeface="Segoe UI"/>
                <a:ea typeface="맑은 고딕"/>
                <a:cs typeface="맑은 고딕"/>
              </a:rPr>
              <a:t>–  이 겹침이 실제로 일어나는지는 VI절 Fig. 13 의 TU/TDMA 활동 트레이스가 보여준다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TDMA (2) — 단순 복사기가 아니다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TDMA는 텐서를 임의의 차원 순서(any dimension order)로 인덱싱하고 전송할 수 있다</a:t>
            </a:r>
          </a:p>
          <a:p>
            <a:pPr algn="l">
              <a:lnSpc>
                <a:spcPct val="118000"/>
              </a:lnSpc>
              <a:spcBef>
                <a:spcPts val="200"/>
              </a:spcBef>
              <a:spcAft>
                <a:spcPts val="100"/>
              </a:spcAft>
            </a:pPr>
            <a:r>
              <a:rPr sz="1780" b="0" i="0">
                <a:solidFill>
                  <a:srgbClr val="2C3A4B"/>
                </a:solidFill>
                <a:latin typeface="Segoe UI"/>
                <a:ea typeface="맑은 고딕"/>
                <a:cs typeface="맑은 고딕"/>
              </a:rPr>
              <a:t>–  이 능력 덕분에 컴파일러가 HBM에 있는 데이터를 여러 slice로 최적 lowering(로워링)할 수 있다</a:t>
            </a:r>
          </a:p>
          <a:p>
            <a:pPr algn="l">
              <a:lnSpc>
                <a:spcPct val="118000"/>
              </a:lnSpc>
              <a:spcBef>
                <a:spcPts val="200"/>
              </a:spcBef>
              <a:spcAft>
                <a:spcPts val="100"/>
              </a:spcAft>
            </a:pPr>
            <a:r>
              <a:rPr sz="1780" b="0" i="0">
                <a:solidFill>
                  <a:srgbClr val="5B6B7B"/>
                </a:solidFill>
                <a:latin typeface="Segoe UI"/>
                <a:ea typeface="맑은 고딕"/>
                <a:cs typeface="맑은 고딕"/>
              </a:rPr>
              <a:t>·  즉 II절의 lowered shape(로워드 셰이프)을 물리적으로 만들어 내는 장치가 TDMA다</a:t>
            </a:r>
          </a:p>
          <a:p>
            <a:pPr algn="l">
              <a:lnSpc>
                <a:spcPct val="118000"/>
              </a:lnSpc>
              <a:spcBef>
                <a:spcPts val="200"/>
              </a:spcBef>
              <a:spcAft>
                <a:spcPts val="100"/>
              </a:spcAft>
            </a:pPr>
            <a:r>
              <a:rPr sz="1780" b="0" i="0">
                <a:solidFill>
                  <a:srgbClr val="2C3A4B"/>
                </a:solidFill>
                <a:latin typeface="Segoe UI"/>
                <a:ea typeface="맑은 고딕"/>
                <a:cs typeface="맑은 고딕"/>
              </a:rPr>
              <a:t>–  reshape(모양 바꾸기), transpose(전치) 같은 텐서 조작이 여기서 지원된다</a:t>
            </a:r>
          </a:p>
          <a:p>
            <a:pPr algn="l">
              <a:lnSpc>
                <a:spcPct val="118000"/>
              </a:lnSpc>
              <a:spcBef>
                <a:spcPts val="200"/>
              </a:spcBef>
              <a:spcAft>
                <a:spcPts val="100"/>
              </a:spcAft>
            </a:pPr>
            <a:r>
              <a:rPr sz="1780" b="1" i="0">
                <a:solidFill>
                  <a:srgbClr val="2C3A4B"/>
                </a:solidFill>
                <a:latin typeface="Segoe UI"/>
                <a:ea typeface="맑은 고딕"/>
                <a:cs typeface="맑은 고딕"/>
              </a:rPr>
              <a:t>–  scatter-gather(흩뿌리기·모으기)도 지원한다</a:t>
            </a:r>
          </a:p>
          <a:p>
            <a:pPr algn="l">
              <a:lnSpc>
                <a:spcPct val="118000"/>
              </a:lnSpc>
              <a:spcBef>
                <a:spcPts val="200"/>
              </a:spcBef>
              <a:spcAft>
                <a:spcPts val="100"/>
              </a:spcAft>
            </a:pPr>
            <a:r>
              <a:rPr sz="1780" b="0" i="0">
                <a:solidFill>
                  <a:srgbClr val="5B6B7B"/>
                </a:solidFill>
                <a:latin typeface="Segoe UI"/>
                <a:ea typeface="맑은 고딕"/>
                <a:cs typeface="맑은 고딕"/>
              </a:rPr>
              <a:t>·  scatter-gather는 embedding lookup(임베딩 조회) 같은 접근 패턴에서 실효 메모리 대역폭(effective memory bandwidth)을 높인다</a:t>
            </a:r>
          </a:p>
          <a:p>
            <a:pPr algn="l">
              <a:lnSpc>
                <a:spcPct val="118000"/>
              </a:lnSpc>
              <a:spcBef>
                <a:spcPts val="200"/>
              </a:spcBef>
              <a:spcAft>
                <a:spcPts val="100"/>
              </a:spcAft>
            </a:pPr>
            <a:r>
              <a:rPr sz="1780" b="0" i="0">
                <a:solidFill>
                  <a:srgbClr val="5B6B7B"/>
                </a:solidFill>
                <a:latin typeface="Segoe UI"/>
                <a:ea typeface="맑은 고딕"/>
                <a:cs typeface="맑은 고딕"/>
              </a:rPr>
              <a:t>·  흩어진 접근을 그대로 연속 전송하면 대역폭이 죽는데, 필요한 행만 모아 오면 살아난다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TDMA는 lowered shape을 만드는 장치다. II절의 표기가 여기서 실물이 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III-B. Tensor Unit — 왜 slice로 쪼갰나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81</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흔한 설계</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큰 SRAM 하나</a:t>
            </a:r>
          </a:p>
          <a:p>
            <a:pPr algn="l">
              <a:lnSpc>
                <a:spcPct val="118000"/>
              </a:lnSpc>
              <a:spcBef>
                <a:spcPts val="200"/>
              </a:spcBef>
              <a:spcAft>
                <a:spcPts val="100"/>
              </a:spcAft>
            </a:pPr>
            <a:r>
              <a:rPr sz="1780" b="0" i="0">
                <a:solidFill>
                  <a:srgbClr val="2C3A4B"/>
                </a:solidFill>
                <a:latin typeface="Segoe UI"/>
                <a:ea typeface="맑은 고딕"/>
                <a:cs typeface="맑은 고딕"/>
              </a:rPr>
              <a:t>–  거대한 matrix multiplication unit(행렬 곱 유닛) 하나</a:t>
            </a:r>
          </a:p>
          <a:p>
            <a:pPr algn="l">
              <a:lnSpc>
                <a:spcPct val="118000"/>
              </a:lnSpc>
              <a:spcBef>
                <a:spcPts val="200"/>
              </a:spcBef>
              <a:spcAft>
                <a:spcPts val="100"/>
              </a:spcAft>
            </a:pPr>
            <a:r>
              <a:rPr sz="1780" b="0" i="0">
                <a:solidFill>
                  <a:srgbClr val="2C3A4B"/>
                </a:solidFill>
                <a:latin typeface="Segoe UI"/>
                <a:ea typeface="맑은 고딕"/>
                <a:cs typeface="맑은 고딕"/>
              </a:rPr>
              <a:t>–  텐서 모양이 유닛 크기와 안 맞으면 활용률이 떨어진다</a:t>
            </a:r>
          </a:p>
          <a:p>
            <a:pPr algn="l">
              <a:lnSpc>
                <a:spcPct val="118000"/>
              </a:lnSpc>
              <a:spcBef>
                <a:spcPts val="200"/>
              </a:spcBef>
              <a:spcAft>
                <a:spcPts val="100"/>
              </a:spcAft>
            </a:pPr>
            <a:r>
              <a:rPr sz="1780" b="0" i="0">
                <a:solidFill>
                  <a:srgbClr val="5B6B7B"/>
                </a:solidFill>
                <a:latin typeface="Segoe UI"/>
                <a:ea typeface="맑은 고딕"/>
                <a:cs typeface="맑은 고딕"/>
              </a:rPr>
              <a:t>·  I절이 지적한 바로 그 문제다 [3][23][25]</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TCP의 TU</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100"/>
              </a:spcAft>
            </a:pPr>
            <a:r>
              <a:rPr sz="1580" b="1" i="0">
                <a:solidFill>
                  <a:srgbClr val="2C3A4B"/>
                </a:solidFill>
                <a:latin typeface="Segoe UI"/>
                <a:ea typeface="맑은 고딕"/>
                <a:cs typeface="맑은 고딕"/>
              </a:rPr>
              <a:t>–  연산 파이프라인을 SRAM까지 포함해 여러 slice(슬라이스)로 분할한다</a:t>
            </a:r>
          </a:p>
          <a:p>
            <a:pPr algn="l">
              <a:lnSpc>
                <a:spcPct val="118000"/>
              </a:lnSpc>
              <a:spcBef>
                <a:spcPts val="200"/>
              </a:spcBef>
              <a:spcAft>
                <a:spcPts val="100"/>
              </a:spcAft>
            </a:pPr>
            <a:r>
              <a:rPr sz="1580" b="0" i="0">
                <a:solidFill>
                  <a:srgbClr val="2C3A4B"/>
                </a:solidFill>
                <a:latin typeface="Segoe UI"/>
                <a:ea typeface="맑은 고딕"/>
                <a:cs typeface="맑은 고딕"/>
              </a:rPr>
              <a:t>–  slice 하나 = SRAM + fetch unit + operation unit + commit unit</a:t>
            </a:r>
          </a:p>
          <a:p>
            <a:pPr algn="l">
              <a:lnSpc>
                <a:spcPct val="118000"/>
              </a:lnSpc>
              <a:spcBef>
                <a:spcPts val="200"/>
              </a:spcBef>
              <a:spcAft>
                <a:spcPts val="100"/>
              </a:spcAft>
            </a:pPr>
            <a:r>
              <a:rPr sz="1580" b="0" i="0">
                <a:solidFill>
                  <a:srgbClr val="2C3A4B"/>
                </a:solidFill>
                <a:latin typeface="Segoe UI"/>
                <a:ea typeface="맑은 고딕"/>
                <a:cs typeface="맑은 고딕"/>
              </a:rPr>
              <a:t>–  각 slice는 control register(제어 레지스터)로 설정되어 (부분)텐서를 독립 처리할 수 있다</a:t>
            </a:r>
          </a:p>
          <a:p>
            <a:pPr algn="l">
              <a:lnSpc>
                <a:spcPct val="118000"/>
              </a:lnSpc>
              <a:spcBef>
                <a:spcPts val="200"/>
              </a:spcBef>
              <a:spcAft>
                <a:spcPts val="100"/>
              </a:spcAft>
            </a:pPr>
            <a:r>
              <a:rPr sz="1580" b="0" i="0">
                <a:solidFill>
                  <a:srgbClr val="2C3A4B"/>
                </a:solidFill>
                <a:latin typeface="Segoe UI"/>
                <a:ea typeface="맑은 고딕"/>
                <a:cs typeface="맑은 고딕"/>
              </a:rPr>
              <a:t>–  slice들을 잇는 fetch network(페치 네트워크)가 여러 slice로 텐서를 multicast(멀티캐스트)한다</a:t>
            </a:r>
          </a:p>
          <a:p>
            <a:pPr algn="l">
              <a:lnSpc>
                <a:spcPct val="118000"/>
              </a:lnSpc>
              <a:spcBef>
                <a:spcPts val="200"/>
              </a:spcBef>
              <a:spcAft>
                <a:spcPts val="100"/>
              </a:spcAft>
            </a:pPr>
            <a:r>
              <a:rPr sz="1580" b="0" i="0">
                <a:solidFill>
                  <a:srgbClr val="5B6B7B"/>
                </a:solidFill>
                <a:latin typeface="Segoe UI"/>
                <a:ea typeface="맑은 고딕"/>
                <a:cs typeface="맑은 고딕"/>
              </a:rPr>
              <a:t>·  정확히는 slice 위의 fetch unit들을 잇는 네트워크다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'큰 유닛 하나' 대신 '독립적으로 설정 가능한 slice 여러 개 + 이를 잇는 네트워크'.</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데이터 흐름 — fetch network를 지나 operation unit으로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각 slice의 SRAM에서 읽은 데이터는 fetch network를 거쳐 operation unit(연산 유닛)으로 순차 전달(sequentially delivered)된다</a:t>
            </a:r>
          </a:p>
          <a:p>
            <a:pPr algn="l">
              <a:lnSpc>
                <a:spcPct val="118000"/>
              </a:lnSpc>
              <a:spcBef>
                <a:spcPts val="200"/>
              </a:spcBef>
              <a:spcAft>
                <a:spcPts val="100"/>
              </a:spcAft>
            </a:pPr>
            <a:r>
              <a:rPr sz="1780" b="0" i="0">
                <a:solidFill>
                  <a:srgbClr val="2C3A4B"/>
                </a:solidFill>
                <a:latin typeface="Segoe UI"/>
                <a:ea typeface="맑은 고딕"/>
                <a:cs typeface="맑은 고딕"/>
              </a:rPr>
              <a:t>–  operation unit은 세 엔진으로 구성된다</a:t>
            </a:r>
          </a:p>
          <a:p>
            <a:pPr algn="l">
              <a:lnSpc>
                <a:spcPct val="118000"/>
              </a:lnSpc>
              <a:spcBef>
                <a:spcPts val="200"/>
              </a:spcBef>
              <a:spcAft>
                <a:spcPts val="100"/>
              </a:spcAft>
            </a:pPr>
            <a:r>
              <a:rPr sz="1780" b="0" i="0">
                <a:solidFill>
                  <a:srgbClr val="5B6B7B"/>
                </a:solidFill>
                <a:latin typeface="Segoe UI"/>
                <a:ea typeface="맑은 고딕"/>
                <a:cs typeface="맑은 고딕"/>
              </a:rPr>
              <a:t>·  CE — contraction engine(축약 엔진)</a:t>
            </a:r>
          </a:p>
          <a:p>
            <a:pPr algn="l">
              <a:lnSpc>
                <a:spcPct val="118000"/>
              </a:lnSpc>
              <a:spcBef>
                <a:spcPts val="200"/>
              </a:spcBef>
              <a:spcAft>
                <a:spcPts val="100"/>
              </a:spcAft>
            </a:pPr>
            <a:r>
              <a:rPr sz="1780" b="0" i="0">
                <a:solidFill>
                  <a:srgbClr val="5B6B7B"/>
                </a:solidFill>
                <a:latin typeface="Segoe UI"/>
                <a:ea typeface="맑은 고딕"/>
                <a:cs typeface="맑은 고딕"/>
              </a:rPr>
              <a:t>·  VE — vector engine(벡터 엔진)</a:t>
            </a:r>
          </a:p>
          <a:p>
            <a:pPr algn="l">
              <a:lnSpc>
                <a:spcPct val="118000"/>
              </a:lnSpc>
              <a:spcBef>
                <a:spcPts val="200"/>
              </a:spcBef>
              <a:spcAft>
                <a:spcPts val="100"/>
              </a:spcAft>
            </a:pPr>
            <a:r>
              <a:rPr sz="1780" b="0" i="0">
                <a:solidFill>
                  <a:srgbClr val="5B6B7B"/>
                </a:solidFill>
                <a:latin typeface="Segoe UI"/>
                <a:ea typeface="맑은 고딕"/>
                <a:cs typeface="맑은 고딕"/>
              </a:rPr>
              <a:t>·  TE — transpose engine(전치 엔진)</a:t>
            </a:r>
          </a:p>
          <a:p>
            <a:pPr algn="l">
              <a:lnSpc>
                <a:spcPct val="118000"/>
              </a:lnSpc>
              <a:spcBef>
                <a:spcPts val="200"/>
              </a:spcBef>
              <a:spcAft>
                <a:spcPts val="100"/>
              </a:spcAft>
            </a:pPr>
            <a:r>
              <a:rPr sz="1780" b="1" i="0">
                <a:solidFill>
                  <a:srgbClr val="2C3A4B"/>
                </a:solidFill>
                <a:latin typeface="Segoe UI"/>
                <a:ea typeface="맑은 고딕"/>
                <a:cs typeface="맑은 고딕"/>
              </a:rPr>
              <a:t>–  이 엔진들은 컴파일러가 vector processor(벡터 프로세서)에서처럼 chain(체인)으로 엮을 수 있다</a:t>
            </a:r>
          </a:p>
          <a:p>
            <a:pPr algn="l">
              <a:lnSpc>
                <a:spcPct val="118000"/>
              </a:lnSpc>
              <a:spcBef>
                <a:spcPts val="200"/>
              </a:spcBef>
              <a:spcAft>
                <a:spcPts val="100"/>
              </a:spcAft>
            </a:pPr>
            <a:r>
              <a:rPr sz="1780" b="0" i="0">
                <a:solidFill>
                  <a:srgbClr val="5B6B7B"/>
                </a:solidFill>
                <a:latin typeface="Segoe UI"/>
                <a:ea typeface="맑은 고딕"/>
                <a:cs typeface="맑은 고딕"/>
              </a:rPr>
              <a:t>·  체이닝 덕분에 중간 결과를 메모리로 되돌리지 않고 엔진에서 엔진으로 흘려보낸다</a:t>
            </a:r>
          </a:p>
          <a:p>
            <a:pPr algn="l">
              <a:lnSpc>
                <a:spcPct val="118000"/>
              </a:lnSpc>
              <a:spcBef>
                <a:spcPts val="200"/>
              </a:spcBef>
              <a:spcAft>
                <a:spcPts val="100"/>
              </a:spcAft>
            </a:pPr>
            <a:r>
              <a:rPr sz="1780" b="0" i="0">
                <a:solidFill>
                  <a:srgbClr val="2C3A4B"/>
                </a:solidFill>
                <a:latin typeface="Segoe UI"/>
                <a:ea typeface="맑은 고딕"/>
                <a:cs typeface="맑은 고딕"/>
              </a:rPr>
              <a:t>–  '데이터를 항상 스트리밍한다'는 것이 TCP 연산 모델의 기본 전제다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SRAM → fetch network → CE/VE/TE 체인. 벡터 프로세서처럼 흘려보내는 구조다.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Contraction Engine 내부 — DPE와 reduction tree</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83</a:t>
            </a:r>
          </a:p>
        </p:txBody>
      </p:sp>
      <p:grpSp>
        <p:nvGrpSpPr>
          <p:cNvPr id="8" name="도해 A3#19"/>
          <p:cNvGrpSpPr/>
          <p:nvPr/>
        </p:nvGrpSpPr>
        <p:grpSpPr>
          <a:xfrm>
            <a:off x="1398724" y="1207008"/>
            <a:ext cx="9394248" cy="4334256"/>
            <a:chOff x="1398724" y="1207008"/>
            <a:chExt cx="9394248" cy="4334256"/>
          </a:xfrm>
        </p:grpSpPr>
        <p:sp>
          <p:nvSpPr>
            <p:cNvPr id="9" name="Rounded Rectangle 8"/>
            <p:cNvSpPr/>
            <p:nvPr/>
          </p:nvSpPr>
          <p:spPr>
            <a:xfrm>
              <a:off x="1398724" y="1207008"/>
              <a:ext cx="9394248" cy="4334256"/>
            </a:xfrm>
            <a:prstGeom prst="roundRect">
              <a:avLst>
                <a:gd name="adj" fmla="val 2325"/>
              </a:avLst>
            </a:prstGeom>
            <a:solidFill>
              <a:srgbClr val="F4F8FD"/>
            </a:solidFill>
            <a:ln w="2217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80158" y="1319699"/>
              <a:ext cx="2533746" cy="211633"/>
            </a:xfrm>
            <a:prstGeom prst="rect">
              <a:avLst/>
            </a:prstGeom>
            <a:noFill/>
          </p:spPr>
          <p:txBody>
            <a:bodyPr wrap="none" anchor="ctr" lIns="0" rIns="0" tIns="0" bIns="0">
              <a:noAutofit/>
            </a:bodyPr>
            <a:lstStyle/>
            <a:p>
              <a:pPr algn="l"/>
              <a:r>
                <a:rPr sz="1150" b="1">
                  <a:solidFill>
                    <a:srgbClr val="083F80"/>
                  </a:solidFill>
                  <a:latin typeface="맑은 고딕"/>
                  <a:ea typeface="맑은 고딕"/>
                  <a:cs typeface="맑은 고딕"/>
                </a:rPr>
                <a:t>CE — Contraction Engine (축약 엔진)</a:t>
              </a:r>
            </a:p>
          </p:txBody>
        </p:sp>
        <p:sp>
          <p:nvSpPr>
            <p:cNvPr id="11" name="Rounded Rectangle 10"/>
            <p:cNvSpPr/>
            <p:nvPr/>
          </p:nvSpPr>
          <p:spPr>
            <a:xfrm>
              <a:off x="1559998" y="1710991"/>
              <a:ext cx="1411153" cy="584621"/>
            </a:xfrm>
            <a:prstGeom prst="roundRect">
              <a:avLst>
                <a:gd name="adj" fmla="val 12068"/>
              </a:avLst>
            </a:prstGeom>
            <a:solidFill>
              <a:srgbClr val="E3EEFB"/>
            </a:solidFill>
            <a:ln w="161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4469" y="1838600"/>
              <a:ext cx="742211" cy="167847"/>
            </a:xfrm>
            <a:prstGeom prst="rect">
              <a:avLst/>
            </a:prstGeom>
            <a:noFill/>
          </p:spPr>
          <p:txBody>
            <a:bodyPr wrap="none" anchor="ctr" lIns="0" rIns="0" tIns="0" bIns="0">
              <a:noAutofit/>
            </a:bodyPr>
            <a:lstStyle/>
            <a:p>
              <a:pPr algn="ctr"/>
              <a:r>
                <a:rPr sz="910" b="1">
                  <a:solidFill>
                    <a:srgbClr val="083F80"/>
                  </a:solidFill>
                  <a:latin typeface="맑은 고딕"/>
                  <a:ea typeface="맑은 고딕"/>
                  <a:cs typeface="맑은 고딕"/>
                </a:rPr>
                <a:t>Register File</a:t>
              </a:r>
            </a:p>
          </p:txBody>
        </p:sp>
        <p:sp>
          <p:nvSpPr>
            <p:cNvPr id="13" name="TextBox 12"/>
            <p:cNvSpPr txBox="1"/>
            <p:nvPr/>
          </p:nvSpPr>
          <p:spPr>
            <a:xfrm>
              <a:off x="1991950" y="2043419"/>
              <a:ext cx="547250"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CE 안에 있다</a:t>
              </a:r>
            </a:p>
          </p:txBody>
        </p:sp>
        <p:sp>
          <p:nvSpPr>
            <p:cNvPr id="14" name="Rounded Rectangle 13"/>
            <p:cNvSpPr/>
            <p:nvPr/>
          </p:nvSpPr>
          <p:spPr>
            <a:xfrm>
              <a:off x="1559998" y="2598002"/>
              <a:ext cx="1411153" cy="584621"/>
            </a:xfrm>
            <a:prstGeom prst="roundRect">
              <a:avLst>
                <a:gd name="adj" fmla="val 12068"/>
              </a:avLst>
            </a:prstGeom>
            <a:solidFill>
              <a:srgbClr val="FDEBD3"/>
            </a:solidFill>
            <a:ln w="161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52311" y="2725610"/>
              <a:ext cx="626527" cy="167847"/>
            </a:xfrm>
            <a:prstGeom prst="rect">
              <a:avLst/>
            </a:prstGeom>
            <a:noFill/>
          </p:spPr>
          <p:txBody>
            <a:bodyPr wrap="none" anchor="ctr" lIns="0" rIns="0" tIns="0" bIns="0">
              <a:noAutofit/>
            </a:bodyPr>
            <a:lstStyle/>
            <a:p>
              <a:pPr algn="ctr"/>
              <a:r>
                <a:rPr sz="910" b="1">
                  <a:solidFill>
                    <a:srgbClr val="B45409"/>
                  </a:solidFill>
                  <a:latin typeface="맑은 고딕"/>
                  <a:ea typeface="맑은 고딕"/>
                  <a:cs typeface="맑은 고딕"/>
                </a:rPr>
                <a:t>Fetch Unit</a:t>
              </a:r>
            </a:p>
          </p:txBody>
        </p:sp>
        <p:sp>
          <p:nvSpPr>
            <p:cNvPr id="16" name="TextBox 15"/>
            <p:cNvSpPr txBox="1"/>
            <p:nvPr/>
          </p:nvSpPr>
          <p:spPr>
            <a:xfrm>
              <a:off x="1962600" y="2930429"/>
              <a:ext cx="605949"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순차 전달 벡터</a:t>
              </a:r>
            </a:p>
          </p:txBody>
        </p:sp>
        <p:cxnSp>
          <p:nvCxnSpPr>
            <p:cNvPr id="17" name="Connector 16"/>
            <p:cNvCxnSpPr/>
            <p:nvPr/>
          </p:nvCxnSpPr>
          <p:spPr>
            <a:xfrm>
              <a:off x="3011470" y="2033541"/>
              <a:ext cx="322549" cy="241912"/>
            </a:xfrm>
            <a:prstGeom prst="line">
              <a:avLst/>
            </a:prstGeom>
            <a:ln w="18143">
              <a:solidFill>
                <a:srgbClr val="0B5FC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3293701" y="2214975"/>
              <a:ext cx="141115" cy="120955"/>
            </a:xfrm>
            <a:custGeom>
              <a:avLst/>
              <a:gdLst/>
              <a:ahLst/>
              <a:cxnLst/>
              <a:rect l="l" t="t" r="r" b="b"/>
              <a:pathLst>
                <a:path w="141115" h="120955">
                  <a:moveTo>
                    <a:pt x="20159" y="0"/>
                  </a:moveTo>
                  <a:lnTo>
                    <a:pt x="141115" y="100796"/>
                  </a:lnTo>
                  <a:lnTo>
                    <a:pt x="0" y="120955"/>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011470" y="2618161"/>
              <a:ext cx="322549" cy="241912"/>
            </a:xfrm>
            <a:prstGeom prst="line">
              <a:avLst/>
            </a:prstGeom>
            <a:ln w="18143">
              <a:solidFill>
                <a:srgbClr val="B45409"/>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293701" y="2557683"/>
              <a:ext cx="141115" cy="120956"/>
            </a:xfrm>
            <a:custGeom>
              <a:avLst/>
              <a:gdLst/>
              <a:ahLst/>
              <a:cxnLst/>
              <a:rect l="l" t="t" r="r" b="b"/>
              <a:pathLst>
                <a:path w="141115" h="120956">
                  <a:moveTo>
                    <a:pt x="20159" y="120956"/>
                  </a:moveTo>
                  <a:lnTo>
                    <a:pt x="141115" y="20159"/>
                  </a:lnTo>
                  <a:lnTo>
                    <a:pt x="0"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6226" y="2386127"/>
              <a:ext cx="373356"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입력 2개</a:t>
              </a:r>
            </a:p>
          </p:txBody>
        </p:sp>
        <p:sp>
          <p:nvSpPr>
            <p:cNvPr id="22" name="TextBox 21"/>
            <p:cNvSpPr txBox="1"/>
            <p:nvPr/>
          </p:nvSpPr>
          <p:spPr>
            <a:xfrm>
              <a:off x="3810364" y="1530364"/>
              <a:ext cx="841491" cy="175144"/>
            </a:xfrm>
            <a:prstGeom prst="rect">
              <a:avLst/>
            </a:prstGeom>
            <a:noFill/>
          </p:spPr>
          <p:txBody>
            <a:bodyPr wrap="none" anchor="ctr" lIns="0" rIns="0" tIns="0" bIns="0">
              <a:noAutofit/>
            </a:bodyPr>
            <a:lstStyle/>
            <a:p>
              <a:pPr algn="ctr"/>
              <a:r>
                <a:rPr sz="950" b="1">
                  <a:solidFill>
                    <a:srgbClr val="083F80"/>
                  </a:solidFill>
                  <a:latin typeface="맑은 고딕"/>
                  <a:ea typeface="맑은 고딕"/>
                  <a:cs typeface="맑은 고딕"/>
                </a:rPr>
                <a:t>DPE × H (= 8)</a:t>
              </a:r>
            </a:p>
          </p:txBody>
        </p:sp>
        <p:sp>
          <p:nvSpPr>
            <p:cNvPr id="23" name="Rounded Rectangle 22"/>
            <p:cNvSpPr/>
            <p:nvPr/>
          </p:nvSpPr>
          <p:spPr>
            <a:xfrm>
              <a:off x="3475135" y="1751310"/>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75135" y="2094019"/>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75135" y="2436727"/>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75135" y="2779436"/>
              <a:ext cx="1511950" cy="262071"/>
            </a:xfrm>
            <a:prstGeom prst="roundRect">
              <a:avLst>
                <a:gd name="adj" fmla="val 15384"/>
              </a:avLst>
            </a:prstGeom>
            <a:solidFill>
              <a:srgbClr val="B8D4F3"/>
            </a:solidFill>
            <a:ln w="1814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475135" y="3122144"/>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75135" y="3464853"/>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475135" y="3807562"/>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475135" y="4150270"/>
              <a:ext cx="1511950" cy="262071"/>
            </a:xfrm>
            <a:prstGeom prst="roundRect">
              <a:avLst>
                <a:gd name="adj" fmla="val 15384"/>
              </a:avLst>
            </a:prstGeom>
            <a:solidFill>
              <a:srgbClr val="DCEBF9"/>
            </a:solidFill>
            <a:ln w="120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77445" y="1815820"/>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0</a:t>
              </a:r>
            </a:p>
          </p:txBody>
        </p:sp>
        <p:sp>
          <p:nvSpPr>
            <p:cNvPr id="32" name="TextBox 31"/>
            <p:cNvSpPr txBox="1"/>
            <p:nvPr/>
          </p:nvSpPr>
          <p:spPr>
            <a:xfrm>
              <a:off x="4077445" y="2158528"/>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1</a:t>
              </a:r>
            </a:p>
          </p:txBody>
        </p:sp>
        <p:sp>
          <p:nvSpPr>
            <p:cNvPr id="33" name="TextBox 32"/>
            <p:cNvSpPr txBox="1"/>
            <p:nvPr/>
          </p:nvSpPr>
          <p:spPr>
            <a:xfrm>
              <a:off x="4077445" y="2501237"/>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2</a:t>
              </a:r>
            </a:p>
          </p:txBody>
        </p:sp>
        <p:sp>
          <p:nvSpPr>
            <p:cNvPr id="34" name="TextBox 33"/>
            <p:cNvSpPr txBox="1"/>
            <p:nvPr/>
          </p:nvSpPr>
          <p:spPr>
            <a:xfrm>
              <a:off x="4071196" y="2843946"/>
              <a:ext cx="319828" cy="14595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3</a:t>
              </a:r>
            </a:p>
          </p:txBody>
        </p:sp>
        <p:sp>
          <p:nvSpPr>
            <p:cNvPr id="35" name="TextBox 34"/>
            <p:cNvSpPr txBox="1"/>
            <p:nvPr/>
          </p:nvSpPr>
          <p:spPr>
            <a:xfrm>
              <a:off x="4077445" y="3186654"/>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4</a:t>
              </a:r>
            </a:p>
          </p:txBody>
        </p:sp>
        <p:sp>
          <p:nvSpPr>
            <p:cNvPr id="36" name="TextBox 35"/>
            <p:cNvSpPr txBox="1"/>
            <p:nvPr/>
          </p:nvSpPr>
          <p:spPr>
            <a:xfrm>
              <a:off x="4077445" y="3529363"/>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5</a:t>
              </a:r>
            </a:p>
          </p:txBody>
        </p:sp>
        <p:sp>
          <p:nvSpPr>
            <p:cNvPr id="37" name="TextBox 36"/>
            <p:cNvSpPr txBox="1"/>
            <p:nvPr/>
          </p:nvSpPr>
          <p:spPr>
            <a:xfrm>
              <a:off x="4077445" y="3872071"/>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6</a:t>
              </a:r>
            </a:p>
          </p:txBody>
        </p:sp>
        <p:sp>
          <p:nvSpPr>
            <p:cNvPr id="38" name="TextBox 37"/>
            <p:cNvSpPr txBox="1"/>
            <p:nvPr/>
          </p:nvSpPr>
          <p:spPr>
            <a:xfrm>
              <a:off x="4077445" y="4214780"/>
              <a:ext cx="307329" cy="145954"/>
            </a:xfrm>
            <a:prstGeom prst="rect">
              <a:avLst/>
            </a:prstGeom>
            <a:noFill/>
          </p:spPr>
          <p:txBody>
            <a:bodyPr wrap="none" anchor="ctr" lIns="0" rIns="0" tIns="0" bIns="0">
              <a:noAutofit/>
            </a:bodyPr>
            <a:lstStyle/>
            <a:p>
              <a:pPr algn="ctr"/>
              <a:r>
                <a:rPr sz="790" b="0">
                  <a:solidFill>
                    <a:srgbClr val="083F80"/>
                  </a:solidFill>
                  <a:latin typeface="맑은 고딕"/>
                  <a:ea typeface="맑은 고딕"/>
                  <a:cs typeface="맑은 고딕"/>
                </a:rPr>
                <a:t>DPE 7</a:t>
              </a:r>
            </a:p>
          </p:txBody>
        </p:sp>
        <p:sp>
          <p:nvSpPr>
            <p:cNvPr id="39" name="TextBox 38"/>
            <p:cNvSpPr txBox="1"/>
            <p:nvPr/>
          </p:nvSpPr>
          <p:spPr>
            <a:xfrm>
              <a:off x="3857514" y="4523016"/>
              <a:ext cx="747190"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8개가 나란히 돈다</a:t>
              </a:r>
            </a:p>
          </p:txBody>
        </p:sp>
        <p:cxnSp>
          <p:nvCxnSpPr>
            <p:cNvPr id="40" name="Connector 39"/>
            <p:cNvCxnSpPr/>
            <p:nvPr/>
          </p:nvCxnSpPr>
          <p:spPr>
            <a:xfrm flipV="1">
              <a:off x="4987084" y="1731151"/>
              <a:ext cx="403187" cy="1068444"/>
            </a:xfrm>
            <a:prstGeom prst="line">
              <a:avLst/>
            </a:prstGeom>
            <a:ln w="14111">
              <a:solidFill>
                <a:srgbClr val="B8D4F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987084" y="3021348"/>
              <a:ext cx="403187" cy="1552268"/>
            </a:xfrm>
            <a:prstGeom prst="line">
              <a:avLst/>
            </a:prstGeom>
            <a:ln w="14111">
              <a:solidFill>
                <a:srgbClr val="B8D4F3"/>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390271" y="1731151"/>
              <a:ext cx="3830273" cy="2842466"/>
            </a:xfrm>
            <a:prstGeom prst="roundRect">
              <a:avLst>
                <a:gd name="adj" fmla="val 2836"/>
              </a:avLst>
            </a:prstGeom>
            <a:solidFill>
              <a:srgbClr val="DCEBF9"/>
            </a:solidFill>
            <a:ln w="161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12905" y="1812594"/>
              <a:ext cx="785004" cy="175144"/>
            </a:xfrm>
            <a:prstGeom prst="rect">
              <a:avLst/>
            </a:prstGeom>
            <a:noFill/>
          </p:spPr>
          <p:txBody>
            <a:bodyPr wrap="none" anchor="ctr" lIns="0" rIns="0" tIns="0" bIns="0">
              <a:noAutofit/>
            </a:bodyPr>
            <a:lstStyle/>
            <a:p>
              <a:pPr algn="ctr"/>
              <a:r>
                <a:rPr sz="950" b="1">
                  <a:solidFill>
                    <a:srgbClr val="083F80"/>
                  </a:solidFill>
                  <a:latin typeface="맑은 고딕"/>
                  <a:ea typeface="맑은 고딕"/>
                  <a:cs typeface="맑은 고딕"/>
                </a:rPr>
                <a:t>DPE 하나의 안</a:t>
              </a:r>
            </a:p>
          </p:txBody>
        </p:sp>
        <p:sp>
          <p:nvSpPr>
            <p:cNvPr id="44" name="TextBox 43"/>
            <p:cNvSpPr txBox="1"/>
            <p:nvPr/>
          </p:nvSpPr>
          <p:spPr>
            <a:xfrm>
              <a:off x="6828236" y="2017413"/>
              <a:ext cx="954343"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원소별 곱 — 입력 W개</a:t>
              </a:r>
            </a:p>
          </p:txBody>
        </p:sp>
        <p:sp>
          <p:nvSpPr>
            <p:cNvPr id="45" name="Rounded Rectangle 44"/>
            <p:cNvSpPr/>
            <p:nvPr/>
          </p:nvSpPr>
          <p:spPr>
            <a:xfrm>
              <a:off x="5612024"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015210"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418397"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21583"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224770"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627957"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031143"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434330" y="2194815"/>
              <a:ext cx="262071" cy="262071"/>
            </a:xfrm>
            <a:prstGeom prst="roundRect">
              <a:avLst>
                <a:gd name="adj" fmla="val 11538"/>
              </a:avLst>
            </a:prstGeom>
            <a:solidFill>
              <a:srgbClr val="B8D4F3"/>
            </a:solidFill>
            <a:ln w="10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0809"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4" name="TextBox 53"/>
            <p:cNvSpPr txBox="1"/>
            <p:nvPr/>
          </p:nvSpPr>
          <p:spPr>
            <a:xfrm>
              <a:off x="6063996"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5" name="TextBox 54"/>
            <p:cNvSpPr txBox="1"/>
            <p:nvPr/>
          </p:nvSpPr>
          <p:spPr>
            <a:xfrm>
              <a:off x="6467182"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6" name="TextBox 55"/>
            <p:cNvSpPr txBox="1"/>
            <p:nvPr/>
          </p:nvSpPr>
          <p:spPr>
            <a:xfrm>
              <a:off x="6870369"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7" name="TextBox 56"/>
            <p:cNvSpPr txBox="1"/>
            <p:nvPr/>
          </p:nvSpPr>
          <p:spPr>
            <a:xfrm>
              <a:off x="7273556"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8" name="TextBox 57"/>
            <p:cNvSpPr txBox="1"/>
            <p:nvPr/>
          </p:nvSpPr>
          <p:spPr>
            <a:xfrm>
              <a:off x="7676742"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59" name="TextBox 58"/>
            <p:cNvSpPr txBox="1"/>
            <p:nvPr/>
          </p:nvSpPr>
          <p:spPr>
            <a:xfrm>
              <a:off x="8079929"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sp>
          <p:nvSpPr>
            <p:cNvPr id="60" name="TextBox 59"/>
            <p:cNvSpPr txBox="1"/>
            <p:nvPr/>
          </p:nvSpPr>
          <p:spPr>
            <a:xfrm>
              <a:off x="8483115" y="2246020"/>
              <a:ext cx="164500" cy="175144"/>
            </a:xfrm>
            <a:prstGeom prst="rect">
              <a:avLst/>
            </a:prstGeom>
            <a:noFill/>
          </p:spPr>
          <p:txBody>
            <a:bodyPr wrap="none" anchor="ctr" lIns="0" rIns="0" tIns="0" bIns="0">
              <a:noAutofit/>
            </a:bodyPr>
            <a:lstStyle/>
            <a:p>
              <a:pPr algn="ctr"/>
              <a:r>
                <a:rPr sz="950" b="0">
                  <a:solidFill>
                    <a:srgbClr val="083F80"/>
                  </a:solidFill>
                  <a:latin typeface="맑은 고딕"/>
                  <a:ea typeface="맑은 고딕"/>
                  <a:cs typeface="맑은 고딕"/>
                </a:rPr>
                <a:t>×</a:t>
              </a:r>
            </a:p>
          </p:txBody>
        </p:sp>
        <p:cxnSp>
          <p:nvCxnSpPr>
            <p:cNvPr id="61" name="Connector 60"/>
            <p:cNvCxnSpPr/>
            <p:nvPr/>
          </p:nvCxnSpPr>
          <p:spPr>
            <a:xfrm>
              <a:off x="5743059" y="2456886"/>
              <a:ext cx="201594"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944653"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549432" y="2456886"/>
              <a:ext cx="201594"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6751026"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355806"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7557399"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62179"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8363772" y="2456886"/>
              <a:ext cx="201593" cy="332629"/>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44653" y="2970949"/>
              <a:ext cx="403186" cy="201594"/>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6347839" y="2970949"/>
              <a:ext cx="403187" cy="201594"/>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57399" y="2970949"/>
              <a:ext cx="403187" cy="201594"/>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7960586" y="2970949"/>
              <a:ext cx="403186" cy="201594"/>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347839" y="3353977"/>
              <a:ext cx="806373" cy="201593"/>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154212" y="3353977"/>
              <a:ext cx="806374" cy="201593"/>
            </a:xfrm>
            <a:prstGeom prst="line">
              <a:avLst/>
            </a:prstGeom>
            <a:ln w="12095">
              <a:solidFill>
                <a:srgbClr val="0B5FC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5853936" y="2789515"/>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660309" y="2789515"/>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466682" y="2789515"/>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273055" y="2789515"/>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257122" y="3172543"/>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869869" y="3172543"/>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063495" y="3555570"/>
              <a:ext cx="181434" cy="181434"/>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a:off x="5531386" y="3061666"/>
              <a:ext cx="3144856" cy="0"/>
            </a:xfrm>
            <a:prstGeom prst="line">
              <a:avLst/>
            </a:prstGeom>
            <a:ln w="11087">
              <a:solidFill>
                <a:srgbClr val="B45409"/>
              </a:solidFill>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531386" y="3444694"/>
              <a:ext cx="3144856" cy="0"/>
            </a:xfrm>
            <a:prstGeom prst="line">
              <a:avLst/>
            </a:prstGeom>
            <a:ln w="11087">
              <a:solidFill>
                <a:srgbClr val="B45409"/>
              </a:solidFill>
              <a:prstDash val="dash"/>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736720" y="2809473"/>
              <a:ext cx="373356" cy="138656"/>
            </a:xfrm>
            <a:prstGeom prst="rect">
              <a:avLst/>
            </a:prstGeom>
            <a:noFill/>
          </p:spPr>
          <p:txBody>
            <a:bodyPr wrap="none" anchor="ctr" lIns="0" rIns="0" tIns="0" bIns="0">
              <a:noAutofit/>
            </a:bodyPr>
            <a:lstStyle/>
            <a:p>
              <a:pPr algn="l"/>
              <a:r>
                <a:rPr sz="750" b="0">
                  <a:solidFill>
                    <a:srgbClr val="B45409"/>
                  </a:solidFill>
                  <a:latin typeface="맑은 고딕"/>
                  <a:ea typeface="맑은 고딕"/>
                  <a:cs typeface="맑은 고딕"/>
                </a:rPr>
                <a:t>출력 4개</a:t>
              </a:r>
            </a:p>
          </p:txBody>
        </p:sp>
        <p:sp>
          <p:nvSpPr>
            <p:cNvPr id="85" name="TextBox 84"/>
            <p:cNvSpPr txBox="1"/>
            <p:nvPr/>
          </p:nvSpPr>
          <p:spPr>
            <a:xfrm>
              <a:off x="8736720" y="3192500"/>
              <a:ext cx="373356" cy="138656"/>
            </a:xfrm>
            <a:prstGeom prst="rect">
              <a:avLst/>
            </a:prstGeom>
            <a:noFill/>
          </p:spPr>
          <p:txBody>
            <a:bodyPr wrap="none" anchor="ctr" lIns="0" rIns="0" tIns="0" bIns="0">
              <a:noAutofit/>
            </a:bodyPr>
            <a:lstStyle/>
            <a:p>
              <a:pPr algn="l"/>
              <a:r>
                <a:rPr sz="750" b="0">
                  <a:solidFill>
                    <a:srgbClr val="B45409"/>
                  </a:solidFill>
                  <a:latin typeface="맑은 고딕"/>
                  <a:ea typeface="맑은 고딕"/>
                  <a:cs typeface="맑은 고딕"/>
                </a:rPr>
                <a:t>출력 2개</a:t>
              </a:r>
            </a:p>
          </p:txBody>
        </p:sp>
        <p:sp>
          <p:nvSpPr>
            <p:cNvPr id="86" name="TextBox 85"/>
            <p:cNvSpPr txBox="1"/>
            <p:nvPr/>
          </p:nvSpPr>
          <p:spPr>
            <a:xfrm>
              <a:off x="8736720" y="3575528"/>
              <a:ext cx="373356" cy="138656"/>
            </a:xfrm>
            <a:prstGeom prst="rect">
              <a:avLst/>
            </a:prstGeom>
            <a:noFill/>
          </p:spPr>
          <p:txBody>
            <a:bodyPr wrap="none" anchor="ctr" lIns="0" rIns="0" tIns="0" bIns="0">
              <a:noAutofit/>
            </a:bodyPr>
            <a:lstStyle/>
            <a:p>
              <a:pPr algn="l"/>
              <a:r>
                <a:rPr sz="750" b="0">
                  <a:solidFill>
                    <a:srgbClr val="B45409"/>
                  </a:solidFill>
                  <a:latin typeface="맑은 고딕"/>
                  <a:ea typeface="맑은 고딕"/>
                  <a:cs typeface="맑은 고딕"/>
                </a:rPr>
                <a:t>출력 1개</a:t>
              </a:r>
            </a:p>
          </p:txBody>
        </p:sp>
        <p:sp>
          <p:nvSpPr>
            <p:cNvPr id="87" name="TextBox 86"/>
            <p:cNvSpPr txBox="1"/>
            <p:nvPr/>
          </p:nvSpPr>
          <p:spPr>
            <a:xfrm>
              <a:off x="6568732" y="3805747"/>
              <a:ext cx="1473350" cy="153251"/>
            </a:xfrm>
            <a:prstGeom prst="rect">
              <a:avLst/>
            </a:prstGeom>
            <a:noFill/>
          </p:spPr>
          <p:txBody>
            <a:bodyPr wrap="none" anchor="ctr" lIns="0" rIns="0" tIns="0" bIns="0">
              <a:noAutofit/>
            </a:bodyPr>
            <a:lstStyle/>
            <a:p>
              <a:pPr algn="ctr"/>
              <a:r>
                <a:rPr sz="830" b="1">
                  <a:solidFill>
                    <a:srgbClr val="B45409"/>
                  </a:solidFill>
                  <a:latin typeface="맑은 고딕"/>
                  <a:ea typeface="맑은 고딕"/>
                  <a:cs typeface="맑은 고딕"/>
                </a:rPr>
                <a:t>트리 깊이를 소프트웨어가 정한다</a:t>
              </a:r>
            </a:p>
          </p:txBody>
        </p:sp>
        <p:sp>
          <p:nvSpPr>
            <p:cNvPr id="88" name="TextBox 87"/>
            <p:cNvSpPr txBox="1"/>
            <p:nvPr/>
          </p:nvSpPr>
          <p:spPr>
            <a:xfrm>
              <a:off x="6384932" y="4013187"/>
              <a:ext cx="1840950"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축약 축이 짧아도 트리 전체를 놀리지 않는다</a:t>
              </a:r>
            </a:p>
          </p:txBody>
        </p:sp>
        <p:cxnSp>
          <p:nvCxnSpPr>
            <p:cNvPr id="89" name="Connector 88"/>
            <p:cNvCxnSpPr/>
            <p:nvPr/>
          </p:nvCxnSpPr>
          <p:spPr>
            <a:xfrm>
              <a:off x="7305407" y="4573616"/>
              <a:ext cx="0" cy="100797"/>
            </a:xfrm>
            <a:prstGeom prst="line">
              <a:avLst/>
            </a:prstGeom>
            <a:ln w="20159">
              <a:solidFill>
                <a:srgbClr val="1A7F37"/>
              </a:solidFill>
            </a:ln>
          </p:spPr>
          <p:style>
            <a:lnRef idx="2">
              <a:schemeClr val="accent1"/>
            </a:lnRef>
            <a:fillRef idx="0">
              <a:schemeClr val="accent1"/>
            </a:fillRef>
            <a:effectRef idx="1">
              <a:schemeClr val="accent1"/>
            </a:effectRef>
            <a:fontRef idx="minor">
              <a:schemeClr val="tx1"/>
            </a:fontRef>
          </p:style>
        </p:cxnSp>
        <p:sp>
          <p:nvSpPr>
            <p:cNvPr id="90" name="Freeform 89"/>
            <p:cNvSpPr/>
            <p:nvPr/>
          </p:nvSpPr>
          <p:spPr>
            <a:xfrm>
              <a:off x="7244929" y="4654253"/>
              <a:ext cx="120956" cy="120956"/>
            </a:xfrm>
            <a:custGeom>
              <a:avLst/>
              <a:gdLst/>
              <a:ahLst/>
              <a:cxnLst/>
              <a:rect l="l" t="t" r="r" b="b"/>
              <a:pathLst>
                <a:path w="120956" h="120956">
                  <a:moveTo>
                    <a:pt x="0" y="0"/>
                  </a:moveTo>
                  <a:lnTo>
                    <a:pt x="60478" y="120956"/>
                  </a:lnTo>
                  <a:lnTo>
                    <a:pt x="120956" y="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5390271" y="4775209"/>
              <a:ext cx="3830273" cy="584621"/>
            </a:xfrm>
            <a:prstGeom prst="roundRect">
              <a:avLst>
                <a:gd name="adj" fmla="val 13793"/>
              </a:avLst>
            </a:prstGeom>
            <a:solidFill>
              <a:srgbClr val="E2F4E8"/>
            </a:solidFill>
            <a:ln w="1814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731895" y="4876812"/>
              <a:ext cx="1147026" cy="175144"/>
            </a:xfrm>
            <a:prstGeom prst="rect">
              <a:avLst/>
            </a:prstGeom>
            <a:noFill/>
          </p:spPr>
          <p:txBody>
            <a:bodyPr wrap="none" anchor="ctr" lIns="0" rIns="0" tIns="0" bIns="0">
              <a:noAutofit/>
            </a:bodyPr>
            <a:lstStyle/>
            <a:p>
              <a:pPr algn="ctr"/>
              <a:r>
                <a:rPr sz="950" b="1">
                  <a:solidFill>
                    <a:srgbClr val="1A7F37"/>
                  </a:solidFill>
                  <a:latin typeface="맑은 고딕"/>
                  <a:ea typeface="맑은 고딕"/>
                  <a:cs typeface="맑은 고딕"/>
                </a:rPr>
                <a:t>Accumulation Unit</a:t>
              </a:r>
            </a:p>
          </p:txBody>
        </p:sp>
        <p:sp>
          <p:nvSpPr>
            <p:cNvPr id="93" name="TextBox 92"/>
            <p:cNvSpPr txBox="1"/>
            <p:nvPr/>
          </p:nvSpPr>
          <p:spPr>
            <a:xfrm>
              <a:off x="6708288" y="5101791"/>
              <a:ext cx="1194239"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출력을 시간축으로 누산한다</a:t>
              </a:r>
            </a:p>
          </p:txBody>
        </p:sp>
        <p:sp>
          <p:nvSpPr>
            <p:cNvPr id="94" name="Rounded Rectangle 93"/>
            <p:cNvSpPr/>
            <p:nvPr/>
          </p:nvSpPr>
          <p:spPr>
            <a:xfrm>
              <a:off x="9381818" y="1731151"/>
              <a:ext cx="1249878" cy="1511950"/>
            </a:xfrm>
            <a:prstGeom prst="roundRect">
              <a:avLst>
                <a:gd name="adj" fmla="val 6451"/>
              </a:avLst>
            </a:prstGeom>
            <a:solidFill>
              <a:srgbClr val="FFF7E6"/>
            </a:solidFill>
            <a:ln w="161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99686" y="1864605"/>
              <a:ext cx="614144" cy="160549"/>
            </a:xfrm>
            <a:prstGeom prst="rect">
              <a:avLst/>
            </a:prstGeom>
            <a:noFill/>
          </p:spPr>
          <p:txBody>
            <a:bodyPr wrap="none" anchor="ctr" lIns="0" rIns="0" tIns="0" bIns="0">
              <a:noAutofit/>
            </a:bodyPr>
            <a:lstStyle/>
            <a:p>
              <a:pPr algn="ctr"/>
              <a:r>
                <a:rPr sz="869" b="1">
                  <a:solidFill>
                    <a:srgbClr val="B45409"/>
                  </a:solidFill>
                  <a:latin typeface="맑은 고딕"/>
                  <a:ea typeface="맑은 고딕"/>
                  <a:cs typeface="맑은 고딕"/>
                </a:rPr>
                <a:t>slice 하나가</a:t>
              </a:r>
            </a:p>
          </p:txBody>
        </p:sp>
        <p:sp>
          <p:nvSpPr>
            <p:cNvPr id="96" name="TextBox 95"/>
            <p:cNvSpPr txBox="1"/>
            <p:nvPr/>
          </p:nvSpPr>
          <p:spPr>
            <a:xfrm>
              <a:off x="9690095" y="2046039"/>
              <a:ext cx="633326" cy="160549"/>
            </a:xfrm>
            <a:prstGeom prst="rect">
              <a:avLst/>
            </a:prstGeom>
            <a:noFill/>
          </p:spPr>
          <p:txBody>
            <a:bodyPr wrap="none" anchor="ctr" lIns="0" rIns="0" tIns="0" bIns="0">
              <a:noAutofit/>
            </a:bodyPr>
            <a:lstStyle/>
            <a:p>
              <a:pPr algn="ctr"/>
              <a:r>
                <a:rPr sz="869" b="1">
                  <a:solidFill>
                    <a:srgbClr val="B45409"/>
                  </a:solidFill>
                  <a:latin typeface="맑은 고딕"/>
                  <a:ea typeface="맑은 고딕"/>
                  <a:cs typeface="맑은 고딕"/>
                </a:rPr>
                <a:t>쓰는 MAC 수</a:t>
              </a:r>
            </a:p>
          </p:txBody>
        </p:sp>
        <p:sp>
          <p:nvSpPr>
            <p:cNvPr id="97" name="TextBox 96"/>
            <p:cNvSpPr txBox="1"/>
            <p:nvPr/>
          </p:nvSpPr>
          <p:spPr>
            <a:xfrm>
              <a:off x="9743225" y="2301660"/>
              <a:ext cx="527066" cy="218930"/>
            </a:xfrm>
            <a:prstGeom prst="rect">
              <a:avLst/>
            </a:prstGeom>
            <a:noFill/>
          </p:spPr>
          <p:txBody>
            <a:bodyPr wrap="none" anchor="ctr" lIns="0" rIns="0" tIns="0" bIns="0">
              <a:noAutofit/>
            </a:bodyPr>
            <a:lstStyle/>
            <a:p>
              <a:pPr algn="ctr"/>
              <a:r>
                <a:rPr sz="1190" b="1">
                  <a:solidFill>
                    <a:srgbClr val="083F80"/>
                  </a:solidFill>
                  <a:latin typeface="맑은 고딕"/>
                  <a:ea typeface="맑은 고딕"/>
                  <a:cs typeface="맑은 고딕"/>
                </a:rPr>
                <a:t>H × W</a:t>
              </a:r>
            </a:p>
          </p:txBody>
        </p:sp>
        <p:sp>
          <p:nvSpPr>
            <p:cNvPr id="98" name="TextBox 97"/>
            <p:cNvSpPr txBox="1"/>
            <p:nvPr/>
          </p:nvSpPr>
          <p:spPr>
            <a:xfrm>
              <a:off x="9631290" y="2622193"/>
              <a:ext cx="750935"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H = 8 (칩 설계값)</a:t>
              </a:r>
            </a:p>
          </p:txBody>
        </p:sp>
        <p:sp>
          <p:nvSpPr>
            <p:cNvPr id="99" name="TextBox 98"/>
            <p:cNvSpPr txBox="1"/>
            <p:nvPr/>
          </p:nvSpPr>
          <p:spPr>
            <a:xfrm>
              <a:off x="9692574" y="2823786"/>
              <a:ext cx="628366"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W 는 IV절에서</a:t>
              </a:r>
            </a:p>
          </p:txBody>
        </p:sp>
        <p:sp>
          <p:nvSpPr>
            <p:cNvPr id="100" name="TextBox 99"/>
            <p:cNvSpPr txBox="1"/>
            <p:nvPr/>
          </p:nvSpPr>
          <p:spPr>
            <a:xfrm>
              <a:off x="9849515" y="3005220"/>
              <a:ext cx="314486" cy="145954"/>
            </a:xfrm>
            <a:prstGeom prst="rect">
              <a:avLst/>
            </a:prstGeom>
            <a:noFill/>
          </p:spPr>
          <p:txBody>
            <a:bodyPr wrap="none" anchor="ctr" lIns="0" rIns="0" tIns="0" bIns="0">
              <a:noAutofit/>
            </a:bodyPr>
            <a:lstStyle/>
            <a:p>
              <a:pPr algn="ctr"/>
              <a:r>
                <a:rPr sz="790" b="0">
                  <a:solidFill>
                    <a:srgbClr val="16202C"/>
                  </a:solidFill>
                  <a:latin typeface="맑은 고딕"/>
                  <a:ea typeface="맑은 고딕"/>
                  <a:cs typeface="맑은 고딕"/>
                </a:rPr>
                <a:t>밝힌다</a:t>
              </a:r>
            </a:p>
          </p:txBody>
        </p:sp>
        <p:sp>
          <p:nvSpPr>
            <p:cNvPr id="101" name="Rounded Rectangle 100"/>
            <p:cNvSpPr/>
            <p:nvPr/>
          </p:nvSpPr>
          <p:spPr>
            <a:xfrm>
              <a:off x="9381818" y="3404375"/>
              <a:ext cx="1249878" cy="1209560"/>
            </a:xfrm>
            <a:prstGeom prst="roundRect">
              <a:avLst>
                <a:gd name="adj" fmla="val 6666"/>
              </a:avLst>
            </a:prstGeom>
            <a:solidFill>
              <a:srgbClr val="EEF2F7"/>
            </a:solidFill>
            <a:ln w="1411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749734" y="3523517"/>
              <a:ext cx="514048" cy="153251"/>
            </a:xfrm>
            <a:prstGeom prst="rect">
              <a:avLst/>
            </a:prstGeom>
            <a:noFill/>
          </p:spPr>
          <p:txBody>
            <a:bodyPr wrap="none" anchor="ctr" lIns="0" rIns="0" tIns="0" bIns="0">
              <a:noAutofit/>
            </a:bodyPr>
            <a:lstStyle/>
            <a:p>
              <a:pPr algn="ctr"/>
              <a:r>
                <a:rPr sz="830" b="1">
                  <a:solidFill>
                    <a:srgbClr val="5B6B7B"/>
                  </a:solidFill>
                  <a:latin typeface="맑은 고딕"/>
                  <a:ea typeface="맑은 고딕"/>
                  <a:cs typeface="맑은 고딕"/>
                </a:rPr>
                <a:t>입력 2갈래</a:t>
              </a:r>
            </a:p>
          </p:txBody>
        </p:sp>
        <p:sp>
          <p:nvSpPr>
            <p:cNvPr id="103" name="TextBox 102"/>
            <p:cNvSpPr txBox="1"/>
            <p:nvPr/>
          </p:nvSpPr>
          <p:spPr>
            <a:xfrm>
              <a:off x="9655905" y="3777121"/>
              <a:ext cx="701706" cy="138656"/>
            </a:xfrm>
            <a:prstGeom prst="rect">
              <a:avLst/>
            </a:prstGeom>
            <a:noFill/>
          </p:spPr>
          <p:txBody>
            <a:bodyPr wrap="none" anchor="ctr" lIns="0" rIns="0" tIns="0" bIns="0">
              <a:noAutofit/>
            </a:bodyPr>
            <a:lstStyle/>
            <a:p>
              <a:pPr algn="ctr"/>
              <a:r>
                <a:rPr sz="750" b="0">
                  <a:solidFill>
                    <a:srgbClr val="16202C"/>
                  </a:solidFill>
                  <a:latin typeface="맑은 고딕"/>
                  <a:ea typeface="맑은 고딕"/>
                  <a:cs typeface="맑은 고딕"/>
                </a:rPr>
                <a:t>① 레지스터 파일</a:t>
              </a:r>
            </a:p>
          </p:txBody>
        </p:sp>
        <p:sp>
          <p:nvSpPr>
            <p:cNvPr id="104" name="TextBox 103"/>
            <p:cNvSpPr txBox="1"/>
            <p:nvPr/>
          </p:nvSpPr>
          <p:spPr>
            <a:xfrm>
              <a:off x="9718865" y="3958555"/>
              <a:ext cx="575786" cy="138656"/>
            </a:xfrm>
            <a:prstGeom prst="rect">
              <a:avLst/>
            </a:prstGeom>
            <a:noFill/>
          </p:spPr>
          <p:txBody>
            <a:bodyPr wrap="none" anchor="ctr" lIns="0" rIns="0" tIns="0" bIns="0">
              <a:noAutofit/>
            </a:bodyPr>
            <a:lstStyle/>
            <a:p>
              <a:pPr algn="ctr"/>
              <a:r>
                <a:rPr sz="750" b="0">
                  <a:solidFill>
                    <a:srgbClr val="16202C"/>
                  </a:solidFill>
                  <a:latin typeface="맑은 고딕"/>
                  <a:ea typeface="맑은 고딕"/>
                  <a:cs typeface="맑은 고딕"/>
                </a:rPr>
                <a:t>② fetch unit</a:t>
              </a:r>
            </a:p>
          </p:txBody>
        </p:sp>
        <p:sp>
          <p:nvSpPr>
            <p:cNvPr id="105" name="TextBox 104"/>
            <p:cNvSpPr txBox="1"/>
            <p:nvPr/>
          </p:nvSpPr>
          <p:spPr>
            <a:xfrm>
              <a:off x="9710677" y="4220626"/>
              <a:ext cx="592160"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①을 고정하면</a:t>
              </a:r>
            </a:p>
          </p:txBody>
        </p:sp>
        <p:sp>
          <p:nvSpPr>
            <p:cNvPr id="106" name="TextBox 105"/>
            <p:cNvSpPr txBox="1"/>
            <p:nvPr/>
          </p:nvSpPr>
          <p:spPr>
            <a:xfrm>
              <a:off x="9600988" y="4402060"/>
              <a:ext cx="811539" cy="138656"/>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weight stationary</a:t>
              </a:r>
            </a:p>
          </p:txBody>
        </p:sp>
        <p:sp>
          <p:nvSpPr>
            <p:cNvPr id="107" name="TextBox 106"/>
            <p:cNvSpPr txBox="1"/>
            <p:nvPr/>
          </p:nvSpPr>
          <p:spPr>
            <a:xfrm>
              <a:off x="1580158" y="4894351"/>
              <a:ext cx="1580139" cy="153251"/>
            </a:xfrm>
            <a:prstGeom prst="rect">
              <a:avLst/>
            </a:prstGeom>
            <a:noFill/>
          </p:spPr>
          <p:txBody>
            <a:bodyPr wrap="none" anchor="ctr" lIns="0" rIns="0" tIns="0" bIns="0">
              <a:noAutofit/>
            </a:bodyPr>
            <a:lstStyle/>
            <a:p>
              <a:pPr algn="l"/>
              <a:r>
                <a:rPr sz="830" b="0">
                  <a:solidFill>
                    <a:srgbClr val="5B6B7B"/>
                  </a:solidFill>
                  <a:latin typeface="맑은 고딕"/>
                  <a:ea typeface="맑은 고딕"/>
                  <a:cs typeface="맑은 고딕"/>
                </a:rPr>
                <a:t>논문 원문: H = 8 instances of DPE</a:t>
              </a:r>
            </a:p>
          </p:txBody>
        </p:sp>
        <p:sp>
          <p:nvSpPr>
            <p:cNvPr id="108" name="TextBox 107"/>
            <p:cNvSpPr txBox="1"/>
            <p:nvPr/>
          </p:nvSpPr>
          <p:spPr>
            <a:xfrm>
              <a:off x="1580158" y="5095944"/>
              <a:ext cx="1655812" cy="153251"/>
            </a:xfrm>
            <a:prstGeom prst="rect">
              <a:avLst/>
            </a:prstGeom>
            <a:noFill/>
          </p:spPr>
          <p:txBody>
            <a:bodyPr wrap="none" anchor="ctr" lIns="0" rIns="0" tIns="0" bIns="0">
              <a:noAutofit/>
            </a:bodyPr>
            <a:lstStyle/>
            <a:p>
              <a:pPr algn="l"/>
              <a:r>
                <a:rPr sz="830" b="0">
                  <a:solidFill>
                    <a:srgbClr val="5B6B7B"/>
                  </a:solidFill>
                  <a:latin typeface="맑은 고딕"/>
                  <a:ea typeface="맑은 고딕"/>
                  <a:cs typeface="맑은 고딕"/>
                </a:rPr>
                <a:t>리덕션 트리 입력 수 W 는 III절에 없다</a:t>
              </a:r>
            </a:p>
          </p:txBody>
        </p:sp>
      </p:grpSp>
      <p:sp>
        <p:nvSpPr>
          <p:cNvPr id="109" name="Rectangle 10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H = 8개의 DPE, 깊이를 바꿀 수 있는 W-입력 리덕션 트리, 그리고 시간축 누산기.</a:t>
            </a:r>
          </a:p>
        </p:txBody>
      </p:sp>
      <p:sp>
        <p:nvSpPr>
          <p:cNvPr id="110" name="Rectangle 10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Contraction Engine 내부 — DPE와 reduction tree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84</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H = 8 은 이 칩의 설계값이다. 리덕션 트리 입력 수 W 는 III절에 나오지 않고 IV절에서 다룬다</a:t>
            </a:r>
          </a:p>
          <a:p>
            <a:pPr algn="l">
              <a:lnSpc>
                <a:spcPct val="118000"/>
              </a:lnSpc>
              <a:spcBef>
                <a:spcPts val="200"/>
              </a:spcBef>
              <a:spcAft>
                <a:spcPts val="100"/>
              </a:spcAft>
            </a:pPr>
            <a:r>
              <a:rPr sz="1780" b="0" i="0">
                <a:solidFill>
                  <a:srgbClr val="5B6B7B"/>
                </a:solidFill>
                <a:latin typeface="Segoe UI"/>
                <a:ea typeface="맑은 고딕"/>
                <a:cs typeface="맑은 고딕"/>
              </a:rPr>
              <a:t>·  트리 그림은 W = 8 로 그린 예시다. 실제 W 값이 8이라는 뜻이 아니다</a:t>
            </a:r>
          </a:p>
          <a:p>
            <a:pPr algn="l">
              <a:lnSpc>
                <a:spcPct val="118000"/>
              </a:lnSpc>
              <a:spcBef>
                <a:spcPts val="200"/>
              </a:spcBef>
              <a:spcAft>
                <a:spcPts val="100"/>
              </a:spcAft>
            </a:pPr>
            <a:r>
              <a:rPr sz="1780" b="0" i="0">
                <a:solidFill>
                  <a:srgbClr val="2C3A4B"/>
                </a:solidFill>
                <a:latin typeface="Segoe UI"/>
                <a:ea typeface="맑은 고딕"/>
                <a:cs typeface="맑은 고딕"/>
              </a:rPr>
              <a:t>–  깊이를 바꾼다는 것은 '한 번에 몇 개를 축약할지'를 소프트웨어가 정한다는 뜻이다</a:t>
            </a:r>
          </a:p>
          <a:p>
            <a:pPr algn="l">
              <a:lnSpc>
                <a:spcPct val="118000"/>
              </a:lnSpc>
              <a:spcBef>
                <a:spcPts val="200"/>
              </a:spcBef>
              <a:spcAft>
                <a:spcPts val="100"/>
              </a:spcAft>
            </a:pPr>
            <a:r>
              <a:rPr sz="1780" b="1" i="0">
                <a:solidFill>
                  <a:srgbClr val="2C3A4B"/>
                </a:solidFill>
                <a:latin typeface="Segoe UI"/>
                <a:ea typeface="맑은 고딕"/>
                <a:cs typeface="맑은 고딕"/>
              </a:rPr>
              <a:t>–  출력 개수가 가변이고 깊이가 설정 가능하다는 점이 고정 크기 시스톨릭 어레이와 갈리는 지점이다</a:t>
            </a:r>
          </a:p>
          <a:p>
            <a:pPr algn="l">
              <a:lnSpc>
                <a:spcPct val="118000"/>
              </a:lnSpc>
              <a:spcBef>
                <a:spcPts val="200"/>
              </a:spcBef>
              <a:spcAft>
                <a:spcPts val="100"/>
              </a:spcAft>
            </a:pPr>
            <a:r>
              <a:rPr sz="1780" b="0" i="0">
                <a:solidFill>
                  <a:srgbClr val="2C3A4B"/>
                </a:solidFill>
                <a:latin typeface="Segoe UI"/>
                <a:ea typeface="맑은 고딕"/>
                <a:cs typeface="맑은 고딕"/>
              </a:rPr>
              <a:t>–  레지스터 파일 쪽 입력을 붙들어 두면 weight stationary 가 된다 — 다음 슬라이드의 세 가지 재사용 방식이 여기서 갈린다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세 가지 stationary — 재사용 방식을 소프트웨어가 고른다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아키텍처는 소프트웨어를 통해 여러 데이터 재사용(data reuse) 구성을 지원한다 [18]</a:t>
            </a:r>
          </a:p>
          <a:p>
            <a:pPr algn="l">
              <a:lnSpc>
                <a:spcPct val="118000"/>
              </a:lnSpc>
              <a:spcBef>
                <a:spcPts val="200"/>
              </a:spcBef>
              <a:spcAft>
                <a:spcPts val="100"/>
              </a:spcAft>
            </a:pPr>
            <a:r>
              <a:rPr sz="1780" b="0" i="0">
                <a:solidFill>
                  <a:srgbClr val="2C3A4B"/>
                </a:solidFill>
                <a:latin typeface="Segoe UI"/>
                <a:ea typeface="맑은 고딕"/>
                <a:cs typeface="맑은 고딕"/>
              </a:rPr>
              <a:t>–  weight stationary(가중치 고정) — CE의 register file을 사용한다</a:t>
            </a:r>
          </a:p>
          <a:p>
            <a:pPr algn="l">
              <a:lnSpc>
                <a:spcPct val="118000"/>
              </a:lnSpc>
              <a:spcBef>
                <a:spcPts val="200"/>
              </a:spcBef>
              <a:spcAft>
                <a:spcPts val="100"/>
              </a:spcAft>
            </a:pPr>
            <a:r>
              <a:rPr sz="1780" b="0" i="0">
                <a:solidFill>
                  <a:srgbClr val="2C3A4B"/>
                </a:solidFill>
                <a:latin typeface="Segoe UI"/>
                <a:ea typeface="맑은 고딕"/>
                <a:cs typeface="맑은 고딕"/>
              </a:rPr>
              <a:t>–  input stationary(입력 고정) — CE 내부의 input buffer(입력 버퍼)를 사용한다</a:t>
            </a:r>
          </a:p>
          <a:p>
            <a:pPr algn="l">
              <a:lnSpc>
                <a:spcPct val="118000"/>
              </a:lnSpc>
              <a:spcBef>
                <a:spcPts val="200"/>
              </a:spcBef>
              <a:spcAft>
                <a:spcPts val="100"/>
              </a:spcAft>
            </a:pPr>
            <a:r>
              <a:rPr sz="1780" b="0" i="0">
                <a:solidFill>
                  <a:srgbClr val="2C3A4B"/>
                </a:solidFill>
                <a:latin typeface="Segoe UI"/>
                <a:ea typeface="맑은 고딕"/>
                <a:cs typeface="맑은 고딕"/>
              </a:rPr>
              <a:t>–  output stationary(출력 고정) — accumulator register(누산 레지스터)를 사용한다</a:t>
            </a:r>
          </a:p>
          <a:p>
            <a:pPr algn="l">
              <a:lnSpc>
                <a:spcPct val="118000"/>
              </a:lnSpc>
              <a:spcBef>
                <a:spcPts val="200"/>
              </a:spcBef>
              <a:spcAft>
                <a:spcPts val="100"/>
              </a:spcAft>
            </a:pPr>
            <a:r>
              <a:rPr sz="1780" b="1" i="0">
                <a:solidFill>
                  <a:srgbClr val="2C3A4B"/>
                </a:solidFill>
                <a:latin typeface="Segoe UI"/>
                <a:ea typeface="맑은 고딕"/>
                <a:cs typeface="맑은 고딕"/>
              </a:rPr>
              <a:t>–  하드웨어가 하나의 dataflow로 못 박혀 있지 않고 셋 중에서 골라 쓸 수 있다는 점이 요점이다</a:t>
            </a:r>
          </a:p>
          <a:p>
            <a:pPr algn="l">
              <a:lnSpc>
                <a:spcPct val="118000"/>
              </a:lnSpc>
              <a:spcBef>
                <a:spcPts val="200"/>
              </a:spcBef>
              <a:spcAft>
                <a:spcPts val="100"/>
              </a:spcAft>
            </a:pPr>
            <a:r>
              <a:rPr sz="1780" b="0" i="0">
                <a:solidFill>
                  <a:srgbClr val="2C3A4B"/>
                </a:solidFill>
                <a:latin typeface="Segoe UI"/>
                <a:ea typeface="맑은 고딕"/>
                <a:cs typeface="맑은 고딕"/>
              </a:rPr>
              <a:t>–  데이터는 항상 다차원 형태(multi-dimensional form)로 스트리밍되어 순차 전달된다</a:t>
            </a:r>
          </a:p>
          <a:p>
            <a:pPr algn="l">
              <a:lnSpc>
                <a:spcPct val="118000"/>
              </a:lnSpc>
              <a:spcBef>
                <a:spcPts val="200"/>
              </a:spcBef>
              <a:spcAft>
                <a:spcPts val="100"/>
              </a:spcAft>
            </a:pPr>
            <a:r>
              <a:rPr sz="1780" b="0" i="0">
                <a:solidFill>
                  <a:srgbClr val="2C3A4B"/>
                </a:solidFill>
                <a:latin typeface="Segoe UI"/>
                <a:ea typeface="맑은 고딕"/>
                <a:cs typeface="맑은 고딕"/>
              </a:rPr>
              <a:t>–  그래서 operation unit의 sequencer logic(시퀀서 로직)이 입력 공급과 레지스터/누산기 인덱싱을 조율한다</a:t>
            </a:r>
          </a:p>
          <a:p>
            <a:pPr algn="l">
              <a:lnSpc>
                <a:spcPct val="118000"/>
              </a:lnSpc>
              <a:spcBef>
                <a:spcPts val="200"/>
              </a:spcBef>
              <a:spcAft>
                <a:spcPts val="100"/>
              </a:spcAft>
            </a:pPr>
            <a:r>
              <a:rPr sz="1780" b="0" i="0">
                <a:solidFill>
                  <a:srgbClr val="5B6B7B"/>
                </a:solidFill>
                <a:latin typeface="Segoe UI"/>
                <a:ea typeface="맑은 고딕"/>
                <a:cs typeface="맑은 고딕"/>
              </a:rPr>
              <a:t>·  시퀀서의 동작 기준은 텐서 연산 전에 초기화된 control register다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weight / input / output stationary 셋 다 지원한다 — 무엇을 쓸지는 컴파일러가 정한다.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slice 하나 vs slice N개 — 큰 시스톨릭 어레이 흉내내기</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86</a:t>
            </a:r>
          </a:p>
        </p:txBody>
      </p:sp>
      <p:grpSp>
        <p:nvGrpSpPr>
          <p:cNvPr id="8" name="도해 A3#21"/>
          <p:cNvGrpSpPr/>
          <p:nvPr/>
        </p:nvGrpSpPr>
        <p:grpSpPr>
          <a:xfrm>
            <a:off x="1017325" y="1207008"/>
            <a:ext cx="10157045" cy="4334256"/>
            <a:chOff x="1017325" y="1207008"/>
            <a:chExt cx="10157045" cy="4334256"/>
          </a:xfrm>
        </p:grpSpPr>
        <p:sp>
          <p:nvSpPr>
            <p:cNvPr id="9" name="Rounded Rectangle 8"/>
            <p:cNvSpPr/>
            <p:nvPr/>
          </p:nvSpPr>
          <p:spPr>
            <a:xfrm>
              <a:off x="1017325" y="1207008"/>
              <a:ext cx="4947181" cy="3611880"/>
            </a:xfrm>
            <a:prstGeom prst="roundRect">
              <a:avLst>
                <a:gd name="adj" fmla="val 3030"/>
              </a:avLst>
            </a:prstGeom>
            <a:solidFill>
              <a:srgbClr val="F4F8FD"/>
            </a:solidFill>
            <a:ln w="2407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95448" y="1342070"/>
              <a:ext cx="1190935" cy="213955"/>
            </a:xfrm>
            <a:prstGeom prst="rect">
              <a:avLst/>
            </a:prstGeom>
            <a:noFill/>
          </p:spPr>
          <p:txBody>
            <a:bodyPr wrap="none" anchor="ctr" lIns="0" rIns="0" tIns="0" bIns="0">
              <a:noAutofit/>
            </a:bodyPr>
            <a:lstStyle/>
            <a:p>
              <a:pPr algn="ctr"/>
              <a:r>
                <a:rPr sz="1160" b="1">
                  <a:solidFill>
                    <a:srgbClr val="083F80"/>
                  </a:solidFill>
                  <a:latin typeface="맑은 고딕"/>
                  <a:ea typeface="맑은 고딕"/>
                  <a:cs typeface="맑은 고딕"/>
                </a:rPr>
                <a:t>slice 를 따로 쓸 때</a:t>
              </a:r>
            </a:p>
          </p:txBody>
        </p:sp>
        <p:sp>
          <p:nvSpPr>
            <p:cNvPr id="11" name="TextBox 10"/>
            <p:cNvSpPr txBox="1"/>
            <p:nvPr/>
          </p:nvSpPr>
          <p:spPr>
            <a:xfrm>
              <a:off x="2752073" y="1599061"/>
              <a:ext cx="1477686" cy="166409"/>
            </a:xfrm>
            <a:prstGeom prst="rect">
              <a:avLst/>
            </a:prstGeom>
            <a:noFill/>
          </p:spPr>
          <p:txBody>
            <a:bodyPr wrap="none" anchor="ctr" lIns="0" rIns="0" tIns="0" bIns="0">
              <a:noAutofit/>
            </a:bodyPr>
            <a:lstStyle/>
            <a:p>
              <a:pPr algn="ctr"/>
              <a:r>
                <a:rPr sz="900" b="0">
                  <a:solidFill>
                    <a:srgbClr val="5B6B7B"/>
                  </a:solidFill>
                  <a:latin typeface="맑은 고딕"/>
                  <a:ea typeface="맑은 고딕"/>
                  <a:cs typeface="맑은 고딕"/>
                </a:rPr>
                <a:t>각 slice 가 제 SRAM 만 읽는다</a:t>
              </a:r>
            </a:p>
          </p:txBody>
        </p:sp>
        <p:sp>
          <p:nvSpPr>
            <p:cNvPr id="12" name="Rounded Rectangle 11"/>
            <p:cNvSpPr/>
            <p:nvPr/>
          </p:nvSpPr>
          <p:spPr>
            <a:xfrm>
              <a:off x="1203392" y="1929384"/>
              <a:ext cx="1028839" cy="481584"/>
            </a:xfrm>
            <a:prstGeom prst="roundRect">
              <a:avLst>
                <a:gd name="adj" fmla="val 11363"/>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85462" y="1929384"/>
              <a:ext cx="1028839" cy="481584"/>
            </a:xfrm>
            <a:prstGeom prst="roundRect">
              <a:avLst>
                <a:gd name="adj" fmla="val 11363"/>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67531" y="1929384"/>
              <a:ext cx="1028839" cy="481584"/>
            </a:xfrm>
            <a:prstGeom prst="roundRect">
              <a:avLst>
                <a:gd name="adj" fmla="val 11363"/>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49601" y="1929384"/>
              <a:ext cx="1028839" cy="481584"/>
            </a:xfrm>
            <a:prstGeom prst="roundRect">
              <a:avLst>
                <a:gd name="adj" fmla="val 11363"/>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60136" y="200403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0</a:t>
              </a:r>
            </a:p>
          </p:txBody>
        </p:sp>
        <p:sp>
          <p:nvSpPr>
            <p:cNvPr id="17" name="TextBox 16"/>
            <p:cNvSpPr txBox="1"/>
            <p:nvPr/>
          </p:nvSpPr>
          <p:spPr>
            <a:xfrm>
              <a:off x="2742206" y="200403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1</a:t>
              </a:r>
            </a:p>
          </p:txBody>
        </p:sp>
        <p:sp>
          <p:nvSpPr>
            <p:cNvPr id="18" name="TextBox 17"/>
            <p:cNvSpPr txBox="1"/>
            <p:nvPr/>
          </p:nvSpPr>
          <p:spPr>
            <a:xfrm>
              <a:off x="3924276" y="200403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2</a:t>
              </a:r>
            </a:p>
          </p:txBody>
        </p:sp>
        <p:sp>
          <p:nvSpPr>
            <p:cNvPr id="19" name="TextBox 18"/>
            <p:cNvSpPr txBox="1"/>
            <p:nvPr/>
          </p:nvSpPr>
          <p:spPr>
            <a:xfrm>
              <a:off x="5106346" y="200403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3</a:t>
              </a:r>
            </a:p>
          </p:txBody>
        </p:sp>
        <p:sp>
          <p:nvSpPr>
            <p:cNvPr id="20" name="TextBox 19"/>
            <p:cNvSpPr txBox="1"/>
            <p:nvPr/>
          </p:nvSpPr>
          <p:spPr>
            <a:xfrm>
              <a:off x="1560180" y="2202792"/>
              <a:ext cx="315262" cy="150561"/>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텐서 A</a:t>
              </a:r>
            </a:p>
          </p:txBody>
        </p:sp>
        <p:sp>
          <p:nvSpPr>
            <p:cNvPr id="21" name="TextBox 20"/>
            <p:cNvSpPr txBox="1"/>
            <p:nvPr/>
          </p:nvSpPr>
          <p:spPr>
            <a:xfrm>
              <a:off x="2739702" y="2202792"/>
              <a:ext cx="320357" cy="150561"/>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텐서 B</a:t>
              </a:r>
            </a:p>
          </p:txBody>
        </p:sp>
        <p:sp>
          <p:nvSpPr>
            <p:cNvPr id="22" name="TextBox 21"/>
            <p:cNvSpPr txBox="1"/>
            <p:nvPr/>
          </p:nvSpPr>
          <p:spPr>
            <a:xfrm>
              <a:off x="3922760" y="2202792"/>
              <a:ext cx="318382" cy="150561"/>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텐서 C</a:t>
              </a:r>
            </a:p>
          </p:txBody>
        </p:sp>
        <p:sp>
          <p:nvSpPr>
            <p:cNvPr id="23" name="TextBox 22"/>
            <p:cNvSpPr txBox="1"/>
            <p:nvPr/>
          </p:nvSpPr>
          <p:spPr>
            <a:xfrm>
              <a:off x="5102230" y="2202792"/>
              <a:ext cx="323581" cy="150561"/>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텐서 D</a:t>
              </a:r>
            </a:p>
          </p:txBody>
        </p:sp>
        <p:cxnSp>
          <p:nvCxnSpPr>
            <p:cNvPr id="24" name="Connector 23"/>
            <p:cNvCxnSpPr/>
            <p:nvPr/>
          </p:nvCxnSpPr>
          <p:spPr>
            <a:xfrm>
              <a:off x="1717811" y="2410968"/>
              <a:ext cx="0" cy="131341"/>
            </a:xfrm>
            <a:prstGeom prst="line">
              <a:avLst/>
            </a:prstGeom>
            <a:ln w="17512">
              <a:solidFill>
                <a:srgbClr val="5B6B7B"/>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1652141" y="2520419"/>
              <a:ext cx="131341" cy="109451"/>
            </a:xfrm>
            <a:custGeom>
              <a:avLst/>
              <a:gdLst/>
              <a:ahLst/>
              <a:cxnLst/>
              <a:rect l="l" t="t" r="r" b="b"/>
              <a:pathLst>
                <a:path w="131341" h="109451">
                  <a:moveTo>
                    <a:pt x="0" y="0"/>
                  </a:moveTo>
                  <a:lnTo>
                    <a:pt x="65670" y="109451"/>
                  </a:lnTo>
                  <a:lnTo>
                    <a:pt x="131341" y="0"/>
                  </a:lnTo>
                  <a:close/>
                </a:path>
              </a:pathLst>
            </a:custGeom>
            <a:solidFill>
              <a:srgbClr val="5B6B7B"/>
            </a:solidFill>
            <a:ln w="1751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899881" y="2410968"/>
              <a:ext cx="0" cy="131341"/>
            </a:xfrm>
            <a:prstGeom prst="line">
              <a:avLst/>
            </a:prstGeom>
            <a:ln w="17512">
              <a:solidFill>
                <a:srgbClr val="5B6B7B"/>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2834210" y="2520419"/>
              <a:ext cx="131341" cy="109451"/>
            </a:xfrm>
            <a:custGeom>
              <a:avLst/>
              <a:gdLst/>
              <a:ahLst/>
              <a:cxnLst/>
              <a:rect l="l" t="t" r="r" b="b"/>
              <a:pathLst>
                <a:path w="131341" h="109451">
                  <a:moveTo>
                    <a:pt x="0" y="0"/>
                  </a:moveTo>
                  <a:lnTo>
                    <a:pt x="65671" y="109451"/>
                  </a:lnTo>
                  <a:lnTo>
                    <a:pt x="131341" y="0"/>
                  </a:lnTo>
                  <a:close/>
                </a:path>
              </a:pathLst>
            </a:custGeom>
            <a:solidFill>
              <a:srgbClr val="5B6B7B"/>
            </a:solidFill>
            <a:ln w="1751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081951" y="2410968"/>
              <a:ext cx="0" cy="131341"/>
            </a:xfrm>
            <a:prstGeom prst="line">
              <a:avLst/>
            </a:prstGeom>
            <a:ln w="17512">
              <a:solidFill>
                <a:srgbClr val="5B6B7B"/>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4016280" y="2520419"/>
              <a:ext cx="131341" cy="109451"/>
            </a:xfrm>
            <a:custGeom>
              <a:avLst/>
              <a:gdLst/>
              <a:ahLst/>
              <a:cxnLst/>
              <a:rect l="l" t="t" r="r" b="b"/>
              <a:pathLst>
                <a:path w="131341" h="109451">
                  <a:moveTo>
                    <a:pt x="0" y="0"/>
                  </a:moveTo>
                  <a:lnTo>
                    <a:pt x="65671" y="109451"/>
                  </a:lnTo>
                  <a:lnTo>
                    <a:pt x="131341" y="0"/>
                  </a:lnTo>
                  <a:close/>
                </a:path>
              </a:pathLst>
            </a:custGeom>
            <a:solidFill>
              <a:srgbClr val="5B6B7B"/>
            </a:solidFill>
            <a:ln w="1751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5264021" y="2410968"/>
              <a:ext cx="0" cy="131341"/>
            </a:xfrm>
            <a:prstGeom prst="line">
              <a:avLst/>
            </a:prstGeom>
            <a:ln w="17512">
              <a:solidFill>
                <a:srgbClr val="5B6B7B"/>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5198350" y="2520419"/>
              <a:ext cx="131341" cy="109451"/>
            </a:xfrm>
            <a:custGeom>
              <a:avLst/>
              <a:gdLst/>
              <a:ahLst/>
              <a:cxnLst/>
              <a:rect l="l" t="t" r="r" b="b"/>
              <a:pathLst>
                <a:path w="131341" h="109451">
                  <a:moveTo>
                    <a:pt x="0" y="0"/>
                  </a:moveTo>
                  <a:lnTo>
                    <a:pt x="65671" y="109451"/>
                  </a:lnTo>
                  <a:lnTo>
                    <a:pt x="131341" y="0"/>
                  </a:lnTo>
                  <a:close/>
                </a:path>
              </a:pathLst>
            </a:custGeom>
            <a:solidFill>
              <a:srgbClr val="5B6B7B"/>
            </a:solidFill>
            <a:ln w="1751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203392" y="2651760"/>
              <a:ext cx="1028839" cy="328353"/>
            </a:xfrm>
            <a:prstGeom prst="roundRect">
              <a:avLst>
                <a:gd name="adj" fmla="val 16666"/>
              </a:avLst>
            </a:prstGeom>
            <a:solidFill>
              <a:srgbClr val="DCEBF9"/>
            </a:solidFill>
            <a:ln w="1532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385462" y="2651760"/>
              <a:ext cx="1028839" cy="328353"/>
            </a:xfrm>
            <a:prstGeom prst="roundRect">
              <a:avLst>
                <a:gd name="adj" fmla="val 16666"/>
              </a:avLst>
            </a:prstGeom>
            <a:solidFill>
              <a:srgbClr val="DCEBF9"/>
            </a:solidFill>
            <a:ln w="1532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567531" y="2651760"/>
              <a:ext cx="1028839" cy="328353"/>
            </a:xfrm>
            <a:prstGeom prst="roundRect">
              <a:avLst>
                <a:gd name="adj" fmla="val 16666"/>
              </a:avLst>
            </a:prstGeom>
            <a:solidFill>
              <a:srgbClr val="DCEBF9"/>
            </a:solidFill>
            <a:ln w="1532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49601" y="2651760"/>
              <a:ext cx="1028839" cy="328353"/>
            </a:xfrm>
            <a:prstGeom prst="roundRect">
              <a:avLst>
                <a:gd name="adj" fmla="val 16666"/>
              </a:avLst>
            </a:prstGeom>
            <a:solidFill>
              <a:srgbClr val="DCEBF9"/>
            </a:solidFill>
            <a:ln w="1532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55731" y="2743699"/>
              <a:ext cx="524160" cy="158485"/>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fetch unit</a:t>
              </a:r>
            </a:p>
          </p:txBody>
        </p:sp>
        <p:sp>
          <p:nvSpPr>
            <p:cNvPr id="37" name="TextBox 36"/>
            <p:cNvSpPr txBox="1"/>
            <p:nvPr/>
          </p:nvSpPr>
          <p:spPr>
            <a:xfrm>
              <a:off x="2637801" y="2743699"/>
              <a:ext cx="524160" cy="158485"/>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fetch unit</a:t>
              </a:r>
            </a:p>
          </p:txBody>
        </p:sp>
        <p:sp>
          <p:nvSpPr>
            <p:cNvPr id="38" name="TextBox 37"/>
            <p:cNvSpPr txBox="1"/>
            <p:nvPr/>
          </p:nvSpPr>
          <p:spPr>
            <a:xfrm>
              <a:off x="3819871" y="2743699"/>
              <a:ext cx="524160" cy="158485"/>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fetch unit</a:t>
              </a:r>
            </a:p>
          </p:txBody>
        </p:sp>
        <p:sp>
          <p:nvSpPr>
            <p:cNvPr id="39" name="TextBox 38"/>
            <p:cNvSpPr txBox="1"/>
            <p:nvPr/>
          </p:nvSpPr>
          <p:spPr>
            <a:xfrm>
              <a:off x="5001940" y="2743699"/>
              <a:ext cx="524160" cy="158485"/>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fetch unit</a:t>
              </a:r>
            </a:p>
          </p:txBody>
        </p:sp>
        <p:cxnSp>
          <p:nvCxnSpPr>
            <p:cNvPr id="40" name="Connector 39"/>
            <p:cNvCxnSpPr/>
            <p:nvPr/>
          </p:nvCxnSpPr>
          <p:spPr>
            <a:xfrm>
              <a:off x="1717811" y="2980113"/>
              <a:ext cx="0" cy="131341"/>
            </a:xfrm>
            <a:prstGeom prst="line">
              <a:avLst/>
            </a:prstGeom>
            <a:ln w="17512">
              <a:solidFill>
                <a:srgbClr val="0B5FC0"/>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1652141" y="3089564"/>
              <a:ext cx="131341" cy="109451"/>
            </a:xfrm>
            <a:custGeom>
              <a:avLst/>
              <a:gdLst/>
              <a:ahLst/>
              <a:cxnLst/>
              <a:rect l="l" t="t" r="r" b="b"/>
              <a:pathLst>
                <a:path w="131341" h="109451">
                  <a:moveTo>
                    <a:pt x="0" y="0"/>
                  </a:moveTo>
                  <a:lnTo>
                    <a:pt x="65670" y="109451"/>
                  </a:lnTo>
                  <a:lnTo>
                    <a:pt x="131341" y="0"/>
                  </a:lnTo>
                  <a:close/>
                </a:path>
              </a:pathLst>
            </a:custGeom>
            <a:solidFill>
              <a:srgbClr val="0B5FC0"/>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899881" y="2980113"/>
              <a:ext cx="0" cy="131341"/>
            </a:xfrm>
            <a:prstGeom prst="line">
              <a:avLst/>
            </a:prstGeom>
            <a:ln w="17512">
              <a:solidFill>
                <a:srgbClr val="0B5FC0"/>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2834210" y="3089564"/>
              <a:ext cx="131341" cy="109451"/>
            </a:xfrm>
            <a:custGeom>
              <a:avLst/>
              <a:gdLst/>
              <a:ahLst/>
              <a:cxnLst/>
              <a:rect l="l" t="t" r="r" b="b"/>
              <a:pathLst>
                <a:path w="131341" h="109451">
                  <a:moveTo>
                    <a:pt x="0" y="0"/>
                  </a:moveTo>
                  <a:lnTo>
                    <a:pt x="65671" y="109451"/>
                  </a:lnTo>
                  <a:lnTo>
                    <a:pt x="131341" y="0"/>
                  </a:lnTo>
                  <a:close/>
                </a:path>
              </a:pathLst>
            </a:custGeom>
            <a:solidFill>
              <a:srgbClr val="0B5FC0"/>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4081951" y="2980113"/>
              <a:ext cx="0" cy="131341"/>
            </a:xfrm>
            <a:prstGeom prst="line">
              <a:avLst/>
            </a:prstGeom>
            <a:ln w="17512">
              <a:solidFill>
                <a:srgbClr val="0B5FC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016280" y="3089564"/>
              <a:ext cx="131341" cy="109451"/>
            </a:xfrm>
            <a:custGeom>
              <a:avLst/>
              <a:gdLst/>
              <a:ahLst/>
              <a:cxnLst/>
              <a:rect l="l" t="t" r="r" b="b"/>
              <a:pathLst>
                <a:path w="131341" h="109451">
                  <a:moveTo>
                    <a:pt x="0" y="0"/>
                  </a:moveTo>
                  <a:lnTo>
                    <a:pt x="65671" y="109451"/>
                  </a:lnTo>
                  <a:lnTo>
                    <a:pt x="131341" y="0"/>
                  </a:lnTo>
                  <a:close/>
                </a:path>
              </a:pathLst>
            </a:custGeom>
            <a:solidFill>
              <a:srgbClr val="0B5FC0"/>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5264021" y="2980113"/>
              <a:ext cx="0" cy="131341"/>
            </a:xfrm>
            <a:prstGeom prst="line">
              <a:avLst/>
            </a:prstGeom>
            <a:ln w="17512">
              <a:solidFill>
                <a:srgbClr val="0B5FC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5198350" y="3089564"/>
              <a:ext cx="131341" cy="109451"/>
            </a:xfrm>
            <a:custGeom>
              <a:avLst/>
              <a:gdLst/>
              <a:ahLst/>
              <a:cxnLst/>
              <a:rect l="l" t="t" r="r" b="b"/>
              <a:pathLst>
                <a:path w="131341" h="109451">
                  <a:moveTo>
                    <a:pt x="0" y="0"/>
                  </a:moveTo>
                  <a:lnTo>
                    <a:pt x="65671" y="109451"/>
                  </a:lnTo>
                  <a:lnTo>
                    <a:pt x="131341" y="0"/>
                  </a:lnTo>
                  <a:close/>
                </a:path>
              </a:pathLst>
            </a:custGeom>
            <a:solidFill>
              <a:srgbClr val="0B5FC0"/>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203392" y="3220905"/>
              <a:ext cx="1028839" cy="634815"/>
            </a:xfrm>
            <a:prstGeom prst="roundRect">
              <a:avLst>
                <a:gd name="adj" fmla="val 8620"/>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385462" y="3220905"/>
              <a:ext cx="1028839" cy="634815"/>
            </a:xfrm>
            <a:prstGeom prst="roundRect">
              <a:avLst>
                <a:gd name="adj" fmla="val 8620"/>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567531" y="3220905"/>
              <a:ext cx="1028839" cy="634815"/>
            </a:xfrm>
            <a:prstGeom prst="roundRect">
              <a:avLst>
                <a:gd name="adj" fmla="val 8620"/>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749601" y="3220905"/>
              <a:ext cx="1028839" cy="634815"/>
            </a:xfrm>
            <a:prstGeom prst="roundRect">
              <a:avLst>
                <a:gd name="adj" fmla="val 8620"/>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434333" y="333473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53" name="TextBox 52"/>
            <p:cNvSpPr txBox="1"/>
            <p:nvPr/>
          </p:nvSpPr>
          <p:spPr>
            <a:xfrm>
              <a:off x="2616403" y="333473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54" name="TextBox 53"/>
            <p:cNvSpPr txBox="1"/>
            <p:nvPr/>
          </p:nvSpPr>
          <p:spPr>
            <a:xfrm>
              <a:off x="3798473" y="333473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55" name="TextBox 54"/>
            <p:cNvSpPr txBox="1"/>
            <p:nvPr/>
          </p:nvSpPr>
          <p:spPr>
            <a:xfrm>
              <a:off x="4980543" y="333473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56" name="TextBox 55"/>
            <p:cNvSpPr txBox="1"/>
            <p:nvPr/>
          </p:nvSpPr>
          <p:spPr>
            <a:xfrm>
              <a:off x="1588495" y="348796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57" name="TextBox 56"/>
            <p:cNvSpPr txBox="1"/>
            <p:nvPr/>
          </p:nvSpPr>
          <p:spPr>
            <a:xfrm>
              <a:off x="2770565" y="348796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58" name="TextBox 57"/>
            <p:cNvSpPr txBox="1"/>
            <p:nvPr/>
          </p:nvSpPr>
          <p:spPr>
            <a:xfrm>
              <a:off x="3952635" y="348796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59" name="TextBox 58"/>
            <p:cNvSpPr txBox="1"/>
            <p:nvPr/>
          </p:nvSpPr>
          <p:spPr>
            <a:xfrm>
              <a:off x="5134704" y="348796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60" name="TextBox 59"/>
            <p:cNvSpPr txBox="1"/>
            <p:nvPr/>
          </p:nvSpPr>
          <p:spPr>
            <a:xfrm>
              <a:off x="1437808" y="3675783"/>
              <a:ext cx="560006" cy="142636"/>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H × W MAC</a:t>
              </a:r>
            </a:p>
          </p:txBody>
        </p:sp>
        <p:sp>
          <p:nvSpPr>
            <p:cNvPr id="61" name="TextBox 60"/>
            <p:cNvSpPr txBox="1"/>
            <p:nvPr/>
          </p:nvSpPr>
          <p:spPr>
            <a:xfrm>
              <a:off x="2619878" y="3675783"/>
              <a:ext cx="560006" cy="142636"/>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H × W MAC</a:t>
              </a:r>
            </a:p>
          </p:txBody>
        </p:sp>
        <p:sp>
          <p:nvSpPr>
            <p:cNvPr id="62" name="TextBox 61"/>
            <p:cNvSpPr txBox="1"/>
            <p:nvPr/>
          </p:nvSpPr>
          <p:spPr>
            <a:xfrm>
              <a:off x="3801948" y="3675783"/>
              <a:ext cx="560006" cy="142636"/>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H × W MAC</a:t>
              </a:r>
            </a:p>
          </p:txBody>
        </p:sp>
        <p:sp>
          <p:nvSpPr>
            <p:cNvPr id="63" name="TextBox 62"/>
            <p:cNvSpPr txBox="1"/>
            <p:nvPr/>
          </p:nvSpPr>
          <p:spPr>
            <a:xfrm>
              <a:off x="4984018" y="3675783"/>
              <a:ext cx="560006" cy="142636"/>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H × W MAC</a:t>
              </a:r>
            </a:p>
          </p:txBody>
        </p:sp>
        <p:sp>
          <p:nvSpPr>
            <p:cNvPr id="64" name="TextBox 63"/>
            <p:cNvSpPr txBox="1"/>
            <p:nvPr/>
          </p:nvSpPr>
          <p:spPr>
            <a:xfrm>
              <a:off x="2405967" y="4088194"/>
              <a:ext cx="2169897" cy="174333"/>
            </a:xfrm>
            <a:prstGeom prst="rect">
              <a:avLst/>
            </a:prstGeom>
            <a:noFill/>
          </p:spPr>
          <p:txBody>
            <a:bodyPr wrap="none" anchor="ctr" lIns="0" rIns="0" tIns="0" bIns="0">
              <a:noAutofit/>
            </a:bodyPr>
            <a:lstStyle/>
            <a:p>
              <a:pPr algn="ctr"/>
              <a:r>
                <a:rPr sz="950" b="0">
                  <a:solidFill>
                    <a:srgbClr val="16202C"/>
                  </a:solidFill>
                  <a:latin typeface="맑은 고딕"/>
                  <a:ea typeface="맑은 고딕"/>
                  <a:cs typeface="맑은 고딕"/>
                </a:rPr>
                <a:t>slice 마다 다른 (부분)텐서를 독립 처리한다</a:t>
              </a:r>
            </a:p>
          </p:txBody>
        </p:sp>
        <p:sp>
          <p:nvSpPr>
            <p:cNvPr id="65" name="TextBox 64"/>
            <p:cNvSpPr txBox="1"/>
            <p:nvPr/>
          </p:nvSpPr>
          <p:spPr>
            <a:xfrm>
              <a:off x="2650661" y="4360070"/>
              <a:ext cx="1680509" cy="190182"/>
            </a:xfrm>
            <a:prstGeom prst="rect">
              <a:avLst/>
            </a:prstGeom>
            <a:noFill/>
          </p:spPr>
          <p:txBody>
            <a:bodyPr wrap="none" anchor="ctr" lIns="0" rIns="0" tIns="0" bIns="0">
              <a:noAutofit/>
            </a:bodyPr>
            <a:lstStyle/>
            <a:p>
              <a:pPr algn="ctr"/>
              <a:r>
                <a:rPr sz="1030" b="1">
                  <a:solidFill>
                    <a:srgbClr val="0B5FC0"/>
                  </a:solidFill>
                  <a:latin typeface="맑은 고딕"/>
                  <a:ea typeface="맑은 고딕"/>
                  <a:cs typeface="맑은 고딕"/>
                </a:rPr>
                <a:t>= 작고 독립적인 연산 유닛 4개</a:t>
              </a:r>
            </a:p>
          </p:txBody>
        </p:sp>
        <p:sp>
          <p:nvSpPr>
            <p:cNvPr id="66" name="Rounded Rectangle 65"/>
            <p:cNvSpPr/>
            <p:nvPr/>
          </p:nvSpPr>
          <p:spPr>
            <a:xfrm>
              <a:off x="6227189" y="1207008"/>
              <a:ext cx="4947181" cy="3611880"/>
            </a:xfrm>
            <a:prstGeom prst="roundRect">
              <a:avLst>
                <a:gd name="adj" fmla="val 3030"/>
              </a:avLst>
            </a:prstGeom>
            <a:solidFill>
              <a:srgbClr val="F3FAF5"/>
            </a:solidFill>
            <a:ln w="2407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40397" y="1342070"/>
              <a:ext cx="2520764" cy="213955"/>
            </a:xfrm>
            <a:prstGeom prst="rect">
              <a:avLst/>
            </a:prstGeom>
            <a:noFill/>
          </p:spPr>
          <p:txBody>
            <a:bodyPr wrap="none" anchor="ctr" lIns="0" rIns="0" tIns="0" bIns="0">
              <a:noAutofit/>
            </a:bodyPr>
            <a:lstStyle/>
            <a:p>
              <a:pPr algn="ctr"/>
              <a:r>
                <a:rPr sz="1160" b="1">
                  <a:solidFill>
                    <a:srgbClr val="1A7F37"/>
                  </a:solidFill>
                  <a:latin typeface="맑은 고딕"/>
                  <a:ea typeface="맑은 고딕"/>
                  <a:cs typeface="맑은 고딕"/>
                </a:rPr>
                <a:t>N개 slice 를 fetch network 로 묶을 때</a:t>
              </a:r>
            </a:p>
          </p:txBody>
        </p:sp>
        <p:sp>
          <p:nvSpPr>
            <p:cNvPr id="68" name="TextBox 67"/>
            <p:cNvSpPr txBox="1"/>
            <p:nvPr/>
          </p:nvSpPr>
          <p:spPr>
            <a:xfrm>
              <a:off x="7413177" y="1599061"/>
              <a:ext cx="2575205" cy="166409"/>
            </a:xfrm>
            <a:prstGeom prst="rect">
              <a:avLst/>
            </a:prstGeom>
            <a:noFill/>
          </p:spPr>
          <p:txBody>
            <a:bodyPr wrap="none" anchor="ctr" lIns="0" rIns="0" tIns="0" bIns="0">
              <a:noAutofit/>
            </a:bodyPr>
            <a:lstStyle/>
            <a:p>
              <a:pPr algn="ctr"/>
              <a:r>
                <a:rPr sz="900" b="0">
                  <a:solidFill>
                    <a:srgbClr val="5B6B7B"/>
                  </a:solidFill>
                  <a:latin typeface="맑은 고딕"/>
                  <a:ea typeface="맑은 고딕"/>
                  <a:cs typeface="맑은 고딕"/>
                </a:rPr>
                <a:t>모든 operation unit 이 N개 slice 의 데이터를 받는다</a:t>
              </a:r>
            </a:p>
          </p:txBody>
        </p:sp>
        <p:sp>
          <p:nvSpPr>
            <p:cNvPr id="69" name="Rounded Rectangle 68"/>
            <p:cNvSpPr/>
            <p:nvPr/>
          </p:nvSpPr>
          <p:spPr>
            <a:xfrm>
              <a:off x="6413255" y="1929384"/>
              <a:ext cx="1028839" cy="437804"/>
            </a:xfrm>
            <a:prstGeom prst="roundRect">
              <a:avLst>
                <a:gd name="adj" fmla="val 12500"/>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595325" y="1929384"/>
              <a:ext cx="1028839" cy="437804"/>
            </a:xfrm>
            <a:prstGeom prst="roundRect">
              <a:avLst>
                <a:gd name="adj" fmla="val 12500"/>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777395" y="1929384"/>
              <a:ext cx="1028839" cy="437804"/>
            </a:xfrm>
            <a:prstGeom prst="roundRect">
              <a:avLst>
                <a:gd name="adj" fmla="val 12500"/>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9959465" y="1929384"/>
              <a:ext cx="1028839" cy="437804"/>
            </a:xfrm>
            <a:prstGeom prst="roundRect">
              <a:avLst>
                <a:gd name="adj" fmla="val 12500"/>
              </a:avLst>
            </a:prstGeom>
            <a:solidFill>
              <a:srgbClr val="EEF2F7"/>
            </a:solidFill>
            <a:ln w="1532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69999" y="206970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0</a:t>
              </a:r>
            </a:p>
          </p:txBody>
        </p:sp>
        <p:sp>
          <p:nvSpPr>
            <p:cNvPr id="74" name="TextBox 73"/>
            <p:cNvSpPr txBox="1"/>
            <p:nvPr/>
          </p:nvSpPr>
          <p:spPr>
            <a:xfrm>
              <a:off x="7952069" y="206970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1</a:t>
              </a:r>
            </a:p>
          </p:txBody>
        </p:sp>
        <p:sp>
          <p:nvSpPr>
            <p:cNvPr id="75" name="TextBox 74"/>
            <p:cNvSpPr txBox="1"/>
            <p:nvPr/>
          </p:nvSpPr>
          <p:spPr>
            <a:xfrm>
              <a:off x="9134139" y="206970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2</a:t>
              </a:r>
            </a:p>
          </p:txBody>
        </p:sp>
        <p:sp>
          <p:nvSpPr>
            <p:cNvPr id="76" name="TextBox 75"/>
            <p:cNvSpPr txBox="1"/>
            <p:nvPr/>
          </p:nvSpPr>
          <p:spPr>
            <a:xfrm>
              <a:off x="10316209" y="2069700"/>
              <a:ext cx="315350" cy="166409"/>
            </a:xfrm>
            <a:prstGeom prst="rect">
              <a:avLst/>
            </a:prstGeom>
            <a:noFill/>
          </p:spPr>
          <p:txBody>
            <a:bodyPr wrap="none" anchor="ctr" lIns="0" rIns="0" tIns="0" bIns="0">
              <a:noAutofit/>
            </a:bodyPr>
            <a:lstStyle/>
            <a:p>
              <a:pPr algn="ctr"/>
              <a:r>
                <a:rPr sz="900" b="1">
                  <a:solidFill>
                    <a:srgbClr val="5B6B7B"/>
                  </a:solidFill>
                  <a:latin typeface="맑은 고딕"/>
                  <a:ea typeface="맑은 고딕"/>
                  <a:cs typeface="맑은 고딕"/>
                </a:rPr>
                <a:t>DM 3</a:t>
              </a:r>
            </a:p>
          </p:txBody>
        </p:sp>
        <p:cxnSp>
          <p:nvCxnSpPr>
            <p:cNvPr id="77" name="Connector 76"/>
            <p:cNvCxnSpPr/>
            <p:nvPr/>
          </p:nvCxnSpPr>
          <p:spPr>
            <a:xfrm>
              <a:off x="6927674" y="2367188"/>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78" name="Freeform 77"/>
            <p:cNvSpPr/>
            <p:nvPr/>
          </p:nvSpPr>
          <p:spPr>
            <a:xfrm>
              <a:off x="6862004" y="2454748"/>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8109744" y="2367188"/>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80" name="Freeform 79"/>
            <p:cNvSpPr/>
            <p:nvPr/>
          </p:nvSpPr>
          <p:spPr>
            <a:xfrm>
              <a:off x="8044074" y="2454748"/>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9291814" y="2367188"/>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9226144" y="2454748"/>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0473884" y="2367188"/>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10408213" y="2454748"/>
              <a:ext cx="131341" cy="109451"/>
            </a:xfrm>
            <a:custGeom>
              <a:avLst/>
              <a:gdLst/>
              <a:ahLst/>
              <a:cxnLst/>
              <a:rect l="l" t="t" r="r" b="b"/>
              <a:pathLst>
                <a:path w="131341" h="109451">
                  <a:moveTo>
                    <a:pt x="0" y="0"/>
                  </a:moveTo>
                  <a:lnTo>
                    <a:pt x="65671"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6413255" y="2586089"/>
              <a:ext cx="4575048" cy="437804"/>
            </a:xfrm>
            <a:prstGeom prst="roundRect">
              <a:avLst>
                <a:gd name="adj" fmla="val 15000"/>
              </a:avLst>
            </a:prstGeom>
            <a:solidFill>
              <a:srgbClr val="E2F4E8"/>
            </a:solidFill>
            <a:ln w="1970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252913" y="2713709"/>
              <a:ext cx="2895732" cy="182258"/>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fetch network — 읽은 것을 모든 slice 에 multicast</a:t>
              </a:r>
            </a:p>
          </p:txBody>
        </p:sp>
        <p:cxnSp>
          <p:nvCxnSpPr>
            <p:cNvPr id="87" name="Connector 86"/>
            <p:cNvCxnSpPr/>
            <p:nvPr/>
          </p:nvCxnSpPr>
          <p:spPr>
            <a:xfrm>
              <a:off x="6927674" y="3023893"/>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88" name="Freeform 87"/>
            <p:cNvSpPr/>
            <p:nvPr/>
          </p:nvSpPr>
          <p:spPr>
            <a:xfrm>
              <a:off x="6862004" y="3111454"/>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8109744" y="3023893"/>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90" name="Freeform 89"/>
            <p:cNvSpPr/>
            <p:nvPr/>
          </p:nvSpPr>
          <p:spPr>
            <a:xfrm>
              <a:off x="8044074" y="3111454"/>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9291814" y="3023893"/>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92" name="Freeform 91"/>
            <p:cNvSpPr/>
            <p:nvPr/>
          </p:nvSpPr>
          <p:spPr>
            <a:xfrm>
              <a:off x="9226144" y="3111454"/>
              <a:ext cx="131341" cy="109451"/>
            </a:xfrm>
            <a:custGeom>
              <a:avLst/>
              <a:gdLst/>
              <a:ahLst/>
              <a:cxnLst/>
              <a:rect l="l" t="t" r="r" b="b"/>
              <a:pathLst>
                <a:path w="131341" h="109451">
                  <a:moveTo>
                    <a:pt x="0" y="0"/>
                  </a:moveTo>
                  <a:lnTo>
                    <a:pt x="65670"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0473884" y="3023893"/>
              <a:ext cx="0" cy="109451"/>
            </a:xfrm>
            <a:prstGeom prst="line">
              <a:avLst/>
            </a:prstGeom>
            <a:ln w="17512">
              <a:solidFill>
                <a:srgbClr val="1A7F37"/>
              </a:solidFill>
            </a:ln>
          </p:spPr>
          <p:style>
            <a:lnRef idx="2">
              <a:schemeClr val="accent1"/>
            </a:lnRef>
            <a:fillRef idx="0">
              <a:schemeClr val="accent1"/>
            </a:fillRef>
            <a:effectRef idx="1">
              <a:schemeClr val="accent1"/>
            </a:effectRef>
            <a:fontRef idx="minor">
              <a:schemeClr val="tx1"/>
            </a:fontRef>
          </p:style>
        </p:cxnSp>
        <p:sp>
          <p:nvSpPr>
            <p:cNvPr id="94" name="Freeform 93"/>
            <p:cNvSpPr/>
            <p:nvPr/>
          </p:nvSpPr>
          <p:spPr>
            <a:xfrm>
              <a:off x="10408213" y="3111454"/>
              <a:ext cx="131341" cy="109451"/>
            </a:xfrm>
            <a:custGeom>
              <a:avLst/>
              <a:gdLst/>
              <a:ahLst/>
              <a:cxnLst/>
              <a:rect l="l" t="t" r="r" b="b"/>
              <a:pathLst>
                <a:path w="131341" h="109451">
                  <a:moveTo>
                    <a:pt x="0" y="0"/>
                  </a:moveTo>
                  <a:lnTo>
                    <a:pt x="65671" y="109451"/>
                  </a:lnTo>
                  <a:lnTo>
                    <a:pt x="131341" y="0"/>
                  </a:lnTo>
                  <a:close/>
                </a:path>
              </a:pathLst>
            </a:custGeom>
            <a:solidFill>
              <a:srgbClr val="1A7F37"/>
            </a:solidFill>
            <a:ln w="1751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6413255" y="3242795"/>
              <a:ext cx="1028839" cy="612925"/>
            </a:xfrm>
            <a:prstGeom prst="roundRect">
              <a:avLst>
                <a:gd name="adj" fmla="val 8928"/>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7595325" y="3242795"/>
              <a:ext cx="1028839" cy="612925"/>
            </a:xfrm>
            <a:prstGeom prst="roundRect">
              <a:avLst>
                <a:gd name="adj" fmla="val 8928"/>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8777395" y="3242795"/>
              <a:ext cx="1028839" cy="612925"/>
            </a:xfrm>
            <a:prstGeom prst="roundRect">
              <a:avLst>
                <a:gd name="adj" fmla="val 8928"/>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9959465" y="3242795"/>
              <a:ext cx="1028839" cy="612925"/>
            </a:xfrm>
            <a:prstGeom prst="roundRect">
              <a:avLst>
                <a:gd name="adj" fmla="val 8928"/>
              </a:avLst>
            </a:prstGeom>
            <a:solidFill>
              <a:srgbClr val="CBE0F7"/>
            </a:solidFill>
            <a:ln w="1751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644197" y="337851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100" name="TextBox 99"/>
            <p:cNvSpPr txBox="1"/>
            <p:nvPr/>
          </p:nvSpPr>
          <p:spPr>
            <a:xfrm>
              <a:off x="7826266" y="337851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101" name="TextBox 100"/>
            <p:cNvSpPr txBox="1"/>
            <p:nvPr/>
          </p:nvSpPr>
          <p:spPr>
            <a:xfrm>
              <a:off x="9008336" y="337851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102" name="TextBox 101"/>
            <p:cNvSpPr txBox="1"/>
            <p:nvPr/>
          </p:nvSpPr>
          <p:spPr>
            <a:xfrm>
              <a:off x="10190406" y="3378514"/>
              <a:ext cx="566956"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operation</a:t>
              </a:r>
            </a:p>
          </p:txBody>
        </p:sp>
        <p:sp>
          <p:nvSpPr>
            <p:cNvPr id="103" name="TextBox 102"/>
            <p:cNvSpPr txBox="1"/>
            <p:nvPr/>
          </p:nvSpPr>
          <p:spPr>
            <a:xfrm>
              <a:off x="6798358" y="353174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104" name="TextBox 103"/>
            <p:cNvSpPr txBox="1"/>
            <p:nvPr/>
          </p:nvSpPr>
          <p:spPr>
            <a:xfrm>
              <a:off x="7980428" y="353174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105" name="TextBox 104"/>
            <p:cNvSpPr txBox="1"/>
            <p:nvPr/>
          </p:nvSpPr>
          <p:spPr>
            <a:xfrm>
              <a:off x="9162498" y="353174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106" name="TextBox 105"/>
            <p:cNvSpPr txBox="1"/>
            <p:nvPr/>
          </p:nvSpPr>
          <p:spPr>
            <a:xfrm>
              <a:off x="10344568" y="3531745"/>
              <a:ext cx="258632" cy="158485"/>
            </a:xfrm>
            <a:prstGeom prst="rect">
              <a:avLst/>
            </a:prstGeom>
            <a:noFill/>
          </p:spPr>
          <p:txBody>
            <a:bodyPr wrap="none" anchor="ctr" lIns="0" rIns="0" tIns="0" bIns="0">
              <a:noAutofit/>
            </a:bodyPr>
            <a:lstStyle/>
            <a:p>
              <a:pPr algn="ctr"/>
              <a:r>
                <a:rPr sz="860" b="1">
                  <a:solidFill>
                    <a:srgbClr val="083F80"/>
                  </a:solidFill>
                  <a:latin typeface="맑은 고딕"/>
                  <a:ea typeface="맑은 고딕"/>
                  <a:cs typeface="맑은 고딕"/>
                </a:rPr>
                <a:t>unit</a:t>
              </a:r>
            </a:p>
          </p:txBody>
        </p:sp>
        <p:sp>
          <p:nvSpPr>
            <p:cNvPr id="107" name="TextBox 106"/>
            <p:cNvSpPr txBox="1"/>
            <p:nvPr/>
          </p:nvSpPr>
          <p:spPr>
            <a:xfrm>
              <a:off x="7616613" y="4088194"/>
              <a:ext cx="2168332" cy="174333"/>
            </a:xfrm>
            <a:prstGeom prst="rect">
              <a:avLst/>
            </a:prstGeom>
            <a:noFill/>
          </p:spPr>
          <p:txBody>
            <a:bodyPr wrap="none" anchor="ctr" lIns="0" rIns="0" tIns="0" bIns="0">
              <a:noAutofit/>
            </a:bodyPr>
            <a:lstStyle/>
            <a:p>
              <a:pPr algn="ctr"/>
              <a:r>
                <a:rPr sz="950" b="0">
                  <a:solidFill>
                    <a:srgbClr val="16202C"/>
                  </a:solidFill>
                  <a:latin typeface="맑은 고딕"/>
                  <a:ea typeface="맑은 고딕"/>
                  <a:cs typeface="맑은 고딕"/>
                </a:rPr>
                <a:t>큰 SRAM 의 4개 뱅크를 읽는 것과 같아진다</a:t>
              </a:r>
            </a:p>
          </p:txBody>
        </p:sp>
        <p:sp>
          <p:nvSpPr>
            <p:cNvPr id="108" name="TextBox 107"/>
            <p:cNvSpPr txBox="1"/>
            <p:nvPr/>
          </p:nvSpPr>
          <p:spPr>
            <a:xfrm>
              <a:off x="7657603" y="4360070"/>
              <a:ext cx="2086353" cy="190182"/>
            </a:xfrm>
            <a:prstGeom prst="rect">
              <a:avLst/>
            </a:prstGeom>
            <a:noFill/>
          </p:spPr>
          <p:txBody>
            <a:bodyPr wrap="none" anchor="ctr" lIns="0" rIns="0" tIns="0" bIns="0">
              <a:noAutofit/>
            </a:bodyPr>
            <a:lstStyle/>
            <a:p>
              <a:pPr algn="ctr"/>
              <a:r>
                <a:rPr sz="1030" b="1">
                  <a:solidFill>
                    <a:srgbClr val="1A7F37"/>
                  </a:solidFill>
                  <a:latin typeface="맑은 고딕"/>
                  <a:ea typeface="맑은 고딕"/>
                  <a:cs typeface="맑은 고딕"/>
                </a:rPr>
                <a:t>= 하나의 큰 시스톨릭 어레이처럼 동작</a:t>
              </a:r>
            </a:p>
          </p:txBody>
        </p:sp>
        <p:sp>
          <p:nvSpPr>
            <p:cNvPr id="109" name="Rounded Rectangle 108"/>
            <p:cNvSpPr/>
            <p:nvPr/>
          </p:nvSpPr>
          <p:spPr>
            <a:xfrm>
              <a:off x="1017325" y="4994009"/>
              <a:ext cx="10157044" cy="547255"/>
            </a:xfrm>
            <a:prstGeom prst="roundRect">
              <a:avLst>
                <a:gd name="adj" fmla="val 16000"/>
              </a:avLst>
            </a:prstGeom>
            <a:solidFill>
              <a:srgbClr val="FFF7E6"/>
            </a:solidFill>
            <a:ln w="1970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166710" y="5082446"/>
              <a:ext cx="3858276" cy="190182"/>
            </a:xfrm>
            <a:prstGeom prst="rect">
              <a:avLst/>
            </a:prstGeom>
            <a:noFill/>
          </p:spPr>
          <p:txBody>
            <a:bodyPr wrap="none" anchor="ctr" lIns="0" rIns="0" tIns="0" bIns="0">
              <a:noAutofit/>
            </a:bodyPr>
            <a:lstStyle/>
            <a:p>
              <a:pPr algn="ctr"/>
              <a:r>
                <a:rPr sz="1030" b="1">
                  <a:solidFill>
                    <a:srgbClr val="B45409"/>
                  </a:solidFill>
                  <a:latin typeface="맑은 고딕"/>
                  <a:ea typeface="맑은 고딕"/>
                  <a:cs typeface="맑은 고딕"/>
                </a:rPr>
                <a:t>가져온 데이터를 H × N 형태로 재사용해 전파하고, W 형태로 내적한다</a:t>
              </a:r>
            </a:p>
          </p:txBody>
        </p:sp>
        <p:sp>
          <p:nvSpPr>
            <p:cNvPr id="111" name="TextBox 110"/>
            <p:cNvSpPr txBox="1"/>
            <p:nvPr/>
          </p:nvSpPr>
          <p:spPr>
            <a:xfrm>
              <a:off x="4769171" y="5320392"/>
              <a:ext cx="2653353" cy="16640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같은 하드웨어가 둘 중 무엇이 될지는 컴파일러가 정한다</a:t>
              </a:r>
            </a:p>
          </p:txBody>
        </p:sp>
      </p:grpSp>
      <p:sp>
        <p:nvSpPr>
          <p:cNvPr id="112" name="Rectangle 1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slice를 따로 쓰면 작은 유닛 여럿, fetch network로 묶으면 하나의 큰 시스톨릭 어레이가 된다.</a:t>
            </a:r>
          </a:p>
        </p:txBody>
      </p:sp>
      <p:sp>
        <p:nvSpPr>
          <p:cNvPr id="113" name="Rectangle 1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slice 하나 vs slice N개 — 큰 시스톨릭 어레이 흉내내기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87</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논문 표현은 'similar to operations in a large systolic array' 다 — 같다가 아니라 유사하다이다</a:t>
            </a:r>
          </a:p>
          <a:p>
            <a:pPr algn="l">
              <a:lnSpc>
                <a:spcPct val="118000"/>
              </a:lnSpc>
              <a:spcBef>
                <a:spcPts val="200"/>
              </a:spcBef>
              <a:spcAft>
                <a:spcPts val="100"/>
              </a:spcAft>
            </a:pPr>
            <a:r>
              <a:rPr sz="1780" b="0" i="0">
                <a:solidFill>
                  <a:srgbClr val="2C3A4B"/>
                </a:solidFill>
                <a:latin typeface="Segoe UI"/>
                <a:ea typeface="맑은 고딕"/>
                <a:cs typeface="맑은 고딕"/>
              </a:rPr>
              <a:t>–  N개 slice 에서 멀티캐스트로 읽는 것이 '큰 SRAM 의 N개 뱅크를 읽는 것'과 같다는 비유가 원문에 있다</a:t>
            </a:r>
          </a:p>
          <a:p>
            <a:pPr algn="l">
              <a:lnSpc>
                <a:spcPct val="118000"/>
              </a:lnSpc>
              <a:spcBef>
                <a:spcPts val="200"/>
              </a:spcBef>
              <a:spcAft>
                <a:spcPts val="100"/>
              </a:spcAft>
            </a:pPr>
            <a:r>
              <a:rPr sz="1780" b="0" i="0">
                <a:solidFill>
                  <a:srgbClr val="5B6B7B"/>
                </a:solidFill>
                <a:latin typeface="Segoe UI"/>
                <a:ea typeface="맑은 고딕"/>
                <a:cs typeface="맑은 고딕"/>
              </a:rPr>
              <a:t>·  그림은 N = 4 로 그렸다. 실제 TU 의 slice 는 64+1 개다</a:t>
            </a:r>
          </a:p>
          <a:p>
            <a:pPr algn="l">
              <a:lnSpc>
                <a:spcPct val="118000"/>
              </a:lnSpc>
              <a:spcBef>
                <a:spcPts val="200"/>
              </a:spcBef>
              <a:spcAft>
                <a:spcPts val="100"/>
              </a:spcAft>
            </a:pPr>
            <a:r>
              <a:rPr sz="1780" b="1" i="0">
                <a:solidFill>
                  <a:srgbClr val="2C3A4B"/>
                </a:solidFill>
                <a:latin typeface="Segoe UI"/>
                <a:ea typeface="맑은 고딕"/>
                <a:cs typeface="맑은 고딕"/>
              </a:rPr>
              <a:t>–  이것이 초록의 'large-scale single unit or a set of small independent compute units' 주장의 실체다 — III-B 의 핵심 슬라이드다</a:t>
            </a:r>
          </a:p>
          <a:p>
            <a:pPr algn="l">
              <a:lnSpc>
                <a:spcPct val="118000"/>
              </a:lnSpc>
              <a:spcBef>
                <a:spcPts val="200"/>
              </a:spcBef>
              <a:spcAft>
                <a:spcPts val="100"/>
              </a:spcAft>
            </a:pPr>
            <a:r>
              <a:rPr sz="1780" b="0" i="0">
                <a:solidFill>
                  <a:srgbClr val="2C3A4B"/>
                </a:solidFill>
                <a:latin typeface="Segoe UI"/>
                <a:ea typeface="맑은 고딕"/>
                <a:cs typeface="맑은 고딕"/>
              </a:rPr>
              <a:t>–  더 자세한 마이크로아키텍처는 IV절에서 설명한다고 논문이 미룬다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64+1 slice, TUC, 그리고 제어 경로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TU는 64+1개의 slice를 포함한다</a:t>
            </a:r>
          </a:p>
          <a:p>
            <a:pPr algn="l">
              <a:lnSpc>
                <a:spcPct val="118000"/>
              </a:lnSpc>
              <a:spcBef>
                <a:spcPts val="200"/>
              </a:spcBef>
              <a:spcAft>
                <a:spcPts val="100"/>
              </a:spcAft>
            </a:pPr>
            <a:r>
              <a:rPr sz="1780" b="0" i="0">
                <a:solidFill>
                  <a:srgbClr val="2C3A4B"/>
                </a:solidFill>
                <a:latin typeface="Segoe UI"/>
                <a:ea typeface="맑은 고딕"/>
                <a:cs typeface="맑은 고딕"/>
              </a:rPr>
              <a:t>–  +1은 spare(예비)로, 칩 yield(수율) 개선을 위해 예약되어 있다</a:t>
            </a:r>
          </a:p>
          <a:p>
            <a:pPr algn="l">
              <a:lnSpc>
                <a:spcPct val="118000"/>
              </a:lnSpc>
              <a:spcBef>
                <a:spcPts val="200"/>
              </a:spcBef>
              <a:spcAft>
                <a:spcPts val="100"/>
              </a:spcAft>
            </a:pPr>
            <a:r>
              <a:rPr sz="1780" b="0" i="0">
                <a:solidFill>
                  <a:srgbClr val="5B6B7B"/>
                </a:solidFill>
                <a:latin typeface="Segoe UI"/>
                <a:ea typeface="맑은 고딕"/>
                <a:cs typeface="맑은 고딕"/>
              </a:rPr>
              <a:t>·  632.1 mm² 대면적 5nm 칩에서 결함 하나로 칩 전체를 버리지 않으려는 장치다</a:t>
            </a:r>
          </a:p>
          <a:p>
            <a:pPr algn="l">
              <a:lnSpc>
                <a:spcPct val="118000"/>
              </a:lnSpc>
              <a:spcBef>
                <a:spcPts val="200"/>
              </a:spcBef>
              <a:spcAft>
                <a:spcPts val="100"/>
              </a:spcAft>
            </a:pPr>
            <a:r>
              <a:rPr sz="1780" b="1" i="0">
                <a:solidFill>
                  <a:srgbClr val="2C3A4B"/>
                </a:solidFill>
                <a:latin typeface="Segoe UI"/>
                <a:ea typeface="맑은 고딕"/>
                <a:cs typeface="맑은 고딕"/>
              </a:rPr>
              <a:t>–  slice를 제어·모니터링하기 위해 TU는 TUC(TU controller, TU 컨트롤러)를 둔다</a:t>
            </a:r>
          </a:p>
          <a:p>
            <a:pPr algn="l">
              <a:lnSpc>
                <a:spcPct val="118000"/>
              </a:lnSpc>
              <a:spcBef>
                <a:spcPts val="200"/>
              </a:spcBef>
              <a:spcAft>
                <a:spcPts val="100"/>
              </a:spcAft>
            </a:pPr>
            <a:r>
              <a:rPr sz="1780" b="0" i="0">
                <a:solidFill>
                  <a:srgbClr val="2C3A4B"/>
                </a:solidFill>
                <a:latin typeface="Segoe UI"/>
                <a:ea typeface="맑은 고딕"/>
                <a:cs typeface="맑은 고딕"/>
              </a:rPr>
              <a:t>–  TUC는 TU의 control/status register(제어/상태 레지스터)에 접근한다</a:t>
            </a:r>
          </a:p>
          <a:p>
            <a:pPr algn="l">
              <a:lnSpc>
                <a:spcPct val="118000"/>
              </a:lnSpc>
              <a:spcBef>
                <a:spcPts val="200"/>
              </a:spcBef>
              <a:spcAft>
                <a:spcPts val="100"/>
              </a:spcAft>
            </a:pPr>
            <a:r>
              <a:rPr sz="1780" b="0" i="0">
                <a:solidFill>
                  <a:srgbClr val="2C3A4B"/>
                </a:solidFill>
                <a:latin typeface="Segoe UI"/>
                <a:ea typeface="맑은 고딕"/>
                <a:cs typeface="맑은 고딕"/>
              </a:rPr>
              <a:t>–  각 slice의 control register는 TU의 주소 공간에 매핑되어 있다</a:t>
            </a:r>
          </a:p>
          <a:p>
            <a:pPr algn="l">
              <a:lnSpc>
                <a:spcPct val="118000"/>
              </a:lnSpc>
              <a:spcBef>
                <a:spcPts val="200"/>
              </a:spcBef>
              <a:spcAft>
                <a:spcPts val="100"/>
              </a:spcAft>
            </a:pPr>
            <a:r>
              <a:rPr sz="1780" b="0" i="0">
                <a:solidFill>
                  <a:srgbClr val="2C3A4B"/>
                </a:solidFill>
                <a:latin typeface="Segoe UI"/>
                <a:ea typeface="맑은 고딕"/>
                <a:cs typeface="맑은 고딕"/>
              </a:rPr>
              <a:t>–  TUC는 command queue를 가지며, CPU core가 여기에 tensor command(텐서 명령)를 쓴다</a:t>
            </a:r>
          </a:p>
          <a:p>
            <a:pPr algn="l">
              <a:lnSpc>
                <a:spcPct val="118000"/>
              </a:lnSpc>
              <a:spcBef>
                <a:spcPts val="200"/>
              </a:spcBef>
              <a:spcAft>
                <a:spcPts val="100"/>
              </a:spcAft>
            </a:pPr>
            <a:r>
              <a:rPr sz="1780" b="1" i="0">
                <a:solidFill>
                  <a:srgbClr val="2C3A4B"/>
                </a:solidFill>
                <a:latin typeface="Segoe UI"/>
                <a:ea typeface="맑은 고딕"/>
                <a:cs typeface="맑은 고딕"/>
              </a:rPr>
              <a:t>–  텐서 연산 설정 방법은 두 가지다</a:t>
            </a:r>
          </a:p>
          <a:p>
            <a:pPr algn="l">
              <a:lnSpc>
                <a:spcPct val="118000"/>
              </a:lnSpc>
              <a:spcBef>
                <a:spcPts val="200"/>
              </a:spcBef>
              <a:spcAft>
                <a:spcPts val="100"/>
              </a:spcAft>
            </a:pPr>
            <a:r>
              <a:rPr sz="1780" b="0" i="0">
                <a:solidFill>
                  <a:srgbClr val="5B6B7B"/>
                </a:solidFill>
                <a:latin typeface="Segoe UI"/>
                <a:ea typeface="맑은 고딕"/>
                <a:cs typeface="맑은 고딕"/>
              </a:rPr>
              <a:t>·  (1) CPU core가 ARM 코어의 LLPP(low-latency peripheral port, 저지연 주변장치 포트)로 레지스터에 직접 쓴다</a:t>
            </a:r>
          </a:p>
          <a:p>
            <a:pPr algn="l">
              <a:lnSpc>
                <a:spcPct val="118000"/>
              </a:lnSpc>
              <a:spcBef>
                <a:spcPts val="200"/>
              </a:spcBef>
              <a:spcAft>
                <a:spcPts val="100"/>
              </a:spcAft>
            </a:pPr>
            <a:r>
              <a:rPr sz="1780" b="0" i="0">
                <a:solidFill>
                  <a:srgbClr val="5B6B7B"/>
                </a:solidFill>
                <a:latin typeface="Segoe UI"/>
                <a:ea typeface="맑은 고딕"/>
                <a:cs typeface="맑은 고딕"/>
              </a:rPr>
              <a:t>·  (2) command queue로 텐서 명령을 보내 TUC가 대신 레지스터를 설정하게 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동작 slice 64개 + 예비 1개. 설정은 LLPP 직접 쓰기와 커맨드 큐 위임 중 골라 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듀얼 컨텍스트 — 텐서 연산 뒤에 벡터·메모리 연산을 숨긴다</a:t>
            </a:r>
          </a:p>
        </p:txBody>
      </p:sp>
      <p:cxnSp>
        <p:nvCxnSpPr>
          <p:cNvPr id="5" name="Connector 4"/>
          <p:cNvCxnSpPr/>
          <p:nvPr/>
        </p:nvCxnSpPr>
        <p:spPr>
          <a:xfrm>
            <a:off x="566928" y="987552"/>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89</a:t>
            </a:r>
          </a:p>
        </p:txBody>
      </p:sp>
      <p:grpSp>
        <p:nvGrpSpPr>
          <p:cNvPr id="8" name="도해 A3#23"/>
          <p:cNvGrpSpPr/>
          <p:nvPr/>
        </p:nvGrpSpPr>
        <p:grpSpPr>
          <a:xfrm>
            <a:off x="1240940" y="1207008"/>
            <a:ext cx="9709815" cy="4334256"/>
            <a:chOff x="1240940" y="1207008"/>
            <a:chExt cx="9709815" cy="4334256"/>
          </a:xfrm>
        </p:grpSpPr>
        <p:sp>
          <p:nvSpPr>
            <p:cNvPr id="9" name="Rounded Rectangle 8"/>
            <p:cNvSpPr/>
            <p:nvPr/>
          </p:nvSpPr>
          <p:spPr>
            <a:xfrm>
              <a:off x="1240940" y="1207008"/>
              <a:ext cx="6416177" cy="2202887"/>
            </a:xfrm>
            <a:prstGeom prst="roundRect">
              <a:avLst>
                <a:gd name="adj" fmla="val 4854"/>
              </a:avLst>
            </a:prstGeom>
            <a:solidFill>
              <a:srgbClr val="F7FAFD"/>
            </a:solidFill>
            <a:ln w="235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2038" y="1323782"/>
              <a:ext cx="2086509" cy="201297"/>
            </a:xfrm>
            <a:prstGeom prst="rect">
              <a:avLst/>
            </a:prstGeom>
            <a:noFill/>
          </p:spPr>
          <p:txBody>
            <a:bodyPr wrap="none" anchor="ctr" lIns="0" rIns="0" tIns="0" bIns="0">
              <a:noAutofit/>
            </a:bodyPr>
            <a:lstStyle/>
            <a:p>
              <a:pPr algn="l"/>
              <a:r>
                <a:rPr sz="1090" b="1">
                  <a:solidFill>
                    <a:srgbClr val="083F80"/>
                  </a:solidFill>
                  <a:latin typeface="맑은 고딕"/>
                  <a:ea typeface="맑은 고딕"/>
                  <a:cs typeface="맑은 고딕"/>
                </a:rPr>
                <a:t>slice 하나 — 컨텍스트 2벌 (Fig. 4)</a:t>
              </a:r>
            </a:p>
          </p:txBody>
        </p:sp>
        <p:sp>
          <p:nvSpPr>
            <p:cNvPr id="11" name="Rounded Rectangle 10"/>
            <p:cNvSpPr/>
            <p:nvPr/>
          </p:nvSpPr>
          <p:spPr>
            <a:xfrm>
              <a:off x="1433425" y="1656140"/>
              <a:ext cx="941039" cy="1582657"/>
            </a:xfrm>
            <a:prstGeom prst="roundRect">
              <a:avLst>
                <a:gd name="adj" fmla="val 7954"/>
              </a:avLst>
            </a:prstGeom>
            <a:solidFill>
              <a:srgbClr val="EEF2F7"/>
            </a:solidFill>
            <a:ln w="1710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56012" y="2124735"/>
              <a:ext cx="295866" cy="162586"/>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Data</a:t>
              </a:r>
            </a:p>
          </p:txBody>
        </p:sp>
        <p:sp>
          <p:nvSpPr>
            <p:cNvPr id="13" name="TextBox 12"/>
            <p:cNvSpPr txBox="1"/>
            <p:nvPr/>
          </p:nvSpPr>
          <p:spPr>
            <a:xfrm>
              <a:off x="1656473" y="2317221"/>
              <a:ext cx="494944" cy="162586"/>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Memory</a:t>
              </a:r>
            </a:p>
          </p:txBody>
        </p:sp>
        <p:sp>
          <p:nvSpPr>
            <p:cNvPr id="14" name="TextBox 13"/>
            <p:cNvSpPr txBox="1"/>
            <p:nvPr/>
          </p:nvSpPr>
          <p:spPr>
            <a:xfrm>
              <a:off x="1753430" y="2509706"/>
              <a:ext cx="301031" cy="162586"/>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Slice</a:t>
              </a:r>
            </a:p>
          </p:txBody>
        </p:sp>
        <p:sp>
          <p:nvSpPr>
            <p:cNvPr id="15" name="Rounded Rectangle 14"/>
            <p:cNvSpPr/>
            <p:nvPr/>
          </p:nvSpPr>
          <p:spPr>
            <a:xfrm>
              <a:off x="2566950" y="1698915"/>
              <a:ext cx="1026588" cy="470520"/>
            </a:xfrm>
            <a:prstGeom prst="roundRect">
              <a:avLst>
                <a:gd name="adj" fmla="val 13636"/>
              </a:avLst>
            </a:prstGeom>
            <a:solidFill>
              <a:srgbClr val="FDE8E8"/>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6799" y="1857394"/>
              <a:ext cx="606890" cy="162586"/>
            </a:xfrm>
            <a:prstGeom prst="rect">
              <a:avLst/>
            </a:prstGeom>
            <a:noFill/>
          </p:spPr>
          <p:txBody>
            <a:bodyPr wrap="none" anchor="ctr" lIns="0" rIns="0" tIns="0" bIns="0">
              <a:noAutofit/>
            </a:bodyPr>
            <a:lstStyle/>
            <a:p>
              <a:pPr algn="ctr"/>
              <a:r>
                <a:rPr sz="880" b="1">
                  <a:solidFill>
                    <a:srgbClr val="B4222A"/>
                  </a:solidFill>
                  <a:latin typeface="맑은 고딕"/>
                  <a:ea typeface="맑은 고딕"/>
                  <a:cs typeface="맑은 고딕"/>
                </a:rPr>
                <a:t>Fetch Unit</a:t>
              </a:r>
            </a:p>
          </p:txBody>
        </p:sp>
        <p:sp>
          <p:nvSpPr>
            <p:cNvPr id="17" name="Rounded Rectangle 16"/>
            <p:cNvSpPr/>
            <p:nvPr/>
          </p:nvSpPr>
          <p:spPr>
            <a:xfrm>
              <a:off x="2566950" y="2682729"/>
              <a:ext cx="1026588" cy="470520"/>
            </a:xfrm>
            <a:prstGeom prst="roundRect">
              <a:avLst>
                <a:gd name="adj" fmla="val 13636"/>
              </a:avLst>
            </a:prstGeom>
            <a:solidFill>
              <a:srgbClr val="E3EEFB"/>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2424" y="2772555"/>
              <a:ext cx="555641" cy="154844"/>
            </a:xfrm>
            <a:prstGeom prst="rect">
              <a:avLst/>
            </a:prstGeom>
            <a:noFill/>
          </p:spPr>
          <p:txBody>
            <a:bodyPr wrap="none" anchor="ctr" lIns="0" rIns="0" tIns="0" bIns="0">
              <a:noAutofit/>
            </a:bodyPr>
            <a:lstStyle/>
            <a:p>
              <a:pPr algn="ctr"/>
              <a:r>
                <a:rPr sz="840" b="1">
                  <a:solidFill>
                    <a:srgbClr val="0B5FC0"/>
                  </a:solidFill>
                  <a:latin typeface="맑은 고딕"/>
                  <a:ea typeface="맑은 고딕"/>
                  <a:cs typeface="맑은 고딕"/>
                </a:rPr>
                <a:t>Sub Fetch</a:t>
              </a:r>
            </a:p>
          </p:txBody>
        </p:sp>
        <p:sp>
          <p:nvSpPr>
            <p:cNvPr id="19" name="TextBox 18"/>
            <p:cNvSpPr txBox="1"/>
            <p:nvPr/>
          </p:nvSpPr>
          <p:spPr>
            <a:xfrm>
              <a:off x="2947964" y="2943653"/>
              <a:ext cx="264560" cy="154844"/>
            </a:xfrm>
            <a:prstGeom prst="rect">
              <a:avLst/>
            </a:prstGeom>
            <a:noFill/>
          </p:spPr>
          <p:txBody>
            <a:bodyPr wrap="none" anchor="ctr" lIns="0" rIns="0" tIns="0" bIns="0">
              <a:noAutofit/>
            </a:bodyPr>
            <a:lstStyle/>
            <a:p>
              <a:pPr algn="ctr"/>
              <a:r>
                <a:rPr sz="840" b="1">
                  <a:solidFill>
                    <a:srgbClr val="0B5FC0"/>
                  </a:solidFill>
                  <a:latin typeface="맑은 고딕"/>
                  <a:ea typeface="맑은 고딕"/>
                  <a:cs typeface="맑은 고딕"/>
                </a:rPr>
                <a:t>Unit</a:t>
              </a:r>
            </a:p>
          </p:txBody>
        </p:sp>
        <p:sp>
          <p:nvSpPr>
            <p:cNvPr id="20" name="Rounded Rectangle 19"/>
            <p:cNvSpPr/>
            <p:nvPr/>
          </p:nvSpPr>
          <p:spPr>
            <a:xfrm>
              <a:off x="3764636" y="1656140"/>
              <a:ext cx="1604044" cy="1582657"/>
            </a:xfrm>
            <a:prstGeom prst="roundRect">
              <a:avLst>
                <a:gd name="adj" fmla="val 4729"/>
              </a:avLst>
            </a:prstGeom>
            <a:solidFill>
              <a:srgbClr val="DCEBF9"/>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5842" y="1776337"/>
              <a:ext cx="901633" cy="170328"/>
            </a:xfrm>
            <a:prstGeom prst="rect">
              <a:avLst/>
            </a:prstGeom>
            <a:noFill/>
          </p:spPr>
          <p:txBody>
            <a:bodyPr wrap="none" anchor="ctr" lIns="0" rIns="0" tIns="0" bIns="0">
              <a:noAutofit/>
            </a:bodyPr>
            <a:lstStyle/>
            <a:p>
              <a:pPr algn="ctr"/>
              <a:r>
                <a:rPr sz="930" b="1">
                  <a:solidFill>
                    <a:srgbClr val="083F80"/>
                  </a:solidFill>
                  <a:latin typeface="맑은 고딕"/>
                  <a:ea typeface="맑은 고딕"/>
                  <a:cs typeface="맑은 고딕"/>
                </a:rPr>
                <a:t>Operation Unit</a:t>
              </a:r>
            </a:p>
          </p:txBody>
        </p:sp>
        <p:sp>
          <p:nvSpPr>
            <p:cNvPr id="22" name="TextBox 21"/>
            <p:cNvSpPr txBox="1"/>
            <p:nvPr/>
          </p:nvSpPr>
          <p:spPr>
            <a:xfrm>
              <a:off x="4068977" y="2088163"/>
              <a:ext cx="995363" cy="154844"/>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Contraction Engine</a:t>
              </a:r>
            </a:p>
          </p:txBody>
        </p:sp>
        <p:sp>
          <p:nvSpPr>
            <p:cNvPr id="23" name="TextBox 22"/>
            <p:cNvSpPr txBox="1"/>
            <p:nvPr/>
          </p:nvSpPr>
          <p:spPr>
            <a:xfrm>
              <a:off x="4205588" y="2302036"/>
              <a:ext cx="722141" cy="154844"/>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Vector Engine</a:t>
              </a:r>
            </a:p>
          </p:txBody>
        </p:sp>
        <p:sp>
          <p:nvSpPr>
            <p:cNvPr id="24" name="TextBox 23"/>
            <p:cNvSpPr txBox="1"/>
            <p:nvPr/>
          </p:nvSpPr>
          <p:spPr>
            <a:xfrm>
              <a:off x="4107742" y="2515908"/>
              <a:ext cx="917834" cy="154844"/>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Transpose Engine</a:t>
              </a:r>
            </a:p>
          </p:txBody>
        </p:sp>
        <p:sp>
          <p:nvSpPr>
            <p:cNvPr id="25" name="TextBox 24"/>
            <p:cNvSpPr txBox="1"/>
            <p:nvPr/>
          </p:nvSpPr>
          <p:spPr>
            <a:xfrm>
              <a:off x="4046927" y="2842919"/>
              <a:ext cx="1039463" cy="147102"/>
            </a:xfrm>
            <a:prstGeom prst="rect">
              <a:avLst/>
            </a:prstGeom>
            <a:noFill/>
          </p:spPr>
          <p:txBody>
            <a:bodyPr wrap="none" anchor="ctr" lIns="0" rIns="0" tIns="0" bIns="0">
              <a:noAutofit/>
            </a:bodyPr>
            <a:lstStyle/>
            <a:p>
              <a:pPr algn="ctr"/>
              <a:r>
                <a:rPr sz="800" b="0">
                  <a:solidFill>
                    <a:srgbClr val="5B6B7B"/>
                  </a:solidFill>
                  <a:latin typeface="맑은 고딕"/>
                  <a:ea typeface="맑은 고딕"/>
                  <a:cs typeface="맑은 고딕"/>
                </a:rPr>
                <a:t>두 컨텍스트가 함께 쓴다</a:t>
              </a:r>
            </a:p>
          </p:txBody>
        </p:sp>
        <p:sp>
          <p:nvSpPr>
            <p:cNvPr id="26" name="Rounded Rectangle 25"/>
            <p:cNvSpPr/>
            <p:nvPr/>
          </p:nvSpPr>
          <p:spPr>
            <a:xfrm>
              <a:off x="5539779" y="1698915"/>
              <a:ext cx="1176299" cy="470520"/>
            </a:xfrm>
            <a:prstGeom prst="roundRect">
              <a:avLst>
                <a:gd name="adj" fmla="val 13636"/>
              </a:avLst>
            </a:prstGeom>
            <a:solidFill>
              <a:srgbClr val="FDE8E8"/>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55373" y="1857394"/>
              <a:ext cx="745111" cy="162586"/>
            </a:xfrm>
            <a:prstGeom prst="rect">
              <a:avLst/>
            </a:prstGeom>
            <a:noFill/>
          </p:spPr>
          <p:txBody>
            <a:bodyPr wrap="none" anchor="ctr" lIns="0" rIns="0" tIns="0" bIns="0">
              <a:noAutofit/>
            </a:bodyPr>
            <a:lstStyle/>
            <a:p>
              <a:pPr algn="ctr"/>
              <a:r>
                <a:rPr sz="880" b="1">
                  <a:solidFill>
                    <a:srgbClr val="B4222A"/>
                  </a:solidFill>
                  <a:latin typeface="맑은 고딕"/>
                  <a:ea typeface="맑은 고딕"/>
                  <a:cs typeface="맑은 고딕"/>
                </a:rPr>
                <a:t>Commit Unit</a:t>
              </a:r>
            </a:p>
          </p:txBody>
        </p:sp>
        <p:sp>
          <p:nvSpPr>
            <p:cNvPr id="28" name="Rounded Rectangle 27"/>
            <p:cNvSpPr/>
            <p:nvPr/>
          </p:nvSpPr>
          <p:spPr>
            <a:xfrm>
              <a:off x="5539779" y="2682729"/>
              <a:ext cx="1176299" cy="470520"/>
            </a:xfrm>
            <a:prstGeom prst="roundRect">
              <a:avLst>
                <a:gd name="adj" fmla="val 13636"/>
              </a:avLst>
            </a:prstGeom>
            <a:solidFill>
              <a:srgbClr val="E3EEFB"/>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84289" y="2772555"/>
              <a:ext cx="687280" cy="154844"/>
            </a:xfrm>
            <a:prstGeom prst="rect">
              <a:avLst/>
            </a:prstGeom>
            <a:noFill/>
          </p:spPr>
          <p:txBody>
            <a:bodyPr wrap="none" anchor="ctr" lIns="0" rIns="0" tIns="0" bIns="0">
              <a:noAutofit/>
            </a:bodyPr>
            <a:lstStyle/>
            <a:p>
              <a:pPr algn="ctr"/>
              <a:r>
                <a:rPr sz="840" b="1">
                  <a:solidFill>
                    <a:srgbClr val="0B5FC0"/>
                  </a:solidFill>
                  <a:latin typeface="맑은 고딕"/>
                  <a:ea typeface="맑은 고딕"/>
                  <a:cs typeface="맑은 고딕"/>
                </a:rPr>
                <a:t>Sub Commit</a:t>
              </a:r>
            </a:p>
          </p:txBody>
        </p:sp>
        <p:sp>
          <p:nvSpPr>
            <p:cNvPr id="30" name="TextBox 29"/>
            <p:cNvSpPr txBox="1"/>
            <p:nvPr/>
          </p:nvSpPr>
          <p:spPr>
            <a:xfrm>
              <a:off x="5995648" y="2943653"/>
              <a:ext cx="264560" cy="154844"/>
            </a:xfrm>
            <a:prstGeom prst="rect">
              <a:avLst/>
            </a:prstGeom>
            <a:noFill/>
          </p:spPr>
          <p:txBody>
            <a:bodyPr wrap="none" anchor="ctr" lIns="0" rIns="0" tIns="0" bIns="0">
              <a:noAutofit/>
            </a:bodyPr>
            <a:lstStyle/>
            <a:p>
              <a:pPr algn="ctr"/>
              <a:r>
                <a:rPr sz="840" b="1">
                  <a:solidFill>
                    <a:srgbClr val="0B5FC0"/>
                  </a:solidFill>
                  <a:latin typeface="맑은 고딕"/>
                  <a:ea typeface="맑은 고딕"/>
                  <a:cs typeface="맑은 고딕"/>
                </a:rPr>
                <a:t>Unit</a:t>
              </a:r>
            </a:p>
          </p:txBody>
        </p:sp>
        <p:cxnSp>
          <p:nvCxnSpPr>
            <p:cNvPr id="31" name="Connector 30"/>
            <p:cNvCxnSpPr/>
            <p:nvPr/>
          </p:nvCxnSpPr>
          <p:spPr>
            <a:xfrm>
              <a:off x="2395852" y="1934175"/>
              <a:ext cx="85549" cy="0"/>
            </a:xfrm>
            <a:prstGeom prst="line">
              <a:avLst/>
            </a:prstGeom>
            <a:ln w="19248">
              <a:solidFill>
                <a:srgbClr val="B4222A"/>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2460014" y="1870013"/>
              <a:ext cx="128323" cy="128324"/>
            </a:xfrm>
            <a:custGeom>
              <a:avLst/>
              <a:gdLst/>
              <a:ahLst/>
              <a:cxnLst/>
              <a:rect l="l" t="t" r="r" b="b"/>
              <a:pathLst>
                <a:path w="128323" h="128324">
                  <a:moveTo>
                    <a:pt x="0" y="0"/>
                  </a:moveTo>
                  <a:lnTo>
                    <a:pt x="128323" y="64162"/>
                  </a:lnTo>
                  <a:lnTo>
                    <a:pt x="0" y="128324"/>
                  </a:lnTo>
                  <a:close/>
                </a:path>
              </a:pathLst>
            </a:custGeom>
            <a:solidFill>
              <a:srgbClr val="B4222A"/>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3614926" y="1934175"/>
              <a:ext cx="64161" cy="0"/>
            </a:xfrm>
            <a:prstGeom prst="line">
              <a:avLst/>
            </a:prstGeom>
            <a:ln w="19248">
              <a:solidFill>
                <a:srgbClr val="B4222A"/>
              </a:solidFill>
            </a:ln>
          </p:spPr>
          <p:style>
            <a:lnRef idx="2">
              <a:schemeClr val="accent1"/>
            </a:lnRef>
            <a:fillRef idx="0">
              <a:schemeClr val="accent1"/>
            </a:fillRef>
            <a:effectRef idx="1">
              <a:schemeClr val="accent1"/>
            </a:effectRef>
            <a:fontRef idx="minor">
              <a:schemeClr val="tx1"/>
            </a:fontRef>
          </p:style>
        </p:cxnSp>
        <p:sp>
          <p:nvSpPr>
            <p:cNvPr id="34" name="Freeform 33"/>
            <p:cNvSpPr/>
            <p:nvPr/>
          </p:nvSpPr>
          <p:spPr>
            <a:xfrm>
              <a:off x="3657700" y="1870013"/>
              <a:ext cx="128324" cy="128324"/>
            </a:xfrm>
            <a:custGeom>
              <a:avLst/>
              <a:gdLst/>
              <a:ahLst/>
              <a:cxnLst/>
              <a:rect l="l" t="t" r="r" b="b"/>
              <a:pathLst>
                <a:path w="128324" h="128324">
                  <a:moveTo>
                    <a:pt x="0" y="0"/>
                  </a:moveTo>
                  <a:lnTo>
                    <a:pt x="128324" y="64162"/>
                  </a:lnTo>
                  <a:lnTo>
                    <a:pt x="0" y="128324"/>
                  </a:lnTo>
                  <a:close/>
                </a:path>
              </a:pathLst>
            </a:custGeom>
            <a:solidFill>
              <a:srgbClr val="B4222A"/>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390068" y="1934175"/>
              <a:ext cx="64162" cy="0"/>
            </a:xfrm>
            <a:prstGeom prst="line">
              <a:avLst/>
            </a:prstGeom>
            <a:ln w="19248">
              <a:solidFill>
                <a:srgbClr val="B4222A"/>
              </a:solidFill>
            </a:ln>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5432843" y="1870013"/>
              <a:ext cx="128323" cy="128324"/>
            </a:xfrm>
            <a:custGeom>
              <a:avLst/>
              <a:gdLst/>
              <a:ahLst/>
              <a:cxnLst/>
              <a:rect l="l" t="t" r="r" b="b"/>
              <a:pathLst>
                <a:path w="128323" h="128324">
                  <a:moveTo>
                    <a:pt x="0" y="0"/>
                  </a:moveTo>
                  <a:lnTo>
                    <a:pt x="128323" y="64162"/>
                  </a:lnTo>
                  <a:lnTo>
                    <a:pt x="0" y="128324"/>
                  </a:lnTo>
                  <a:close/>
                </a:path>
              </a:pathLst>
            </a:custGeom>
            <a:solidFill>
              <a:srgbClr val="B4222A"/>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2395852" y="2917989"/>
              <a:ext cx="85549" cy="0"/>
            </a:xfrm>
            <a:prstGeom prst="line">
              <a:avLst/>
            </a:prstGeom>
            <a:ln w="19248">
              <a:solidFill>
                <a:srgbClr val="0B5FC0"/>
              </a:solidFill>
            </a:ln>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2460014" y="2853827"/>
              <a:ext cx="128323" cy="128323"/>
            </a:xfrm>
            <a:custGeom>
              <a:avLst/>
              <a:gdLst/>
              <a:ahLst/>
              <a:cxnLst/>
              <a:rect l="l" t="t" r="r" b="b"/>
              <a:pathLst>
                <a:path w="128323" h="128323">
                  <a:moveTo>
                    <a:pt x="0" y="0"/>
                  </a:moveTo>
                  <a:lnTo>
                    <a:pt x="128323" y="64162"/>
                  </a:lnTo>
                  <a:lnTo>
                    <a:pt x="0" y="128323"/>
                  </a:lnTo>
                  <a:close/>
                </a:path>
              </a:pathLst>
            </a:custGeom>
            <a:solidFill>
              <a:srgbClr val="0B5FC0"/>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614926" y="2917989"/>
              <a:ext cx="64161" cy="0"/>
            </a:xfrm>
            <a:prstGeom prst="line">
              <a:avLst/>
            </a:prstGeom>
            <a:ln w="19248">
              <a:solidFill>
                <a:srgbClr val="0B5FC0"/>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3657700" y="2853827"/>
              <a:ext cx="128324" cy="128323"/>
            </a:xfrm>
            <a:custGeom>
              <a:avLst/>
              <a:gdLst/>
              <a:ahLst/>
              <a:cxnLst/>
              <a:rect l="l" t="t" r="r" b="b"/>
              <a:pathLst>
                <a:path w="128324" h="128323">
                  <a:moveTo>
                    <a:pt x="0" y="0"/>
                  </a:moveTo>
                  <a:lnTo>
                    <a:pt x="128324" y="64162"/>
                  </a:lnTo>
                  <a:lnTo>
                    <a:pt x="0" y="128323"/>
                  </a:lnTo>
                  <a:close/>
                </a:path>
              </a:pathLst>
            </a:custGeom>
            <a:solidFill>
              <a:srgbClr val="0B5FC0"/>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5390068" y="2917989"/>
              <a:ext cx="64162" cy="0"/>
            </a:xfrm>
            <a:prstGeom prst="line">
              <a:avLst/>
            </a:prstGeom>
            <a:ln w="19248">
              <a:solidFill>
                <a:srgbClr val="0B5FC0"/>
              </a:solidFill>
            </a:ln>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5432843" y="2853827"/>
              <a:ext cx="128323" cy="128323"/>
            </a:xfrm>
            <a:custGeom>
              <a:avLst/>
              <a:gdLst/>
              <a:ahLst/>
              <a:cxnLst/>
              <a:rect l="l" t="t" r="r" b="b"/>
              <a:pathLst>
                <a:path w="128323" h="128323">
                  <a:moveTo>
                    <a:pt x="0" y="0"/>
                  </a:moveTo>
                  <a:lnTo>
                    <a:pt x="128323" y="64162"/>
                  </a:lnTo>
                  <a:lnTo>
                    <a:pt x="0" y="128323"/>
                  </a:lnTo>
                  <a:close/>
                </a:path>
              </a:pathLst>
            </a:custGeom>
            <a:solidFill>
              <a:srgbClr val="0B5FC0"/>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44402" y="1794944"/>
              <a:ext cx="515160" cy="147102"/>
            </a:xfrm>
            <a:prstGeom prst="rect">
              <a:avLst/>
            </a:prstGeom>
            <a:noFill/>
          </p:spPr>
          <p:txBody>
            <a:bodyPr wrap="none" anchor="ctr" lIns="0" rIns="0" tIns="0" bIns="0">
              <a:noAutofit/>
            </a:bodyPr>
            <a:lstStyle/>
            <a:p>
              <a:pPr algn="l"/>
              <a:r>
                <a:rPr sz="800" b="0">
                  <a:solidFill>
                    <a:srgbClr val="5B6B7B"/>
                  </a:solidFill>
                  <a:latin typeface="맑은 고딕"/>
                  <a:ea typeface="맑은 고딕"/>
                  <a:cs typeface="맑은 고딕"/>
                </a:rPr>
                <a:t>SRAM 으로</a:t>
              </a:r>
            </a:p>
          </p:txBody>
        </p:sp>
        <p:sp>
          <p:nvSpPr>
            <p:cNvPr id="44" name="TextBox 43"/>
            <p:cNvSpPr txBox="1"/>
            <p:nvPr/>
          </p:nvSpPr>
          <p:spPr>
            <a:xfrm>
              <a:off x="6844402" y="1966042"/>
              <a:ext cx="316959" cy="147102"/>
            </a:xfrm>
            <a:prstGeom prst="rect">
              <a:avLst/>
            </a:prstGeom>
            <a:noFill/>
          </p:spPr>
          <p:txBody>
            <a:bodyPr wrap="none" anchor="ctr" lIns="0" rIns="0" tIns="0" bIns="0">
              <a:noAutofit/>
            </a:bodyPr>
            <a:lstStyle/>
            <a:p>
              <a:pPr algn="l"/>
              <a:r>
                <a:rPr sz="800" b="0">
                  <a:solidFill>
                    <a:srgbClr val="5B6B7B"/>
                  </a:solidFill>
                  <a:latin typeface="맑은 고딕"/>
                  <a:ea typeface="맑은 고딕"/>
                  <a:cs typeface="맑은 고딕"/>
                </a:rPr>
                <a:t>되쓴다</a:t>
              </a:r>
            </a:p>
          </p:txBody>
        </p:sp>
        <p:sp>
          <p:nvSpPr>
            <p:cNvPr id="45" name="TextBox 44"/>
            <p:cNvSpPr txBox="1"/>
            <p:nvPr/>
          </p:nvSpPr>
          <p:spPr>
            <a:xfrm>
              <a:off x="6844402" y="2778758"/>
              <a:ext cx="433178" cy="147102"/>
            </a:xfrm>
            <a:prstGeom prst="rect">
              <a:avLst/>
            </a:prstGeom>
            <a:noFill/>
          </p:spPr>
          <p:txBody>
            <a:bodyPr wrap="none" anchor="ctr" lIns="0" rIns="0" tIns="0" bIns="0">
              <a:noAutofit/>
            </a:bodyPr>
            <a:lstStyle/>
            <a:p>
              <a:pPr algn="l"/>
              <a:r>
                <a:rPr sz="800" b="0">
                  <a:solidFill>
                    <a:srgbClr val="5B6B7B"/>
                  </a:solidFill>
                  <a:latin typeface="맑은 고딕"/>
                  <a:ea typeface="맑은 고딕"/>
                  <a:cs typeface="맑은 고딕"/>
                </a:rPr>
                <a:t>같은 길로</a:t>
              </a:r>
            </a:p>
          </p:txBody>
        </p:sp>
        <p:sp>
          <p:nvSpPr>
            <p:cNvPr id="46" name="TextBox 45"/>
            <p:cNvSpPr txBox="1"/>
            <p:nvPr/>
          </p:nvSpPr>
          <p:spPr>
            <a:xfrm>
              <a:off x="6844402" y="2949856"/>
              <a:ext cx="316959" cy="147102"/>
            </a:xfrm>
            <a:prstGeom prst="rect">
              <a:avLst/>
            </a:prstGeom>
            <a:noFill/>
          </p:spPr>
          <p:txBody>
            <a:bodyPr wrap="none" anchor="ctr" lIns="0" rIns="0" tIns="0" bIns="0">
              <a:noAutofit/>
            </a:bodyPr>
            <a:lstStyle/>
            <a:p>
              <a:pPr algn="l"/>
              <a:r>
                <a:rPr sz="800" b="0">
                  <a:solidFill>
                    <a:srgbClr val="5B6B7B"/>
                  </a:solidFill>
                  <a:latin typeface="맑은 고딕"/>
                  <a:ea typeface="맑은 고딕"/>
                  <a:cs typeface="맑은 고딕"/>
                </a:rPr>
                <a:t>되쓴다</a:t>
              </a:r>
            </a:p>
          </p:txBody>
        </p:sp>
        <p:sp>
          <p:nvSpPr>
            <p:cNvPr id="47" name="Rounded Rectangle 46"/>
            <p:cNvSpPr/>
            <p:nvPr/>
          </p:nvSpPr>
          <p:spPr>
            <a:xfrm>
              <a:off x="7870990" y="1207008"/>
              <a:ext cx="3079765" cy="1069363"/>
            </a:xfrm>
            <a:prstGeom prst="roundRect">
              <a:avLst>
                <a:gd name="adj" fmla="val 8000"/>
              </a:avLst>
            </a:prstGeom>
            <a:solidFill>
              <a:srgbClr val="FDE8E8"/>
            </a:solidFill>
            <a:ln w="1924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58398" y="1351372"/>
              <a:ext cx="904948" cy="193555"/>
            </a:xfrm>
            <a:prstGeom prst="rect">
              <a:avLst/>
            </a:prstGeom>
            <a:noFill/>
          </p:spPr>
          <p:txBody>
            <a:bodyPr wrap="none" anchor="ctr" lIns="0" rIns="0" tIns="0" bIns="0">
              <a:noAutofit/>
            </a:bodyPr>
            <a:lstStyle/>
            <a:p>
              <a:pPr algn="ctr"/>
              <a:r>
                <a:rPr sz="1050" b="1">
                  <a:solidFill>
                    <a:srgbClr val="B4222A"/>
                  </a:solidFill>
                  <a:latin typeface="맑은 고딕"/>
                  <a:ea typeface="맑은 고딕"/>
                  <a:cs typeface="맑은 고딕"/>
                </a:rPr>
                <a:t>main context</a:t>
              </a:r>
            </a:p>
          </p:txBody>
        </p:sp>
        <p:sp>
          <p:nvSpPr>
            <p:cNvPr id="49" name="TextBox 48"/>
            <p:cNvSpPr txBox="1"/>
            <p:nvPr/>
          </p:nvSpPr>
          <p:spPr>
            <a:xfrm>
              <a:off x="9055609" y="1632828"/>
              <a:ext cx="710527" cy="162586"/>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텐서 연산 전용</a:t>
              </a:r>
            </a:p>
          </p:txBody>
        </p:sp>
        <p:sp>
          <p:nvSpPr>
            <p:cNvPr id="50" name="TextBox 49"/>
            <p:cNvSpPr txBox="1"/>
            <p:nvPr/>
          </p:nvSpPr>
          <p:spPr>
            <a:xfrm>
              <a:off x="8704237" y="1895678"/>
              <a:ext cx="1413270" cy="154844"/>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제어 레지스터 한 벌로 기술된다</a:t>
              </a:r>
            </a:p>
          </p:txBody>
        </p:sp>
        <p:sp>
          <p:nvSpPr>
            <p:cNvPr id="51" name="Rounded Rectangle 50"/>
            <p:cNvSpPr/>
            <p:nvPr/>
          </p:nvSpPr>
          <p:spPr>
            <a:xfrm>
              <a:off x="7870990" y="2383307"/>
              <a:ext cx="3079765" cy="1026588"/>
            </a:xfrm>
            <a:prstGeom prst="roundRect">
              <a:avLst>
                <a:gd name="adj" fmla="val 8333"/>
              </a:avLst>
            </a:prstGeom>
            <a:solidFill>
              <a:srgbClr val="E3EEFB"/>
            </a:solidFill>
            <a:ln w="192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97029" y="2527671"/>
              <a:ext cx="827687" cy="193555"/>
            </a:xfrm>
            <a:prstGeom prst="rect">
              <a:avLst/>
            </a:prstGeom>
            <a:noFill/>
          </p:spPr>
          <p:txBody>
            <a:bodyPr wrap="none" anchor="ctr" lIns="0" rIns="0" tIns="0" bIns="0">
              <a:noAutofit/>
            </a:bodyPr>
            <a:lstStyle/>
            <a:p>
              <a:pPr algn="ctr"/>
              <a:r>
                <a:rPr sz="1050" b="1">
                  <a:solidFill>
                    <a:srgbClr val="0B5FC0"/>
                  </a:solidFill>
                  <a:latin typeface="맑은 고딕"/>
                  <a:ea typeface="맑은 고딕"/>
                  <a:cs typeface="맑은 고딕"/>
                </a:rPr>
                <a:t>sub-context</a:t>
              </a:r>
            </a:p>
          </p:txBody>
        </p:sp>
        <p:sp>
          <p:nvSpPr>
            <p:cNvPr id="53" name="TextBox 52"/>
            <p:cNvSpPr txBox="1"/>
            <p:nvPr/>
          </p:nvSpPr>
          <p:spPr>
            <a:xfrm>
              <a:off x="8677944" y="2809127"/>
              <a:ext cx="1465856" cy="162586"/>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그 외 전부 — 벡터·메모리 연산</a:t>
              </a:r>
            </a:p>
          </p:txBody>
        </p:sp>
        <p:sp>
          <p:nvSpPr>
            <p:cNvPr id="54" name="TextBox 53"/>
            <p:cNvSpPr txBox="1"/>
            <p:nvPr/>
          </p:nvSpPr>
          <p:spPr>
            <a:xfrm>
              <a:off x="8704237" y="3071977"/>
              <a:ext cx="1413270" cy="154844"/>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제어 레지스터 한 벌로 기술된다</a:t>
              </a:r>
            </a:p>
          </p:txBody>
        </p:sp>
        <p:sp>
          <p:nvSpPr>
            <p:cNvPr id="55" name="TextBox 54"/>
            <p:cNvSpPr txBox="1"/>
            <p:nvPr/>
          </p:nvSpPr>
          <p:spPr>
            <a:xfrm>
              <a:off x="8716294" y="3527312"/>
              <a:ext cx="2234460" cy="147102"/>
            </a:xfrm>
            <a:prstGeom prst="rect">
              <a:avLst/>
            </a:prstGeom>
            <a:noFill/>
          </p:spPr>
          <p:txBody>
            <a:bodyPr wrap="none" anchor="ctr" lIns="0" rIns="0" tIns="0" bIns="0">
              <a:noAutofit/>
            </a:bodyPr>
            <a:lstStyle/>
            <a:p>
              <a:pPr algn="r"/>
              <a:r>
                <a:rPr sz="800" b="0">
                  <a:solidFill>
                    <a:srgbClr val="5B6B7B"/>
                  </a:solidFill>
                  <a:latin typeface="맑은 고딕"/>
                  <a:ea typeface="맑은 고딕"/>
                  <a:cs typeface="맑은 고딕"/>
                </a:rPr>
                <a:t>색은 Fig. 4 범례를 따랐다 (빨강 = main, 파랑 = sub)</a:t>
              </a:r>
            </a:p>
          </p:txBody>
        </p:sp>
        <p:sp>
          <p:nvSpPr>
            <p:cNvPr id="56" name="TextBox 55"/>
            <p:cNvSpPr txBox="1"/>
            <p:nvPr/>
          </p:nvSpPr>
          <p:spPr>
            <a:xfrm>
              <a:off x="1240940" y="3761930"/>
              <a:ext cx="2879463" cy="201297"/>
            </a:xfrm>
            <a:prstGeom prst="rect">
              <a:avLst/>
            </a:prstGeom>
            <a:noFill/>
          </p:spPr>
          <p:txBody>
            <a:bodyPr wrap="none" anchor="ctr" lIns="0" rIns="0" tIns="0" bIns="0">
              <a:noAutofit/>
            </a:bodyPr>
            <a:lstStyle/>
            <a:p>
              <a:pPr algn="l"/>
              <a:r>
                <a:rPr sz="1090" b="1">
                  <a:solidFill>
                    <a:srgbClr val="083F80"/>
                  </a:solidFill>
                  <a:latin typeface="맑은 고딕"/>
                  <a:ea typeface="맑은 고딕"/>
                  <a:cs typeface="맑은 고딕"/>
                </a:rPr>
                <a:t>두 컨텍스트는 비동기로 launch 되어 나란히 돈다</a:t>
              </a:r>
            </a:p>
          </p:txBody>
        </p:sp>
        <p:sp>
          <p:nvSpPr>
            <p:cNvPr id="57" name="TextBox 56"/>
            <p:cNvSpPr txBox="1"/>
            <p:nvPr/>
          </p:nvSpPr>
          <p:spPr>
            <a:xfrm>
              <a:off x="10499056" y="4034403"/>
              <a:ext cx="366150" cy="154844"/>
            </a:xfrm>
            <a:prstGeom prst="rect">
              <a:avLst/>
            </a:prstGeom>
            <a:noFill/>
          </p:spPr>
          <p:txBody>
            <a:bodyPr wrap="none" anchor="ctr" lIns="0" rIns="0" tIns="0" bIns="0">
              <a:noAutofit/>
            </a:bodyPr>
            <a:lstStyle/>
            <a:p>
              <a:pPr algn="r"/>
              <a:r>
                <a:rPr sz="840" b="0">
                  <a:solidFill>
                    <a:srgbClr val="5B6B7B"/>
                  </a:solidFill>
                  <a:latin typeface="맑은 고딕"/>
                  <a:ea typeface="맑은 고딕"/>
                  <a:cs typeface="맑은 고딕"/>
                </a:rPr>
                <a:t>시간 →</a:t>
              </a:r>
            </a:p>
          </p:txBody>
        </p:sp>
        <p:sp>
          <p:nvSpPr>
            <p:cNvPr id="58" name="Rectangle 57"/>
            <p:cNvSpPr/>
            <p:nvPr/>
          </p:nvSpPr>
          <p:spPr>
            <a:xfrm>
              <a:off x="2673886" y="4222611"/>
              <a:ext cx="8234094" cy="384971"/>
            </a:xfrm>
            <a:prstGeom prst="rect">
              <a:avLst/>
            </a:prstGeom>
            <a:solidFill>
              <a:srgbClr val="F4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673886" y="4821454"/>
              <a:ext cx="8234094" cy="384971"/>
            </a:xfrm>
            <a:prstGeom prst="rect">
              <a:avLst/>
            </a:prstGeom>
            <a:solidFill>
              <a:srgbClr val="F4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83715" y="4321420"/>
              <a:ext cx="796355" cy="170328"/>
            </a:xfrm>
            <a:prstGeom prst="rect">
              <a:avLst/>
            </a:prstGeom>
            <a:noFill/>
          </p:spPr>
          <p:txBody>
            <a:bodyPr wrap="none" anchor="ctr" lIns="0" rIns="0" tIns="0" bIns="0">
              <a:noAutofit/>
            </a:bodyPr>
            <a:lstStyle/>
            <a:p>
              <a:pPr algn="l"/>
              <a:r>
                <a:rPr sz="930" b="1">
                  <a:solidFill>
                    <a:srgbClr val="B4222A"/>
                  </a:solidFill>
                  <a:latin typeface="맑은 고딕"/>
                  <a:ea typeface="맑은 고딕"/>
                  <a:cs typeface="맑은 고딕"/>
                </a:rPr>
                <a:t>main context</a:t>
              </a:r>
            </a:p>
          </p:txBody>
        </p:sp>
        <p:sp>
          <p:nvSpPr>
            <p:cNvPr id="61" name="TextBox 60"/>
            <p:cNvSpPr txBox="1"/>
            <p:nvPr/>
          </p:nvSpPr>
          <p:spPr>
            <a:xfrm>
              <a:off x="1283715" y="4920264"/>
              <a:ext cx="728364" cy="170328"/>
            </a:xfrm>
            <a:prstGeom prst="rect">
              <a:avLst/>
            </a:prstGeom>
            <a:noFill/>
          </p:spPr>
          <p:txBody>
            <a:bodyPr wrap="none" anchor="ctr" lIns="0" rIns="0" tIns="0" bIns="0">
              <a:noAutofit/>
            </a:bodyPr>
            <a:lstStyle/>
            <a:p>
              <a:pPr algn="l"/>
              <a:r>
                <a:rPr sz="930" b="1">
                  <a:solidFill>
                    <a:srgbClr val="0B5FC0"/>
                  </a:solidFill>
                  <a:latin typeface="맑은 고딕"/>
                  <a:ea typeface="맑은 고딕"/>
                  <a:cs typeface="맑은 고딕"/>
                </a:rPr>
                <a:t>sub-context</a:t>
              </a:r>
            </a:p>
          </p:txBody>
        </p:sp>
        <p:sp>
          <p:nvSpPr>
            <p:cNvPr id="62" name="Rounded Rectangle 61"/>
            <p:cNvSpPr/>
            <p:nvPr/>
          </p:nvSpPr>
          <p:spPr>
            <a:xfrm>
              <a:off x="2994695" y="4265386"/>
              <a:ext cx="6843922" cy="299422"/>
            </a:xfrm>
            <a:prstGeom prst="roundRect">
              <a:avLst>
                <a:gd name="adj" fmla="val 14285"/>
              </a:avLst>
            </a:prstGeom>
            <a:solidFill>
              <a:srgbClr val="FDE8E8"/>
            </a:solidFill>
            <a:ln w="17109">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830303" y="4325912"/>
              <a:ext cx="1172706" cy="178070"/>
            </a:xfrm>
            <a:prstGeom prst="rect">
              <a:avLst/>
            </a:prstGeom>
            <a:noFill/>
          </p:spPr>
          <p:txBody>
            <a:bodyPr wrap="none" anchor="ctr" lIns="0" rIns="0" tIns="0" bIns="0">
              <a:noAutofit/>
            </a:bodyPr>
            <a:lstStyle/>
            <a:p>
              <a:pPr algn="ctr"/>
              <a:r>
                <a:rPr sz="969" b="1">
                  <a:solidFill>
                    <a:srgbClr val="B4222A"/>
                  </a:solidFill>
                  <a:latin typeface="맑은 고딕"/>
                  <a:ea typeface="맑은 고딕"/>
                  <a:cs typeface="맑은 고딕"/>
                </a:rPr>
                <a:t>텐서 연산 하나 — 길다</a:t>
              </a:r>
            </a:p>
          </p:txBody>
        </p:sp>
        <p:sp>
          <p:nvSpPr>
            <p:cNvPr id="64" name="Rounded Rectangle 63"/>
            <p:cNvSpPr/>
            <p:nvPr/>
          </p:nvSpPr>
          <p:spPr>
            <a:xfrm>
              <a:off x="3208568" y="4864229"/>
              <a:ext cx="1604044" cy="299422"/>
            </a:xfrm>
            <a:prstGeom prst="roundRect">
              <a:avLst>
                <a:gd name="adj" fmla="val 14285"/>
              </a:avLst>
            </a:prstGeom>
            <a:solidFill>
              <a:srgbClr val="E3EEFB"/>
            </a:solidFill>
            <a:ln w="1497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983710" y="4864229"/>
              <a:ext cx="1604044" cy="299422"/>
            </a:xfrm>
            <a:prstGeom prst="roundRect">
              <a:avLst>
                <a:gd name="adj" fmla="val 14285"/>
              </a:avLst>
            </a:prstGeom>
            <a:solidFill>
              <a:srgbClr val="E3EEFB"/>
            </a:solidFill>
            <a:ln w="1497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6758852" y="4864229"/>
              <a:ext cx="1390172" cy="299422"/>
            </a:xfrm>
            <a:prstGeom prst="roundRect">
              <a:avLst>
                <a:gd name="adj" fmla="val 14285"/>
              </a:avLst>
            </a:prstGeom>
            <a:solidFill>
              <a:srgbClr val="E3EEFB"/>
            </a:solidFill>
            <a:ln w="1497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320122" y="4864229"/>
              <a:ext cx="1497108" cy="299422"/>
            </a:xfrm>
            <a:prstGeom prst="roundRect">
              <a:avLst>
                <a:gd name="adj" fmla="val 14285"/>
              </a:avLst>
            </a:prstGeom>
            <a:solidFill>
              <a:srgbClr val="E3EEFB"/>
            </a:solidFill>
            <a:ln w="1497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91759" y="4943362"/>
              <a:ext cx="637661" cy="154844"/>
            </a:xfrm>
            <a:prstGeom prst="rect">
              <a:avLst/>
            </a:prstGeom>
            <a:noFill/>
          </p:spPr>
          <p:txBody>
            <a:bodyPr wrap="none" anchor="ctr" lIns="0" rIns="0" tIns="0" bIns="0">
              <a:noAutofit/>
            </a:bodyPr>
            <a:lstStyle/>
            <a:p>
              <a:pPr algn="ctr"/>
              <a:r>
                <a:rPr sz="840" b="0">
                  <a:solidFill>
                    <a:srgbClr val="0B5FC0"/>
                  </a:solidFill>
                  <a:latin typeface="맑은 고딕"/>
                  <a:ea typeface="맑은 고딕"/>
                  <a:cs typeface="맑은 고딕"/>
                </a:rPr>
                <a:t>메모리 연산 1</a:t>
              </a:r>
            </a:p>
          </p:txBody>
        </p:sp>
        <p:sp>
          <p:nvSpPr>
            <p:cNvPr id="69" name="TextBox 68"/>
            <p:cNvSpPr txBox="1"/>
            <p:nvPr/>
          </p:nvSpPr>
          <p:spPr>
            <a:xfrm>
              <a:off x="5466902" y="4943362"/>
              <a:ext cx="637661" cy="154844"/>
            </a:xfrm>
            <a:prstGeom prst="rect">
              <a:avLst/>
            </a:prstGeom>
            <a:noFill/>
          </p:spPr>
          <p:txBody>
            <a:bodyPr wrap="none" anchor="ctr" lIns="0" rIns="0" tIns="0" bIns="0">
              <a:noAutofit/>
            </a:bodyPr>
            <a:lstStyle/>
            <a:p>
              <a:pPr algn="ctr"/>
              <a:r>
                <a:rPr sz="840" b="0">
                  <a:solidFill>
                    <a:srgbClr val="0B5FC0"/>
                  </a:solidFill>
                  <a:latin typeface="맑은 고딕"/>
                  <a:ea typeface="맑은 고딕"/>
                  <a:cs typeface="맑은 고딕"/>
                </a:rPr>
                <a:t>메모리 연산 2</a:t>
              </a:r>
            </a:p>
          </p:txBody>
        </p:sp>
        <p:sp>
          <p:nvSpPr>
            <p:cNvPr id="70" name="TextBox 69"/>
            <p:cNvSpPr txBox="1"/>
            <p:nvPr/>
          </p:nvSpPr>
          <p:spPr>
            <a:xfrm>
              <a:off x="7225950" y="4943362"/>
              <a:ext cx="455976" cy="154844"/>
            </a:xfrm>
            <a:prstGeom prst="rect">
              <a:avLst/>
            </a:prstGeom>
            <a:noFill/>
          </p:spPr>
          <p:txBody>
            <a:bodyPr wrap="none" anchor="ctr" lIns="0" rIns="0" tIns="0" bIns="0">
              <a:noAutofit/>
            </a:bodyPr>
            <a:lstStyle/>
            <a:p>
              <a:pPr algn="ctr"/>
              <a:r>
                <a:rPr sz="840" b="0">
                  <a:solidFill>
                    <a:srgbClr val="0B5FC0"/>
                  </a:solidFill>
                  <a:latin typeface="맑은 고딕"/>
                  <a:ea typeface="맑은 고딕"/>
                  <a:cs typeface="맑은 고딕"/>
                </a:rPr>
                <a:t>벡터 연산</a:t>
              </a:r>
            </a:p>
          </p:txBody>
        </p:sp>
        <p:sp>
          <p:nvSpPr>
            <p:cNvPr id="71" name="TextBox 70"/>
            <p:cNvSpPr txBox="1"/>
            <p:nvPr/>
          </p:nvSpPr>
          <p:spPr>
            <a:xfrm>
              <a:off x="8749846" y="4943362"/>
              <a:ext cx="637661" cy="154844"/>
            </a:xfrm>
            <a:prstGeom prst="rect">
              <a:avLst/>
            </a:prstGeom>
            <a:noFill/>
          </p:spPr>
          <p:txBody>
            <a:bodyPr wrap="none" anchor="ctr" lIns="0" rIns="0" tIns="0" bIns="0">
              <a:noAutofit/>
            </a:bodyPr>
            <a:lstStyle/>
            <a:p>
              <a:pPr algn="ctr"/>
              <a:r>
                <a:rPr sz="840" b="0">
                  <a:solidFill>
                    <a:srgbClr val="0B5FC0"/>
                  </a:solidFill>
                  <a:latin typeface="맑은 고딕"/>
                  <a:ea typeface="맑은 고딕"/>
                  <a:cs typeface="맑은 고딕"/>
                </a:rPr>
                <a:t>메모리 연산 3</a:t>
              </a:r>
            </a:p>
          </p:txBody>
        </p:sp>
        <p:cxnSp>
          <p:nvCxnSpPr>
            <p:cNvPr id="72" name="Connector 71"/>
            <p:cNvCxnSpPr/>
            <p:nvPr/>
          </p:nvCxnSpPr>
          <p:spPr>
            <a:xfrm>
              <a:off x="2994695" y="4179837"/>
              <a:ext cx="0" cy="1090750"/>
            </a:xfrm>
            <a:prstGeom prst="line">
              <a:avLst/>
            </a:prstGeom>
            <a:ln w="12832">
              <a:solidFill>
                <a:srgbClr val="B4222A"/>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8618" y="4179837"/>
              <a:ext cx="0" cy="1090750"/>
            </a:xfrm>
            <a:prstGeom prst="line">
              <a:avLst/>
            </a:prstGeom>
            <a:ln w="12832">
              <a:solidFill>
                <a:srgbClr val="B4222A"/>
              </a:solidFill>
              <a:prstDash val="dash"/>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430582" y="5363194"/>
              <a:ext cx="3972148" cy="178070"/>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sub 쪽 실행 시간이 텐서 연산 시간 안에 통째로 숨는다 → TU 활용률이 오른다</a:t>
              </a:r>
            </a:p>
          </p:txBody>
        </p:sp>
      </p:grpSp>
      <p:sp>
        <p:nvSpPr>
          <p:cNvPr id="75" name="Rectangle 74"/>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slice마다 컨텍스트 2개. 무거운 텐서 연산 그늘에 벡터·메모리 연산을 밀어 넣는다.</a:t>
            </a:r>
          </a:p>
        </p:txBody>
      </p:sp>
      <p:sp>
        <p:nvSpPr>
          <p:cNvPr id="76" name="Rectangle 75"/>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듀얼 컨텍스트 — 텐서 연산 뒤에 벡터·메모리 연산을 숨긴다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90</a:t>
            </a:r>
          </a:p>
        </p:txBody>
      </p:sp>
      <p:sp>
        <p:nvSpPr>
          <p:cNvPr id="8" name="TextBox 7"/>
          <p:cNvSpPr txBox="1"/>
          <p:nvPr/>
        </p:nvSpPr>
        <p:spPr>
          <a:xfrm>
            <a:off x="566928" y="1517904"/>
            <a:ext cx="11057839" cy="4754880"/>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TU 하나가 텐서·벡터·메모리 연산을 모두 맡는다 — 그래서 숨길 대상이 생긴다</a:t>
            </a:r>
          </a:p>
          <a:p>
            <a:pPr algn="l">
              <a:lnSpc>
                <a:spcPct val="118000"/>
              </a:lnSpc>
              <a:spcBef>
                <a:spcPts val="200"/>
              </a:spcBef>
              <a:spcAft>
                <a:spcPts val="100"/>
              </a:spcAft>
            </a:pPr>
            <a:r>
              <a:rPr sz="1780" b="1" i="0">
                <a:solidFill>
                  <a:srgbClr val="2C3A4B"/>
                </a:solidFill>
                <a:latin typeface="Segoe UI"/>
                <a:ea typeface="맑은 고딕"/>
                <a:cs typeface="맑은 고딕"/>
              </a:rPr>
              <a:t>–  두 컨텍스트는 각각 별도의 control register 집합으로 기술되고, 비동기로 launch 되어 병렬 실행된다</a:t>
            </a:r>
          </a:p>
          <a:p>
            <a:pPr algn="l">
              <a:lnSpc>
                <a:spcPct val="118000"/>
              </a:lnSpc>
              <a:spcBef>
                <a:spcPts val="200"/>
              </a:spcBef>
              <a:spcAft>
                <a:spcPts val="100"/>
              </a:spcAft>
            </a:pPr>
            <a:r>
              <a:rPr sz="1780" b="0" i="0">
                <a:solidFill>
                  <a:srgbClr val="5B6B7B"/>
                </a:solidFill>
                <a:latin typeface="Segoe UI"/>
                <a:ea typeface="맑은 고딕"/>
                <a:cs typeface="맑은 고딕"/>
              </a:rPr>
              <a:t>·  논문 예시: main 에 텐서 연산을 띄운 뒤 sub 에서 메모리 연산 여러 개를 순차로 띄운다</a:t>
            </a:r>
          </a:p>
          <a:p>
            <a:pPr algn="l">
              <a:lnSpc>
                <a:spcPct val="118000"/>
              </a:lnSpc>
              <a:spcBef>
                <a:spcPts val="200"/>
              </a:spcBef>
              <a:spcAft>
                <a:spcPts val="100"/>
              </a:spcAft>
            </a:pPr>
            <a:r>
              <a:rPr sz="1780" b="0" i="0">
                <a:solidFill>
                  <a:srgbClr val="2C3A4B"/>
                </a:solidFill>
                <a:latin typeface="Segoe UI"/>
                <a:ea typeface="맑은 고딕"/>
                <a:cs typeface="맑은 고딕"/>
              </a:rPr>
              <a:t>–  노리는 것은 지연 단축이 아니라 TU 활용률(utilization) 상승이다</a:t>
            </a:r>
          </a:p>
          <a:p>
            <a:pPr algn="l">
              <a:lnSpc>
                <a:spcPct val="118000"/>
              </a:lnSpc>
              <a:spcBef>
                <a:spcPts val="200"/>
              </a:spcBef>
              <a:spcAft>
                <a:spcPts val="100"/>
              </a:spcAft>
            </a:pPr>
            <a:r>
              <a:rPr sz="1780" b="0" i="0">
                <a:solidFill>
                  <a:srgbClr val="2C3A4B"/>
                </a:solidFill>
                <a:latin typeface="Segoe UI"/>
                <a:ea typeface="맑은 고딕"/>
                <a:cs typeface="맑은 고딕"/>
              </a:rPr>
              <a:t>–  Fig. 4 는 이 구조를 slice 2개로 그린 그림이다. Fig. 4 자체는 다른 파트에서 다룬다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설계 결정 — fine-grained sparsity는 지원하지 않는다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1" i="0">
                <a:solidFill>
                  <a:srgbClr val="2C3A4B"/>
                </a:solidFill>
                <a:latin typeface="Segoe UI"/>
                <a:ea typeface="맑은 고딕"/>
                <a:cs typeface="맑은 고딕"/>
              </a:rPr>
              <a:t>–  TCP 아키텍처는 fine-grained sparsity(세밀 희소성)에 최적화되어 있지 않다</a:t>
            </a:r>
          </a:p>
          <a:p>
            <a:pPr algn="l">
              <a:lnSpc>
                <a:spcPct val="118000"/>
              </a:lnSpc>
              <a:spcBef>
                <a:spcPts val="200"/>
              </a:spcBef>
              <a:spcAft>
                <a:spcPts val="100"/>
              </a:spcAft>
            </a:pPr>
            <a:r>
              <a:rPr sz="1780" b="0" i="0">
                <a:solidFill>
                  <a:srgbClr val="2C3A4B"/>
                </a:solidFill>
                <a:latin typeface="Segoe UI"/>
                <a:ea typeface="맑은 고딕"/>
                <a:cs typeface="맑은 고딕"/>
              </a:rPr>
              <a:t>–  이유는 면적(area)과 전력(power) 오버헤드다</a:t>
            </a:r>
          </a:p>
          <a:p>
            <a:pPr algn="l">
              <a:lnSpc>
                <a:spcPct val="118000"/>
              </a:lnSpc>
              <a:spcBef>
                <a:spcPts val="200"/>
              </a:spcBef>
              <a:spcAft>
                <a:spcPts val="100"/>
              </a:spcAft>
            </a:pPr>
            <a:r>
              <a:rPr sz="1780" b="0" i="0">
                <a:solidFill>
                  <a:srgbClr val="2C3A4B"/>
                </a:solidFill>
                <a:latin typeface="Segoe UI"/>
                <a:ea typeface="맑은 고딕"/>
                <a:cs typeface="맑은 고딕"/>
              </a:rPr>
              <a:t>–  대신 dense model(밀집 모델)에 집중한다</a:t>
            </a:r>
          </a:p>
          <a:p>
            <a:pPr algn="l">
              <a:lnSpc>
                <a:spcPct val="118000"/>
              </a:lnSpc>
              <a:spcBef>
                <a:spcPts val="200"/>
              </a:spcBef>
              <a:spcAft>
                <a:spcPts val="100"/>
              </a:spcAft>
            </a:pPr>
            <a:r>
              <a:rPr sz="1780" b="1" i="0">
                <a:solidFill>
                  <a:srgbClr val="2C3A4B"/>
                </a:solidFill>
                <a:latin typeface="Segoe UI"/>
                <a:ea typeface="맑은 고딕"/>
                <a:cs typeface="맑은 고딕"/>
              </a:rPr>
              <a:t>–  논문의 근거: 특히 LLM에서는 low precision(저정밀도)이 pruning(가지치기)보다 더 효과적임이 입증되었다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fine-grained sparsity 미지원이 LLM에서의 TCP 이점을 해치지 않을 것이라고 본다</a:t>
            </a:r>
          </a:p>
          <a:p>
            <a:pPr algn="l">
              <a:lnSpc>
                <a:spcPct val="118000"/>
              </a:lnSpc>
              <a:spcBef>
                <a:spcPts val="200"/>
              </a:spcBef>
              <a:spcAft>
                <a:spcPts val="100"/>
              </a:spcAft>
            </a:pPr>
            <a:r>
              <a:rPr sz="1780" b="0" i="0">
                <a:solidFill>
                  <a:srgbClr val="2C3A4B"/>
                </a:solidFill>
                <a:latin typeface="Segoe UI"/>
                <a:ea typeface="맑은 고딕"/>
                <a:cs typeface="맑은 고딕"/>
              </a:rPr>
              <a:t>–  실제로 TABLE I은 INT4까지 내려가는 정밀도 경로를 제공한다 — 자원을 저정밀도 쪽에 몰았다는 뜻이다</a:t>
            </a:r>
          </a:p>
          <a:p>
            <a:pPr algn="l">
              <a:lnSpc>
                <a:spcPct val="118000"/>
              </a:lnSpc>
              <a:spcBef>
                <a:spcPts val="200"/>
              </a:spcBef>
              <a:spcAft>
                <a:spcPts val="100"/>
              </a:spcAft>
            </a:pPr>
            <a:r>
              <a:rPr sz="1780" b="0" i="0">
                <a:solidFill>
                  <a:srgbClr val="2C3A4B"/>
                </a:solidFill>
                <a:latin typeface="Segoe UI"/>
                <a:ea typeface="맑은 고딕"/>
                <a:cs typeface="맑은 고딕"/>
              </a:rPr>
              <a:t>–  이 선택은 설계 철학과도 맞는다: 희소성은 실행 시간을 데이터 의존적으로 만들어 예측 가능성을 해친다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희소성 대신 저정밀도. LLM에서는 그쪽이 더 낫다는 것이 논문의 판단이다.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3부 · SYSTEM-ON-CHIP</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III절 정리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580" b="1" i="0">
                <a:solidFill>
                  <a:srgbClr val="2C3A4B"/>
                </a:solidFill>
                <a:latin typeface="Segoe UI"/>
                <a:ea typeface="맑은 고딕"/>
                <a:cs typeface="맑은 고딕"/>
              </a:rPr>
              <a:t>–  SoC: PE 8개, 각각 호스트에 독립 디바이스, 최대 4개 융합, SR-IOV로 멀티테넌시</a:t>
            </a:r>
          </a:p>
          <a:p>
            <a:pPr algn="l">
              <a:lnSpc>
                <a:spcPct val="118000"/>
              </a:lnSpc>
              <a:spcBef>
                <a:spcPts val="200"/>
              </a:spcBef>
              <a:spcAft>
                <a:spcPts val="100"/>
              </a:spcAft>
            </a:pPr>
            <a:r>
              <a:rPr sz="1580" b="0" i="0">
                <a:solidFill>
                  <a:srgbClr val="2C3A4B"/>
                </a:solidFill>
                <a:latin typeface="Segoe UI"/>
                <a:ea typeface="맑은 고딕"/>
                <a:cs typeface="맑은 고딕"/>
              </a:rPr>
              <a:t>–  메모리: HBM3 2스택 48 GB 1.5 TB/s, 온칩 SRAM 256 MB 384 TB/s</a:t>
            </a:r>
          </a:p>
          <a:p>
            <a:pPr algn="l">
              <a:lnSpc>
                <a:spcPct val="118000"/>
              </a:lnSpc>
              <a:spcBef>
                <a:spcPts val="200"/>
              </a:spcBef>
              <a:spcAft>
                <a:spcPts val="100"/>
              </a:spcAft>
            </a:pPr>
            <a:r>
              <a:rPr sz="1580" b="0" i="0">
                <a:solidFill>
                  <a:srgbClr val="2C3A4B"/>
                </a:solidFill>
                <a:latin typeface="Segoe UI"/>
                <a:ea typeface="맑은 고딕"/>
                <a:cs typeface="맑은 고딕"/>
              </a:rPr>
              <a:t>–  상호연결: NoC로 PE↔HBM / PE↔PE 최대 256 GB/s 무경합, 호스트 PCIe Gen5 x16 128 GB/s, 칩 간 P2P 방향당 64 GB/s</a:t>
            </a:r>
          </a:p>
          <a:p>
            <a:pPr algn="l">
              <a:lnSpc>
                <a:spcPct val="118000"/>
              </a:lnSpc>
              <a:spcBef>
                <a:spcPts val="200"/>
              </a:spcBef>
              <a:spcAft>
                <a:spcPts val="100"/>
              </a:spcAft>
            </a:pPr>
            <a:r>
              <a:rPr sz="1580" b="0" i="0">
                <a:solidFill>
                  <a:srgbClr val="2C3A4B"/>
                </a:solidFill>
                <a:latin typeface="Segoe UI"/>
                <a:ea typeface="맑은 고딕"/>
                <a:cs typeface="맑은 고딕"/>
              </a:rPr>
              <a:t>–  보호·추상화: PE별 독립 주소 공간 + address translation unit → scalable compilation과 dynamic resource scheduling</a:t>
            </a:r>
          </a:p>
          <a:p>
            <a:pPr algn="l">
              <a:lnSpc>
                <a:spcPct val="118000"/>
              </a:lnSpc>
              <a:spcBef>
                <a:spcPts val="200"/>
              </a:spcBef>
              <a:spcAft>
                <a:spcPts val="100"/>
              </a:spcAft>
            </a:pPr>
            <a:r>
              <a:rPr sz="1580" b="0" i="0">
                <a:solidFill>
                  <a:srgbClr val="2C3A4B"/>
                </a:solidFill>
                <a:latin typeface="Segoe UI"/>
                <a:ea typeface="맑은 고딕"/>
                <a:cs typeface="맑은 고딕"/>
              </a:rPr>
              <a:t>–  PE: CPU core(L1 I/D 64 KB, L2 256 KB, 스크래치패드 3.5 MB) + TU(SRAM 32 MB, 64 TOPS) + TDMA(비동기, 임의 차원 순서, scatter-gather)</a:t>
            </a:r>
          </a:p>
          <a:p>
            <a:pPr algn="l">
              <a:lnSpc>
                <a:spcPct val="118000"/>
              </a:lnSpc>
              <a:spcBef>
                <a:spcPts val="200"/>
              </a:spcBef>
              <a:spcAft>
                <a:spcPts val="100"/>
              </a:spcAft>
            </a:pPr>
            <a:r>
              <a:rPr sz="1580" b="0" i="0">
                <a:solidFill>
                  <a:srgbClr val="2C3A4B"/>
                </a:solidFill>
                <a:latin typeface="Segoe UI"/>
                <a:ea typeface="맑은 고딕"/>
                <a:cs typeface="맑은 고딕"/>
              </a:rPr>
              <a:t>–  TU: 64+1 slice, slice = SRAM + FU + OU + CU, fetch network multicast, CE(H=8 DPE)/VE/TE 체이닝, 3가지 stationary, 듀얼 컨텍스트, TUC와 LLPP</a:t>
            </a:r>
          </a:p>
          <a:p>
            <a:pPr algn="l">
              <a:lnSpc>
                <a:spcPct val="118000"/>
              </a:lnSpc>
              <a:spcBef>
                <a:spcPts val="200"/>
              </a:spcBef>
              <a:spcAft>
                <a:spcPts val="100"/>
              </a:spcAft>
            </a:pPr>
            <a:r>
              <a:rPr sz="1580" b="0" i="0">
                <a:solidFill>
                  <a:srgbClr val="2C3A4B"/>
                </a:solidFill>
                <a:latin typeface="Segoe UI"/>
                <a:ea typeface="맑은 고딕"/>
                <a:cs typeface="맑은 고딕"/>
              </a:rPr>
              <a:t>–  물리: TSMC 5nm, 1 GHz, 24.59 × 25.71 mm (632.1 mm²), 150 W</a:t>
            </a:r>
          </a:p>
          <a:p>
            <a:pPr algn="l">
              <a:lnSpc>
                <a:spcPct val="118000"/>
              </a:lnSpc>
              <a:spcBef>
                <a:spcPts val="200"/>
              </a:spcBef>
              <a:spcAft>
                <a:spcPts val="100"/>
              </a:spcAft>
            </a:pPr>
            <a:r>
              <a:rPr sz="1580" b="1" i="0">
                <a:solidFill>
                  <a:srgbClr val="2C3A4B"/>
                </a:solidFill>
                <a:latin typeface="Segoe UI"/>
                <a:ea typeface="맑은 고딕"/>
                <a:cs typeface="맑은 고딕"/>
              </a:rPr>
              <a:t>–  관통하는 두 축: '유연하게 쪼개고 묶을 수 있는 PE/slice'와 '경합 없어 예측 가능한 전송'</a:t>
            </a:r>
          </a:p>
          <a:p>
            <a:pPr algn="l">
              <a:lnSpc>
                <a:spcPct val="118000"/>
              </a:lnSpc>
              <a:spcBef>
                <a:spcPts val="200"/>
              </a:spcBef>
              <a:spcAft>
                <a:spcPts val="100"/>
              </a:spcAft>
            </a:pPr>
            <a:r>
              <a:rPr sz="1580" b="0" i="0">
                <a:solidFill>
                  <a:srgbClr val="2C3A4B"/>
                </a:solidFill>
                <a:latin typeface="Segoe UI"/>
                <a:ea typeface="맑은 고딕"/>
                <a:cs typeface="맑은 고딕"/>
              </a:rPr>
              <a:t>–  다음 IV절이 slice 내부(데이터 메모리 뱅크, fetch unit, DPE 비트폭, fetch network 상세)를 연다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유연한 분할·융합 + 예측 가능한 전송 — 이 둘이 III절의 결론이다.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4</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MICRO-ARCHITECTURE (1)</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PE · 슬라이스 · 컨텍스트 · Fetch Network</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부에서 답할 질문들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PE(Processing Element, 처리 요소)는 무엇으로 이뤄지는가 — CPU core, Tensor Unit(TU, 텐서 유닛), Tensor DMA Engine(TDMA, 텐서 DMA 엔진)</a:t>
            </a:r>
          </a:p>
          <a:p>
            <a:pPr algn="l">
              <a:lnSpc>
                <a:spcPct val="118000"/>
              </a:lnSpc>
              <a:spcBef>
                <a:spcPts val="600"/>
              </a:spcBef>
              <a:spcAft>
                <a:spcPts val="200"/>
              </a:spcAft>
            </a:pPr>
            <a:r>
              <a:rPr sz="1900" b="1" i="0">
                <a:solidFill>
                  <a:srgbClr val="083F80"/>
                </a:solidFill>
                <a:latin typeface="Segoe UI"/>
                <a:ea typeface="맑은 고딕"/>
                <a:cs typeface="맑은 고딕"/>
              </a:rPr>
              <a:t>▪  왜 큰 SRAM 하나 + 큰 행렬 유닛 하나가 아니라 슬라이스(slice)로 쪼갰는가</a:t>
            </a:r>
          </a:p>
          <a:p>
            <a:pPr algn="l">
              <a:lnSpc>
                <a:spcPct val="118000"/>
              </a:lnSpc>
              <a:spcBef>
                <a:spcPts val="600"/>
              </a:spcBef>
              <a:spcAft>
                <a:spcPts val="200"/>
              </a:spcAft>
            </a:pPr>
            <a:r>
              <a:rPr sz="1900" b="1" i="0">
                <a:solidFill>
                  <a:srgbClr val="083F80"/>
                </a:solidFill>
                <a:latin typeface="Segoe UI"/>
                <a:ea typeface="맑은 고딕"/>
                <a:cs typeface="맑은 고딕"/>
              </a:rPr>
              <a:t>▪  슬라이스 하나의 3단 파이프라인은 무엇인가 — Fetch Unit / Operation Unit / Commit Unit</a:t>
            </a:r>
          </a:p>
          <a:p>
            <a:pPr algn="l">
              <a:lnSpc>
                <a:spcPct val="118000"/>
              </a:lnSpc>
              <a:spcBef>
                <a:spcPts val="600"/>
              </a:spcBef>
              <a:spcAft>
                <a:spcPts val="200"/>
              </a:spcAft>
            </a:pPr>
            <a:r>
              <a:rPr sz="1900" b="1" i="0">
                <a:solidFill>
                  <a:srgbClr val="083F80"/>
                </a:solidFill>
                <a:latin typeface="Segoe UI"/>
                <a:ea typeface="맑은 고딕"/>
                <a:cs typeface="맑은 고딕"/>
              </a:rPr>
              <a:t>▪  Data Memory(DM) slice는 어떤 메모리인가 — 뱅크 수, 대역폭, 가상 주소</a:t>
            </a:r>
          </a:p>
          <a:p>
            <a:pPr algn="l">
              <a:lnSpc>
                <a:spcPct val="118000"/>
              </a:lnSpc>
              <a:spcBef>
                <a:spcPts val="600"/>
              </a:spcBef>
              <a:spcAft>
                <a:spcPts val="200"/>
              </a:spcAft>
            </a:pPr>
            <a:r>
              <a:rPr sz="1900" b="1" i="0">
                <a:solidFill>
                  <a:srgbClr val="083F80"/>
                </a:solidFill>
                <a:latin typeface="Segoe UI"/>
                <a:ea typeface="맑은 고딕"/>
                <a:cs typeface="맑은 고딕"/>
              </a:rPr>
              <a:t>▪  main context 와 sub context 는 왜 나누고 무엇을 이중화했는가 (Fig. 4)</a:t>
            </a:r>
          </a:p>
          <a:p>
            <a:pPr algn="l">
              <a:lnSpc>
                <a:spcPct val="118000"/>
              </a:lnSpc>
              <a:spcBef>
                <a:spcPts val="600"/>
              </a:spcBef>
              <a:spcAft>
                <a:spcPts val="200"/>
              </a:spcAft>
            </a:pPr>
            <a:r>
              <a:rPr sz="1900" b="1" i="0">
                <a:solidFill>
                  <a:srgbClr val="083F80"/>
                </a:solidFill>
                <a:latin typeface="Segoe UI"/>
                <a:ea typeface="맑은 고딕"/>
                <a:cs typeface="맑은 고딕"/>
              </a:rPr>
              <a:t>▪  fetch sequencer 는 tactic 을 어떻게 실행하는가</a:t>
            </a:r>
          </a:p>
          <a:p>
            <a:pPr algn="l">
              <a:lnSpc>
                <a:spcPct val="118000"/>
              </a:lnSpc>
              <a:spcBef>
                <a:spcPts val="600"/>
              </a:spcBef>
              <a:spcAft>
                <a:spcPts val="200"/>
              </a:spcAft>
            </a:pPr>
            <a:r>
              <a:rPr sz="1900" b="1" i="0">
                <a:solidFill>
                  <a:srgbClr val="083F80"/>
                </a:solidFill>
                <a:latin typeface="Segoe UI"/>
                <a:ea typeface="맑은 고딕"/>
                <a:cs typeface="맑은 고딕"/>
              </a:rPr>
              <a:t>▪  Fetch Network 는 왜 circuit-switched(회로 교환) 인가 (Fig. 5)</a:t>
            </a:r>
          </a:p>
          <a:p>
            <a:pPr algn="l">
              <a:lnSpc>
                <a:spcPct val="118000"/>
              </a:lnSpc>
              <a:spcBef>
                <a:spcPts val="200"/>
              </a:spcBef>
              <a:spcAft>
                <a:spcPts val="100"/>
              </a:spcAft>
            </a:pPr>
            <a:r>
              <a:rPr sz="1780" b="0" i="0">
                <a:solidFill>
                  <a:srgbClr val="2C3A4B"/>
                </a:solidFill>
                <a:latin typeface="Segoe UI"/>
                <a:ea typeface="맑은 고딕"/>
                <a:cs typeface="맑은 고딕"/>
              </a:rPr>
              <a:t>–  수치는 논문에 나온 값만 인용한다. 논문이 밝히지 않은 값은 그렇다고 명시한다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질문 7개를 순서대로 따라가면 슬라이스 하나의 구조가 완성된다.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3 — 슬라이스 8개를 가진 TCP의 Processing Element</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94</a:t>
            </a:r>
          </a:p>
        </p:txBody>
      </p:sp>
      <p:pic>
        <p:nvPicPr>
          <p:cNvPr id="8" name="Picture 7" descr="isca_fig3.png"/>
          <p:cNvPicPr>
            <a:picLocks noChangeAspect="1"/>
          </p:cNvPicPr>
          <p:nvPr/>
        </p:nvPicPr>
        <p:blipFill>
          <a:blip r:embed="rId2"/>
          <a:stretch>
            <a:fillRect/>
          </a:stretch>
        </p:blipFill>
        <p:spPr>
          <a:xfrm>
            <a:off x="566928" y="1517904"/>
            <a:ext cx="5971233" cy="2934094"/>
          </a:xfrm>
          <a:prstGeom prst="rect">
            <a:avLst/>
          </a:prstGeom>
        </p:spPr>
      </p:pic>
      <p:sp>
        <p:nvSpPr>
          <p:cNvPr id="9" name="Rectangle 8"/>
          <p:cNvSpPr/>
          <p:nvPr/>
        </p:nvSpPr>
        <p:spPr>
          <a:xfrm>
            <a:off x="566928" y="1517904"/>
            <a:ext cx="5971233" cy="2934094"/>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479430"/>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3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000" b="0" i="0">
                <a:solidFill>
                  <a:srgbClr val="16202C"/>
                </a:solidFill>
                <a:latin typeface="Segoe UI"/>
                <a:ea typeface="맑은 고딕"/>
                <a:cs typeface="맑은 고딕"/>
              </a:rPr>
              <a:t>▪  왼쪽 세로 열: Core(CPU 코어), Tensor DMA Engine, Scratch Pad Memory. PE의 제어·전송을 담당한다</a:t>
            </a:r>
          </a:p>
          <a:p>
            <a:pPr algn="l">
              <a:lnSpc>
                <a:spcPct val="118000"/>
              </a:lnSpc>
              <a:spcBef>
                <a:spcPts val="600"/>
              </a:spcBef>
              <a:spcAft>
                <a:spcPts val="200"/>
              </a:spcAft>
            </a:pPr>
            <a:r>
              <a:rPr sz="1000" b="0" i="0">
                <a:solidFill>
                  <a:srgbClr val="16202C"/>
                </a:solidFill>
                <a:latin typeface="Segoe UI"/>
                <a:ea typeface="맑은 고딕"/>
                <a:cs typeface="맑은 고딕"/>
              </a:rPr>
              <a:t>▪  오른쪽 큰 상자 전체가 Tensor Unit이다. 안쪽 세로 8줄이 각각 슬라이스 1개다</a:t>
            </a:r>
          </a:p>
          <a:p>
            <a:pPr algn="l">
              <a:lnSpc>
                <a:spcPct val="118000"/>
              </a:lnSpc>
              <a:spcBef>
                <a:spcPts val="600"/>
              </a:spcBef>
              <a:spcAft>
                <a:spcPts val="200"/>
              </a:spcAft>
            </a:pPr>
            <a:r>
              <a:rPr sz="1000" b="0" i="0">
                <a:solidFill>
                  <a:srgbClr val="16202C"/>
                </a:solidFill>
                <a:latin typeface="Segoe UI"/>
                <a:ea typeface="맑은 고딕"/>
                <a:cs typeface="맑은 고딕"/>
              </a:rPr>
              <a:t>▪  슬라이스 하나는 위에서부터 SRAM(파랑) → Fetch Unit(초록) → Operation Unit(주황: Contraction Engine / Vector Engine / Transpose Engine) → Commit Unit(노랑) 순으로 이어진다</a:t>
            </a:r>
          </a:p>
          <a:p>
            <a:pPr algn="l">
              <a:lnSpc>
                <a:spcPct val="118000"/>
              </a:lnSpc>
              <a:spcBef>
                <a:spcPts val="600"/>
              </a:spcBef>
              <a:spcAft>
                <a:spcPts val="200"/>
              </a:spcAft>
            </a:pPr>
            <a:r>
              <a:rPr sz="1000" b="0" i="0">
                <a:solidFill>
                  <a:srgbClr val="16202C"/>
                </a:solidFill>
                <a:latin typeface="Segoe UI"/>
                <a:ea typeface="맑은 고딕"/>
                <a:cs typeface="맑은 고딕"/>
              </a:rPr>
              <a:t>▪  SRAM 칸의 3D 큐브는 각 슬라이스가 나눠 가진 입력 텐서 조각이다. 슬라이스마다 색이 다른 것은 lowered shape(로워링된 형상)에 따라 텐서가 분할 저장되기 때문이다</a:t>
            </a:r>
          </a:p>
          <a:p>
            <a:pPr algn="l">
              <a:lnSpc>
                <a:spcPct val="118000"/>
              </a:lnSpc>
              <a:spcBef>
                <a:spcPts val="600"/>
              </a:spcBef>
              <a:spcAft>
                <a:spcPts val="200"/>
              </a:spcAft>
            </a:pPr>
            <a:r>
              <a:rPr sz="1000" b="0" i="0">
                <a:solidFill>
                  <a:srgbClr val="16202C"/>
                </a:solidFill>
                <a:latin typeface="Segoe UI"/>
                <a:ea typeface="맑은 고딕"/>
                <a:cs typeface="맑은 고딕"/>
              </a:rPr>
              <a:t>▪  오른쪽 아래 큐브 그림: fetch sequencer가 텐서를 space(공간) 축으로 슬라이스에 나누고, time(시간) 축으로 순차 스트리밍한다는 뜻이다. 빨간 화살표가 읽어 나가는 순서, 즉 tactic이다</a:t>
            </a:r>
          </a:p>
          <a:p>
            <a:pPr algn="l">
              <a:lnSpc>
                <a:spcPct val="118000"/>
              </a:lnSpc>
              <a:spcBef>
                <a:spcPts val="600"/>
              </a:spcBef>
              <a:spcAft>
                <a:spcPts val="200"/>
              </a:spcAft>
            </a:pPr>
            <a:r>
              <a:rPr sz="1000" b="0" i="0">
                <a:solidFill>
                  <a:srgbClr val="16202C"/>
                </a:solidFill>
                <a:latin typeface="Segoe UI"/>
                <a:ea typeface="맑은 고딕"/>
                <a:cs typeface="맑은 고딕"/>
              </a:rPr>
              <a:t>▪  초록 Fetch Unit 띠 안의 가로 배선이 fetch network다. 한 슬라이스가 읽은 데이터가 다른 슬라이스의 Operation Unit으로도 간다</a:t>
            </a:r>
          </a:p>
          <a:p>
            <a:pPr algn="l">
              <a:lnSpc>
                <a:spcPct val="118000"/>
              </a:lnSpc>
              <a:spcBef>
                <a:spcPts val="600"/>
              </a:spcBef>
              <a:spcAft>
                <a:spcPts val="200"/>
              </a:spcAft>
            </a:pPr>
            <a:r>
              <a:rPr sz="1000" b="0" i="0">
                <a:solidFill>
                  <a:srgbClr val="16202C"/>
                </a:solidFill>
                <a:latin typeface="Segoe UI"/>
                <a:ea typeface="맑은 고딕"/>
                <a:cs typeface="맑은 고딕"/>
              </a:rPr>
              <a:t>▪  오른쪽 라벨 fetch sequencer / commit sequencer 가 각각 SRAM에서 읽어 오는 주소와 SRAM으로 되돌려 쓰는 주소를 만든다</a:t>
            </a:r>
          </a:p>
          <a:p>
            <a:pPr algn="l">
              <a:lnSpc>
                <a:spcPct val="118000"/>
              </a:lnSpc>
              <a:spcBef>
                <a:spcPts val="600"/>
              </a:spcBef>
              <a:spcAft>
                <a:spcPts val="200"/>
              </a:spcAft>
            </a:pPr>
            <a:r>
              <a:rPr sz="1000" b="1" i="0">
                <a:solidFill>
                  <a:srgbClr val="083F80"/>
                </a:solidFill>
                <a:latin typeface="Segoe UI"/>
                <a:ea typeface="맑은 고딕"/>
                <a:cs typeface="맑은 고딕"/>
              </a:rPr>
              <a:t>▪  주의: 그림은 슬라이스 8개만 그렸지만 실제 TU는 64+1개의 슬라이스를 갖는다 (§III-B)</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 = CPU core + TDMA + 슬라이스로 잘린 Tensor Unit. 슬라이스는 fetch → operate → commit 세로 파이프라인이다.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PE의 세 구성요소와 논문에 명시된 수치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95</a:t>
            </a:r>
          </a:p>
        </p:txBody>
      </p:sp>
      <p:graphicFrame>
        <p:nvGraphicFramePr>
          <p:cNvPr id="8" name="Table 7"/>
          <p:cNvGraphicFramePr>
            <a:graphicFrameLocks noGrp="1"/>
          </p:cNvGraphicFramePr>
          <p:nvPr/>
        </p:nvGraphicFramePr>
        <p:xfrm>
          <a:off x="566928" y="1517904"/>
          <a:ext cx="11057838" cy="1536192"/>
        </p:xfrm>
        <a:graphic>
          <a:graphicData uri="http://schemas.openxmlformats.org/drawingml/2006/table">
            <a:tbl>
              <a:tblPr firstRow="1" bandRow="1">
                <a:tableStyleId>{5C22544A-7EE6-4342-B048-85BDC9FD1C3A}</a:tableStyleId>
              </a:tblPr>
              <a:tblGrid>
                <a:gridCol w="1882185"/>
                <a:gridCol w="4470190"/>
                <a:gridCol w="4705463"/>
              </a:tblGrid>
              <a:tr h="384048">
                <a:tc>
                  <a:txBody>
                    <a:bodyPr wrap="square"/>
                    <a:lstStyle/>
                    <a:p>
                      <a:r>
                        <a:rPr sz="1000" b="1" i="0">
                          <a:solidFill>
                            <a:srgbClr val="FFFFFF"/>
                          </a:solidFill>
                          <a:latin typeface="Segoe UI"/>
                          <a:ea typeface="맑은 고딕"/>
                          <a:cs typeface="맑은 고딕"/>
                        </a:rPr>
                        <a:t>구성요소</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역할</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논문에 명시된 수치</a:t>
                      </a:r>
                    </a:p>
                  </a:txBody>
                  <a:tcPr marL="73152" marR="73152" marT="27432" marB="27432">
                    <a:solidFill>
                      <a:srgbClr val="0B5FC0"/>
                    </a:solidFill>
                  </a:tcPr>
                </a:tc>
              </a:tr>
              <a:tr h="384048">
                <a:tc>
                  <a:txBody>
                    <a:bodyPr wrap="square"/>
                    <a:lstStyle/>
                    <a:p>
                      <a:r>
                        <a:rPr sz="1000" b="0" i="0">
                          <a:solidFill>
                            <a:srgbClr val="16202C"/>
                          </a:solidFill>
                          <a:latin typeface="Segoe UI"/>
                          <a:ea typeface="맑은 고딕"/>
                          <a:cs typeface="맑은 고딕"/>
                        </a:rPr>
                        <a:t>CPU core</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스칼라 처리, 제어 흐름, 간단한 벡터 처리, TU 및 TDMA 제어</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L1 I/D 캐시 64 KB, L2 캐시 256 KB, scratch pad memory 3.5 MB</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Tensor Unit (TU)</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대규모 텐서 연산 실행</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SRAM 32 MB, 64 TOPS, 슬라이스 64+1개</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Tensor DMA Engine (TDMA)</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텐서 전송 (비동기), 임의 차원 순서 인덱싱, scatter-gather</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PE당 최대 전송률 256 GB/s (§III)</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TU는 SRAM에서 텐서를 계속 fetch → 연산 → SRAM으로 commit 하는 방식으로 텐서 연산을 가속한다.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CPU core — 왜 캐시가 아니라 스크래치패드인가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CPU core가 맡는 일</a:t>
            </a:r>
          </a:p>
          <a:p>
            <a:pPr algn="l">
              <a:lnSpc>
                <a:spcPct val="118000"/>
              </a:lnSpc>
              <a:spcBef>
                <a:spcPts val="200"/>
              </a:spcBef>
              <a:spcAft>
                <a:spcPts val="100"/>
              </a:spcAft>
            </a:pPr>
            <a:r>
              <a:rPr sz="1380" b="0" i="0">
                <a:solidFill>
                  <a:srgbClr val="2C3A4B"/>
                </a:solidFill>
                <a:latin typeface="Segoe UI"/>
                <a:ea typeface="맑은 고딕"/>
                <a:cs typeface="맑은 고딕"/>
              </a:rPr>
              <a:t>–  스칼라 처리, 제어 흐름, 간단한 벡터 처리</a:t>
            </a:r>
          </a:p>
          <a:p>
            <a:pPr algn="l">
              <a:lnSpc>
                <a:spcPct val="118000"/>
              </a:lnSpc>
              <a:spcBef>
                <a:spcPts val="200"/>
              </a:spcBef>
              <a:spcAft>
                <a:spcPts val="100"/>
              </a:spcAft>
            </a:pPr>
            <a:r>
              <a:rPr sz="1380" b="0" i="0">
                <a:solidFill>
                  <a:srgbClr val="2C3A4B"/>
                </a:solidFill>
                <a:latin typeface="Segoe UI"/>
                <a:ea typeface="맑은 고딕"/>
                <a:cs typeface="맑은 고딕"/>
              </a:rPr>
              <a:t>–  TU를 co-processor로서 command queue를 통해 제어</a:t>
            </a:r>
          </a:p>
          <a:p>
            <a:pPr algn="l">
              <a:lnSpc>
                <a:spcPct val="118000"/>
              </a:lnSpc>
              <a:spcBef>
                <a:spcPts val="200"/>
              </a:spcBef>
              <a:spcAft>
                <a:spcPts val="100"/>
              </a:spcAft>
            </a:pPr>
            <a:r>
              <a:rPr sz="1380" b="0" i="0">
                <a:solidFill>
                  <a:srgbClr val="2C3A4B"/>
                </a:solidFill>
                <a:latin typeface="Segoe UI"/>
                <a:ea typeface="맑은 고딕"/>
                <a:cs typeface="맑은 고딕"/>
              </a:rPr>
              <a:t>–  TDMA 엔진 제어</a:t>
            </a:r>
          </a:p>
          <a:p>
            <a:pPr algn="l">
              <a:lnSpc>
                <a:spcPct val="118000"/>
              </a:lnSpc>
              <a:spcBef>
                <a:spcPts val="600"/>
              </a:spcBef>
              <a:spcAft>
                <a:spcPts val="200"/>
              </a:spcAft>
            </a:pPr>
            <a:r>
              <a:rPr sz="1500" b="1" i="0">
                <a:solidFill>
                  <a:srgbClr val="083F80"/>
                </a:solidFill>
                <a:latin typeface="Segoe UI"/>
                <a:ea typeface="맑은 고딕"/>
                <a:cs typeface="맑은 고딕"/>
              </a:rPr>
              <a:t>▪  캐시 구성: L1 I/D 캐시 64 KB, L2 캐시 256 KB</a:t>
            </a:r>
          </a:p>
          <a:p>
            <a:pPr algn="l">
              <a:lnSpc>
                <a:spcPct val="118000"/>
              </a:lnSpc>
              <a:spcBef>
                <a:spcPts val="600"/>
              </a:spcBef>
              <a:spcAft>
                <a:spcPts val="200"/>
              </a:spcAft>
            </a:pPr>
            <a:r>
              <a:rPr sz="1500" b="1" i="0">
                <a:solidFill>
                  <a:srgbClr val="083F80"/>
                </a:solidFill>
                <a:latin typeface="Segoe UI"/>
                <a:ea typeface="맑은 고딕"/>
                <a:cs typeface="맑은 고딕"/>
              </a:rPr>
              <a:t>▪  여기에 더해 3.5 MB scratch pad memory(스크래치패드 메모리)를 둔다</a:t>
            </a:r>
          </a:p>
          <a:p>
            <a:pPr algn="l">
              <a:lnSpc>
                <a:spcPct val="118000"/>
              </a:lnSpc>
              <a:spcBef>
                <a:spcPts val="200"/>
              </a:spcBef>
              <a:spcAft>
                <a:spcPts val="100"/>
              </a:spcAft>
            </a:pPr>
            <a:r>
              <a:rPr sz="1380" b="0" i="0">
                <a:solidFill>
                  <a:srgbClr val="2C3A4B"/>
                </a:solidFill>
                <a:latin typeface="Segoe UI"/>
                <a:ea typeface="맑은 고딕"/>
                <a:cs typeface="맑은 고딕"/>
              </a:rPr>
              <a:t>–  이유 1: 가속기의 성능을 더 예측 가능하게(predictable) 만들기 위해서다</a:t>
            </a:r>
          </a:p>
          <a:p>
            <a:pPr algn="l">
              <a:lnSpc>
                <a:spcPct val="118000"/>
              </a:lnSpc>
              <a:spcBef>
                <a:spcPts val="200"/>
              </a:spcBef>
              <a:spcAft>
                <a:spcPts val="100"/>
              </a:spcAft>
            </a:pPr>
            <a:r>
              <a:rPr sz="1380" b="0" i="0">
                <a:solidFill>
                  <a:srgbClr val="2C3A4B"/>
                </a:solidFill>
                <a:latin typeface="Segoe UI"/>
                <a:ea typeface="맑은 고딕"/>
                <a:cs typeface="맑은 고딕"/>
              </a:rPr>
              <a:t>–  이유 2: 캐시 미스로 인한 페널티를 줄이기 위해서다</a:t>
            </a:r>
          </a:p>
          <a:p>
            <a:pPr algn="l">
              <a:lnSpc>
                <a:spcPct val="118000"/>
              </a:lnSpc>
              <a:spcBef>
                <a:spcPts val="600"/>
              </a:spcBef>
              <a:spcAft>
                <a:spcPts val="200"/>
              </a:spcAft>
            </a:pPr>
            <a:r>
              <a:rPr sz="1500" b="1" i="0">
                <a:solidFill>
                  <a:srgbClr val="083F80"/>
                </a:solidFill>
                <a:latin typeface="Segoe UI"/>
                <a:ea typeface="맑은 고딕"/>
                <a:cs typeface="맑은 고딕"/>
              </a:rPr>
              <a:t>▪  스크래치패드 공간이 크기 때문에 모든 코드를 스크래치패드 메모리에서 실행할 수 있고, 그 결과 프로그래밍 모델이 단순해진다</a:t>
            </a:r>
          </a:p>
          <a:p>
            <a:pPr algn="l">
              <a:lnSpc>
                <a:spcPct val="118000"/>
              </a:lnSpc>
              <a:spcBef>
                <a:spcPts val="600"/>
              </a:spcBef>
              <a:spcAft>
                <a:spcPts val="200"/>
              </a:spcAft>
            </a:pPr>
            <a:r>
              <a:rPr sz="1500" b="0" i="0">
                <a:solidFill>
                  <a:srgbClr val="16202C"/>
                </a:solidFill>
                <a:latin typeface="Segoe UI"/>
                <a:ea typeface="맑은 고딕"/>
                <a:cs typeface="맑은 고딕"/>
              </a:rPr>
              <a:t>▪  §III-B에 "ARM core의 low-latency peripheral port(LLPP, 저지연 주변장치 포트)"라는 표현이 나온다. 즉 이 CPU core는 ARM 코어다</a:t>
            </a:r>
          </a:p>
          <a:p>
            <a:pPr algn="l">
              <a:lnSpc>
                <a:spcPct val="118000"/>
              </a:lnSpc>
              <a:spcBef>
                <a:spcPts val="600"/>
              </a:spcBef>
              <a:spcAft>
                <a:spcPts val="200"/>
              </a:spcAft>
            </a:pPr>
            <a:r>
              <a:rPr sz="1500" b="0" i="0">
                <a:solidFill>
                  <a:srgbClr val="16202C"/>
                </a:solidFill>
                <a:latin typeface="Segoe UI"/>
                <a:ea typeface="맑은 고딕"/>
                <a:cs typeface="맑은 고딕"/>
              </a:rPr>
              <a:t>▪  논문은 CPU core의 코어 수·클럭·ISA 버전을 밝히지 않는다. 칩 전체 주파수는 Table I에 1 GHz로 나온다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예측 가능한 성능은 TCP 전체의 설계 원칙이다. 정확한 cost model이 있어야 컴파일러가 tactic을 탐색할 수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TDMA — 비동기 전송으로 연산 뒤에 메모리를 숨긴다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전제: 대부분의 신경망, 특히 LLM에서 병목은 메모리 전송이다</a:t>
            </a:r>
          </a:p>
          <a:p>
            <a:pPr algn="l">
              <a:lnSpc>
                <a:spcPct val="118000"/>
              </a:lnSpc>
              <a:spcBef>
                <a:spcPts val="600"/>
              </a:spcBef>
              <a:spcAft>
                <a:spcPts val="200"/>
              </a:spcAft>
            </a:pPr>
            <a:r>
              <a:rPr sz="1500" b="0" i="0">
                <a:solidFill>
                  <a:srgbClr val="16202C"/>
                </a:solidFill>
                <a:latin typeface="Segoe UI"/>
                <a:ea typeface="맑은 고딕"/>
                <a:cs typeface="맑은 고딕"/>
              </a:rPr>
              <a:t>▪  TCP에서 메모리 전송은 TDMA 엔진을 통해 비동기(asynchronously)로 수행되며 TU 연산과 오버랩(overlap)될 수 있다</a:t>
            </a:r>
          </a:p>
          <a:p>
            <a:pPr algn="l">
              <a:lnSpc>
                <a:spcPct val="118000"/>
              </a:lnSpc>
              <a:spcBef>
                <a:spcPts val="600"/>
              </a:spcBef>
              <a:spcAft>
                <a:spcPts val="200"/>
              </a:spcAft>
            </a:pPr>
            <a:r>
              <a:rPr sz="1500" b="0" i="0">
                <a:solidFill>
                  <a:srgbClr val="16202C"/>
                </a:solidFill>
                <a:latin typeface="Segoe UI"/>
                <a:ea typeface="맑은 고딕"/>
                <a:cs typeface="맑은 고딕"/>
              </a:rPr>
              <a:t>▪  컴파일러가 TU 연산과 데이터 전송을 스케줄링해 메모리 접근과 연산의 오버랩을 최대화한다</a:t>
            </a:r>
          </a:p>
          <a:p>
            <a:pPr algn="l">
              <a:lnSpc>
                <a:spcPct val="118000"/>
              </a:lnSpc>
              <a:spcBef>
                <a:spcPts val="600"/>
              </a:spcBef>
              <a:spcAft>
                <a:spcPts val="200"/>
              </a:spcAft>
            </a:pPr>
            <a:r>
              <a:rPr sz="1500" b="1" i="0">
                <a:solidFill>
                  <a:srgbClr val="083F80"/>
                </a:solidFill>
                <a:latin typeface="Segoe UI"/>
                <a:ea typeface="맑은 고딕"/>
                <a:cs typeface="맑은 고딕"/>
              </a:rPr>
              <a:t>▪  컴파일 결과를 실제로 실현하는 실행 순서</a:t>
            </a:r>
          </a:p>
          <a:p>
            <a:pPr algn="l">
              <a:lnSpc>
                <a:spcPct val="118000"/>
              </a:lnSpc>
              <a:spcBef>
                <a:spcPts val="200"/>
              </a:spcBef>
              <a:spcAft>
                <a:spcPts val="100"/>
              </a:spcAft>
            </a:pPr>
            <a:r>
              <a:rPr sz="1380" b="0" i="0">
                <a:solidFill>
                  <a:srgbClr val="2C3A4B"/>
                </a:solidFill>
                <a:latin typeface="Segoe UI"/>
                <a:ea typeface="맑은 고딕"/>
                <a:cs typeface="맑은 고딕"/>
              </a:rPr>
              <a:t>–  이전 텐서 연산이 TU에서 진행 중인 동안, CPU core가 다음 명령(DMA 또는 새 TU 연산)을 command queue에 전송한다</a:t>
            </a:r>
          </a:p>
          <a:p>
            <a:pPr algn="l">
              <a:lnSpc>
                <a:spcPct val="118000"/>
              </a:lnSpc>
              <a:spcBef>
                <a:spcPts val="200"/>
              </a:spcBef>
              <a:spcAft>
                <a:spcPts val="100"/>
              </a:spcAft>
            </a:pPr>
            <a:r>
              <a:rPr sz="1380" b="0" i="0">
                <a:solidFill>
                  <a:srgbClr val="2C3A4B"/>
                </a:solidFill>
                <a:latin typeface="Segoe UI"/>
                <a:ea typeface="맑은 고딕"/>
                <a:cs typeface="맑은 고딕"/>
              </a:rPr>
              <a:t>–  그 뒤 CPU core는 다른 작업을 병렬로 계속 수행한다</a:t>
            </a:r>
          </a:p>
          <a:p>
            <a:pPr algn="l">
              <a:lnSpc>
                <a:spcPct val="118000"/>
              </a:lnSpc>
              <a:spcBef>
                <a:spcPts val="200"/>
              </a:spcBef>
              <a:spcAft>
                <a:spcPts val="100"/>
              </a:spcAft>
            </a:pPr>
            <a:r>
              <a:rPr sz="1380" b="0" i="0">
                <a:solidFill>
                  <a:srgbClr val="2C3A4B"/>
                </a:solidFill>
                <a:latin typeface="Segoe UI"/>
                <a:ea typeface="맑은 고딕"/>
                <a:cs typeface="맑은 고딕"/>
              </a:rPr>
              <a:t>–  TU는 큐에서 새 명령을 꺼내고, 필요한 자원(메모리든 연산 유닛이든)이 사용 가능해지면 실행을 시작한다</a:t>
            </a:r>
          </a:p>
          <a:p>
            <a:pPr algn="l">
              <a:lnSpc>
                <a:spcPct val="118000"/>
              </a:lnSpc>
              <a:spcBef>
                <a:spcPts val="600"/>
              </a:spcBef>
              <a:spcAft>
                <a:spcPts val="200"/>
              </a:spcAft>
            </a:pPr>
            <a:r>
              <a:rPr sz="1500" b="1" i="0">
                <a:solidFill>
                  <a:srgbClr val="083F80"/>
                </a:solidFill>
                <a:latin typeface="Segoe UI"/>
                <a:ea typeface="맑은 고딕"/>
                <a:cs typeface="맑은 고딕"/>
              </a:rPr>
              <a:t>▪  TDMA의 인덱싱 능력</a:t>
            </a:r>
          </a:p>
          <a:p>
            <a:pPr algn="l">
              <a:lnSpc>
                <a:spcPct val="118000"/>
              </a:lnSpc>
              <a:spcBef>
                <a:spcPts val="200"/>
              </a:spcBef>
              <a:spcAft>
                <a:spcPts val="100"/>
              </a:spcAft>
            </a:pPr>
            <a:r>
              <a:rPr sz="1380" b="0" i="0">
                <a:solidFill>
                  <a:srgbClr val="2C3A4B"/>
                </a:solidFill>
                <a:latin typeface="Segoe UI"/>
                <a:ea typeface="맑은 고딕"/>
                <a:cs typeface="맑은 고딕"/>
              </a:rPr>
              <a:t>–  텐서를 임의의 차원 순서(any dimension order)로 인덱싱하고 전송할 수 있다</a:t>
            </a:r>
          </a:p>
          <a:p>
            <a:pPr algn="l">
              <a:lnSpc>
                <a:spcPct val="118000"/>
              </a:lnSpc>
              <a:spcBef>
                <a:spcPts val="200"/>
              </a:spcBef>
              <a:spcAft>
                <a:spcPts val="100"/>
              </a:spcAft>
            </a:pPr>
            <a:r>
              <a:rPr sz="1380" b="0" i="0">
                <a:solidFill>
                  <a:srgbClr val="2C3A4B"/>
                </a:solidFill>
                <a:latin typeface="Segoe UI"/>
                <a:ea typeface="맑은 고딕"/>
                <a:cs typeface="맑은 고딕"/>
              </a:rPr>
              <a:t>–  덕분에 HBM에 저장된 데이터를 컴파일러가 여러 슬라이스로 최적 lowering 할 수 있다</a:t>
            </a:r>
          </a:p>
          <a:p>
            <a:pPr algn="l">
              <a:lnSpc>
                <a:spcPct val="118000"/>
              </a:lnSpc>
              <a:spcBef>
                <a:spcPts val="200"/>
              </a:spcBef>
              <a:spcAft>
                <a:spcPts val="100"/>
              </a:spcAft>
            </a:pPr>
            <a:r>
              <a:rPr sz="1380" b="0" i="0">
                <a:solidFill>
                  <a:srgbClr val="2C3A4B"/>
                </a:solidFill>
                <a:latin typeface="Segoe UI"/>
                <a:ea typeface="맑은 고딕"/>
                <a:cs typeface="맑은 고딕"/>
              </a:rPr>
              <a:t>–  reshape, transpose 같은 텐서 조작을 지원한다</a:t>
            </a:r>
          </a:p>
          <a:p>
            <a:pPr algn="l">
              <a:lnSpc>
                <a:spcPct val="118000"/>
              </a:lnSpc>
              <a:spcBef>
                <a:spcPts val="200"/>
              </a:spcBef>
              <a:spcAft>
                <a:spcPts val="100"/>
              </a:spcAft>
            </a:pPr>
            <a:r>
              <a:rPr sz="1380" b="0" i="0">
                <a:solidFill>
                  <a:srgbClr val="2C3A4B"/>
                </a:solidFill>
                <a:latin typeface="Segoe UI"/>
                <a:ea typeface="맑은 고딕"/>
                <a:cs typeface="맑은 고딕"/>
              </a:rPr>
              <a:t>–  scatter-gather(흩뿌리기·모으기)도 지원한다. embedding lookup(임베딩 조회) 같은 메모리 접근 패턴에서 실효 메모리 대역폭을 높이는 데 유용하다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TDMA가 임의 차원 순서로 전송할 수 있다는 점이 lowered shape 자유도의 하드웨어적 근거다.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Tensor Unit 설계 철학 — 쪼갠다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통상적 설계와의 좌우 대조</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98</a:t>
            </a:r>
          </a:p>
        </p:txBody>
      </p:sp>
      <p:grpSp>
        <p:nvGrpSpPr>
          <p:cNvPr id="9" name="도해 A4#06"/>
          <p:cNvGrpSpPr/>
          <p:nvPr/>
        </p:nvGrpSpPr>
        <p:grpSpPr>
          <a:xfrm>
            <a:off x="1068196" y="1463040"/>
            <a:ext cx="10055304" cy="4078224"/>
            <a:chOff x="1068196" y="1463040"/>
            <a:chExt cx="10055304" cy="4078224"/>
          </a:xfrm>
        </p:grpSpPr>
        <p:sp>
          <p:nvSpPr>
            <p:cNvPr id="10" name="Rounded Rectangle 9"/>
            <p:cNvSpPr/>
            <p:nvPr/>
          </p:nvSpPr>
          <p:spPr>
            <a:xfrm>
              <a:off x="1068196" y="1463040"/>
              <a:ext cx="4811873" cy="2805128"/>
            </a:xfrm>
            <a:prstGeom prst="roundRect">
              <a:avLst>
                <a:gd name="adj" fmla="val 3846"/>
              </a:avLst>
            </a:prstGeom>
            <a:solidFill>
              <a:srgbClr val="FDF7F0"/>
            </a:solidFill>
            <a:ln w="2157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14986" y="1568340"/>
              <a:ext cx="1718292" cy="218714"/>
            </a:xfrm>
            <a:prstGeom prst="rect">
              <a:avLst/>
            </a:prstGeom>
            <a:noFill/>
          </p:spPr>
          <p:txBody>
            <a:bodyPr wrap="none" anchor="ctr" lIns="0" rIns="0" tIns="0" bIns="0">
              <a:noAutofit/>
            </a:bodyPr>
            <a:lstStyle/>
            <a:p>
              <a:pPr algn="ctr"/>
              <a:r>
                <a:rPr sz="1190" b="1">
                  <a:solidFill>
                    <a:srgbClr val="B45409"/>
                  </a:solidFill>
                  <a:latin typeface="맑은 고딕"/>
                  <a:ea typeface="맑은 고딕"/>
                  <a:cs typeface="맑은 고딕"/>
                </a:rPr>
                <a:t>통상적 설계 — 크게 하나로</a:t>
              </a:r>
            </a:p>
          </p:txBody>
        </p:sp>
        <p:sp>
          <p:nvSpPr>
            <p:cNvPr id="12" name="TextBox 11"/>
            <p:cNvSpPr txBox="1"/>
            <p:nvPr/>
          </p:nvSpPr>
          <p:spPr>
            <a:xfrm>
              <a:off x="2912866" y="1827922"/>
              <a:ext cx="1122531" cy="16403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§I 이 지적한 한쪽 극단</a:t>
              </a:r>
            </a:p>
          </p:txBody>
        </p:sp>
        <p:sp>
          <p:nvSpPr>
            <p:cNvPr id="13" name="Rounded Rectangle 12"/>
            <p:cNvSpPr/>
            <p:nvPr/>
          </p:nvSpPr>
          <p:spPr>
            <a:xfrm>
              <a:off x="1413442" y="2153533"/>
              <a:ext cx="4121380" cy="582603"/>
            </a:xfrm>
            <a:prstGeom prst="roundRect">
              <a:avLst>
                <a:gd name="adj" fmla="val 11111"/>
              </a:avLst>
            </a:prstGeom>
            <a:solidFill>
              <a:srgbClr val="EEF2F7"/>
            </a:solidFill>
            <a:ln w="1726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3178" y="2249770"/>
              <a:ext cx="1021908" cy="203091"/>
            </a:xfrm>
            <a:prstGeom prst="rect">
              <a:avLst/>
            </a:prstGeom>
            <a:noFill/>
          </p:spPr>
          <p:txBody>
            <a:bodyPr wrap="none" anchor="ctr" lIns="0" rIns="0" tIns="0" bIns="0">
              <a:noAutofit/>
            </a:bodyPr>
            <a:lstStyle/>
            <a:p>
              <a:pPr algn="ctr"/>
              <a:r>
                <a:rPr sz="1100" b="1">
                  <a:solidFill>
                    <a:srgbClr val="16202C"/>
                  </a:solidFill>
                  <a:latin typeface="맑은 고딕"/>
                  <a:ea typeface="맑은 고딕"/>
                  <a:cs typeface="맑은 고딕"/>
                </a:rPr>
                <a:t>단일 대형 SRAM</a:t>
              </a:r>
            </a:p>
          </p:txBody>
        </p:sp>
        <p:sp>
          <p:nvSpPr>
            <p:cNvPr id="15" name="TextBox 14"/>
            <p:cNvSpPr txBox="1"/>
            <p:nvPr/>
          </p:nvSpPr>
          <p:spPr>
            <a:xfrm>
              <a:off x="2959715" y="2492306"/>
              <a:ext cx="1028834" cy="156224"/>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쪼갤 수 없는 한 덩어리</a:t>
              </a:r>
            </a:p>
          </p:txBody>
        </p:sp>
        <p:cxnSp>
          <p:nvCxnSpPr>
            <p:cNvPr id="16" name="Connector 15"/>
            <p:cNvCxnSpPr/>
            <p:nvPr/>
          </p:nvCxnSpPr>
          <p:spPr>
            <a:xfrm>
              <a:off x="3474132" y="2757714"/>
              <a:ext cx="0" cy="172624"/>
            </a:xfrm>
            <a:prstGeom prst="line">
              <a:avLst/>
            </a:prstGeom>
            <a:ln w="21577">
              <a:solidFill>
                <a:srgbClr val="5B6B7B"/>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3409398" y="2887182"/>
              <a:ext cx="129468" cy="151045"/>
            </a:xfrm>
            <a:custGeom>
              <a:avLst/>
              <a:gdLst/>
              <a:ahLst/>
              <a:cxnLst/>
              <a:rect l="l" t="t" r="r" b="b"/>
              <a:pathLst>
                <a:path w="129468" h="151045">
                  <a:moveTo>
                    <a:pt x="0" y="0"/>
                  </a:moveTo>
                  <a:lnTo>
                    <a:pt x="64734" y="151045"/>
                  </a:lnTo>
                  <a:lnTo>
                    <a:pt x="129468"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3442" y="3081383"/>
              <a:ext cx="4121380" cy="971006"/>
            </a:xfrm>
            <a:prstGeom prst="roundRect">
              <a:avLst>
                <a:gd name="adj" fmla="val 6666"/>
              </a:avLst>
            </a:prstGeom>
            <a:solidFill>
              <a:srgbClr val="FDEBD3"/>
            </a:solidFill>
            <a:ln w="1942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20467" y="3177620"/>
              <a:ext cx="1307330" cy="203091"/>
            </a:xfrm>
            <a:prstGeom prst="rect">
              <a:avLst/>
            </a:prstGeom>
            <a:noFill/>
          </p:spPr>
          <p:txBody>
            <a:bodyPr wrap="none" anchor="ctr" lIns="0" rIns="0" tIns="0" bIns="0">
              <a:noAutofit/>
            </a:bodyPr>
            <a:lstStyle/>
            <a:p>
              <a:pPr algn="ctr"/>
              <a:r>
                <a:rPr sz="1100" b="1">
                  <a:solidFill>
                    <a:srgbClr val="B45409"/>
                  </a:solidFill>
                  <a:latin typeface="맑은 고딕"/>
                  <a:ea typeface="맑은 고딕"/>
                  <a:cs typeface="맑은 고딕"/>
                </a:rPr>
                <a:t>거대한 행렬 곱셈 유닛</a:t>
              </a:r>
            </a:p>
          </p:txBody>
        </p:sp>
        <p:sp>
          <p:nvSpPr>
            <p:cNvPr id="20" name="Rounded Rectangle 19"/>
            <p:cNvSpPr/>
            <p:nvPr/>
          </p:nvSpPr>
          <p:spPr>
            <a:xfrm>
              <a:off x="1834211"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14724"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395237"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675750"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56262"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236775"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7288"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797801"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078313"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358826"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639339"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919852" y="3512941"/>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834211"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114724"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395237"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675750"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56262"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236775"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517288"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797801"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078313"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358826"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39339"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919852" y="3750298"/>
              <a:ext cx="194201" cy="172623"/>
            </a:xfrm>
            <a:prstGeom prst="roundRect">
              <a:avLst>
                <a:gd name="adj" fmla="val 125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9219" y="4050447"/>
              <a:ext cx="1809825" cy="164035"/>
            </a:xfrm>
            <a:prstGeom prst="rect">
              <a:avLst/>
            </a:prstGeom>
            <a:noFill/>
          </p:spPr>
          <p:txBody>
            <a:bodyPr wrap="none" anchor="ctr" lIns="0" rIns="0" tIns="0" bIns="0">
              <a:noAutofit/>
            </a:bodyPr>
            <a:lstStyle/>
            <a:p>
              <a:pPr algn="ctr"/>
              <a:r>
                <a:rPr sz="890" b="0">
                  <a:solidFill>
                    <a:srgbClr val="B45409"/>
                  </a:solidFill>
                  <a:latin typeface="맑은 고딕"/>
                  <a:ea typeface="맑은 고딕"/>
                  <a:cs typeface="맑은 고딕"/>
                </a:rPr>
                <a:t>텐서 형상이 다양해지면 맞추기 어렵다</a:t>
              </a:r>
            </a:p>
          </p:txBody>
        </p:sp>
        <p:cxnSp>
          <p:nvCxnSpPr>
            <p:cNvPr id="45" name="Connector 44"/>
            <p:cNvCxnSpPr/>
            <p:nvPr/>
          </p:nvCxnSpPr>
          <p:spPr>
            <a:xfrm>
              <a:off x="5923224" y="2865604"/>
              <a:ext cx="151046" cy="0"/>
            </a:xfrm>
            <a:prstGeom prst="line">
              <a:avLst/>
            </a:prstGeom>
            <a:ln w="25893">
              <a:solidFill>
                <a:srgbClr val="16202C"/>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6052692" y="2790081"/>
              <a:ext cx="194201" cy="151045"/>
            </a:xfrm>
            <a:custGeom>
              <a:avLst/>
              <a:gdLst/>
              <a:ahLst/>
              <a:cxnLst/>
              <a:rect l="l" t="t" r="r" b="b"/>
              <a:pathLst>
                <a:path w="194201" h="151045">
                  <a:moveTo>
                    <a:pt x="0" y="0"/>
                  </a:moveTo>
                  <a:lnTo>
                    <a:pt x="194201" y="75523"/>
                  </a:lnTo>
                  <a:lnTo>
                    <a:pt x="0" y="1510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290049" y="1463040"/>
              <a:ext cx="4833451" cy="2805128"/>
            </a:xfrm>
            <a:prstGeom prst="roundRect">
              <a:avLst>
                <a:gd name="adj" fmla="val 3846"/>
              </a:avLst>
            </a:prstGeom>
            <a:solidFill>
              <a:srgbClr val="F4F8FD"/>
            </a:solidFill>
            <a:ln w="2157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19995" y="1568340"/>
              <a:ext cx="1973558" cy="218714"/>
            </a:xfrm>
            <a:prstGeom prst="rect">
              <a:avLst/>
            </a:prstGeom>
            <a:noFill/>
          </p:spPr>
          <p:txBody>
            <a:bodyPr wrap="none" anchor="ctr" lIns="0" rIns="0" tIns="0" bIns="0">
              <a:noAutofit/>
            </a:bodyPr>
            <a:lstStyle/>
            <a:p>
              <a:pPr algn="ctr"/>
              <a:r>
                <a:rPr sz="1190" b="1">
                  <a:solidFill>
                    <a:srgbClr val="083F80"/>
                  </a:solidFill>
                  <a:latin typeface="맑은 고딕"/>
                  <a:ea typeface="맑은 고딕"/>
                  <a:cs typeface="맑은 고딕"/>
                </a:rPr>
                <a:t>TCP — 파이프라인째로 쪼갠다</a:t>
              </a:r>
            </a:p>
          </p:txBody>
        </p:sp>
        <p:sp>
          <p:nvSpPr>
            <p:cNvPr id="49" name="TextBox 48"/>
            <p:cNvSpPr txBox="1"/>
            <p:nvPr/>
          </p:nvSpPr>
          <p:spPr>
            <a:xfrm>
              <a:off x="7120288" y="1817133"/>
              <a:ext cx="3172972" cy="16403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SRAM 과 operation unit 을 포함한 연산 파이프라인 전체를 나눈다</a:t>
              </a:r>
            </a:p>
          </p:txBody>
        </p:sp>
        <p:sp>
          <p:nvSpPr>
            <p:cNvPr id="50" name="TextBox 49"/>
            <p:cNvSpPr txBox="1"/>
            <p:nvPr/>
          </p:nvSpPr>
          <p:spPr>
            <a:xfrm>
              <a:off x="10155382" y="1971631"/>
              <a:ext cx="361047" cy="132790"/>
            </a:xfrm>
            <a:prstGeom prst="rect">
              <a:avLst/>
            </a:prstGeom>
            <a:noFill/>
          </p:spPr>
          <p:txBody>
            <a:bodyPr wrap="none" anchor="ctr" lIns="0" rIns="0" tIns="0" bIns="0">
              <a:noAutofit/>
            </a:bodyPr>
            <a:lstStyle/>
            <a:p>
              <a:pPr algn="ctr"/>
              <a:r>
                <a:rPr sz="720" b="1">
                  <a:solidFill>
                    <a:srgbClr val="B45409"/>
                  </a:solidFill>
                  <a:latin typeface="맑은 고딕"/>
                  <a:ea typeface="맑은 고딕"/>
                  <a:cs typeface="맑은 고딕"/>
                </a:rPr>
                <a:t>예비 1개</a:t>
              </a:r>
            </a:p>
          </p:txBody>
        </p:sp>
        <p:sp>
          <p:nvSpPr>
            <p:cNvPr id="51" name="Rounded Rectangle 50"/>
            <p:cNvSpPr/>
            <p:nvPr/>
          </p:nvSpPr>
          <p:spPr>
            <a:xfrm>
              <a:off x="6635295" y="2865604"/>
              <a:ext cx="4164536" cy="237357"/>
            </a:xfrm>
            <a:prstGeom prst="roundRect">
              <a:avLst>
                <a:gd name="adj" fmla="val 22727"/>
              </a:avLst>
            </a:prstGeom>
            <a:solidFill>
              <a:srgbClr val="FFF7E6"/>
            </a:solidFill>
            <a:ln w="1726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2518" y="2902286"/>
              <a:ext cx="2490090" cy="156224"/>
            </a:xfrm>
            <a:prstGeom prst="rect">
              <a:avLst/>
            </a:prstGeom>
            <a:noFill/>
          </p:spPr>
          <p:txBody>
            <a:bodyPr wrap="none" anchor="ctr" lIns="0" rIns="0" tIns="0" bIns="0">
              <a:noAutofit/>
            </a:bodyPr>
            <a:lstStyle/>
            <a:p>
              <a:pPr algn="ctr"/>
              <a:r>
                <a:rPr sz="850" b="1">
                  <a:solidFill>
                    <a:srgbClr val="B45409"/>
                  </a:solidFill>
                  <a:latin typeface="맑은 고딕"/>
                  <a:ea typeface="맑은 고딕"/>
                  <a:cs typeface="맑은 고딕"/>
                </a:rPr>
                <a:t>fetch network — 여러 슬라이스로 텐서를 멀티캐스트</a:t>
              </a:r>
            </a:p>
          </p:txBody>
        </p:sp>
        <p:sp>
          <p:nvSpPr>
            <p:cNvPr id="53" name="Rounded Rectangle 52"/>
            <p:cNvSpPr/>
            <p:nvPr/>
          </p:nvSpPr>
          <p:spPr>
            <a:xfrm>
              <a:off x="6764763" y="2131955"/>
              <a:ext cx="625759" cy="323669"/>
            </a:xfrm>
            <a:prstGeom prst="roundRect">
              <a:avLst>
                <a:gd name="adj" fmla="val 13333"/>
              </a:avLst>
            </a:prstGeom>
            <a:solidFill>
              <a:srgbClr val="CBE0F7"/>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476833" y="2131955"/>
              <a:ext cx="625759" cy="323669"/>
            </a:xfrm>
            <a:prstGeom prst="roundRect">
              <a:avLst>
                <a:gd name="adj" fmla="val 13333"/>
              </a:avLst>
            </a:prstGeom>
            <a:solidFill>
              <a:srgbClr val="CBE0F7"/>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188904" y="2131955"/>
              <a:ext cx="625759" cy="323669"/>
            </a:xfrm>
            <a:prstGeom prst="roundRect">
              <a:avLst>
                <a:gd name="adj" fmla="val 13333"/>
              </a:avLst>
            </a:prstGeom>
            <a:solidFill>
              <a:srgbClr val="CBE0F7"/>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900975" y="2131955"/>
              <a:ext cx="625759" cy="323669"/>
            </a:xfrm>
            <a:prstGeom prst="roundRect">
              <a:avLst>
                <a:gd name="adj" fmla="val 13333"/>
              </a:avLst>
            </a:prstGeom>
            <a:solidFill>
              <a:srgbClr val="CBE0F7"/>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764763" y="2520357"/>
              <a:ext cx="625759" cy="280513"/>
            </a:xfrm>
            <a:prstGeom prst="roundRect">
              <a:avLst>
                <a:gd name="adj" fmla="val 15384"/>
              </a:avLst>
            </a:prstGeom>
            <a:solidFill>
              <a:srgbClr val="DCEBF9"/>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7476833" y="2520357"/>
              <a:ext cx="625759" cy="280513"/>
            </a:xfrm>
            <a:prstGeom prst="roundRect">
              <a:avLst>
                <a:gd name="adj" fmla="val 15384"/>
              </a:avLst>
            </a:prstGeom>
            <a:solidFill>
              <a:srgbClr val="DCEBF9"/>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188904" y="2520357"/>
              <a:ext cx="625759" cy="280513"/>
            </a:xfrm>
            <a:prstGeom prst="roundRect">
              <a:avLst>
                <a:gd name="adj" fmla="val 15384"/>
              </a:avLst>
            </a:prstGeom>
            <a:solidFill>
              <a:srgbClr val="DCEBF9"/>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900975" y="2520357"/>
              <a:ext cx="625759" cy="280513"/>
            </a:xfrm>
            <a:prstGeom prst="roundRect">
              <a:avLst>
                <a:gd name="adj" fmla="val 15384"/>
              </a:avLst>
            </a:prstGeom>
            <a:solidFill>
              <a:srgbClr val="DCEBF9"/>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764763" y="3167694"/>
              <a:ext cx="625759" cy="453136"/>
            </a:xfrm>
            <a:prstGeom prst="roundRect">
              <a:avLst>
                <a:gd name="adj" fmla="val 9523"/>
              </a:avLst>
            </a:prstGeom>
            <a:solidFill>
              <a:srgbClr val="B8D4F3"/>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476833" y="3167694"/>
              <a:ext cx="625759" cy="453136"/>
            </a:xfrm>
            <a:prstGeom prst="roundRect">
              <a:avLst>
                <a:gd name="adj" fmla="val 9523"/>
              </a:avLst>
            </a:prstGeom>
            <a:solidFill>
              <a:srgbClr val="B8D4F3"/>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188904" y="3167694"/>
              <a:ext cx="625759" cy="453136"/>
            </a:xfrm>
            <a:prstGeom prst="roundRect">
              <a:avLst>
                <a:gd name="adj" fmla="val 9523"/>
              </a:avLst>
            </a:prstGeom>
            <a:solidFill>
              <a:srgbClr val="B8D4F3"/>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00975" y="3167694"/>
              <a:ext cx="625759" cy="453136"/>
            </a:xfrm>
            <a:prstGeom prst="roundRect">
              <a:avLst>
                <a:gd name="adj" fmla="val 9523"/>
              </a:avLst>
            </a:prstGeom>
            <a:solidFill>
              <a:srgbClr val="B8D4F3"/>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764763" y="3685564"/>
              <a:ext cx="625759" cy="258935"/>
            </a:xfrm>
            <a:prstGeom prst="roundRect">
              <a:avLst>
                <a:gd name="adj" fmla="val 16666"/>
              </a:avLst>
            </a:prstGeom>
            <a:solidFill>
              <a:srgbClr val="E3EEFB"/>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476833" y="3685564"/>
              <a:ext cx="625759" cy="258935"/>
            </a:xfrm>
            <a:prstGeom prst="roundRect">
              <a:avLst>
                <a:gd name="adj" fmla="val 16666"/>
              </a:avLst>
            </a:prstGeom>
            <a:solidFill>
              <a:srgbClr val="E3EEFB"/>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188904" y="3685564"/>
              <a:ext cx="625759" cy="258935"/>
            </a:xfrm>
            <a:prstGeom prst="roundRect">
              <a:avLst>
                <a:gd name="adj" fmla="val 16666"/>
              </a:avLst>
            </a:prstGeom>
            <a:solidFill>
              <a:srgbClr val="E3EEFB"/>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900975" y="3685564"/>
              <a:ext cx="625759" cy="258935"/>
            </a:xfrm>
            <a:prstGeom prst="roundRect">
              <a:avLst>
                <a:gd name="adj" fmla="val 16666"/>
              </a:avLst>
            </a:prstGeom>
            <a:solidFill>
              <a:srgbClr val="E3EEFB"/>
            </a:solidFill>
            <a:ln w="1402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0023026" y="2131955"/>
              <a:ext cx="625759" cy="323669"/>
            </a:xfrm>
            <a:prstGeom prst="roundRect">
              <a:avLst>
                <a:gd name="adj" fmla="val 13333"/>
              </a:avLst>
            </a:prstGeom>
            <a:solidFill>
              <a:srgbClr val="FDEBD3"/>
            </a:solidFill>
            <a:ln w="151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023026" y="2520357"/>
              <a:ext cx="625759" cy="280513"/>
            </a:xfrm>
            <a:prstGeom prst="roundRect">
              <a:avLst>
                <a:gd name="adj" fmla="val 15384"/>
              </a:avLst>
            </a:prstGeom>
            <a:solidFill>
              <a:srgbClr val="FDEBD3"/>
            </a:solidFill>
            <a:ln w="151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0023026" y="3167694"/>
              <a:ext cx="625759" cy="453136"/>
            </a:xfrm>
            <a:prstGeom prst="roundRect">
              <a:avLst>
                <a:gd name="adj" fmla="val 9523"/>
              </a:avLst>
            </a:prstGeom>
            <a:solidFill>
              <a:srgbClr val="FDEBD3"/>
            </a:solidFill>
            <a:ln w="151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023026" y="3685564"/>
              <a:ext cx="625759" cy="258935"/>
            </a:xfrm>
            <a:prstGeom prst="roundRect">
              <a:avLst>
                <a:gd name="adj" fmla="val 16666"/>
              </a:avLst>
            </a:prstGeom>
            <a:solidFill>
              <a:srgbClr val="FDEBD3"/>
            </a:solidFill>
            <a:ln w="1510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16110" y="2218051"/>
              <a:ext cx="323064" cy="148413"/>
            </a:xfrm>
            <a:prstGeom prst="rect">
              <a:avLst/>
            </a:prstGeom>
            <a:noFill/>
          </p:spPr>
          <p:txBody>
            <a:bodyPr wrap="none" anchor="ctr" lIns="0" rIns="0" tIns="0" bIns="0">
              <a:noAutofit/>
            </a:bodyPr>
            <a:lstStyle/>
            <a:p>
              <a:pPr algn="ctr"/>
              <a:r>
                <a:rPr sz="810" b="1">
                  <a:solidFill>
                    <a:srgbClr val="083F80"/>
                  </a:solidFill>
                  <a:latin typeface="맑은 고딕"/>
                  <a:ea typeface="맑은 고딕"/>
                  <a:cs typeface="맑은 고딕"/>
                </a:rPr>
                <a:t>SRAM</a:t>
              </a:r>
            </a:p>
          </p:txBody>
        </p:sp>
        <p:sp>
          <p:nvSpPr>
            <p:cNvPr id="74" name="TextBox 73"/>
            <p:cNvSpPr txBox="1"/>
            <p:nvPr/>
          </p:nvSpPr>
          <p:spPr>
            <a:xfrm>
              <a:off x="6990880" y="2584875"/>
              <a:ext cx="173524" cy="148413"/>
            </a:xfrm>
            <a:prstGeom prst="rect">
              <a:avLst/>
            </a:prstGeom>
            <a:noFill/>
          </p:spPr>
          <p:txBody>
            <a:bodyPr wrap="none" anchor="ctr" lIns="0" rIns="0" tIns="0" bIns="0">
              <a:noAutofit/>
            </a:bodyPr>
            <a:lstStyle/>
            <a:p>
              <a:pPr algn="ctr"/>
              <a:r>
                <a:rPr sz="810" b="1">
                  <a:solidFill>
                    <a:srgbClr val="083F80"/>
                  </a:solidFill>
                  <a:latin typeface="맑은 고딕"/>
                  <a:ea typeface="맑은 고딕"/>
                  <a:cs typeface="맑은 고딕"/>
                </a:rPr>
                <a:t>FU</a:t>
              </a:r>
            </a:p>
          </p:txBody>
        </p:sp>
        <p:sp>
          <p:nvSpPr>
            <p:cNvPr id="75" name="TextBox 74"/>
            <p:cNvSpPr txBox="1"/>
            <p:nvPr/>
          </p:nvSpPr>
          <p:spPr>
            <a:xfrm>
              <a:off x="6981399" y="3243001"/>
              <a:ext cx="192486" cy="148413"/>
            </a:xfrm>
            <a:prstGeom prst="rect">
              <a:avLst/>
            </a:prstGeom>
            <a:noFill/>
          </p:spPr>
          <p:txBody>
            <a:bodyPr wrap="none" anchor="ctr" lIns="0" rIns="0" tIns="0" bIns="0">
              <a:noAutofit/>
            </a:bodyPr>
            <a:lstStyle/>
            <a:p>
              <a:pPr algn="ctr"/>
              <a:r>
                <a:rPr sz="810" b="1">
                  <a:solidFill>
                    <a:srgbClr val="083F80"/>
                  </a:solidFill>
                  <a:latin typeface="맑은 고딕"/>
                  <a:ea typeface="맑은 고딕"/>
                  <a:cs typeface="맑은 고딕"/>
                </a:rPr>
                <a:t>OU</a:t>
              </a:r>
            </a:p>
          </p:txBody>
        </p:sp>
        <p:sp>
          <p:nvSpPr>
            <p:cNvPr id="76" name="TextBox 75"/>
            <p:cNvSpPr txBox="1"/>
            <p:nvPr/>
          </p:nvSpPr>
          <p:spPr>
            <a:xfrm>
              <a:off x="6863546" y="3423608"/>
              <a:ext cx="428192" cy="124979"/>
            </a:xfrm>
            <a:prstGeom prst="rect">
              <a:avLst/>
            </a:prstGeom>
            <a:noFill/>
          </p:spPr>
          <p:txBody>
            <a:bodyPr wrap="none" anchor="ctr" lIns="0" rIns="0" tIns="0" bIns="0">
              <a:noAutofit/>
            </a:bodyPr>
            <a:lstStyle/>
            <a:p>
              <a:pPr algn="ctr"/>
              <a:r>
                <a:rPr sz="680" b="0">
                  <a:solidFill>
                    <a:srgbClr val="16202C"/>
                  </a:solidFill>
                  <a:latin typeface="맑은 고딕"/>
                  <a:ea typeface="맑은 고딕"/>
                  <a:cs typeface="맑은 고딕"/>
                </a:rPr>
                <a:t>CE·VE·TE</a:t>
              </a:r>
            </a:p>
          </p:txBody>
        </p:sp>
        <p:sp>
          <p:nvSpPr>
            <p:cNvPr id="77" name="TextBox 76"/>
            <p:cNvSpPr txBox="1"/>
            <p:nvPr/>
          </p:nvSpPr>
          <p:spPr>
            <a:xfrm>
              <a:off x="6988215" y="3739293"/>
              <a:ext cx="178854" cy="148413"/>
            </a:xfrm>
            <a:prstGeom prst="rect">
              <a:avLst/>
            </a:prstGeom>
            <a:noFill/>
          </p:spPr>
          <p:txBody>
            <a:bodyPr wrap="none" anchor="ctr" lIns="0" rIns="0" tIns="0" bIns="0">
              <a:noAutofit/>
            </a:bodyPr>
            <a:lstStyle/>
            <a:p>
              <a:pPr algn="ctr"/>
              <a:r>
                <a:rPr sz="810" b="1">
                  <a:solidFill>
                    <a:srgbClr val="083F80"/>
                  </a:solidFill>
                  <a:latin typeface="맑은 고딕"/>
                  <a:ea typeface="맑은 고딕"/>
                  <a:cs typeface="맑은 고딕"/>
                </a:rPr>
                <a:t>CU</a:t>
              </a:r>
            </a:p>
          </p:txBody>
        </p:sp>
        <p:sp>
          <p:nvSpPr>
            <p:cNvPr id="78" name="TextBox 77"/>
            <p:cNvSpPr txBox="1"/>
            <p:nvPr/>
          </p:nvSpPr>
          <p:spPr>
            <a:xfrm>
              <a:off x="9512061" y="2453466"/>
              <a:ext cx="460904" cy="312448"/>
            </a:xfrm>
            <a:prstGeom prst="rect">
              <a:avLst/>
            </a:prstGeom>
            <a:noFill/>
          </p:spPr>
          <p:txBody>
            <a:bodyPr wrap="none" anchor="ctr" lIns="0" rIns="0" tIns="0" bIns="0">
              <a:noAutofit/>
            </a:bodyPr>
            <a:lstStyle/>
            <a:p>
              <a:pPr algn="ctr"/>
              <a:r>
                <a:rPr sz="1700" b="1">
                  <a:solidFill>
                    <a:srgbClr val="5B6B7B"/>
                  </a:solidFill>
                  <a:latin typeface="맑은 고딕"/>
                  <a:ea typeface="맑은 고딕"/>
                  <a:cs typeface="맑은 고딕"/>
                </a:rPr>
                <a:t>···</a:t>
              </a:r>
            </a:p>
          </p:txBody>
        </p:sp>
        <p:cxnSp>
          <p:nvCxnSpPr>
            <p:cNvPr id="79" name="Connector 78"/>
            <p:cNvCxnSpPr/>
            <p:nvPr/>
          </p:nvCxnSpPr>
          <p:spPr>
            <a:xfrm>
              <a:off x="6484250" y="2175111"/>
              <a:ext cx="0" cy="1575187"/>
            </a:xfrm>
            <a:prstGeom prst="line">
              <a:avLst/>
            </a:prstGeom>
            <a:ln w="19420">
              <a:solidFill>
                <a:srgbClr val="0B5FC0"/>
              </a:solidFill>
            </a:ln>
          </p:spPr>
          <p:style>
            <a:lnRef idx="2">
              <a:schemeClr val="accent1"/>
            </a:lnRef>
            <a:fillRef idx="0">
              <a:schemeClr val="accent1"/>
            </a:fillRef>
            <a:effectRef idx="1">
              <a:schemeClr val="accent1"/>
            </a:effectRef>
            <a:fontRef idx="minor">
              <a:schemeClr val="tx1"/>
            </a:fontRef>
          </p:style>
        </p:cxnSp>
        <p:sp>
          <p:nvSpPr>
            <p:cNvPr id="80" name="Freeform 79"/>
            <p:cNvSpPr/>
            <p:nvPr/>
          </p:nvSpPr>
          <p:spPr>
            <a:xfrm>
              <a:off x="6419516" y="3707142"/>
              <a:ext cx="129468" cy="172623"/>
            </a:xfrm>
            <a:custGeom>
              <a:avLst/>
              <a:gdLst/>
              <a:ahLst/>
              <a:cxnLst/>
              <a:rect l="l" t="t" r="r" b="b"/>
              <a:pathLst>
                <a:path w="129468" h="172623">
                  <a:moveTo>
                    <a:pt x="0" y="0"/>
                  </a:moveTo>
                  <a:lnTo>
                    <a:pt x="64734" y="172623"/>
                  </a:lnTo>
                  <a:lnTo>
                    <a:pt x="129468"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980326" y="4035126"/>
              <a:ext cx="3452896" cy="156224"/>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슬라이스 64개 + 예비 1개 · 각 슬라이스는 control register 로 독립 설정된다</a:t>
              </a:r>
            </a:p>
          </p:txBody>
        </p:sp>
        <p:sp>
          <p:nvSpPr>
            <p:cNvPr id="82" name="TextBox 81"/>
            <p:cNvSpPr txBox="1"/>
            <p:nvPr/>
          </p:nvSpPr>
          <p:spPr>
            <a:xfrm>
              <a:off x="4739811" y="4435396"/>
              <a:ext cx="2712073" cy="195280"/>
            </a:xfrm>
            <a:prstGeom prst="rect">
              <a:avLst/>
            </a:prstGeom>
            <a:noFill/>
          </p:spPr>
          <p:txBody>
            <a:bodyPr wrap="none" anchor="ctr" lIns="0" rIns="0" tIns="0" bIns="0">
              <a:noAutofit/>
            </a:bodyPr>
            <a:lstStyle/>
            <a:p>
              <a:pPr algn="ctr"/>
              <a:r>
                <a:rPr sz="1060" b="1">
                  <a:solidFill>
                    <a:srgbClr val="16202C"/>
                  </a:solidFill>
                  <a:latin typeface="맑은 고딕"/>
                  <a:ea typeface="맑은 고딕"/>
                  <a:cs typeface="맑은 고딕"/>
                </a:rPr>
                <a:t>같은 하드웨어의 두 얼굴 — 소프트웨어가 고른다</a:t>
              </a:r>
            </a:p>
          </p:txBody>
        </p:sp>
        <p:sp>
          <p:nvSpPr>
            <p:cNvPr id="83" name="Rounded Rectangle 82"/>
            <p:cNvSpPr/>
            <p:nvPr/>
          </p:nvSpPr>
          <p:spPr>
            <a:xfrm>
              <a:off x="1564488" y="4721304"/>
              <a:ext cx="4099802" cy="819960"/>
            </a:xfrm>
            <a:prstGeom prst="roundRect">
              <a:avLst>
                <a:gd name="adj" fmla="val 10526"/>
              </a:avLst>
            </a:prstGeom>
            <a:solidFill>
              <a:srgbClr val="E3EEFB"/>
            </a:solidFill>
            <a:ln w="2157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912125" y="4882275"/>
              <a:ext cx="1404527" cy="203091"/>
            </a:xfrm>
            <a:prstGeom prst="rect">
              <a:avLst/>
            </a:prstGeom>
            <a:noFill/>
          </p:spPr>
          <p:txBody>
            <a:bodyPr wrap="none" anchor="ctr" lIns="0" rIns="0" tIns="0" bIns="0">
              <a:noAutofit/>
            </a:bodyPr>
            <a:lstStyle/>
            <a:p>
              <a:pPr algn="ctr"/>
              <a:r>
                <a:rPr sz="1100" b="1">
                  <a:solidFill>
                    <a:srgbClr val="083F80"/>
                  </a:solidFill>
                  <a:latin typeface="맑은 고딕"/>
                  <a:ea typeface="맑은 고딕"/>
                  <a:cs typeface="맑은 고딕"/>
                </a:rPr>
                <a:t>슬라이스 전체를 묶으면</a:t>
              </a:r>
            </a:p>
          </p:txBody>
        </p:sp>
        <p:sp>
          <p:nvSpPr>
            <p:cNvPr id="85" name="TextBox 84"/>
            <p:cNvSpPr txBox="1"/>
            <p:nvPr/>
          </p:nvSpPr>
          <p:spPr>
            <a:xfrm>
              <a:off x="2684958" y="5187818"/>
              <a:ext cx="1858861" cy="17184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하나의 큰 processing element 처럼</a:t>
              </a:r>
            </a:p>
          </p:txBody>
        </p:sp>
        <p:sp>
          <p:nvSpPr>
            <p:cNvPr id="86" name="TextBox 85"/>
            <p:cNvSpPr txBox="1"/>
            <p:nvPr/>
          </p:nvSpPr>
          <p:spPr>
            <a:xfrm>
              <a:off x="5965301" y="5058350"/>
              <a:ext cx="261093" cy="171846"/>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또는</a:t>
              </a:r>
            </a:p>
          </p:txBody>
        </p:sp>
        <p:sp>
          <p:nvSpPr>
            <p:cNvPr id="87" name="Rounded Rectangle 86"/>
            <p:cNvSpPr/>
            <p:nvPr/>
          </p:nvSpPr>
          <p:spPr>
            <a:xfrm>
              <a:off x="6527406" y="4721304"/>
              <a:ext cx="4099802" cy="819960"/>
            </a:xfrm>
            <a:prstGeom prst="roundRect">
              <a:avLst>
                <a:gd name="adj" fmla="val 10526"/>
              </a:avLst>
            </a:prstGeom>
            <a:solidFill>
              <a:srgbClr val="E2F4E8"/>
            </a:solidFill>
            <a:ln w="2157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875043" y="4882275"/>
              <a:ext cx="1404527" cy="203091"/>
            </a:xfrm>
            <a:prstGeom prst="rect">
              <a:avLst/>
            </a:prstGeom>
            <a:noFill/>
          </p:spPr>
          <p:txBody>
            <a:bodyPr wrap="none" anchor="ctr" lIns="0" rIns="0" tIns="0" bIns="0">
              <a:noAutofit/>
            </a:bodyPr>
            <a:lstStyle/>
            <a:p>
              <a:pPr algn="ctr"/>
              <a:r>
                <a:rPr sz="1100" b="1">
                  <a:solidFill>
                    <a:srgbClr val="1A7F37"/>
                  </a:solidFill>
                  <a:latin typeface="맑은 고딕"/>
                  <a:ea typeface="맑은 고딕"/>
                  <a:cs typeface="맑은 고딕"/>
                </a:rPr>
                <a:t>슬라이스를 떼어 놓으면</a:t>
              </a:r>
            </a:p>
          </p:txBody>
        </p:sp>
        <p:sp>
          <p:nvSpPr>
            <p:cNvPr id="89" name="TextBox 88"/>
            <p:cNvSpPr txBox="1"/>
            <p:nvPr/>
          </p:nvSpPr>
          <p:spPr>
            <a:xfrm>
              <a:off x="7738487" y="5187818"/>
              <a:ext cx="1677639" cy="171846"/>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작고 독립적인 병렬 연산 유닛으로</a:t>
              </a:r>
            </a:p>
          </p:txBody>
        </p:sp>
      </p:grpSp>
      <p:sp>
        <p:nvSpPr>
          <p:cNvPr id="90" name="Rectangle 8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'하나의 큰 유닛'과 '여러 개의 작은 유닛' 사이를 하드웨어가 아니라 소프트웨어가 고른다.</a:t>
            </a:r>
          </a:p>
        </p:txBody>
      </p:sp>
      <p:sp>
        <p:nvSpPr>
          <p:cNvPr id="91" name="Rectangle 9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Tensor Unit 설계 철학 — 쪼갠다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통상적 설계와의 좌우 대조</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표현 그대로다. SRAM 과 operation unit 을 포함한 compute pipeline 전체를 여러 슬라이스로 나눈다</a:t>
            </a:r>
          </a:p>
          <a:p>
            <a:pPr algn="l">
              <a:lnSpc>
                <a:spcPct val="118000"/>
              </a:lnSpc>
              <a:spcBef>
                <a:spcPts val="600"/>
              </a:spcBef>
              <a:spcAft>
                <a:spcPts val="200"/>
              </a:spcAft>
            </a:pPr>
            <a:r>
              <a:rPr sz="1900" b="0" i="0">
                <a:solidFill>
                  <a:srgbClr val="16202C"/>
                </a:solidFill>
                <a:latin typeface="Segoe UI"/>
                <a:ea typeface="맑은 고딕"/>
                <a:cs typeface="맑은 고딕"/>
              </a:rPr>
              <a:t>▪  각 슬라이스는 control register 로 설정되어 (부분)텐서를 독립적으로 처리한다. 묶고 떼는 것은 하드웨어 재구성이 아니라 레지스터 설정이다</a:t>
            </a:r>
          </a:p>
          <a:p>
            <a:pPr algn="l">
              <a:lnSpc>
                <a:spcPct val="118000"/>
              </a:lnSpc>
              <a:spcBef>
                <a:spcPts val="600"/>
              </a:spcBef>
              <a:spcAft>
                <a:spcPts val="200"/>
              </a:spcAft>
            </a:pPr>
            <a:r>
              <a:rPr sz="1900" b="1" i="0">
                <a:solidFill>
                  <a:srgbClr val="083F80"/>
                </a:solidFill>
                <a:latin typeface="Segoe UI"/>
                <a:ea typeface="맑은 고딕"/>
                <a:cs typeface="맑은 고딕"/>
              </a:rPr>
              <a:t>▪  설계 선택 하나 더 — 희소성</a:t>
            </a:r>
          </a:p>
          <a:p>
            <a:pPr algn="l">
              <a:lnSpc>
                <a:spcPct val="118000"/>
              </a:lnSpc>
              <a:spcBef>
                <a:spcPts val="200"/>
              </a:spcBef>
              <a:spcAft>
                <a:spcPts val="100"/>
              </a:spcAft>
            </a:pPr>
            <a:r>
              <a:rPr sz="1780" b="0" i="0">
                <a:solidFill>
                  <a:srgbClr val="2C3A4B"/>
                </a:solidFill>
                <a:latin typeface="Segoe UI"/>
                <a:ea typeface="맑은 고딕"/>
                <a:cs typeface="맑은 고딕"/>
              </a:rPr>
              <a:t>–  면적·전력 오버헤드 때문에 fine-grained sparsity 에 최적화하지 않고 dense 모델에 집중한다</a:t>
            </a:r>
          </a:p>
          <a:p>
            <a:pPr algn="l">
              <a:lnSpc>
                <a:spcPct val="118000"/>
              </a:lnSpc>
              <a:spcBef>
                <a:spcPts val="200"/>
              </a:spcBef>
              <a:spcAft>
                <a:spcPts val="100"/>
              </a:spcAft>
            </a:pPr>
            <a:r>
              <a:rPr sz="1780" b="0" i="0">
                <a:solidFill>
                  <a:srgbClr val="2C3A4B"/>
                </a:solidFill>
                <a:latin typeface="Segoe UI"/>
                <a:ea typeface="맑은 고딕"/>
                <a:cs typeface="맑은 고딕"/>
              </a:rPr>
              <a:t>–  LLM 에서는 pruning 보다 저정밀도가 더 효과적이라고 입증됐으므로 이 선택이 TCP 의 이점을 해치지 않는다는 것이 논문의 주장이다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슬라이스 규모와 제어 경로 — TU Controller</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TU는 64+1개의 슬라이스를 포함한다. 1개는 spare(예비)이며 칩 수율(chip yield)을 높이기 위한 것이다</a:t>
            </a:r>
          </a:p>
          <a:p>
            <a:pPr algn="l">
              <a:lnSpc>
                <a:spcPct val="118000"/>
              </a:lnSpc>
              <a:spcBef>
                <a:spcPts val="600"/>
              </a:spcBef>
              <a:spcAft>
                <a:spcPts val="200"/>
              </a:spcAft>
            </a:pPr>
            <a:r>
              <a:rPr sz="1800" b="0" i="0">
                <a:solidFill>
                  <a:srgbClr val="16202C"/>
                </a:solidFill>
                <a:latin typeface="Segoe UI"/>
                <a:ea typeface="맑은 고딕"/>
                <a:cs typeface="맑은 고딕"/>
              </a:rPr>
              <a:t>▪  슬라이스를 제어·모니터링하기 위해 TU는 TU controller(TUC, TU 컨트롤러)를 포함한다</a:t>
            </a:r>
          </a:p>
          <a:p>
            <a:pPr algn="l">
              <a:lnSpc>
                <a:spcPct val="118000"/>
              </a:lnSpc>
              <a:spcBef>
                <a:spcPts val="200"/>
              </a:spcBef>
              <a:spcAft>
                <a:spcPts val="100"/>
              </a:spcAft>
            </a:pPr>
            <a:r>
              <a:rPr sz="1680" b="0" i="0">
                <a:solidFill>
                  <a:srgbClr val="2C3A4B"/>
                </a:solidFill>
                <a:latin typeface="Segoe UI"/>
                <a:ea typeface="맑은 고딕"/>
                <a:cs typeface="맑은 고딕"/>
              </a:rPr>
              <a:t>–  TUC는 TU 위의 control/status register(제어·상태 레지스터)에 접근한다</a:t>
            </a:r>
          </a:p>
          <a:p>
            <a:pPr algn="l">
              <a:lnSpc>
                <a:spcPct val="118000"/>
              </a:lnSpc>
              <a:spcBef>
                <a:spcPts val="200"/>
              </a:spcBef>
              <a:spcAft>
                <a:spcPts val="100"/>
              </a:spcAft>
            </a:pPr>
            <a:r>
              <a:rPr sz="1680" b="0" i="0">
                <a:solidFill>
                  <a:srgbClr val="2C3A4B"/>
                </a:solidFill>
                <a:latin typeface="Segoe UI"/>
                <a:ea typeface="맑은 고딕"/>
                <a:cs typeface="맑은 고딕"/>
              </a:rPr>
              <a:t>–  각 슬라이스의 control register는 TU의 주소 공간에 매핑된다</a:t>
            </a:r>
          </a:p>
          <a:p>
            <a:pPr algn="l">
              <a:lnSpc>
                <a:spcPct val="118000"/>
              </a:lnSpc>
              <a:spcBef>
                <a:spcPts val="200"/>
              </a:spcBef>
              <a:spcAft>
                <a:spcPts val="100"/>
              </a:spcAft>
            </a:pPr>
            <a:r>
              <a:rPr sz="1680" b="0" i="0">
                <a:solidFill>
                  <a:srgbClr val="2C3A4B"/>
                </a:solidFill>
                <a:latin typeface="Segoe UI"/>
                <a:ea typeface="맑은 고딕"/>
                <a:cs typeface="맑은 고딕"/>
              </a:rPr>
              <a:t>–  TUC는 command queue를 갖고, CPU core가 여기에 tensor command(텐서 명령)를 쓴다</a:t>
            </a:r>
          </a:p>
          <a:p>
            <a:pPr algn="l">
              <a:lnSpc>
                <a:spcPct val="118000"/>
              </a:lnSpc>
              <a:spcBef>
                <a:spcPts val="600"/>
              </a:spcBef>
              <a:spcAft>
                <a:spcPts val="200"/>
              </a:spcAft>
            </a:pPr>
            <a:r>
              <a:rPr sz="1800" b="1" i="0">
                <a:solidFill>
                  <a:srgbClr val="083F80"/>
                </a:solidFill>
                <a:latin typeface="Segoe UI"/>
                <a:ea typeface="맑은 고딕"/>
                <a:cs typeface="맑은 고딕"/>
              </a:rPr>
              <a:t>▪  텐서 연산을 설정하는 두 가지 경로</a:t>
            </a:r>
          </a:p>
          <a:p>
            <a:pPr algn="l">
              <a:lnSpc>
                <a:spcPct val="118000"/>
              </a:lnSpc>
              <a:spcBef>
                <a:spcPts val="200"/>
              </a:spcBef>
              <a:spcAft>
                <a:spcPts val="100"/>
              </a:spcAft>
            </a:pPr>
            <a:r>
              <a:rPr sz="1680" b="0" i="0">
                <a:solidFill>
                  <a:srgbClr val="2C3A4B"/>
                </a:solidFill>
                <a:latin typeface="Segoe UI"/>
                <a:ea typeface="맑은 고딕"/>
                <a:cs typeface="맑은 고딕"/>
              </a:rPr>
              <a:t>–  경로 A — CPU core가 ARM 코어의 LLPP(low-latency peripheral port)를 통해 레지스터에 직접 쓴다</a:t>
            </a:r>
          </a:p>
          <a:p>
            <a:pPr algn="l">
              <a:lnSpc>
                <a:spcPct val="118000"/>
              </a:lnSpc>
              <a:spcBef>
                <a:spcPts val="200"/>
              </a:spcBef>
              <a:spcAft>
                <a:spcPts val="100"/>
              </a:spcAft>
            </a:pPr>
            <a:r>
              <a:rPr sz="1680" b="0" i="0">
                <a:solidFill>
                  <a:srgbClr val="2C3A4B"/>
                </a:solidFill>
                <a:latin typeface="Segoe UI"/>
                <a:ea typeface="맑은 고딕"/>
                <a:cs typeface="맑은 고딕"/>
              </a:rPr>
              <a:t>–  경로 B — command queue로 tensor command를 보내면 TUC가 CPU core를 대신해 레지스터를 설정한다</a:t>
            </a:r>
          </a:p>
          <a:p>
            <a:pPr algn="l">
              <a:lnSpc>
                <a:spcPct val="118000"/>
              </a:lnSpc>
              <a:spcBef>
                <a:spcPts val="600"/>
              </a:spcBef>
              <a:spcAft>
                <a:spcPts val="200"/>
              </a:spcAft>
            </a:pPr>
            <a:r>
              <a:rPr sz="1800" b="0" i="0">
                <a:solidFill>
                  <a:srgbClr val="16202C"/>
                </a:solidFill>
                <a:latin typeface="Segoe UI"/>
                <a:ea typeface="맑은 고딕"/>
                <a:cs typeface="맑은 고딕"/>
              </a:rPr>
              <a:t>▪  두 경로가 공존한다는 것은 지연에 민감한 소량 설정과 대량 일괄 설정을 나눠 쓸 수 있다는 뜻이다</a:t>
            </a:r>
          </a:p>
          <a:p>
            <a:pPr algn="l">
              <a:lnSpc>
                <a:spcPct val="118000"/>
              </a:lnSpc>
              <a:spcBef>
                <a:spcPts val="600"/>
              </a:spcBef>
              <a:spcAft>
                <a:spcPts val="200"/>
              </a:spcAft>
            </a:pPr>
            <a:r>
              <a:rPr sz="1800" b="0" i="0">
                <a:solidFill>
                  <a:srgbClr val="16202C"/>
                </a:solidFill>
                <a:latin typeface="Segoe UI"/>
                <a:ea typeface="맑은 고딕"/>
                <a:cs typeface="맑은 고딕"/>
              </a:rPr>
              <a:t>▪  논문은 어느 경우에 어느 경로를 쓰는지의 기준은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슬라이스 설정은 곧 control register 쓰기다. 즉시 실행이 아니라 큐잉된 커맨드 방식이다.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슬라이스 간 협력 — N개 멀티캐스트가 큰 systolic array를 흉내낸다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N = 4 인 경우의 데이터 흐름</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101</a:t>
            </a:r>
          </a:p>
        </p:txBody>
      </p:sp>
      <p:grpSp>
        <p:nvGrpSpPr>
          <p:cNvPr id="9" name="도해 A4#08"/>
          <p:cNvGrpSpPr/>
          <p:nvPr/>
        </p:nvGrpSpPr>
        <p:grpSpPr>
          <a:xfrm>
            <a:off x="566928" y="1580223"/>
            <a:ext cx="11057839" cy="3843858"/>
            <a:chOff x="566928" y="1580223"/>
            <a:chExt cx="11057839" cy="3843858"/>
          </a:xfrm>
        </p:grpSpPr>
        <p:sp>
          <p:nvSpPr>
            <p:cNvPr id="10" name="TextBox 9"/>
            <p:cNvSpPr txBox="1"/>
            <p:nvPr/>
          </p:nvSpPr>
          <p:spPr>
            <a:xfrm>
              <a:off x="2131082" y="1580223"/>
              <a:ext cx="4307550" cy="217079"/>
            </a:xfrm>
            <a:prstGeom prst="rect">
              <a:avLst/>
            </a:prstGeom>
            <a:noFill/>
          </p:spPr>
          <p:txBody>
            <a:bodyPr wrap="none" anchor="ctr" lIns="0" rIns="0" tIns="0" bIns="0">
              <a:noAutofit/>
            </a:bodyPr>
            <a:lstStyle/>
            <a:p>
              <a:pPr algn="ctr"/>
              <a:r>
                <a:rPr sz="1180" b="1">
                  <a:solidFill>
                    <a:srgbClr val="16202C"/>
                  </a:solidFill>
                  <a:latin typeface="맑은 고딕"/>
                  <a:ea typeface="맑은 고딕"/>
                  <a:cs typeface="맑은 고딕"/>
                </a:rPr>
                <a:t>N개 슬라이스가 fetch network 로 멀티캐스트할 때 — 그림은 N = 4</a:t>
              </a:r>
            </a:p>
          </p:txBody>
        </p:sp>
        <p:sp>
          <p:nvSpPr>
            <p:cNvPr id="11" name="Rounded Rectangle 10"/>
            <p:cNvSpPr/>
            <p:nvPr/>
          </p:nvSpPr>
          <p:spPr>
            <a:xfrm>
              <a:off x="566928" y="1922032"/>
              <a:ext cx="1679064" cy="623653"/>
            </a:xfrm>
            <a:prstGeom prst="roundRect">
              <a:avLst>
                <a:gd name="adj" fmla="val 11538"/>
              </a:avLst>
            </a:prstGeom>
            <a:solidFill>
              <a:srgbClr val="F7FAFD"/>
            </a:solidFill>
            <a:ln w="1798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0825" y="2022776"/>
              <a:ext cx="591271" cy="173663"/>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DM slice 0</a:t>
              </a:r>
            </a:p>
          </p:txBody>
        </p:sp>
        <p:sp>
          <p:nvSpPr>
            <p:cNvPr id="13" name="Rounded Rectangle 12"/>
            <p:cNvSpPr/>
            <p:nvPr/>
          </p:nvSpPr>
          <p:spPr>
            <a:xfrm>
              <a:off x="806794" y="2233859"/>
              <a:ext cx="1199332" cy="239866"/>
            </a:xfrm>
            <a:prstGeom prst="roundRect">
              <a:avLst>
                <a:gd name="adj" fmla="val 15000"/>
              </a:avLst>
            </a:prstGeom>
            <a:solidFill>
              <a:srgbClr val="CBE0F7"/>
            </a:solidFill>
            <a:ln w="1679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271" y="2269599"/>
              <a:ext cx="454379" cy="164980"/>
            </a:xfrm>
            <a:prstGeom prst="rect">
              <a:avLst/>
            </a:prstGeom>
            <a:noFill/>
          </p:spPr>
          <p:txBody>
            <a:bodyPr wrap="none" anchor="ctr" lIns="0" rIns="0" tIns="0" bIns="0">
              <a:noAutofit/>
            </a:bodyPr>
            <a:lstStyle/>
            <a:p>
              <a:pPr algn="ctr"/>
              <a:r>
                <a:rPr sz="900" b="1">
                  <a:solidFill>
                    <a:srgbClr val="0B5FC0"/>
                  </a:solidFill>
                  <a:latin typeface="맑은 고딕"/>
                  <a:ea typeface="맑은 고딕"/>
                  <a:cs typeface="맑은 고딕"/>
                </a:rPr>
                <a:t>데이터 A</a:t>
              </a:r>
            </a:p>
          </p:txBody>
        </p:sp>
        <p:sp>
          <p:nvSpPr>
            <p:cNvPr id="15" name="Rounded Rectangle 14"/>
            <p:cNvSpPr/>
            <p:nvPr/>
          </p:nvSpPr>
          <p:spPr>
            <a:xfrm>
              <a:off x="2485859" y="1922032"/>
              <a:ext cx="1679064" cy="623653"/>
            </a:xfrm>
            <a:prstGeom prst="roundRect">
              <a:avLst>
                <a:gd name="adj" fmla="val 11538"/>
              </a:avLst>
            </a:prstGeom>
            <a:solidFill>
              <a:srgbClr val="F7FAFD"/>
            </a:solidFill>
            <a:ln w="1798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29756" y="2022776"/>
              <a:ext cx="591271" cy="173663"/>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DM slice 1</a:t>
              </a:r>
            </a:p>
          </p:txBody>
        </p:sp>
        <p:sp>
          <p:nvSpPr>
            <p:cNvPr id="17" name="Rounded Rectangle 16"/>
            <p:cNvSpPr/>
            <p:nvPr/>
          </p:nvSpPr>
          <p:spPr>
            <a:xfrm>
              <a:off x="2725725" y="2233859"/>
              <a:ext cx="1199332" cy="239866"/>
            </a:xfrm>
            <a:prstGeom prst="roundRect">
              <a:avLst>
                <a:gd name="adj" fmla="val 15000"/>
              </a:avLst>
            </a:prstGeom>
            <a:solidFill>
              <a:srgbClr val="FDEBD3"/>
            </a:solidFill>
            <a:ln w="1679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5923" y="2269599"/>
              <a:ext cx="458936" cy="164980"/>
            </a:xfrm>
            <a:prstGeom prst="rect">
              <a:avLst/>
            </a:prstGeom>
            <a:noFill/>
          </p:spPr>
          <p:txBody>
            <a:bodyPr wrap="none" anchor="ctr" lIns="0" rIns="0" tIns="0" bIns="0">
              <a:noAutofit/>
            </a:bodyPr>
            <a:lstStyle/>
            <a:p>
              <a:pPr algn="ctr"/>
              <a:r>
                <a:rPr sz="900" b="1">
                  <a:solidFill>
                    <a:srgbClr val="B45409"/>
                  </a:solidFill>
                  <a:latin typeface="맑은 고딕"/>
                  <a:ea typeface="맑은 고딕"/>
                  <a:cs typeface="맑은 고딕"/>
                </a:rPr>
                <a:t>데이터 B</a:t>
              </a:r>
            </a:p>
          </p:txBody>
        </p:sp>
        <p:sp>
          <p:nvSpPr>
            <p:cNvPr id="19" name="Rounded Rectangle 18"/>
            <p:cNvSpPr/>
            <p:nvPr/>
          </p:nvSpPr>
          <p:spPr>
            <a:xfrm>
              <a:off x="4404790" y="1922032"/>
              <a:ext cx="1679064" cy="623653"/>
            </a:xfrm>
            <a:prstGeom prst="roundRect">
              <a:avLst>
                <a:gd name="adj" fmla="val 11538"/>
              </a:avLst>
            </a:prstGeom>
            <a:solidFill>
              <a:srgbClr val="F7FAFD"/>
            </a:solidFill>
            <a:ln w="1798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48687" y="2022776"/>
              <a:ext cx="591271" cy="173663"/>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DM slice 2</a:t>
              </a:r>
            </a:p>
          </p:txBody>
        </p:sp>
        <p:sp>
          <p:nvSpPr>
            <p:cNvPr id="21" name="Rounded Rectangle 20"/>
            <p:cNvSpPr/>
            <p:nvPr/>
          </p:nvSpPr>
          <p:spPr>
            <a:xfrm>
              <a:off x="4644656" y="2233859"/>
              <a:ext cx="1199332" cy="239866"/>
            </a:xfrm>
            <a:prstGeom prst="roundRect">
              <a:avLst>
                <a:gd name="adj" fmla="val 15000"/>
              </a:avLst>
            </a:prstGeom>
            <a:solidFill>
              <a:srgbClr val="E2F4E8"/>
            </a:solidFill>
            <a:ln w="1679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6278" y="2269599"/>
              <a:ext cx="456088" cy="164980"/>
            </a:xfrm>
            <a:prstGeom prst="rect">
              <a:avLst/>
            </a:prstGeom>
            <a:noFill/>
          </p:spPr>
          <p:txBody>
            <a:bodyPr wrap="none" anchor="ctr" lIns="0" rIns="0" tIns="0" bIns="0">
              <a:noAutofit/>
            </a:bodyPr>
            <a:lstStyle/>
            <a:p>
              <a:pPr algn="ctr"/>
              <a:r>
                <a:rPr sz="900" b="1">
                  <a:solidFill>
                    <a:srgbClr val="1A7F37"/>
                  </a:solidFill>
                  <a:latin typeface="맑은 고딕"/>
                  <a:ea typeface="맑은 고딕"/>
                  <a:cs typeface="맑은 고딕"/>
                </a:rPr>
                <a:t>데이터 C</a:t>
              </a:r>
            </a:p>
          </p:txBody>
        </p:sp>
        <p:sp>
          <p:nvSpPr>
            <p:cNvPr id="23" name="Rounded Rectangle 22"/>
            <p:cNvSpPr/>
            <p:nvPr/>
          </p:nvSpPr>
          <p:spPr>
            <a:xfrm>
              <a:off x="6323721" y="1922032"/>
              <a:ext cx="1679064" cy="623653"/>
            </a:xfrm>
            <a:prstGeom prst="roundRect">
              <a:avLst>
                <a:gd name="adj" fmla="val 11538"/>
              </a:avLst>
            </a:prstGeom>
            <a:solidFill>
              <a:srgbClr val="F7FAFD"/>
            </a:solidFill>
            <a:ln w="1798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67617" y="2022776"/>
              <a:ext cx="591271" cy="173663"/>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DM slice 3</a:t>
              </a:r>
            </a:p>
          </p:txBody>
        </p:sp>
        <p:sp>
          <p:nvSpPr>
            <p:cNvPr id="25" name="Rounded Rectangle 24"/>
            <p:cNvSpPr/>
            <p:nvPr/>
          </p:nvSpPr>
          <p:spPr>
            <a:xfrm>
              <a:off x="6563587" y="2233859"/>
              <a:ext cx="1199332" cy="239866"/>
            </a:xfrm>
            <a:prstGeom prst="roundRect">
              <a:avLst>
                <a:gd name="adj" fmla="val 15000"/>
              </a:avLst>
            </a:prstGeom>
            <a:solidFill>
              <a:srgbClr val="F3E8F6"/>
            </a:solidFill>
            <a:ln w="16790">
              <a:solidFill>
                <a:srgbClr val="7A3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1905" y="2269599"/>
              <a:ext cx="462696" cy="164980"/>
            </a:xfrm>
            <a:prstGeom prst="rect">
              <a:avLst/>
            </a:prstGeom>
            <a:noFill/>
          </p:spPr>
          <p:txBody>
            <a:bodyPr wrap="none" anchor="ctr" lIns="0" rIns="0" tIns="0" bIns="0">
              <a:noAutofit/>
            </a:bodyPr>
            <a:lstStyle/>
            <a:p>
              <a:pPr algn="ctr"/>
              <a:r>
                <a:rPr sz="900" b="1">
                  <a:solidFill>
                    <a:srgbClr val="7A3D8C"/>
                  </a:solidFill>
                  <a:latin typeface="맑은 고딕"/>
                  <a:ea typeface="맑은 고딕"/>
                  <a:cs typeface="맑은 고딕"/>
                </a:rPr>
                <a:t>데이터 D</a:t>
              </a:r>
            </a:p>
          </p:txBody>
        </p:sp>
        <p:cxnSp>
          <p:nvCxnSpPr>
            <p:cNvPr id="27" name="Connector 26"/>
            <p:cNvCxnSpPr/>
            <p:nvPr/>
          </p:nvCxnSpPr>
          <p:spPr>
            <a:xfrm>
              <a:off x="1406460" y="2545685"/>
              <a:ext cx="0" cy="59966"/>
            </a:xfrm>
            <a:prstGeom prst="line">
              <a:avLst/>
            </a:prstGeom>
            <a:ln w="19189">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325391" y="2545685"/>
              <a:ext cx="0" cy="59966"/>
            </a:xfrm>
            <a:prstGeom prst="line">
              <a:avLst/>
            </a:prstGeom>
            <a:ln w="19189">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244322" y="2545685"/>
              <a:ext cx="0" cy="59966"/>
            </a:xfrm>
            <a:prstGeom prst="line">
              <a:avLst/>
            </a:prstGeom>
            <a:ln w="19189">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163253" y="2545685"/>
              <a:ext cx="0" cy="59966"/>
            </a:xfrm>
            <a:prstGeom prst="line">
              <a:avLst/>
            </a:prstGeom>
            <a:ln w="19189">
              <a:solidFill>
                <a:srgbClr val="5B6B7B"/>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1346494" y="2593658"/>
              <a:ext cx="119933" cy="119933"/>
            </a:xfrm>
            <a:custGeom>
              <a:avLst/>
              <a:gdLst/>
              <a:ahLst/>
              <a:cxnLst/>
              <a:rect l="l" t="t" r="r" b="b"/>
              <a:pathLst>
                <a:path w="119933" h="119933">
                  <a:moveTo>
                    <a:pt x="0" y="0"/>
                  </a:moveTo>
                  <a:lnTo>
                    <a:pt x="59966" y="119933"/>
                  </a:lnTo>
                  <a:lnTo>
                    <a:pt x="119933"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3265425" y="2593658"/>
              <a:ext cx="119933" cy="119933"/>
            </a:xfrm>
            <a:custGeom>
              <a:avLst/>
              <a:gdLst/>
              <a:ahLst/>
              <a:cxnLst/>
              <a:rect l="l" t="t" r="r" b="b"/>
              <a:pathLst>
                <a:path w="119933" h="119933">
                  <a:moveTo>
                    <a:pt x="0" y="0"/>
                  </a:moveTo>
                  <a:lnTo>
                    <a:pt x="59966" y="119933"/>
                  </a:lnTo>
                  <a:lnTo>
                    <a:pt x="119933"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184355" y="2593658"/>
              <a:ext cx="119934" cy="119933"/>
            </a:xfrm>
            <a:custGeom>
              <a:avLst/>
              <a:gdLst/>
              <a:ahLst/>
              <a:cxnLst/>
              <a:rect l="l" t="t" r="r" b="b"/>
              <a:pathLst>
                <a:path w="119934" h="119933">
                  <a:moveTo>
                    <a:pt x="0" y="0"/>
                  </a:moveTo>
                  <a:lnTo>
                    <a:pt x="59967" y="119933"/>
                  </a:lnTo>
                  <a:lnTo>
                    <a:pt x="119934"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103286" y="2593658"/>
              <a:ext cx="119933" cy="119933"/>
            </a:xfrm>
            <a:custGeom>
              <a:avLst/>
              <a:gdLst/>
              <a:ahLst/>
              <a:cxnLst/>
              <a:rect l="l" t="t" r="r" b="b"/>
              <a:pathLst>
                <a:path w="119933" h="119933">
                  <a:moveTo>
                    <a:pt x="0" y="0"/>
                  </a:moveTo>
                  <a:lnTo>
                    <a:pt x="59967" y="119933"/>
                  </a:lnTo>
                  <a:lnTo>
                    <a:pt x="119933"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2713591"/>
              <a:ext cx="1679064" cy="383786"/>
            </a:xfrm>
            <a:prstGeom prst="roundRect">
              <a:avLst>
                <a:gd name="adj" fmla="val 15625"/>
              </a:avLst>
            </a:prstGeom>
            <a:solidFill>
              <a:srgbClr val="DCEBF9"/>
            </a:solidFill>
            <a:ln w="179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485859" y="2713591"/>
              <a:ext cx="1679064" cy="383786"/>
            </a:xfrm>
            <a:prstGeom prst="roundRect">
              <a:avLst>
                <a:gd name="adj" fmla="val 15625"/>
              </a:avLst>
            </a:prstGeom>
            <a:solidFill>
              <a:srgbClr val="DCEBF9"/>
            </a:solidFill>
            <a:ln w="179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404790" y="2713591"/>
              <a:ext cx="1679064" cy="383786"/>
            </a:xfrm>
            <a:prstGeom prst="roundRect">
              <a:avLst>
                <a:gd name="adj" fmla="val 15625"/>
              </a:avLst>
            </a:prstGeom>
            <a:solidFill>
              <a:srgbClr val="DCEBF9"/>
            </a:solidFill>
            <a:ln w="179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23721" y="2713591"/>
              <a:ext cx="1679064" cy="383786"/>
            </a:xfrm>
            <a:prstGeom prst="roundRect">
              <a:avLst>
                <a:gd name="adj" fmla="val 15625"/>
              </a:avLst>
            </a:prstGeom>
            <a:solidFill>
              <a:srgbClr val="DCEBF9"/>
            </a:solidFill>
            <a:ln w="179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6095" y="2819372"/>
              <a:ext cx="640731" cy="182346"/>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fetch unit</a:t>
              </a:r>
            </a:p>
          </p:txBody>
        </p:sp>
        <p:sp>
          <p:nvSpPr>
            <p:cNvPr id="40" name="TextBox 39"/>
            <p:cNvSpPr txBox="1"/>
            <p:nvPr/>
          </p:nvSpPr>
          <p:spPr>
            <a:xfrm>
              <a:off x="3005026" y="2819372"/>
              <a:ext cx="640731" cy="182346"/>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fetch unit</a:t>
              </a:r>
            </a:p>
          </p:txBody>
        </p:sp>
        <p:sp>
          <p:nvSpPr>
            <p:cNvPr id="41" name="TextBox 40"/>
            <p:cNvSpPr txBox="1"/>
            <p:nvPr/>
          </p:nvSpPr>
          <p:spPr>
            <a:xfrm>
              <a:off x="4923956" y="2819372"/>
              <a:ext cx="640731" cy="182346"/>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fetch unit</a:t>
              </a:r>
            </a:p>
          </p:txBody>
        </p:sp>
        <p:sp>
          <p:nvSpPr>
            <p:cNvPr id="42" name="TextBox 41"/>
            <p:cNvSpPr txBox="1"/>
            <p:nvPr/>
          </p:nvSpPr>
          <p:spPr>
            <a:xfrm>
              <a:off x="6842887" y="2819372"/>
              <a:ext cx="640731" cy="182346"/>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fetch unit</a:t>
              </a:r>
            </a:p>
          </p:txBody>
        </p:sp>
        <p:cxnSp>
          <p:nvCxnSpPr>
            <p:cNvPr id="43" name="Connector 42"/>
            <p:cNvCxnSpPr/>
            <p:nvPr/>
          </p:nvCxnSpPr>
          <p:spPr>
            <a:xfrm>
              <a:off x="1406460" y="3097378"/>
              <a:ext cx="0" cy="167906"/>
            </a:xfrm>
            <a:prstGeom prst="line">
              <a:avLst/>
            </a:prstGeom>
            <a:ln w="179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325391" y="3097378"/>
              <a:ext cx="0" cy="167906"/>
            </a:xfrm>
            <a:prstGeom prst="line">
              <a:avLst/>
            </a:prstGeom>
            <a:ln w="179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44322" y="3097378"/>
              <a:ext cx="0" cy="167906"/>
            </a:xfrm>
            <a:prstGeom prst="line">
              <a:avLst/>
            </a:prstGeom>
            <a:ln w="179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163253" y="3097378"/>
              <a:ext cx="0" cy="167906"/>
            </a:xfrm>
            <a:prstGeom prst="line">
              <a:avLst/>
            </a:prstGeom>
            <a:ln w="17989">
              <a:solidFill>
                <a:srgbClr val="B45409"/>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6928" y="3265284"/>
              <a:ext cx="7435857" cy="359800"/>
            </a:xfrm>
            <a:prstGeom prst="roundRect">
              <a:avLst>
                <a:gd name="adj" fmla="val 16666"/>
              </a:avLst>
            </a:prstGeom>
            <a:solidFill>
              <a:srgbClr val="FFF7E6"/>
            </a:solidFill>
            <a:ln w="215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30248" y="3359072"/>
              <a:ext cx="4109217" cy="182346"/>
            </a:xfrm>
            <a:prstGeom prst="rect">
              <a:avLst/>
            </a:prstGeom>
            <a:noFill/>
          </p:spPr>
          <p:txBody>
            <a:bodyPr wrap="none" anchor="ctr" lIns="0" rIns="0" tIns="0" bIns="0">
              <a:noAutofit/>
            </a:bodyPr>
            <a:lstStyle/>
            <a:p>
              <a:pPr algn="ctr"/>
              <a:r>
                <a:rPr sz="990" b="1">
                  <a:solidFill>
                    <a:srgbClr val="B45409"/>
                  </a:solidFill>
                  <a:latin typeface="맑은 고딕"/>
                  <a:ea typeface="맑은 고딕"/>
                  <a:cs typeface="맑은 고딕"/>
                </a:rPr>
                <a:t>fetch network — 4개 슬라이스가 읽은 데이터를 모든 슬라이스로 멀티캐스트</a:t>
              </a:r>
            </a:p>
          </p:txBody>
        </p:sp>
        <p:cxnSp>
          <p:nvCxnSpPr>
            <p:cNvPr id="49" name="Connector 48"/>
            <p:cNvCxnSpPr/>
            <p:nvPr/>
          </p:nvCxnSpPr>
          <p:spPr>
            <a:xfrm>
              <a:off x="1406460" y="3625084"/>
              <a:ext cx="0" cy="83953"/>
            </a:xfrm>
            <a:prstGeom prst="line">
              <a:avLst/>
            </a:prstGeom>
            <a:ln w="191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25391" y="3625084"/>
              <a:ext cx="0" cy="83953"/>
            </a:xfrm>
            <a:prstGeom prst="line">
              <a:avLst/>
            </a:prstGeom>
            <a:ln w="191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244322" y="3625084"/>
              <a:ext cx="0" cy="83953"/>
            </a:xfrm>
            <a:prstGeom prst="line">
              <a:avLst/>
            </a:prstGeom>
            <a:ln w="19189">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163253" y="3625084"/>
              <a:ext cx="0" cy="83953"/>
            </a:xfrm>
            <a:prstGeom prst="line">
              <a:avLst/>
            </a:prstGeom>
            <a:ln w="19189">
              <a:solidFill>
                <a:srgbClr val="B45409"/>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1334500" y="3697043"/>
              <a:ext cx="143920" cy="143920"/>
            </a:xfrm>
            <a:custGeom>
              <a:avLst/>
              <a:gdLst/>
              <a:ahLst/>
              <a:cxnLst/>
              <a:rect l="l" t="t" r="r" b="b"/>
              <a:pathLst>
                <a:path w="143920" h="143920">
                  <a:moveTo>
                    <a:pt x="0" y="0"/>
                  </a:moveTo>
                  <a:lnTo>
                    <a:pt x="71960" y="143920"/>
                  </a:lnTo>
                  <a:lnTo>
                    <a:pt x="143920"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3253431" y="3697043"/>
              <a:ext cx="143920" cy="143920"/>
            </a:xfrm>
            <a:custGeom>
              <a:avLst/>
              <a:gdLst/>
              <a:ahLst/>
              <a:cxnLst/>
              <a:rect l="l" t="t" r="r" b="b"/>
              <a:pathLst>
                <a:path w="143920" h="143920">
                  <a:moveTo>
                    <a:pt x="0" y="0"/>
                  </a:moveTo>
                  <a:lnTo>
                    <a:pt x="71960" y="143920"/>
                  </a:lnTo>
                  <a:lnTo>
                    <a:pt x="143920"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5172362" y="3697043"/>
              <a:ext cx="143920" cy="143920"/>
            </a:xfrm>
            <a:custGeom>
              <a:avLst/>
              <a:gdLst/>
              <a:ahLst/>
              <a:cxnLst/>
              <a:rect l="l" t="t" r="r" b="b"/>
              <a:pathLst>
                <a:path w="143920" h="143920">
                  <a:moveTo>
                    <a:pt x="0" y="0"/>
                  </a:moveTo>
                  <a:lnTo>
                    <a:pt x="71960" y="143920"/>
                  </a:lnTo>
                  <a:lnTo>
                    <a:pt x="143920"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091293" y="3697043"/>
              <a:ext cx="143920" cy="143920"/>
            </a:xfrm>
            <a:custGeom>
              <a:avLst/>
              <a:gdLst/>
              <a:ahLst/>
              <a:cxnLst/>
              <a:rect l="l" t="t" r="r" b="b"/>
              <a:pathLst>
                <a:path w="143920" h="143920">
                  <a:moveTo>
                    <a:pt x="0" y="0"/>
                  </a:moveTo>
                  <a:lnTo>
                    <a:pt x="71960" y="143920"/>
                  </a:lnTo>
                  <a:lnTo>
                    <a:pt x="143920"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66928" y="3840963"/>
              <a:ext cx="1679064" cy="1583118"/>
            </a:xfrm>
            <a:prstGeom prst="roundRect">
              <a:avLst>
                <a:gd name="adj" fmla="val 4545"/>
              </a:avLst>
            </a:prstGeom>
            <a:solidFill>
              <a:srgbClr val="F4F8FD"/>
            </a:solidFill>
            <a:ln w="191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2485859" y="3840963"/>
              <a:ext cx="1679064" cy="1583118"/>
            </a:xfrm>
            <a:prstGeom prst="roundRect">
              <a:avLst>
                <a:gd name="adj" fmla="val 4545"/>
              </a:avLst>
            </a:prstGeom>
            <a:solidFill>
              <a:srgbClr val="F4F8FD"/>
            </a:solidFill>
            <a:ln w="191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404790" y="3840963"/>
              <a:ext cx="1679064" cy="1583118"/>
            </a:xfrm>
            <a:prstGeom prst="roundRect">
              <a:avLst>
                <a:gd name="adj" fmla="val 4545"/>
              </a:avLst>
            </a:prstGeom>
            <a:solidFill>
              <a:srgbClr val="F4F8FD"/>
            </a:solidFill>
            <a:ln w="191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323721" y="3840963"/>
              <a:ext cx="1679064" cy="1583118"/>
            </a:xfrm>
            <a:prstGeom prst="roundRect">
              <a:avLst>
                <a:gd name="adj" fmla="val 4545"/>
              </a:avLst>
            </a:prstGeom>
            <a:solidFill>
              <a:srgbClr val="F4F8FD"/>
            </a:solidFill>
            <a:ln w="191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2108" y="3941707"/>
              <a:ext cx="888705" cy="173663"/>
            </a:xfrm>
            <a:prstGeom prst="rect">
              <a:avLst/>
            </a:prstGeom>
            <a:noFill/>
          </p:spPr>
          <p:txBody>
            <a:bodyPr wrap="none" anchor="ctr" lIns="0" rIns="0" tIns="0" bIns="0">
              <a:noAutofit/>
            </a:bodyPr>
            <a:lstStyle/>
            <a:p>
              <a:pPr algn="ctr"/>
              <a:r>
                <a:rPr sz="940" b="1">
                  <a:solidFill>
                    <a:srgbClr val="083F80"/>
                  </a:solidFill>
                  <a:latin typeface="맑은 고딕"/>
                  <a:ea typeface="맑은 고딕"/>
                  <a:cs typeface="맑은 고딕"/>
                </a:rPr>
                <a:t>operation unit</a:t>
              </a:r>
            </a:p>
          </p:txBody>
        </p:sp>
        <p:sp>
          <p:nvSpPr>
            <p:cNvPr id="62" name="TextBox 61"/>
            <p:cNvSpPr txBox="1"/>
            <p:nvPr/>
          </p:nvSpPr>
          <p:spPr>
            <a:xfrm>
              <a:off x="2881039" y="3941707"/>
              <a:ext cx="888705" cy="173663"/>
            </a:xfrm>
            <a:prstGeom prst="rect">
              <a:avLst/>
            </a:prstGeom>
            <a:noFill/>
          </p:spPr>
          <p:txBody>
            <a:bodyPr wrap="none" anchor="ctr" lIns="0" rIns="0" tIns="0" bIns="0">
              <a:noAutofit/>
            </a:bodyPr>
            <a:lstStyle/>
            <a:p>
              <a:pPr algn="ctr"/>
              <a:r>
                <a:rPr sz="940" b="1">
                  <a:solidFill>
                    <a:srgbClr val="083F80"/>
                  </a:solidFill>
                  <a:latin typeface="맑은 고딕"/>
                  <a:ea typeface="맑은 고딕"/>
                  <a:cs typeface="맑은 고딕"/>
                </a:rPr>
                <a:t>operation unit</a:t>
              </a:r>
            </a:p>
          </p:txBody>
        </p:sp>
        <p:sp>
          <p:nvSpPr>
            <p:cNvPr id="63" name="TextBox 62"/>
            <p:cNvSpPr txBox="1"/>
            <p:nvPr/>
          </p:nvSpPr>
          <p:spPr>
            <a:xfrm>
              <a:off x="4799970" y="3941707"/>
              <a:ext cx="888705" cy="173663"/>
            </a:xfrm>
            <a:prstGeom prst="rect">
              <a:avLst/>
            </a:prstGeom>
            <a:noFill/>
          </p:spPr>
          <p:txBody>
            <a:bodyPr wrap="none" anchor="ctr" lIns="0" rIns="0" tIns="0" bIns="0">
              <a:noAutofit/>
            </a:bodyPr>
            <a:lstStyle/>
            <a:p>
              <a:pPr algn="ctr"/>
              <a:r>
                <a:rPr sz="940" b="1">
                  <a:solidFill>
                    <a:srgbClr val="083F80"/>
                  </a:solidFill>
                  <a:latin typeface="맑은 고딕"/>
                  <a:ea typeface="맑은 고딕"/>
                  <a:cs typeface="맑은 고딕"/>
                </a:rPr>
                <a:t>operation unit</a:t>
              </a:r>
            </a:p>
          </p:txBody>
        </p:sp>
        <p:sp>
          <p:nvSpPr>
            <p:cNvPr id="64" name="TextBox 63"/>
            <p:cNvSpPr txBox="1"/>
            <p:nvPr/>
          </p:nvSpPr>
          <p:spPr>
            <a:xfrm>
              <a:off x="6718900" y="3941707"/>
              <a:ext cx="888705" cy="173663"/>
            </a:xfrm>
            <a:prstGeom prst="rect">
              <a:avLst/>
            </a:prstGeom>
            <a:noFill/>
          </p:spPr>
          <p:txBody>
            <a:bodyPr wrap="none" anchor="ctr" lIns="0" rIns="0" tIns="0" bIns="0">
              <a:noAutofit/>
            </a:bodyPr>
            <a:lstStyle/>
            <a:p>
              <a:pPr algn="ctr"/>
              <a:r>
                <a:rPr sz="940" b="1">
                  <a:solidFill>
                    <a:srgbClr val="083F80"/>
                  </a:solidFill>
                  <a:latin typeface="맑은 고딕"/>
                  <a:ea typeface="맑은 고딕"/>
                  <a:cs typeface="맑은 고딕"/>
                </a:rPr>
                <a:t>operation unit</a:t>
              </a:r>
            </a:p>
          </p:txBody>
        </p:sp>
        <p:sp>
          <p:nvSpPr>
            <p:cNvPr id="65" name="Rounded Rectangle 64"/>
            <p:cNvSpPr/>
            <p:nvPr/>
          </p:nvSpPr>
          <p:spPr>
            <a:xfrm>
              <a:off x="782808" y="4176776"/>
              <a:ext cx="1247305" cy="119933"/>
            </a:xfrm>
            <a:prstGeom prst="roundRect">
              <a:avLst>
                <a:gd name="adj" fmla="val 20000"/>
              </a:avLst>
            </a:prstGeom>
            <a:solidFill>
              <a:srgbClr val="CBE0F7"/>
            </a:solidFill>
            <a:ln w="1199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82808" y="4332689"/>
              <a:ext cx="1247305" cy="119933"/>
            </a:xfrm>
            <a:prstGeom prst="roundRect">
              <a:avLst>
                <a:gd name="adj" fmla="val 20000"/>
              </a:avLst>
            </a:prstGeom>
            <a:solidFill>
              <a:srgbClr val="FDEBD3"/>
            </a:solidFill>
            <a:ln w="1199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82808" y="4488602"/>
              <a:ext cx="1247305" cy="119933"/>
            </a:xfrm>
            <a:prstGeom prst="roundRect">
              <a:avLst>
                <a:gd name="adj" fmla="val 20000"/>
              </a:avLst>
            </a:prstGeom>
            <a:solidFill>
              <a:srgbClr val="E2F4E8"/>
            </a:solidFill>
            <a:ln w="1199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82808" y="4644516"/>
              <a:ext cx="1247305" cy="119933"/>
            </a:xfrm>
            <a:prstGeom prst="roundRect">
              <a:avLst>
                <a:gd name="adj" fmla="val 20000"/>
              </a:avLst>
            </a:prstGeom>
            <a:solidFill>
              <a:srgbClr val="F3E8F6"/>
            </a:solidFill>
            <a:ln w="11993">
              <a:solidFill>
                <a:srgbClr val="7A3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2701739" y="4176776"/>
              <a:ext cx="1247305" cy="119933"/>
            </a:xfrm>
            <a:prstGeom prst="roundRect">
              <a:avLst>
                <a:gd name="adj" fmla="val 20000"/>
              </a:avLst>
            </a:prstGeom>
            <a:solidFill>
              <a:srgbClr val="CBE0F7"/>
            </a:solidFill>
            <a:ln w="1199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701739" y="4332689"/>
              <a:ext cx="1247305" cy="119933"/>
            </a:xfrm>
            <a:prstGeom prst="roundRect">
              <a:avLst>
                <a:gd name="adj" fmla="val 20000"/>
              </a:avLst>
            </a:prstGeom>
            <a:solidFill>
              <a:srgbClr val="FDEBD3"/>
            </a:solidFill>
            <a:ln w="1199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701739" y="4488602"/>
              <a:ext cx="1247305" cy="119933"/>
            </a:xfrm>
            <a:prstGeom prst="roundRect">
              <a:avLst>
                <a:gd name="adj" fmla="val 20000"/>
              </a:avLst>
            </a:prstGeom>
            <a:solidFill>
              <a:srgbClr val="E2F4E8"/>
            </a:solidFill>
            <a:ln w="1199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2701739" y="4644516"/>
              <a:ext cx="1247305" cy="119933"/>
            </a:xfrm>
            <a:prstGeom prst="roundRect">
              <a:avLst>
                <a:gd name="adj" fmla="val 20000"/>
              </a:avLst>
            </a:prstGeom>
            <a:solidFill>
              <a:srgbClr val="F3E8F6"/>
            </a:solidFill>
            <a:ln w="11993">
              <a:solidFill>
                <a:srgbClr val="7A3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4620669" y="4176776"/>
              <a:ext cx="1247305" cy="119933"/>
            </a:xfrm>
            <a:prstGeom prst="roundRect">
              <a:avLst>
                <a:gd name="adj" fmla="val 20000"/>
              </a:avLst>
            </a:prstGeom>
            <a:solidFill>
              <a:srgbClr val="CBE0F7"/>
            </a:solidFill>
            <a:ln w="1199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4620669" y="4332689"/>
              <a:ext cx="1247305" cy="119933"/>
            </a:xfrm>
            <a:prstGeom prst="roundRect">
              <a:avLst>
                <a:gd name="adj" fmla="val 20000"/>
              </a:avLst>
            </a:prstGeom>
            <a:solidFill>
              <a:srgbClr val="FDEBD3"/>
            </a:solidFill>
            <a:ln w="1199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620669" y="4488602"/>
              <a:ext cx="1247305" cy="119933"/>
            </a:xfrm>
            <a:prstGeom prst="roundRect">
              <a:avLst>
                <a:gd name="adj" fmla="val 20000"/>
              </a:avLst>
            </a:prstGeom>
            <a:solidFill>
              <a:srgbClr val="E2F4E8"/>
            </a:solidFill>
            <a:ln w="1199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620669" y="4644516"/>
              <a:ext cx="1247305" cy="119933"/>
            </a:xfrm>
            <a:prstGeom prst="roundRect">
              <a:avLst>
                <a:gd name="adj" fmla="val 20000"/>
              </a:avLst>
            </a:prstGeom>
            <a:solidFill>
              <a:srgbClr val="F3E8F6"/>
            </a:solidFill>
            <a:ln w="11993">
              <a:solidFill>
                <a:srgbClr val="7A3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6539600" y="4176776"/>
              <a:ext cx="1247305" cy="119933"/>
            </a:xfrm>
            <a:prstGeom prst="roundRect">
              <a:avLst>
                <a:gd name="adj" fmla="val 20000"/>
              </a:avLst>
            </a:prstGeom>
            <a:solidFill>
              <a:srgbClr val="CBE0F7"/>
            </a:solidFill>
            <a:ln w="1199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6539600" y="4332689"/>
              <a:ext cx="1247305" cy="119933"/>
            </a:xfrm>
            <a:prstGeom prst="roundRect">
              <a:avLst>
                <a:gd name="adj" fmla="val 20000"/>
              </a:avLst>
            </a:prstGeom>
            <a:solidFill>
              <a:srgbClr val="FDEBD3"/>
            </a:solidFill>
            <a:ln w="1199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6539600" y="4488602"/>
              <a:ext cx="1247305" cy="119933"/>
            </a:xfrm>
            <a:prstGeom prst="roundRect">
              <a:avLst>
                <a:gd name="adj" fmla="val 20000"/>
              </a:avLst>
            </a:prstGeom>
            <a:solidFill>
              <a:srgbClr val="E2F4E8"/>
            </a:solidFill>
            <a:ln w="1199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539600" y="4644516"/>
              <a:ext cx="1247305" cy="119933"/>
            </a:xfrm>
            <a:prstGeom prst="roundRect">
              <a:avLst>
                <a:gd name="adj" fmla="val 20000"/>
              </a:avLst>
            </a:prstGeom>
            <a:solidFill>
              <a:srgbClr val="F3E8F6"/>
            </a:solidFill>
            <a:ln w="11993">
              <a:solidFill>
                <a:srgbClr val="7A3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85333" y="4819138"/>
              <a:ext cx="842255" cy="156297"/>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4색이 모두 쌓인다</a:t>
              </a:r>
            </a:p>
          </p:txBody>
        </p:sp>
        <p:sp>
          <p:nvSpPr>
            <p:cNvPr id="82" name="TextBox 81"/>
            <p:cNvSpPr txBox="1"/>
            <p:nvPr/>
          </p:nvSpPr>
          <p:spPr>
            <a:xfrm>
              <a:off x="2904264" y="4819138"/>
              <a:ext cx="842255" cy="156297"/>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4색이 모두 쌓인다</a:t>
              </a:r>
            </a:p>
          </p:txBody>
        </p:sp>
        <p:sp>
          <p:nvSpPr>
            <p:cNvPr id="83" name="TextBox 82"/>
            <p:cNvSpPr txBox="1"/>
            <p:nvPr/>
          </p:nvSpPr>
          <p:spPr>
            <a:xfrm>
              <a:off x="4823195" y="4819138"/>
              <a:ext cx="842255" cy="156297"/>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4색이 모두 쌓인다</a:t>
              </a:r>
            </a:p>
          </p:txBody>
        </p:sp>
        <p:sp>
          <p:nvSpPr>
            <p:cNvPr id="84" name="TextBox 83"/>
            <p:cNvSpPr txBox="1"/>
            <p:nvPr/>
          </p:nvSpPr>
          <p:spPr>
            <a:xfrm>
              <a:off x="6742125" y="4819138"/>
              <a:ext cx="842255" cy="156297"/>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4색이 모두 쌓인다</a:t>
              </a:r>
            </a:p>
          </p:txBody>
        </p:sp>
        <p:sp>
          <p:nvSpPr>
            <p:cNvPr id="85" name="Rounded Rectangle 84"/>
            <p:cNvSpPr/>
            <p:nvPr/>
          </p:nvSpPr>
          <p:spPr>
            <a:xfrm>
              <a:off x="806794"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962707"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1118621"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274534"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1430447"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1586360"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742273"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1898186"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2725725"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2881638"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3037551"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3193465"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3349378"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3505291"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3661204"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817117"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4644656"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4800569"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4956482"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5112395"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5268309"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5424222"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5580135"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5736048"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6563587"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6719500"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6875413"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7031326"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7187239"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7343153"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7499066"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7654979" y="5016308"/>
              <a:ext cx="119933" cy="167906"/>
            </a:xfrm>
            <a:prstGeom prst="roundRect">
              <a:avLst>
                <a:gd name="adj" fmla="val 20000"/>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85561" y="5202924"/>
              <a:ext cx="441798" cy="156297"/>
            </a:xfrm>
            <a:prstGeom prst="rect">
              <a:avLst/>
            </a:prstGeom>
            <a:noFill/>
          </p:spPr>
          <p:txBody>
            <a:bodyPr wrap="none" anchor="ctr" lIns="0" rIns="0" tIns="0" bIns="0">
              <a:noAutofit/>
            </a:bodyPr>
            <a:lstStyle/>
            <a:p>
              <a:pPr algn="ctr"/>
              <a:r>
                <a:rPr sz="850" b="1">
                  <a:solidFill>
                    <a:srgbClr val="083F80"/>
                  </a:solidFill>
                  <a:latin typeface="맑은 고딕"/>
                  <a:ea typeface="맑은 고딕"/>
                  <a:cs typeface="맑은 고딕"/>
                </a:rPr>
                <a:t>DPE 8개</a:t>
              </a:r>
            </a:p>
          </p:txBody>
        </p:sp>
        <p:sp>
          <p:nvSpPr>
            <p:cNvPr id="118" name="TextBox 117"/>
            <p:cNvSpPr txBox="1"/>
            <p:nvPr/>
          </p:nvSpPr>
          <p:spPr>
            <a:xfrm>
              <a:off x="3104492" y="5202924"/>
              <a:ext cx="441798" cy="156297"/>
            </a:xfrm>
            <a:prstGeom prst="rect">
              <a:avLst/>
            </a:prstGeom>
            <a:noFill/>
          </p:spPr>
          <p:txBody>
            <a:bodyPr wrap="none" anchor="ctr" lIns="0" rIns="0" tIns="0" bIns="0">
              <a:noAutofit/>
            </a:bodyPr>
            <a:lstStyle/>
            <a:p>
              <a:pPr algn="ctr"/>
              <a:r>
                <a:rPr sz="850" b="1">
                  <a:solidFill>
                    <a:srgbClr val="083F80"/>
                  </a:solidFill>
                  <a:latin typeface="맑은 고딕"/>
                  <a:ea typeface="맑은 고딕"/>
                  <a:cs typeface="맑은 고딕"/>
                </a:rPr>
                <a:t>DPE 8개</a:t>
              </a:r>
            </a:p>
          </p:txBody>
        </p:sp>
        <p:sp>
          <p:nvSpPr>
            <p:cNvPr id="119" name="TextBox 118"/>
            <p:cNvSpPr txBox="1"/>
            <p:nvPr/>
          </p:nvSpPr>
          <p:spPr>
            <a:xfrm>
              <a:off x="5023423" y="5202924"/>
              <a:ext cx="441798" cy="156297"/>
            </a:xfrm>
            <a:prstGeom prst="rect">
              <a:avLst/>
            </a:prstGeom>
            <a:noFill/>
          </p:spPr>
          <p:txBody>
            <a:bodyPr wrap="none" anchor="ctr" lIns="0" rIns="0" tIns="0" bIns="0">
              <a:noAutofit/>
            </a:bodyPr>
            <a:lstStyle/>
            <a:p>
              <a:pPr algn="ctr"/>
              <a:r>
                <a:rPr sz="850" b="1">
                  <a:solidFill>
                    <a:srgbClr val="083F80"/>
                  </a:solidFill>
                  <a:latin typeface="맑은 고딕"/>
                  <a:ea typeface="맑은 고딕"/>
                  <a:cs typeface="맑은 고딕"/>
                </a:rPr>
                <a:t>DPE 8개</a:t>
              </a:r>
            </a:p>
          </p:txBody>
        </p:sp>
        <p:sp>
          <p:nvSpPr>
            <p:cNvPr id="120" name="TextBox 119"/>
            <p:cNvSpPr txBox="1"/>
            <p:nvPr/>
          </p:nvSpPr>
          <p:spPr>
            <a:xfrm>
              <a:off x="6942354" y="5202924"/>
              <a:ext cx="441798" cy="156297"/>
            </a:xfrm>
            <a:prstGeom prst="rect">
              <a:avLst/>
            </a:prstGeom>
            <a:noFill/>
          </p:spPr>
          <p:txBody>
            <a:bodyPr wrap="none" anchor="ctr" lIns="0" rIns="0" tIns="0" bIns="0">
              <a:noAutofit/>
            </a:bodyPr>
            <a:lstStyle/>
            <a:p>
              <a:pPr algn="ctr"/>
              <a:r>
                <a:rPr sz="850" b="1">
                  <a:solidFill>
                    <a:srgbClr val="083F80"/>
                  </a:solidFill>
                  <a:latin typeface="맑은 고딕"/>
                  <a:ea typeface="맑은 고딕"/>
                  <a:cs typeface="맑은 고딕"/>
                </a:rPr>
                <a:t>DPE 8개</a:t>
              </a:r>
            </a:p>
          </p:txBody>
        </p:sp>
        <p:cxnSp>
          <p:nvCxnSpPr>
            <p:cNvPr id="121" name="Connector 120"/>
            <p:cNvCxnSpPr/>
            <p:nvPr/>
          </p:nvCxnSpPr>
          <p:spPr>
            <a:xfrm>
              <a:off x="8050758" y="4392656"/>
              <a:ext cx="119933" cy="0"/>
            </a:xfrm>
            <a:prstGeom prst="line">
              <a:avLst/>
            </a:prstGeom>
            <a:ln w="23986">
              <a:solidFill>
                <a:srgbClr val="083F80"/>
              </a:solidFill>
            </a:ln>
          </p:spPr>
          <p:style>
            <a:lnRef idx="2">
              <a:schemeClr val="accent1"/>
            </a:lnRef>
            <a:fillRef idx="0">
              <a:schemeClr val="accent1"/>
            </a:fillRef>
            <a:effectRef idx="1">
              <a:schemeClr val="accent1"/>
            </a:effectRef>
            <a:fontRef idx="minor">
              <a:schemeClr val="tx1"/>
            </a:fontRef>
          </p:style>
        </p:cxnSp>
        <p:sp>
          <p:nvSpPr>
            <p:cNvPr id="122" name="Freeform 121"/>
            <p:cNvSpPr/>
            <p:nvPr/>
          </p:nvSpPr>
          <p:spPr>
            <a:xfrm>
              <a:off x="8146705" y="4320696"/>
              <a:ext cx="167906" cy="143920"/>
            </a:xfrm>
            <a:custGeom>
              <a:avLst/>
              <a:gdLst/>
              <a:ahLst/>
              <a:cxnLst/>
              <a:rect l="l" t="t" r="r" b="b"/>
              <a:pathLst>
                <a:path w="167906" h="143920">
                  <a:moveTo>
                    <a:pt x="0" y="0"/>
                  </a:moveTo>
                  <a:lnTo>
                    <a:pt x="167906" y="71960"/>
                  </a:lnTo>
                  <a:lnTo>
                    <a:pt x="0" y="143920"/>
                  </a:lnTo>
                  <a:close/>
                </a:path>
              </a:pathLst>
            </a:cu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8290625" y="1922032"/>
              <a:ext cx="3334142" cy="3502049"/>
            </a:xfrm>
            <a:prstGeom prst="roundRect">
              <a:avLst>
                <a:gd name="adj" fmla="val 3597"/>
              </a:avLst>
            </a:prstGeom>
            <a:solidFill>
              <a:srgbClr val="F7FAFD"/>
            </a:solidFill>
            <a:ln w="23986">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248759" y="2052999"/>
              <a:ext cx="1417874" cy="225762"/>
            </a:xfrm>
            <a:prstGeom prst="rect">
              <a:avLst/>
            </a:prstGeom>
            <a:noFill/>
          </p:spPr>
          <p:txBody>
            <a:bodyPr wrap="none" anchor="ctr" lIns="0" rIns="0" tIns="0" bIns="0">
              <a:noAutofit/>
            </a:bodyPr>
            <a:lstStyle/>
            <a:p>
              <a:pPr algn="ctr"/>
              <a:r>
                <a:rPr sz="1230" b="1">
                  <a:solidFill>
                    <a:srgbClr val="083F80"/>
                  </a:solidFill>
                  <a:latin typeface="맑은 고딕"/>
                  <a:ea typeface="맑은 고딕"/>
                  <a:cs typeface="맑은 고딕"/>
                </a:rPr>
                <a:t>그래서 무엇이 되는가</a:t>
              </a:r>
            </a:p>
          </p:txBody>
        </p:sp>
        <p:sp>
          <p:nvSpPr>
            <p:cNvPr id="125" name="Rounded Rectangle 124"/>
            <p:cNvSpPr/>
            <p:nvPr/>
          </p:nvSpPr>
          <p:spPr>
            <a:xfrm>
              <a:off x="8482518" y="2401765"/>
              <a:ext cx="2950356" cy="815546"/>
            </a:xfrm>
            <a:prstGeom prst="roundRect">
              <a:avLst>
                <a:gd name="adj" fmla="val 10294"/>
              </a:avLst>
            </a:prstGeom>
            <a:solidFill>
              <a:srgbClr val="E3EEFB"/>
            </a:solidFill>
            <a:ln w="1918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252495" y="2529614"/>
              <a:ext cx="1410402" cy="199713"/>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 큰 SRAM 의 N개 뱅크</a:t>
              </a:r>
            </a:p>
          </p:txBody>
        </p:sp>
        <p:sp>
          <p:nvSpPr>
            <p:cNvPr id="127" name="TextBox 126"/>
            <p:cNvSpPr txBox="1"/>
            <p:nvPr/>
          </p:nvSpPr>
          <p:spPr>
            <a:xfrm>
              <a:off x="9259835" y="2793131"/>
              <a:ext cx="1395722" cy="170190"/>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N개 슬라이스에서 읽는 것이</a:t>
              </a:r>
            </a:p>
          </p:txBody>
        </p:sp>
        <p:sp>
          <p:nvSpPr>
            <p:cNvPr id="128" name="TextBox 127"/>
            <p:cNvSpPr txBox="1"/>
            <p:nvPr/>
          </p:nvSpPr>
          <p:spPr>
            <a:xfrm>
              <a:off x="9300737" y="2985024"/>
              <a:ext cx="1313918" cy="170190"/>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N개 뱅크를 읽는 것과 같다</a:t>
              </a:r>
            </a:p>
          </p:txBody>
        </p:sp>
        <p:sp>
          <p:nvSpPr>
            <p:cNvPr id="129" name="Rounded Rectangle 128"/>
            <p:cNvSpPr/>
            <p:nvPr/>
          </p:nvSpPr>
          <p:spPr>
            <a:xfrm>
              <a:off x="8482518" y="3337244"/>
              <a:ext cx="2950356" cy="911492"/>
            </a:xfrm>
            <a:prstGeom prst="roundRect">
              <a:avLst>
                <a:gd name="adj" fmla="val 9210"/>
              </a:avLst>
            </a:prstGeom>
            <a:solidFill>
              <a:srgbClr val="E2F4E8"/>
            </a:solidFill>
            <a:ln w="1918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37668" y="3465093"/>
              <a:ext cx="1440056" cy="199713"/>
            </a:xfrm>
            <a:prstGeom prst="rect">
              <a:avLst/>
            </a:prstGeom>
            <a:noFill/>
          </p:spPr>
          <p:txBody>
            <a:bodyPr wrap="none" anchor="ctr" lIns="0" rIns="0" tIns="0" bIns="0">
              <a:noAutofit/>
            </a:bodyPr>
            <a:lstStyle/>
            <a:p>
              <a:pPr algn="ctr"/>
              <a:r>
                <a:rPr sz="1090" b="1">
                  <a:solidFill>
                    <a:srgbClr val="1A7F37"/>
                  </a:solidFill>
                  <a:latin typeface="맑은 고딕"/>
                  <a:ea typeface="맑은 고딕"/>
                  <a:cs typeface="맑은 고딕"/>
                </a:rPr>
                <a:t>H × N 으로 재사용 전파</a:t>
              </a:r>
            </a:p>
          </p:txBody>
        </p:sp>
        <p:sp>
          <p:nvSpPr>
            <p:cNvPr id="131" name="TextBox 130"/>
            <p:cNvSpPr txBox="1"/>
            <p:nvPr/>
          </p:nvSpPr>
          <p:spPr>
            <a:xfrm>
              <a:off x="9303146" y="3728610"/>
              <a:ext cx="1309099" cy="170190"/>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H = CE 안의 DPE 개수 = 8</a:t>
              </a:r>
            </a:p>
          </p:txBody>
        </p:sp>
        <p:sp>
          <p:nvSpPr>
            <p:cNvPr id="132" name="TextBox 131"/>
            <p:cNvSpPr txBox="1"/>
            <p:nvPr/>
          </p:nvSpPr>
          <p:spPr>
            <a:xfrm>
              <a:off x="9374970" y="3968812"/>
              <a:ext cx="1165451" cy="199713"/>
            </a:xfrm>
            <a:prstGeom prst="rect">
              <a:avLst/>
            </a:prstGeom>
            <a:noFill/>
          </p:spPr>
          <p:txBody>
            <a:bodyPr wrap="none" anchor="ctr" lIns="0" rIns="0" tIns="0" bIns="0">
              <a:noAutofit/>
            </a:bodyPr>
            <a:lstStyle/>
            <a:p>
              <a:pPr algn="ctr"/>
              <a:r>
                <a:rPr sz="1090" b="1">
                  <a:solidFill>
                    <a:srgbClr val="1A7F37"/>
                  </a:solidFill>
                  <a:latin typeface="맑은 고딕"/>
                  <a:ea typeface="맑은 고딕"/>
                  <a:cs typeface="맑은 고딕"/>
                </a:rPr>
                <a:t>W 로 dot product</a:t>
              </a:r>
            </a:p>
          </p:txBody>
        </p:sp>
        <p:sp>
          <p:nvSpPr>
            <p:cNvPr id="133" name="Rounded Rectangle 132"/>
            <p:cNvSpPr/>
            <p:nvPr/>
          </p:nvSpPr>
          <p:spPr>
            <a:xfrm>
              <a:off x="8482518" y="4368669"/>
              <a:ext cx="2950356" cy="911492"/>
            </a:xfrm>
            <a:prstGeom prst="roundRect">
              <a:avLst>
                <a:gd name="adj" fmla="val 9210"/>
              </a:avLst>
            </a:prstGeom>
            <a:solidFill>
              <a:srgbClr val="FDEBD3"/>
            </a:solidFill>
            <a:ln w="1918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296168" y="4513548"/>
              <a:ext cx="1323055" cy="208396"/>
            </a:xfrm>
            <a:prstGeom prst="rect">
              <a:avLst/>
            </a:prstGeom>
            <a:noFill/>
          </p:spPr>
          <p:txBody>
            <a:bodyPr wrap="none" anchor="ctr" lIns="0" rIns="0" tIns="0" bIns="0">
              <a:noAutofit/>
            </a:bodyPr>
            <a:lstStyle/>
            <a:p>
              <a:pPr algn="ctr"/>
              <a:r>
                <a:rPr sz="1130" b="1">
                  <a:solidFill>
                    <a:srgbClr val="B45409"/>
                  </a:solidFill>
                  <a:latin typeface="맑은 고딕"/>
                  <a:ea typeface="맑은 고딕"/>
                  <a:cs typeface="맑은 고딕"/>
                </a:rPr>
                <a:t>큰 systolic array 와</a:t>
              </a:r>
            </a:p>
          </p:txBody>
        </p:sp>
        <p:sp>
          <p:nvSpPr>
            <p:cNvPr id="135" name="TextBox 134"/>
            <p:cNvSpPr txBox="1"/>
            <p:nvPr/>
          </p:nvSpPr>
          <p:spPr>
            <a:xfrm>
              <a:off x="9369496" y="4753415"/>
              <a:ext cx="1176401" cy="208396"/>
            </a:xfrm>
            <a:prstGeom prst="rect">
              <a:avLst/>
            </a:prstGeom>
            <a:noFill/>
          </p:spPr>
          <p:txBody>
            <a:bodyPr wrap="none" anchor="ctr" lIns="0" rIns="0" tIns="0" bIns="0">
              <a:noAutofit/>
            </a:bodyPr>
            <a:lstStyle/>
            <a:p>
              <a:pPr algn="ctr"/>
              <a:r>
                <a:rPr sz="1130" b="1">
                  <a:solidFill>
                    <a:srgbClr val="B45409"/>
                  </a:solidFill>
                  <a:latin typeface="맑은 고딕"/>
                  <a:ea typeface="맑은 고딕"/>
                  <a:cs typeface="맑은 고딕"/>
                </a:rPr>
                <a:t>유사한 동작이 된다</a:t>
              </a:r>
            </a:p>
          </p:txBody>
        </p:sp>
        <p:sp>
          <p:nvSpPr>
            <p:cNvPr id="136" name="TextBox 135"/>
            <p:cNvSpPr txBox="1"/>
            <p:nvPr/>
          </p:nvSpPr>
          <p:spPr>
            <a:xfrm>
              <a:off x="9249466" y="5028062"/>
              <a:ext cx="1416459" cy="164980"/>
            </a:xfrm>
            <a:prstGeom prst="rect">
              <a:avLst/>
            </a:prstGeom>
            <a:noFill/>
          </p:spPr>
          <p:txBody>
            <a:bodyPr wrap="none" anchor="ctr" lIns="0" rIns="0" tIns="0" bIns="0">
              <a:noAutofit/>
            </a:bodyPr>
            <a:lstStyle/>
            <a:p>
              <a:pPr algn="ctr"/>
              <a:r>
                <a:rPr sz="900" b="0">
                  <a:solidFill>
                    <a:srgbClr val="5B6B7B"/>
                  </a:solidFill>
                  <a:latin typeface="맑은 고딕"/>
                  <a:ea typeface="맑은 고딕"/>
                  <a:cs typeface="맑은 고딕"/>
                </a:rPr>
                <a:t>슬라이스 하나 = H × W MAC</a:t>
              </a:r>
            </a:p>
          </p:txBody>
        </p:sp>
      </p:grpSp>
      <p:sp>
        <p:nvSpPr>
          <p:cNvPr id="137" name="Rectangle 136"/>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슬라이스를 묶으면 큰 systolic array처럼, 떼면 독립 유닛처럼 — 같은 하드웨어의 두 얼굴이다.</a:t>
            </a:r>
          </a:p>
        </p:txBody>
      </p:sp>
      <p:sp>
        <p:nvSpPr>
          <p:cNvPr id="138" name="Rectangle 137"/>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슬라이스 간 협력 — N개 멀티캐스트가 큰 systolic array를 흉내낸다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N = 4 인 경우의 데이터 흐름</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102</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W 는 reduction tree 의 입력 개수다. 구체적 값과 데이터 타입별 차이는 다음 부(CE)에서 다룬다</a:t>
            </a:r>
          </a:p>
          <a:p>
            <a:pPr algn="l">
              <a:lnSpc>
                <a:spcPct val="118000"/>
              </a:lnSpc>
              <a:spcBef>
                <a:spcPts val="600"/>
              </a:spcBef>
              <a:spcAft>
                <a:spcPts val="200"/>
              </a:spcAft>
            </a:pPr>
            <a:r>
              <a:rPr sz="1900" b="0" i="0">
                <a:solidFill>
                  <a:srgbClr val="16202C"/>
                </a:solidFill>
                <a:latin typeface="Segoe UI"/>
                <a:ea typeface="맑은 고딕"/>
                <a:cs typeface="맑은 고딕"/>
              </a:rPr>
              <a:t>▪  그림의 N = 4 는 설명용 예시다. 논문은 멀티캐스트 그룹 크기를 고정값으로 밝히지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데이터는 항상 다차원 형태로 스트리밍되어 순차 전달된다. operation unit 의 sequencer 로직이 텐서 연산 전에 초기화된 control register 에 따라 입력 공급과 register/accumulator 인덱싱을 조율한다</a:t>
            </a:r>
          </a:p>
          <a:p>
            <a:pPr algn="l">
              <a:lnSpc>
                <a:spcPct val="118000"/>
              </a:lnSpc>
              <a:spcBef>
                <a:spcPts val="600"/>
              </a:spcBef>
              <a:spcAft>
                <a:spcPts val="200"/>
              </a:spcAft>
            </a:pPr>
            <a:r>
              <a:rPr sz="1900" b="0" i="0">
                <a:solidFill>
                  <a:srgbClr val="16202C"/>
                </a:solidFill>
                <a:latin typeface="Segoe UI"/>
                <a:ea typeface="맑은 고딕"/>
                <a:cs typeface="맑은 고딕"/>
              </a:rPr>
              <a:t>▪  물리적으로 SRAM 은 64조각으로 흩어져 있지만 fetch network 가 논리적으로 하나의 다뱅크 SRAM 처럼 보이게 만든다</a:t>
            </a:r>
          </a:p>
          <a:p>
            <a:pPr algn="l">
              <a:lnSpc>
                <a:spcPct val="118000"/>
              </a:lnSpc>
              <a:spcBef>
                <a:spcPts val="600"/>
              </a:spcBef>
              <a:spcAft>
                <a:spcPts val="200"/>
              </a:spcAft>
            </a:pPr>
            <a:r>
              <a:rPr sz="1900" b="0" i="0">
                <a:solidFill>
                  <a:srgbClr val="16202C"/>
                </a:solidFill>
                <a:latin typeface="Segoe UI"/>
                <a:ea typeface="맑은 고딕"/>
                <a:cs typeface="맑은 고딕"/>
              </a:rPr>
              <a:t>▪  이것이 'TCP 가 왜 거대 행렬 유닛을 버리고도 systolic array 수준의 재사용을 얻는가'에 대한 답이다</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소프트웨어가 고르는 3가지 data reuse 구성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103</a:t>
            </a:r>
          </a:p>
        </p:txBody>
      </p:sp>
      <p:graphicFrame>
        <p:nvGraphicFramePr>
          <p:cNvPr id="8" name="Table 7"/>
          <p:cNvGraphicFramePr>
            <a:graphicFrameLocks noGrp="1"/>
          </p:cNvGraphicFramePr>
          <p:nvPr/>
        </p:nvGraphicFramePr>
        <p:xfrm>
          <a:off x="566928" y="1517904"/>
          <a:ext cx="11057840" cy="1536192"/>
        </p:xfrm>
        <a:graphic>
          <a:graphicData uri="http://schemas.openxmlformats.org/drawingml/2006/table">
            <a:tbl>
              <a:tblPr firstRow="1" bandRow="1">
                <a:tableStyleId>{5C22544A-7EE6-4342-B048-85BDC9FD1C3A}</a:tableStyleId>
              </a:tblPr>
              <a:tblGrid>
                <a:gridCol w="3462556"/>
                <a:gridCol w="2457298"/>
                <a:gridCol w="5137986"/>
              </a:tblGrid>
              <a:tr h="384048">
                <a:tc>
                  <a:txBody>
                    <a:bodyPr wrap="square"/>
                    <a:lstStyle/>
                    <a:p>
                      <a:r>
                        <a:rPr sz="1000" b="1" i="0">
                          <a:solidFill>
                            <a:srgbClr val="FFFFFF"/>
                          </a:solidFill>
                          <a:latin typeface="Segoe UI"/>
                          <a:ea typeface="맑은 고딕"/>
                          <a:cs typeface="맑은 고딕"/>
                        </a:rPr>
                        <a:t>구성</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재사용에 쓰는 저장소</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설명</a:t>
                      </a:r>
                    </a:p>
                  </a:txBody>
                  <a:tcPr marL="73152" marR="73152" marT="27432" marB="27432">
                    <a:solidFill>
                      <a:srgbClr val="0B5FC0"/>
                    </a:solidFill>
                  </a:tcPr>
                </a:tc>
              </a:tr>
              <a:tr h="384048">
                <a:tc>
                  <a:txBody>
                    <a:bodyPr wrap="square"/>
                    <a:lstStyle/>
                    <a:p>
                      <a:r>
                        <a:rPr sz="1000" b="0" i="0">
                          <a:solidFill>
                            <a:srgbClr val="16202C"/>
                          </a:solidFill>
                          <a:latin typeface="Segoe UI"/>
                          <a:ea typeface="맑은 고딕"/>
                          <a:cs typeface="맑은 고딕"/>
                        </a:rPr>
                        <a:t>weight stationary (가중치 고정)</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CE의 register file</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레지스터 파일에 올려둔 가중치를 반복 사용한다</a:t>
                      </a:r>
                    </a:p>
                  </a:txBody>
                  <a:tcPr marL="73152" marR="73152" marT="27432" marB="27432">
                    <a:solidFill>
                      <a:srgbClr val="FFFFFF"/>
                    </a:solidFill>
                  </a:tcPr>
                </a:tc>
              </a:tr>
              <a:tr h="384048">
                <a:tc>
                  <a:txBody>
                    <a:bodyPr wrap="square"/>
                    <a:lstStyle/>
                    <a:p>
                      <a:r>
                        <a:rPr sz="1000" b="0" i="0">
                          <a:solidFill>
                            <a:srgbClr val="16202C"/>
                          </a:solidFill>
                          <a:latin typeface="Segoe UI"/>
                          <a:ea typeface="맑은 고딕"/>
                          <a:cs typeface="맑은 고딕"/>
                        </a:rPr>
                        <a:t>input stationary (입력 고정)</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CE 내부의 input buffer</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CE 안의 입력 버퍼에 담긴 입력을 반복 사용한다</a:t>
                      </a:r>
                    </a:p>
                  </a:txBody>
                  <a:tcPr marL="73152" marR="73152" marT="27432" marB="27432">
                    <a:solidFill>
                      <a:srgbClr val="F6F9FC"/>
                    </a:solidFill>
                  </a:tcPr>
                </a:tc>
              </a:tr>
              <a:tr h="384048">
                <a:tc>
                  <a:txBody>
                    <a:bodyPr wrap="square"/>
                    <a:lstStyle/>
                    <a:p>
                      <a:r>
                        <a:rPr sz="1000" b="0" i="0">
                          <a:solidFill>
                            <a:srgbClr val="16202C"/>
                          </a:solidFill>
                          <a:latin typeface="Segoe UI"/>
                          <a:ea typeface="맑은 고딕"/>
                          <a:cs typeface="맑은 고딕"/>
                        </a:rPr>
                        <a:t>output stationary (출력 고정)</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accumulator register</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누산 레지스터에 부분합(partial sum)을 유지한다</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재사용 전략이 하드웨어에 박혀 있지 않고 컴파일러의 선택지다.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 도입 — 슬라이스의 3단 compute pipeline</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TU 슬라이스는 data memory slice(데이터 메모리 슬라이스)와 compute pipeline(연산 파이프라인)으로 구성된다</a:t>
            </a:r>
          </a:p>
          <a:p>
            <a:pPr algn="l">
              <a:lnSpc>
                <a:spcPct val="118000"/>
              </a:lnSpc>
              <a:spcBef>
                <a:spcPts val="600"/>
              </a:spcBef>
              <a:spcAft>
                <a:spcPts val="200"/>
              </a:spcAft>
            </a:pPr>
            <a:r>
              <a:rPr sz="1700" b="1" i="0">
                <a:solidFill>
                  <a:srgbClr val="083F80"/>
                </a:solidFill>
                <a:latin typeface="Segoe UI"/>
                <a:ea typeface="맑은 고딕"/>
                <a:cs typeface="맑은 고딕"/>
              </a:rPr>
              <a:t>▪  compute pipeline은 텐서에 대한 연산을 수행하기 위해 3단으로 구조화된다</a:t>
            </a:r>
          </a:p>
          <a:p>
            <a:pPr algn="l">
              <a:lnSpc>
                <a:spcPct val="118000"/>
              </a:lnSpc>
              <a:spcBef>
                <a:spcPts val="200"/>
              </a:spcBef>
              <a:spcAft>
                <a:spcPts val="100"/>
              </a:spcAft>
            </a:pPr>
            <a:r>
              <a:rPr sz="1580" b="1" i="0">
                <a:solidFill>
                  <a:srgbClr val="2C3A4B"/>
                </a:solidFill>
                <a:latin typeface="Segoe UI"/>
                <a:ea typeface="맑은 고딕"/>
                <a:cs typeface="맑은 고딕"/>
              </a:rPr>
              <a:t>–  Fetch unit (FU, 페치 유닛)</a:t>
            </a:r>
          </a:p>
          <a:p>
            <a:pPr algn="l">
              <a:lnSpc>
                <a:spcPct val="118000"/>
              </a:lnSpc>
              <a:spcBef>
                <a:spcPts val="200"/>
              </a:spcBef>
              <a:spcAft>
                <a:spcPts val="100"/>
              </a:spcAft>
            </a:pPr>
            <a:r>
              <a:rPr sz="1580" b="0" i="0">
                <a:solidFill>
                  <a:srgbClr val="5B6B7B"/>
                </a:solidFill>
                <a:latin typeface="Segoe UI"/>
                <a:ea typeface="맑은 고딕"/>
                <a:cs typeface="맑은 고딕"/>
              </a:rPr>
              <a:t>·  data memory slice에서 텐서를 순차적으로 읽어, 요구되는 shape(형상)으로 operation unit에 공급한다</a:t>
            </a:r>
          </a:p>
          <a:p>
            <a:pPr algn="l">
              <a:lnSpc>
                <a:spcPct val="118000"/>
              </a:lnSpc>
              <a:spcBef>
                <a:spcPts val="200"/>
              </a:spcBef>
              <a:spcAft>
                <a:spcPts val="100"/>
              </a:spcAft>
            </a:pPr>
            <a:r>
              <a:rPr sz="1580" b="1" i="0">
                <a:solidFill>
                  <a:srgbClr val="2C3A4B"/>
                </a:solidFill>
                <a:latin typeface="Segoe UI"/>
                <a:ea typeface="맑은 고딕"/>
                <a:cs typeface="맑은 고딕"/>
              </a:rPr>
              <a:t>–  Operation unit (OU, 연산 유닛)</a:t>
            </a:r>
          </a:p>
          <a:p>
            <a:pPr algn="l">
              <a:lnSpc>
                <a:spcPct val="118000"/>
              </a:lnSpc>
              <a:spcBef>
                <a:spcPts val="200"/>
              </a:spcBef>
              <a:spcAft>
                <a:spcPts val="100"/>
              </a:spcAft>
            </a:pPr>
            <a:r>
              <a:rPr sz="1580" b="0" i="0">
                <a:solidFill>
                  <a:srgbClr val="5B6B7B"/>
                </a:solidFill>
                <a:latin typeface="Segoe UI"/>
                <a:ea typeface="맑은 고딕"/>
                <a:cs typeface="맑은 고딕"/>
              </a:rPr>
              <a:t>·  fetch unit이 공급한 데이터를 스트리밍하며 처리한다</a:t>
            </a:r>
          </a:p>
          <a:p>
            <a:pPr algn="l">
              <a:lnSpc>
                <a:spcPct val="118000"/>
              </a:lnSpc>
              <a:spcBef>
                <a:spcPts val="200"/>
              </a:spcBef>
              <a:spcAft>
                <a:spcPts val="100"/>
              </a:spcAft>
            </a:pPr>
            <a:r>
              <a:rPr sz="1580" b="0" i="0">
                <a:solidFill>
                  <a:srgbClr val="5B6B7B"/>
                </a:solidFill>
                <a:latin typeface="Segoe UI"/>
                <a:ea typeface="맑은 고딕"/>
                <a:cs typeface="맑은 고딕"/>
              </a:rPr>
              <a:t>·  contraction engine(CE), vector engine(VE), transpose engine(TE) 등으로 구성된다</a:t>
            </a:r>
          </a:p>
          <a:p>
            <a:pPr algn="l">
              <a:lnSpc>
                <a:spcPct val="118000"/>
              </a:lnSpc>
              <a:spcBef>
                <a:spcPts val="200"/>
              </a:spcBef>
              <a:spcAft>
                <a:spcPts val="100"/>
              </a:spcAft>
            </a:pPr>
            <a:r>
              <a:rPr sz="1580" b="1" i="0">
                <a:solidFill>
                  <a:srgbClr val="2C3A4B"/>
                </a:solidFill>
                <a:latin typeface="Segoe UI"/>
                <a:ea typeface="맑은 고딕"/>
                <a:cs typeface="맑은 고딕"/>
              </a:rPr>
              <a:t>–  Commit unit (CU, 커밋 유닛)</a:t>
            </a:r>
          </a:p>
          <a:p>
            <a:pPr algn="l">
              <a:lnSpc>
                <a:spcPct val="118000"/>
              </a:lnSpc>
              <a:spcBef>
                <a:spcPts val="200"/>
              </a:spcBef>
              <a:spcAft>
                <a:spcPts val="100"/>
              </a:spcAft>
            </a:pPr>
            <a:r>
              <a:rPr sz="1580" b="0" i="0">
                <a:solidFill>
                  <a:srgbClr val="5B6B7B"/>
                </a:solidFill>
                <a:latin typeface="Segoe UI"/>
                <a:ea typeface="맑은 고딕"/>
                <a:cs typeface="맑은 고딕"/>
              </a:rPr>
              <a:t>·  operation unit의 결과를 지정된 텐서 shape으로 data memory slice에 되돌려 저장한다</a:t>
            </a:r>
          </a:p>
          <a:p>
            <a:pPr algn="l">
              <a:lnSpc>
                <a:spcPct val="118000"/>
              </a:lnSpc>
              <a:spcBef>
                <a:spcPts val="600"/>
              </a:spcBef>
              <a:spcAft>
                <a:spcPts val="200"/>
              </a:spcAft>
            </a:pPr>
            <a:r>
              <a:rPr sz="1700" b="1" i="0">
                <a:solidFill>
                  <a:srgbClr val="083F80"/>
                </a:solidFill>
                <a:latin typeface="Segoe UI"/>
                <a:ea typeface="맑은 고딕"/>
                <a:cs typeface="맑은 고딕"/>
              </a:rPr>
              <a:t>▪  세 단계 모두 '순차 스트리밍'이 전제다. 임의 접근이 아니라 시퀀서가 만들어 낸 주소 순서를 따라 흐른다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 operate → commit. 이 3단이 슬라이스 하나의 전부다.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§IV-A Data Memory (DM) slice</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뱅크 구조 · 동시 접근 · 가상 주소</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105</a:t>
            </a:r>
          </a:p>
        </p:txBody>
      </p:sp>
      <p:grpSp>
        <p:nvGrpSpPr>
          <p:cNvPr id="9" name="도해 A4#11"/>
          <p:cNvGrpSpPr/>
          <p:nvPr/>
        </p:nvGrpSpPr>
        <p:grpSpPr>
          <a:xfrm>
            <a:off x="566928" y="1768355"/>
            <a:ext cx="11057839" cy="3467594"/>
            <a:chOff x="566928" y="1768355"/>
            <a:chExt cx="11057839" cy="3467594"/>
          </a:xfrm>
        </p:grpSpPr>
        <p:sp>
          <p:nvSpPr>
            <p:cNvPr id="10" name="TextBox 9"/>
            <p:cNvSpPr txBox="1"/>
            <p:nvPr/>
          </p:nvSpPr>
          <p:spPr>
            <a:xfrm>
              <a:off x="566928" y="1768355"/>
              <a:ext cx="3813602" cy="217551"/>
            </a:xfrm>
            <a:prstGeom prst="rect">
              <a:avLst/>
            </a:prstGeom>
            <a:noFill/>
          </p:spPr>
          <p:txBody>
            <a:bodyPr wrap="none" anchor="ctr" lIns="0" rIns="0" tIns="0" bIns="0">
              <a:noAutofit/>
            </a:bodyPr>
            <a:lstStyle/>
            <a:p>
              <a:pPr algn="l"/>
              <a:r>
                <a:rPr sz="1180" b="1">
                  <a:solidFill>
                    <a:srgbClr val="16202C"/>
                  </a:solidFill>
                  <a:latin typeface="맑은 고딕"/>
                  <a:ea typeface="맑은 고딕"/>
                  <a:cs typeface="맑은 고딕"/>
                </a:rPr>
                <a:t>DM slice 하나 — scratch pad 로 동작하며 텐서를 저장한다</a:t>
              </a:r>
            </a:p>
          </p:txBody>
        </p:sp>
        <p:sp>
          <p:nvSpPr>
            <p:cNvPr id="11" name="Rounded Rectangle 10"/>
            <p:cNvSpPr/>
            <p:nvPr/>
          </p:nvSpPr>
          <p:spPr>
            <a:xfrm>
              <a:off x="566928" y="2134946"/>
              <a:ext cx="6730859" cy="1802909"/>
            </a:xfrm>
            <a:prstGeom prst="roundRect">
              <a:avLst>
                <a:gd name="adj" fmla="val 5333"/>
              </a:avLst>
            </a:prstGeom>
            <a:solidFill>
              <a:srgbClr val="F4F8FD"/>
            </a:solidFill>
            <a:ln w="2403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207" y="2249131"/>
              <a:ext cx="2232301" cy="21755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Data Memory slice — 뱅크 16개</a:t>
              </a:r>
            </a:p>
          </p:txBody>
        </p:sp>
        <p:sp>
          <p:nvSpPr>
            <p:cNvPr id="13" name="Rounded Rectangle 12"/>
            <p:cNvSpPr/>
            <p:nvPr/>
          </p:nvSpPr>
          <p:spPr>
            <a:xfrm>
              <a:off x="807316"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1936"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76557"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961177"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45798"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730418"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115039"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99659"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84280"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68900"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53521"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38141"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22762"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807382"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92003"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76623" y="2567644"/>
              <a:ext cx="312504" cy="697125"/>
            </a:xfrm>
            <a:prstGeom prst="roundRect">
              <a:avLst>
                <a:gd name="adj" fmla="val 11538"/>
              </a:avLst>
            </a:prstGeom>
            <a:solidFill>
              <a:srgbClr val="CBE0F7"/>
            </a:solidFill>
            <a:ln w="1201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266"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0" name="TextBox 29"/>
            <p:cNvSpPr txBox="1"/>
            <p:nvPr/>
          </p:nvSpPr>
          <p:spPr>
            <a:xfrm>
              <a:off x="1267887"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1" name="TextBox 30"/>
            <p:cNvSpPr txBox="1"/>
            <p:nvPr/>
          </p:nvSpPr>
          <p:spPr>
            <a:xfrm>
              <a:off x="1652507"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2" name="TextBox 31"/>
            <p:cNvSpPr txBox="1"/>
            <p:nvPr/>
          </p:nvSpPr>
          <p:spPr>
            <a:xfrm>
              <a:off x="2037128"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3" name="TextBox 32"/>
            <p:cNvSpPr txBox="1"/>
            <p:nvPr/>
          </p:nvSpPr>
          <p:spPr>
            <a:xfrm>
              <a:off x="2421748"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4" name="TextBox 33"/>
            <p:cNvSpPr txBox="1"/>
            <p:nvPr/>
          </p:nvSpPr>
          <p:spPr>
            <a:xfrm>
              <a:off x="2806369"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5" name="TextBox 34"/>
            <p:cNvSpPr txBox="1"/>
            <p:nvPr/>
          </p:nvSpPr>
          <p:spPr>
            <a:xfrm>
              <a:off x="3190989"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6" name="TextBox 35"/>
            <p:cNvSpPr txBox="1"/>
            <p:nvPr/>
          </p:nvSpPr>
          <p:spPr>
            <a:xfrm>
              <a:off x="3575610"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7" name="TextBox 36"/>
            <p:cNvSpPr txBox="1"/>
            <p:nvPr/>
          </p:nvSpPr>
          <p:spPr>
            <a:xfrm>
              <a:off x="3960230"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8" name="TextBox 37"/>
            <p:cNvSpPr txBox="1"/>
            <p:nvPr/>
          </p:nvSpPr>
          <p:spPr>
            <a:xfrm>
              <a:off x="4344851"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39" name="TextBox 38"/>
            <p:cNvSpPr txBox="1"/>
            <p:nvPr/>
          </p:nvSpPr>
          <p:spPr>
            <a:xfrm>
              <a:off x="4729471"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0" name="TextBox 39"/>
            <p:cNvSpPr txBox="1"/>
            <p:nvPr/>
          </p:nvSpPr>
          <p:spPr>
            <a:xfrm>
              <a:off x="5114092"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1" name="TextBox 40"/>
            <p:cNvSpPr txBox="1"/>
            <p:nvPr/>
          </p:nvSpPr>
          <p:spPr>
            <a:xfrm>
              <a:off x="5498712"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2" name="TextBox 41"/>
            <p:cNvSpPr txBox="1"/>
            <p:nvPr/>
          </p:nvSpPr>
          <p:spPr>
            <a:xfrm>
              <a:off x="5883333"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3" name="TextBox 42"/>
            <p:cNvSpPr txBox="1"/>
            <p:nvPr/>
          </p:nvSpPr>
          <p:spPr>
            <a:xfrm>
              <a:off x="6267953"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4" name="TextBox 43"/>
            <p:cNvSpPr txBox="1"/>
            <p:nvPr/>
          </p:nvSpPr>
          <p:spPr>
            <a:xfrm>
              <a:off x="6652574" y="2845773"/>
              <a:ext cx="160603" cy="147935"/>
            </a:xfrm>
            <a:prstGeom prst="rect">
              <a:avLst/>
            </a:prstGeom>
            <a:noFill/>
          </p:spPr>
          <p:txBody>
            <a:bodyPr wrap="none" anchor="ctr" lIns="0" rIns="0" tIns="0" bIns="0">
              <a:noAutofit/>
            </a:bodyPr>
            <a:lstStyle/>
            <a:p>
              <a:pPr algn="ctr"/>
              <a:r>
                <a:rPr sz="800" b="0">
                  <a:solidFill>
                    <a:srgbClr val="083F80"/>
                  </a:solidFill>
                  <a:latin typeface="맑은 고딕"/>
                  <a:ea typeface="맑은 고딕"/>
                  <a:cs typeface="맑은 고딕"/>
                </a:rPr>
                <a:t>8B</a:t>
              </a:r>
            </a:p>
          </p:txBody>
        </p:sp>
        <p:sp>
          <p:nvSpPr>
            <p:cNvPr id="45" name="TextBox 44"/>
            <p:cNvSpPr txBox="1"/>
            <p:nvPr/>
          </p:nvSpPr>
          <p:spPr>
            <a:xfrm>
              <a:off x="919577"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0</a:t>
              </a:r>
            </a:p>
          </p:txBody>
        </p:sp>
        <p:sp>
          <p:nvSpPr>
            <p:cNvPr id="46" name="TextBox 45"/>
            <p:cNvSpPr txBox="1"/>
            <p:nvPr/>
          </p:nvSpPr>
          <p:spPr>
            <a:xfrm>
              <a:off x="1304197"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a:t>
              </a:r>
            </a:p>
          </p:txBody>
        </p:sp>
        <p:sp>
          <p:nvSpPr>
            <p:cNvPr id="47" name="TextBox 46"/>
            <p:cNvSpPr txBox="1"/>
            <p:nvPr/>
          </p:nvSpPr>
          <p:spPr>
            <a:xfrm>
              <a:off x="1688818"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2</a:t>
              </a:r>
            </a:p>
          </p:txBody>
        </p:sp>
        <p:sp>
          <p:nvSpPr>
            <p:cNvPr id="48" name="TextBox 47"/>
            <p:cNvSpPr txBox="1"/>
            <p:nvPr/>
          </p:nvSpPr>
          <p:spPr>
            <a:xfrm>
              <a:off x="2073438"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3</a:t>
              </a:r>
            </a:p>
          </p:txBody>
        </p:sp>
        <p:sp>
          <p:nvSpPr>
            <p:cNvPr id="49" name="TextBox 48"/>
            <p:cNvSpPr txBox="1"/>
            <p:nvPr/>
          </p:nvSpPr>
          <p:spPr>
            <a:xfrm>
              <a:off x="2458059"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4</a:t>
              </a:r>
            </a:p>
          </p:txBody>
        </p:sp>
        <p:sp>
          <p:nvSpPr>
            <p:cNvPr id="50" name="TextBox 49"/>
            <p:cNvSpPr txBox="1"/>
            <p:nvPr/>
          </p:nvSpPr>
          <p:spPr>
            <a:xfrm>
              <a:off x="2842679"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5</a:t>
              </a:r>
            </a:p>
          </p:txBody>
        </p:sp>
        <p:sp>
          <p:nvSpPr>
            <p:cNvPr id="51" name="TextBox 50"/>
            <p:cNvSpPr txBox="1"/>
            <p:nvPr/>
          </p:nvSpPr>
          <p:spPr>
            <a:xfrm>
              <a:off x="3227300"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6</a:t>
              </a:r>
            </a:p>
          </p:txBody>
        </p:sp>
        <p:sp>
          <p:nvSpPr>
            <p:cNvPr id="52" name="TextBox 51"/>
            <p:cNvSpPr txBox="1"/>
            <p:nvPr/>
          </p:nvSpPr>
          <p:spPr>
            <a:xfrm>
              <a:off x="3611920"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7</a:t>
              </a:r>
            </a:p>
          </p:txBody>
        </p:sp>
        <p:sp>
          <p:nvSpPr>
            <p:cNvPr id="53" name="TextBox 52"/>
            <p:cNvSpPr txBox="1"/>
            <p:nvPr/>
          </p:nvSpPr>
          <p:spPr>
            <a:xfrm>
              <a:off x="3996541"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8</a:t>
              </a:r>
            </a:p>
          </p:txBody>
        </p:sp>
        <p:sp>
          <p:nvSpPr>
            <p:cNvPr id="54" name="TextBox 53"/>
            <p:cNvSpPr txBox="1"/>
            <p:nvPr/>
          </p:nvSpPr>
          <p:spPr>
            <a:xfrm>
              <a:off x="4381161" y="3321501"/>
              <a:ext cx="87982"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9</a:t>
              </a:r>
            </a:p>
          </p:txBody>
        </p:sp>
        <p:sp>
          <p:nvSpPr>
            <p:cNvPr id="55" name="TextBox 54"/>
            <p:cNvSpPr txBox="1"/>
            <p:nvPr/>
          </p:nvSpPr>
          <p:spPr>
            <a:xfrm>
              <a:off x="4739099"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10</a:t>
              </a:r>
            </a:p>
          </p:txBody>
        </p:sp>
        <p:sp>
          <p:nvSpPr>
            <p:cNvPr id="56" name="TextBox 55"/>
            <p:cNvSpPr txBox="1"/>
            <p:nvPr/>
          </p:nvSpPr>
          <p:spPr>
            <a:xfrm>
              <a:off x="5123719"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11</a:t>
              </a:r>
            </a:p>
          </p:txBody>
        </p:sp>
        <p:sp>
          <p:nvSpPr>
            <p:cNvPr id="57" name="TextBox 56"/>
            <p:cNvSpPr txBox="1"/>
            <p:nvPr/>
          </p:nvSpPr>
          <p:spPr>
            <a:xfrm>
              <a:off x="5508340"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12</a:t>
              </a:r>
            </a:p>
          </p:txBody>
        </p:sp>
        <p:sp>
          <p:nvSpPr>
            <p:cNvPr id="58" name="TextBox 57"/>
            <p:cNvSpPr txBox="1"/>
            <p:nvPr/>
          </p:nvSpPr>
          <p:spPr>
            <a:xfrm>
              <a:off x="5892960"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13</a:t>
              </a:r>
            </a:p>
          </p:txBody>
        </p:sp>
        <p:sp>
          <p:nvSpPr>
            <p:cNvPr id="59" name="TextBox 58"/>
            <p:cNvSpPr txBox="1"/>
            <p:nvPr/>
          </p:nvSpPr>
          <p:spPr>
            <a:xfrm>
              <a:off x="6277581"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14</a:t>
              </a:r>
            </a:p>
          </p:txBody>
        </p:sp>
        <p:sp>
          <p:nvSpPr>
            <p:cNvPr id="60" name="TextBox 59"/>
            <p:cNvSpPr txBox="1"/>
            <p:nvPr/>
          </p:nvSpPr>
          <p:spPr>
            <a:xfrm>
              <a:off x="6662201" y="3321501"/>
              <a:ext cx="141348" cy="139233"/>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15</a:t>
              </a:r>
            </a:p>
          </p:txBody>
        </p:sp>
        <p:sp>
          <p:nvSpPr>
            <p:cNvPr id="61" name="TextBox 60"/>
            <p:cNvSpPr txBox="1"/>
            <p:nvPr/>
          </p:nvSpPr>
          <p:spPr>
            <a:xfrm>
              <a:off x="2131796" y="3609245"/>
              <a:ext cx="3601123" cy="200147"/>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16 뱅크 × 8 B = 128 B/사이클 → 슬라이스당 최대 128 GB/s</a:t>
              </a:r>
            </a:p>
          </p:txBody>
        </p:sp>
        <p:sp>
          <p:nvSpPr>
            <p:cNvPr id="62" name="Rounded Rectangle 61"/>
            <p:cNvSpPr/>
            <p:nvPr/>
          </p:nvSpPr>
          <p:spPr>
            <a:xfrm>
              <a:off x="7586252" y="2134946"/>
              <a:ext cx="4038515" cy="1802909"/>
            </a:xfrm>
            <a:prstGeom prst="roundRect">
              <a:avLst>
                <a:gd name="adj" fmla="val 5333"/>
              </a:avLst>
            </a:prstGeom>
            <a:solidFill>
              <a:srgbClr val="EEF2F7"/>
            </a:solidFill>
            <a:ln w="2163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84134" y="2273169"/>
              <a:ext cx="1642750" cy="217551"/>
            </a:xfrm>
            <a:prstGeom prst="rect">
              <a:avLst/>
            </a:prstGeom>
            <a:noFill/>
          </p:spPr>
          <p:txBody>
            <a:bodyPr wrap="none" anchor="ctr" lIns="0" rIns="0" tIns="0" bIns="0">
              <a:noAutofit/>
            </a:bodyPr>
            <a:lstStyle/>
            <a:p>
              <a:pPr algn="ctr"/>
              <a:r>
                <a:rPr sz="1180" b="1">
                  <a:solidFill>
                    <a:srgbClr val="16202C"/>
                  </a:solidFill>
                  <a:latin typeface="맑은 고딕"/>
                  <a:ea typeface="맑은 고딕"/>
                  <a:cs typeface="맑은 고딕"/>
                </a:rPr>
                <a:t>용량은 어디까지 밝혀졌나</a:t>
              </a:r>
            </a:p>
          </p:txBody>
        </p:sp>
        <p:sp>
          <p:nvSpPr>
            <p:cNvPr id="64" name="TextBox 63"/>
            <p:cNvSpPr txBox="1"/>
            <p:nvPr/>
          </p:nvSpPr>
          <p:spPr>
            <a:xfrm>
              <a:off x="7802601" y="2630626"/>
              <a:ext cx="1422615" cy="191445"/>
            </a:xfrm>
            <a:prstGeom prst="rect">
              <a:avLst/>
            </a:prstGeom>
            <a:noFill/>
          </p:spPr>
          <p:txBody>
            <a:bodyPr wrap="none" anchor="ctr" lIns="0" rIns="0" tIns="0" bIns="0">
              <a:noAutofit/>
            </a:bodyPr>
            <a:lstStyle/>
            <a:p>
              <a:pPr algn="l"/>
              <a:r>
                <a:rPr sz="1040" b="0">
                  <a:solidFill>
                    <a:srgbClr val="16202C"/>
                  </a:solidFill>
                  <a:latin typeface="맑은 고딕"/>
                  <a:ea typeface="맑은 고딕"/>
                  <a:cs typeface="맑은 고딕"/>
                </a:rPr>
                <a:t>TU 전체 SRAM — 32 MB</a:t>
              </a:r>
            </a:p>
          </p:txBody>
        </p:sp>
        <p:sp>
          <p:nvSpPr>
            <p:cNvPr id="65" name="TextBox 64"/>
            <p:cNvSpPr txBox="1"/>
            <p:nvPr/>
          </p:nvSpPr>
          <p:spPr>
            <a:xfrm>
              <a:off x="7802601" y="2919091"/>
              <a:ext cx="2249213" cy="191445"/>
            </a:xfrm>
            <a:prstGeom prst="rect">
              <a:avLst/>
            </a:prstGeom>
            <a:noFill/>
          </p:spPr>
          <p:txBody>
            <a:bodyPr wrap="none" anchor="ctr" lIns="0" rIns="0" tIns="0" bIns="0">
              <a:noAutofit/>
            </a:bodyPr>
            <a:lstStyle/>
            <a:p>
              <a:pPr algn="l"/>
              <a:r>
                <a:rPr sz="1040" b="0">
                  <a:solidFill>
                    <a:srgbClr val="16202C"/>
                  </a:solidFill>
                  <a:latin typeface="맑은 고딕"/>
                  <a:ea typeface="맑은 고딕"/>
                  <a:cs typeface="맑은 고딕"/>
                </a:rPr>
                <a:t>칩 전체 — 256 MB · 384 TB/s (Table I)</a:t>
              </a:r>
            </a:p>
          </p:txBody>
        </p:sp>
        <p:sp>
          <p:nvSpPr>
            <p:cNvPr id="66" name="TextBox 65"/>
            <p:cNvSpPr txBox="1"/>
            <p:nvPr/>
          </p:nvSpPr>
          <p:spPr>
            <a:xfrm>
              <a:off x="7802601" y="3272702"/>
              <a:ext cx="1826755" cy="200147"/>
            </a:xfrm>
            <a:prstGeom prst="rect">
              <a:avLst/>
            </a:prstGeom>
            <a:noFill/>
          </p:spPr>
          <p:txBody>
            <a:bodyPr wrap="none" anchor="ctr" lIns="0" rIns="0" tIns="0" bIns="0">
              <a:noAutofit/>
            </a:bodyPr>
            <a:lstStyle/>
            <a:p>
              <a:pPr algn="l"/>
              <a:r>
                <a:rPr sz="1090" b="1">
                  <a:solidFill>
                    <a:srgbClr val="B4222A"/>
                  </a:solidFill>
                  <a:latin typeface="맑은 고딕"/>
                  <a:ea typeface="맑은 고딕"/>
                  <a:cs typeface="맑은 고딕"/>
                </a:rPr>
                <a:t>슬라이스당 용량 — 논문에 없다</a:t>
              </a:r>
            </a:p>
          </p:txBody>
        </p:sp>
        <p:sp>
          <p:nvSpPr>
            <p:cNvPr id="67" name="TextBox 66"/>
            <p:cNvSpPr txBox="1"/>
            <p:nvPr/>
          </p:nvSpPr>
          <p:spPr>
            <a:xfrm>
              <a:off x="7802601" y="3565013"/>
              <a:ext cx="1806052" cy="165339"/>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32 MB ÷ 64 로 추정해 말하지 않는다</a:t>
              </a:r>
            </a:p>
          </p:txBody>
        </p:sp>
        <p:sp>
          <p:nvSpPr>
            <p:cNvPr id="68" name="Rounded Rectangle 67"/>
            <p:cNvSpPr/>
            <p:nvPr/>
          </p:nvSpPr>
          <p:spPr>
            <a:xfrm>
              <a:off x="566928" y="4130165"/>
              <a:ext cx="6730859" cy="1105784"/>
            </a:xfrm>
            <a:prstGeom prst="roundRect">
              <a:avLst>
                <a:gd name="adj" fmla="val 8695"/>
              </a:avLst>
            </a:prstGeom>
            <a:solidFill>
              <a:srgbClr val="F7FAFD"/>
            </a:solidFill>
            <a:ln w="192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03745" y="4234253"/>
              <a:ext cx="3257225" cy="200147"/>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동시 데이터 전송 — 16뱅크의 bank level parallelism</a:t>
              </a:r>
            </a:p>
          </p:txBody>
        </p:sp>
        <p:sp>
          <p:nvSpPr>
            <p:cNvPr id="70" name="Rounded Rectangle 69"/>
            <p:cNvSpPr/>
            <p:nvPr/>
          </p:nvSpPr>
          <p:spPr>
            <a:xfrm>
              <a:off x="807316" y="4538824"/>
              <a:ext cx="1802909" cy="288465"/>
            </a:xfrm>
            <a:prstGeom prst="roundRect">
              <a:avLst>
                <a:gd name="adj" fmla="val 20833"/>
              </a:avLst>
            </a:prstGeom>
            <a:solidFill>
              <a:srgbClr val="FDE8E8"/>
            </a:solidFill>
            <a:ln w="16827">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301914" y="4603729"/>
              <a:ext cx="813713" cy="174041"/>
            </a:xfrm>
            <a:prstGeom prst="rect">
              <a:avLst/>
            </a:prstGeom>
            <a:noFill/>
          </p:spPr>
          <p:txBody>
            <a:bodyPr wrap="none" anchor="ctr" lIns="0" rIns="0" tIns="0" bIns="0">
              <a:noAutofit/>
            </a:bodyPr>
            <a:lstStyle/>
            <a:p>
              <a:pPr algn="ctr"/>
              <a:r>
                <a:rPr sz="950" b="1">
                  <a:solidFill>
                    <a:srgbClr val="B4222A"/>
                  </a:solidFill>
                  <a:latin typeface="맑은 고딕"/>
                  <a:ea typeface="맑은 고딕"/>
                  <a:cs typeface="맑은 고딕"/>
                </a:rPr>
                <a:t>main context</a:t>
              </a:r>
            </a:p>
          </p:txBody>
        </p:sp>
        <p:sp>
          <p:nvSpPr>
            <p:cNvPr id="72" name="TextBox 71"/>
            <p:cNvSpPr txBox="1"/>
            <p:nvPr/>
          </p:nvSpPr>
          <p:spPr>
            <a:xfrm>
              <a:off x="2754457" y="4603729"/>
              <a:ext cx="1520813" cy="174041"/>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HBM 과 주고받는 텐서 트래픽</a:t>
              </a:r>
            </a:p>
          </p:txBody>
        </p:sp>
        <p:sp>
          <p:nvSpPr>
            <p:cNvPr id="73" name="Rounded Rectangle 72"/>
            <p:cNvSpPr/>
            <p:nvPr/>
          </p:nvSpPr>
          <p:spPr>
            <a:xfrm>
              <a:off x="807316" y="4899406"/>
              <a:ext cx="1802909" cy="288465"/>
            </a:xfrm>
            <a:prstGeom prst="roundRect">
              <a:avLst>
                <a:gd name="adj" fmla="val 20833"/>
              </a:avLst>
            </a:prstGeom>
            <a:solidFill>
              <a:srgbClr val="E3EEFB"/>
            </a:solidFill>
            <a:ln w="1682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345424" y="4964311"/>
              <a:ext cx="726692" cy="174041"/>
            </a:xfrm>
            <a:prstGeom prst="rect">
              <a:avLst/>
            </a:prstGeom>
            <a:noFill/>
          </p:spPr>
          <p:txBody>
            <a:bodyPr wrap="none" anchor="ctr" lIns="0" rIns="0" tIns="0" bIns="0">
              <a:noAutofit/>
            </a:bodyPr>
            <a:lstStyle/>
            <a:p>
              <a:pPr algn="ctr"/>
              <a:r>
                <a:rPr sz="950" b="1">
                  <a:solidFill>
                    <a:srgbClr val="0B5FC0"/>
                  </a:solidFill>
                  <a:latin typeface="맑은 고딕"/>
                  <a:ea typeface="맑은 고딕"/>
                  <a:cs typeface="맑은 고딕"/>
                </a:rPr>
                <a:t>sub context</a:t>
              </a:r>
            </a:p>
          </p:txBody>
        </p:sp>
        <p:sp>
          <p:nvSpPr>
            <p:cNvPr id="75" name="TextBox 74"/>
            <p:cNvSpPr txBox="1"/>
            <p:nvPr/>
          </p:nvSpPr>
          <p:spPr>
            <a:xfrm>
              <a:off x="2754457" y="4964311"/>
              <a:ext cx="1697258" cy="174041"/>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sub-context 를 위한 데이터 이동</a:t>
              </a:r>
            </a:p>
          </p:txBody>
        </p:sp>
        <p:cxnSp>
          <p:nvCxnSpPr>
            <p:cNvPr id="76" name="Connector 75"/>
            <p:cNvCxnSpPr/>
            <p:nvPr/>
          </p:nvCxnSpPr>
          <p:spPr>
            <a:xfrm>
              <a:off x="5134296" y="4683057"/>
              <a:ext cx="192311" cy="0"/>
            </a:xfrm>
            <a:prstGeom prst="line">
              <a:avLst/>
            </a:prstGeom>
            <a:ln w="19231">
              <a:solidFill>
                <a:srgbClr val="B4222A"/>
              </a:solidFill>
            </a:ln>
          </p:spPr>
          <p:style>
            <a:lnRef idx="2">
              <a:schemeClr val="accent1"/>
            </a:lnRef>
            <a:fillRef idx="0">
              <a:schemeClr val="accent1"/>
            </a:fillRef>
            <a:effectRef idx="1">
              <a:schemeClr val="accent1"/>
            </a:effectRef>
            <a:fontRef idx="minor">
              <a:schemeClr val="tx1"/>
            </a:fontRef>
          </p:style>
        </p:cxnSp>
        <p:sp>
          <p:nvSpPr>
            <p:cNvPr id="77" name="Freeform 76"/>
            <p:cNvSpPr/>
            <p:nvPr/>
          </p:nvSpPr>
          <p:spPr>
            <a:xfrm>
              <a:off x="5302568" y="4610941"/>
              <a:ext cx="168271" cy="144232"/>
            </a:xfrm>
            <a:custGeom>
              <a:avLst/>
              <a:gdLst/>
              <a:ahLst/>
              <a:cxnLst/>
              <a:rect l="l" t="t" r="r" b="b"/>
              <a:pathLst>
                <a:path w="168271" h="144232">
                  <a:moveTo>
                    <a:pt x="0" y="0"/>
                  </a:moveTo>
                  <a:lnTo>
                    <a:pt x="168271" y="72116"/>
                  </a:lnTo>
                  <a:lnTo>
                    <a:pt x="0" y="144232"/>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5134296" y="5043639"/>
              <a:ext cx="192311" cy="0"/>
            </a:xfrm>
            <a:prstGeom prst="line">
              <a:avLst/>
            </a:prstGeom>
            <a:ln w="19231">
              <a:solidFill>
                <a:srgbClr val="0B5FC0"/>
              </a:solidFill>
            </a:ln>
          </p:spPr>
          <p:style>
            <a:lnRef idx="2">
              <a:schemeClr val="accent1"/>
            </a:lnRef>
            <a:fillRef idx="0">
              <a:schemeClr val="accent1"/>
            </a:fillRef>
            <a:effectRef idx="1">
              <a:schemeClr val="accent1"/>
            </a:effectRef>
            <a:fontRef idx="minor">
              <a:schemeClr val="tx1"/>
            </a:fontRef>
          </p:style>
        </p:cxnSp>
        <p:sp>
          <p:nvSpPr>
            <p:cNvPr id="79" name="Freeform 78"/>
            <p:cNvSpPr/>
            <p:nvPr/>
          </p:nvSpPr>
          <p:spPr>
            <a:xfrm>
              <a:off x="5302568" y="4971522"/>
              <a:ext cx="168271" cy="144233"/>
            </a:xfrm>
            <a:custGeom>
              <a:avLst/>
              <a:gdLst/>
              <a:ahLst/>
              <a:cxnLst/>
              <a:rect l="l" t="t" r="r" b="b"/>
              <a:pathLst>
                <a:path w="168271" h="144233">
                  <a:moveTo>
                    <a:pt x="0" y="0"/>
                  </a:moveTo>
                  <a:lnTo>
                    <a:pt x="168271" y="72117"/>
                  </a:lnTo>
                  <a:lnTo>
                    <a:pt x="0" y="144233"/>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5518917" y="4514786"/>
              <a:ext cx="1586560" cy="697125"/>
            </a:xfrm>
            <a:prstGeom prst="roundRect">
              <a:avLst>
                <a:gd name="adj" fmla="val 10344"/>
              </a:avLst>
            </a:prstGeom>
            <a:solidFill>
              <a:srgbClr val="E2F4E8"/>
            </a:solidFill>
            <a:ln w="1802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984887" y="4656855"/>
              <a:ext cx="654618" cy="182743"/>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동시에 처리</a:t>
              </a:r>
            </a:p>
          </p:txBody>
        </p:sp>
        <p:sp>
          <p:nvSpPr>
            <p:cNvPr id="82" name="TextBox 81"/>
            <p:cNvSpPr txBox="1"/>
            <p:nvPr/>
          </p:nvSpPr>
          <p:spPr>
            <a:xfrm>
              <a:off x="5898393" y="4911185"/>
              <a:ext cx="827607"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서로 막지 않는다</a:t>
              </a:r>
            </a:p>
          </p:txBody>
        </p:sp>
        <p:sp>
          <p:nvSpPr>
            <p:cNvPr id="83" name="Rounded Rectangle 82"/>
            <p:cNvSpPr/>
            <p:nvPr/>
          </p:nvSpPr>
          <p:spPr>
            <a:xfrm>
              <a:off x="7586252" y="4130165"/>
              <a:ext cx="4038515" cy="1105784"/>
            </a:xfrm>
            <a:prstGeom prst="roundRect">
              <a:avLst>
                <a:gd name="adj" fmla="val 8695"/>
              </a:avLst>
            </a:prstGeom>
            <a:solidFill>
              <a:srgbClr val="FFF7E6"/>
            </a:solidFill>
            <a:ln w="192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97112" y="4234253"/>
              <a:ext cx="1616794" cy="200147"/>
            </a:xfrm>
            <a:prstGeom prst="rect">
              <a:avLst/>
            </a:prstGeom>
            <a:noFill/>
          </p:spPr>
          <p:txBody>
            <a:bodyPr wrap="none" anchor="ctr" lIns="0" rIns="0" tIns="0" bIns="0">
              <a:noAutofit/>
            </a:bodyPr>
            <a:lstStyle/>
            <a:p>
              <a:pPr algn="ctr"/>
              <a:r>
                <a:rPr sz="1090" b="1">
                  <a:solidFill>
                    <a:srgbClr val="B45409"/>
                  </a:solidFill>
                  <a:latin typeface="맑은 고딕"/>
                  <a:ea typeface="맑은 고딕"/>
                  <a:cs typeface="맑은 고딕"/>
                </a:rPr>
                <a:t>page table 기반 가상 주소</a:t>
              </a:r>
            </a:p>
          </p:txBody>
        </p:sp>
        <p:sp>
          <p:nvSpPr>
            <p:cNvPr id="85" name="Rounded Rectangle 84"/>
            <p:cNvSpPr/>
            <p:nvPr/>
          </p:nvSpPr>
          <p:spPr>
            <a:xfrm>
              <a:off x="7730485" y="4514786"/>
              <a:ext cx="1105784" cy="336543"/>
            </a:xfrm>
            <a:prstGeom prst="roundRect">
              <a:avLst>
                <a:gd name="adj" fmla="val 17857"/>
              </a:avLst>
            </a:prstGeom>
            <a:solidFill>
              <a:srgbClr val="FDEBD3"/>
            </a:solidFill>
            <a:ln w="1562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39936" y="4598681"/>
              <a:ext cx="486881"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가상 주소</a:t>
              </a:r>
            </a:p>
          </p:txBody>
        </p:sp>
        <p:cxnSp>
          <p:nvCxnSpPr>
            <p:cNvPr id="87" name="Connector 86"/>
            <p:cNvCxnSpPr/>
            <p:nvPr/>
          </p:nvCxnSpPr>
          <p:spPr>
            <a:xfrm>
              <a:off x="8836268" y="4683057"/>
              <a:ext cx="60097" cy="0"/>
            </a:xfrm>
            <a:prstGeom prst="line">
              <a:avLst/>
            </a:prstGeom>
            <a:ln w="18029">
              <a:solidFill>
                <a:srgbClr val="B45409"/>
              </a:solidFill>
            </a:ln>
          </p:spPr>
          <p:style>
            <a:lnRef idx="2">
              <a:schemeClr val="accent1"/>
            </a:lnRef>
            <a:fillRef idx="0">
              <a:schemeClr val="accent1"/>
            </a:fillRef>
            <a:effectRef idx="1">
              <a:schemeClr val="accent1"/>
            </a:effectRef>
            <a:fontRef idx="minor">
              <a:schemeClr val="tx1"/>
            </a:fontRef>
          </p:style>
        </p:cxnSp>
        <p:sp>
          <p:nvSpPr>
            <p:cNvPr id="88" name="Freeform 87"/>
            <p:cNvSpPr/>
            <p:nvPr/>
          </p:nvSpPr>
          <p:spPr>
            <a:xfrm>
              <a:off x="8872327" y="4622960"/>
              <a:ext cx="120194" cy="120194"/>
            </a:xfrm>
            <a:custGeom>
              <a:avLst/>
              <a:gdLst/>
              <a:ahLst/>
              <a:cxnLst/>
              <a:rect l="l" t="t" r="r" b="b"/>
              <a:pathLst>
                <a:path w="120194" h="120194">
                  <a:moveTo>
                    <a:pt x="0" y="0"/>
                  </a:moveTo>
                  <a:lnTo>
                    <a:pt x="120194" y="60097"/>
                  </a:lnTo>
                  <a:lnTo>
                    <a:pt x="0" y="120194"/>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8980501" y="4514786"/>
              <a:ext cx="1105784" cy="336543"/>
            </a:xfrm>
            <a:prstGeom prst="roundRect">
              <a:avLst>
                <a:gd name="adj" fmla="val 17857"/>
              </a:avLst>
            </a:prstGeom>
            <a:solidFill>
              <a:srgbClr val="FDEBD3"/>
            </a:solidFill>
            <a:ln w="1562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235030" y="4598681"/>
              <a:ext cx="596727"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page table</a:t>
              </a:r>
            </a:p>
          </p:txBody>
        </p:sp>
        <p:cxnSp>
          <p:nvCxnSpPr>
            <p:cNvPr id="91" name="Connector 90"/>
            <p:cNvCxnSpPr/>
            <p:nvPr/>
          </p:nvCxnSpPr>
          <p:spPr>
            <a:xfrm>
              <a:off x="10086285" y="4683057"/>
              <a:ext cx="60097" cy="0"/>
            </a:xfrm>
            <a:prstGeom prst="line">
              <a:avLst/>
            </a:prstGeom>
            <a:ln w="18029">
              <a:solidFill>
                <a:srgbClr val="B45409"/>
              </a:solidFill>
            </a:ln>
          </p:spPr>
          <p:style>
            <a:lnRef idx="2">
              <a:schemeClr val="accent1"/>
            </a:lnRef>
            <a:fillRef idx="0">
              <a:schemeClr val="accent1"/>
            </a:fillRef>
            <a:effectRef idx="1">
              <a:schemeClr val="accent1"/>
            </a:effectRef>
            <a:fontRef idx="minor">
              <a:schemeClr val="tx1"/>
            </a:fontRef>
          </p:style>
        </p:cxnSp>
        <p:sp>
          <p:nvSpPr>
            <p:cNvPr id="92" name="Freeform 91"/>
            <p:cNvSpPr/>
            <p:nvPr/>
          </p:nvSpPr>
          <p:spPr>
            <a:xfrm>
              <a:off x="10122343" y="4622960"/>
              <a:ext cx="120194" cy="120194"/>
            </a:xfrm>
            <a:custGeom>
              <a:avLst/>
              <a:gdLst/>
              <a:ahLst/>
              <a:cxnLst/>
              <a:rect l="l" t="t" r="r" b="b"/>
              <a:pathLst>
                <a:path w="120194" h="120194">
                  <a:moveTo>
                    <a:pt x="0" y="0"/>
                  </a:moveTo>
                  <a:lnTo>
                    <a:pt x="120194" y="60097"/>
                  </a:lnTo>
                  <a:lnTo>
                    <a:pt x="0" y="120194"/>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10230518" y="4514786"/>
              <a:ext cx="1105784" cy="336543"/>
            </a:xfrm>
            <a:prstGeom prst="roundRect">
              <a:avLst>
                <a:gd name="adj" fmla="val 17857"/>
              </a:avLst>
            </a:prstGeom>
            <a:solidFill>
              <a:srgbClr val="FDEBD3"/>
            </a:solidFill>
            <a:ln w="1562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539969" y="4598681"/>
              <a:ext cx="486881"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물리 주소</a:t>
              </a:r>
            </a:p>
          </p:txBody>
        </p:sp>
        <p:sp>
          <p:nvSpPr>
            <p:cNvPr id="95" name="TextBox 94"/>
            <p:cNvSpPr txBox="1"/>
            <p:nvPr/>
          </p:nvSpPr>
          <p:spPr>
            <a:xfrm>
              <a:off x="8562779" y="4887146"/>
              <a:ext cx="2085460"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크고 연속된 공간을 동적으로 할당할 수 있고</a:t>
              </a:r>
            </a:p>
          </p:txBody>
        </p:sp>
        <p:sp>
          <p:nvSpPr>
            <p:cNvPr id="96" name="TextBox 95"/>
            <p:cNvSpPr txBox="1"/>
            <p:nvPr/>
          </p:nvSpPr>
          <p:spPr>
            <a:xfrm>
              <a:off x="8811244" y="5055418"/>
              <a:ext cx="1588531" cy="165339"/>
            </a:xfrm>
            <a:prstGeom prst="rect">
              <a:avLst/>
            </a:prstGeom>
            <a:noFill/>
          </p:spPr>
          <p:txBody>
            <a:bodyPr wrap="none" anchor="ctr" lIns="0" rIns="0" tIns="0" bIns="0">
              <a:noAutofit/>
            </a:bodyPr>
            <a:lstStyle/>
            <a:p>
              <a:pPr algn="ctr"/>
              <a:r>
                <a:rPr sz="900" b="0">
                  <a:solidFill>
                    <a:srgbClr val="16202C"/>
                  </a:solidFill>
                  <a:latin typeface="맑은 고딕"/>
                  <a:ea typeface="맑은 고딕"/>
                  <a:cs typeface="맑은 고딕"/>
                </a:rPr>
                <a:t>컴파일러의 텐서 관리가 쉬워진다</a:t>
              </a:r>
            </a:p>
          </p:txBody>
        </p:sp>
      </p:grpSp>
      <p:sp>
        <p:nvSpPr>
          <p:cNvPr id="97" name="Rectangle 96"/>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DM slice = 16뱅크 × 8 B = 128 GB/s. 뱅크 병렬성이 main/sub 컨텍스트의 동시 접근을 가능하게 한다.</a:t>
            </a:r>
          </a:p>
        </p:txBody>
      </p:sp>
      <p:sp>
        <p:nvSpPr>
          <p:cNvPr id="98" name="Rectangle 97"/>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§IV-A Data Memory (DM) slice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뱅크 구조 · 동시 접근 · 가상 주소</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106</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텐서는 Fig. 1 이 예시한 lowered shape 에 따라 DM slice 들에 분할 저장된다</a:t>
            </a:r>
          </a:p>
          <a:p>
            <a:pPr algn="l">
              <a:lnSpc>
                <a:spcPct val="118000"/>
              </a:lnSpc>
              <a:spcBef>
                <a:spcPts val="600"/>
              </a:spcBef>
              <a:spcAft>
                <a:spcPts val="200"/>
              </a:spcAft>
            </a:pPr>
            <a:r>
              <a:rPr sz="1900" b="0" i="0">
                <a:solidFill>
                  <a:srgbClr val="16202C"/>
                </a:solidFill>
                <a:latin typeface="Segoe UI"/>
                <a:ea typeface="맑은 고딕"/>
                <a:cs typeface="맑은 고딕"/>
              </a:rPr>
              <a:t>▪  주 용도는 연산의 입력 텐서를 fetch 하고 출력 텐서를 commit 하는 것이다</a:t>
            </a:r>
          </a:p>
          <a:p>
            <a:pPr algn="l">
              <a:lnSpc>
                <a:spcPct val="118000"/>
              </a:lnSpc>
              <a:spcBef>
                <a:spcPts val="600"/>
              </a:spcBef>
              <a:spcAft>
                <a:spcPts val="200"/>
              </a:spcAft>
            </a:pPr>
            <a:r>
              <a:rPr sz="1900" b="1" i="0">
                <a:solidFill>
                  <a:srgbClr val="083F80"/>
                </a:solidFill>
                <a:latin typeface="Segoe UI"/>
                <a:ea typeface="맑은 고딕"/>
                <a:cs typeface="맑은 고딕"/>
              </a:rPr>
              <a:t>▪  '스크래치패드인데 페이지 테이블이 있다'는 조합이 특이하다. 물리 주소를 직접 관리하는 부담 없이 큰 텐서를 연속 공간으로 다루게 해주는 장치다</a:t>
            </a:r>
          </a:p>
          <a:p>
            <a:pPr algn="l">
              <a:lnSpc>
                <a:spcPct val="118000"/>
              </a:lnSpc>
              <a:spcBef>
                <a:spcPts val="600"/>
              </a:spcBef>
              <a:spcAft>
                <a:spcPts val="200"/>
              </a:spcAft>
            </a:pPr>
            <a:r>
              <a:rPr sz="1900" b="0" i="0">
                <a:solidFill>
                  <a:srgbClr val="16202C"/>
                </a:solidFill>
                <a:latin typeface="Segoe UI"/>
                <a:ea typeface="맑은 고딕"/>
                <a:cs typeface="맑은 고딕"/>
              </a:rPr>
              <a:t>▪  16뱅크는 곧 main/sub 두 컨텍스트가 SRAM 에서 서로 막지 않게 하는 근거이기도 하다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4 — 슬라이스 두 개와 두 개의 실행 컨텍스트</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107</a:t>
            </a:r>
          </a:p>
        </p:txBody>
      </p:sp>
      <p:pic>
        <p:nvPicPr>
          <p:cNvPr id="8" name="Picture 7" descr="isca_fig4.png"/>
          <p:cNvPicPr>
            <a:picLocks noChangeAspect="1"/>
          </p:cNvPicPr>
          <p:nvPr/>
        </p:nvPicPr>
        <p:blipFill>
          <a:blip r:embed="rId2"/>
          <a:stretch>
            <a:fillRect/>
          </a:stretch>
        </p:blipFill>
        <p:spPr>
          <a:xfrm>
            <a:off x="566928" y="1517904"/>
            <a:ext cx="5971233" cy="3178149"/>
          </a:xfrm>
          <a:prstGeom prst="rect">
            <a:avLst/>
          </a:prstGeom>
        </p:spPr>
      </p:pic>
      <p:sp>
        <p:nvSpPr>
          <p:cNvPr id="9" name="Rectangle 8"/>
          <p:cNvSpPr/>
          <p:nvPr/>
        </p:nvSpPr>
        <p:spPr>
          <a:xfrm>
            <a:off x="566928" y="1517904"/>
            <a:ext cx="5971233" cy="3178149"/>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723485"/>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4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900" b="1" i="0">
                <a:solidFill>
                  <a:srgbClr val="083F80"/>
                </a:solidFill>
                <a:latin typeface="Segoe UI"/>
                <a:ea typeface="맑은 고딕"/>
                <a:cs typeface="맑은 고딕"/>
              </a:rPr>
              <a:t>▪  그림은 슬라이스 2개를 나란히 그려, 같은 하드웨어가 서로 다른 데이터패스로 쓰이는 두 경우를 대비시킨다</a:t>
            </a:r>
          </a:p>
          <a:p>
            <a:pPr algn="l">
              <a:lnSpc>
                <a:spcPct val="118000"/>
              </a:lnSpc>
              <a:spcBef>
                <a:spcPts val="600"/>
              </a:spcBef>
              <a:spcAft>
                <a:spcPts val="200"/>
              </a:spcAft>
            </a:pPr>
            <a:r>
              <a:rPr sz="900" b="1" i="0">
                <a:solidFill>
                  <a:srgbClr val="083F80"/>
                </a:solidFill>
                <a:latin typeface="Segoe UI"/>
                <a:ea typeface="맑은 고딕"/>
                <a:cs typeface="맑은 고딕"/>
              </a:rPr>
              <a:t>▪  빨강 = main context datapath(주 컨텍스트 데이터패스), 파랑 = sub context datapath(부 컨텍스트 데이터패스)</a:t>
            </a:r>
          </a:p>
          <a:p>
            <a:pPr algn="l">
              <a:lnSpc>
                <a:spcPct val="118000"/>
              </a:lnSpc>
              <a:spcBef>
                <a:spcPts val="600"/>
              </a:spcBef>
              <a:spcAft>
                <a:spcPts val="200"/>
              </a:spcAft>
            </a:pPr>
            <a:r>
              <a:rPr sz="900" b="0" i="0">
                <a:solidFill>
                  <a:srgbClr val="16202C"/>
                </a:solidFill>
                <a:latin typeface="Segoe UI"/>
                <a:ea typeface="맑은 고딕"/>
                <a:cs typeface="맑은 고딕"/>
              </a:rPr>
              <a:t>▪  슬라이스 내부 블록 순서: Data Memory Slice → Fetch Unit / Sub Fetch Unit (각각 Network 스위치를 품는다) → Operation Unit (Contraction Engine, Vector Engine, Transpose Engine + Tensor Register File, Vector Register File) → Commit Unit / Sub Commit Unit</a:t>
            </a:r>
          </a:p>
          <a:p>
            <a:pPr algn="l">
              <a:lnSpc>
                <a:spcPct val="118000"/>
              </a:lnSpc>
              <a:spcBef>
                <a:spcPts val="600"/>
              </a:spcBef>
              <a:spcAft>
                <a:spcPts val="200"/>
              </a:spcAft>
            </a:pPr>
            <a:r>
              <a:rPr sz="900" b="0" i="0">
                <a:solidFill>
                  <a:srgbClr val="16202C"/>
                </a:solidFill>
                <a:latin typeface="Segoe UI"/>
                <a:ea typeface="맑은 고딕"/>
                <a:cs typeface="맑은 고딕"/>
              </a:rPr>
              <a:t>▪  왼쪽 슬라이스 — 빨간 경로가 DM → Fetch Unit → Contraction Engine → Vector Engine → 스위치 → Commit Unit 으로 흐른다. main context가 contraction과 vector 연산을 체이닝한 텐서 연산을 실행하는 모습이다</a:t>
            </a:r>
          </a:p>
          <a:p>
            <a:pPr algn="l">
              <a:lnSpc>
                <a:spcPct val="118000"/>
              </a:lnSpc>
              <a:spcBef>
                <a:spcPts val="600"/>
              </a:spcBef>
              <a:spcAft>
                <a:spcPts val="200"/>
              </a:spcAft>
            </a:pPr>
            <a:r>
              <a:rPr sz="900" b="0" i="0">
                <a:solidFill>
                  <a:srgbClr val="16202C"/>
                </a:solidFill>
                <a:latin typeface="Segoe UI"/>
                <a:ea typeface="맑은 고딕"/>
                <a:cs typeface="맑은 고딕"/>
              </a:rPr>
              <a:t>▪  같은 왼쪽 슬라이스의 파란 경로는 DM → Sub Fetch Unit → Operation Unit의 스위치 → Tensor Register File 로 간다. sub context가 다음에 쓸 데이터를 레지스터 파일에 미리 적재하는 모습이다</a:t>
            </a:r>
          </a:p>
          <a:p>
            <a:pPr algn="l">
              <a:lnSpc>
                <a:spcPct val="118000"/>
              </a:lnSpc>
              <a:spcBef>
                <a:spcPts val="600"/>
              </a:spcBef>
              <a:spcAft>
                <a:spcPts val="200"/>
              </a:spcAft>
            </a:pPr>
            <a:r>
              <a:rPr sz="900" b="0" i="0">
                <a:solidFill>
                  <a:srgbClr val="16202C"/>
                </a:solidFill>
                <a:latin typeface="Segoe UI"/>
                <a:ea typeface="맑은 고딕"/>
                <a:cs typeface="맑은 고딕"/>
              </a:rPr>
              <a:t>▪  오른쪽 슬라이스 — 파란 경로가 Sub Fetch Unit → Transpose Engine → Sub Commit Unit 으로 흐른다. main context가 CE로 contraction을 도는 동안 sub context가 전치 같은 텐서 조작을 병렬 수행하는 모습이다</a:t>
            </a:r>
          </a:p>
          <a:p>
            <a:pPr algn="l">
              <a:lnSpc>
                <a:spcPct val="118000"/>
              </a:lnSpc>
              <a:spcBef>
                <a:spcPts val="600"/>
              </a:spcBef>
              <a:spcAft>
                <a:spcPts val="200"/>
              </a:spcAft>
            </a:pPr>
            <a:r>
              <a:rPr sz="900" b="1" i="0">
                <a:solidFill>
                  <a:srgbClr val="083F80"/>
                </a:solidFill>
                <a:latin typeface="Segoe UI"/>
                <a:ea typeface="맑은 고딕"/>
                <a:cs typeface="맑은 고딕"/>
              </a:rPr>
              <a:t>▪  각 블록 안의 X자 기호는 데이터패스를 골라 잇는 스위치다. 어떤 엔진을 어떤 순서로 체이닝할지가 control register로 정해진다</a:t>
            </a:r>
          </a:p>
          <a:p>
            <a:pPr algn="l">
              <a:lnSpc>
                <a:spcPct val="118000"/>
              </a:lnSpc>
              <a:spcBef>
                <a:spcPts val="600"/>
              </a:spcBef>
              <a:spcAft>
                <a:spcPts val="200"/>
              </a:spcAft>
            </a:pPr>
            <a:r>
              <a:rPr sz="900" b="0" i="0">
                <a:solidFill>
                  <a:srgbClr val="16202C"/>
                </a:solidFill>
                <a:latin typeface="Segoe UI"/>
                <a:ea typeface="맑은 고딕"/>
                <a:cs typeface="맑은 고딕"/>
              </a:rPr>
              <a:t>▪  핵심: Fetch Unit과 Sub Fetch Unit, Commit Unit과 Sub Commit Unit이 물리적으로 별개다. Operation Unit의 엔진들은 두 컨텍스트가 스위치를 통해 나눠 쓴다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unit도 둘, commit unit도 둘, fetch network도 둘. 컨텍스트 분리는 자원 이중화로 구현된다.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왜 실행 컨텍스트를 둘로 나누는가</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시간 축으로 본 hiding</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108</a:t>
            </a:r>
          </a:p>
        </p:txBody>
      </p:sp>
      <p:grpSp>
        <p:nvGrpSpPr>
          <p:cNvPr id="9" name="도해 A4#13"/>
          <p:cNvGrpSpPr/>
          <p:nvPr/>
        </p:nvGrpSpPr>
        <p:grpSpPr>
          <a:xfrm>
            <a:off x="773910" y="1463040"/>
            <a:ext cx="10643875" cy="4078224"/>
            <a:chOff x="773910" y="1463040"/>
            <a:chExt cx="10643875" cy="4078224"/>
          </a:xfrm>
        </p:grpSpPr>
        <p:sp>
          <p:nvSpPr>
            <p:cNvPr id="10" name="TextBox 9"/>
            <p:cNvSpPr txBox="1"/>
            <p:nvPr/>
          </p:nvSpPr>
          <p:spPr>
            <a:xfrm>
              <a:off x="773910" y="1463040"/>
              <a:ext cx="4113077" cy="209407"/>
            </a:xfrm>
            <a:prstGeom prst="rect">
              <a:avLst/>
            </a:prstGeom>
            <a:noFill/>
          </p:spPr>
          <p:txBody>
            <a:bodyPr wrap="none" anchor="ctr" lIns="0" rIns="0" tIns="0" bIns="0">
              <a:noAutofit/>
            </a:bodyPr>
            <a:lstStyle/>
            <a:p>
              <a:pPr algn="l"/>
              <a:r>
                <a:rPr sz="1140" b="1">
                  <a:solidFill>
                    <a:srgbClr val="16202C"/>
                  </a:solidFill>
                  <a:latin typeface="맑은 고딕"/>
                  <a:ea typeface="맑은 고딕"/>
                  <a:cs typeface="맑은 고딕"/>
                </a:rPr>
                <a:t>컨텍스트가 하나일 때와 둘일 때 — 시간 축 (막대 길이는 상대적 도식)</a:t>
              </a:r>
            </a:p>
          </p:txBody>
        </p:sp>
        <p:sp>
          <p:nvSpPr>
            <p:cNvPr id="11" name="TextBox 10"/>
            <p:cNvSpPr txBox="1"/>
            <p:nvPr/>
          </p:nvSpPr>
          <p:spPr>
            <a:xfrm>
              <a:off x="10925760" y="1734690"/>
              <a:ext cx="376330" cy="159149"/>
            </a:xfrm>
            <a:prstGeom prst="rect">
              <a:avLst/>
            </a:prstGeom>
            <a:noFill/>
          </p:spPr>
          <p:txBody>
            <a:bodyPr wrap="none" anchor="ctr" lIns="0" rIns="0" tIns="0" bIns="0">
              <a:noAutofit/>
            </a:bodyPr>
            <a:lstStyle/>
            <a:p>
              <a:pPr algn="r"/>
              <a:r>
                <a:rPr sz="869" b="0">
                  <a:solidFill>
                    <a:srgbClr val="5B6B7B"/>
                  </a:solidFill>
                  <a:latin typeface="맑은 고딕"/>
                  <a:ea typeface="맑은 고딕"/>
                  <a:cs typeface="맑은 고딕"/>
                </a:rPr>
                <a:t>시간 →</a:t>
              </a:r>
            </a:p>
          </p:txBody>
        </p:sp>
        <p:sp>
          <p:nvSpPr>
            <p:cNvPr id="12" name="Rounded Rectangle 11"/>
            <p:cNvSpPr/>
            <p:nvPr/>
          </p:nvSpPr>
          <p:spPr>
            <a:xfrm>
              <a:off x="773910" y="1954741"/>
              <a:ext cx="1619720" cy="555333"/>
            </a:xfrm>
            <a:prstGeom prst="roundRect">
              <a:avLst>
                <a:gd name="adj" fmla="val 12500"/>
              </a:avLst>
            </a:prstGeom>
            <a:solidFill>
              <a:srgbClr val="FDE8E8"/>
            </a:solidFill>
            <a:ln w="1851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9459" y="2078071"/>
              <a:ext cx="768621" cy="192654"/>
            </a:xfrm>
            <a:prstGeom prst="rect">
              <a:avLst/>
            </a:prstGeom>
            <a:noFill/>
          </p:spPr>
          <p:txBody>
            <a:bodyPr wrap="none" anchor="ctr" lIns="0" rIns="0" tIns="0" bIns="0">
              <a:noAutofit/>
            </a:bodyPr>
            <a:lstStyle/>
            <a:p>
              <a:pPr algn="ctr"/>
              <a:r>
                <a:rPr sz="1050" b="1">
                  <a:solidFill>
                    <a:srgbClr val="B4222A"/>
                  </a:solidFill>
                  <a:latin typeface="맑은 고딕"/>
                  <a:ea typeface="맑은 고딕"/>
                  <a:cs typeface="맑은 고딕"/>
                </a:rPr>
                <a:t>컨텍스트 1개</a:t>
              </a:r>
            </a:p>
          </p:txBody>
        </p:sp>
        <p:sp>
          <p:nvSpPr>
            <p:cNvPr id="14" name="TextBox 13"/>
            <p:cNvSpPr txBox="1"/>
            <p:nvPr/>
          </p:nvSpPr>
          <p:spPr>
            <a:xfrm>
              <a:off x="1337110" y="2306451"/>
              <a:ext cx="493320" cy="167525"/>
            </a:xfrm>
            <a:prstGeom prst="rect">
              <a:avLst/>
            </a:prstGeom>
            <a:noFill/>
          </p:spPr>
          <p:txBody>
            <a:bodyPr wrap="none" anchor="ctr" lIns="0" rIns="0" tIns="0" bIns="0">
              <a:noAutofit/>
            </a:bodyPr>
            <a:lstStyle/>
            <a:p>
              <a:pPr algn="ctr"/>
              <a:r>
                <a:rPr sz="910" b="0">
                  <a:solidFill>
                    <a:srgbClr val="16202C"/>
                  </a:solidFill>
                  <a:latin typeface="맑은 고딕"/>
                  <a:ea typeface="맑은 고딕"/>
                  <a:cs typeface="맑은 고딕"/>
                </a:rPr>
                <a:t>직렬 실행</a:t>
              </a:r>
            </a:p>
          </p:txBody>
        </p:sp>
        <p:sp>
          <p:nvSpPr>
            <p:cNvPr id="15" name="TextBox 14"/>
            <p:cNvSpPr txBox="1"/>
            <p:nvPr/>
          </p:nvSpPr>
          <p:spPr>
            <a:xfrm>
              <a:off x="2671296" y="2167618"/>
              <a:ext cx="254527" cy="167525"/>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단일</a:t>
              </a:r>
            </a:p>
          </p:txBody>
        </p:sp>
        <p:sp>
          <p:nvSpPr>
            <p:cNvPr id="16" name="Rounded Rectangle 15"/>
            <p:cNvSpPr/>
            <p:nvPr/>
          </p:nvSpPr>
          <p:spPr>
            <a:xfrm>
              <a:off x="3018379" y="2001018"/>
              <a:ext cx="1966803" cy="462777"/>
            </a:xfrm>
            <a:prstGeom prst="roundRect">
              <a:avLst>
                <a:gd name="adj" fmla="val 10000"/>
              </a:avLst>
            </a:prstGeom>
            <a:solidFill>
              <a:srgbClr val="CBE0F7"/>
            </a:solidFill>
            <a:ln w="161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2605" y="2149339"/>
              <a:ext cx="518351" cy="175902"/>
            </a:xfrm>
            <a:prstGeom prst="rect">
              <a:avLst/>
            </a:prstGeom>
            <a:noFill/>
          </p:spPr>
          <p:txBody>
            <a:bodyPr wrap="none" anchor="ctr" lIns="0" rIns="0" tIns="0" bIns="0">
              <a:noAutofit/>
            </a:bodyPr>
            <a:lstStyle/>
            <a:p>
              <a:pPr algn="ctr"/>
              <a:r>
                <a:rPr sz="960" b="1">
                  <a:solidFill>
                    <a:srgbClr val="083F80"/>
                  </a:solidFill>
                  <a:latin typeface="맑은 고딕"/>
                  <a:ea typeface="맑은 고딕"/>
                  <a:cs typeface="맑은 고딕"/>
                </a:rPr>
                <a:t>텐서 연산</a:t>
              </a:r>
            </a:p>
          </p:txBody>
        </p:sp>
        <p:sp>
          <p:nvSpPr>
            <p:cNvPr id="18" name="Rounded Rectangle 17"/>
            <p:cNvSpPr/>
            <p:nvPr/>
          </p:nvSpPr>
          <p:spPr>
            <a:xfrm>
              <a:off x="4985182" y="2001018"/>
              <a:ext cx="983402" cy="462777"/>
            </a:xfrm>
            <a:prstGeom prst="roundRect">
              <a:avLst>
                <a:gd name="adj" fmla="val 10000"/>
              </a:avLst>
            </a:prstGeom>
            <a:solidFill>
              <a:srgbClr val="EEF2F7"/>
            </a:solidFill>
            <a:ln w="1619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90615" y="2156049"/>
              <a:ext cx="360966" cy="167525"/>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메모리</a:t>
              </a:r>
            </a:p>
          </p:txBody>
        </p:sp>
        <p:sp>
          <p:nvSpPr>
            <p:cNvPr id="20" name="Rounded Rectangle 19"/>
            <p:cNvSpPr/>
            <p:nvPr/>
          </p:nvSpPr>
          <p:spPr>
            <a:xfrm>
              <a:off x="5968584" y="2001018"/>
              <a:ext cx="752013" cy="462777"/>
            </a:xfrm>
            <a:prstGeom prst="roundRect">
              <a:avLst>
                <a:gd name="adj" fmla="val 10000"/>
              </a:avLst>
            </a:prstGeom>
            <a:solidFill>
              <a:srgbClr val="E2F4E8"/>
            </a:solidFill>
            <a:ln w="1619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1542" y="2156049"/>
              <a:ext cx="254527" cy="167525"/>
            </a:xfrm>
            <a:prstGeom prst="rect">
              <a:avLst/>
            </a:prstGeom>
            <a:noFill/>
          </p:spPr>
          <p:txBody>
            <a:bodyPr wrap="none" anchor="ctr" lIns="0" rIns="0" tIns="0" bIns="0">
              <a:noAutofit/>
            </a:bodyPr>
            <a:lstStyle/>
            <a:p>
              <a:pPr algn="ctr"/>
              <a:r>
                <a:rPr sz="910" b="0">
                  <a:solidFill>
                    <a:srgbClr val="1A7F37"/>
                  </a:solidFill>
                  <a:latin typeface="맑은 고딕"/>
                  <a:ea typeface="맑은 고딕"/>
                  <a:cs typeface="맑은 고딕"/>
                </a:rPr>
                <a:t>벡터</a:t>
              </a:r>
            </a:p>
          </p:txBody>
        </p:sp>
        <p:sp>
          <p:nvSpPr>
            <p:cNvPr id="22" name="Rounded Rectangle 21"/>
            <p:cNvSpPr/>
            <p:nvPr/>
          </p:nvSpPr>
          <p:spPr>
            <a:xfrm>
              <a:off x="6720597" y="2001018"/>
              <a:ext cx="1966803" cy="462777"/>
            </a:xfrm>
            <a:prstGeom prst="roundRect">
              <a:avLst>
                <a:gd name="adj" fmla="val 10000"/>
              </a:avLst>
            </a:prstGeom>
            <a:solidFill>
              <a:srgbClr val="CBE0F7"/>
            </a:solidFill>
            <a:ln w="161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4823" y="2149339"/>
              <a:ext cx="518351" cy="175902"/>
            </a:xfrm>
            <a:prstGeom prst="rect">
              <a:avLst/>
            </a:prstGeom>
            <a:noFill/>
          </p:spPr>
          <p:txBody>
            <a:bodyPr wrap="none" anchor="ctr" lIns="0" rIns="0" tIns="0" bIns="0">
              <a:noAutofit/>
            </a:bodyPr>
            <a:lstStyle/>
            <a:p>
              <a:pPr algn="ctr"/>
              <a:r>
                <a:rPr sz="960" b="1">
                  <a:solidFill>
                    <a:srgbClr val="083F80"/>
                  </a:solidFill>
                  <a:latin typeface="맑은 고딕"/>
                  <a:ea typeface="맑은 고딕"/>
                  <a:cs typeface="맑은 고딕"/>
                </a:rPr>
                <a:t>텐서 연산</a:t>
              </a:r>
            </a:p>
          </p:txBody>
        </p:sp>
        <p:sp>
          <p:nvSpPr>
            <p:cNvPr id="24" name="Rounded Rectangle 23"/>
            <p:cNvSpPr/>
            <p:nvPr/>
          </p:nvSpPr>
          <p:spPr>
            <a:xfrm>
              <a:off x="8687400" y="2001018"/>
              <a:ext cx="983402" cy="462777"/>
            </a:xfrm>
            <a:prstGeom prst="roundRect">
              <a:avLst>
                <a:gd name="adj" fmla="val 10000"/>
              </a:avLst>
            </a:prstGeom>
            <a:solidFill>
              <a:srgbClr val="EEF2F7"/>
            </a:solidFill>
            <a:ln w="1619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92833" y="2156049"/>
              <a:ext cx="360966" cy="167525"/>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메모리</a:t>
              </a:r>
            </a:p>
          </p:txBody>
        </p:sp>
        <p:sp>
          <p:nvSpPr>
            <p:cNvPr id="26" name="Rounded Rectangle 25"/>
            <p:cNvSpPr/>
            <p:nvPr/>
          </p:nvSpPr>
          <p:spPr>
            <a:xfrm>
              <a:off x="9670801" y="2001018"/>
              <a:ext cx="752013" cy="462777"/>
            </a:xfrm>
            <a:prstGeom prst="roundRect">
              <a:avLst>
                <a:gd name="adj" fmla="val 10000"/>
              </a:avLst>
            </a:prstGeom>
            <a:solidFill>
              <a:srgbClr val="E2F4E8"/>
            </a:solidFill>
            <a:ln w="1619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13759" y="2156049"/>
              <a:ext cx="254527" cy="167525"/>
            </a:xfrm>
            <a:prstGeom prst="rect">
              <a:avLst/>
            </a:prstGeom>
            <a:noFill/>
          </p:spPr>
          <p:txBody>
            <a:bodyPr wrap="none" anchor="ctr" lIns="0" rIns="0" tIns="0" bIns="0">
              <a:noAutofit/>
            </a:bodyPr>
            <a:lstStyle/>
            <a:p>
              <a:pPr algn="ctr"/>
              <a:r>
                <a:rPr sz="910" b="0">
                  <a:solidFill>
                    <a:srgbClr val="1A7F37"/>
                  </a:solidFill>
                  <a:latin typeface="맑은 고딕"/>
                  <a:ea typeface="맑은 고딕"/>
                  <a:cs typeface="맑은 고딕"/>
                </a:rPr>
                <a:t>벡터</a:t>
              </a:r>
            </a:p>
          </p:txBody>
        </p:sp>
        <p:sp>
          <p:nvSpPr>
            <p:cNvPr id="28" name="TextBox 27"/>
            <p:cNvSpPr txBox="1"/>
            <p:nvPr/>
          </p:nvSpPr>
          <p:spPr>
            <a:xfrm>
              <a:off x="10561647" y="2160908"/>
              <a:ext cx="518351" cy="175902"/>
            </a:xfrm>
            <a:prstGeom prst="rect">
              <a:avLst/>
            </a:prstGeom>
            <a:noFill/>
          </p:spPr>
          <p:txBody>
            <a:bodyPr wrap="none" anchor="ctr" lIns="0" rIns="0" tIns="0" bIns="0">
              <a:noAutofit/>
            </a:bodyPr>
            <a:lstStyle/>
            <a:p>
              <a:pPr algn="l"/>
              <a:r>
                <a:rPr sz="960" b="1">
                  <a:solidFill>
                    <a:srgbClr val="B4222A"/>
                  </a:solidFill>
                  <a:latin typeface="맑은 고딕"/>
                  <a:ea typeface="맑은 고딕"/>
                  <a:cs typeface="맑은 고딕"/>
                </a:rPr>
                <a:t>여기서 끝</a:t>
              </a:r>
            </a:p>
          </p:txBody>
        </p:sp>
        <p:sp>
          <p:nvSpPr>
            <p:cNvPr id="29" name="Rounded Rectangle 28"/>
            <p:cNvSpPr/>
            <p:nvPr/>
          </p:nvSpPr>
          <p:spPr>
            <a:xfrm>
              <a:off x="773910" y="3042267"/>
              <a:ext cx="1619720" cy="1156943"/>
            </a:xfrm>
            <a:prstGeom prst="roundRect">
              <a:avLst>
                <a:gd name="adj" fmla="val 6000"/>
              </a:avLst>
            </a:prstGeom>
            <a:solidFill>
              <a:srgbClr val="E2F4E8"/>
            </a:solidFill>
            <a:ln w="1851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99459" y="3211875"/>
              <a:ext cx="768621" cy="192654"/>
            </a:xfrm>
            <a:prstGeom prst="rect">
              <a:avLst/>
            </a:prstGeom>
            <a:noFill/>
          </p:spPr>
          <p:txBody>
            <a:bodyPr wrap="none" anchor="ctr" lIns="0" rIns="0" tIns="0" bIns="0">
              <a:noAutofit/>
            </a:bodyPr>
            <a:lstStyle/>
            <a:p>
              <a:pPr algn="ctr"/>
              <a:r>
                <a:rPr sz="1050" b="1">
                  <a:solidFill>
                    <a:srgbClr val="1A7F37"/>
                  </a:solidFill>
                  <a:latin typeface="맑은 고딕"/>
                  <a:ea typeface="맑은 고딕"/>
                  <a:cs typeface="맑은 고딕"/>
                </a:rPr>
                <a:t>컨텍스트 2개</a:t>
              </a:r>
            </a:p>
          </p:txBody>
        </p:sp>
        <p:sp>
          <p:nvSpPr>
            <p:cNvPr id="31" name="TextBox 30"/>
            <p:cNvSpPr txBox="1"/>
            <p:nvPr/>
          </p:nvSpPr>
          <p:spPr>
            <a:xfrm>
              <a:off x="1279089" y="3486533"/>
              <a:ext cx="609362" cy="167525"/>
            </a:xfrm>
            <a:prstGeom prst="rect">
              <a:avLst/>
            </a:prstGeom>
            <a:noFill/>
          </p:spPr>
          <p:txBody>
            <a:bodyPr wrap="none" anchor="ctr" lIns="0" rIns="0" tIns="0" bIns="0">
              <a:noAutofit/>
            </a:bodyPr>
            <a:lstStyle/>
            <a:p>
              <a:pPr algn="ctr"/>
              <a:r>
                <a:rPr sz="910" b="0">
                  <a:solidFill>
                    <a:srgbClr val="16202C"/>
                  </a:solidFill>
                  <a:latin typeface="맑은 고딕"/>
                  <a:ea typeface="맑은 고딕"/>
                  <a:cs typeface="맑은 고딕"/>
                </a:rPr>
                <a:t>main / sub</a:t>
              </a:r>
            </a:p>
          </p:txBody>
        </p:sp>
        <p:sp>
          <p:nvSpPr>
            <p:cNvPr id="32" name="TextBox 31"/>
            <p:cNvSpPr txBox="1"/>
            <p:nvPr/>
          </p:nvSpPr>
          <p:spPr>
            <a:xfrm>
              <a:off x="1206317" y="3717922"/>
              <a:ext cx="754905" cy="167525"/>
            </a:xfrm>
            <a:prstGeom prst="rect">
              <a:avLst/>
            </a:prstGeom>
            <a:noFill/>
          </p:spPr>
          <p:txBody>
            <a:bodyPr wrap="none" anchor="ctr" lIns="0" rIns="0" tIns="0" bIns="0">
              <a:noAutofit/>
            </a:bodyPr>
            <a:lstStyle/>
            <a:p>
              <a:pPr algn="ctr"/>
              <a:r>
                <a:rPr sz="910" b="0">
                  <a:solidFill>
                    <a:srgbClr val="16202C"/>
                  </a:solidFill>
                  <a:latin typeface="맑은 고딕"/>
                  <a:ea typeface="맑은 고딕"/>
                  <a:cs typeface="맑은 고딕"/>
                </a:rPr>
                <a:t>비동기 launch</a:t>
              </a:r>
            </a:p>
          </p:txBody>
        </p:sp>
        <p:sp>
          <p:nvSpPr>
            <p:cNvPr id="33" name="TextBox 32"/>
            <p:cNvSpPr txBox="1"/>
            <p:nvPr/>
          </p:nvSpPr>
          <p:spPr>
            <a:xfrm>
              <a:off x="1283890" y="3949310"/>
              <a:ext cx="599759" cy="167525"/>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자원 이중화</a:t>
              </a:r>
            </a:p>
          </p:txBody>
        </p:sp>
        <p:sp>
          <p:nvSpPr>
            <p:cNvPr id="34" name="TextBox 33"/>
            <p:cNvSpPr txBox="1"/>
            <p:nvPr/>
          </p:nvSpPr>
          <p:spPr>
            <a:xfrm>
              <a:off x="2609516" y="3208867"/>
              <a:ext cx="316308" cy="167525"/>
            </a:xfrm>
            <a:prstGeom prst="rect">
              <a:avLst/>
            </a:prstGeom>
            <a:noFill/>
          </p:spPr>
          <p:txBody>
            <a:bodyPr wrap="none" anchor="ctr" lIns="0" rIns="0" tIns="0" bIns="0">
              <a:noAutofit/>
            </a:bodyPr>
            <a:lstStyle/>
            <a:p>
              <a:pPr algn="r"/>
              <a:r>
                <a:rPr sz="910" b="0">
                  <a:solidFill>
                    <a:srgbClr val="B4222A"/>
                  </a:solidFill>
                  <a:latin typeface="맑은 고딕"/>
                  <a:ea typeface="맑은 고딕"/>
                  <a:cs typeface="맑은 고딕"/>
                </a:rPr>
                <a:t>main</a:t>
              </a:r>
            </a:p>
          </p:txBody>
        </p:sp>
        <p:sp>
          <p:nvSpPr>
            <p:cNvPr id="35" name="TextBox 34"/>
            <p:cNvSpPr txBox="1"/>
            <p:nvPr/>
          </p:nvSpPr>
          <p:spPr>
            <a:xfrm>
              <a:off x="2688303" y="3741061"/>
              <a:ext cx="237520" cy="167525"/>
            </a:xfrm>
            <a:prstGeom prst="rect">
              <a:avLst/>
            </a:prstGeom>
            <a:noFill/>
          </p:spPr>
          <p:txBody>
            <a:bodyPr wrap="none" anchor="ctr" lIns="0" rIns="0" tIns="0" bIns="0">
              <a:noAutofit/>
            </a:bodyPr>
            <a:lstStyle/>
            <a:p>
              <a:pPr algn="r"/>
              <a:r>
                <a:rPr sz="910" b="0">
                  <a:solidFill>
                    <a:srgbClr val="0B5FC0"/>
                  </a:solidFill>
                  <a:latin typeface="맑은 고딕"/>
                  <a:ea typeface="맑은 고딕"/>
                  <a:cs typeface="맑은 고딕"/>
                </a:rPr>
                <a:t>sub</a:t>
              </a:r>
            </a:p>
          </p:txBody>
        </p:sp>
        <p:sp>
          <p:nvSpPr>
            <p:cNvPr id="36" name="Rounded Rectangle 35"/>
            <p:cNvSpPr/>
            <p:nvPr/>
          </p:nvSpPr>
          <p:spPr>
            <a:xfrm>
              <a:off x="3018379" y="3065406"/>
              <a:ext cx="1966803" cy="439638"/>
            </a:xfrm>
            <a:prstGeom prst="roundRect">
              <a:avLst>
                <a:gd name="adj" fmla="val 10526"/>
              </a:avLst>
            </a:prstGeom>
            <a:solidFill>
              <a:srgbClr val="CBE0F7"/>
            </a:solidFill>
            <a:ln w="161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2605" y="3202157"/>
              <a:ext cx="518351" cy="175902"/>
            </a:xfrm>
            <a:prstGeom prst="rect">
              <a:avLst/>
            </a:prstGeom>
            <a:noFill/>
          </p:spPr>
          <p:txBody>
            <a:bodyPr wrap="none" anchor="ctr" lIns="0" rIns="0" tIns="0" bIns="0">
              <a:noAutofit/>
            </a:bodyPr>
            <a:lstStyle/>
            <a:p>
              <a:pPr algn="ctr"/>
              <a:r>
                <a:rPr sz="960" b="1">
                  <a:solidFill>
                    <a:srgbClr val="083F80"/>
                  </a:solidFill>
                  <a:latin typeface="맑은 고딕"/>
                  <a:ea typeface="맑은 고딕"/>
                  <a:cs typeface="맑은 고딕"/>
                </a:rPr>
                <a:t>텐서 연산</a:t>
              </a:r>
            </a:p>
          </p:txBody>
        </p:sp>
        <p:sp>
          <p:nvSpPr>
            <p:cNvPr id="38" name="Rounded Rectangle 37"/>
            <p:cNvSpPr/>
            <p:nvPr/>
          </p:nvSpPr>
          <p:spPr>
            <a:xfrm>
              <a:off x="4985182" y="3065406"/>
              <a:ext cx="1966803" cy="439638"/>
            </a:xfrm>
            <a:prstGeom prst="roundRect">
              <a:avLst>
                <a:gd name="adj" fmla="val 10526"/>
              </a:avLst>
            </a:prstGeom>
            <a:solidFill>
              <a:srgbClr val="CBE0F7"/>
            </a:solidFill>
            <a:ln w="161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09408" y="3202157"/>
              <a:ext cx="518351" cy="175902"/>
            </a:xfrm>
            <a:prstGeom prst="rect">
              <a:avLst/>
            </a:prstGeom>
            <a:noFill/>
          </p:spPr>
          <p:txBody>
            <a:bodyPr wrap="none" anchor="ctr" lIns="0" rIns="0" tIns="0" bIns="0">
              <a:noAutofit/>
            </a:bodyPr>
            <a:lstStyle/>
            <a:p>
              <a:pPr algn="ctr"/>
              <a:r>
                <a:rPr sz="960" b="1">
                  <a:solidFill>
                    <a:srgbClr val="083F80"/>
                  </a:solidFill>
                  <a:latin typeface="맑은 고딕"/>
                  <a:ea typeface="맑은 고딕"/>
                  <a:cs typeface="맑은 고딕"/>
                </a:rPr>
                <a:t>텐서 연산</a:t>
              </a:r>
            </a:p>
          </p:txBody>
        </p:sp>
        <p:sp>
          <p:nvSpPr>
            <p:cNvPr id="40" name="Rounded Rectangle 39"/>
            <p:cNvSpPr/>
            <p:nvPr/>
          </p:nvSpPr>
          <p:spPr>
            <a:xfrm>
              <a:off x="3134073" y="3620739"/>
              <a:ext cx="983402" cy="393361"/>
            </a:xfrm>
            <a:prstGeom prst="roundRect">
              <a:avLst>
                <a:gd name="adj" fmla="val 11764"/>
              </a:avLst>
            </a:prstGeom>
            <a:solidFill>
              <a:srgbClr val="EEF2F7"/>
            </a:solidFill>
            <a:ln w="1619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39506" y="3741061"/>
              <a:ext cx="360966" cy="167525"/>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메모리</a:t>
              </a:r>
            </a:p>
          </p:txBody>
        </p:sp>
        <p:sp>
          <p:nvSpPr>
            <p:cNvPr id="42" name="Rounded Rectangle 41"/>
            <p:cNvSpPr/>
            <p:nvPr/>
          </p:nvSpPr>
          <p:spPr>
            <a:xfrm>
              <a:off x="4233169" y="3620739"/>
              <a:ext cx="752013" cy="393361"/>
            </a:xfrm>
            <a:prstGeom prst="roundRect">
              <a:avLst>
                <a:gd name="adj" fmla="val 11764"/>
              </a:avLst>
            </a:prstGeom>
            <a:solidFill>
              <a:srgbClr val="E2F4E8"/>
            </a:solidFill>
            <a:ln w="1619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76127" y="3741061"/>
              <a:ext cx="254527" cy="167525"/>
            </a:xfrm>
            <a:prstGeom prst="rect">
              <a:avLst/>
            </a:prstGeom>
            <a:noFill/>
          </p:spPr>
          <p:txBody>
            <a:bodyPr wrap="none" anchor="ctr" lIns="0" rIns="0" tIns="0" bIns="0">
              <a:noAutofit/>
            </a:bodyPr>
            <a:lstStyle/>
            <a:p>
              <a:pPr algn="ctr"/>
              <a:r>
                <a:rPr sz="910" b="0">
                  <a:solidFill>
                    <a:srgbClr val="1A7F37"/>
                  </a:solidFill>
                  <a:latin typeface="맑은 고딕"/>
                  <a:ea typeface="맑은 고딕"/>
                  <a:cs typeface="맑은 고딕"/>
                </a:rPr>
                <a:t>벡터</a:t>
              </a:r>
            </a:p>
          </p:txBody>
        </p:sp>
        <p:sp>
          <p:nvSpPr>
            <p:cNvPr id="44" name="Rounded Rectangle 43"/>
            <p:cNvSpPr/>
            <p:nvPr/>
          </p:nvSpPr>
          <p:spPr>
            <a:xfrm>
              <a:off x="5100877" y="3620739"/>
              <a:ext cx="983402" cy="393361"/>
            </a:xfrm>
            <a:prstGeom prst="roundRect">
              <a:avLst>
                <a:gd name="adj" fmla="val 11764"/>
              </a:avLst>
            </a:prstGeom>
            <a:solidFill>
              <a:srgbClr val="EEF2F7"/>
            </a:solidFill>
            <a:ln w="16197">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06309" y="3741061"/>
              <a:ext cx="360966" cy="167525"/>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메모리</a:t>
              </a:r>
            </a:p>
          </p:txBody>
        </p:sp>
        <p:sp>
          <p:nvSpPr>
            <p:cNvPr id="46" name="Rounded Rectangle 45"/>
            <p:cNvSpPr/>
            <p:nvPr/>
          </p:nvSpPr>
          <p:spPr>
            <a:xfrm>
              <a:off x="6199972" y="3620739"/>
              <a:ext cx="752013" cy="393361"/>
            </a:xfrm>
            <a:prstGeom prst="roundRect">
              <a:avLst>
                <a:gd name="adj" fmla="val 11764"/>
              </a:avLst>
            </a:prstGeom>
            <a:solidFill>
              <a:srgbClr val="E2F4E8"/>
            </a:solidFill>
            <a:ln w="1619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2930" y="3741061"/>
              <a:ext cx="254527" cy="167525"/>
            </a:xfrm>
            <a:prstGeom prst="rect">
              <a:avLst/>
            </a:prstGeom>
            <a:noFill/>
          </p:spPr>
          <p:txBody>
            <a:bodyPr wrap="none" anchor="ctr" lIns="0" rIns="0" tIns="0" bIns="0">
              <a:noAutofit/>
            </a:bodyPr>
            <a:lstStyle/>
            <a:p>
              <a:pPr algn="ctr"/>
              <a:r>
                <a:rPr sz="910" b="0">
                  <a:solidFill>
                    <a:srgbClr val="1A7F37"/>
                  </a:solidFill>
                  <a:latin typeface="맑은 고딕"/>
                  <a:ea typeface="맑은 고딕"/>
                  <a:cs typeface="맑은 고딕"/>
                </a:rPr>
                <a:t>벡터</a:t>
              </a:r>
            </a:p>
          </p:txBody>
        </p:sp>
        <p:sp>
          <p:nvSpPr>
            <p:cNvPr id="48" name="Rounded Rectangle 47"/>
            <p:cNvSpPr/>
            <p:nvPr/>
          </p:nvSpPr>
          <p:spPr>
            <a:xfrm>
              <a:off x="6951985" y="3065406"/>
              <a:ext cx="3470829" cy="948693"/>
            </a:xfrm>
            <a:prstGeom prst="roundRect">
              <a:avLst>
                <a:gd name="adj" fmla="val 7317"/>
              </a:avLst>
            </a:prstGeom>
            <a:solidFill>
              <a:srgbClr val="FFF7E6"/>
            </a:solidFill>
            <a:ln w="18511">
              <a:solidFill>
                <a:srgbClr val="B454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03508" y="3221593"/>
              <a:ext cx="967783" cy="209407"/>
            </a:xfrm>
            <a:prstGeom prst="rect">
              <a:avLst/>
            </a:prstGeom>
            <a:noFill/>
          </p:spPr>
          <p:txBody>
            <a:bodyPr wrap="none" anchor="ctr" lIns="0" rIns="0" tIns="0" bIns="0">
              <a:noAutofit/>
            </a:bodyPr>
            <a:lstStyle/>
            <a:p>
              <a:pPr algn="ctr"/>
              <a:r>
                <a:rPr sz="1140" b="1">
                  <a:solidFill>
                    <a:srgbClr val="B45409"/>
                  </a:solidFill>
                  <a:latin typeface="맑은 고딕"/>
                  <a:ea typeface="맑은 고딕"/>
                  <a:cs typeface="맑은 고딕"/>
                </a:rPr>
                <a:t>hiding — 숨김</a:t>
              </a:r>
            </a:p>
          </p:txBody>
        </p:sp>
        <p:sp>
          <p:nvSpPr>
            <p:cNvPr id="50" name="TextBox 49"/>
            <p:cNvSpPr txBox="1"/>
            <p:nvPr/>
          </p:nvSpPr>
          <p:spPr>
            <a:xfrm>
              <a:off x="8045444" y="3526101"/>
              <a:ext cx="1283912" cy="175902"/>
            </a:xfrm>
            <a:prstGeom prst="rect">
              <a:avLst/>
            </a:prstGeom>
            <a:noFill/>
          </p:spPr>
          <p:txBody>
            <a:bodyPr wrap="none" anchor="ctr" lIns="0" rIns="0" tIns="0" bIns="0">
              <a:noAutofit/>
            </a:bodyPr>
            <a:lstStyle/>
            <a:p>
              <a:pPr algn="ctr"/>
              <a:r>
                <a:rPr sz="960" b="0">
                  <a:solidFill>
                    <a:srgbClr val="16202C"/>
                  </a:solidFill>
                  <a:latin typeface="맑은 고딕"/>
                  <a:ea typeface="맑은 고딕"/>
                  <a:cs typeface="맑은 고딕"/>
                </a:rPr>
                <a:t>벡터·메모리 연산 시간이</a:t>
              </a:r>
            </a:p>
          </p:txBody>
        </p:sp>
        <p:sp>
          <p:nvSpPr>
            <p:cNvPr id="51" name="TextBox 50"/>
            <p:cNvSpPr txBox="1"/>
            <p:nvPr/>
          </p:nvSpPr>
          <p:spPr>
            <a:xfrm>
              <a:off x="7996427" y="3734350"/>
              <a:ext cx="1381945" cy="175902"/>
            </a:xfrm>
            <a:prstGeom prst="rect">
              <a:avLst/>
            </a:prstGeom>
            <a:noFill/>
          </p:spPr>
          <p:txBody>
            <a:bodyPr wrap="none" anchor="ctr" lIns="0" rIns="0" tIns="0" bIns="0">
              <a:noAutofit/>
            </a:bodyPr>
            <a:lstStyle/>
            <a:p>
              <a:pPr algn="ctr"/>
              <a:r>
                <a:rPr sz="960" b="0">
                  <a:solidFill>
                    <a:srgbClr val="16202C"/>
                  </a:solidFill>
                  <a:latin typeface="맑은 고딕"/>
                  <a:ea typeface="맑은 고딕"/>
                  <a:cs typeface="맑은 고딕"/>
                </a:rPr>
                <a:t>텐서 연산 시간 안에 숨는다</a:t>
              </a:r>
            </a:p>
          </p:txBody>
        </p:sp>
        <p:sp>
          <p:nvSpPr>
            <p:cNvPr id="52" name="TextBox 51"/>
            <p:cNvSpPr txBox="1"/>
            <p:nvPr/>
          </p:nvSpPr>
          <p:spPr>
            <a:xfrm>
              <a:off x="8177454" y="4097862"/>
              <a:ext cx="1019892" cy="184278"/>
            </a:xfrm>
            <a:prstGeom prst="rect">
              <a:avLst/>
            </a:prstGeom>
            <a:noFill/>
          </p:spPr>
          <p:txBody>
            <a:bodyPr wrap="none" anchor="ctr" lIns="0" rIns="0" tIns="0" bIns="0">
              <a:noAutofit/>
            </a:bodyPr>
            <a:lstStyle/>
            <a:p>
              <a:pPr algn="ctr"/>
              <a:r>
                <a:rPr sz="1000" b="1">
                  <a:solidFill>
                    <a:srgbClr val="1A7F37"/>
                  </a:solidFill>
                  <a:latin typeface="맑은 고딕"/>
                  <a:ea typeface="맑은 고딕"/>
                  <a:cs typeface="맑은 고딕"/>
                </a:rPr>
                <a:t>→ TU 활용률 향상</a:t>
              </a:r>
            </a:p>
          </p:txBody>
        </p:sp>
        <p:cxnSp>
          <p:nvCxnSpPr>
            <p:cNvPr id="53" name="Connector 52"/>
            <p:cNvCxnSpPr/>
            <p:nvPr/>
          </p:nvCxnSpPr>
          <p:spPr>
            <a:xfrm>
              <a:off x="10422814" y="1954741"/>
              <a:ext cx="0" cy="2406441"/>
            </a:xfrm>
            <a:prstGeom prst="line">
              <a:avLst/>
            </a:prstGeom>
            <a:ln w="16197">
              <a:solidFill>
                <a:srgbClr val="B4222A"/>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951985" y="3065406"/>
              <a:ext cx="0" cy="1295776"/>
            </a:xfrm>
            <a:prstGeom prst="line">
              <a:avLst/>
            </a:prstGeom>
            <a:ln w="16197">
              <a:solidFill>
                <a:srgbClr val="1A7F37"/>
              </a:solidFill>
              <a:prstDash val="dash"/>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73910" y="4661987"/>
              <a:ext cx="3355135" cy="879277"/>
            </a:xfrm>
            <a:prstGeom prst="roundRect">
              <a:avLst>
                <a:gd name="adj" fmla="val 10526"/>
              </a:avLst>
            </a:prstGeom>
            <a:solidFill>
              <a:srgbClr val="FDE8E8"/>
            </a:solidFill>
            <a:ln w="1851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981527" y="4801746"/>
              <a:ext cx="939900" cy="201030"/>
            </a:xfrm>
            <a:prstGeom prst="rect">
              <a:avLst/>
            </a:prstGeom>
            <a:noFill/>
          </p:spPr>
          <p:txBody>
            <a:bodyPr wrap="none" anchor="ctr" lIns="0" rIns="0" tIns="0" bIns="0">
              <a:noAutofit/>
            </a:bodyPr>
            <a:lstStyle/>
            <a:p>
              <a:pPr algn="ctr"/>
              <a:r>
                <a:rPr sz="1090" b="1">
                  <a:solidFill>
                    <a:srgbClr val="B4222A"/>
                  </a:solidFill>
                  <a:latin typeface="맑은 고딕"/>
                  <a:ea typeface="맑은 고딕"/>
                  <a:cs typeface="맑은 고딕"/>
                </a:rPr>
                <a:t>main context</a:t>
              </a:r>
            </a:p>
          </p:txBody>
        </p:sp>
        <p:sp>
          <p:nvSpPr>
            <p:cNvPr id="57" name="TextBox 56"/>
            <p:cNvSpPr txBox="1"/>
            <p:nvPr/>
          </p:nvSpPr>
          <p:spPr>
            <a:xfrm>
              <a:off x="2011237" y="5076404"/>
              <a:ext cx="880480" cy="175902"/>
            </a:xfrm>
            <a:prstGeom prst="rect">
              <a:avLst/>
            </a:prstGeom>
            <a:noFill/>
          </p:spPr>
          <p:txBody>
            <a:bodyPr wrap="none" anchor="ctr" lIns="0" rIns="0" tIns="0" bIns="0">
              <a:noAutofit/>
            </a:bodyPr>
            <a:lstStyle/>
            <a:p>
              <a:pPr algn="ctr"/>
              <a:r>
                <a:rPr sz="960" b="0">
                  <a:solidFill>
                    <a:srgbClr val="16202C"/>
                  </a:solidFill>
                  <a:latin typeface="맑은 고딕"/>
                  <a:ea typeface="맑은 고딕"/>
                  <a:cs typeface="맑은 고딕"/>
                </a:rPr>
                <a:t>텐서 연산에 쓴다</a:t>
              </a:r>
            </a:p>
          </p:txBody>
        </p:sp>
        <p:sp>
          <p:nvSpPr>
            <p:cNvPr id="58" name="TextBox 57"/>
            <p:cNvSpPr txBox="1"/>
            <p:nvPr/>
          </p:nvSpPr>
          <p:spPr>
            <a:xfrm>
              <a:off x="1900051" y="5305618"/>
              <a:ext cx="1102851" cy="16417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control register 한 벌</a:t>
              </a:r>
            </a:p>
          </p:txBody>
        </p:sp>
        <p:sp>
          <p:nvSpPr>
            <p:cNvPr id="59" name="Rounded Rectangle 58"/>
            <p:cNvSpPr/>
            <p:nvPr/>
          </p:nvSpPr>
          <p:spPr>
            <a:xfrm>
              <a:off x="4429850" y="4661987"/>
              <a:ext cx="3355135" cy="879277"/>
            </a:xfrm>
            <a:prstGeom prst="roundRect">
              <a:avLst>
                <a:gd name="adj" fmla="val 10526"/>
              </a:avLst>
            </a:prstGeom>
            <a:solidFill>
              <a:srgbClr val="E3EEFB"/>
            </a:solidFill>
            <a:ln w="1851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87724" y="4801746"/>
              <a:ext cx="839385" cy="201030"/>
            </a:xfrm>
            <a:prstGeom prst="rect">
              <a:avLst/>
            </a:prstGeom>
            <a:noFill/>
          </p:spPr>
          <p:txBody>
            <a:bodyPr wrap="none" anchor="ctr" lIns="0" rIns="0" tIns="0" bIns="0">
              <a:noAutofit/>
            </a:bodyPr>
            <a:lstStyle/>
            <a:p>
              <a:pPr algn="ctr"/>
              <a:r>
                <a:rPr sz="1090" b="1">
                  <a:solidFill>
                    <a:srgbClr val="0B5FC0"/>
                  </a:solidFill>
                  <a:latin typeface="맑은 고딕"/>
                  <a:ea typeface="맑은 고딕"/>
                  <a:cs typeface="맑은 고딕"/>
                </a:rPr>
                <a:t>sub context</a:t>
              </a:r>
            </a:p>
          </p:txBody>
        </p:sp>
        <p:sp>
          <p:nvSpPr>
            <p:cNvPr id="61" name="TextBox 60"/>
            <p:cNvSpPr txBox="1"/>
            <p:nvPr/>
          </p:nvSpPr>
          <p:spPr>
            <a:xfrm>
              <a:off x="5280327" y="5076404"/>
              <a:ext cx="1654180" cy="175902"/>
            </a:xfrm>
            <a:prstGeom prst="rect">
              <a:avLst/>
            </a:prstGeom>
            <a:noFill/>
          </p:spPr>
          <p:txBody>
            <a:bodyPr wrap="none" anchor="ctr" lIns="0" rIns="0" tIns="0" bIns="0">
              <a:noAutofit/>
            </a:bodyPr>
            <a:lstStyle/>
            <a:p>
              <a:pPr algn="ctr"/>
              <a:r>
                <a:rPr sz="960" b="0">
                  <a:solidFill>
                    <a:srgbClr val="16202C"/>
                  </a:solidFill>
                  <a:latin typeface="맑은 고딕"/>
                  <a:ea typeface="맑은 고딕"/>
                  <a:cs typeface="맑은 고딕"/>
                </a:rPr>
                <a:t>그 외 모든 것 (everything else)</a:t>
              </a:r>
            </a:p>
          </p:txBody>
        </p:sp>
        <p:sp>
          <p:nvSpPr>
            <p:cNvPr id="62" name="TextBox 61"/>
            <p:cNvSpPr txBox="1"/>
            <p:nvPr/>
          </p:nvSpPr>
          <p:spPr>
            <a:xfrm>
              <a:off x="5555991" y="5305618"/>
              <a:ext cx="1102851" cy="16417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control register 한 벌</a:t>
              </a:r>
            </a:p>
          </p:txBody>
        </p:sp>
        <p:sp>
          <p:nvSpPr>
            <p:cNvPr id="63" name="Rounded Rectangle 62"/>
            <p:cNvSpPr/>
            <p:nvPr/>
          </p:nvSpPr>
          <p:spPr>
            <a:xfrm>
              <a:off x="8085789" y="4661987"/>
              <a:ext cx="3331996" cy="879277"/>
            </a:xfrm>
            <a:prstGeom prst="roundRect">
              <a:avLst>
                <a:gd name="adj" fmla="val 10526"/>
              </a:avLst>
            </a:prstGeom>
            <a:solidFill>
              <a:srgbClr val="EEF2F7"/>
            </a:solidFill>
            <a:ln w="1851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69995" y="4808456"/>
              <a:ext cx="1563585" cy="192654"/>
            </a:xfrm>
            <a:prstGeom prst="rect">
              <a:avLst/>
            </a:prstGeom>
            <a:noFill/>
          </p:spPr>
          <p:txBody>
            <a:bodyPr wrap="none" anchor="ctr" lIns="0" rIns="0" tIns="0" bIns="0">
              <a:noAutofit/>
            </a:bodyPr>
            <a:lstStyle/>
            <a:p>
              <a:pPr algn="ctr"/>
              <a:r>
                <a:rPr sz="1050" b="1">
                  <a:solidFill>
                    <a:srgbClr val="16202C"/>
                  </a:solidFill>
                  <a:latin typeface="맑은 고딕"/>
                  <a:ea typeface="맑은 고딕"/>
                  <a:cs typeface="맑은 고딕"/>
                </a:rPr>
                <a:t>둘은 비동기로 launch 된다</a:t>
              </a:r>
            </a:p>
          </p:txBody>
        </p:sp>
        <p:sp>
          <p:nvSpPr>
            <p:cNvPr id="65" name="TextBox 64"/>
            <p:cNvSpPr txBox="1"/>
            <p:nvPr/>
          </p:nvSpPr>
          <p:spPr>
            <a:xfrm>
              <a:off x="8983693" y="5083115"/>
              <a:ext cx="1536189" cy="167525"/>
            </a:xfrm>
            <a:prstGeom prst="rect">
              <a:avLst/>
            </a:prstGeom>
            <a:noFill/>
          </p:spPr>
          <p:txBody>
            <a:bodyPr wrap="none" anchor="ctr" lIns="0" rIns="0" tIns="0" bIns="0">
              <a:noAutofit/>
            </a:bodyPr>
            <a:lstStyle/>
            <a:p>
              <a:pPr algn="ctr"/>
              <a:r>
                <a:rPr sz="910" b="0">
                  <a:solidFill>
                    <a:srgbClr val="16202C"/>
                  </a:solidFill>
                  <a:latin typeface="맑은 고딕"/>
                  <a:ea typeface="맑은 고딕"/>
                  <a:cs typeface="맑은 고딕"/>
                </a:rPr>
                <a:t>main 에 텐서 연산을 걸어 둔 뒤</a:t>
              </a:r>
            </a:p>
          </p:txBody>
        </p:sp>
        <p:sp>
          <p:nvSpPr>
            <p:cNvPr id="66" name="TextBox 65"/>
            <p:cNvSpPr txBox="1"/>
            <p:nvPr/>
          </p:nvSpPr>
          <p:spPr>
            <a:xfrm>
              <a:off x="8916648" y="5302934"/>
              <a:ext cx="1670279" cy="167525"/>
            </a:xfrm>
            <a:prstGeom prst="rect">
              <a:avLst/>
            </a:prstGeom>
            <a:noFill/>
          </p:spPr>
          <p:txBody>
            <a:bodyPr wrap="none" anchor="ctr" lIns="0" rIns="0" tIns="0" bIns="0">
              <a:noAutofit/>
            </a:bodyPr>
            <a:lstStyle/>
            <a:p>
              <a:pPr algn="ctr"/>
              <a:r>
                <a:rPr sz="910" b="0">
                  <a:solidFill>
                    <a:srgbClr val="16202C"/>
                  </a:solidFill>
                  <a:latin typeface="맑은 고딕"/>
                  <a:ea typeface="맑은 고딕"/>
                  <a:cs typeface="맑은 고딕"/>
                </a:rPr>
                <a:t>sub 에 메모리 연산 여러 개를 건다</a:t>
              </a:r>
            </a:p>
          </p:txBody>
        </p:sp>
      </p:grpSp>
      <p:sp>
        <p:nvSpPr>
          <p:cNvPr id="67" name="Rectangle 66"/>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컨텍스트 분리 = 텐서 연산 시간 뒤에 데이터 이동과 벡터 연산을 숨기는 하드웨어 장치.</a:t>
            </a:r>
          </a:p>
        </p:txBody>
      </p:sp>
      <p:sp>
        <p:nvSpPr>
          <p:cNvPr id="68" name="Rectangle 67"/>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왜 실행 컨텍스트를 둘로 나누는가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시간 축으로 본 hiding</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표현: 텐서 연산이 실행되는 동안 벡터·메모리 연산을 병렬 실행하면 그 시간이 텐서 연산 시간 안에 효과적으로 숨겨지고, 이것이 TU 활용률 향상으로 이어진다</a:t>
            </a:r>
          </a:p>
          <a:p>
            <a:pPr algn="l">
              <a:lnSpc>
                <a:spcPct val="118000"/>
              </a:lnSpc>
              <a:spcBef>
                <a:spcPts val="600"/>
              </a:spcBef>
              <a:spcAft>
                <a:spcPts val="200"/>
              </a:spcAft>
            </a:pPr>
            <a:r>
              <a:rPr sz="1900" b="0" i="0">
                <a:solidFill>
                  <a:srgbClr val="16202C"/>
                </a:solidFill>
                <a:latin typeface="Segoe UI"/>
                <a:ea typeface="맑은 고딕"/>
                <a:cs typeface="맑은 고딕"/>
              </a:rPr>
              <a:t>▪  막대 길이는 상대적 도식이다. 논문은 §IV 에서 이 오버랩의 정량적 이득을 수치로 제시하지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실제 활용 예: contraction 이 도는 동안 sub-context 가 다음 가중치를 register file 에 적재한다. §IV-C 의 "RF 는 tensor contraction 실행 중 sub-context 가 다음 가중치를 로드하는 경우를 위해 동시 read/write 를 처리한다"가 이에 대응한다</a:t>
            </a:r>
          </a:p>
          <a:p>
            <a:pPr algn="l">
              <a:lnSpc>
                <a:spcPct val="118000"/>
              </a:lnSpc>
              <a:spcBef>
                <a:spcPts val="600"/>
              </a:spcBef>
              <a:spcAft>
                <a:spcPts val="200"/>
              </a:spcAft>
            </a:pPr>
            <a:r>
              <a:rPr sz="1900" b="0" i="0">
                <a:solidFill>
                  <a:srgbClr val="16202C"/>
                </a:solidFill>
                <a:latin typeface="Segoe UI"/>
                <a:ea typeface="맑은 고딕"/>
                <a:cs typeface="맑은 고딕"/>
              </a:rPr>
              <a:t>▪  CPU 의 하이퍼스레딩과 달리 두 컨텍스트는 대칭이 아니다. main 은 연산, sub 는 뒷바라지로 역할이 고정돼 있다</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main context 와 sub context 대조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110</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main context</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용도: 텐서 연산(tensor operation) 전용</a:t>
            </a:r>
          </a:p>
          <a:p>
            <a:pPr algn="l">
              <a:lnSpc>
                <a:spcPct val="118000"/>
              </a:lnSpc>
              <a:spcBef>
                <a:spcPts val="600"/>
              </a:spcBef>
              <a:spcAft>
                <a:spcPts val="200"/>
              </a:spcAft>
            </a:pPr>
            <a:r>
              <a:rPr sz="1900" b="0" i="0">
                <a:solidFill>
                  <a:srgbClr val="16202C"/>
                </a:solidFill>
                <a:latin typeface="Segoe UI"/>
                <a:ea typeface="맑은 고딕"/>
                <a:cs typeface="맑은 고딕"/>
              </a:rPr>
              <a:t>▪  경로: Fetch Unit → Operation Unit → Commit Unit</a:t>
            </a:r>
          </a:p>
          <a:p>
            <a:pPr algn="l">
              <a:lnSpc>
                <a:spcPct val="118000"/>
              </a:lnSpc>
              <a:spcBef>
                <a:spcPts val="600"/>
              </a:spcBef>
              <a:spcAft>
                <a:spcPts val="200"/>
              </a:spcAft>
            </a:pPr>
            <a:r>
              <a:rPr sz="1900" b="0" i="0">
                <a:solidFill>
                  <a:srgbClr val="16202C"/>
                </a:solidFill>
                <a:latin typeface="Segoe UI"/>
                <a:ea typeface="맑은 고딕"/>
                <a:cs typeface="맑은 고딕"/>
              </a:rPr>
              <a:t>▪  전용 자원: main fetch unit, commit unit</a:t>
            </a:r>
          </a:p>
          <a:p>
            <a:pPr algn="l">
              <a:lnSpc>
                <a:spcPct val="118000"/>
              </a:lnSpc>
              <a:spcBef>
                <a:spcPts val="600"/>
              </a:spcBef>
              <a:spcAft>
                <a:spcPts val="200"/>
              </a:spcAft>
            </a:pPr>
            <a:r>
              <a:rPr sz="1900" b="0" i="0">
                <a:solidFill>
                  <a:srgbClr val="16202C"/>
                </a:solidFill>
                <a:latin typeface="Segoe UI"/>
                <a:ea typeface="맑은 고딕"/>
                <a:cs typeface="맑은 고딕"/>
              </a:rPr>
              <a:t>▪  네트워크: main context용 fetch network</a:t>
            </a:r>
          </a:p>
          <a:p>
            <a:pPr algn="l">
              <a:lnSpc>
                <a:spcPct val="118000"/>
              </a:lnSpc>
              <a:spcBef>
                <a:spcPts val="600"/>
              </a:spcBef>
              <a:spcAft>
                <a:spcPts val="200"/>
              </a:spcAft>
            </a:pPr>
            <a:r>
              <a:rPr sz="1900" b="0" i="0">
                <a:solidFill>
                  <a:srgbClr val="16202C"/>
                </a:solidFill>
                <a:latin typeface="Segoe UI"/>
                <a:ea typeface="맑은 고딕"/>
                <a:cs typeface="맑은 고딕"/>
              </a:rPr>
              <a:t>▪  Fig. 4에서 빨간 데이터패스</a:t>
            </a:r>
          </a:p>
          <a:p>
            <a:pPr algn="l">
              <a:lnSpc>
                <a:spcPct val="118000"/>
              </a:lnSpc>
              <a:spcBef>
                <a:spcPts val="600"/>
              </a:spcBef>
              <a:spcAft>
                <a:spcPts val="200"/>
              </a:spcAft>
            </a:pPr>
            <a:r>
              <a:rPr sz="1900" b="0" i="0">
                <a:solidFill>
                  <a:srgbClr val="16202C"/>
                </a:solidFill>
                <a:latin typeface="Segoe UI"/>
                <a:ea typeface="맑은 고딕"/>
                <a:cs typeface="맑은 고딕"/>
              </a:rPr>
              <a:t>▪  대표 작업: Contraction Engine으로 contraction 수행, 필요하면 Vector Engine을 체이닝</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sub context</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용도: 텐서 연산 외의 모든 것</a:t>
            </a:r>
          </a:p>
          <a:p>
            <a:pPr algn="l">
              <a:lnSpc>
                <a:spcPct val="118000"/>
              </a:lnSpc>
              <a:spcBef>
                <a:spcPts val="600"/>
              </a:spcBef>
              <a:spcAft>
                <a:spcPts val="200"/>
              </a:spcAft>
            </a:pPr>
            <a:r>
              <a:rPr sz="1800" b="0" i="0">
                <a:solidFill>
                  <a:srgbClr val="16202C"/>
                </a:solidFill>
                <a:latin typeface="Segoe UI"/>
                <a:ea typeface="맑은 고딕"/>
                <a:cs typeface="맑은 고딕"/>
              </a:rPr>
              <a:t>▪  경로: Sub Fetch Unit → (Operation Unit) → Sub Commit Unit</a:t>
            </a:r>
          </a:p>
          <a:p>
            <a:pPr algn="l">
              <a:lnSpc>
                <a:spcPct val="118000"/>
              </a:lnSpc>
              <a:spcBef>
                <a:spcPts val="600"/>
              </a:spcBef>
              <a:spcAft>
                <a:spcPts val="200"/>
              </a:spcAft>
            </a:pPr>
            <a:r>
              <a:rPr sz="1800" b="0" i="0">
                <a:solidFill>
                  <a:srgbClr val="16202C"/>
                </a:solidFill>
                <a:latin typeface="Segoe UI"/>
                <a:ea typeface="맑은 고딕"/>
                <a:cs typeface="맑은 고딕"/>
              </a:rPr>
              <a:t>▪  전용 자원: sub-fetch unit, sub commit unit</a:t>
            </a:r>
          </a:p>
          <a:p>
            <a:pPr algn="l">
              <a:lnSpc>
                <a:spcPct val="118000"/>
              </a:lnSpc>
              <a:spcBef>
                <a:spcPts val="600"/>
              </a:spcBef>
              <a:spcAft>
                <a:spcPts val="200"/>
              </a:spcAft>
            </a:pPr>
            <a:r>
              <a:rPr sz="1800" b="0" i="0">
                <a:solidFill>
                  <a:srgbClr val="16202C"/>
                </a:solidFill>
                <a:latin typeface="Segoe UI"/>
                <a:ea typeface="맑은 고딕"/>
                <a:cs typeface="맑은 고딕"/>
              </a:rPr>
              <a:t>▪  네트워크: sub-context용 별도 fetch network</a:t>
            </a:r>
          </a:p>
          <a:p>
            <a:pPr algn="l">
              <a:lnSpc>
                <a:spcPct val="118000"/>
              </a:lnSpc>
              <a:spcBef>
                <a:spcPts val="600"/>
              </a:spcBef>
              <a:spcAft>
                <a:spcPts val="200"/>
              </a:spcAft>
            </a:pPr>
            <a:r>
              <a:rPr sz="1800" b="0" i="0">
                <a:solidFill>
                  <a:srgbClr val="16202C"/>
                </a:solidFill>
                <a:latin typeface="Segoe UI"/>
                <a:ea typeface="맑은 고딕"/>
                <a:cs typeface="맑은 고딕"/>
              </a:rPr>
              <a:t>▪  Fig. 4에서 파란 데이터패스</a:t>
            </a:r>
          </a:p>
          <a:p>
            <a:pPr algn="l">
              <a:lnSpc>
                <a:spcPct val="118000"/>
              </a:lnSpc>
              <a:spcBef>
                <a:spcPts val="600"/>
              </a:spcBef>
              <a:spcAft>
                <a:spcPts val="200"/>
              </a:spcAft>
            </a:pPr>
            <a:r>
              <a:rPr sz="1800" b="0" i="0">
                <a:solidFill>
                  <a:srgbClr val="16202C"/>
                </a:solidFill>
                <a:latin typeface="Segoe UI"/>
                <a:ea typeface="맑은 고딕"/>
                <a:cs typeface="맑은 고딕"/>
              </a:rPr>
              <a:t>▪  대표 작업: 메모리 연산, 다음 가중치 register file 적재, transpose 등 텐서 조작, 벡터 연산</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둘의 역할은 대칭이 아니다. main은 연산을 돌고, sub는 그 연산이 끊기지 않도록 뒷바라지한다.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§IV-B Fetch Unit 구조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FU는 DM slice에서 텐서를 순차적으로 접근해 operation unit에 전달한다</a:t>
            </a:r>
          </a:p>
          <a:p>
            <a:pPr algn="l">
              <a:lnSpc>
                <a:spcPct val="118000"/>
              </a:lnSpc>
              <a:spcBef>
                <a:spcPts val="600"/>
              </a:spcBef>
              <a:spcAft>
                <a:spcPts val="200"/>
              </a:spcAft>
            </a:pPr>
            <a:r>
              <a:rPr sz="1800" b="1" i="0">
                <a:solidFill>
                  <a:srgbClr val="083F80"/>
                </a:solidFill>
                <a:latin typeface="Segoe UI"/>
                <a:ea typeface="맑은 고딕"/>
                <a:cs typeface="맑은 고딕"/>
              </a:rPr>
              <a:t>▪  main context와 sub-context의 동시 실행을 지원하기 위해, 각 슬라이스는 FU를 두 개 갖는다</a:t>
            </a:r>
          </a:p>
          <a:p>
            <a:pPr algn="l">
              <a:lnSpc>
                <a:spcPct val="118000"/>
              </a:lnSpc>
              <a:spcBef>
                <a:spcPts val="200"/>
              </a:spcBef>
              <a:spcAft>
                <a:spcPts val="100"/>
              </a:spcAft>
            </a:pPr>
            <a:r>
              <a:rPr sz="1680" b="0" i="0">
                <a:solidFill>
                  <a:srgbClr val="2C3A4B"/>
                </a:solidFill>
                <a:latin typeface="Segoe UI"/>
                <a:ea typeface="맑은 고딕"/>
                <a:cs typeface="맑은 고딕"/>
              </a:rPr>
              <a:t>–  main fetch unit</a:t>
            </a:r>
          </a:p>
          <a:p>
            <a:pPr algn="l">
              <a:lnSpc>
                <a:spcPct val="118000"/>
              </a:lnSpc>
              <a:spcBef>
                <a:spcPts val="200"/>
              </a:spcBef>
              <a:spcAft>
                <a:spcPts val="100"/>
              </a:spcAft>
            </a:pPr>
            <a:r>
              <a:rPr sz="1680" b="0" i="0">
                <a:solidFill>
                  <a:srgbClr val="2C3A4B"/>
                </a:solidFill>
                <a:latin typeface="Segoe UI"/>
                <a:ea typeface="맑은 고딕"/>
                <a:cs typeface="맑은 고딕"/>
              </a:rPr>
              <a:t>–  sub-fetch unit</a:t>
            </a:r>
          </a:p>
          <a:p>
            <a:pPr algn="l">
              <a:lnSpc>
                <a:spcPct val="118000"/>
              </a:lnSpc>
              <a:spcBef>
                <a:spcPts val="600"/>
              </a:spcBef>
              <a:spcAft>
                <a:spcPts val="200"/>
              </a:spcAft>
            </a:pPr>
            <a:r>
              <a:rPr sz="1800" b="1" i="0">
                <a:solidFill>
                  <a:srgbClr val="083F80"/>
                </a:solidFill>
                <a:latin typeface="Segoe UI"/>
                <a:ea typeface="맑은 고딕"/>
                <a:cs typeface="맑은 고딕"/>
              </a:rPr>
              <a:t>▪  각 FU는 두 부분으로 구성된다</a:t>
            </a:r>
          </a:p>
          <a:p>
            <a:pPr algn="l">
              <a:lnSpc>
                <a:spcPct val="118000"/>
              </a:lnSpc>
              <a:spcBef>
                <a:spcPts val="200"/>
              </a:spcBef>
              <a:spcAft>
                <a:spcPts val="100"/>
              </a:spcAft>
            </a:pPr>
            <a:r>
              <a:rPr sz="1680" b="0" i="0">
                <a:solidFill>
                  <a:srgbClr val="2C3A4B"/>
                </a:solidFill>
                <a:latin typeface="Segoe UI"/>
                <a:ea typeface="맑은 고딕"/>
                <a:cs typeface="맑은 고딕"/>
              </a:rPr>
              <a:t>–  fetch sequencer — DM slice에 접근하기 위한 주소 시퀀스를 생성한다</a:t>
            </a:r>
          </a:p>
          <a:p>
            <a:pPr algn="l">
              <a:lnSpc>
                <a:spcPct val="118000"/>
              </a:lnSpc>
              <a:spcBef>
                <a:spcPts val="200"/>
              </a:spcBef>
              <a:spcAft>
                <a:spcPts val="100"/>
              </a:spcAft>
            </a:pPr>
            <a:r>
              <a:rPr sz="1680" b="0" i="0">
                <a:solidFill>
                  <a:srgbClr val="2C3A4B"/>
                </a:solidFill>
                <a:latin typeface="Segoe UI"/>
                <a:ea typeface="맑은 고딕"/>
                <a:cs typeface="맑은 고딕"/>
              </a:rPr>
              <a:t>–  fetch process unit — 타입 변환(type conversion), 패딩(padding) 같은 데이터 준비를 담당한다</a:t>
            </a:r>
          </a:p>
          <a:p>
            <a:pPr algn="l">
              <a:lnSpc>
                <a:spcPct val="118000"/>
              </a:lnSpc>
              <a:spcBef>
                <a:spcPts val="600"/>
              </a:spcBef>
              <a:spcAft>
                <a:spcPts val="200"/>
              </a:spcAft>
            </a:pPr>
            <a:r>
              <a:rPr sz="1800" b="1" i="0">
                <a:solidFill>
                  <a:srgbClr val="083F80"/>
                </a:solidFill>
                <a:latin typeface="Segoe UI"/>
                <a:ea typeface="맑은 고딕"/>
                <a:cs typeface="맑은 고딕"/>
              </a:rPr>
              <a:t>▪  FU는 fetch network에 연결되어, 처리된 데이터를 자기 슬라이스뿐 아니라 다른 슬라이스의 operation unit으로도 전송한다</a:t>
            </a:r>
          </a:p>
          <a:p>
            <a:pPr algn="l">
              <a:lnSpc>
                <a:spcPct val="118000"/>
              </a:lnSpc>
              <a:spcBef>
                <a:spcPts val="600"/>
              </a:spcBef>
              <a:spcAft>
                <a:spcPts val="200"/>
              </a:spcAft>
            </a:pPr>
            <a:r>
              <a:rPr sz="1800" b="0" i="0">
                <a:solidFill>
                  <a:srgbClr val="16202C"/>
                </a:solidFill>
                <a:latin typeface="Segoe UI"/>
                <a:ea typeface="맑은 고딕"/>
                <a:cs typeface="맑은 고딕"/>
              </a:rPr>
              <a:t>▪  즉 '어떤 슬라이스의 SRAM에서 읽었는가'와 '어떤 슬라이스의 연산기에서 쓰이는가'가 분리된다. 이것이 inter-compute unit 데이터 재사용의 출발점이다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unit은 '읽기 + 형변환/패딩 + 배송'까지가 한 덩어리다.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fetch sequencer — tactic 을 그대로 실행하는 주소 생성기</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표기 → 중첩 루프 → 주소</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112</a:t>
            </a:r>
          </a:p>
        </p:txBody>
      </p:sp>
      <p:grpSp>
        <p:nvGrpSpPr>
          <p:cNvPr id="9" name="도해 A4#16"/>
          <p:cNvGrpSpPr/>
          <p:nvPr/>
        </p:nvGrpSpPr>
        <p:grpSpPr>
          <a:xfrm>
            <a:off x="1371401" y="1463040"/>
            <a:ext cx="9448893" cy="4078224"/>
            <a:chOff x="1371401" y="1463040"/>
            <a:chExt cx="9448893" cy="4078224"/>
          </a:xfrm>
        </p:grpSpPr>
        <p:sp>
          <p:nvSpPr>
            <p:cNvPr id="10" name="TextBox 9"/>
            <p:cNvSpPr txBox="1"/>
            <p:nvPr/>
          </p:nvSpPr>
          <p:spPr>
            <a:xfrm>
              <a:off x="4062585" y="1463040"/>
              <a:ext cx="4066526" cy="193333"/>
            </a:xfrm>
            <a:prstGeom prst="rect">
              <a:avLst/>
            </a:prstGeom>
            <a:noFill/>
          </p:spPr>
          <p:txBody>
            <a:bodyPr wrap="none" anchor="ctr" lIns="0" rIns="0" tIns="0" bIns="0">
              <a:noAutofit/>
            </a:bodyPr>
            <a:lstStyle/>
            <a:p>
              <a:pPr algn="ctr"/>
              <a:r>
                <a:rPr sz="1050" b="1">
                  <a:solidFill>
                    <a:srgbClr val="16202C"/>
                  </a:solidFill>
                  <a:latin typeface="맑은 고딕"/>
                  <a:ea typeface="맑은 고딕"/>
                  <a:cs typeface="맑은 고딕"/>
                </a:rPr>
                <a:t>컴파일러가 고른 tactic 이 그대로 fetch sequencer 의 중첩 루프가 된다</a:t>
              </a:r>
            </a:p>
          </p:txBody>
        </p:sp>
        <p:sp>
          <p:nvSpPr>
            <p:cNvPr id="11" name="Rounded Rectangle 10"/>
            <p:cNvSpPr/>
            <p:nvPr/>
          </p:nvSpPr>
          <p:spPr>
            <a:xfrm>
              <a:off x="1371401" y="1802789"/>
              <a:ext cx="4519035" cy="1129759"/>
            </a:xfrm>
            <a:prstGeom prst="roundRect">
              <a:avLst>
                <a:gd name="adj" fmla="val 7272"/>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7970" y="1938771"/>
              <a:ext cx="1245898" cy="163589"/>
            </a:xfrm>
            <a:prstGeom prst="rect">
              <a:avLst/>
            </a:prstGeom>
            <a:noFill/>
          </p:spPr>
          <p:txBody>
            <a:bodyPr wrap="none" anchor="ctr" lIns="0" rIns="0" tIns="0" bIns="0">
              <a:noAutofit/>
            </a:bodyPr>
            <a:lstStyle/>
            <a:p>
              <a:pPr algn="ctr"/>
              <a:r>
                <a:rPr sz="810" b="1">
                  <a:solidFill>
                    <a:srgbClr val="E6EDF3"/>
                  </a:solidFill>
                  <a:latin typeface="Consolas"/>
                  <a:ea typeface="Consolas"/>
                  <a:cs typeface="Consolas"/>
                </a:rPr>
                <a:t>tactic — §II 의 표기</a:t>
              </a:r>
            </a:p>
          </p:txBody>
        </p:sp>
        <p:sp>
          <p:nvSpPr>
            <p:cNvPr id="13" name="TextBox 12"/>
            <p:cNvSpPr txBox="1"/>
            <p:nvPr/>
          </p:nvSpPr>
          <p:spPr>
            <a:xfrm>
              <a:off x="2278783" y="2237644"/>
              <a:ext cx="2704273" cy="200768"/>
            </a:xfrm>
            <a:prstGeom prst="rect">
              <a:avLst/>
            </a:prstGeom>
            <a:noFill/>
          </p:spPr>
          <p:txBody>
            <a:bodyPr wrap="none" anchor="ctr" lIns="0" rIns="0" tIns="0" bIns="0">
              <a:noAutofit/>
            </a:bodyPr>
            <a:lstStyle/>
            <a:p>
              <a:pPr algn="ctr"/>
              <a:r>
                <a:rPr sz="990" b="0">
                  <a:solidFill>
                    <a:srgbClr val="E6EDF3"/>
                  </a:solidFill>
                  <a:latin typeface="Consolas"/>
                  <a:ea typeface="Consolas"/>
                  <a:cs typeface="Consolas"/>
                </a:rPr>
                <a:t>e^(E/s)[s] │ b¹[B] l¹[L] f¹[F] e¹[E/s]</a:t>
              </a:r>
            </a:p>
          </p:txBody>
        </p:sp>
        <p:cxnSp>
          <p:nvCxnSpPr>
            <p:cNvPr id="14" name="Connector 13"/>
            <p:cNvCxnSpPr/>
            <p:nvPr/>
          </p:nvCxnSpPr>
          <p:spPr>
            <a:xfrm>
              <a:off x="1576812" y="2521727"/>
              <a:ext cx="4108214" cy="0"/>
            </a:xfrm>
            <a:prstGeom prst="line">
              <a:avLst/>
            </a:prstGeom>
            <a:ln w="10270">
              <a:solidFill>
                <a:srgbClr val="5B6B7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061602" y="2613956"/>
              <a:ext cx="796952" cy="141281"/>
            </a:xfrm>
            <a:prstGeom prst="rect">
              <a:avLst/>
            </a:prstGeom>
            <a:noFill/>
          </p:spPr>
          <p:txBody>
            <a:bodyPr wrap="none" anchor="ctr" lIns="0" rIns="0" tIns="0" bIns="0">
              <a:noAutofit/>
            </a:bodyPr>
            <a:lstStyle/>
            <a:p>
              <a:pPr algn="ctr"/>
              <a:r>
                <a:rPr sz="770" b="0">
                  <a:solidFill>
                    <a:srgbClr val="9FB3C8"/>
                  </a:solidFill>
                  <a:latin typeface="맑은 고딕"/>
                  <a:ea typeface="맑은 고딕"/>
                  <a:cs typeface="맑은 고딕"/>
                </a:rPr>
                <a:t>슬라이스 사이 분할</a:t>
              </a:r>
            </a:p>
          </p:txBody>
        </p:sp>
        <p:sp>
          <p:nvSpPr>
            <p:cNvPr id="16" name="TextBox 15"/>
            <p:cNvSpPr txBox="1"/>
            <p:nvPr/>
          </p:nvSpPr>
          <p:spPr>
            <a:xfrm>
              <a:off x="4056099" y="2613956"/>
              <a:ext cx="998337" cy="141281"/>
            </a:xfrm>
            <a:prstGeom prst="rect">
              <a:avLst/>
            </a:prstGeom>
            <a:noFill/>
          </p:spPr>
          <p:txBody>
            <a:bodyPr wrap="none" anchor="ctr" lIns="0" rIns="0" tIns="0" bIns="0">
              <a:noAutofit/>
            </a:bodyPr>
            <a:lstStyle/>
            <a:p>
              <a:pPr algn="ctr"/>
              <a:r>
                <a:rPr sz="770" b="0">
                  <a:solidFill>
                    <a:srgbClr val="9FB3C8"/>
                  </a:solidFill>
                  <a:latin typeface="맑은 고딕"/>
                  <a:ea typeface="맑은 고딕"/>
                  <a:cs typeface="맑은 고딕"/>
                </a:rPr>
                <a:t>슬라이스 안의 루프 순서</a:t>
              </a:r>
            </a:p>
          </p:txBody>
        </p:sp>
        <p:cxnSp>
          <p:nvCxnSpPr>
            <p:cNvPr id="17" name="Connector 16"/>
            <p:cNvCxnSpPr/>
            <p:nvPr/>
          </p:nvCxnSpPr>
          <p:spPr>
            <a:xfrm>
              <a:off x="3630919" y="2953089"/>
              <a:ext cx="0" cy="92435"/>
            </a:xfrm>
            <a:prstGeom prst="line">
              <a:avLst/>
            </a:prstGeom>
            <a:ln w="22595">
              <a:solidFill>
                <a:srgbClr val="0B5FC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3559025" y="3035253"/>
              <a:ext cx="143788" cy="143788"/>
            </a:xfrm>
            <a:custGeom>
              <a:avLst/>
              <a:gdLst/>
              <a:ahLst/>
              <a:cxnLst/>
              <a:rect l="l" t="t" r="r" b="b"/>
              <a:pathLst>
                <a:path w="143788" h="143788">
                  <a:moveTo>
                    <a:pt x="0" y="0"/>
                  </a:moveTo>
                  <a:lnTo>
                    <a:pt x="71894" y="143788"/>
                  </a:lnTo>
                  <a:lnTo>
                    <a:pt x="143788"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1401" y="3179041"/>
              <a:ext cx="4519035" cy="2362223"/>
            </a:xfrm>
            <a:prstGeom prst="roundRect">
              <a:avLst>
                <a:gd name="adj" fmla="val 3913"/>
              </a:avLst>
            </a:prstGeom>
            <a:solidFill>
              <a:srgbClr val="E3EEFB"/>
            </a:solidFill>
            <a:ln w="2054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59085" y="3282568"/>
              <a:ext cx="743669" cy="178461"/>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b 루프 — B회</a:t>
              </a:r>
            </a:p>
          </p:txBody>
        </p:sp>
        <p:sp>
          <p:nvSpPr>
            <p:cNvPr id="21" name="Rounded Rectangle 20"/>
            <p:cNvSpPr/>
            <p:nvPr/>
          </p:nvSpPr>
          <p:spPr>
            <a:xfrm>
              <a:off x="1658976" y="3528239"/>
              <a:ext cx="3943885" cy="1910319"/>
            </a:xfrm>
            <a:prstGeom prst="roundRect">
              <a:avLst>
                <a:gd name="adj" fmla="val 4301"/>
              </a:avLst>
            </a:prstGeom>
            <a:solidFill>
              <a:srgbClr val="DCEBF9"/>
            </a:solidFill>
            <a:ln w="1745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5706" y="3631766"/>
              <a:ext cx="690426" cy="178461"/>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l 루프 — L회</a:t>
              </a:r>
            </a:p>
          </p:txBody>
        </p:sp>
        <p:sp>
          <p:nvSpPr>
            <p:cNvPr id="23" name="Rounded Rectangle 22"/>
            <p:cNvSpPr/>
            <p:nvPr/>
          </p:nvSpPr>
          <p:spPr>
            <a:xfrm>
              <a:off x="1946551" y="3877437"/>
              <a:ext cx="3368735" cy="1458416"/>
            </a:xfrm>
            <a:prstGeom prst="roundRect">
              <a:avLst>
                <a:gd name="adj" fmla="val 4929"/>
              </a:avLst>
            </a:prstGeom>
            <a:solidFill>
              <a:srgbClr val="CBE0F7"/>
            </a:solidFill>
            <a:ln w="1540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1762" y="3980964"/>
              <a:ext cx="698314" cy="178461"/>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f 루프 — F회</a:t>
              </a:r>
            </a:p>
          </p:txBody>
        </p:sp>
        <p:sp>
          <p:nvSpPr>
            <p:cNvPr id="25" name="Rounded Rectangle 24"/>
            <p:cNvSpPr/>
            <p:nvPr/>
          </p:nvSpPr>
          <p:spPr>
            <a:xfrm>
              <a:off x="2234126" y="4226636"/>
              <a:ext cx="2793585" cy="1006512"/>
            </a:xfrm>
            <a:prstGeom prst="roundRect">
              <a:avLst>
                <a:gd name="adj" fmla="val 6122"/>
              </a:avLst>
            </a:prstGeom>
            <a:solidFill>
              <a:srgbClr val="B8D4F3"/>
            </a:solidFill>
            <a:ln w="1437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12682" y="4330163"/>
              <a:ext cx="836473" cy="178461"/>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e 루프 — E/s회</a:t>
              </a:r>
            </a:p>
          </p:txBody>
        </p:sp>
        <p:sp>
          <p:nvSpPr>
            <p:cNvPr id="27" name="Rounded Rectangle 26"/>
            <p:cNvSpPr/>
            <p:nvPr/>
          </p:nvSpPr>
          <p:spPr>
            <a:xfrm>
              <a:off x="2521701" y="4575834"/>
              <a:ext cx="2218436" cy="554609"/>
            </a:xfrm>
            <a:prstGeom prst="roundRect">
              <a:avLst>
                <a:gd name="adj" fmla="val 9259"/>
              </a:avLst>
            </a:prstGeom>
            <a:solidFill>
              <a:srgbClr val="FDEBD3"/>
            </a:solidFill>
            <a:ln w="1643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91766" y="4670733"/>
              <a:ext cx="678307" cy="163589"/>
            </a:xfrm>
            <a:prstGeom prst="rect">
              <a:avLst/>
            </a:prstGeom>
            <a:noFill/>
          </p:spPr>
          <p:txBody>
            <a:bodyPr wrap="none" anchor="ctr" lIns="0" rIns="0" tIns="0" bIns="0">
              <a:noAutofit/>
            </a:bodyPr>
            <a:lstStyle/>
            <a:p>
              <a:pPr algn="ctr"/>
              <a:r>
                <a:rPr sz="890" b="1">
                  <a:solidFill>
                    <a:srgbClr val="B45409"/>
                  </a:solidFill>
                  <a:latin typeface="맑은 고딕"/>
                  <a:ea typeface="맑은 고딕"/>
                  <a:cs typeface="맑은 고딕"/>
                </a:rPr>
                <a:t>주소 1개 생성</a:t>
              </a:r>
            </a:p>
          </p:txBody>
        </p:sp>
        <p:sp>
          <p:nvSpPr>
            <p:cNvPr id="29" name="TextBox 28"/>
            <p:cNvSpPr txBox="1"/>
            <p:nvPr/>
          </p:nvSpPr>
          <p:spPr>
            <a:xfrm>
              <a:off x="3268007" y="4883744"/>
              <a:ext cx="725824" cy="141281"/>
            </a:xfrm>
            <a:prstGeom prst="rect">
              <a:avLst/>
            </a:prstGeom>
            <a:noFill/>
          </p:spPr>
          <p:txBody>
            <a:bodyPr wrap="none" anchor="ctr" lIns="0" rIns="0" tIns="0" bIns="0">
              <a:noAutofit/>
            </a:bodyPr>
            <a:lstStyle/>
            <a:p>
              <a:pPr algn="ctr"/>
              <a:r>
                <a:rPr sz="770" b="0">
                  <a:solidFill>
                    <a:srgbClr val="16202C"/>
                  </a:solidFill>
                  <a:latin typeface="맑은 고딕"/>
                  <a:ea typeface="맑은 고딕"/>
                  <a:cs typeface="맑은 고딕"/>
                </a:rPr>
                <a:t>→ DM slice 접근</a:t>
              </a:r>
            </a:p>
          </p:txBody>
        </p:sp>
        <p:cxnSp>
          <p:nvCxnSpPr>
            <p:cNvPr id="30" name="Connector 29"/>
            <p:cNvCxnSpPr/>
            <p:nvPr/>
          </p:nvCxnSpPr>
          <p:spPr>
            <a:xfrm>
              <a:off x="5931519" y="2295775"/>
              <a:ext cx="123246" cy="0"/>
            </a:xfrm>
            <a:prstGeom prst="line">
              <a:avLst/>
            </a:prstGeom>
            <a:ln w="20541">
              <a:solidFill>
                <a:srgbClr val="16202C"/>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6034224" y="2223881"/>
              <a:ext cx="164329" cy="143788"/>
            </a:xfrm>
            <a:custGeom>
              <a:avLst/>
              <a:gdLst/>
              <a:ahLst/>
              <a:cxnLst/>
              <a:rect l="l" t="t" r="r" b="b"/>
              <a:pathLst>
                <a:path w="164329" h="143788">
                  <a:moveTo>
                    <a:pt x="0" y="0"/>
                  </a:moveTo>
                  <a:lnTo>
                    <a:pt x="164329" y="71894"/>
                  </a:lnTo>
                  <a:lnTo>
                    <a:pt x="0" y="143788"/>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8553" y="1802789"/>
              <a:ext cx="4621741" cy="985971"/>
            </a:xfrm>
            <a:prstGeom prst="roundRect">
              <a:avLst>
                <a:gd name="adj" fmla="val 8333"/>
              </a:avLst>
            </a:prstGeom>
            <a:solidFill>
              <a:srgbClr val="E2F4E8"/>
            </a:solidFill>
            <a:ln w="2054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63472" y="1935485"/>
              <a:ext cx="1091902" cy="193333"/>
            </a:xfrm>
            <a:prstGeom prst="rect">
              <a:avLst/>
            </a:prstGeom>
            <a:noFill/>
          </p:spPr>
          <p:txBody>
            <a:bodyPr wrap="none" anchor="ctr" lIns="0" rIns="0" tIns="0" bIns="0">
              <a:noAutofit/>
            </a:bodyPr>
            <a:lstStyle/>
            <a:p>
              <a:pPr algn="ctr"/>
              <a:r>
                <a:rPr sz="1050" b="1">
                  <a:solidFill>
                    <a:srgbClr val="1A7F37"/>
                  </a:solidFill>
                  <a:latin typeface="맑은 고딕"/>
                  <a:ea typeface="맑은 고딕"/>
                  <a:cs typeface="맑은 고딕"/>
                </a:rPr>
                <a:t>fetch sequencer</a:t>
              </a:r>
            </a:p>
          </p:txBody>
        </p:sp>
        <p:sp>
          <p:nvSpPr>
            <p:cNvPr id="34" name="TextBox 33"/>
            <p:cNvSpPr txBox="1"/>
            <p:nvPr/>
          </p:nvSpPr>
          <p:spPr>
            <a:xfrm>
              <a:off x="7481109" y="2232303"/>
              <a:ext cx="2056628" cy="156153"/>
            </a:xfrm>
            <a:prstGeom prst="rect">
              <a:avLst/>
            </a:prstGeom>
            <a:noFill/>
          </p:spPr>
          <p:txBody>
            <a:bodyPr wrap="none" anchor="ctr" lIns="0" rIns="0" tIns="0" bIns="0">
              <a:noAutofit/>
            </a:bodyPr>
            <a:lstStyle/>
            <a:p>
              <a:pPr algn="ctr"/>
              <a:r>
                <a:rPr sz="850" b="0">
                  <a:solidFill>
                    <a:srgbClr val="16202C"/>
                  </a:solidFill>
                  <a:latin typeface="맑은 고딕"/>
                  <a:ea typeface="맑은 고딕"/>
                  <a:cs typeface="맑은 고딕"/>
                </a:rPr>
                <a:t>DM slice 접근을 위한 주소 시퀀스를 생성한다</a:t>
              </a:r>
            </a:p>
          </p:txBody>
        </p:sp>
        <p:sp>
          <p:nvSpPr>
            <p:cNvPr id="35" name="TextBox 34"/>
            <p:cNvSpPr txBox="1"/>
            <p:nvPr/>
          </p:nvSpPr>
          <p:spPr>
            <a:xfrm>
              <a:off x="7678242" y="2478796"/>
              <a:ext cx="1662363" cy="156153"/>
            </a:xfrm>
            <a:prstGeom prst="rect">
              <a:avLst/>
            </a:prstGeom>
            <a:noFill/>
          </p:spPr>
          <p:txBody>
            <a:bodyPr wrap="none" anchor="ctr" lIns="0" rIns="0" tIns="0" bIns="0">
              <a:noAutofit/>
            </a:bodyPr>
            <a:lstStyle/>
            <a:p>
              <a:pPr algn="ctr"/>
              <a:r>
                <a:rPr sz="850" b="1">
                  <a:solidFill>
                    <a:srgbClr val="1A7F37"/>
                  </a:solidFill>
                  <a:latin typeface="맑은 고딕"/>
                  <a:ea typeface="맑은 고딕"/>
                  <a:cs typeface="맑은 고딕"/>
                </a:rPr>
                <a:t>tactic 의 루프 순서 = 주소 생성 순서</a:t>
              </a:r>
            </a:p>
          </p:txBody>
        </p:sp>
        <p:sp>
          <p:nvSpPr>
            <p:cNvPr id="36" name="TextBox 35"/>
            <p:cNvSpPr txBox="1"/>
            <p:nvPr/>
          </p:nvSpPr>
          <p:spPr>
            <a:xfrm>
              <a:off x="7807658" y="2933370"/>
              <a:ext cx="1403530" cy="178461"/>
            </a:xfrm>
            <a:prstGeom prst="rect">
              <a:avLst/>
            </a:prstGeom>
            <a:noFill/>
          </p:spPr>
          <p:txBody>
            <a:bodyPr wrap="none" anchor="ctr" lIns="0" rIns="0" tIns="0" bIns="0">
              <a:noAutofit/>
            </a:bodyPr>
            <a:lstStyle/>
            <a:p>
              <a:pPr algn="ctr"/>
              <a:r>
                <a:rPr sz="969" b="1">
                  <a:solidFill>
                    <a:srgbClr val="16202C"/>
                  </a:solidFill>
                  <a:latin typeface="맑은 고딕"/>
                  <a:ea typeface="맑은 고딕"/>
                  <a:cs typeface="맑은 고딕"/>
                </a:rPr>
                <a:t>생성할 수 있는 주소의 종류</a:t>
              </a:r>
            </a:p>
          </p:txBody>
        </p:sp>
        <p:sp>
          <p:nvSpPr>
            <p:cNvPr id="37" name="Rounded Rectangle 36"/>
            <p:cNvSpPr/>
            <p:nvPr/>
          </p:nvSpPr>
          <p:spPr>
            <a:xfrm>
              <a:off x="6198553" y="3179041"/>
              <a:ext cx="4621741" cy="349198"/>
            </a:xfrm>
            <a:prstGeom prst="roundRect">
              <a:avLst>
                <a:gd name="adj" fmla="val 17647"/>
              </a:avLst>
            </a:prstGeom>
            <a:solidFill>
              <a:srgbClr val="F4F8FD"/>
            </a:solidFill>
            <a:ln w="1437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83422" y="3273941"/>
              <a:ext cx="1769993" cy="163589"/>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① N차원 루프 형태(loop-style) 주소</a:t>
              </a:r>
            </a:p>
          </p:txBody>
        </p:sp>
        <p:sp>
          <p:nvSpPr>
            <p:cNvPr id="39" name="Rounded Rectangle 38"/>
            <p:cNvSpPr/>
            <p:nvPr/>
          </p:nvSpPr>
          <p:spPr>
            <a:xfrm>
              <a:off x="6198553" y="3610403"/>
              <a:ext cx="4621741" cy="349198"/>
            </a:xfrm>
            <a:prstGeom prst="roundRect">
              <a:avLst>
                <a:gd name="adj" fmla="val 17647"/>
              </a:avLst>
            </a:prstGeom>
            <a:solidFill>
              <a:srgbClr val="F4F8FD"/>
            </a:solidFill>
            <a:ln w="1437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83422" y="3705303"/>
              <a:ext cx="2295783" cy="163589"/>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② gather 를 위한 간접 주소 (indirect address)</a:t>
              </a:r>
            </a:p>
          </p:txBody>
        </p:sp>
        <p:sp>
          <p:nvSpPr>
            <p:cNvPr id="41" name="Rounded Rectangle 40"/>
            <p:cNvSpPr/>
            <p:nvPr/>
          </p:nvSpPr>
          <p:spPr>
            <a:xfrm>
              <a:off x="6198553" y="4041766"/>
              <a:ext cx="4621741" cy="349198"/>
            </a:xfrm>
            <a:prstGeom prst="roundRect">
              <a:avLst>
                <a:gd name="adj" fmla="val 17647"/>
              </a:avLst>
            </a:prstGeom>
            <a:solidFill>
              <a:srgbClr val="F4F8FD"/>
            </a:solidFill>
            <a:ln w="1437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83422" y="4136666"/>
              <a:ext cx="1487215" cy="163589"/>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③ table lookup (테이블 룩업)</a:t>
              </a:r>
            </a:p>
          </p:txBody>
        </p:sp>
        <p:sp>
          <p:nvSpPr>
            <p:cNvPr id="43" name="Rounded Rectangle 42"/>
            <p:cNvSpPr/>
            <p:nvPr/>
          </p:nvSpPr>
          <p:spPr>
            <a:xfrm>
              <a:off x="6198553" y="4575834"/>
              <a:ext cx="4621741" cy="965430"/>
            </a:xfrm>
            <a:prstGeom prst="roundRect">
              <a:avLst>
                <a:gd name="adj" fmla="val 8510"/>
              </a:avLst>
            </a:prstGeom>
            <a:solidFill>
              <a:srgbClr val="FFF7E6"/>
            </a:solidFill>
            <a:ln w="1848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50965" y="4699902"/>
              <a:ext cx="1516917" cy="178461"/>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이 유연성이 핵심 역할을 한다</a:t>
              </a:r>
            </a:p>
          </p:txBody>
        </p:sp>
        <p:sp>
          <p:nvSpPr>
            <p:cNvPr id="45" name="TextBox 44"/>
            <p:cNvSpPr txBox="1"/>
            <p:nvPr/>
          </p:nvSpPr>
          <p:spPr>
            <a:xfrm>
              <a:off x="7439483" y="4964265"/>
              <a:ext cx="2139881" cy="156153"/>
            </a:xfrm>
            <a:prstGeom prst="rect">
              <a:avLst/>
            </a:prstGeom>
            <a:noFill/>
          </p:spPr>
          <p:txBody>
            <a:bodyPr wrap="none" anchor="ctr" lIns="0" rIns="0" tIns="0" bIns="0">
              <a:noAutofit/>
            </a:bodyPr>
            <a:lstStyle/>
            <a:p>
              <a:pPr algn="ctr"/>
              <a:r>
                <a:rPr sz="850" b="0">
                  <a:solidFill>
                    <a:srgbClr val="16202C"/>
                  </a:solidFill>
                  <a:latin typeface="맑은 고딕"/>
                  <a:ea typeface="맑은 고딕"/>
                  <a:cs typeface="맑은 고딕"/>
                </a:rPr>
                <a:t>ML 모델이 필요로 하는 모든 종류의 텐서 연산을</a:t>
              </a:r>
            </a:p>
          </p:txBody>
        </p:sp>
        <p:sp>
          <p:nvSpPr>
            <p:cNvPr id="46" name="TextBox 45"/>
            <p:cNvSpPr txBox="1"/>
            <p:nvPr/>
          </p:nvSpPr>
          <p:spPr>
            <a:xfrm>
              <a:off x="7390469" y="5169676"/>
              <a:ext cx="2237908" cy="156153"/>
            </a:xfrm>
            <a:prstGeom prst="rect">
              <a:avLst/>
            </a:prstGeom>
            <a:noFill/>
          </p:spPr>
          <p:txBody>
            <a:bodyPr wrap="none" anchor="ctr" lIns="0" rIns="0" tIns="0" bIns="0">
              <a:noAutofit/>
            </a:bodyPr>
            <a:lstStyle/>
            <a:p>
              <a:pPr algn="ctr"/>
              <a:r>
                <a:rPr sz="850" b="0">
                  <a:solidFill>
                    <a:srgbClr val="16202C"/>
                  </a:solidFill>
                  <a:latin typeface="맑은 고딕"/>
                  <a:ea typeface="맑은 고딕"/>
                  <a:cs typeface="맑은 고딕"/>
                </a:rPr>
                <a:t>지원하는 데 fetch process unit 과 함께 기여한다</a:t>
              </a:r>
            </a:p>
          </p:txBody>
        </p:sp>
      </p:grpSp>
      <p:sp>
        <p:nvSpPr>
          <p:cNvPr id="47" name="Rectangle 46"/>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컴파일러가 고른 tactic = fetch sequencer 의 루프 순서. 이 대응이 TCP 성능 예측 가능성의 뿌리다.</a:t>
            </a:r>
          </a:p>
        </p:txBody>
      </p:sp>
      <p:sp>
        <p:nvSpPr>
          <p:cNvPr id="48" name="Rectangle 47"/>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fetch sequencer — tactic 을 그대로 실행하는 주소 생성기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표기 → 중첩 루프 → 주소</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113</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tactic 은 소프트웨어 개념에 그치지 않고 하드웨어의 주소 생성 순서로 직결된다. 이 1:1 대응이 TCP 성능 예측 가능성의 뿌리다</a:t>
            </a:r>
          </a:p>
          <a:p>
            <a:pPr algn="l">
              <a:lnSpc>
                <a:spcPct val="118000"/>
              </a:lnSpc>
              <a:spcBef>
                <a:spcPts val="600"/>
              </a:spcBef>
              <a:spcAft>
                <a:spcPts val="200"/>
              </a:spcAft>
            </a:pPr>
            <a:r>
              <a:rPr sz="1900" b="0" i="0">
                <a:solidFill>
                  <a:srgbClr val="16202C"/>
                </a:solidFill>
                <a:latin typeface="Segoe UI"/>
                <a:ea typeface="맑은 고딕"/>
                <a:cs typeface="맑은 고딕"/>
              </a:rPr>
              <a:t>▪  논문은 지원하는 루프 중첩 깊이 N 의 최대값을 밝히지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fetch 된 데이터는 여러 operation unit 에서 병렬로 처리될 수 있다</a:t>
            </a:r>
          </a:p>
          <a:p>
            <a:pPr algn="l">
              <a:lnSpc>
                <a:spcPct val="118000"/>
              </a:lnSpc>
              <a:spcBef>
                <a:spcPts val="600"/>
              </a:spcBef>
              <a:spcAft>
                <a:spcPts val="200"/>
              </a:spcAft>
            </a:pPr>
            <a:r>
              <a:rPr sz="1900" b="1" i="0">
                <a:solidFill>
                  <a:srgbClr val="083F80"/>
                </a:solidFill>
                <a:latin typeface="Segoe UI"/>
                <a:ea typeface="맑은 고딕"/>
                <a:cs typeface="맑은 고딕"/>
              </a:rPr>
              <a:t>▪  TDMA 의 scatter-gather(HBM 레벨)와 fetch sequencer 의 간접 주소(SRAM 레벨)가 두 층위에서 같은 문제를 담당한다. embedding lookup 이 별도 하드웨어 없이 도는 이유다</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5 — Fetch Network</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114</a:t>
            </a:r>
          </a:p>
        </p:txBody>
      </p:sp>
      <p:pic>
        <p:nvPicPr>
          <p:cNvPr id="8" name="Picture 7" descr="isca_fig5.png"/>
          <p:cNvPicPr>
            <a:picLocks noChangeAspect="1"/>
          </p:cNvPicPr>
          <p:nvPr/>
        </p:nvPicPr>
        <p:blipFill>
          <a:blip r:embed="rId2"/>
          <a:stretch>
            <a:fillRect/>
          </a:stretch>
        </p:blipFill>
        <p:spPr>
          <a:xfrm>
            <a:off x="1431010" y="1517904"/>
            <a:ext cx="9329674" cy="2728570"/>
          </a:xfrm>
          <a:prstGeom prst="rect">
            <a:avLst/>
          </a:prstGeom>
        </p:spPr>
      </p:pic>
      <p:sp>
        <p:nvSpPr>
          <p:cNvPr id="9" name="Rectangle 8"/>
          <p:cNvSpPr/>
          <p:nvPr/>
        </p:nvSpPr>
        <p:spPr>
          <a:xfrm>
            <a:off x="1431010" y="1517904"/>
            <a:ext cx="9329674" cy="2728570"/>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273906"/>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5 — TCP: A Tensor Contraction Processor for AI Workloads (ISCA 2024)</a:t>
            </a:r>
          </a:p>
        </p:txBody>
      </p:sp>
      <p:sp>
        <p:nvSpPr>
          <p:cNvPr id="11" name="TextBox 10"/>
          <p:cNvSpPr txBox="1"/>
          <p:nvPr/>
        </p:nvSpPr>
        <p:spPr>
          <a:xfrm>
            <a:off x="566928" y="4593946"/>
            <a:ext cx="11057839" cy="1678838"/>
          </a:xfrm>
          <a:prstGeom prst="rect">
            <a:avLst/>
          </a:prstGeom>
          <a:noFill/>
        </p:spPr>
        <p:txBody>
          <a:bodyPr wrap="square" anchor="t" lIns="0" rIns="0" tIns="0" bIns="0">
            <a:spAutoFit/>
          </a:bodyPr>
          <a:lstStyle/>
          <a:p>
            <a:pPr algn="l">
              <a:lnSpc>
                <a:spcPct val="118000"/>
              </a:lnSpc>
              <a:spcBef>
                <a:spcPts val="200"/>
              </a:spcBef>
              <a:spcAft>
                <a:spcPts val="200"/>
              </a:spcAft>
            </a:pPr>
            <a:r>
              <a:rPr sz="1100" b="1" i="0">
                <a:solidFill>
                  <a:srgbClr val="083F80"/>
                </a:solidFill>
                <a:latin typeface="Segoe UI"/>
                <a:ea typeface="맑은 고딕"/>
                <a:cs typeface="맑은 고딕"/>
              </a:rPr>
              <a:t>▪  세로 방향 순서는 위에서부터 SRAM(파랑) → Fetch Unit + Fetch Network(초록) → Feed Unit과 DPEs(주황, Operation Unit) 다. 슬라이스 8개를 예시로 그렸다</a:t>
            </a:r>
          </a:p>
          <a:p>
            <a:pPr algn="l">
              <a:lnSpc>
                <a:spcPct val="118000"/>
              </a:lnSpc>
              <a:spcBef>
                <a:spcPts val="600"/>
              </a:spcBef>
              <a:spcAft>
                <a:spcPts val="200"/>
              </a:spcAft>
            </a:pPr>
            <a:r>
              <a:rPr sz="1100" b="0" i="0">
                <a:solidFill>
                  <a:srgbClr val="16202C"/>
                </a:solidFill>
                <a:latin typeface="Segoe UI"/>
                <a:ea typeface="맑은 고딕"/>
                <a:cs typeface="맑은 고딕"/>
              </a:rPr>
              <a:t>▪  각 슬라이스 SRAM 칸의 색 블록은 그 슬라이스가 보유한 서로 다른 텐서 조각이다. 파랑·초록·주황·노랑이 각각 다른 데이터를 뜻한다</a:t>
            </a:r>
          </a:p>
          <a:p>
            <a:pPr algn="l">
              <a:lnSpc>
                <a:spcPct val="118000"/>
              </a:lnSpc>
              <a:spcBef>
                <a:spcPts val="600"/>
              </a:spcBef>
              <a:spcAft>
                <a:spcPts val="200"/>
              </a:spcAft>
            </a:pPr>
            <a:r>
              <a:rPr sz="1100" b="1" i="0">
                <a:solidFill>
                  <a:srgbClr val="083F80"/>
                </a:solidFill>
                <a:latin typeface="Segoe UI"/>
                <a:ea typeface="맑은 고딕"/>
                <a:cs typeface="맑은 고딕"/>
              </a:rPr>
              <a:t>▪  검은 굵은 양방향 화살표는 인접 슬라이스를 잇는 링크다. 빨간 점선 화살표는 데이터가 슬라이스들을 따라 도는 순환 경로를 나타낸다</a:t>
            </a:r>
          </a:p>
          <a:p>
            <a:pPr algn="l">
              <a:lnSpc>
                <a:spcPct val="118000"/>
              </a:lnSpc>
              <a:spcBef>
                <a:spcPts val="600"/>
              </a:spcBef>
              <a:spcAft>
                <a:spcPts val="200"/>
              </a:spcAft>
            </a:pPr>
            <a:r>
              <a:rPr sz="1100" b="0" i="0">
                <a:solidFill>
                  <a:srgbClr val="16202C"/>
                </a:solidFill>
                <a:latin typeface="Segoe UI"/>
                <a:ea typeface="맑은 고딕"/>
                <a:cs typeface="맑은 고딕"/>
              </a:rPr>
              <a:t>▪  Feed Unit 칸에 색 막대가 여러 겹 쌓여 있는 것이 멀티캐스트의 결과다. 슬라이스 0의 feed unit에는 네 가지 색이 모두 쌓여 있고 슬라이스 3에는 한 가지만 있다. 순환이 진행되면서 각 슬라이스가 다른 슬라이스의 데이터를 차례로 받아 쌓는다는 뜻이다</a:t>
            </a:r>
          </a:p>
          <a:p>
            <a:pPr algn="l">
              <a:lnSpc>
                <a:spcPct val="118000"/>
              </a:lnSpc>
              <a:spcBef>
                <a:spcPts val="600"/>
              </a:spcBef>
              <a:spcAft>
                <a:spcPts val="200"/>
              </a:spcAft>
            </a:pPr>
            <a:r>
              <a:rPr sz="1100" b="0" i="0">
                <a:solidFill>
                  <a:srgbClr val="16202C"/>
                </a:solidFill>
                <a:latin typeface="Segoe UI"/>
                <a:ea typeface="맑은 고딕"/>
                <a:cs typeface="맑은 고딕"/>
              </a:rPr>
              <a:t>▪  이렇게 모인 데이터가 Feed Unit을 거쳐 DPE(Dot-Product Engine, 내적 엔진)로 들어간다</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5 — Fetch Network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즉 §III-B의 "N개 슬라이스가 멀티캐스트하면 큰 SRAM의 N개 뱅크를 읽는 것과 같고, H × N 형태로 재사용하며 W 형태로 dot product를 한다"를 그림으로 보인 것이다</a:t>
            </a:r>
          </a:p>
          <a:p>
            <a:pPr algn="l">
              <a:lnSpc>
                <a:spcPct val="118000"/>
              </a:lnSpc>
              <a:spcBef>
                <a:spcPts val="600"/>
              </a:spcBef>
              <a:spcAft>
                <a:spcPts val="200"/>
              </a:spcAft>
            </a:pPr>
            <a:r>
              <a:rPr sz="1900" b="1" i="0">
                <a:solidFill>
                  <a:srgbClr val="083F80"/>
                </a:solidFill>
                <a:latin typeface="Segoe UI"/>
                <a:ea typeface="맑은 고딕"/>
                <a:cs typeface="맑은 고딕"/>
              </a:rPr>
              <a:t>▪  논문 본문은 fetch network의 정확한 토폴로지(링인지 버스인지, 그룹 크기가 몇 슬라이스인지)를 명시하지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슬라이스별로 SRAM을 쪼개 놓고도, fetch network 덕분에 '큰 SRAM 하나'처럼 쓸 수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Fetch Network 의 성질 — 왜 circuit-switched 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텐서 연산 중 fetch network는 circuit-switched network(회로 교환 네트워크)처럼 동작한다</a:t>
            </a:r>
          </a:p>
          <a:p>
            <a:pPr algn="l">
              <a:lnSpc>
                <a:spcPct val="118000"/>
              </a:lnSpc>
              <a:spcBef>
                <a:spcPts val="600"/>
              </a:spcBef>
              <a:spcAft>
                <a:spcPts val="200"/>
              </a:spcAft>
            </a:pPr>
            <a:r>
              <a:rPr sz="1500" b="1" i="0">
                <a:solidFill>
                  <a:srgbClr val="083F80"/>
                </a:solidFill>
                <a:latin typeface="Segoe UI"/>
                <a:ea typeface="맑은 고딕"/>
                <a:cs typeface="맑은 고딕"/>
              </a:rPr>
              <a:t>▪  토폴로지는 고정된다(fixed topology). 소프트웨어가 lowered shape과 tactic에 근거해 결정한다</a:t>
            </a:r>
          </a:p>
          <a:p>
            <a:pPr algn="l">
              <a:lnSpc>
                <a:spcPct val="118000"/>
              </a:lnSpc>
              <a:spcBef>
                <a:spcPts val="600"/>
              </a:spcBef>
              <a:spcAft>
                <a:spcPts val="200"/>
              </a:spcAft>
            </a:pPr>
            <a:r>
              <a:rPr sz="1500" b="1" i="0">
                <a:solidFill>
                  <a:srgbClr val="083F80"/>
                </a:solidFill>
                <a:latin typeface="Segoe UI"/>
                <a:ea typeface="맑은 고딕"/>
                <a:cs typeface="맑은 고딕"/>
              </a:rPr>
              <a:t>▪  보장하는 것</a:t>
            </a:r>
          </a:p>
          <a:p>
            <a:pPr algn="l">
              <a:lnSpc>
                <a:spcPct val="118000"/>
              </a:lnSpc>
              <a:spcBef>
                <a:spcPts val="200"/>
              </a:spcBef>
              <a:spcAft>
                <a:spcPts val="100"/>
              </a:spcAft>
            </a:pPr>
            <a:r>
              <a:rPr sz="1380" b="0" i="0">
                <a:solidFill>
                  <a:srgbClr val="2C3A4B"/>
                </a:solidFill>
                <a:latin typeface="Segoe UI"/>
                <a:ea typeface="맑은 고딕"/>
                <a:cs typeface="맑은 고딕"/>
              </a:rPr>
              <a:t>–  여러 source(소스) 사이의 데이터 순서를 보장한다</a:t>
            </a:r>
          </a:p>
          <a:p>
            <a:pPr algn="l">
              <a:lnSpc>
                <a:spcPct val="118000"/>
              </a:lnSpc>
              <a:spcBef>
                <a:spcPts val="200"/>
              </a:spcBef>
              <a:spcAft>
                <a:spcPts val="100"/>
              </a:spcAft>
            </a:pPr>
            <a:r>
              <a:rPr sz="1380" b="0" i="0">
                <a:solidFill>
                  <a:srgbClr val="2C3A4B"/>
                </a:solidFill>
                <a:latin typeface="Segoe UI"/>
                <a:ea typeface="맑은 고딕"/>
                <a:cs typeface="맑은 고딕"/>
              </a:rPr>
              <a:t>–  단일 source에서 나온 패킷들 내부의 순서도 보장한다</a:t>
            </a:r>
          </a:p>
          <a:p>
            <a:pPr algn="l">
              <a:lnSpc>
                <a:spcPct val="118000"/>
              </a:lnSpc>
              <a:spcBef>
                <a:spcPts val="200"/>
              </a:spcBef>
              <a:spcAft>
                <a:spcPts val="100"/>
              </a:spcAft>
            </a:pPr>
            <a:r>
              <a:rPr sz="1380" b="0" i="0">
                <a:solidFill>
                  <a:srgbClr val="2C3A4B"/>
                </a:solidFill>
                <a:latin typeface="Segoe UI"/>
                <a:ea typeface="맑은 고딕"/>
                <a:cs typeface="맑은 고딕"/>
              </a:rPr>
              <a:t>–  multicast(멀티캐스트)를 지원한다</a:t>
            </a:r>
          </a:p>
          <a:p>
            <a:pPr algn="l">
              <a:lnSpc>
                <a:spcPct val="118000"/>
              </a:lnSpc>
              <a:spcBef>
                <a:spcPts val="600"/>
              </a:spcBef>
              <a:spcAft>
                <a:spcPts val="200"/>
              </a:spcAft>
            </a:pPr>
            <a:r>
              <a:rPr sz="1500" b="1" i="0">
                <a:solidFill>
                  <a:srgbClr val="083F80"/>
                </a:solidFill>
                <a:latin typeface="Segoe UI"/>
                <a:ea typeface="맑은 고딕"/>
                <a:cs typeface="맑은 고딕"/>
              </a:rPr>
              <a:t>▪  네트워크 혼잡(congestion)이 없다</a:t>
            </a:r>
          </a:p>
          <a:p>
            <a:pPr algn="l">
              <a:lnSpc>
                <a:spcPct val="118000"/>
              </a:lnSpc>
              <a:spcBef>
                <a:spcPts val="200"/>
              </a:spcBef>
              <a:spcAft>
                <a:spcPts val="100"/>
              </a:spcAft>
            </a:pPr>
            <a:r>
              <a:rPr sz="1380" b="0" i="0">
                <a:solidFill>
                  <a:srgbClr val="2C3A4B"/>
                </a:solidFill>
                <a:latin typeface="Segoe UI"/>
                <a:ea typeface="맑은 고딕"/>
                <a:cs typeface="맑은 고딕"/>
              </a:rPr>
              <a:t>–  회로 교환 방식이고, source와 destination(목적지) 사이의 arbitration(중재)이 컴파일러가 결정한 대로 엄격히 순서화되어 있기 때문이다</a:t>
            </a:r>
          </a:p>
          <a:p>
            <a:pPr algn="l">
              <a:lnSpc>
                <a:spcPct val="118000"/>
              </a:lnSpc>
              <a:spcBef>
                <a:spcPts val="600"/>
              </a:spcBef>
              <a:spcAft>
                <a:spcPts val="200"/>
              </a:spcAft>
            </a:pPr>
            <a:r>
              <a:rPr sz="1500" b="1" i="0">
                <a:solidFill>
                  <a:srgbClr val="083F80"/>
                </a:solidFill>
                <a:latin typeface="Segoe UI"/>
                <a:ea typeface="맑은 고딕"/>
                <a:cs typeface="맑은 고딕"/>
              </a:rPr>
              <a:t>▪  회로 교환이 주는 이득</a:t>
            </a:r>
          </a:p>
          <a:p>
            <a:pPr algn="l">
              <a:lnSpc>
                <a:spcPct val="118000"/>
              </a:lnSpc>
              <a:spcBef>
                <a:spcPts val="200"/>
              </a:spcBef>
              <a:spcAft>
                <a:spcPts val="100"/>
              </a:spcAft>
            </a:pPr>
            <a:r>
              <a:rPr sz="1380" b="0" i="0">
                <a:solidFill>
                  <a:srgbClr val="2C3A4B"/>
                </a:solidFill>
                <a:latin typeface="Segoe UI"/>
                <a:ea typeface="맑은 고딕"/>
                <a:cs typeface="맑은 고딕"/>
              </a:rPr>
              <a:t>–  높은 throughput(처리량)</a:t>
            </a:r>
          </a:p>
          <a:p>
            <a:pPr algn="l">
              <a:lnSpc>
                <a:spcPct val="118000"/>
              </a:lnSpc>
              <a:spcBef>
                <a:spcPts val="200"/>
              </a:spcBef>
              <a:spcAft>
                <a:spcPts val="100"/>
              </a:spcAft>
            </a:pPr>
            <a:r>
              <a:rPr sz="1380" b="0" i="0">
                <a:solidFill>
                  <a:srgbClr val="2C3A4B"/>
                </a:solidFill>
                <a:latin typeface="Segoe UI"/>
                <a:ea typeface="맑은 고딕"/>
                <a:cs typeface="맑은 고딕"/>
              </a:rPr>
              <a:t>–  라우팅, 순서 보장, 멀티캐스트, flow control(흐름 제어)의 하드웨어 복잡도 감소</a:t>
            </a:r>
          </a:p>
          <a:p>
            <a:pPr algn="l">
              <a:lnSpc>
                <a:spcPct val="118000"/>
              </a:lnSpc>
              <a:spcBef>
                <a:spcPts val="600"/>
              </a:spcBef>
              <a:spcAft>
                <a:spcPts val="200"/>
              </a:spcAft>
            </a:pPr>
            <a:r>
              <a:rPr sz="1500" b="1" i="0">
                <a:solidFill>
                  <a:srgbClr val="083F80"/>
                </a:solidFill>
                <a:latin typeface="Segoe UI"/>
                <a:ea typeface="맑은 고딕"/>
                <a:cs typeface="맑은 고딕"/>
              </a:rPr>
              <a:t>▪  fetch network는 두 개의 독립 네트워크로 구성된다. 하나는 main context용, 하나는 sub-context용이다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패킷 교환 NoC의 혼잡·재정렬 문제를 아예 없애는 대신, 스케줄링 책임을 컴파일러가 진다.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§IV-F Commit Unit</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300" b="1" i="0">
                <a:solidFill>
                  <a:srgbClr val="083F80"/>
                </a:solidFill>
                <a:latin typeface="Segoe UI"/>
                <a:ea typeface="맑은 고딕"/>
                <a:cs typeface="맑은 고딕"/>
              </a:rPr>
              <a:t>▪  commit unit은 두 부분으로 구성된다</a:t>
            </a:r>
          </a:p>
          <a:p>
            <a:pPr algn="l">
              <a:lnSpc>
                <a:spcPct val="118000"/>
              </a:lnSpc>
              <a:spcBef>
                <a:spcPts val="200"/>
              </a:spcBef>
              <a:spcAft>
                <a:spcPts val="100"/>
              </a:spcAft>
            </a:pPr>
            <a:r>
              <a:rPr sz="1180" b="0" i="0">
                <a:solidFill>
                  <a:srgbClr val="2C3A4B"/>
                </a:solidFill>
                <a:latin typeface="Segoe UI"/>
                <a:ea typeface="맑은 고딕"/>
                <a:cs typeface="맑은 고딕"/>
              </a:rPr>
              <a:t>–  commit sequencer</a:t>
            </a:r>
          </a:p>
          <a:p>
            <a:pPr algn="l">
              <a:lnSpc>
                <a:spcPct val="118000"/>
              </a:lnSpc>
              <a:spcBef>
                <a:spcPts val="200"/>
              </a:spcBef>
              <a:spcAft>
                <a:spcPts val="100"/>
              </a:spcAft>
            </a:pPr>
            <a:r>
              <a:rPr sz="1180" b="0" i="0">
                <a:solidFill>
                  <a:srgbClr val="2C3A4B"/>
                </a:solidFill>
                <a:latin typeface="Segoe UI"/>
                <a:ea typeface="맑은 고딕"/>
                <a:cs typeface="맑은 고딕"/>
              </a:rPr>
              <a:t>–  commit process unit</a:t>
            </a:r>
          </a:p>
          <a:p>
            <a:pPr algn="l">
              <a:lnSpc>
                <a:spcPct val="118000"/>
              </a:lnSpc>
              <a:spcBef>
                <a:spcPts val="600"/>
              </a:spcBef>
              <a:spcAft>
                <a:spcPts val="200"/>
              </a:spcAft>
            </a:pPr>
            <a:r>
              <a:rPr sz="1300" b="1" i="0">
                <a:solidFill>
                  <a:srgbClr val="083F80"/>
                </a:solidFill>
                <a:latin typeface="Segoe UI"/>
                <a:ea typeface="맑은 고딕"/>
                <a:cs typeface="맑은 고딕"/>
              </a:rPr>
              <a:t>▪  commit sequencer</a:t>
            </a:r>
          </a:p>
          <a:p>
            <a:pPr algn="l">
              <a:lnSpc>
                <a:spcPct val="118000"/>
              </a:lnSpc>
              <a:spcBef>
                <a:spcPts val="200"/>
              </a:spcBef>
              <a:spcAft>
                <a:spcPts val="100"/>
              </a:spcAft>
            </a:pPr>
            <a:r>
              <a:rPr sz="1180" b="0" i="0">
                <a:solidFill>
                  <a:srgbClr val="2C3A4B"/>
                </a:solidFill>
                <a:latin typeface="Segoe UI"/>
                <a:ea typeface="맑은 고딕"/>
                <a:cs typeface="맑은 고딕"/>
              </a:rPr>
              <a:t>–  순차적으로 전송되어 오는 commit 데이터에 대해 주소를 지정한다</a:t>
            </a:r>
          </a:p>
          <a:p>
            <a:pPr algn="l">
              <a:lnSpc>
                <a:spcPct val="118000"/>
              </a:lnSpc>
              <a:spcBef>
                <a:spcPts val="200"/>
              </a:spcBef>
              <a:spcAft>
                <a:spcPts val="100"/>
              </a:spcAft>
            </a:pPr>
            <a:r>
              <a:rPr sz="1180" b="0" i="0">
                <a:solidFill>
                  <a:srgbClr val="2C3A4B"/>
                </a:solidFill>
                <a:latin typeface="Segoe UI"/>
                <a:ea typeface="맑은 고딕"/>
                <a:cs typeface="맑은 고딕"/>
              </a:rPr>
              <a:t>–  이를 통해 텐서의 저장 레이아웃(storage layout)을 조작할 수 있다</a:t>
            </a:r>
          </a:p>
          <a:p>
            <a:pPr algn="l">
              <a:lnSpc>
                <a:spcPct val="118000"/>
              </a:lnSpc>
              <a:spcBef>
                <a:spcPts val="200"/>
              </a:spcBef>
              <a:spcAft>
                <a:spcPts val="100"/>
              </a:spcAft>
            </a:pPr>
            <a:r>
              <a:rPr sz="1180" b="0" i="0">
                <a:solidFill>
                  <a:srgbClr val="2C3A4B"/>
                </a:solidFill>
                <a:latin typeface="Segoe UI"/>
                <a:ea typeface="맑은 고딕"/>
                <a:cs typeface="맑은 고딕"/>
              </a:rPr>
              <a:t>–  commit sequencer가 생성한 주소를 이용해, 필요하다면 commit size 파라미터로 저장 대역폭 소비량을 조절할 수 있다. 사이클당 8 B, 16 B, 32 B 중 하나를 선택한다</a:t>
            </a:r>
          </a:p>
          <a:p>
            <a:pPr algn="l">
              <a:lnSpc>
                <a:spcPct val="118000"/>
              </a:lnSpc>
              <a:spcBef>
                <a:spcPts val="600"/>
              </a:spcBef>
              <a:spcAft>
                <a:spcPts val="200"/>
              </a:spcAft>
            </a:pPr>
            <a:r>
              <a:rPr sz="1300" b="1" i="0">
                <a:solidFill>
                  <a:srgbClr val="083F80"/>
                </a:solidFill>
                <a:latin typeface="Segoe UI"/>
                <a:ea typeface="맑은 고딕"/>
                <a:cs typeface="맑은 고딕"/>
              </a:rPr>
              <a:t>▪  commit process unit</a:t>
            </a:r>
          </a:p>
          <a:p>
            <a:pPr algn="l">
              <a:lnSpc>
                <a:spcPct val="118000"/>
              </a:lnSpc>
              <a:spcBef>
                <a:spcPts val="200"/>
              </a:spcBef>
              <a:spcAft>
                <a:spcPts val="100"/>
              </a:spcAft>
            </a:pPr>
            <a:r>
              <a:rPr sz="1180" b="0" i="0">
                <a:solidFill>
                  <a:srgbClr val="2C3A4B"/>
                </a:solidFill>
                <a:latin typeface="Segoe UI"/>
                <a:ea typeface="맑은 고딕"/>
                <a:cs typeface="맑은 고딕"/>
              </a:rPr>
              <a:t>–  간단한 타입 변환(type conversion)을 지원한다</a:t>
            </a:r>
          </a:p>
          <a:p>
            <a:pPr algn="l">
              <a:lnSpc>
                <a:spcPct val="118000"/>
              </a:lnSpc>
              <a:spcBef>
                <a:spcPts val="200"/>
              </a:spcBef>
              <a:spcAft>
                <a:spcPts val="100"/>
              </a:spcAft>
            </a:pPr>
            <a:r>
              <a:rPr sz="1180" b="0" i="0">
                <a:solidFill>
                  <a:srgbClr val="2C3A4B"/>
                </a:solidFill>
                <a:latin typeface="Segoe UI"/>
                <a:ea typeface="맑은 고딕"/>
                <a:cs typeface="맑은 고딕"/>
              </a:rPr>
              <a:t>–  저장 시 압축(compaction)을 위해 데이터에서 패딩을 제거할 수 있다</a:t>
            </a:r>
          </a:p>
          <a:p>
            <a:pPr algn="l">
              <a:lnSpc>
                <a:spcPct val="118000"/>
              </a:lnSpc>
              <a:spcBef>
                <a:spcPts val="600"/>
              </a:spcBef>
              <a:spcAft>
                <a:spcPts val="200"/>
              </a:spcAft>
            </a:pPr>
            <a:r>
              <a:rPr sz="1300" b="1" i="0">
                <a:solidFill>
                  <a:srgbClr val="083F80"/>
                </a:solidFill>
                <a:latin typeface="Segoe UI"/>
                <a:ea typeface="맑은 고딕"/>
                <a:cs typeface="맑은 고딕"/>
              </a:rPr>
              <a:t>▪  fetch unit과 정확히 대칭적인 구조다</a:t>
            </a:r>
          </a:p>
          <a:p>
            <a:pPr algn="l">
              <a:lnSpc>
                <a:spcPct val="118000"/>
              </a:lnSpc>
              <a:spcBef>
                <a:spcPts val="200"/>
              </a:spcBef>
              <a:spcAft>
                <a:spcPts val="100"/>
              </a:spcAft>
            </a:pPr>
            <a:r>
              <a:rPr sz="1180" b="0" i="0">
                <a:solidFill>
                  <a:srgbClr val="2C3A4B"/>
                </a:solidFill>
                <a:latin typeface="Segoe UI"/>
                <a:ea typeface="맑은 고딕"/>
                <a:cs typeface="맑은 고딕"/>
              </a:rPr>
              <a:t>–  fetch = 주소 생성(fetch sequencer) + 타입 변환·패딩 추가(fetch process unit)</a:t>
            </a:r>
          </a:p>
          <a:p>
            <a:pPr algn="l">
              <a:lnSpc>
                <a:spcPct val="118000"/>
              </a:lnSpc>
              <a:spcBef>
                <a:spcPts val="200"/>
              </a:spcBef>
              <a:spcAft>
                <a:spcPts val="100"/>
              </a:spcAft>
            </a:pPr>
            <a:r>
              <a:rPr sz="1180" b="0" i="0">
                <a:solidFill>
                  <a:srgbClr val="2C3A4B"/>
                </a:solidFill>
                <a:latin typeface="Segoe UI"/>
                <a:ea typeface="맑은 고딕"/>
                <a:cs typeface="맑은 고딕"/>
              </a:rPr>
              <a:t>–  commit = 주소 생성(commit sequencer) + 타입 변환·패딩 제거(commit process unit)</a:t>
            </a:r>
          </a:p>
          <a:p>
            <a:pPr algn="l">
              <a:lnSpc>
                <a:spcPct val="118000"/>
              </a:lnSpc>
              <a:spcBef>
                <a:spcPts val="600"/>
              </a:spcBef>
              <a:spcAft>
                <a:spcPts val="200"/>
              </a:spcAft>
            </a:pPr>
            <a:r>
              <a:rPr sz="1300" b="0" i="0">
                <a:solidFill>
                  <a:srgbClr val="16202C"/>
                </a:solidFill>
                <a:latin typeface="Segoe UI"/>
                <a:ea typeface="맑은 고딕"/>
                <a:cs typeface="맑은 고딕"/>
              </a:rPr>
              <a:t>▪  main context용 commit unit과 sub-context용 sub commit unit이 별도로 존재한다 (Fig. 4)</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commit sequencer 의 주소 생성이 곧 다음 연산이 볼 lowered shape 을 만든다.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§IV-E Transpose Engine — 레이아웃 변환이 흐름 위에 얹힌다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Transpose engine(TE, 전치 엔진)은 슬라이스 내에서 텐서의 마지막 축을 다른 축과 전치한다</a:t>
            </a:r>
          </a:p>
          <a:p>
            <a:pPr algn="l">
              <a:lnSpc>
                <a:spcPct val="118000"/>
              </a:lnSpc>
              <a:spcBef>
                <a:spcPts val="200"/>
              </a:spcBef>
              <a:spcAft>
                <a:spcPts val="100"/>
              </a:spcAft>
            </a:pPr>
            <a:r>
              <a:rPr sz="1380" b="0" i="0">
                <a:solidFill>
                  <a:srgbClr val="2C3A4B"/>
                </a:solidFill>
                <a:latin typeface="Segoe UI"/>
                <a:ea typeface="맑은 고딕"/>
                <a:cs typeface="맑은 고딕"/>
              </a:rPr>
              <a:t>–  방식: 지정된 행 집합(set of rows)에 대해 데이터를 push하고, 다른 행 집합에 대해 pop한다</a:t>
            </a:r>
          </a:p>
          <a:p>
            <a:pPr algn="l">
              <a:lnSpc>
                <a:spcPct val="118000"/>
              </a:lnSpc>
              <a:spcBef>
                <a:spcPts val="600"/>
              </a:spcBef>
              <a:spcAft>
                <a:spcPts val="200"/>
              </a:spcAft>
            </a:pPr>
            <a:r>
              <a:rPr sz="1500" b="1" i="0">
                <a:solidFill>
                  <a:srgbClr val="083F80"/>
                </a:solidFill>
                <a:latin typeface="Segoe UI"/>
                <a:ea typeface="맑은 고딕"/>
                <a:cs typeface="맑은 고딕"/>
              </a:rPr>
              <a:t>▪  주의: fetch/commit sequencer만으로도 마지막 축과 다른 축 사이의 전치를 수행할 수 있다. 즉 전치 경로가 두 가지 존재한다</a:t>
            </a:r>
          </a:p>
          <a:p>
            <a:pPr algn="l">
              <a:lnSpc>
                <a:spcPct val="118000"/>
              </a:lnSpc>
              <a:spcBef>
                <a:spcPts val="600"/>
              </a:spcBef>
              <a:spcAft>
                <a:spcPts val="200"/>
              </a:spcAft>
            </a:pPr>
            <a:r>
              <a:rPr sz="1500" b="0" i="0">
                <a:solidFill>
                  <a:srgbClr val="16202C"/>
                </a:solidFill>
                <a:latin typeface="Segoe UI"/>
                <a:ea typeface="맑은 고딕"/>
                <a:cs typeface="맑은 고딕"/>
              </a:rPr>
              <a:t>▪  Vector Engine과 함께, TE와 commit unit이 여러 슬라이스에 걸친 또는 한 슬라이스 안의 텐서 조작(tensor manipulation)을 처리한다</a:t>
            </a:r>
          </a:p>
          <a:p>
            <a:pPr algn="l">
              <a:lnSpc>
                <a:spcPct val="118000"/>
              </a:lnSpc>
              <a:spcBef>
                <a:spcPts val="600"/>
              </a:spcBef>
              <a:spcAft>
                <a:spcPts val="200"/>
              </a:spcAft>
            </a:pPr>
            <a:r>
              <a:rPr sz="1500" b="1" i="0">
                <a:solidFill>
                  <a:srgbClr val="083F80"/>
                </a:solidFill>
                <a:latin typeface="Segoe UI"/>
                <a:ea typeface="맑은 고딕"/>
                <a:cs typeface="맑은 고딕"/>
              </a:rPr>
              <a:t>▪  텐서 조작에 포함되는 것: transpose, split, slice, concat, reshape 등</a:t>
            </a:r>
          </a:p>
          <a:p>
            <a:pPr algn="l">
              <a:lnSpc>
                <a:spcPct val="118000"/>
              </a:lnSpc>
              <a:spcBef>
                <a:spcPts val="200"/>
              </a:spcBef>
              <a:spcAft>
                <a:spcPts val="100"/>
              </a:spcAft>
            </a:pPr>
            <a:r>
              <a:rPr sz="1380" b="0" i="0">
                <a:solidFill>
                  <a:srgbClr val="2C3A4B"/>
                </a:solidFill>
                <a:latin typeface="Segoe UI"/>
                <a:ea typeface="맑은 고딕"/>
                <a:cs typeface="맑은 고딕"/>
              </a:rPr>
              <a:t>–  모델이 명시적으로 정의한 조작</a:t>
            </a:r>
          </a:p>
          <a:p>
            <a:pPr algn="l">
              <a:lnSpc>
                <a:spcPct val="118000"/>
              </a:lnSpc>
              <a:spcBef>
                <a:spcPts val="200"/>
              </a:spcBef>
              <a:spcAft>
                <a:spcPts val="100"/>
              </a:spcAft>
            </a:pPr>
            <a:r>
              <a:rPr sz="1380" b="0" i="0">
                <a:solidFill>
                  <a:srgbClr val="2C3A4B"/>
                </a:solidFill>
                <a:latin typeface="Segoe UI"/>
                <a:ea typeface="맑은 고딕"/>
                <a:cs typeface="맑은 고딕"/>
              </a:rPr>
              <a:t>–  컴파일러가 판단해, 후속 연산에 최적화된 레이아웃으로 텐서를 저장하기 위해 넣는 조작</a:t>
            </a:r>
          </a:p>
          <a:p>
            <a:pPr algn="l">
              <a:lnSpc>
                <a:spcPct val="118000"/>
              </a:lnSpc>
              <a:spcBef>
                <a:spcPts val="600"/>
              </a:spcBef>
              <a:spcAft>
                <a:spcPts val="200"/>
              </a:spcAft>
            </a:pPr>
            <a:r>
              <a:rPr sz="1500" b="1" i="0">
                <a:solidFill>
                  <a:srgbClr val="083F80"/>
                </a:solidFill>
                <a:latin typeface="Segoe UI"/>
                <a:ea typeface="맑은 고딕"/>
                <a:cs typeface="맑은 고딕"/>
              </a:rPr>
              <a:t>▪  VE와 마찬가지로 이 조작들은 dot product 연산 이후에, 또는 그와 병렬로 on-the-fly(즉석)로 처리된다</a:t>
            </a:r>
          </a:p>
          <a:p>
            <a:pPr algn="l">
              <a:lnSpc>
                <a:spcPct val="118000"/>
              </a:lnSpc>
              <a:spcBef>
                <a:spcPts val="600"/>
              </a:spcBef>
              <a:spcAft>
                <a:spcPts val="200"/>
              </a:spcAft>
            </a:pPr>
            <a:r>
              <a:rPr sz="1500" b="0" i="0">
                <a:solidFill>
                  <a:srgbClr val="16202C"/>
                </a:solidFill>
                <a:latin typeface="Segoe UI"/>
                <a:ea typeface="맑은 고딕"/>
                <a:cs typeface="맑은 고딕"/>
              </a:rPr>
              <a:t>▪  §II에서 언급한 bridge operator(브리지 연산자) — 이웃 연산 간 lowered shape이 맞지 않을 때 컴파일러가 삽입하는 변환 — 가 실행되는 하드웨어가 바로 이 경로다</a:t>
            </a:r>
          </a:p>
          <a:p>
            <a:pPr algn="l">
              <a:lnSpc>
                <a:spcPct val="118000"/>
              </a:lnSpc>
              <a:spcBef>
                <a:spcPts val="600"/>
              </a:spcBef>
              <a:spcAft>
                <a:spcPts val="200"/>
              </a:spcAft>
            </a:pPr>
            <a:r>
              <a:rPr sz="1500" b="0" i="0">
                <a:solidFill>
                  <a:srgbClr val="16202C"/>
                </a:solidFill>
                <a:latin typeface="Segoe UI"/>
                <a:ea typeface="맑은 고딕"/>
                <a:cs typeface="맑은 고딕"/>
              </a:rPr>
              <a:t>▪  Contraction Engine(Fig. 6)과 Vector Engine(Fig. 7)의 내부 구조는 다음 부에서 다룬다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레이아웃 변환은 별도 커널이 아니라 파이프라인에 얹혀 흐른다.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4부 · MICRO-ARCHITECTURE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119</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정리 — 이 부의 요점</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5</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MICRO-ARCHITECTURE (2)</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Contraction Engine · Vector Engine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복습: 슬라이스 컴퓨트 파이프라인 3단</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TU slice = data memory slice(데이터 메모리 슬라이스) + compute pipeline(연산 파이프라인)</a:t>
            </a:r>
          </a:p>
          <a:p>
            <a:pPr algn="l">
              <a:lnSpc>
                <a:spcPct val="118000"/>
              </a:lnSpc>
              <a:spcBef>
                <a:spcPts val="600"/>
              </a:spcBef>
              <a:spcAft>
                <a:spcPts val="200"/>
              </a:spcAft>
            </a:pPr>
            <a:r>
              <a:rPr sz="1900" b="0" i="0">
                <a:solidFill>
                  <a:srgbClr val="16202C"/>
                </a:solidFill>
                <a:latin typeface="Segoe UI"/>
                <a:ea typeface="맑은 고딕"/>
                <a:cs typeface="맑은 고딕"/>
              </a:rPr>
              <a:t>▪  compute pipeline 은 텐서 연산을 위해 3단으로 구성된다</a:t>
            </a:r>
          </a:p>
          <a:p>
            <a:pPr algn="l">
              <a:lnSpc>
                <a:spcPct val="118000"/>
              </a:lnSpc>
              <a:spcBef>
                <a:spcPts val="200"/>
              </a:spcBef>
              <a:spcAft>
                <a:spcPts val="100"/>
              </a:spcAft>
            </a:pPr>
            <a:r>
              <a:rPr sz="1780" b="0" i="0">
                <a:solidFill>
                  <a:srgbClr val="2C3A4B"/>
                </a:solidFill>
                <a:latin typeface="Segoe UI"/>
                <a:ea typeface="맑은 고딕"/>
                <a:cs typeface="맑은 고딕"/>
              </a:rPr>
              <a:t>–  Fetch unit (FU): data memory slice 에서 텐서를 순차적으로 읽어 필요한 shape 로 operation unit 에 공급한다</a:t>
            </a:r>
          </a:p>
          <a:p>
            <a:pPr algn="l">
              <a:lnSpc>
                <a:spcPct val="118000"/>
              </a:lnSpc>
              <a:spcBef>
                <a:spcPts val="200"/>
              </a:spcBef>
              <a:spcAft>
                <a:spcPts val="100"/>
              </a:spcAft>
            </a:pPr>
            <a:r>
              <a:rPr sz="1780" b="1" i="0">
                <a:solidFill>
                  <a:srgbClr val="2C3A4B"/>
                </a:solidFill>
                <a:latin typeface="Segoe UI"/>
                <a:ea typeface="맑은 고딕"/>
                <a:cs typeface="맑은 고딕"/>
              </a:rPr>
              <a:t>–  Operation unit (OU): fetch unit 이 흘려준 데이터를 스트리밍으로 처리한다. contraction engine (CE), vector engine (VE), transpose engine (TE) 등으로 구성된다</a:t>
            </a:r>
          </a:p>
          <a:p>
            <a:pPr algn="l">
              <a:lnSpc>
                <a:spcPct val="118000"/>
              </a:lnSpc>
              <a:spcBef>
                <a:spcPts val="200"/>
              </a:spcBef>
              <a:spcAft>
                <a:spcPts val="100"/>
              </a:spcAft>
            </a:pPr>
            <a:r>
              <a:rPr sz="1780" b="0" i="0">
                <a:solidFill>
                  <a:srgbClr val="2C3A4B"/>
                </a:solidFill>
                <a:latin typeface="Segoe UI"/>
                <a:ea typeface="맑은 고딕"/>
                <a:cs typeface="맑은 고딕"/>
              </a:rPr>
              <a:t>–  Commit unit (CU): operation unit 의 결과를 지정된 텐서 shape 로 data memory slice 에 다시 저장한다</a:t>
            </a:r>
          </a:p>
          <a:p>
            <a:pPr algn="l">
              <a:lnSpc>
                <a:spcPct val="118000"/>
              </a:lnSpc>
              <a:spcBef>
                <a:spcPts val="600"/>
              </a:spcBef>
              <a:spcAft>
                <a:spcPts val="200"/>
              </a:spcAft>
            </a:pPr>
            <a:r>
              <a:rPr sz="1900" b="0" i="0">
                <a:solidFill>
                  <a:srgbClr val="16202C"/>
                </a:solidFill>
                <a:latin typeface="Segoe UI"/>
                <a:ea typeface="맑은 고딕"/>
                <a:cs typeface="맑은 고딕"/>
              </a:rPr>
              <a:t>▪  즉 데이터는 항상 '흐른다'. 명령어를 하나씩 페치해 실행하는 구조가 아니라, 연산 전에 세팅된 control register 에 따라 시퀀서가 루프를 전개하는 구조다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 Operation → Commit. 이 부는 Operation Unit 내부와 Commit Unit 을 다룬다.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6 — Contraction Engine 전체 데이터패스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121</a:t>
            </a:r>
          </a:p>
        </p:txBody>
      </p:sp>
      <p:pic>
        <p:nvPicPr>
          <p:cNvPr id="8" name="Picture 7" descr="isca_fig6.png"/>
          <p:cNvPicPr>
            <a:picLocks noChangeAspect="1"/>
          </p:cNvPicPr>
          <p:nvPr/>
        </p:nvPicPr>
        <p:blipFill>
          <a:blip r:embed="rId2"/>
          <a:stretch>
            <a:fillRect/>
          </a:stretch>
        </p:blipFill>
        <p:spPr>
          <a:xfrm>
            <a:off x="566928" y="1517904"/>
            <a:ext cx="5971233" cy="3188996"/>
          </a:xfrm>
          <a:prstGeom prst="rect">
            <a:avLst/>
          </a:prstGeom>
        </p:spPr>
      </p:pic>
      <p:sp>
        <p:nvSpPr>
          <p:cNvPr id="9" name="Rectangle 8"/>
          <p:cNvSpPr/>
          <p:nvPr/>
        </p:nvSpPr>
        <p:spPr>
          <a:xfrm>
            <a:off x="566928" y="1517904"/>
            <a:ext cx="5971233" cy="3188996"/>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734332"/>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6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100" b="0" i="0">
                <a:solidFill>
                  <a:srgbClr val="16202C"/>
                </a:solidFill>
                <a:latin typeface="Segoe UI"/>
                <a:ea typeface="맑은 고딕"/>
                <a:cs typeface="맑은 고딕"/>
              </a:rPr>
              <a:t>▪  위쪽 굵은 검은 화살표 두 개가 CE 의 입력이다. 폭은 각각 80B 이고, 하나는 Feed Unit 으로, 다른 하나는 Register File 로 들어간다</a:t>
            </a:r>
          </a:p>
          <a:p>
            <a:pPr algn="l">
              <a:lnSpc>
                <a:spcPct val="118000"/>
              </a:lnSpc>
              <a:spcBef>
                <a:spcPts val="600"/>
              </a:spcBef>
              <a:spcAft>
                <a:spcPts val="200"/>
              </a:spcAft>
            </a:pPr>
            <a:r>
              <a:rPr sz="1100" b="0" i="0">
                <a:solidFill>
                  <a:srgbClr val="16202C"/>
                </a:solidFill>
                <a:latin typeface="Segoe UI"/>
                <a:ea typeface="맑은 고딕"/>
                <a:cs typeface="맑은 고딕"/>
              </a:rPr>
              <a:t>▪  Feed Unit 출력 라벨: 32 x BF16 / 64 x FP8·Int4 / 128 x INT4 — 벡터 1개가 8개 DPE 전부에 broadcast(방송) 된다</a:t>
            </a:r>
          </a:p>
          <a:p>
            <a:pPr algn="l">
              <a:lnSpc>
                <a:spcPct val="118000"/>
              </a:lnSpc>
              <a:spcBef>
                <a:spcPts val="600"/>
              </a:spcBef>
              <a:spcAft>
                <a:spcPts val="200"/>
              </a:spcAft>
            </a:pPr>
            <a:r>
              <a:rPr sz="1100" b="0" i="0">
                <a:solidFill>
                  <a:srgbClr val="16202C"/>
                </a:solidFill>
                <a:latin typeface="Segoe UI"/>
                <a:ea typeface="맑은 고딕"/>
                <a:cs typeface="맑은 고딕"/>
              </a:rPr>
              <a:t>▪  Register File 출력 라벨: 8 x 32 x BF16 / 8 x 64 x FP8·INT4 / 8 x 128 x INT4 — DPE 마다 별도 벡터다 (그림의 x8 표기)</a:t>
            </a:r>
          </a:p>
          <a:p>
            <a:pPr algn="l">
              <a:lnSpc>
                <a:spcPct val="118000"/>
              </a:lnSpc>
              <a:spcBef>
                <a:spcPts val="600"/>
              </a:spcBef>
              <a:spcAft>
                <a:spcPts val="200"/>
              </a:spcAft>
            </a:pPr>
            <a:r>
              <a:rPr sz="1100" b="0" i="0">
                <a:solidFill>
                  <a:srgbClr val="16202C"/>
                </a:solidFill>
                <a:latin typeface="Segoe UI"/>
                <a:ea typeface="맑은 고딕"/>
                <a:cs typeface="맑은 고딕"/>
              </a:rPr>
              <a:t>▪  Dot-Product Engine 출력: 8 x 32 x FP32/INT32 → Accumulation Unit x 32 → 다시 8 x 32 x FP32/INT32</a:t>
            </a:r>
          </a:p>
          <a:p>
            <a:pPr algn="l">
              <a:lnSpc>
                <a:spcPct val="118000"/>
              </a:lnSpc>
              <a:spcBef>
                <a:spcPts val="600"/>
              </a:spcBef>
              <a:spcAft>
                <a:spcPts val="200"/>
              </a:spcAft>
            </a:pPr>
            <a:r>
              <a:rPr sz="1100" b="0" i="0">
                <a:solidFill>
                  <a:srgbClr val="16202C"/>
                </a:solidFill>
                <a:latin typeface="Segoe UI"/>
                <a:ea typeface="맑은 고딕"/>
                <a:cs typeface="맑은 고딕"/>
              </a:rPr>
              <a:t>▪  출력단이 Row Major Output (32 x 8 x 4B) 과 Column Major Output (8 x 32 x 4B) 두 갈래로 갈라졌다가 하나의 32B 포트로 합쳐진다</a:t>
            </a:r>
          </a:p>
          <a:p>
            <a:pPr algn="l">
              <a:lnSpc>
                <a:spcPct val="118000"/>
              </a:lnSpc>
              <a:spcBef>
                <a:spcPts val="600"/>
              </a:spcBef>
              <a:spcAft>
                <a:spcPts val="200"/>
              </a:spcAft>
            </a:pPr>
            <a:r>
              <a:rPr sz="1100" b="0" i="0">
                <a:solidFill>
                  <a:srgbClr val="16202C"/>
                </a:solidFill>
                <a:latin typeface="Segoe UI"/>
                <a:ea typeface="맑은 고딕"/>
                <a:cs typeface="맑은 고딕"/>
              </a:rPr>
              <a:t>▪  오른쪽 세로로 긴 Operation Sequencer 가 파란 제어선으로 Register File, Accumulation Unit, 출력 선택부, Feed Unit 에 뻗어 있다 (범례: Black = Datapath, Blue = Control signal)</a:t>
            </a:r>
          </a:p>
          <a:p>
            <a:pPr algn="l">
              <a:lnSpc>
                <a:spcPct val="118000"/>
              </a:lnSpc>
              <a:spcBef>
                <a:spcPts val="600"/>
              </a:spcBef>
              <a:spcAft>
                <a:spcPts val="200"/>
              </a:spcAft>
            </a:pPr>
            <a:r>
              <a:rPr sz="1100" b="0" i="0">
                <a:solidFill>
                  <a:srgbClr val="16202C"/>
                </a:solidFill>
                <a:latin typeface="Segoe UI"/>
                <a:ea typeface="맑은 고딕"/>
                <a:cs typeface="맑은 고딕"/>
              </a:rPr>
              <a:t>▪  오른쪽 3×3 행렬 도식은 row-major order(빨강) 와 column-major order(청록) 의 스캔 순서를 보여준다</a:t>
            </a:r>
          </a:p>
          <a:p>
            <a:pPr algn="l">
              <a:lnSpc>
                <a:spcPct val="118000"/>
              </a:lnSpc>
              <a:spcBef>
                <a:spcPts val="600"/>
              </a:spcBef>
              <a:spcAft>
                <a:spcPts val="200"/>
              </a:spcAft>
            </a:pPr>
            <a:r>
              <a:rPr sz="1100" b="1" i="0">
                <a:solidFill>
                  <a:srgbClr val="083F80"/>
                </a:solidFill>
                <a:latin typeface="Segoe UI"/>
                <a:ea typeface="맑은 고딕"/>
                <a:cs typeface="맑은 고딕"/>
              </a:rPr>
              <a:t>▪  주의: 그림 라벨의 "64 x FP8/Int4" 는 본문(64 FP8, 64 INT8)과 대조하면 "FP8/INT8" 의 오기로 보인다. 논문은 이를 정정하지 않는다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CE = Feed Unit(브로드캐스트) + Register File(DPE별 피연산자) + DPE ×8(공간 축약) + Accumulation Unit(시간 축약), 그리고 이들을 묶는 Operation Sequencer.</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IV-C. Contraction Engine — 구성 요소</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CE 의 정의: "performs dot product operations between two tensors" — 두 텐서 사이의 내적 연산을 수행한다</a:t>
            </a:r>
          </a:p>
          <a:p>
            <a:pPr algn="l">
              <a:lnSpc>
                <a:spcPct val="118000"/>
              </a:lnSpc>
              <a:spcBef>
                <a:spcPts val="600"/>
              </a:spcBef>
              <a:spcAft>
                <a:spcPts val="200"/>
              </a:spcAft>
            </a:pPr>
            <a:r>
              <a:rPr sz="1900" b="0" i="0">
                <a:solidFill>
                  <a:srgbClr val="16202C"/>
                </a:solidFill>
                <a:latin typeface="Segoe UI"/>
                <a:ea typeface="맑은 고딕"/>
                <a:cs typeface="맑은 고딕"/>
              </a:rPr>
              <a:t>▪  Fig. 6 기준 CE 데이터패스의 구성 요소는 네 가지다</a:t>
            </a:r>
          </a:p>
          <a:p>
            <a:pPr algn="l">
              <a:lnSpc>
                <a:spcPct val="118000"/>
              </a:lnSpc>
              <a:spcBef>
                <a:spcPts val="200"/>
              </a:spcBef>
              <a:spcAft>
                <a:spcPts val="100"/>
              </a:spcAft>
            </a:pPr>
            <a:r>
              <a:rPr sz="1780" b="0" i="0">
                <a:solidFill>
                  <a:srgbClr val="2C3A4B"/>
                </a:solidFill>
                <a:latin typeface="Segoe UI"/>
                <a:ea typeface="맑은 고딕"/>
                <a:cs typeface="맑은 고딕"/>
              </a:rPr>
              <a:t>–  Feed unit (피드 유닛)</a:t>
            </a:r>
          </a:p>
          <a:p>
            <a:pPr algn="l">
              <a:lnSpc>
                <a:spcPct val="118000"/>
              </a:lnSpc>
              <a:spcBef>
                <a:spcPts val="200"/>
              </a:spcBef>
              <a:spcAft>
                <a:spcPts val="100"/>
              </a:spcAft>
            </a:pPr>
            <a:r>
              <a:rPr sz="1780" b="0" i="0">
                <a:solidFill>
                  <a:srgbClr val="2C3A4B"/>
                </a:solidFill>
                <a:latin typeface="Segoe UI"/>
                <a:ea typeface="맑은 고딕"/>
                <a:cs typeface="맑은 고딕"/>
              </a:rPr>
              <a:t>–  Register files (RFs, 레지스터 파일)</a:t>
            </a:r>
          </a:p>
          <a:p>
            <a:pPr algn="l">
              <a:lnSpc>
                <a:spcPct val="118000"/>
              </a:lnSpc>
              <a:spcBef>
                <a:spcPts val="200"/>
              </a:spcBef>
              <a:spcAft>
                <a:spcPts val="100"/>
              </a:spcAft>
            </a:pPr>
            <a:r>
              <a:rPr sz="1780" b="0" i="0">
                <a:solidFill>
                  <a:srgbClr val="2C3A4B"/>
                </a:solidFill>
                <a:latin typeface="Segoe UI"/>
                <a:ea typeface="맑은 고딕"/>
                <a:cs typeface="맑은 고딕"/>
              </a:rPr>
              <a:t>–  Dot-product engines (DPEs, 내적 엔진)</a:t>
            </a:r>
          </a:p>
          <a:p>
            <a:pPr algn="l">
              <a:lnSpc>
                <a:spcPct val="118000"/>
              </a:lnSpc>
              <a:spcBef>
                <a:spcPts val="200"/>
              </a:spcBef>
              <a:spcAft>
                <a:spcPts val="100"/>
              </a:spcAft>
            </a:pPr>
            <a:r>
              <a:rPr sz="1780" b="0" i="0">
                <a:solidFill>
                  <a:srgbClr val="2C3A4B"/>
                </a:solidFill>
                <a:latin typeface="Segoe UI"/>
                <a:ea typeface="맑은 고딕"/>
                <a:cs typeface="맑은 고딕"/>
              </a:rPr>
              <a:t>–  Accumulation units (누산 유닛)</a:t>
            </a:r>
          </a:p>
          <a:p>
            <a:pPr algn="l">
              <a:lnSpc>
                <a:spcPct val="118000"/>
              </a:lnSpc>
              <a:spcBef>
                <a:spcPts val="600"/>
              </a:spcBef>
              <a:spcAft>
                <a:spcPts val="200"/>
              </a:spcAft>
            </a:pPr>
            <a:r>
              <a:rPr sz="1900" b="1" i="0">
                <a:solidFill>
                  <a:srgbClr val="083F80"/>
                </a:solidFill>
                <a:latin typeface="Segoe UI"/>
                <a:ea typeface="맑은 고딕"/>
                <a:cs typeface="맑은 고딕"/>
              </a:rPr>
              <a:t>▪  이 네 가지를 operation sequencer (연산 시퀀서) 가 제어한다</a:t>
            </a:r>
          </a:p>
          <a:p>
            <a:pPr algn="l">
              <a:lnSpc>
                <a:spcPct val="118000"/>
              </a:lnSpc>
              <a:spcBef>
                <a:spcPts val="600"/>
              </a:spcBef>
              <a:spcAft>
                <a:spcPts val="200"/>
              </a:spcAft>
            </a:pPr>
            <a:r>
              <a:rPr sz="1900" b="0" i="0">
                <a:solidFill>
                  <a:srgbClr val="16202C"/>
                </a:solidFill>
                <a:latin typeface="Segoe UI"/>
                <a:ea typeface="맑은 고딕"/>
                <a:cs typeface="맑은 고딕"/>
              </a:rPr>
              <a:t>▪  III-B 의 표현으로는 CE 는 H (= 칩 설계에서 8) 개의 DPE 인스턴스를 포함하고, 각 DPE 는 W 개 입력의 reduction tree(축약 트리) 로 가변 개수의 출력을 낼 수 있다</a:t>
            </a:r>
          </a:p>
          <a:p>
            <a:pPr algn="l">
              <a:lnSpc>
                <a:spcPct val="118000"/>
              </a:lnSpc>
              <a:spcBef>
                <a:spcPts val="600"/>
              </a:spcBef>
              <a:spcAft>
                <a:spcPts val="200"/>
              </a:spcAft>
            </a:pPr>
            <a:r>
              <a:rPr sz="1900" b="0" i="0">
                <a:solidFill>
                  <a:srgbClr val="16202C"/>
                </a:solidFill>
                <a:latin typeface="Segoe UI"/>
                <a:ea typeface="맑은 고딕"/>
                <a:cs typeface="맑은 고딕"/>
              </a:rPr>
              <a:t>▪  따라서 슬라이스 하나가 독립적으로 쓸 수 있는 MAC 수는 H × W 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CE 는 두 텐서 사이의 dot product(내적) 연산을 수행한다.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Dot-Product Engine (DPE) — 벡터 1개 × 벡터 8개</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두 입력의 출처가 비대칭이다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123</a:t>
            </a:r>
          </a:p>
        </p:txBody>
      </p:sp>
      <p:grpSp>
        <p:nvGrpSpPr>
          <p:cNvPr id="9" name="도해 A5#04"/>
          <p:cNvGrpSpPr/>
          <p:nvPr/>
        </p:nvGrpSpPr>
        <p:grpSpPr>
          <a:xfrm>
            <a:off x="728958" y="1463040"/>
            <a:ext cx="10733779" cy="4078224"/>
            <a:chOff x="728958" y="1463040"/>
            <a:chExt cx="10733779" cy="4078224"/>
          </a:xfrm>
        </p:grpSpPr>
        <p:sp>
          <p:nvSpPr>
            <p:cNvPr id="10" name="TextBox 9"/>
            <p:cNvSpPr txBox="1"/>
            <p:nvPr/>
          </p:nvSpPr>
          <p:spPr>
            <a:xfrm>
              <a:off x="4137436" y="1463040"/>
              <a:ext cx="2739874" cy="195986"/>
            </a:xfrm>
            <a:prstGeom prst="rect">
              <a:avLst/>
            </a:prstGeom>
            <a:noFill/>
          </p:spPr>
          <p:txBody>
            <a:bodyPr wrap="none" anchor="ctr" lIns="0" rIns="0" tIns="0" bIns="0">
              <a:noAutofit/>
            </a:bodyPr>
            <a:lstStyle/>
            <a:p>
              <a:pPr algn="ctr"/>
              <a:r>
                <a:rPr sz="1070" b="0">
                  <a:solidFill>
                    <a:srgbClr val="16202C"/>
                  </a:solidFill>
                  <a:latin typeface="맑은 고딕"/>
                  <a:ea typeface="맑은 고딕"/>
                  <a:cs typeface="맑은 고딕"/>
                </a:rPr>
                <a:t>공유 벡터 1개 — 32 × BF16 (칸 1개 = 원소 4개)</a:t>
              </a:r>
            </a:p>
          </p:txBody>
        </p:sp>
        <p:sp>
          <p:nvSpPr>
            <p:cNvPr id="11" name="Rounded Rectangle 10"/>
            <p:cNvSpPr/>
            <p:nvPr/>
          </p:nvSpPr>
          <p:spPr>
            <a:xfrm>
              <a:off x="728958" y="1690662"/>
              <a:ext cx="2542211" cy="494319"/>
            </a:xfrm>
            <a:prstGeom prst="roundRect">
              <a:avLst>
                <a:gd name="adj" fmla="val 16666"/>
              </a:avLst>
            </a:prstGeom>
            <a:solidFill>
              <a:srgbClr val="E3EEFB"/>
            </a:solidFill>
            <a:ln w="211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6897" y="1755394"/>
              <a:ext cx="746333" cy="213028"/>
            </a:xfrm>
            <a:prstGeom prst="rect">
              <a:avLst/>
            </a:prstGeom>
            <a:noFill/>
          </p:spPr>
          <p:txBody>
            <a:bodyPr wrap="none" anchor="ctr" lIns="0" rIns="0" tIns="0" bIns="0">
              <a:noAutofit/>
            </a:bodyPr>
            <a:lstStyle/>
            <a:p>
              <a:pPr algn="ctr"/>
              <a:r>
                <a:rPr sz="1160" b="1">
                  <a:solidFill>
                    <a:srgbClr val="083F80"/>
                  </a:solidFill>
                  <a:latin typeface="맑은 고딕"/>
                  <a:ea typeface="맑은 고딕"/>
                  <a:cs typeface="맑은 고딕"/>
                </a:rPr>
                <a:t>Feed Unit</a:t>
              </a:r>
            </a:p>
          </p:txBody>
        </p:sp>
        <p:sp>
          <p:nvSpPr>
            <p:cNvPr id="13" name="TextBox 12"/>
            <p:cNvSpPr txBox="1"/>
            <p:nvPr/>
          </p:nvSpPr>
          <p:spPr>
            <a:xfrm>
              <a:off x="1338706" y="1984664"/>
              <a:ext cx="1322715" cy="161901"/>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8개 DPE 전부에 broadcast</a:t>
              </a:r>
            </a:p>
          </p:txBody>
        </p:sp>
        <p:sp>
          <p:nvSpPr>
            <p:cNvPr id="14" name="Rounded Rectangle 13"/>
            <p:cNvSpPr/>
            <p:nvPr/>
          </p:nvSpPr>
          <p:spPr>
            <a:xfrm>
              <a:off x="3388864" y="1737740"/>
              <a:ext cx="4237018" cy="400163"/>
            </a:xfrm>
            <a:prstGeom prst="roundRect">
              <a:avLst>
                <a:gd name="adj" fmla="val 11764"/>
              </a:avLst>
            </a:prstGeom>
            <a:solidFill>
              <a:srgbClr val="CBE0F7"/>
            </a:solidFill>
            <a:ln w="211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3918491"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48118"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77746"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07373"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37000"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566627"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096255" y="1737740"/>
              <a:ext cx="0" cy="400163"/>
            </a:xfrm>
            <a:prstGeom prst="line">
              <a:avLst/>
            </a:prstGeom>
            <a:ln w="1059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18491"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48118"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77746"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07373"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37000"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66627"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96255" y="2137903"/>
              <a:ext cx="0" cy="94156"/>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918491"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48118"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977746"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507373"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37000"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66627"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096255" y="2443910"/>
              <a:ext cx="0" cy="2730522"/>
            </a:xfrm>
            <a:prstGeom prst="line">
              <a:avLst/>
            </a:prstGeom>
            <a:ln w="9415">
              <a:solidFill>
                <a:srgbClr val="9FC4EE"/>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41385" y="2206401"/>
              <a:ext cx="2731976" cy="178943"/>
            </a:xfrm>
            <a:prstGeom prst="rect">
              <a:avLst/>
            </a:prstGeom>
            <a:noFill/>
          </p:spPr>
          <p:txBody>
            <a:bodyPr wrap="none" anchor="ctr" lIns="0" rIns="0" tIns="0" bIns="0">
              <a:noAutofit/>
            </a:bodyPr>
            <a:lstStyle/>
            <a:p>
              <a:pPr algn="ctr"/>
              <a:r>
                <a:rPr sz="969" b="0">
                  <a:solidFill>
                    <a:srgbClr val="5B6B7B"/>
                  </a:solidFill>
                  <a:latin typeface="맑은 고딕"/>
                  <a:ea typeface="맑은 고딕"/>
                  <a:cs typeface="맑은 고딕"/>
                </a:rPr>
                <a:t>↓ 같은 벡터가 아래 8개 행 전부와 원소별로 곱해진다</a:t>
              </a:r>
            </a:p>
          </p:txBody>
        </p:sp>
        <p:sp>
          <p:nvSpPr>
            <p:cNvPr id="37" name="TextBox 36"/>
            <p:cNvSpPr txBox="1"/>
            <p:nvPr/>
          </p:nvSpPr>
          <p:spPr>
            <a:xfrm>
              <a:off x="8063060" y="2189689"/>
              <a:ext cx="820451" cy="17042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reduction tree</a:t>
              </a:r>
            </a:p>
          </p:txBody>
        </p:sp>
        <p:sp>
          <p:nvSpPr>
            <p:cNvPr id="38" name="Rounded Rectangle 37"/>
            <p:cNvSpPr/>
            <p:nvPr/>
          </p:nvSpPr>
          <p:spPr>
            <a:xfrm>
              <a:off x="728958" y="2396832"/>
              <a:ext cx="1435878" cy="2754062"/>
            </a:xfrm>
            <a:prstGeom prst="roundRect">
              <a:avLst>
                <a:gd name="adj" fmla="val 5737"/>
              </a:avLst>
            </a:prstGeom>
            <a:solidFill>
              <a:srgbClr val="FDEBD3"/>
            </a:solidFill>
            <a:ln w="2118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9738" y="2545833"/>
              <a:ext cx="594318" cy="195986"/>
            </a:xfrm>
            <a:prstGeom prst="rect">
              <a:avLst/>
            </a:prstGeom>
            <a:noFill/>
          </p:spPr>
          <p:txBody>
            <a:bodyPr wrap="none" anchor="ctr" lIns="0" rIns="0" tIns="0" bIns="0">
              <a:noAutofit/>
            </a:bodyPr>
            <a:lstStyle/>
            <a:p>
              <a:pPr algn="ctr"/>
              <a:r>
                <a:rPr sz="1070" b="1">
                  <a:solidFill>
                    <a:srgbClr val="B45409"/>
                  </a:solidFill>
                  <a:latin typeface="맑은 고딕"/>
                  <a:ea typeface="맑은 고딕"/>
                  <a:cs typeface="맑은 고딕"/>
                </a:rPr>
                <a:t>Register</a:t>
              </a:r>
            </a:p>
          </p:txBody>
        </p:sp>
        <p:sp>
          <p:nvSpPr>
            <p:cNvPr id="40" name="TextBox 39"/>
            <p:cNvSpPr txBox="1"/>
            <p:nvPr/>
          </p:nvSpPr>
          <p:spPr>
            <a:xfrm>
              <a:off x="1301735" y="2734145"/>
              <a:ext cx="290324" cy="195986"/>
            </a:xfrm>
            <a:prstGeom prst="rect">
              <a:avLst/>
            </a:prstGeom>
            <a:noFill/>
          </p:spPr>
          <p:txBody>
            <a:bodyPr wrap="none" anchor="ctr" lIns="0" rIns="0" tIns="0" bIns="0">
              <a:noAutofit/>
            </a:bodyPr>
            <a:lstStyle/>
            <a:p>
              <a:pPr algn="ctr"/>
              <a:r>
                <a:rPr sz="1070" b="1">
                  <a:solidFill>
                    <a:srgbClr val="B45409"/>
                  </a:solidFill>
                  <a:latin typeface="맑은 고딕"/>
                  <a:ea typeface="맑은 고딕"/>
                  <a:cs typeface="맑은 고딕"/>
                </a:rPr>
                <a:t>File</a:t>
              </a:r>
            </a:p>
          </p:txBody>
        </p:sp>
        <p:sp>
          <p:nvSpPr>
            <p:cNvPr id="41" name="TextBox 40"/>
            <p:cNvSpPr txBox="1"/>
            <p:nvPr/>
          </p:nvSpPr>
          <p:spPr>
            <a:xfrm>
              <a:off x="1191852" y="3060631"/>
              <a:ext cx="510090" cy="17042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DPE 마다</a:t>
              </a:r>
            </a:p>
          </p:txBody>
        </p:sp>
        <p:sp>
          <p:nvSpPr>
            <p:cNvPr id="42" name="TextBox 41"/>
            <p:cNvSpPr txBox="1"/>
            <p:nvPr/>
          </p:nvSpPr>
          <p:spPr>
            <a:xfrm>
              <a:off x="1195972" y="3248943"/>
              <a:ext cx="501851" cy="17042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다른 벡터</a:t>
              </a:r>
            </a:p>
          </p:txBody>
        </p:sp>
        <p:sp>
          <p:nvSpPr>
            <p:cNvPr id="43" name="TextBox 42"/>
            <p:cNvSpPr txBox="1"/>
            <p:nvPr/>
          </p:nvSpPr>
          <p:spPr>
            <a:xfrm>
              <a:off x="1271591" y="3554950"/>
              <a:ext cx="350613" cy="17042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8 뱅크</a:t>
              </a:r>
            </a:p>
          </p:txBody>
        </p:sp>
        <p:sp>
          <p:nvSpPr>
            <p:cNvPr id="44" name="TextBox 43"/>
            <p:cNvSpPr txBox="1"/>
            <p:nvPr/>
          </p:nvSpPr>
          <p:spPr>
            <a:xfrm>
              <a:off x="1270531" y="3743262"/>
              <a:ext cx="352732" cy="17042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80 KB</a:t>
              </a:r>
            </a:p>
          </p:txBody>
        </p:sp>
        <p:sp>
          <p:nvSpPr>
            <p:cNvPr id="45" name="TextBox 44"/>
            <p:cNvSpPr txBox="1"/>
            <p:nvPr/>
          </p:nvSpPr>
          <p:spPr>
            <a:xfrm>
              <a:off x="1281006" y="3931574"/>
              <a:ext cx="331782" cy="17042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/slice</a:t>
              </a:r>
            </a:p>
          </p:txBody>
        </p:sp>
        <p:sp>
          <p:nvSpPr>
            <p:cNvPr id="46" name="TextBox 45"/>
            <p:cNvSpPr txBox="1"/>
            <p:nvPr/>
          </p:nvSpPr>
          <p:spPr>
            <a:xfrm>
              <a:off x="1148923" y="4315024"/>
              <a:ext cx="595948" cy="161901"/>
            </a:xfrm>
            <a:prstGeom prst="rect">
              <a:avLst/>
            </a:prstGeom>
            <a:noFill/>
          </p:spPr>
          <p:txBody>
            <a:bodyPr wrap="none" anchor="ctr" lIns="0" rIns="0" tIns="0" bIns="0">
              <a:noAutofit/>
            </a:bodyPr>
            <a:lstStyle/>
            <a:p>
              <a:pPr algn="ctr"/>
              <a:r>
                <a:rPr sz="880" b="0">
                  <a:solidFill>
                    <a:srgbClr val="5B6B7B"/>
                  </a:solidFill>
                  <a:latin typeface="맑은 고딕"/>
                  <a:ea typeface="맑은 고딕"/>
                  <a:cs typeface="맑은 고딕"/>
                </a:rPr>
                <a:t>single port</a:t>
              </a:r>
            </a:p>
          </p:txBody>
        </p:sp>
        <p:sp>
          <p:nvSpPr>
            <p:cNvPr id="47" name="TextBox 46"/>
            <p:cNvSpPr txBox="1"/>
            <p:nvPr/>
          </p:nvSpPr>
          <p:spPr>
            <a:xfrm>
              <a:off x="1278791" y="4503336"/>
              <a:ext cx="336213" cy="161901"/>
            </a:xfrm>
            <a:prstGeom prst="rect">
              <a:avLst/>
            </a:prstGeom>
            <a:noFill/>
          </p:spPr>
          <p:txBody>
            <a:bodyPr wrap="none" anchor="ctr" lIns="0" rIns="0" tIns="0" bIns="0">
              <a:noAutofit/>
            </a:bodyPr>
            <a:lstStyle/>
            <a:p>
              <a:pPr algn="ctr"/>
              <a:r>
                <a:rPr sz="880" b="0">
                  <a:solidFill>
                    <a:srgbClr val="5B6B7B"/>
                  </a:solidFill>
                  <a:latin typeface="맑은 고딕"/>
                  <a:ea typeface="맑은 고딕"/>
                  <a:cs typeface="맑은 고딕"/>
                </a:rPr>
                <a:t>SRAM</a:t>
              </a:r>
            </a:p>
          </p:txBody>
        </p:sp>
        <p:sp>
          <p:nvSpPr>
            <p:cNvPr id="48" name="TextBox 47"/>
            <p:cNvSpPr txBox="1"/>
            <p:nvPr/>
          </p:nvSpPr>
          <p:spPr>
            <a:xfrm>
              <a:off x="2894374" y="2441791"/>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0</a:t>
              </a:r>
            </a:p>
          </p:txBody>
        </p:sp>
        <p:sp>
          <p:nvSpPr>
            <p:cNvPr id="49" name="TextBox 48"/>
            <p:cNvSpPr txBox="1"/>
            <p:nvPr/>
          </p:nvSpPr>
          <p:spPr>
            <a:xfrm>
              <a:off x="2894374" y="2794876"/>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1</a:t>
              </a:r>
            </a:p>
          </p:txBody>
        </p:sp>
        <p:sp>
          <p:nvSpPr>
            <p:cNvPr id="50" name="TextBox 49"/>
            <p:cNvSpPr txBox="1"/>
            <p:nvPr/>
          </p:nvSpPr>
          <p:spPr>
            <a:xfrm>
              <a:off x="2894374" y="3147961"/>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2</a:t>
              </a:r>
            </a:p>
          </p:txBody>
        </p:sp>
        <p:sp>
          <p:nvSpPr>
            <p:cNvPr id="51" name="TextBox 50"/>
            <p:cNvSpPr txBox="1"/>
            <p:nvPr/>
          </p:nvSpPr>
          <p:spPr>
            <a:xfrm>
              <a:off x="2894374" y="3501046"/>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3</a:t>
              </a:r>
            </a:p>
          </p:txBody>
        </p:sp>
        <p:sp>
          <p:nvSpPr>
            <p:cNvPr id="52" name="TextBox 51"/>
            <p:cNvSpPr txBox="1"/>
            <p:nvPr/>
          </p:nvSpPr>
          <p:spPr>
            <a:xfrm>
              <a:off x="2894374" y="3854131"/>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4</a:t>
              </a:r>
            </a:p>
          </p:txBody>
        </p:sp>
        <p:sp>
          <p:nvSpPr>
            <p:cNvPr id="53" name="TextBox 52"/>
            <p:cNvSpPr txBox="1"/>
            <p:nvPr/>
          </p:nvSpPr>
          <p:spPr>
            <a:xfrm>
              <a:off x="2894374" y="4207215"/>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5</a:t>
              </a:r>
            </a:p>
          </p:txBody>
        </p:sp>
        <p:sp>
          <p:nvSpPr>
            <p:cNvPr id="54" name="TextBox 53"/>
            <p:cNvSpPr txBox="1"/>
            <p:nvPr/>
          </p:nvSpPr>
          <p:spPr>
            <a:xfrm>
              <a:off x="2894374" y="4560300"/>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6</a:t>
              </a:r>
            </a:p>
          </p:txBody>
        </p:sp>
        <p:sp>
          <p:nvSpPr>
            <p:cNvPr id="55" name="TextBox 54"/>
            <p:cNvSpPr txBox="1"/>
            <p:nvPr/>
          </p:nvSpPr>
          <p:spPr>
            <a:xfrm>
              <a:off x="2894374" y="4913385"/>
              <a:ext cx="376794" cy="178943"/>
            </a:xfrm>
            <a:prstGeom prst="rect">
              <a:avLst/>
            </a:prstGeom>
            <a:noFill/>
          </p:spPr>
          <p:txBody>
            <a:bodyPr wrap="none" anchor="ctr" lIns="0" rIns="0" tIns="0" bIns="0">
              <a:noAutofit/>
            </a:bodyPr>
            <a:lstStyle/>
            <a:p>
              <a:pPr algn="r"/>
              <a:r>
                <a:rPr sz="969" b="0">
                  <a:solidFill>
                    <a:srgbClr val="16202C"/>
                  </a:solidFill>
                  <a:latin typeface="맑은 고딕"/>
                  <a:ea typeface="맑은 고딕"/>
                  <a:cs typeface="맑은 고딕"/>
                </a:rPr>
                <a:t>DPE 7</a:t>
              </a:r>
            </a:p>
          </p:txBody>
        </p:sp>
        <p:sp>
          <p:nvSpPr>
            <p:cNvPr id="56" name="Rounded Rectangle 55"/>
            <p:cNvSpPr/>
            <p:nvPr/>
          </p:nvSpPr>
          <p:spPr>
            <a:xfrm>
              <a:off x="3388864" y="2396832"/>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388864" y="2749917"/>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388864" y="3103001"/>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388864" y="3456086"/>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388864" y="3809171"/>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3388864" y="4162256"/>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3388864" y="4515341"/>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3388864" y="4868426"/>
              <a:ext cx="4237018" cy="282468"/>
            </a:xfrm>
            <a:prstGeom prst="roundRect">
              <a:avLst>
                <a:gd name="adj" fmla="val 12500"/>
              </a:avLst>
            </a:prstGeom>
            <a:solidFill>
              <a:srgbClr val="FDEBD3"/>
            </a:solidFill>
            <a:ln w="1412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7696499" y="2538066"/>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696499" y="2891150"/>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696499" y="3244235"/>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96499" y="3597320"/>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696499" y="3950405"/>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696499" y="4303490"/>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696499" y="4656575"/>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96499" y="5009659"/>
              <a:ext cx="282468" cy="0"/>
            </a:xfrm>
            <a:prstGeom prst="line">
              <a:avLst/>
            </a:prstGeom>
            <a:ln w="17654">
              <a:solidFill>
                <a:srgbClr val="16202C"/>
              </a:solidFill>
            </a:ln>
          </p:spPr>
          <p:style>
            <a:lnRef idx="2">
              <a:schemeClr val="accent1"/>
            </a:lnRef>
            <a:fillRef idx="0">
              <a:schemeClr val="accent1"/>
            </a:fillRef>
            <a:effectRef idx="1">
              <a:schemeClr val="accent1"/>
            </a:effectRef>
            <a:fontRef idx="minor">
              <a:schemeClr val="tx1"/>
            </a:fontRef>
          </p:style>
        </p:cxnSp>
        <p:sp>
          <p:nvSpPr>
            <p:cNvPr id="72" name="Freeform 71"/>
            <p:cNvSpPr/>
            <p:nvPr/>
          </p:nvSpPr>
          <p:spPr>
            <a:xfrm>
              <a:off x="7955428" y="2479218"/>
              <a:ext cx="117695" cy="117695"/>
            </a:xfrm>
            <a:custGeom>
              <a:avLst/>
              <a:gdLst/>
              <a:ahLst/>
              <a:cxnLst/>
              <a:rect l="l" t="t" r="r" b="b"/>
              <a:pathLst>
                <a:path w="117695" h="117695">
                  <a:moveTo>
                    <a:pt x="0" y="0"/>
                  </a:moveTo>
                  <a:lnTo>
                    <a:pt x="117695" y="58848"/>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955428" y="2832303"/>
              <a:ext cx="117695" cy="117695"/>
            </a:xfrm>
            <a:custGeom>
              <a:avLst/>
              <a:gdLst/>
              <a:ahLst/>
              <a:cxnLst/>
              <a:rect l="l" t="t" r="r" b="b"/>
              <a:pathLst>
                <a:path w="117695" h="117695">
                  <a:moveTo>
                    <a:pt x="0" y="0"/>
                  </a:moveTo>
                  <a:lnTo>
                    <a:pt x="117695" y="58847"/>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7955428" y="3185388"/>
              <a:ext cx="117695" cy="117695"/>
            </a:xfrm>
            <a:custGeom>
              <a:avLst/>
              <a:gdLst/>
              <a:ahLst/>
              <a:cxnLst/>
              <a:rect l="l" t="t" r="r" b="b"/>
              <a:pathLst>
                <a:path w="117695" h="117695">
                  <a:moveTo>
                    <a:pt x="0" y="0"/>
                  </a:moveTo>
                  <a:lnTo>
                    <a:pt x="117695" y="58847"/>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7955428" y="3538473"/>
              <a:ext cx="117695" cy="117695"/>
            </a:xfrm>
            <a:custGeom>
              <a:avLst/>
              <a:gdLst/>
              <a:ahLst/>
              <a:cxnLst/>
              <a:rect l="l" t="t" r="r" b="b"/>
              <a:pathLst>
                <a:path w="117695" h="117695">
                  <a:moveTo>
                    <a:pt x="0" y="0"/>
                  </a:moveTo>
                  <a:lnTo>
                    <a:pt x="117695" y="58847"/>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7955428" y="3891557"/>
              <a:ext cx="117695" cy="117695"/>
            </a:xfrm>
            <a:custGeom>
              <a:avLst/>
              <a:gdLst/>
              <a:ahLst/>
              <a:cxnLst/>
              <a:rect l="l" t="t" r="r" b="b"/>
              <a:pathLst>
                <a:path w="117695" h="117695">
                  <a:moveTo>
                    <a:pt x="0" y="0"/>
                  </a:moveTo>
                  <a:lnTo>
                    <a:pt x="117695" y="58848"/>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7955428" y="4244642"/>
              <a:ext cx="117695" cy="117695"/>
            </a:xfrm>
            <a:custGeom>
              <a:avLst/>
              <a:gdLst/>
              <a:ahLst/>
              <a:cxnLst/>
              <a:rect l="l" t="t" r="r" b="b"/>
              <a:pathLst>
                <a:path w="117695" h="117695">
                  <a:moveTo>
                    <a:pt x="0" y="0"/>
                  </a:moveTo>
                  <a:lnTo>
                    <a:pt x="117695" y="58848"/>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7955428" y="4597727"/>
              <a:ext cx="117695" cy="117695"/>
            </a:xfrm>
            <a:custGeom>
              <a:avLst/>
              <a:gdLst/>
              <a:ahLst/>
              <a:cxnLst/>
              <a:rect l="l" t="t" r="r" b="b"/>
              <a:pathLst>
                <a:path w="117695" h="117695">
                  <a:moveTo>
                    <a:pt x="0" y="0"/>
                  </a:moveTo>
                  <a:lnTo>
                    <a:pt x="117695" y="58848"/>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7955428" y="4950812"/>
              <a:ext cx="117695" cy="117695"/>
            </a:xfrm>
            <a:custGeom>
              <a:avLst/>
              <a:gdLst/>
              <a:ahLst/>
              <a:cxnLst/>
              <a:rect l="l" t="t" r="r" b="b"/>
              <a:pathLst>
                <a:path w="117695" h="117695">
                  <a:moveTo>
                    <a:pt x="0" y="0"/>
                  </a:moveTo>
                  <a:lnTo>
                    <a:pt x="117695" y="58847"/>
                  </a:lnTo>
                  <a:lnTo>
                    <a:pt x="0" y="11769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8120201" y="2385062"/>
              <a:ext cx="706169" cy="306007"/>
            </a:xfrm>
            <a:custGeom>
              <a:avLst/>
              <a:gdLst/>
              <a:ahLst/>
              <a:cxnLst/>
              <a:rect l="l" t="t" r="r" b="b"/>
              <a:pathLst>
                <a:path w="706169" h="306007">
                  <a:moveTo>
                    <a:pt x="0" y="0"/>
                  </a:moveTo>
                  <a:lnTo>
                    <a:pt x="0" y="306007"/>
                  </a:lnTo>
                  <a:lnTo>
                    <a:pt x="706169" y="153004"/>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8120201" y="2738147"/>
              <a:ext cx="706169" cy="306007"/>
            </a:xfrm>
            <a:custGeom>
              <a:avLst/>
              <a:gdLst/>
              <a:ahLst/>
              <a:cxnLst/>
              <a:rect l="l" t="t" r="r" b="b"/>
              <a:pathLst>
                <a:path w="706169" h="306007">
                  <a:moveTo>
                    <a:pt x="0" y="0"/>
                  </a:moveTo>
                  <a:lnTo>
                    <a:pt x="0" y="306007"/>
                  </a:lnTo>
                  <a:lnTo>
                    <a:pt x="706169" y="153003"/>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120201" y="3091232"/>
              <a:ext cx="706169" cy="306007"/>
            </a:xfrm>
            <a:custGeom>
              <a:avLst/>
              <a:gdLst/>
              <a:ahLst/>
              <a:cxnLst/>
              <a:rect l="l" t="t" r="r" b="b"/>
              <a:pathLst>
                <a:path w="706169" h="306007">
                  <a:moveTo>
                    <a:pt x="0" y="0"/>
                  </a:moveTo>
                  <a:lnTo>
                    <a:pt x="0" y="306007"/>
                  </a:lnTo>
                  <a:lnTo>
                    <a:pt x="706169" y="153003"/>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8120201" y="3444317"/>
              <a:ext cx="706169" cy="306007"/>
            </a:xfrm>
            <a:custGeom>
              <a:avLst/>
              <a:gdLst/>
              <a:ahLst/>
              <a:cxnLst/>
              <a:rect l="l" t="t" r="r" b="b"/>
              <a:pathLst>
                <a:path w="706169" h="306007">
                  <a:moveTo>
                    <a:pt x="0" y="0"/>
                  </a:moveTo>
                  <a:lnTo>
                    <a:pt x="0" y="306007"/>
                  </a:lnTo>
                  <a:lnTo>
                    <a:pt x="706169" y="153003"/>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8120201" y="3797402"/>
              <a:ext cx="706169" cy="306006"/>
            </a:xfrm>
            <a:custGeom>
              <a:avLst/>
              <a:gdLst/>
              <a:ahLst/>
              <a:cxnLst/>
              <a:rect l="l" t="t" r="r" b="b"/>
              <a:pathLst>
                <a:path w="706169" h="306006">
                  <a:moveTo>
                    <a:pt x="0" y="0"/>
                  </a:moveTo>
                  <a:lnTo>
                    <a:pt x="0" y="306006"/>
                  </a:lnTo>
                  <a:lnTo>
                    <a:pt x="706169" y="153003"/>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8120201" y="4150486"/>
              <a:ext cx="706169" cy="306007"/>
            </a:xfrm>
            <a:custGeom>
              <a:avLst/>
              <a:gdLst/>
              <a:ahLst/>
              <a:cxnLst/>
              <a:rect l="l" t="t" r="r" b="b"/>
              <a:pathLst>
                <a:path w="706169" h="306007">
                  <a:moveTo>
                    <a:pt x="0" y="0"/>
                  </a:moveTo>
                  <a:lnTo>
                    <a:pt x="0" y="306007"/>
                  </a:lnTo>
                  <a:lnTo>
                    <a:pt x="706169" y="153004"/>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8120201" y="4503571"/>
              <a:ext cx="706169" cy="306007"/>
            </a:xfrm>
            <a:custGeom>
              <a:avLst/>
              <a:gdLst/>
              <a:ahLst/>
              <a:cxnLst/>
              <a:rect l="l" t="t" r="r" b="b"/>
              <a:pathLst>
                <a:path w="706169" h="306007">
                  <a:moveTo>
                    <a:pt x="0" y="0"/>
                  </a:moveTo>
                  <a:lnTo>
                    <a:pt x="0" y="306007"/>
                  </a:lnTo>
                  <a:lnTo>
                    <a:pt x="706169" y="153004"/>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120201" y="4856656"/>
              <a:ext cx="706169" cy="306007"/>
            </a:xfrm>
            <a:custGeom>
              <a:avLst/>
              <a:gdLst/>
              <a:ahLst/>
              <a:cxnLst/>
              <a:rect l="l" t="t" r="r" b="b"/>
              <a:pathLst>
                <a:path w="706169" h="306007">
                  <a:moveTo>
                    <a:pt x="0" y="0"/>
                  </a:moveTo>
                  <a:lnTo>
                    <a:pt x="0" y="306007"/>
                  </a:lnTo>
                  <a:lnTo>
                    <a:pt x="706169" y="153003"/>
                  </a:lnTo>
                  <a:close/>
                </a:path>
              </a:pathLst>
            </a:custGeom>
            <a:solidFill>
              <a:srgbClr val="CFE8D8"/>
            </a:solidFill>
            <a:ln w="15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8826370" y="2538066"/>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826370" y="2891150"/>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826370" y="3244235"/>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826370" y="3597320"/>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826370" y="3950405"/>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826370" y="4303490"/>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826370" y="4656575"/>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826370" y="5009659"/>
              <a:ext cx="15300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9155916" y="2538066"/>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9155916" y="2891150"/>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155916" y="3244235"/>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9155916" y="3597320"/>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9155916" y="3950405"/>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9155916" y="4303490"/>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9155916" y="4656575"/>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155916" y="5009659"/>
              <a:ext cx="141234" cy="0"/>
            </a:xfrm>
            <a:prstGeom prst="line">
              <a:avLst/>
            </a:prstGeom>
            <a:ln w="15300">
              <a:solidFill>
                <a:srgbClr val="1A7F37"/>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8991143" y="2455679"/>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991143" y="2808764"/>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991143" y="3161849"/>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991143" y="3514934"/>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8991143" y="3868019"/>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8991143" y="4221103"/>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8991143" y="4574188"/>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991143" y="4927273"/>
              <a:ext cx="164773" cy="164773"/>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9297150" y="2396832"/>
              <a:ext cx="2165587" cy="2754062"/>
            </a:xfrm>
            <a:prstGeom prst="roundRect">
              <a:avLst>
                <a:gd name="adj" fmla="val 4347"/>
              </a:avLst>
            </a:prstGeom>
            <a:solidFill>
              <a:srgbClr val="E2F4E8"/>
            </a:solidFill>
            <a:ln w="2118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090340" y="3191273"/>
              <a:ext cx="579206" cy="213028"/>
            </a:xfrm>
            <a:prstGeom prst="rect">
              <a:avLst/>
            </a:prstGeom>
            <a:noFill/>
          </p:spPr>
          <p:txBody>
            <a:bodyPr wrap="none" anchor="ctr" lIns="0" rIns="0" tIns="0" bIns="0">
              <a:noAutofit/>
            </a:bodyPr>
            <a:lstStyle/>
            <a:p>
              <a:pPr algn="ctr"/>
              <a:r>
                <a:rPr sz="1160" b="1">
                  <a:solidFill>
                    <a:srgbClr val="1A7F37"/>
                  </a:solidFill>
                  <a:latin typeface="맑은 고딕"/>
                  <a:ea typeface="맑은 고딕"/>
                  <a:cs typeface="맑은 고딕"/>
                </a:rPr>
                <a:t>출력 8개</a:t>
              </a:r>
            </a:p>
          </p:txBody>
        </p:sp>
        <p:sp>
          <p:nvSpPr>
            <p:cNvPr id="114" name="TextBox 113"/>
            <p:cNvSpPr txBox="1"/>
            <p:nvPr/>
          </p:nvSpPr>
          <p:spPr>
            <a:xfrm>
              <a:off x="9741469" y="3501046"/>
              <a:ext cx="1276949" cy="178943"/>
            </a:xfrm>
            <a:prstGeom prst="rect">
              <a:avLst/>
            </a:prstGeom>
            <a:noFill/>
          </p:spPr>
          <p:txBody>
            <a:bodyPr wrap="none" anchor="ctr" lIns="0" rIns="0" tIns="0" bIns="0">
              <a:noAutofit/>
            </a:bodyPr>
            <a:lstStyle/>
            <a:p>
              <a:pPr algn="ctr"/>
              <a:r>
                <a:rPr sz="969" b="0">
                  <a:solidFill>
                    <a:srgbClr val="16202C"/>
                  </a:solidFill>
                  <a:latin typeface="맑은 고딕"/>
                  <a:ea typeface="맑은 고딕"/>
                  <a:cs typeface="맑은 고딕"/>
                </a:rPr>
                <a:t>8 × 32 × FP32/INT32</a:t>
              </a:r>
            </a:p>
          </p:txBody>
        </p:sp>
        <p:sp>
          <p:nvSpPr>
            <p:cNvPr id="115" name="TextBox 114"/>
            <p:cNvSpPr txBox="1"/>
            <p:nvPr/>
          </p:nvSpPr>
          <p:spPr>
            <a:xfrm>
              <a:off x="9747524" y="3759975"/>
              <a:ext cx="1264838" cy="178943"/>
            </a:xfrm>
            <a:prstGeom prst="rect">
              <a:avLst/>
            </a:prstGeom>
            <a:noFill/>
          </p:spPr>
          <p:txBody>
            <a:bodyPr wrap="none" anchor="ctr" lIns="0" rIns="0" tIns="0" bIns="0">
              <a:noAutofit/>
            </a:bodyPr>
            <a:lstStyle/>
            <a:p>
              <a:pPr algn="ctr"/>
              <a:r>
                <a:rPr sz="969" b="0">
                  <a:solidFill>
                    <a:srgbClr val="16202C"/>
                  </a:solidFill>
                  <a:latin typeface="맑은 고딕"/>
                  <a:ea typeface="맑은 고딕"/>
                  <a:cs typeface="맑은 고딕"/>
                </a:rPr>
                <a:t>→ Accumulation Unit</a:t>
              </a:r>
            </a:p>
          </p:txBody>
        </p:sp>
        <p:sp>
          <p:nvSpPr>
            <p:cNvPr id="116" name="TextBox 115"/>
            <p:cNvSpPr txBox="1"/>
            <p:nvPr/>
          </p:nvSpPr>
          <p:spPr>
            <a:xfrm>
              <a:off x="9834663" y="4072808"/>
              <a:ext cx="1090561" cy="170422"/>
            </a:xfrm>
            <a:prstGeom prst="rect">
              <a:avLst/>
            </a:prstGeom>
            <a:noFill/>
          </p:spPr>
          <p:txBody>
            <a:bodyPr wrap="none" anchor="ctr" lIns="0" rIns="0" tIns="0" bIns="0">
              <a:noAutofit/>
            </a:bodyPr>
            <a:lstStyle/>
            <a:p>
              <a:pPr algn="ctr"/>
              <a:r>
                <a:rPr sz="930" b="0">
                  <a:solidFill>
                    <a:srgbClr val="5B6B7B"/>
                  </a:solidFill>
                  <a:latin typeface="맑은 고딕"/>
                  <a:ea typeface="맑은 고딕"/>
                  <a:cs typeface="맑은 고딕"/>
                </a:rPr>
                <a:t>(시간 축약 — 다음 장)</a:t>
              </a:r>
            </a:p>
          </p:txBody>
        </p:sp>
        <p:sp>
          <p:nvSpPr>
            <p:cNvPr id="117" name="TextBox 116"/>
            <p:cNvSpPr txBox="1"/>
            <p:nvPr/>
          </p:nvSpPr>
          <p:spPr>
            <a:xfrm>
              <a:off x="3976968" y="5353799"/>
              <a:ext cx="4237759" cy="187465"/>
            </a:xfrm>
            <a:prstGeom prst="rect">
              <a:avLst/>
            </a:prstGeom>
            <a:noFill/>
          </p:spPr>
          <p:txBody>
            <a:bodyPr wrap="none" anchor="ctr" lIns="0" rIns="0" tIns="0" bIns="0">
              <a:noAutofit/>
            </a:bodyPr>
            <a:lstStyle/>
            <a:p>
              <a:pPr algn="ctr"/>
              <a:r>
                <a:rPr sz="1019" b="0">
                  <a:solidFill>
                    <a:srgbClr val="16202C"/>
                  </a:solidFill>
                  <a:latin typeface="맑은 고딕"/>
                  <a:ea typeface="맑은 고딕"/>
                  <a:cs typeface="맑은 고딕"/>
                </a:rPr>
                <a:t>feed 벡터 1개를 8번 재사용 → 같은 연산량에서 SRAM 읽기 횟수가 1/8 이 된다</a:t>
              </a:r>
            </a:p>
          </p:txBody>
        </p:sp>
      </p:grpSp>
      <p:sp>
        <p:nvSpPr>
          <p:cNvPr id="118" name="Rectangle 11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8개 DPE 가 feed unit 의 벡터 1개를 공유하고, RF 에서는 각자 다른 벡터를 받는다. 이 비대칭이 CE 재사용 구조의 핵심이다.</a:t>
            </a:r>
          </a:p>
        </p:txBody>
      </p:sp>
      <p:sp>
        <p:nvSpPr>
          <p:cNvPr id="119" name="Rectangle 11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Dot-Product Engine (DPE) — 벡터 1개 × 벡터 8개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두 입력의 출처가 비대칭이다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본문: "performs dot products by spatially summing element-wise multiplication results of two input vectors through a reduction tree" — '공간적'은 한 사이클 안의 병렬 합산을 뜻한다</a:t>
            </a:r>
          </a:p>
          <a:p>
            <a:pPr algn="l">
              <a:lnSpc>
                <a:spcPct val="118000"/>
              </a:lnSpc>
              <a:spcBef>
                <a:spcPts val="600"/>
              </a:spcBef>
              <a:spcAft>
                <a:spcPts val="200"/>
              </a:spcAft>
            </a:pPr>
            <a:r>
              <a:rPr sz="1900" b="0" i="0">
                <a:solidFill>
                  <a:srgbClr val="16202C"/>
                </a:solidFill>
                <a:latin typeface="Segoe UI"/>
                <a:ea typeface="맑은 고딕"/>
                <a:cs typeface="맑은 고딕"/>
              </a:rPr>
              <a:t>▪  본문: "The eight DPEs share the input from the feed unit, but receive separate inputs from the RFs." 이 비대칭이 CE 재사용 구조의 근거다</a:t>
            </a:r>
          </a:p>
          <a:p>
            <a:pPr algn="l">
              <a:lnSpc>
                <a:spcPct val="118000"/>
              </a:lnSpc>
              <a:spcBef>
                <a:spcPts val="600"/>
              </a:spcBef>
              <a:spcAft>
                <a:spcPts val="200"/>
              </a:spcAft>
            </a:pPr>
            <a:r>
              <a:rPr sz="1900" b="1" i="0">
                <a:solidFill>
                  <a:srgbClr val="083F80"/>
                </a:solidFill>
                <a:latin typeface="Segoe UI"/>
                <a:ea typeface="맑은 고딕"/>
                <a:cs typeface="맑은 고딕"/>
              </a:rPr>
              <a:t>▪  슬라이스 하나가 독립적으로 쓸 수 있는 MAC 수는 H × W 다 (H = DPE 수 = 8, W = 입력 1개의 원소 수)</a:t>
            </a:r>
          </a:p>
          <a:p>
            <a:pPr algn="l">
              <a:lnSpc>
                <a:spcPct val="118000"/>
              </a:lnSpc>
              <a:spcBef>
                <a:spcPts val="600"/>
              </a:spcBef>
              <a:spcAft>
                <a:spcPts val="200"/>
              </a:spcAft>
            </a:pPr>
            <a:r>
              <a:rPr sz="1900" b="0" i="0">
                <a:solidFill>
                  <a:srgbClr val="16202C"/>
                </a:solidFill>
                <a:latin typeface="Segoe UI"/>
                <a:ea typeface="맑은 고딕"/>
                <a:cs typeface="맑은 고딕"/>
              </a:rPr>
              <a:t>▪  W 는 자료형이 정한다: BF16 32, FP8 64, INT8 64, INT4 128. 입력 원소 수가 곧 그 자료형의 최대 처리량이다</a:t>
            </a:r>
          </a:p>
          <a:p>
            <a:pPr algn="l">
              <a:lnSpc>
                <a:spcPct val="118000"/>
              </a:lnSpc>
              <a:spcBef>
                <a:spcPts val="600"/>
              </a:spcBef>
              <a:spcAft>
                <a:spcPts val="200"/>
              </a:spcAft>
            </a:pPr>
            <a:r>
              <a:rPr sz="1900" b="0" i="0">
                <a:solidFill>
                  <a:srgbClr val="16202C"/>
                </a:solidFill>
                <a:latin typeface="Segoe UI"/>
                <a:ea typeface="맑은 고딕"/>
                <a:cs typeface="맑은 고딕"/>
              </a:rPr>
              <a:t>▪  여러 사이클에 걸쳐 쌓는 시간 축약(temporal accumulation)은 다음 단의 accumulation unit 몫이다</a:t>
            </a:r>
          </a:p>
          <a:p>
            <a:pPr algn="l">
              <a:lnSpc>
                <a:spcPct val="118000"/>
              </a:lnSpc>
              <a:spcBef>
                <a:spcPts val="600"/>
              </a:spcBef>
              <a:spcAft>
                <a:spcPts val="200"/>
              </a:spcAft>
            </a:pPr>
            <a:r>
              <a:rPr sz="1900" b="1" i="0">
                <a:solidFill>
                  <a:srgbClr val="083F80"/>
                </a:solidFill>
                <a:latin typeface="Segoe UI"/>
                <a:ea typeface="맑은 고딕"/>
                <a:cs typeface="맑은 고딕"/>
              </a:rPr>
              <a:t>▪  Fig. 6 의 CE 입력 폭은 feed·RF 각각 80B 다. 80B 가 어떻게 구성되는지(BF16 32개면 64B) 논문은 설명하지 않는다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DPE 입력 폭과 자료형별 최대 처리량</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125</a:t>
            </a:r>
          </a:p>
        </p:txBody>
      </p:sp>
      <p:graphicFrame>
        <p:nvGraphicFramePr>
          <p:cNvPr id="8" name="Table 7"/>
          <p:cNvGraphicFramePr>
            <a:graphicFrameLocks noGrp="1"/>
          </p:cNvGraphicFramePr>
          <p:nvPr/>
        </p:nvGraphicFramePr>
        <p:xfrm>
          <a:off x="566928" y="1517904"/>
          <a:ext cx="11057839" cy="1920240"/>
        </p:xfrm>
        <a:graphic>
          <a:graphicData uri="http://schemas.openxmlformats.org/drawingml/2006/table">
            <a:tbl>
              <a:tblPr firstRow="1" bandRow="1">
                <a:tableStyleId>{5C22544A-7EE6-4342-B048-85BDC9FD1C3A}</a:tableStyleId>
              </a:tblPr>
              <a:tblGrid>
                <a:gridCol w="1097343"/>
                <a:gridCol w="5233481"/>
                <a:gridCol w="4727015"/>
              </a:tblGrid>
              <a:tr h="384048">
                <a:tc>
                  <a:txBody>
                    <a:bodyPr wrap="square"/>
                    <a:lstStyle/>
                    <a:p>
                      <a:r>
                        <a:rPr sz="1150" b="1" i="0">
                          <a:solidFill>
                            <a:srgbClr val="FFFFFF"/>
                          </a:solidFill>
                          <a:latin typeface="Segoe UI"/>
                          <a:ea typeface="맑은 고딕"/>
                          <a:cs typeface="맑은 고딕"/>
                        </a:rPr>
                        <a:t>자료형</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DPE 입력 1개가 담는 원소 수 (W)</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슬라이스당 MAC 수 (H×W, H=8)</a:t>
                      </a:r>
                    </a:p>
                  </a:txBody>
                  <a:tcPr marL="73152" marR="73152" marT="27432" marB="27432">
                    <a:solidFill>
                      <a:srgbClr val="0B5FC0"/>
                    </a:solidFill>
                  </a:tcPr>
                </a:tc>
              </a:tr>
              <a:tr h="384048">
                <a:tc>
                  <a:txBody>
                    <a:bodyPr wrap="square"/>
                    <a:lstStyle/>
                    <a:p>
                      <a:r>
                        <a:rPr sz="11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32</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256</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FP8</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64</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512</a:t>
                      </a:r>
                    </a:p>
                  </a:txBody>
                  <a:tcPr marL="73152" marR="73152" marT="27432" marB="27432">
                    <a:solidFill>
                      <a:srgbClr val="F6F9FC"/>
                    </a:solidFill>
                  </a:tcPr>
                </a:tc>
              </a:tr>
              <a:tr h="384048">
                <a:tc>
                  <a:txBody>
                    <a:bodyPr wrap="square"/>
                    <a:lstStyle/>
                    <a:p>
                      <a:r>
                        <a:rPr sz="1150" b="0" i="0">
                          <a:solidFill>
                            <a:srgbClr val="16202C"/>
                          </a:solidFill>
                          <a:latin typeface="Segoe UI"/>
                          <a:ea typeface="맑은 고딕"/>
                          <a:cs typeface="맑은 고딕"/>
                        </a:rPr>
                        <a:t>INT8</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64</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512</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INT4</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128</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1024</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"The number of input elements also represents the maximum throughput of specified input type" — 입력 원소 수가 곧 그 자료형의 최대 처리량이다.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Reduction Tree 의 깊이 — 출력 개수를 바꾸는 손잡이</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같은 하드웨어가 원소별 곱셈기부터 완전 내적기까지 변한다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126</a:t>
            </a:r>
          </a:p>
        </p:txBody>
      </p:sp>
      <p:grpSp>
        <p:nvGrpSpPr>
          <p:cNvPr id="9" name="도해 A5#06"/>
          <p:cNvGrpSpPr/>
          <p:nvPr/>
        </p:nvGrpSpPr>
        <p:grpSpPr>
          <a:xfrm>
            <a:off x="1257206" y="1463040"/>
            <a:ext cx="9677283" cy="4078224"/>
            <a:chOff x="1257206" y="1463040"/>
            <a:chExt cx="9677283" cy="4078224"/>
          </a:xfrm>
        </p:grpSpPr>
        <p:sp>
          <p:nvSpPr>
            <p:cNvPr id="10" name="TextBox 9"/>
            <p:cNvSpPr txBox="1"/>
            <p:nvPr/>
          </p:nvSpPr>
          <p:spPr>
            <a:xfrm>
              <a:off x="3891148" y="1463040"/>
              <a:ext cx="4409400" cy="196299"/>
            </a:xfrm>
            <a:prstGeom prst="rect">
              <a:avLst/>
            </a:prstGeom>
            <a:noFill/>
          </p:spPr>
          <p:txBody>
            <a:bodyPr wrap="none" anchor="ctr" lIns="0" rIns="0" tIns="0" bIns="0">
              <a:noAutofit/>
            </a:bodyPr>
            <a:lstStyle/>
            <a:p>
              <a:pPr algn="ctr"/>
              <a:r>
                <a:rPr sz="1070" b="1">
                  <a:solidFill>
                    <a:srgbClr val="16202C"/>
                  </a:solidFill>
                  <a:latin typeface="맑은 고딕"/>
                  <a:ea typeface="맑은 고딕"/>
                  <a:cs typeface="맑은 고딕"/>
                </a:rPr>
                <a:t>control register 하나가 트리 깊이를 정하고, 깊이가 DPE 출력 개수를 정한다</a:t>
              </a:r>
            </a:p>
          </p:txBody>
        </p:sp>
        <p:sp>
          <p:nvSpPr>
            <p:cNvPr id="11" name="Rounded Rectangle 10"/>
            <p:cNvSpPr/>
            <p:nvPr/>
          </p:nvSpPr>
          <p:spPr>
            <a:xfrm>
              <a:off x="1257206" y="1849714"/>
              <a:ext cx="3128432" cy="3149288"/>
            </a:xfrm>
            <a:prstGeom prst="roundRect">
              <a:avLst>
                <a:gd name="adj" fmla="val 3333"/>
              </a:avLst>
            </a:prstGeom>
            <a:solidFill>
              <a:srgbClr val="F7F9FB"/>
            </a:solidFill>
            <a:ln w="20856">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98449" y="1978397"/>
              <a:ext cx="1445946" cy="203849"/>
            </a:xfrm>
            <a:prstGeom prst="rect">
              <a:avLst/>
            </a:prstGeom>
            <a:noFill/>
          </p:spPr>
          <p:txBody>
            <a:bodyPr wrap="none" anchor="ctr" lIns="0" rIns="0" tIns="0" bIns="0">
              <a:noAutofit/>
            </a:bodyPr>
            <a:lstStyle/>
            <a:p>
              <a:pPr algn="ctr"/>
              <a:r>
                <a:rPr sz="1110" b="1">
                  <a:solidFill>
                    <a:srgbClr val="5B6B7B"/>
                  </a:solidFill>
                  <a:latin typeface="맑은 고딕"/>
                  <a:ea typeface="맑은 고딕"/>
                  <a:cs typeface="맑은 고딕"/>
                </a:rPr>
                <a:t>reduction tree 깊이 0</a:t>
              </a:r>
            </a:p>
          </p:txBody>
        </p:sp>
        <p:sp>
          <p:nvSpPr>
            <p:cNvPr id="13" name="TextBox 12"/>
            <p:cNvSpPr txBox="1"/>
            <p:nvPr/>
          </p:nvSpPr>
          <p:spPr>
            <a:xfrm>
              <a:off x="1871880" y="2223249"/>
              <a:ext cx="1899083" cy="158549"/>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축약을 하지 않고 곱셈 결과를 그대로 낸다</a:t>
              </a:r>
            </a:p>
          </p:txBody>
        </p:sp>
        <p:sp>
          <p:nvSpPr>
            <p:cNvPr id="14" name="TextBox 13"/>
            <p:cNvSpPr txBox="1"/>
            <p:nvPr/>
          </p:nvSpPr>
          <p:spPr>
            <a:xfrm>
              <a:off x="2038594" y="2443908"/>
              <a:ext cx="1565655"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입력 32 × BF16 — 칸 1개 = 원소 4개</a:t>
              </a:r>
            </a:p>
          </p:txBody>
        </p:sp>
        <p:sp>
          <p:nvSpPr>
            <p:cNvPr id="15" name="Rounded Rectangle 14"/>
            <p:cNvSpPr/>
            <p:nvPr/>
          </p:nvSpPr>
          <p:spPr>
            <a:xfrm>
              <a:off x="1653474" y="2621394"/>
              <a:ext cx="2335896" cy="208562"/>
            </a:xfrm>
            <a:prstGeom prst="roundRect">
              <a:avLst>
                <a:gd name="adj" fmla="val 15000"/>
              </a:avLst>
            </a:prstGeom>
            <a:solidFill>
              <a:srgbClr val="CBE0F7"/>
            </a:solidFill>
            <a:ln w="1459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945461"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37448"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529435"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21422"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13409"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05396"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97383"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99468"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91454"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383441"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75428"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67415"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259402"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51389"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843376" y="2829956"/>
              <a:ext cx="0" cy="1251373"/>
            </a:xfrm>
            <a:prstGeom prst="line">
              <a:avLst/>
            </a:prstGeom>
            <a:ln w="12513">
              <a:solidFill>
                <a:srgbClr val="5B6B7B"/>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705615"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997602"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89589"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581576"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873563"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65549"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457536"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749523" y="4102185"/>
              <a:ext cx="187706" cy="187706"/>
            </a:xfrm>
            <a:prstGeom prst="roundRect">
              <a:avLst>
                <a:gd name="adj" fmla="val 16666"/>
              </a:avLst>
            </a:prstGeom>
            <a:solidFill>
              <a:srgbClr val="CBE0F7"/>
            </a:solidFill>
            <a:ln w="1251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47905" y="4421911"/>
              <a:ext cx="947034" cy="173649"/>
            </a:xfrm>
            <a:prstGeom prst="rect">
              <a:avLst/>
            </a:prstGeom>
            <a:noFill/>
          </p:spPr>
          <p:txBody>
            <a:bodyPr wrap="none" anchor="ctr" lIns="0" rIns="0" tIns="0" bIns="0">
              <a:noAutofit/>
            </a:bodyPr>
            <a:lstStyle/>
            <a:p>
              <a:pPr algn="ctr"/>
              <a:r>
                <a:rPr sz="940" b="1">
                  <a:solidFill>
                    <a:srgbClr val="16202C"/>
                  </a:solidFill>
                  <a:latin typeface="맑은 고딕"/>
                  <a:ea typeface="맑은 고딕"/>
                  <a:cs typeface="맑은 고딕"/>
                </a:rPr>
                <a:t>DPE 당 출력 32개</a:t>
              </a:r>
            </a:p>
          </p:txBody>
        </p:sp>
        <p:sp>
          <p:nvSpPr>
            <p:cNvPr id="40" name="TextBox 39"/>
            <p:cNvSpPr txBox="1"/>
            <p:nvPr/>
          </p:nvSpPr>
          <p:spPr>
            <a:xfrm>
              <a:off x="2462403" y="4654666"/>
              <a:ext cx="718038"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논문 본문의 예시</a:t>
              </a:r>
            </a:p>
          </p:txBody>
        </p:sp>
        <p:sp>
          <p:nvSpPr>
            <p:cNvPr id="41" name="Rounded Rectangle 40"/>
            <p:cNvSpPr/>
            <p:nvPr/>
          </p:nvSpPr>
          <p:spPr>
            <a:xfrm>
              <a:off x="4531631" y="1849714"/>
              <a:ext cx="3128432" cy="3149288"/>
            </a:xfrm>
            <a:prstGeom prst="roundRect">
              <a:avLst>
                <a:gd name="adj" fmla="val 3333"/>
              </a:avLst>
            </a:prstGeom>
            <a:solidFill>
              <a:srgbClr val="F4F8FD"/>
            </a:solidFill>
            <a:ln w="2085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72875" y="1978397"/>
              <a:ext cx="1445946" cy="203849"/>
            </a:xfrm>
            <a:prstGeom prst="rect">
              <a:avLst/>
            </a:prstGeom>
            <a:noFill/>
          </p:spPr>
          <p:txBody>
            <a:bodyPr wrap="none" anchor="ctr" lIns="0" rIns="0" tIns="0" bIns="0">
              <a:noAutofit/>
            </a:bodyPr>
            <a:lstStyle/>
            <a:p>
              <a:pPr algn="ctr"/>
              <a:r>
                <a:rPr sz="1110" b="1">
                  <a:solidFill>
                    <a:srgbClr val="083F80"/>
                  </a:solidFill>
                  <a:latin typeface="맑은 고딕"/>
                  <a:ea typeface="맑은 고딕"/>
                  <a:cs typeface="맑은 고딕"/>
                </a:rPr>
                <a:t>reduction tree 깊이 3</a:t>
              </a:r>
            </a:p>
          </p:txBody>
        </p:sp>
        <p:sp>
          <p:nvSpPr>
            <p:cNvPr id="43" name="TextBox 42"/>
            <p:cNvSpPr txBox="1"/>
            <p:nvPr/>
          </p:nvSpPr>
          <p:spPr>
            <a:xfrm>
              <a:off x="5398583" y="2223249"/>
              <a:ext cx="1394530" cy="158549"/>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2³ = 8개씩 묶어 합친다  [해석]</a:t>
              </a:r>
            </a:p>
          </p:txBody>
        </p:sp>
        <p:sp>
          <p:nvSpPr>
            <p:cNvPr id="44" name="TextBox 43"/>
            <p:cNvSpPr txBox="1"/>
            <p:nvPr/>
          </p:nvSpPr>
          <p:spPr>
            <a:xfrm>
              <a:off x="5313020" y="2443908"/>
              <a:ext cx="1565655"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입력 32 × BF16 — 칸 1개 = 원소 4개</a:t>
              </a:r>
            </a:p>
          </p:txBody>
        </p:sp>
        <p:sp>
          <p:nvSpPr>
            <p:cNvPr id="45" name="Rounded Rectangle 44"/>
            <p:cNvSpPr/>
            <p:nvPr/>
          </p:nvSpPr>
          <p:spPr>
            <a:xfrm>
              <a:off x="4927900" y="2621394"/>
              <a:ext cx="2335896" cy="208562"/>
            </a:xfrm>
            <a:prstGeom prst="roundRect">
              <a:avLst>
                <a:gd name="adj" fmla="val 15000"/>
              </a:avLst>
            </a:prstGeom>
            <a:solidFill>
              <a:srgbClr val="CBE0F7"/>
            </a:solidFill>
            <a:ln w="1459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5219887"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11874"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803861"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5848"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387834"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679821"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71808"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073893"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365880"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657867"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49854"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41841"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533828"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825815"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117802" y="2829956"/>
              <a:ext cx="0" cy="417125"/>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073893" y="3247081"/>
              <a:ext cx="145994"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219887" y="3247081"/>
              <a:ext cx="145993"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657867" y="3247081"/>
              <a:ext cx="145994"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803861" y="3247081"/>
              <a:ext cx="145993"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241841" y="3247081"/>
              <a:ext cx="145993"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6387834" y="3247081"/>
              <a:ext cx="145994"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825815" y="3247081"/>
              <a:ext cx="145993"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971808" y="3247081"/>
              <a:ext cx="145994" cy="291986"/>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219887" y="3591208"/>
              <a:ext cx="0" cy="490121"/>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803861" y="3591208"/>
              <a:ext cx="0" cy="490121"/>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387834" y="3591208"/>
              <a:ext cx="0" cy="490121"/>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971808" y="3591208"/>
              <a:ext cx="0" cy="490121"/>
            </a:xfrm>
            <a:prstGeom prst="line">
              <a:avLst/>
            </a:prstGeom>
            <a:ln w="12513">
              <a:solidFill>
                <a:srgbClr val="0B5FC0"/>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167746" y="3486927"/>
              <a:ext cx="104281" cy="104281"/>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51720" y="3486927"/>
              <a:ext cx="104281" cy="104281"/>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335694" y="3486927"/>
              <a:ext cx="104281" cy="104281"/>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919668" y="3486927"/>
              <a:ext cx="104281" cy="104281"/>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126034" y="4102185"/>
              <a:ext cx="187706" cy="187706"/>
            </a:xfrm>
            <a:prstGeom prst="roundRect">
              <a:avLst>
                <a:gd name="adj" fmla="val 16666"/>
              </a:avLst>
            </a:prstGeom>
            <a:solidFill>
              <a:srgbClr val="B8D4F3"/>
            </a:solidFill>
            <a:ln w="1251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710008" y="4102185"/>
              <a:ext cx="187706" cy="187706"/>
            </a:xfrm>
            <a:prstGeom prst="roundRect">
              <a:avLst>
                <a:gd name="adj" fmla="val 16666"/>
              </a:avLst>
            </a:prstGeom>
            <a:solidFill>
              <a:srgbClr val="B8D4F3"/>
            </a:solidFill>
            <a:ln w="1251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6293982" y="4102185"/>
              <a:ext cx="187706" cy="187706"/>
            </a:xfrm>
            <a:prstGeom prst="roundRect">
              <a:avLst>
                <a:gd name="adj" fmla="val 16666"/>
              </a:avLst>
            </a:prstGeom>
            <a:solidFill>
              <a:srgbClr val="B8D4F3"/>
            </a:solidFill>
            <a:ln w="1251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877956" y="4102185"/>
              <a:ext cx="187706" cy="187706"/>
            </a:xfrm>
            <a:prstGeom prst="roundRect">
              <a:avLst>
                <a:gd name="adj" fmla="val 16666"/>
              </a:avLst>
            </a:prstGeom>
            <a:solidFill>
              <a:srgbClr val="B8D4F3"/>
            </a:solidFill>
            <a:ln w="1251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57708" y="4421911"/>
              <a:ext cx="876279" cy="173649"/>
            </a:xfrm>
            <a:prstGeom prst="rect">
              <a:avLst/>
            </a:prstGeom>
            <a:noFill/>
          </p:spPr>
          <p:txBody>
            <a:bodyPr wrap="none" anchor="ctr" lIns="0" rIns="0" tIns="0" bIns="0">
              <a:noAutofit/>
            </a:bodyPr>
            <a:lstStyle/>
            <a:p>
              <a:pPr algn="ctr"/>
              <a:r>
                <a:rPr sz="940" b="1">
                  <a:solidFill>
                    <a:srgbClr val="16202C"/>
                  </a:solidFill>
                  <a:latin typeface="맑은 고딕"/>
                  <a:ea typeface="맑은 고딕"/>
                  <a:cs typeface="맑은 고딕"/>
                </a:rPr>
                <a:t>DPE 당 출력 4개</a:t>
              </a:r>
            </a:p>
          </p:txBody>
        </p:sp>
        <p:sp>
          <p:nvSpPr>
            <p:cNvPr id="82" name="TextBox 81"/>
            <p:cNvSpPr txBox="1"/>
            <p:nvPr/>
          </p:nvSpPr>
          <p:spPr>
            <a:xfrm>
              <a:off x="5736829" y="4654666"/>
              <a:ext cx="718038"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논문 본문의 예시</a:t>
              </a:r>
            </a:p>
          </p:txBody>
        </p:sp>
        <p:sp>
          <p:nvSpPr>
            <p:cNvPr id="83" name="Rounded Rectangle 82"/>
            <p:cNvSpPr/>
            <p:nvPr/>
          </p:nvSpPr>
          <p:spPr>
            <a:xfrm>
              <a:off x="7806057" y="1849714"/>
              <a:ext cx="3128432" cy="3149288"/>
            </a:xfrm>
            <a:prstGeom prst="roundRect">
              <a:avLst>
                <a:gd name="adj" fmla="val 3333"/>
              </a:avLst>
            </a:prstGeom>
            <a:solidFill>
              <a:srgbClr val="F3FAF5"/>
            </a:solidFill>
            <a:ln w="2085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59313" y="1978397"/>
              <a:ext cx="1621920" cy="203849"/>
            </a:xfrm>
            <a:prstGeom prst="rect">
              <a:avLst/>
            </a:prstGeom>
            <a:noFill/>
          </p:spPr>
          <p:txBody>
            <a:bodyPr wrap="none" anchor="ctr" lIns="0" rIns="0" tIns="0" bIns="0">
              <a:noAutofit/>
            </a:bodyPr>
            <a:lstStyle/>
            <a:p>
              <a:pPr algn="ctr"/>
              <a:r>
                <a:rPr sz="1110" b="1">
                  <a:solidFill>
                    <a:srgbClr val="1A7F37"/>
                  </a:solidFill>
                  <a:latin typeface="맑은 고딕"/>
                  <a:ea typeface="맑은 고딕"/>
                  <a:cs typeface="맑은 고딕"/>
                </a:rPr>
                <a:t>reduction tree 깊이 최대</a:t>
              </a:r>
            </a:p>
          </p:txBody>
        </p:sp>
        <p:sp>
          <p:nvSpPr>
            <p:cNvPr id="85" name="TextBox 84"/>
            <p:cNvSpPr txBox="1"/>
            <p:nvPr/>
          </p:nvSpPr>
          <p:spPr>
            <a:xfrm>
              <a:off x="8666712" y="2223249"/>
              <a:ext cx="1407122" cy="158549"/>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벡터 전체를 스칼라 1개로 축약</a:t>
              </a:r>
            </a:p>
          </p:txBody>
        </p:sp>
        <p:sp>
          <p:nvSpPr>
            <p:cNvPr id="86" name="TextBox 85"/>
            <p:cNvSpPr txBox="1"/>
            <p:nvPr/>
          </p:nvSpPr>
          <p:spPr>
            <a:xfrm>
              <a:off x="8587445" y="2443908"/>
              <a:ext cx="1565655"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입력 32 × BF16 — 칸 1개 = 원소 4개</a:t>
              </a:r>
            </a:p>
          </p:txBody>
        </p:sp>
        <p:sp>
          <p:nvSpPr>
            <p:cNvPr id="87" name="Rounded Rectangle 86"/>
            <p:cNvSpPr/>
            <p:nvPr/>
          </p:nvSpPr>
          <p:spPr>
            <a:xfrm>
              <a:off x="8202325" y="2621394"/>
              <a:ext cx="2335896" cy="208562"/>
            </a:xfrm>
            <a:prstGeom prst="roundRect">
              <a:avLst>
                <a:gd name="adj" fmla="val 15000"/>
              </a:avLst>
            </a:prstGeom>
            <a:solidFill>
              <a:srgbClr val="CBE0F7"/>
            </a:solidFill>
            <a:ln w="1459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8494312"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786299"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078286"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9370273"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662260"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954247"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246234" y="2621394"/>
              <a:ext cx="0" cy="208562"/>
            </a:xfrm>
            <a:prstGeom prst="line">
              <a:avLst/>
            </a:prstGeom>
            <a:ln w="8342">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48319"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640306"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932293"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224280"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9516267"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9808254"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00241"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392227" y="2829956"/>
              <a:ext cx="0" cy="417125"/>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348319" y="3247081"/>
              <a:ext cx="1021954"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640306" y="3247081"/>
              <a:ext cx="729967"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932293" y="3247081"/>
              <a:ext cx="437980"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24280" y="3247081"/>
              <a:ext cx="145993"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9370273" y="3247081"/>
              <a:ext cx="145994"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a:off x="9370273" y="3247081"/>
              <a:ext cx="437981"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a:off x="9370273" y="3247081"/>
              <a:ext cx="729968"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a:off x="9370273" y="3247081"/>
              <a:ext cx="1021954" cy="417124"/>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370273" y="3726773"/>
              <a:ext cx="0" cy="354556"/>
            </a:xfrm>
            <a:prstGeom prst="line">
              <a:avLst/>
            </a:prstGeom>
            <a:ln w="12513">
              <a:solidFill>
                <a:srgbClr val="1A7F37"/>
              </a:solidFill>
            </a:ln>
          </p:spPr>
          <p:style>
            <a:lnRef idx="2">
              <a:schemeClr val="accent1"/>
            </a:lnRef>
            <a:fillRef idx="0">
              <a:schemeClr val="accent1"/>
            </a:fillRef>
            <a:effectRef idx="1">
              <a:schemeClr val="accent1"/>
            </a:effectRef>
            <a:fontRef idx="minor">
              <a:schemeClr val="tx1"/>
            </a:fontRef>
          </p:style>
        </p:cxnSp>
        <p:sp>
          <p:nvSpPr>
            <p:cNvPr id="112" name="Oval 111"/>
            <p:cNvSpPr/>
            <p:nvPr/>
          </p:nvSpPr>
          <p:spPr>
            <a:xfrm>
              <a:off x="9307704" y="3601636"/>
              <a:ext cx="125137" cy="125137"/>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9276420" y="4102185"/>
              <a:ext cx="187706" cy="187706"/>
            </a:xfrm>
            <a:prstGeom prst="roundRect">
              <a:avLst>
                <a:gd name="adj" fmla="val 16666"/>
              </a:avLst>
            </a:prstGeom>
            <a:solidFill>
              <a:srgbClr val="CFE8D8"/>
            </a:solidFill>
            <a:ln w="1251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932134" y="4421911"/>
              <a:ext cx="876279" cy="173649"/>
            </a:xfrm>
            <a:prstGeom prst="rect">
              <a:avLst/>
            </a:prstGeom>
            <a:noFill/>
          </p:spPr>
          <p:txBody>
            <a:bodyPr wrap="none" anchor="ctr" lIns="0" rIns="0" tIns="0" bIns="0">
              <a:noAutofit/>
            </a:bodyPr>
            <a:lstStyle/>
            <a:p>
              <a:pPr algn="ctr"/>
              <a:r>
                <a:rPr sz="940" b="1">
                  <a:solidFill>
                    <a:srgbClr val="16202C"/>
                  </a:solidFill>
                  <a:latin typeface="맑은 고딕"/>
                  <a:ea typeface="맑은 고딕"/>
                  <a:cs typeface="맑은 고딕"/>
                </a:rPr>
                <a:t>DPE 당 출력 1개</a:t>
              </a:r>
            </a:p>
          </p:txBody>
        </p:sp>
        <p:sp>
          <p:nvSpPr>
            <p:cNvPr id="115" name="TextBox 114"/>
            <p:cNvSpPr txBox="1"/>
            <p:nvPr/>
          </p:nvSpPr>
          <p:spPr>
            <a:xfrm>
              <a:off x="8864041" y="4654666"/>
              <a:ext cx="1012465" cy="143449"/>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전형적 matmul 의 내적</a:t>
              </a:r>
            </a:p>
          </p:txBody>
        </p:sp>
        <p:sp>
          <p:nvSpPr>
            <p:cNvPr id="116" name="Rounded Rectangle 115"/>
            <p:cNvSpPr/>
            <p:nvPr/>
          </p:nvSpPr>
          <p:spPr>
            <a:xfrm>
              <a:off x="1257206" y="5165852"/>
              <a:ext cx="9677283" cy="375412"/>
            </a:xfrm>
            <a:prstGeom prst="roundRect">
              <a:avLst>
                <a:gd name="adj" fmla="val 22222"/>
              </a:avLst>
            </a:prstGeom>
            <a:solidFill>
              <a:srgbClr val="FDEBD3"/>
            </a:solidFill>
            <a:ln w="1668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913724" y="5266588"/>
              <a:ext cx="4364246" cy="173649"/>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트리는 add 축약뿐 아니라 max 축약도 지원한다 — max-pooling 같은 연산을 위해서다</a:t>
              </a:r>
            </a:p>
          </p:txBody>
        </p:sp>
      </p:grpSp>
      <p:sp>
        <p:nvSpPr>
          <p:cNvPr id="118" name="Rectangle 11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control register 로 트리 깊이를 정하면 DPE 의 출력 개수가 따라 정해진다. CE 가 고정 크기 행렬곱기가 아닌 이유다.</a:t>
            </a:r>
          </a:p>
        </p:txBody>
      </p:sp>
      <p:sp>
        <p:nvSpPr>
          <p:cNvPr id="119" name="Rectangle 11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Reduction Tree 의 깊이 — 출력 개수를 바꾸는 손잡이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하드웨어가 원소별 곱셈기부터 완전 내적기까지 변한다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127</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본문: "The depth of the reduction tree can be configured through control registers, which in turn determines the number of outputs from the DPE."</a:t>
            </a:r>
          </a:p>
          <a:p>
            <a:pPr algn="l">
              <a:lnSpc>
                <a:spcPct val="118000"/>
              </a:lnSpc>
              <a:spcBef>
                <a:spcPts val="600"/>
              </a:spcBef>
              <a:spcAft>
                <a:spcPts val="200"/>
              </a:spcAft>
            </a:pPr>
            <a:r>
              <a:rPr sz="1900" b="1" i="0">
                <a:solidFill>
                  <a:srgbClr val="083F80"/>
                </a:solidFill>
                <a:latin typeface="Segoe UI"/>
                <a:ea typeface="맑은 고딕"/>
                <a:cs typeface="맑은 고딕"/>
              </a:rPr>
              <a:t>▪  논문이 직접 든 예는 깊이 0(출력 32개)과 깊이 3(출력 4개) 둘뿐이다. 2^d 로 묶인다는 해석은 32 / 4 = 8 = 2³ 에서 나온 것이며 본문에 명시돼 있지 않다</a:t>
            </a:r>
          </a:p>
          <a:p>
            <a:pPr algn="l">
              <a:lnSpc>
                <a:spcPct val="118000"/>
              </a:lnSpc>
              <a:spcBef>
                <a:spcPts val="600"/>
              </a:spcBef>
              <a:spcAft>
                <a:spcPts val="200"/>
              </a:spcAft>
            </a:pPr>
            <a:r>
              <a:rPr sz="1900" b="0" i="0">
                <a:solidFill>
                  <a:srgbClr val="16202C"/>
                </a:solidFill>
                <a:latin typeface="Segoe UI"/>
                <a:ea typeface="맑은 고딕"/>
                <a:cs typeface="맑은 고딕"/>
              </a:rPr>
              <a:t>▪  그래서 CE 는 고정 크기 행렬곱기가 아니다. 같은 하드웨어가 element-wise 곱셈기부터 완전 내적기까지 연속으로 변한다</a:t>
            </a:r>
          </a:p>
          <a:p>
            <a:pPr algn="l">
              <a:lnSpc>
                <a:spcPct val="118000"/>
              </a:lnSpc>
              <a:spcBef>
                <a:spcPts val="600"/>
              </a:spcBef>
              <a:spcAft>
                <a:spcPts val="200"/>
              </a:spcAft>
            </a:pPr>
            <a:r>
              <a:rPr sz="1900" b="1" i="0">
                <a:solidFill>
                  <a:srgbClr val="083F80"/>
                </a:solidFill>
                <a:latin typeface="Segoe UI"/>
                <a:ea typeface="맑은 고딕"/>
                <a:cs typeface="맑은 고딕"/>
              </a:rPr>
              <a:t>▪  이것이 제목의 'Tensor Contraction Processor' 가 뜻하는 바다. 축약할 축이 짧든 길든 깊이 값만 바꾸면 된다</a:t>
            </a:r>
          </a:p>
          <a:p>
            <a:pPr algn="l">
              <a:lnSpc>
                <a:spcPct val="118000"/>
              </a:lnSpc>
              <a:spcBef>
                <a:spcPts val="600"/>
              </a:spcBef>
              <a:spcAft>
                <a:spcPts val="200"/>
              </a:spcAft>
            </a:pPr>
            <a:r>
              <a:rPr sz="1900" b="0" i="0">
                <a:solidFill>
                  <a:srgbClr val="16202C"/>
                </a:solidFill>
                <a:latin typeface="Segoe UI"/>
                <a:ea typeface="맑은 고딕"/>
                <a:cs typeface="맑은 고딕"/>
              </a:rPr>
              <a:t>▪  출력 개수는 다음 단의 누산기 배분(총 1024개 ÷ 출력 수)까지 함께 바꾼다. 컴파일러가 tactic 을 고를 때 걸리는 제약이다</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Feed Unit (1) — 브로드캐스트로 데이터를 재사용한다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feed unit 은 fetch network(페치 네트워크) 를 통해 배달된 packet(패킷) 을 처리한다</a:t>
            </a:r>
          </a:p>
          <a:p>
            <a:pPr algn="l">
              <a:lnSpc>
                <a:spcPct val="118000"/>
              </a:lnSpc>
              <a:spcBef>
                <a:spcPts val="600"/>
              </a:spcBef>
              <a:spcAft>
                <a:spcPts val="200"/>
              </a:spcAft>
            </a:pPr>
            <a:r>
              <a:rPr sz="1900" b="1" i="0">
                <a:solidFill>
                  <a:srgbClr val="083F80"/>
                </a:solidFill>
                <a:latin typeface="Segoe UI"/>
                <a:ea typeface="맑은 고딕"/>
                <a:cs typeface="맑은 고딕"/>
              </a:rPr>
              <a:t>▪  처리한 데이터를 여러 DPE 에 broadcast 해 fetch 된 데이터를 재사용한다</a:t>
            </a:r>
          </a:p>
          <a:p>
            <a:pPr algn="l">
              <a:lnSpc>
                <a:spcPct val="118000"/>
              </a:lnSpc>
              <a:spcBef>
                <a:spcPts val="600"/>
              </a:spcBef>
              <a:spcAft>
                <a:spcPts val="200"/>
              </a:spcAft>
            </a:pPr>
            <a:r>
              <a:rPr sz="1900" b="0" i="0">
                <a:solidFill>
                  <a:srgbClr val="16202C"/>
                </a:solidFill>
                <a:latin typeface="Segoe UI"/>
                <a:ea typeface="맑은 고딕"/>
                <a:cs typeface="맑은 고딕"/>
              </a:rPr>
              <a:t>▪  한 번 SRAM 에서 읽은 데이터를 8번 쓰는 셈이므로, 같은 연산량 대비 SRAM 읽기 횟수가 1/8 로 줄어든다</a:t>
            </a:r>
          </a:p>
          <a:p>
            <a:pPr algn="l">
              <a:lnSpc>
                <a:spcPct val="118000"/>
              </a:lnSpc>
              <a:spcBef>
                <a:spcPts val="600"/>
              </a:spcBef>
              <a:spcAft>
                <a:spcPts val="200"/>
              </a:spcAft>
            </a:pPr>
            <a:r>
              <a:rPr sz="1900" b="0" i="0">
                <a:solidFill>
                  <a:srgbClr val="16202C"/>
                </a:solidFill>
                <a:latin typeface="Segoe UI"/>
                <a:ea typeface="맑은 고딕"/>
                <a:cs typeface="맑은 고딕"/>
              </a:rPr>
              <a:t>▪  feed unit 은 operation sequencer 의 제어를 받는다. 스스로 판단하지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Fig. 6 에서 feed unit 으로 들어오는 입력 폭은 80B 이고, 나가는 폭은 32×BF16 / 64×FP8·INT8 / 128×INT4 로 표기돼 있다</a:t>
            </a:r>
          </a:p>
          <a:p>
            <a:pPr algn="l">
              <a:lnSpc>
                <a:spcPct val="118000"/>
              </a:lnSpc>
              <a:spcBef>
                <a:spcPts val="600"/>
              </a:spcBef>
              <a:spcAft>
                <a:spcPts val="200"/>
              </a:spcAft>
            </a:pPr>
            <a:r>
              <a:rPr sz="1900" b="1" i="0">
                <a:solidFill>
                  <a:srgbClr val="083F80"/>
                </a:solidFill>
                <a:latin typeface="Segoe UI"/>
                <a:ea typeface="맑은 고딕"/>
                <a:cs typeface="맑은 고딕"/>
              </a:rPr>
              <a:t>▪  논문은 80B 이라는 폭이 어떻게 구성되는지(예: BF16 32개는 64B 인데 나머지 16B 의 용도) 설명하지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fetch network 가 배달한 패킷을 풀어 8개 DPE 에 동시에 뿌린다.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Feed Unit (2) — 반복 공급 · shift · transpose</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"the feed unit enables further data reuse by providing the same data multiple times to the eight DPEs in consecutive cycles"</a:t>
            </a:r>
          </a:p>
          <a:p>
            <a:pPr algn="l">
              <a:lnSpc>
                <a:spcPct val="118000"/>
              </a:lnSpc>
              <a:spcBef>
                <a:spcPts val="600"/>
              </a:spcBef>
              <a:spcAft>
                <a:spcPts val="200"/>
              </a:spcAft>
            </a:pPr>
            <a:r>
              <a:rPr sz="1900" b="0" i="0">
                <a:solidFill>
                  <a:srgbClr val="16202C"/>
                </a:solidFill>
                <a:latin typeface="Segoe UI"/>
                <a:ea typeface="맑은 고딕"/>
                <a:cs typeface="맑은 고딕"/>
              </a:rPr>
              <a:t>▪  같은 데이터를 연속된 사이클에 걸쳐 8개 DPE 에 반복 공급한다 → 시간 방향 재사용</a:t>
            </a:r>
          </a:p>
          <a:p>
            <a:pPr algn="l">
              <a:lnSpc>
                <a:spcPct val="118000"/>
              </a:lnSpc>
              <a:spcBef>
                <a:spcPts val="600"/>
              </a:spcBef>
              <a:spcAft>
                <a:spcPts val="200"/>
              </a:spcAft>
            </a:pPr>
            <a:r>
              <a:rPr sz="1900" b="0" i="0">
                <a:solidFill>
                  <a:srgbClr val="16202C"/>
                </a:solidFill>
                <a:latin typeface="Segoe UI"/>
                <a:ea typeface="맑은 고딕"/>
                <a:cs typeface="맑은 고딕"/>
              </a:rPr>
              <a:t>▪  논문이 든 예 (Section VI-B 에서 상세화된다): attention 의 Q·K^T 계산</a:t>
            </a:r>
          </a:p>
          <a:p>
            <a:pPr algn="l">
              <a:lnSpc>
                <a:spcPct val="118000"/>
              </a:lnSpc>
              <a:spcBef>
                <a:spcPts val="200"/>
              </a:spcBef>
              <a:spcAft>
                <a:spcPts val="100"/>
              </a:spcAft>
            </a:pPr>
            <a:r>
              <a:rPr sz="1780" b="0" i="0">
                <a:solidFill>
                  <a:srgbClr val="2C3A4B"/>
                </a:solidFill>
                <a:latin typeface="Segoe UI"/>
                <a:ea typeface="맑은 고딕"/>
                <a:cs typeface="맑은 고딕"/>
              </a:rPr>
              <a:t>–  feed unit 은 같은 query vector(질의 벡터) 를 계속 반복 공급한다</a:t>
            </a:r>
          </a:p>
          <a:p>
            <a:pPr algn="l">
              <a:lnSpc>
                <a:spcPct val="118000"/>
              </a:lnSpc>
              <a:spcBef>
                <a:spcPts val="200"/>
              </a:spcBef>
              <a:spcAft>
                <a:spcPts val="100"/>
              </a:spcAft>
            </a:pPr>
            <a:r>
              <a:rPr sz="1780" b="0" i="0">
                <a:solidFill>
                  <a:srgbClr val="2C3A4B"/>
                </a:solidFill>
                <a:latin typeface="Segoe UI"/>
                <a:ea typeface="맑은 고딕"/>
                <a:cs typeface="맑은 고딕"/>
              </a:rPr>
              <a:t>–  DPE 는 그 query vector 와, RF 에서 매 사이클 새로 페치되는 key vector(키 벡터) 사이의 내적을 수행한다</a:t>
            </a:r>
          </a:p>
          <a:p>
            <a:pPr algn="l">
              <a:lnSpc>
                <a:spcPct val="118000"/>
              </a:lnSpc>
              <a:spcBef>
                <a:spcPts val="200"/>
              </a:spcBef>
              <a:spcAft>
                <a:spcPts val="100"/>
              </a:spcAft>
            </a:pPr>
            <a:r>
              <a:rPr sz="1780" b="1" i="0">
                <a:solidFill>
                  <a:srgbClr val="2C3A4B"/>
                </a:solidFill>
                <a:latin typeface="Segoe UI"/>
                <a:ea typeface="맑은 고딕"/>
                <a:cs typeface="맑은 고딕"/>
              </a:rPr>
              <a:t>–  즉 query 는 붙박이, key 는 흘러가는 구조다</a:t>
            </a:r>
          </a:p>
          <a:p>
            <a:pPr algn="l">
              <a:lnSpc>
                <a:spcPct val="118000"/>
              </a:lnSpc>
              <a:spcBef>
                <a:spcPts val="600"/>
              </a:spcBef>
              <a:spcAft>
                <a:spcPts val="200"/>
              </a:spcAft>
            </a:pPr>
            <a:r>
              <a:rPr sz="1900" b="0" i="0">
                <a:solidFill>
                  <a:srgbClr val="16202C"/>
                </a:solidFill>
                <a:latin typeface="Segoe UI"/>
                <a:ea typeface="맑은 고딕"/>
                <a:cs typeface="맑은 고딕"/>
              </a:rPr>
              <a:t>▪  feed unit 은 shift(시프트) 를 이용한 데이터 재사용도 지원한다. convolution(합성곱) 같은 연산에서 슬라이딩 윈도우가 한 칸씩 밀리는 패턴을 그대로 처리한다</a:t>
            </a:r>
          </a:p>
          <a:p>
            <a:pPr algn="l">
              <a:lnSpc>
                <a:spcPct val="118000"/>
              </a:lnSpc>
              <a:spcBef>
                <a:spcPts val="600"/>
              </a:spcBef>
              <a:spcAft>
                <a:spcPts val="200"/>
              </a:spcAft>
            </a:pPr>
            <a:r>
              <a:rPr sz="1900" b="1" i="0">
                <a:solidFill>
                  <a:srgbClr val="083F80"/>
                </a:solidFill>
                <a:latin typeface="Segoe UI"/>
                <a:ea typeface="맑은 고딕"/>
                <a:cs typeface="맑은 고딕"/>
              </a:rPr>
              <a:t>▪  feed unit 은 텐서 transpose(전치) 도 수행할 수 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broadcast 는 공간 방향 재사용, 반복 공급(temporal reuse)은 시간 방향 재사용이다.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Register File (RF) — DPE 마다 다른 피연산자를 댄다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RF 는 single port SRAM(단일 포트 SRAM) 들로 구성되며, 슬라이스당 총 80 KB 다</a:t>
            </a:r>
          </a:p>
          <a:p>
            <a:pPr algn="l">
              <a:lnSpc>
                <a:spcPct val="118000"/>
              </a:lnSpc>
              <a:spcBef>
                <a:spcPts val="600"/>
              </a:spcBef>
              <a:spcAft>
                <a:spcPts val="200"/>
              </a:spcAft>
            </a:pPr>
            <a:r>
              <a:rPr sz="1800" b="0" i="0">
                <a:solidFill>
                  <a:srgbClr val="16202C"/>
                </a:solidFill>
                <a:latin typeface="Segoe UI"/>
                <a:ea typeface="맑은 고딕"/>
                <a:cs typeface="맑은 고딕"/>
              </a:rPr>
              <a:t>▪  여기에 small-sized cache(작은 크기의 캐시) 가 추가로 붙어 있다</a:t>
            </a:r>
          </a:p>
          <a:p>
            <a:pPr algn="l">
              <a:lnSpc>
                <a:spcPct val="118000"/>
              </a:lnSpc>
              <a:spcBef>
                <a:spcPts val="600"/>
              </a:spcBef>
              <a:spcAft>
                <a:spcPts val="200"/>
              </a:spcAft>
            </a:pPr>
            <a:r>
              <a:rPr sz="1800" b="0" i="0">
                <a:solidFill>
                  <a:srgbClr val="16202C"/>
                </a:solidFill>
                <a:latin typeface="Segoe UI"/>
                <a:ea typeface="맑은 고딕"/>
                <a:cs typeface="맑은 고딕"/>
              </a:rPr>
              <a:t>▪  역할: MAC 연산에서 재사용되는 operand(피연산자) 의 저장소다 — 전형적으로는 weight(가중치)</a:t>
            </a:r>
          </a:p>
          <a:p>
            <a:pPr algn="l">
              <a:lnSpc>
                <a:spcPct val="118000"/>
              </a:lnSpc>
              <a:spcBef>
                <a:spcPts val="600"/>
              </a:spcBef>
              <a:spcAft>
                <a:spcPts val="200"/>
              </a:spcAft>
            </a:pPr>
            <a:r>
              <a:rPr sz="1800" b="1" i="0">
                <a:solidFill>
                  <a:srgbClr val="083F80"/>
                </a:solidFill>
                <a:latin typeface="Segoe UI"/>
                <a:ea typeface="맑은 고딕"/>
                <a:cs typeface="맑은 고딕"/>
              </a:rPr>
              <a:t>▪  각 DPE 에 데이터를 공급해야 하므로 DPE 개수만큼의 뱅크가 필요하다 (8 뱅크)</a:t>
            </a:r>
          </a:p>
          <a:p>
            <a:pPr algn="l">
              <a:lnSpc>
                <a:spcPct val="118000"/>
              </a:lnSpc>
              <a:spcBef>
                <a:spcPts val="600"/>
              </a:spcBef>
              <a:spcAft>
                <a:spcPts val="200"/>
              </a:spcAft>
            </a:pPr>
            <a:r>
              <a:rPr sz="1800" b="0" i="0">
                <a:solidFill>
                  <a:srgbClr val="16202C"/>
                </a:solidFill>
                <a:latin typeface="Segoe UI"/>
                <a:ea typeface="맑은 고딕"/>
                <a:cs typeface="맑은 고딕"/>
              </a:rPr>
              <a:t>▪  RF 는 동시 read/write 접근을 처리한다</a:t>
            </a:r>
          </a:p>
          <a:p>
            <a:pPr algn="l">
              <a:lnSpc>
                <a:spcPct val="118000"/>
              </a:lnSpc>
              <a:spcBef>
                <a:spcPts val="200"/>
              </a:spcBef>
              <a:spcAft>
                <a:spcPts val="100"/>
              </a:spcAft>
            </a:pPr>
            <a:r>
              <a:rPr sz="1680" b="1" i="0">
                <a:solidFill>
                  <a:srgbClr val="2C3A4B"/>
                </a:solidFill>
                <a:latin typeface="Segoe UI"/>
                <a:ea typeface="맑은 고딕"/>
                <a:cs typeface="맑은 고딕"/>
              </a:rPr>
              <a:t>–  이유: tensor contraction 이 돌아가는 중에 sub-context(서브 컨텍스트) 가 다음 weight 를 미리 로드해야 하기 때문이다</a:t>
            </a:r>
          </a:p>
          <a:p>
            <a:pPr algn="l">
              <a:lnSpc>
                <a:spcPct val="118000"/>
              </a:lnSpc>
              <a:spcBef>
                <a:spcPts val="600"/>
              </a:spcBef>
              <a:spcAft>
                <a:spcPts val="200"/>
              </a:spcAft>
            </a:pPr>
            <a:r>
              <a:rPr sz="1800" b="0" i="0">
                <a:solidFill>
                  <a:srgbClr val="16202C"/>
                </a:solidFill>
                <a:latin typeface="Segoe UI"/>
                <a:ea typeface="맑은 고딕"/>
                <a:cs typeface="맑은 고딕"/>
              </a:rPr>
              <a:t>▪  이것이 III-B 에서 말한 '두 개의 실행 컨텍스트' 가 CE 안에서 구체화되는 지점이다. main context 가 계산하는 동안 sub-context 가 다음 가중치를 채워 넣어 weight load 지연을 숨긴다</a:t>
            </a:r>
          </a:p>
          <a:p>
            <a:pPr algn="l">
              <a:lnSpc>
                <a:spcPct val="118000"/>
              </a:lnSpc>
              <a:spcBef>
                <a:spcPts val="600"/>
              </a:spcBef>
              <a:spcAft>
                <a:spcPts val="200"/>
              </a:spcAft>
            </a:pPr>
            <a:r>
              <a:rPr sz="1800" b="0" i="0">
                <a:solidFill>
                  <a:srgbClr val="16202C"/>
                </a:solidFill>
                <a:latin typeface="Segoe UI"/>
                <a:ea typeface="맑은 고딕"/>
                <a:cs typeface="맑은 고딕"/>
              </a:rPr>
              <a:t>▪  Fig. 6 에서 RF 로 들어가는 입력 폭도 80B 이며, RF 출력은 8 x 32 x BF16 / 8 x 64 x FP8·INT8 / 8 x 128 x INT4 로 8-way 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single port SRAM 총 80 KB/slice + 작은 캐시. DPE 개수만큼의 뱅크가 필요하다.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Accumulation Unit (1) — 시간 축약을 담당한다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accumulation unit 은 DPE 의 출력을 받아 temporal accumulation(시간적 누산) 을 수행한다</a:t>
            </a:r>
          </a:p>
          <a:p>
            <a:pPr algn="l">
              <a:lnSpc>
                <a:spcPct val="118000"/>
              </a:lnSpc>
              <a:spcBef>
                <a:spcPts val="600"/>
              </a:spcBef>
              <a:spcAft>
                <a:spcPts val="200"/>
              </a:spcAft>
            </a:pPr>
            <a:r>
              <a:rPr sz="1900" b="0" i="0">
                <a:solidFill>
                  <a:srgbClr val="16202C"/>
                </a:solidFill>
                <a:latin typeface="Segoe UI"/>
                <a:ea typeface="맑은 고딕"/>
                <a:cs typeface="맑은 고딕"/>
              </a:rPr>
              <a:t>▪  feed unit 의 입력을 시간적으로 재사용하려면, 여러 partial sum(부분합) 을 동시에 들고 있어야 하므로 누산기가 여러 개 필요하다</a:t>
            </a:r>
          </a:p>
          <a:p>
            <a:pPr algn="l">
              <a:lnSpc>
                <a:spcPct val="118000"/>
              </a:lnSpc>
              <a:spcBef>
                <a:spcPts val="600"/>
              </a:spcBef>
              <a:spcAft>
                <a:spcPts val="200"/>
              </a:spcAft>
            </a:pPr>
            <a:r>
              <a:rPr sz="1900" b="1" i="0">
                <a:solidFill>
                  <a:srgbClr val="083F80"/>
                </a:solidFill>
                <a:latin typeface="Segoe UI"/>
                <a:ea typeface="맑은 고딕"/>
                <a:cs typeface="맑은 고딕"/>
              </a:rPr>
              <a:t>▪  그런데 누산기 수를 늘리면 read/write 비용이 비례해서 올라간다</a:t>
            </a:r>
          </a:p>
          <a:p>
            <a:pPr algn="l">
              <a:lnSpc>
                <a:spcPct val="118000"/>
              </a:lnSpc>
              <a:spcBef>
                <a:spcPts val="600"/>
              </a:spcBef>
              <a:spcAft>
                <a:spcPts val="200"/>
              </a:spcAft>
            </a:pPr>
            <a:r>
              <a:rPr sz="1900" b="0" i="0">
                <a:solidFill>
                  <a:srgbClr val="16202C"/>
                </a:solidFill>
                <a:latin typeface="Segoe UI"/>
                <a:ea typeface="맑은 고딕"/>
                <a:cs typeface="맑은 고딕"/>
              </a:rPr>
              <a:t>▪  그래서 설계 방침은 '적은 수의 누산기를 최대한 잘 쓴다' 이고, 그 수는 유닛당 4개다</a:t>
            </a:r>
          </a:p>
          <a:p>
            <a:pPr algn="l">
              <a:lnSpc>
                <a:spcPct val="118000"/>
              </a:lnSpc>
              <a:spcBef>
                <a:spcPts val="600"/>
              </a:spcBef>
              <a:spcAft>
                <a:spcPts val="200"/>
              </a:spcAft>
            </a:pPr>
            <a:r>
              <a:rPr sz="1900" b="1" i="0">
                <a:solidFill>
                  <a:srgbClr val="083F80"/>
                </a:solidFill>
                <a:latin typeface="Segoe UI"/>
                <a:ea typeface="맑은 고딕"/>
                <a:cs typeface="맑은 고딕"/>
              </a:rPr>
              <a:t>▪  한편 accumulation unit 은 전체적으로 1024개의 누산기를 포함한다</a:t>
            </a:r>
          </a:p>
          <a:p>
            <a:pPr algn="l">
              <a:lnSpc>
                <a:spcPct val="118000"/>
              </a:lnSpc>
              <a:spcBef>
                <a:spcPts val="600"/>
              </a:spcBef>
              <a:spcAft>
                <a:spcPts val="200"/>
              </a:spcAft>
            </a:pPr>
            <a:r>
              <a:rPr sz="1900" b="0" i="0">
                <a:solidFill>
                  <a:srgbClr val="16202C"/>
                </a:solidFill>
                <a:latin typeface="Segoe UI"/>
                <a:ea typeface="맑은 고딕"/>
                <a:cs typeface="맑은 고딕"/>
              </a:rPr>
              <a:t>▪  이 1024개는 DPE 의 출력 크기에 따라 서로 다르게 인덱싱된다 — 다음 장</a:t>
            </a:r>
          </a:p>
          <a:p>
            <a:pPr algn="l">
              <a:lnSpc>
                <a:spcPct val="118000"/>
              </a:lnSpc>
              <a:spcBef>
                <a:spcPts val="600"/>
              </a:spcBef>
              <a:spcAft>
                <a:spcPts val="200"/>
              </a:spcAft>
            </a:pPr>
            <a:r>
              <a:rPr sz="1900" b="1" i="0">
                <a:solidFill>
                  <a:srgbClr val="083F80"/>
                </a:solidFill>
                <a:latin typeface="Segoe UI"/>
                <a:ea typeface="맑은 고딕"/>
                <a:cs typeface="맑은 고딕"/>
              </a:rPr>
              <a:t>▪  참고: Fig. 6 은 블록을 "Accumulation Unit x 32" 로 표기한다. 본문의 '유닛당 4개'(32 × 4 = 128) 와 '총 1024개' 의 관계를 논문은 명시적으로 정리하지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DPE 의 출력을 여러 사이클에 걸쳐 누적한다. 누산기는 유닛당 4개로 최소화했다.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Accumulation Unit (2) — 1024개 누산기의 두 가지 인덱싱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132</a:t>
            </a:r>
          </a:p>
        </p:txBody>
      </p:sp>
      <p:graphicFrame>
        <p:nvGraphicFramePr>
          <p:cNvPr id="8" name="Table 7"/>
          <p:cNvGraphicFramePr>
            <a:graphicFrameLocks noGrp="1"/>
          </p:cNvGraphicFramePr>
          <p:nvPr/>
        </p:nvGraphicFramePr>
        <p:xfrm>
          <a:off x="566928" y="1517904"/>
          <a:ext cx="11057838" cy="1152144"/>
        </p:xfrm>
        <a:graphic>
          <a:graphicData uri="http://schemas.openxmlformats.org/drawingml/2006/table">
            <a:tbl>
              <a:tblPr firstRow="1" bandRow="1">
                <a:tableStyleId>{5C22544A-7EE6-4342-B048-85BDC9FD1C3A}</a:tableStyleId>
              </a:tblPr>
              <a:tblGrid>
                <a:gridCol w="4447174"/>
                <a:gridCol w="2043296"/>
                <a:gridCol w="2163490"/>
                <a:gridCol w="2403878"/>
              </a:tblGrid>
              <a:tr h="384048">
                <a:tc>
                  <a:txBody>
                    <a:bodyPr wrap="square"/>
                    <a:lstStyle/>
                    <a:p>
                      <a:r>
                        <a:rPr sz="1150" b="1" i="0">
                          <a:solidFill>
                            <a:srgbClr val="FFFFFF"/>
                          </a:solidFill>
                          <a:latin typeface="Segoe UI"/>
                          <a:ea typeface="맑은 고딕"/>
                          <a:cs typeface="맑은 고딕"/>
                        </a:rPr>
                        <a:t>조건</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DPE 1개의 출력 수</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DPE 8개 총 출력 수</a:t>
                      </a:r>
                    </a:p>
                  </a:txBody>
                  <a:tcPr marL="73152" marR="73152" marT="27432" marB="27432">
                    <a:solidFill>
                      <a:srgbClr val="0B5FC0"/>
                    </a:solidFill>
                  </a:tcPr>
                </a:tc>
                <a:tc>
                  <a:txBody>
                    <a:bodyPr wrap="square"/>
                    <a:lstStyle/>
                    <a:p>
                      <a:r>
                        <a:rPr sz="1150" b="1" i="0">
                          <a:solidFill>
                            <a:srgbClr val="FFFFFF"/>
                          </a:solidFill>
                          <a:latin typeface="Segoe UI"/>
                          <a:ea typeface="맑은 고딕"/>
                          <a:cs typeface="맑은 고딕"/>
                        </a:rPr>
                        <a:t>출력 1개당 누산기 수</a:t>
                      </a:r>
                    </a:p>
                  </a:txBody>
                  <a:tcPr marL="73152" marR="73152" marT="27432" marB="27432">
                    <a:solidFill>
                      <a:srgbClr val="0B5FC0"/>
                    </a:solidFill>
                  </a:tcPr>
                </a:tc>
              </a:tr>
              <a:tr h="384048">
                <a:tc>
                  <a:txBody>
                    <a:bodyPr wrap="square"/>
                    <a:lstStyle/>
                    <a:p>
                      <a:r>
                        <a:rPr sz="1150" b="0" i="0">
                          <a:solidFill>
                            <a:srgbClr val="16202C"/>
                          </a:solidFill>
                          <a:latin typeface="Segoe UI"/>
                          <a:ea typeface="맑은 고딕"/>
                          <a:cs typeface="맑은 고딕"/>
                        </a:rPr>
                        <a:t>32 x BF16 입력, reduction tree 깊이 0</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32</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256 (= 8 × 32)</a:t>
                      </a:r>
                    </a:p>
                  </a:txBody>
                  <a:tcPr marL="73152" marR="73152" marT="27432" marB="27432">
                    <a:solidFill>
                      <a:srgbClr val="FFFFFF"/>
                    </a:solidFill>
                  </a:tcPr>
                </a:tc>
                <a:tc>
                  <a:txBody>
                    <a:bodyPr wrap="square"/>
                    <a:lstStyle/>
                    <a:p>
                      <a:r>
                        <a:rPr sz="1150" b="0" i="0">
                          <a:solidFill>
                            <a:srgbClr val="16202C"/>
                          </a:solidFill>
                          <a:latin typeface="Segoe UI"/>
                          <a:ea typeface="맑은 고딕"/>
                          <a:cs typeface="맑은 고딕"/>
                        </a:rPr>
                        <a:t>4 (= 1024 / 256)</a:t>
                      </a:r>
                    </a:p>
                  </a:txBody>
                  <a:tcPr marL="73152" marR="73152" marT="27432" marB="27432">
                    <a:solidFill>
                      <a:srgbClr val="FFFFFF"/>
                    </a:solidFill>
                  </a:tcPr>
                </a:tc>
              </a:tr>
              <a:tr h="384048">
                <a:tc>
                  <a:txBody>
                    <a:bodyPr wrap="square"/>
                    <a:lstStyle/>
                    <a:p>
                      <a:r>
                        <a:rPr sz="1150" b="0" i="0">
                          <a:solidFill>
                            <a:srgbClr val="16202C"/>
                          </a:solidFill>
                          <a:latin typeface="Segoe UI"/>
                          <a:ea typeface="맑은 고딕"/>
                          <a:cs typeface="맑은 고딕"/>
                        </a:rPr>
                        <a:t>reduction tree 깊이 3</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4 (부분합)</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32 (= 8 × 4)</a:t>
                      </a:r>
                    </a:p>
                  </a:txBody>
                  <a:tcPr marL="73152" marR="73152" marT="27432" marB="27432">
                    <a:solidFill>
                      <a:srgbClr val="F6F9FC"/>
                    </a:solidFill>
                  </a:tcPr>
                </a:tc>
                <a:tc>
                  <a:txBody>
                    <a:bodyPr wrap="square"/>
                    <a:lstStyle/>
                    <a:p>
                      <a:r>
                        <a:rPr sz="1150" b="0" i="0">
                          <a:solidFill>
                            <a:srgbClr val="16202C"/>
                          </a:solidFill>
                          <a:latin typeface="Segoe UI"/>
                          <a:ea typeface="맑은 고딕"/>
                          <a:cs typeface="맑은 고딕"/>
                        </a:rPr>
                        <a:t>32 (= 1024 / 32)</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reduction tree 깊이가 바뀌면 DPE 출력 수가 바뀌고, 출력 하나에 붙는 누산기 수도 따라 바뀐다.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Operation Sequencer — 명령어 없이 루프를 전개한다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Fig. 6 에서 오른쪽 세로로 긴 블록이 operation sequencer 이고, 거기서 나오는 파란 선이 제어 신호다</a:t>
            </a:r>
          </a:p>
          <a:p>
            <a:pPr algn="l">
              <a:lnSpc>
                <a:spcPct val="118000"/>
              </a:lnSpc>
              <a:spcBef>
                <a:spcPts val="600"/>
              </a:spcBef>
              <a:spcAft>
                <a:spcPts val="200"/>
              </a:spcAft>
            </a:pPr>
            <a:r>
              <a:rPr sz="1600" b="0" i="0">
                <a:solidFill>
                  <a:srgbClr val="16202C"/>
                </a:solidFill>
                <a:latin typeface="Segoe UI"/>
                <a:ea typeface="맑은 고딕"/>
                <a:cs typeface="맑은 고딕"/>
              </a:rPr>
              <a:t>▪  제어 대상 (Fig. 6 의 파란 선이 닿는 곳)</a:t>
            </a:r>
          </a:p>
          <a:p>
            <a:pPr algn="l">
              <a:lnSpc>
                <a:spcPct val="118000"/>
              </a:lnSpc>
              <a:spcBef>
                <a:spcPts val="200"/>
              </a:spcBef>
              <a:spcAft>
                <a:spcPts val="100"/>
              </a:spcAft>
            </a:pPr>
            <a:r>
              <a:rPr sz="1480" b="0" i="0">
                <a:solidFill>
                  <a:srgbClr val="2C3A4B"/>
                </a:solidFill>
                <a:latin typeface="Segoe UI"/>
                <a:ea typeface="맑은 고딕"/>
                <a:cs typeface="맑은 고딕"/>
              </a:rPr>
              <a:t>–  Feed unit — 같은 데이터를 몇 번 반복 공급할지</a:t>
            </a:r>
          </a:p>
          <a:p>
            <a:pPr algn="l">
              <a:lnSpc>
                <a:spcPct val="118000"/>
              </a:lnSpc>
              <a:spcBef>
                <a:spcPts val="200"/>
              </a:spcBef>
              <a:spcAft>
                <a:spcPts val="100"/>
              </a:spcAft>
            </a:pPr>
            <a:r>
              <a:rPr sz="1480" b="0" i="0">
                <a:solidFill>
                  <a:srgbClr val="2C3A4B"/>
                </a:solidFill>
                <a:latin typeface="Segoe UI"/>
                <a:ea typeface="맑은 고딕"/>
                <a:cs typeface="맑은 고딕"/>
              </a:rPr>
              <a:t>–  Register File (x8) — 어느 주소의 피연산자를 각 DPE 에 낼지</a:t>
            </a:r>
          </a:p>
          <a:p>
            <a:pPr algn="l">
              <a:lnSpc>
                <a:spcPct val="118000"/>
              </a:lnSpc>
              <a:spcBef>
                <a:spcPts val="200"/>
              </a:spcBef>
              <a:spcAft>
                <a:spcPts val="100"/>
              </a:spcAft>
            </a:pPr>
            <a:r>
              <a:rPr sz="1480" b="0" i="0">
                <a:solidFill>
                  <a:srgbClr val="2C3A4B"/>
                </a:solidFill>
                <a:latin typeface="Segoe UI"/>
                <a:ea typeface="맑은 고딕"/>
                <a:cs typeface="맑은 고딕"/>
              </a:rPr>
              <a:t>–  Accumulation Unit (x8) — 어느 누산기에 더할지</a:t>
            </a:r>
          </a:p>
          <a:p>
            <a:pPr algn="l">
              <a:lnSpc>
                <a:spcPct val="118000"/>
              </a:lnSpc>
              <a:spcBef>
                <a:spcPts val="200"/>
              </a:spcBef>
              <a:spcAft>
                <a:spcPts val="100"/>
              </a:spcAft>
            </a:pPr>
            <a:r>
              <a:rPr sz="1480" b="0" i="0">
                <a:solidFill>
                  <a:srgbClr val="2C3A4B"/>
                </a:solidFill>
                <a:latin typeface="Segoe UI"/>
                <a:ea typeface="맑은 고딕"/>
                <a:cs typeface="맑은 고딕"/>
              </a:rPr>
              <a:t>–  출력 선택부 — row-major 로 낼지 column-major 로 낼지</a:t>
            </a:r>
          </a:p>
          <a:p>
            <a:pPr algn="l">
              <a:lnSpc>
                <a:spcPct val="118000"/>
              </a:lnSpc>
              <a:spcBef>
                <a:spcPts val="600"/>
              </a:spcBef>
              <a:spcAft>
                <a:spcPts val="200"/>
              </a:spcAft>
            </a:pPr>
            <a:r>
              <a:rPr sz="1600" b="1" i="0">
                <a:solidFill>
                  <a:srgbClr val="083F80"/>
                </a:solidFill>
                <a:latin typeface="Segoe UI"/>
                <a:ea typeface="맑은 고딕"/>
                <a:cs typeface="맑은 고딕"/>
              </a:rPr>
              <a:t>▪  III-B 의 서술이 이를 뒷받침한다: "the operation unit's sequencer logic orchestrates input data feeding and register/accumulator indexing according to the control registers initialized before tensor operations"</a:t>
            </a:r>
          </a:p>
          <a:p>
            <a:pPr algn="l">
              <a:lnSpc>
                <a:spcPct val="118000"/>
              </a:lnSpc>
              <a:spcBef>
                <a:spcPts val="600"/>
              </a:spcBef>
              <a:spcAft>
                <a:spcPts val="200"/>
              </a:spcAft>
            </a:pPr>
            <a:r>
              <a:rPr sz="1600" b="0" i="0">
                <a:solidFill>
                  <a:srgbClr val="16202C"/>
                </a:solidFill>
                <a:latin typeface="Segoe UI"/>
                <a:ea typeface="맑은 고딕"/>
                <a:cs typeface="맑은 고딕"/>
              </a:rPr>
              <a:t>▪  즉 텐서 연산 시작 전에 초기화된 control register 만 보고, 입력 공급과 레지스터/누산기 인덱싱을 시퀀서가 전개한다</a:t>
            </a:r>
          </a:p>
          <a:p>
            <a:pPr algn="l">
              <a:lnSpc>
                <a:spcPct val="118000"/>
              </a:lnSpc>
              <a:spcBef>
                <a:spcPts val="600"/>
              </a:spcBef>
              <a:spcAft>
                <a:spcPts val="200"/>
              </a:spcAft>
            </a:pPr>
            <a:r>
              <a:rPr sz="1600" b="1" i="0">
                <a:solidFill>
                  <a:srgbClr val="083F80"/>
                </a:solidFill>
                <a:latin typeface="Segoe UI"/>
                <a:ea typeface="맑은 고딕"/>
                <a:cs typeface="맑은 고딕"/>
              </a:rPr>
              <a:t>▪  이 결정론적 동작이 I 절에서 말한 predictable performance(예측 가능한 성능) 와 정확한 cost model 의 근거다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CE 에는 명령어 스트림이 없다. 연산 전에 세팅된 control register 와 시퀀서가 전부다.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Row-major / Column-major 출력</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134</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Fig. 6 출력단이 두 갈래로 갈라지는 이유</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300" b="0" i="0">
                <a:solidFill>
                  <a:srgbClr val="16202C"/>
                </a:solidFill>
                <a:latin typeface="Segoe UI"/>
                <a:ea typeface="맑은 고딕"/>
                <a:cs typeface="맑은 고딕"/>
              </a:rPr>
              <a:t>▪  Fig. 6 의 accumulation unit 출력이 Row Major Output 과 Column Major Output 두 블록으로 갈라진다</a:t>
            </a:r>
          </a:p>
          <a:p>
            <a:pPr algn="l">
              <a:lnSpc>
                <a:spcPct val="118000"/>
              </a:lnSpc>
              <a:spcBef>
                <a:spcPts val="600"/>
              </a:spcBef>
              <a:spcAft>
                <a:spcPts val="200"/>
              </a:spcAft>
            </a:pPr>
            <a:r>
              <a:rPr sz="1300" b="0" i="0">
                <a:solidFill>
                  <a:srgbClr val="16202C"/>
                </a:solidFill>
                <a:latin typeface="Segoe UI"/>
                <a:ea typeface="맑은 고딕"/>
                <a:cs typeface="맑은 고딕"/>
              </a:rPr>
              <a:t>▪  두 블록의 출력은 다시 하나로 합쳐져 32B 폭의 단일 CE 출력 포트로 나간다</a:t>
            </a:r>
          </a:p>
          <a:p>
            <a:pPr algn="l">
              <a:lnSpc>
                <a:spcPct val="118000"/>
              </a:lnSpc>
              <a:spcBef>
                <a:spcPts val="600"/>
              </a:spcBef>
              <a:spcAft>
                <a:spcPts val="200"/>
              </a:spcAft>
            </a:pPr>
            <a:r>
              <a:rPr sz="1300" b="0" i="0">
                <a:solidFill>
                  <a:srgbClr val="16202C"/>
                </a:solidFill>
                <a:latin typeface="Segoe UI"/>
                <a:ea typeface="맑은 고딕"/>
                <a:cs typeface="맑은 고딕"/>
              </a:rPr>
              <a:t>▪  어느 쪽을 쓸지는 operation sequencer 의 제어 신호(파란 선) 가 결정한다</a:t>
            </a:r>
          </a:p>
          <a:p>
            <a:pPr algn="l">
              <a:lnSpc>
                <a:spcPct val="118000"/>
              </a:lnSpc>
              <a:spcBef>
                <a:spcPts val="600"/>
              </a:spcBef>
              <a:spcAft>
                <a:spcPts val="200"/>
              </a:spcAft>
            </a:pPr>
            <a:r>
              <a:rPr sz="1300" b="0" i="0">
                <a:solidFill>
                  <a:srgbClr val="16202C"/>
                </a:solidFill>
                <a:latin typeface="Segoe UI"/>
                <a:ea typeface="맑은 고딕"/>
                <a:cs typeface="맑은 고딕"/>
              </a:rPr>
              <a:t>▪  그림 오른쪽의 3×3 행렬 도식이 두 스캔 순서를 보여준다</a:t>
            </a:r>
          </a:p>
          <a:p>
            <a:pPr algn="l">
              <a:lnSpc>
                <a:spcPct val="118000"/>
              </a:lnSpc>
              <a:spcBef>
                <a:spcPts val="200"/>
              </a:spcBef>
              <a:spcAft>
                <a:spcPts val="100"/>
              </a:spcAft>
            </a:pPr>
            <a:r>
              <a:rPr sz="1180" b="0" i="0">
                <a:solidFill>
                  <a:srgbClr val="2C3A4B"/>
                </a:solidFill>
                <a:latin typeface="Segoe UI"/>
                <a:ea typeface="맑은 고딕"/>
                <a:cs typeface="맑은 고딕"/>
              </a:rPr>
              <a:t>–  Row-major order (빨강): a11→a12→a13→a21→a22→a23→a31→...</a:t>
            </a:r>
          </a:p>
          <a:p>
            <a:pPr algn="l">
              <a:lnSpc>
                <a:spcPct val="118000"/>
              </a:lnSpc>
              <a:spcBef>
                <a:spcPts val="200"/>
              </a:spcBef>
              <a:spcAft>
                <a:spcPts val="100"/>
              </a:spcAft>
            </a:pPr>
            <a:r>
              <a:rPr sz="1180" b="0" i="0">
                <a:solidFill>
                  <a:srgbClr val="2C3A4B"/>
                </a:solidFill>
                <a:latin typeface="Segoe UI"/>
                <a:ea typeface="맑은 고딕"/>
                <a:cs typeface="맑은 고딕"/>
              </a:rPr>
              <a:t>–  Column-major order (청록): a11→a21→a31→a12→a22→a32→a13→...</a:t>
            </a:r>
          </a:p>
          <a:p>
            <a:pPr algn="l">
              <a:lnSpc>
                <a:spcPct val="118000"/>
              </a:lnSpc>
              <a:spcBef>
                <a:spcPts val="600"/>
              </a:spcBef>
              <a:spcAft>
                <a:spcPts val="200"/>
              </a:spcAft>
            </a:pPr>
            <a:r>
              <a:rPr sz="1300" b="1" i="0">
                <a:solidFill>
                  <a:srgbClr val="083F80"/>
                </a:solidFill>
                <a:latin typeface="Segoe UI"/>
                <a:ea typeface="맑은 고딕"/>
                <a:cs typeface="맑은 고딕"/>
              </a:rPr>
              <a:t>▪  논문 본문 IV-C 는 이 두 출력 경로를 서술하지 않는다. Fig. 6 의 라벨과 도식만 있다</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두 경로의 데이터 폭</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Row Major Output: 32 x 8 x 4B</a:t>
            </a:r>
          </a:p>
          <a:p>
            <a:pPr algn="l">
              <a:lnSpc>
                <a:spcPct val="118000"/>
              </a:lnSpc>
              <a:spcBef>
                <a:spcPts val="200"/>
              </a:spcBef>
              <a:spcAft>
                <a:spcPts val="100"/>
              </a:spcAft>
            </a:pPr>
            <a:r>
              <a:rPr sz="1280" b="0" i="0">
                <a:solidFill>
                  <a:srgbClr val="2C3A4B"/>
                </a:solidFill>
                <a:latin typeface="Segoe UI"/>
                <a:ea typeface="맑은 고딕"/>
                <a:cs typeface="맑은 고딕"/>
              </a:rPr>
              <a:t>–  바깥 축이 32 (feed unit 쪽 원소 축), 안쪽 축이 8 (DPE 축)</a:t>
            </a:r>
          </a:p>
          <a:p>
            <a:pPr algn="l">
              <a:lnSpc>
                <a:spcPct val="118000"/>
              </a:lnSpc>
              <a:spcBef>
                <a:spcPts val="600"/>
              </a:spcBef>
              <a:spcAft>
                <a:spcPts val="200"/>
              </a:spcAft>
            </a:pPr>
            <a:r>
              <a:rPr sz="1400" b="1" i="0">
                <a:solidFill>
                  <a:srgbClr val="083F80"/>
                </a:solidFill>
                <a:latin typeface="Segoe UI"/>
                <a:ea typeface="맑은 고딕"/>
                <a:cs typeface="맑은 고딕"/>
              </a:rPr>
              <a:t>▪  Column Major Output: 8 x 32 x 4B</a:t>
            </a:r>
          </a:p>
          <a:p>
            <a:pPr algn="l">
              <a:lnSpc>
                <a:spcPct val="118000"/>
              </a:lnSpc>
              <a:spcBef>
                <a:spcPts val="200"/>
              </a:spcBef>
              <a:spcAft>
                <a:spcPts val="100"/>
              </a:spcAft>
            </a:pPr>
            <a:r>
              <a:rPr sz="1280" b="0" i="0">
                <a:solidFill>
                  <a:srgbClr val="2C3A4B"/>
                </a:solidFill>
                <a:latin typeface="Segoe UI"/>
                <a:ea typeface="맑은 고딕"/>
                <a:cs typeface="맑은 고딕"/>
              </a:rPr>
              <a:t>–  바깥 축이 8 (DPE 축), 안쪽 축이 32</a:t>
            </a:r>
          </a:p>
          <a:p>
            <a:pPr algn="l">
              <a:lnSpc>
                <a:spcPct val="118000"/>
              </a:lnSpc>
              <a:spcBef>
                <a:spcPts val="600"/>
              </a:spcBef>
              <a:spcAft>
                <a:spcPts val="200"/>
              </a:spcAft>
            </a:pPr>
            <a:r>
              <a:rPr sz="1400" b="0" i="0">
                <a:solidFill>
                  <a:srgbClr val="16202C"/>
                </a:solidFill>
                <a:latin typeface="Segoe UI"/>
                <a:ea typeface="맑은 고딕"/>
                <a:cs typeface="맑은 고딕"/>
              </a:rPr>
              <a:t>▪  4B = FP32 또는 INT32 원소 하나의 크기다</a:t>
            </a:r>
          </a:p>
          <a:p>
            <a:pPr algn="l">
              <a:lnSpc>
                <a:spcPct val="118000"/>
              </a:lnSpc>
              <a:spcBef>
                <a:spcPts val="600"/>
              </a:spcBef>
              <a:spcAft>
                <a:spcPts val="200"/>
              </a:spcAft>
            </a:pPr>
            <a:r>
              <a:rPr sz="1400" b="0" i="0">
                <a:solidFill>
                  <a:srgbClr val="16202C"/>
                </a:solidFill>
                <a:latin typeface="Segoe UI"/>
                <a:ea typeface="맑은 고딕"/>
                <a:cs typeface="맑은 고딕"/>
              </a:rPr>
              <a:t>▪  두 경로 모두 총량은 같다: 32 × 8 × 4B = 8 × 32 × 4B = 1024B [계산]</a:t>
            </a:r>
          </a:p>
          <a:p>
            <a:pPr algn="l">
              <a:lnSpc>
                <a:spcPct val="118000"/>
              </a:lnSpc>
              <a:spcBef>
                <a:spcPts val="600"/>
              </a:spcBef>
              <a:spcAft>
                <a:spcPts val="200"/>
              </a:spcAft>
            </a:pPr>
            <a:r>
              <a:rPr sz="1400" b="0" i="0">
                <a:solidFill>
                  <a:srgbClr val="16202C"/>
                </a:solidFill>
                <a:latin typeface="Segoe UI"/>
                <a:ea typeface="맑은 고딕"/>
                <a:cs typeface="맑은 고딕"/>
              </a:rPr>
              <a:t>▪  출력 포트가 32B 이므로 어느 쪽이든 다 내보내는 데 32 사이클이 걸린다 [계산]</a:t>
            </a:r>
          </a:p>
          <a:p>
            <a:pPr algn="l">
              <a:lnSpc>
                <a:spcPct val="118000"/>
              </a:lnSpc>
              <a:spcBef>
                <a:spcPts val="600"/>
              </a:spcBef>
              <a:spcAft>
                <a:spcPts val="200"/>
              </a:spcAft>
            </a:pPr>
            <a:r>
              <a:rPr sz="1400" b="1" i="0">
                <a:solidFill>
                  <a:srgbClr val="083F80"/>
                </a:solidFill>
                <a:latin typeface="Segoe UI"/>
                <a:ea typeface="맑은 고딕"/>
                <a:cs typeface="맑은 고딕"/>
              </a:rPr>
              <a:t>▪  차이는 오직 순서다. 그런데 그 순서가 뒤에 오는 layer 의 lowered shape 와 맞는지를 좌우한다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누산 결과를 어느 축 순서로 흘려보낼지 선택한다. 뒤따르는 Commit Unit 의 저장 레이아웃과 맞추기 위해서다.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CE 의 세 가지 데이터 재사용 전략 — 무엇을 붙박느냐</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weight / input / output stationary 가 각각 RF / feed unit / accumulator 에 대응한다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135</a:t>
            </a:r>
          </a:p>
        </p:txBody>
      </p:sp>
      <p:grpSp>
        <p:nvGrpSpPr>
          <p:cNvPr id="9" name="도해 A5#14"/>
          <p:cNvGrpSpPr/>
          <p:nvPr/>
        </p:nvGrpSpPr>
        <p:grpSpPr>
          <a:xfrm>
            <a:off x="1377846" y="1463040"/>
            <a:ext cx="9436003" cy="4078224"/>
            <a:chOff x="1377846" y="1463040"/>
            <a:chExt cx="9436003" cy="4078224"/>
          </a:xfrm>
        </p:grpSpPr>
        <p:sp>
          <p:nvSpPr>
            <p:cNvPr id="10" name="TextBox 9"/>
            <p:cNvSpPr txBox="1"/>
            <p:nvPr/>
          </p:nvSpPr>
          <p:spPr>
            <a:xfrm>
              <a:off x="4456551" y="1463040"/>
              <a:ext cx="3278594" cy="191404"/>
            </a:xfrm>
            <a:prstGeom prst="rect">
              <a:avLst/>
            </a:prstGeom>
            <a:noFill/>
          </p:spPr>
          <p:txBody>
            <a:bodyPr wrap="none" anchor="ctr" lIns="0" rIns="0" tIns="0" bIns="0">
              <a:noAutofit/>
            </a:bodyPr>
            <a:lstStyle/>
            <a:p>
              <a:pPr algn="ctr"/>
              <a:r>
                <a:rPr sz="1040" b="1">
                  <a:solidFill>
                    <a:srgbClr val="16202C"/>
                  </a:solidFill>
                  <a:latin typeface="맑은 고딕"/>
                  <a:ea typeface="맑은 고딕"/>
                  <a:cs typeface="맑은 고딕"/>
                </a:rPr>
                <a:t>같은 CE 데이터패스에서 '붙박이'를 어디에 두느냐만 다르다</a:t>
              </a:r>
            </a:p>
          </p:txBody>
        </p:sp>
        <p:sp>
          <p:nvSpPr>
            <p:cNvPr id="11" name="Rounded Rectangle 10"/>
            <p:cNvSpPr/>
            <p:nvPr/>
          </p:nvSpPr>
          <p:spPr>
            <a:xfrm>
              <a:off x="1377846" y="1779065"/>
              <a:ext cx="3050432" cy="3233458"/>
            </a:xfrm>
            <a:prstGeom prst="roundRect">
              <a:avLst>
                <a:gd name="adj" fmla="val 3333"/>
              </a:avLst>
            </a:prstGeom>
            <a:solidFill>
              <a:srgbClr val="F7FAFD"/>
            </a:solidFill>
            <a:ln w="162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5781" y="1918978"/>
              <a:ext cx="1294563" cy="206128"/>
            </a:xfrm>
            <a:prstGeom prst="rect">
              <a:avLst/>
            </a:prstGeom>
            <a:noFill/>
          </p:spPr>
          <p:txBody>
            <a:bodyPr wrap="none" anchor="ctr" lIns="0" rIns="0" tIns="0" bIns="0">
              <a:noAutofit/>
            </a:bodyPr>
            <a:lstStyle/>
            <a:p>
              <a:pPr algn="ctr"/>
              <a:r>
                <a:rPr sz="1120" b="1">
                  <a:solidFill>
                    <a:srgbClr val="083F80"/>
                  </a:solidFill>
                  <a:latin typeface="맑은 고딕"/>
                  <a:ea typeface="맑은 고딕"/>
                  <a:cs typeface="맑은 고딕"/>
                </a:rPr>
                <a:t>Weight stationary</a:t>
              </a:r>
            </a:p>
          </p:txBody>
        </p:sp>
        <p:sp>
          <p:nvSpPr>
            <p:cNvPr id="13" name="TextBox 12"/>
            <p:cNvSpPr txBox="1"/>
            <p:nvPr/>
          </p:nvSpPr>
          <p:spPr>
            <a:xfrm>
              <a:off x="2170953" y="2157725"/>
              <a:ext cx="1464217" cy="161958"/>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가중치 붙박이 — Register File</a:t>
              </a:r>
            </a:p>
          </p:txBody>
        </p:sp>
        <p:sp>
          <p:nvSpPr>
            <p:cNvPr id="14" name="Rounded Rectangle 13"/>
            <p:cNvSpPr/>
            <p:nvPr/>
          </p:nvSpPr>
          <p:spPr>
            <a:xfrm>
              <a:off x="1601545" y="2429824"/>
              <a:ext cx="1220173"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7926" y="2503441"/>
              <a:ext cx="567411" cy="161958"/>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Feed Unit</a:t>
              </a:r>
            </a:p>
          </p:txBody>
        </p:sp>
        <p:sp>
          <p:nvSpPr>
            <p:cNvPr id="16" name="TextBox 15"/>
            <p:cNvSpPr txBox="1"/>
            <p:nvPr/>
          </p:nvSpPr>
          <p:spPr>
            <a:xfrm>
              <a:off x="2005686" y="2683823"/>
              <a:ext cx="411890"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입력 벡터</a:t>
              </a:r>
            </a:p>
          </p:txBody>
        </p:sp>
        <p:sp>
          <p:nvSpPr>
            <p:cNvPr id="17" name="Rounded Rectangle 16"/>
            <p:cNvSpPr/>
            <p:nvPr/>
          </p:nvSpPr>
          <p:spPr>
            <a:xfrm>
              <a:off x="2984407" y="2429824"/>
              <a:ext cx="1220173" cy="488069"/>
            </a:xfrm>
            <a:prstGeom prst="roundRect">
              <a:avLst>
                <a:gd name="adj" fmla="val 14583"/>
              </a:avLst>
            </a:prstGeom>
            <a:solidFill>
              <a:srgbClr val="FDEBD3"/>
            </a:solidFill>
            <a:ln w="2643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36408" y="2503441"/>
              <a:ext cx="716170" cy="161958"/>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Register File</a:t>
              </a:r>
            </a:p>
          </p:txBody>
        </p:sp>
        <p:sp>
          <p:nvSpPr>
            <p:cNvPr id="19" name="TextBox 18"/>
            <p:cNvSpPr txBox="1"/>
            <p:nvPr/>
          </p:nvSpPr>
          <p:spPr>
            <a:xfrm>
              <a:off x="3443802" y="2683823"/>
              <a:ext cx="301383"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가중치</a:t>
              </a:r>
            </a:p>
          </p:txBody>
        </p:sp>
        <p:sp>
          <p:nvSpPr>
            <p:cNvPr id="20" name="Rounded Rectangle 19"/>
            <p:cNvSpPr/>
            <p:nvPr/>
          </p:nvSpPr>
          <p:spPr>
            <a:xfrm>
              <a:off x="3858864" y="2307806"/>
              <a:ext cx="345716" cy="203362"/>
            </a:xfrm>
            <a:prstGeom prst="roundRect">
              <a:avLst>
                <a:gd name="adj" fmla="val 2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9873" y="2332210"/>
              <a:ext cx="223698" cy="147234"/>
            </a:xfrm>
            <a:prstGeom prst="rect">
              <a:avLst/>
            </a:prstGeom>
            <a:noFill/>
          </p:spPr>
          <p:txBody>
            <a:bodyPr wrap="none" anchor="ctr" lIns="0" rIns="0" tIns="0" bIns="0">
              <a:noAutofit/>
            </a:bodyPr>
            <a:lstStyle/>
            <a:p>
              <a:pPr algn="ctr"/>
              <a:r>
                <a:rPr sz="800" b="0">
                  <a:solidFill>
                    <a:srgbClr val="FFFFFF"/>
                  </a:solidFill>
                  <a:latin typeface="맑은 고딕"/>
                  <a:ea typeface="맑은 고딕"/>
                  <a:cs typeface="맑은 고딕"/>
                </a:rPr>
                <a:t>고정</a:t>
              </a:r>
            </a:p>
          </p:txBody>
        </p:sp>
        <p:sp>
          <p:nvSpPr>
            <p:cNvPr id="22" name="Rounded Rectangle 21"/>
            <p:cNvSpPr/>
            <p:nvPr/>
          </p:nvSpPr>
          <p:spPr>
            <a:xfrm>
              <a:off x="1601545" y="3222936"/>
              <a:ext cx="2603035" cy="488069"/>
            </a:xfrm>
            <a:prstGeom prst="roundRect">
              <a:avLst>
                <a:gd name="adj" fmla="val 14583"/>
              </a:avLst>
            </a:prstGeom>
            <a:solidFill>
              <a:srgbClr val="E3EEFB"/>
            </a:solidFill>
            <a:ln w="1830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23439" y="3278860"/>
              <a:ext cx="559246" cy="184043"/>
            </a:xfrm>
            <a:prstGeom prst="rect">
              <a:avLst/>
            </a:prstGeom>
            <a:noFill/>
          </p:spPr>
          <p:txBody>
            <a:bodyPr wrap="none" anchor="ctr" lIns="0" rIns="0" tIns="0" bIns="0">
              <a:noAutofit/>
            </a:bodyPr>
            <a:lstStyle/>
            <a:p>
              <a:pPr algn="ctr"/>
              <a:r>
                <a:rPr sz="1000" b="1">
                  <a:solidFill>
                    <a:srgbClr val="083F80"/>
                  </a:solidFill>
                  <a:latin typeface="맑은 고딕"/>
                  <a:ea typeface="맑은 고딕"/>
                  <a:cs typeface="맑은 고딕"/>
                </a:rPr>
                <a:t>DPE × 8</a:t>
              </a:r>
            </a:p>
          </p:txBody>
        </p:sp>
        <p:sp>
          <p:nvSpPr>
            <p:cNvPr id="24" name="TextBox 23"/>
            <p:cNvSpPr txBox="1"/>
            <p:nvPr/>
          </p:nvSpPr>
          <p:spPr>
            <a:xfrm>
              <a:off x="2159555" y="3487103"/>
              <a:ext cx="1487014"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element-wise 곱 + reduction tree</a:t>
              </a:r>
            </a:p>
          </p:txBody>
        </p:sp>
        <p:sp>
          <p:nvSpPr>
            <p:cNvPr id="25" name="Rounded Rectangle 24"/>
            <p:cNvSpPr/>
            <p:nvPr/>
          </p:nvSpPr>
          <p:spPr>
            <a:xfrm>
              <a:off x="1601545" y="4016048"/>
              <a:ext cx="2603035"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24517" y="4077870"/>
              <a:ext cx="1157090" cy="176681"/>
            </a:xfrm>
            <a:prstGeom prst="rect">
              <a:avLst/>
            </a:prstGeom>
            <a:noFill/>
          </p:spPr>
          <p:txBody>
            <a:bodyPr wrap="none" anchor="ctr" lIns="0" rIns="0" tIns="0" bIns="0">
              <a:noAutofit/>
            </a:bodyPr>
            <a:lstStyle/>
            <a:p>
              <a:pPr algn="ctr"/>
              <a:r>
                <a:rPr sz="960" b="1">
                  <a:solidFill>
                    <a:srgbClr val="5B6B7B"/>
                  </a:solidFill>
                  <a:latin typeface="맑은 고딕"/>
                  <a:ea typeface="맑은 고딕"/>
                  <a:cs typeface="맑은 고딕"/>
                </a:rPr>
                <a:t>Accumulation Unit</a:t>
              </a:r>
            </a:p>
          </p:txBody>
        </p:sp>
        <p:sp>
          <p:nvSpPr>
            <p:cNvPr id="27" name="TextBox 26"/>
            <p:cNvSpPr txBox="1"/>
            <p:nvPr/>
          </p:nvSpPr>
          <p:spPr>
            <a:xfrm>
              <a:off x="2357869" y="4280215"/>
              <a:ext cx="1090387"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부분합 누산기 (총 1024개)</a:t>
              </a:r>
            </a:p>
          </p:txBody>
        </p:sp>
        <p:cxnSp>
          <p:nvCxnSpPr>
            <p:cNvPr id="28" name="Connector 27"/>
            <p:cNvCxnSpPr/>
            <p:nvPr/>
          </p:nvCxnSpPr>
          <p:spPr>
            <a:xfrm>
              <a:off x="2211631"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94493"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03062" y="3711005"/>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2160790" y="3141591"/>
              <a:ext cx="101681" cy="81345"/>
            </a:xfrm>
            <a:custGeom>
              <a:avLst/>
              <a:gdLst/>
              <a:ahLst/>
              <a:cxnLst/>
              <a:rect l="l" t="t" r="r" b="b"/>
              <a:pathLst>
                <a:path w="101681" h="81345">
                  <a:moveTo>
                    <a:pt x="0" y="0"/>
                  </a:moveTo>
                  <a:lnTo>
                    <a:pt x="101681" y="0"/>
                  </a:lnTo>
                  <a:lnTo>
                    <a:pt x="50841"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3543653" y="3141591"/>
              <a:ext cx="101681" cy="81345"/>
            </a:xfrm>
            <a:custGeom>
              <a:avLst/>
              <a:gdLst/>
              <a:ahLst/>
              <a:cxnLst/>
              <a:rect l="l" t="t" r="r" b="b"/>
              <a:pathLst>
                <a:path w="101681" h="81345">
                  <a:moveTo>
                    <a:pt x="0" y="0"/>
                  </a:moveTo>
                  <a:lnTo>
                    <a:pt x="101681" y="0"/>
                  </a:lnTo>
                  <a:lnTo>
                    <a:pt x="50840"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852222" y="3934703"/>
              <a:ext cx="101681" cy="81345"/>
            </a:xfrm>
            <a:custGeom>
              <a:avLst/>
              <a:gdLst/>
              <a:ahLst/>
              <a:cxnLst/>
              <a:rect l="l" t="t" r="r" b="b"/>
              <a:pathLst>
                <a:path w="101681" h="81345">
                  <a:moveTo>
                    <a:pt x="0" y="0"/>
                  </a:moveTo>
                  <a:lnTo>
                    <a:pt x="101681" y="0"/>
                  </a:lnTo>
                  <a:lnTo>
                    <a:pt x="50840"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81529" y="4583632"/>
              <a:ext cx="1243066" cy="154596"/>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가중치를 RF 에 붙박아 둔다</a:t>
              </a:r>
            </a:p>
          </p:txBody>
        </p:sp>
        <p:sp>
          <p:nvSpPr>
            <p:cNvPr id="35" name="TextBox 34"/>
            <p:cNvSpPr txBox="1"/>
            <p:nvPr/>
          </p:nvSpPr>
          <p:spPr>
            <a:xfrm>
              <a:off x="2307740" y="4756490"/>
              <a:ext cx="1190645" cy="15459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입력이 계속 흘러 들어온다</a:t>
              </a:r>
            </a:p>
          </p:txBody>
        </p:sp>
        <p:sp>
          <p:nvSpPr>
            <p:cNvPr id="36" name="Rounded Rectangle 35"/>
            <p:cNvSpPr/>
            <p:nvPr/>
          </p:nvSpPr>
          <p:spPr>
            <a:xfrm>
              <a:off x="4570632" y="1779065"/>
              <a:ext cx="3050432" cy="3233458"/>
            </a:xfrm>
            <a:prstGeom prst="roundRect">
              <a:avLst>
                <a:gd name="adj" fmla="val 3333"/>
              </a:avLst>
            </a:prstGeom>
            <a:solidFill>
              <a:srgbClr val="F7FAFD"/>
            </a:solidFill>
            <a:ln w="162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04440" y="1918978"/>
              <a:ext cx="1182815" cy="206128"/>
            </a:xfrm>
            <a:prstGeom prst="rect">
              <a:avLst/>
            </a:prstGeom>
            <a:noFill/>
          </p:spPr>
          <p:txBody>
            <a:bodyPr wrap="none" anchor="ctr" lIns="0" rIns="0" tIns="0" bIns="0">
              <a:noAutofit/>
            </a:bodyPr>
            <a:lstStyle/>
            <a:p>
              <a:pPr algn="ctr"/>
              <a:r>
                <a:rPr sz="1120" b="1">
                  <a:solidFill>
                    <a:srgbClr val="083F80"/>
                  </a:solidFill>
                  <a:latin typeface="맑은 고딕"/>
                  <a:ea typeface="맑은 고딕"/>
                  <a:cs typeface="맑은 고딕"/>
                </a:rPr>
                <a:t>Input stationary</a:t>
              </a:r>
            </a:p>
          </p:txBody>
        </p:sp>
        <p:sp>
          <p:nvSpPr>
            <p:cNvPr id="38" name="TextBox 37"/>
            <p:cNvSpPr txBox="1"/>
            <p:nvPr/>
          </p:nvSpPr>
          <p:spPr>
            <a:xfrm>
              <a:off x="5480789" y="2157725"/>
              <a:ext cx="1230117" cy="161958"/>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입력 붙박이 — Feed Unit</a:t>
              </a:r>
            </a:p>
          </p:txBody>
        </p:sp>
        <p:sp>
          <p:nvSpPr>
            <p:cNvPr id="39" name="Rounded Rectangle 38"/>
            <p:cNvSpPr/>
            <p:nvPr/>
          </p:nvSpPr>
          <p:spPr>
            <a:xfrm>
              <a:off x="4794330" y="2429824"/>
              <a:ext cx="1220173" cy="488069"/>
            </a:xfrm>
            <a:prstGeom prst="roundRect">
              <a:avLst>
                <a:gd name="adj" fmla="val 14583"/>
              </a:avLst>
            </a:prstGeom>
            <a:solidFill>
              <a:srgbClr val="FDEBD3"/>
            </a:solidFill>
            <a:ln w="2643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20711" y="2503441"/>
              <a:ext cx="567411" cy="161958"/>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Feed Unit</a:t>
              </a:r>
            </a:p>
          </p:txBody>
        </p:sp>
        <p:sp>
          <p:nvSpPr>
            <p:cNvPr id="41" name="TextBox 40"/>
            <p:cNvSpPr txBox="1"/>
            <p:nvPr/>
          </p:nvSpPr>
          <p:spPr>
            <a:xfrm>
              <a:off x="5198471" y="2683823"/>
              <a:ext cx="411890"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입력 벡터</a:t>
              </a:r>
            </a:p>
          </p:txBody>
        </p:sp>
        <p:sp>
          <p:nvSpPr>
            <p:cNvPr id="42" name="Rounded Rectangle 41"/>
            <p:cNvSpPr/>
            <p:nvPr/>
          </p:nvSpPr>
          <p:spPr>
            <a:xfrm>
              <a:off x="4794330" y="2307806"/>
              <a:ext cx="345716" cy="203362"/>
            </a:xfrm>
            <a:prstGeom prst="roundRect">
              <a:avLst>
                <a:gd name="adj" fmla="val 2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55339" y="2332210"/>
              <a:ext cx="223698" cy="147234"/>
            </a:xfrm>
            <a:prstGeom prst="rect">
              <a:avLst/>
            </a:prstGeom>
            <a:noFill/>
          </p:spPr>
          <p:txBody>
            <a:bodyPr wrap="none" anchor="ctr" lIns="0" rIns="0" tIns="0" bIns="0">
              <a:noAutofit/>
            </a:bodyPr>
            <a:lstStyle/>
            <a:p>
              <a:pPr algn="ctr"/>
              <a:r>
                <a:rPr sz="800" b="0">
                  <a:solidFill>
                    <a:srgbClr val="FFFFFF"/>
                  </a:solidFill>
                  <a:latin typeface="맑은 고딕"/>
                  <a:ea typeface="맑은 고딕"/>
                  <a:cs typeface="맑은 고딕"/>
                </a:rPr>
                <a:t>고정</a:t>
              </a:r>
            </a:p>
          </p:txBody>
        </p:sp>
        <p:sp>
          <p:nvSpPr>
            <p:cNvPr id="44" name="Rounded Rectangle 43"/>
            <p:cNvSpPr/>
            <p:nvPr/>
          </p:nvSpPr>
          <p:spPr>
            <a:xfrm>
              <a:off x="6177192" y="2429824"/>
              <a:ext cx="1220173"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9194" y="2503441"/>
              <a:ext cx="716170" cy="161958"/>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Register File</a:t>
              </a:r>
            </a:p>
          </p:txBody>
        </p:sp>
        <p:sp>
          <p:nvSpPr>
            <p:cNvPr id="46" name="TextBox 45"/>
            <p:cNvSpPr txBox="1"/>
            <p:nvPr/>
          </p:nvSpPr>
          <p:spPr>
            <a:xfrm>
              <a:off x="6636587" y="2683823"/>
              <a:ext cx="301383"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가중치</a:t>
              </a:r>
            </a:p>
          </p:txBody>
        </p:sp>
        <p:sp>
          <p:nvSpPr>
            <p:cNvPr id="47" name="Rounded Rectangle 46"/>
            <p:cNvSpPr/>
            <p:nvPr/>
          </p:nvSpPr>
          <p:spPr>
            <a:xfrm>
              <a:off x="4794330" y="3222936"/>
              <a:ext cx="2603035" cy="488069"/>
            </a:xfrm>
            <a:prstGeom prst="roundRect">
              <a:avLst>
                <a:gd name="adj" fmla="val 14583"/>
              </a:avLst>
            </a:prstGeom>
            <a:solidFill>
              <a:srgbClr val="E3EEFB"/>
            </a:solidFill>
            <a:ln w="1830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16225" y="3278860"/>
              <a:ext cx="559246" cy="184043"/>
            </a:xfrm>
            <a:prstGeom prst="rect">
              <a:avLst/>
            </a:prstGeom>
            <a:noFill/>
          </p:spPr>
          <p:txBody>
            <a:bodyPr wrap="none" anchor="ctr" lIns="0" rIns="0" tIns="0" bIns="0">
              <a:noAutofit/>
            </a:bodyPr>
            <a:lstStyle/>
            <a:p>
              <a:pPr algn="ctr"/>
              <a:r>
                <a:rPr sz="1000" b="1">
                  <a:solidFill>
                    <a:srgbClr val="083F80"/>
                  </a:solidFill>
                  <a:latin typeface="맑은 고딕"/>
                  <a:ea typeface="맑은 고딕"/>
                  <a:cs typeface="맑은 고딕"/>
                </a:rPr>
                <a:t>DPE × 8</a:t>
              </a:r>
            </a:p>
          </p:txBody>
        </p:sp>
        <p:sp>
          <p:nvSpPr>
            <p:cNvPr id="49" name="TextBox 48"/>
            <p:cNvSpPr txBox="1"/>
            <p:nvPr/>
          </p:nvSpPr>
          <p:spPr>
            <a:xfrm>
              <a:off x="5352340" y="3487103"/>
              <a:ext cx="1487014"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element-wise 곱 + reduction tree</a:t>
              </a:r>
            </a:p>
          </p:txBody>
        </p:sp>
        <p:sp>
          <p:nvSpPr>
            <p:cNvPr id="50" name="Rounded Rectangle 49"/>
            <p:cNvSpPr/>
            <p:nvPr/>
          </p:nvSpPr>
          <p:spPr>
            <a:xfrm>
              <a:off x="4794330" y="4016048"/>
              <a:ext cx="2603035"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17303" y="4077870"/>
              <a:ext cx="1157090" cy="176681"/>
            </a:xfrm>
            <a:prstGeom prst="rect">
              <a:avLst/>
            </a:prstGeom>
            <a:noFill/>
          </p:spPr>
          <p:txBody>
            <a:bodyPr wrap="none" anchor="ctr" lIns="0" rIns="0" tIns="0" bIns="0">
              <a:noAutofit/>
            </a:bodyPr>
            <a:lstStyle/>
            <a:p>
              <a:pPr algn="ctr"/>
              <a:r>
                <a:rPr sz="960" b="1">
                  <a:solidFill>
                    <a:srgbClr val="5B6B7B"/>
                  </a:solidFill>
                  <a:latin typeface="맑은 고딕"/>
                  <a:ea typeface="맑은 고딕"/>
                  <a:cs typeface="맑은 고딕"/>
                </a:rPr>
                <a:t>Accumulation Unit</a:t>
              </a:r>
            </a:p>
          </p:txBody>
        </p:sp>
        <p:sp>
          <p:nvSpPr>
            <p:cNvPr id="52" name="TextBox 51"/>
            <p:cNvSpPr txBox="1"/>
            <p:nvPr/>
          </p:nvSpPr>
          <p:spPr>
            <a:xfrm>
              <a:off x="5550654" y="4280215"/>
              <a:ext cx="1090387"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부분합 누산기 (총 1024개)</a:t>
              </a:r>
            </a:p>
          </p:txBody>
        </p:sp>
        <p:cxnSp>
          <p:nvCxnSpPr>
            <p:cNvPr id="53" name="Connector 52"/>
            <p:cNvCxnSpPr/>
            <p:nvPr/>
          </p:nvCxnSpPr>
          <p:spPr>
            <a:xfrm>
              <a:off x="5404416"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87279"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095848" y="3711005"/>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sp>
          <p:nvSpPr>
            <p:cNvPr id="56" name="Freeform 55"/>
            <p:cNvSpPr/>
            <p:nvPr/>
          </p:nvSpPr>
          <p:spPr>
            <a:xfrm>
              <a:off x="5353576" y="3141591"/>
              <a:ext cx="101681" cy="81345"/>
            </a:xfrm>
            <a:custGeom>
              <a:avLst/>
              <a:gdLst/>
              <a:ahLst/>
              <a:cxnLst/>
              <a:rect l="l" t="t" r="r" b="b"/>
              <a:pathLst>
                <a:path w="101681" h="81345">
                  <a:moveTo>
                    <a:pt x="0" y="0"/>
                  </a:moveTo>
                  <a:lnTo>
                    <a:pt x="101681" y="0"/>
                  </a:lnTo>
                  <a:lnTo>
                    <a:pt x="50840"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6736438" y="3141591"/>
              <a:ext cx="101681" cy="81345"/>
            </a:xfrm>
            <a:custGeom>
              <a:avLst/>
              <a:gdLst/>
              <a:ahLst/>
              <a:cxnLst/>
              <a:rect l="l" t="t" r="r" b="b"/>
              <a:pathLst>
                <a:path w="101681" h="81345">
                  <a:moveTo>
                    <a:pt x="0" y="0"/>
                  </a:moveTo>
                  <a:lnTo>
                    <a:pt x="101681" y="0"/>
                  </a:lnTo>
                  <a:lnTo>
                    <a:pt x="50841"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6045007" y="3934703"/>
              <a:ext cx="101681" cy="81345"/>
            </a:xfrm>
            <a:custGeom>
              <a:avLst/>
              <a:gdLst/>
              <a:ahLst/>
              <a:cxnLst/>
              <a:rect l="l" t="t" r="r" b="b"/>
              <a:pathLst>
                <a:path w="101681" h="81345">
                  <a:moveTo>
                    <a:pt x="0" y="0"/>
                  </a:moveTo>
                  <a:lnTo>
                    <a:pt x="101681" y="0"/>
                  </a:lnTo>
                  <a:lnTo>
                    <a:pt x="50841"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02301" y="4583632"/>
              <a:ext cx="1387092" cy="154596"/>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입력을 붙박고 가중치를 바꾼다</a:t>
              </a:r>
            </a:p>
          </p:txBody>
        </p:sp>
        <p:sp>
          <p:nvSpPr>
            <p:cNvPr id="60" name="TextBox 59"/>
            <p:cNvSpPr txBox="1"/>
            <p:nvPr/>
          </p:nvSpPr>
          <p:spPr>
            <a:xfrm>
              <a:off x="5415167" y="4756490"/>
              <a:ext cx="1361362" cy="15459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실체는 feed unit 의 반복 공급</a:t>
              </a:r>
            </a:p>
          </p:txBody>
        </p:sp>
        <p:sp>
          <p:nvSpPr>
            <p:cNvPr id="61" name="Rounded Rectangle 60"/>
            <p:cNvSpPr/>
            <p:nvPr/>
          </p:nvSpPr>
          <p:spPr>
            <a:xfrm>
              <a:off x="7763417" y="1779065"/>
              <a:ext cx="3050432" cy="3233458"/>
            </a:xfrm>
            <a:prstGeom prst="roundRect">
              <a:avLst>
                <a:gd name="adj" fmla="val 3333"/>
              </a:avLst>
            </a:prstGeom>
            <a:solidFill>
              <a:srgbClr val="F7FAFD"/>
            </a:solidFill>
            <a:ln w="162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636227" y="1918978"/>
              <a:ext cx="1304812" cy="206128"/>
            </a:xfrm>
            <a:prstGeom prst="rect">
              <a:avLst/>
            </a:prstGeom>
            <a:noFill/>
          </p:spPr>
          <p:txBody>
            <a:bodyPr wrap="none" anchor="ctr" lIns="0" rIns="0" tIns="0" bIns="0">
              <a:noAutofit/>
            </a:bodyPr>
            <a:lstStyle/>
            <a:p>
              <a:pPr algn="ctr"/>
              <a:r>
                <a:rPr sz="1120" b="1">
                  <a:solidFill>
                    <a:srgbClr val="083F80"/>
                  </a:solidFill>
                  <a:latin typeface="맑은 고딕"/>
                  <a:ea typeface="맑은 고딕"/>
                  <a:cs typeface="맑은 고딕"/>
                </a:rPr>
                <a:t>Output stationary</a:t>
              </a:r>
            </a:p>
          </p:txBody>
        </p:sp>
        <p:sp>
          <p:nvSpPr>
            <p:cNvPr id="63" name="TextBox 62"/>
            <p:cNvSpPr txBox="1"/>
            <p:nvPr/>
          </p:nvSpPr>
          <p:spPr>
            <a:xfrm>
              <a:off x="8591924" y="2157725"/>
              <a:ext cx="1393417" cy="161958"/>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출력 붙박이 — Accumulator</a:t>
              </a:r>
            </a:p>
          </p:txBody>
        </p:sp>
        <p:sp>
          <p:nvSpPr>
            <p:cNvPr id="64" name="Rounded Rectangle 63"/>
            <p:cNvSpPr/>
            <p:nvPr/>
          </p:nvSpPr>
          <p:spPr>
            <a:xfrm>
              <a:off x="7987115" y="2429824"/>
              <a:ext cx="1220173"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13496" y="2503441"/>
              <a:ext cx="567411" cy="161958"/>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Feed Unit</a:t>
              </a:r>
            </a:p>
          </p:txBody>
        </p:sp>
        <p:sp>
          <p:nvSpPr>
            <p:cNvPr id="66" name="TextBox 65"/>
            <p:cNvSpPr txBox="1"/>
            <p:nvPr/>
          </p:nvSpPr>
          <p:spPr>
            <a:xfrm>
              <a:off x="8391257" y="2683823"/>
              <a:ext cx="411890"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입력 벡터</a:t>
              </a:r>
            </a:p>
          </p:txBody>
        </p:sp>
        <p:sp>
          <p:nvSpPr>
            <p:cNvPr id="67" name="Rounded Rectangle 66"/>
            <p:cNvSpPr/>
            <p:nvPr/>
          </p:nvSpPr>
          <p:spPr>
            <a:xfrm>
              <a:off x="9369978" y="2429824"/>
              <a:ext cx="1220173" cy="488069"/>
            </a:xfrm>
            <a:prstGeom prst="roundRect">
              <a:avLst>
                <a:gd name="adj" fmla="val 14583"/>
              </a:avLst>
            </a:prstGeom>
            <a:solidFill>
              <a:srgbClr val="EEF2F7"/>
            </a:solidFill>
            <a:ln w="1626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21979" y="2503441"/>
              <a:ext cx="716170" cy="161958"/>
            </a:xfrm>
            <a:prstGeom prst="rect">
              <a:avLst/>
            </a:prstGeom>
            <a:noFill/>
          </p:spPr>
          <p:txBody>
            <a:bodyPr wrap="none" anchor="ctr" lIns="0" rIns="0" tIns="0" bIns="0">
              <a:noAutofit/>
            </a:bodyPr>
            <a:lstStyle/>
            <a:p>
              <a:pPr algn="ctr"/>
              <a:r>
                <a:rPr sz="880" b="1">
                  <a:solidFill>
                    <a:srgbClr val="5B6B7B"/>
                  </a:solidFill>
                  <a:latin typeface="맑은 고딕"/>
                  <a:ea typeface="맑은 고딕"/>
                  <a:cs typeface="맑은 고딕"/>
                </a:rPr>
                <a:t>Register File</a:t>
              </a:r>
            </a:p>
          </p:txBody>
        </p:sp>
        <p:sp>
          <p:nvSpPr>
            <p:cNvPr id="69" name="TextBox 68"/>
            <p:cNvSpPr txBox="1"/>
            <p:nvPr/>
          </p:nvSpPr>
          <p:spPr>
            <a:xfrm>
              <a:off x="9829373" y="2683823"/>
              <a:ext cx="301383" cy="139872"/>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가중치</a:t>
              </a:r>
            </a:p>
          </p:txBody>
        </p:sp>
        <p:sp>
          <p:nvSpPr>
            <p:cNvPr id="70" name="Rounded Rectangle 69"/>
            <p:cNvSpPr/>
            <p:nvPr/>
          </p:nvSpPr>
          <p:spPr>
            <a:xfrm>
              <a:off x="7987115" y="3222936"/>
              <a:ext cx="2603035" cy="488069"/>
            </a:xfrm>
            <a:prstGeom prst="roundRect">
              <a:avLst>
                <a:gd name="adj" fmla="val 14583"/>
              </a:avLst>
            </a:prstGeom>
            <a:solidFill>
              <a:srgbClr val="E3EEFB"/>
            </a:solidFill>
            <a:ln w="1830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09010" y="3278860"/>
              <a:ext cx="559246" cy="184043"/>
            </a:xfrm>
            <a:prstGeom prst="rect">
              <a:avLst/>
            </a:prstGeom>
            <a:noFill/>
          </p:spPr>
          <p:txBody>
            <a:bodyPr wrap="none" anchor="ctr" lIns="0" rIns="0" tIns="0" bIns="0">
              <a:noAutofit/>
            </a:bodyPr>
            <a:lstStyle/>
            <a:p>
              <a:pPr algn="ctr"/>
              <a:r>
                <a:rPr sz="1000" b="1">
                  <a:solidFill>
                    <a:srgbClr val="083F80"/>
                  </a:solidFill>
                  <a:latin typeface="맑은 고딕"/>
                  <a:ea typeface="맑은 고딕"/>
                  <a:cs typeface="맑은 고딕"/>
                </a:rPr>
                <a:t>DPE × 8</a:t>
              </a:r>
            </a:p>
          </p:txBody>
        </p:sp>
        <p:sp>
          <p:nvSpPr>
            <p:cNvPr id="72" name="TextBox 71"/>
            <p:cNvSpPr txBox="1"/>
            <p:nvPr/>
          </p:nvSpPr>
          <p:spPr>
            <a:xfrm>
              <a:off x="8545126" y="3487103"/>
              <a:ext cx="1487014"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element-wise 곱 + reduction tree</a:t>
              </a:r>
            </a:p>
          </p:txBody>
        </p:sp>
        <p:sp>
          <p:nvSpPr>
            <p:cNvPr id="73" name="Rounded Rectangle 72"/>
            <p:cNvSpPr/>
            <p:nvPr/>
          </p:nvSpPr>
          <p:spPr>
            <a:xfrm>
              <a:off x="7987115" y="4016048"/>
              <a:ext cx="2603035" cy="488069"/>
            </a:xfrm>
            <a:prstGeom prst="roundRect">
              <a:avLst>
                <a:gd name="adj" fmla="val 14583"/>
              </a:avLst>
            </a:prstGeom>
            <a:solidFill>
              <a:srgbClr val="FDEBD3"/>
            </a:solidFill>
            <a:ln w="2643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710088" y="4077870"/>
              <a:ext cx="1157090" cy="176681"/>
            </a:xfrm>
            <a:prstGeom prst="rect">
              <a:avLst/>
            </a:prstGeom>
            <a:noFill/>
          </p:spPr>
          <p:txBody>
            <a:bodyPr wrap="none" anchor="ctr" lIns="0" rIns="0" tIns="0" bIns="0">
              <a:noAutofit/>
            </a:bodyPr>
            <a:lstStyle/>
            <a:p>
              <a:pPr algn="ctr"/>
              <a:r>
                <a:rPr sz="960" b="1">
                  <a:solidFill>
                    <a:srgbClr val="B45409"/>
                  </a:solidFill>
                  <a:latin typeface="맑은 고딕"/>
                  <a:ea typeface="맑은 고딕"/>
                  <a:cs typeface="맑은 고딕"/>
                </a:rPr>
                <a:t>Accumulation Unit</a:t>
              </a:r>
            </a:p>
          </p:txBody>
        </p:sp>
        <p:sp>
          <p:nvSpPr>
            <p:cNvPr id="75" name="TextBox 74"/>
            <p:cNvSpPr txBox="1"/>
            <p:nvPr/>
          </p:nvSpPr>
          <p:spPr>
            <a:xfrm>
              <a:off x="8743439" y="4280215"/>
              <a:ext cx="1090387" cy="139872"/>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부분합 누산기 (총 1024개)</a:t>
              </a:r>
            </a:p>
          </p:txBody>
        </p:sp>
        <p:sp>
          <p:nvSpPr>
            <p:cNvPr id="76" name="Rounded Rectangle 75"/>
            <p:cNvSpPr/>
            <p:nvPr/>
          </p:nvSpPr>
          <p:spPr>
            <a:xfrm>
              <a:off x="7987115" y="3894031"/>
              <a:ext cx="345716" cy="203362"/>
            </a:xfrm>
            <a:prstGeom prst="roundRect">
              <a:avLst>
                <a:gd name="adj" fmla="val 2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48124" y="3918434"/>
              <a:ext cx="223698" cy="147234"/>
            </a:xfrm>
            <a:prstGeom prst="rect">
              <a:avLst/>
            </a:prstGeom>
            <a:noFill/>
          </p:spPr>
          <p:txBody>
            <a:bodyPr wrap="none" anchor="ctr" lIns="0" rIns="0" tIns="0" bIns="0">
              <a:noAutofit/>
            </a:bodyPr>
            <a:lstStyle/>
            <a:p>
              <a:pPr algn="ctr"/>
              <a:r>
                <a:rPr sz="800" b="0">
                  <a:solidFill>
                    <a:srgbClr val="FFFFFF"/>
                  </a:solidFill>
                  <a:latin typeface="맑은 고딕"/>
                  <a:ea typeface="맑은 고딕"/>
                  <a:cs typeface="맑은 고딕"/>
                </a:rPr>
                <a:t>고정</a:t>
              </a:r>
            </a:p>
          </p:txBody>
        </p:sp>
        <p:cxnSp>
          <p:nvCxnSpPr>
            <p:cNvPr id="78" name="Connector 77"/>
            <p:cNvCxnSpPr/>
            <p:nvPr/>
          </p:nvCxnSpPr>
          <p:spPr>
            <a:xfrm>
              <a:off x="8597202"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980064" y="2917893"/>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288633" y="3711005"/>
              <a:ext cx="0" cy="223698"/>
            </a:xfrm>
            <a:prstGeom prst="line">
              <a:avLst/>
            </a:prstGeom>
            <a:ln w="16268">
              <a:solidFill>
                <a:srgbClr val="16202C"/>
              </a:solidFill>
            </a:ln>
          </p:spPr>
          <p:style>
            <a:lnRef idx="2">
              <a:schemeClr val="accent1"/>
            </a:lnRef>
            <a:fillRef idx="0">
              <a:schemeClr val="accent1"/>
            </a:fillRef>
            <a:effectRef idx="1">
              <a:schemeClr val="accent1"/>
            </a:effectRef>
            <a:fontRef idx="minor">
              <a:schemeClr val="tx1"/>
            </a:fontRef>
          </p:style>
        </p:cxnSp>
        <p:sp>
          <p:nvSpPr>
            <p:cNvPr id="81" name="Freeform 80"/>
            <p:cNvSpPr/>
            <p:nvPr/>
          </p:nvSpPr>
          <p:spPr>
            <a:xfrm>
              <a:off x="8546361" y="3141591"/>
              <a:ext cx="101681" cy="81345"/>
            </a:xfrm>
            <a:custGeom>
              <a:avLst/>
              <a:gdLst/>
              <a:ahLst/>
              <a:cxnLst/>
              <a:rect l="l" t="t" r="r" b="b"/>
              <a:pathLst>
                <a:path w="101681" h="81345">
                  <a:moveTo>
                    <a:pt x="0" y="0"/>
                  </a:moveTo>
                  <a:lnTo>
                    <a:pt x="101681" y="0"/>
                  </a:lnTo>
                  <a:lnTo>
                    <a:pt x="50841"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9929224" y="3141591"/>
              <a:ext cx="101681" cy="81345"/>
            </a:xfrm>
            <a:custGeom>
              <a:avLst/>
              <a:gdLst/>
              <a:ahLst/>
              <a:cxnLst/>
              <a:rect l="l" t="t" r="r" b="b"/>
              <a:pathLst>
                <a:path w="101681" h="81345">
                  <a:moveTo>
                    <a:pt x="0" y="0"/>
                  </a:moveTo>
                  <a:lnTo>
                    <a:pt x="101681" y="0"/>
                  </a:lnTo>
                  <a:lnTo>
                    <a:pt x="50840"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9237792" y="3934703"/>
              <a:ext cx="101681" cy="81345"/>
            </a:xfrm>
            <a:custGeom>
              <a:avLst/>
              <a:gdLst/>
              <a:ahLst/>
              <a:cxnLst/>
              <a:rect l="l" t="t" r="r" b="b"/>
              <a:pathLst>
                <a:path w="101681" h="81345">
                  <a:moveTo>
                    <a:pt x="0" y="0"/>
                  </a:moveTo>
                  <a:lnTo>
                    <a:pt x="101681" y="0"/>
                  </a:lnTo>
                  <a:lnTo>
                    <a:pt x="50841" y="81345"/>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656156" y="4583632"/>
              <a:ext cx="1264953" cy="154596"/>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부분합을 누산기에 붙박는다</a:t>
              </a:r>
            </a:p>
          </p:txBody>
        </p:sp>
        <p:sp>
          <p:nvSpPr>
            <p:cNvPr id="85" name="TextBox 84"/>
            <p:cNvSpPr txBox="1"/>
            <p:nvPr/>
          </p:nvSpPr>
          <p:spPr>
            <a:xfrm>
              <a:off x="8577097" y="4756490"/>
              <a:ext cx="1423072" cy="15459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입력·가중치를 모두 흘려보낸다</a:t>
              </a:r>
            </a:p>
          </p:txBody>
        </p:sp>
        <p:sp>
          <p:nvSpPr>
            <p:cNvPr id="86" name="Rounded Rectangle 85"/>
            <p:cNvSpPr/>
            <p:nvPr/>
          </p:nvSpPr>
          <p:spPr>
            <a:xfrm>
              <a:off x="1377846" y="5175212"/>
              <a:ext cx="9436002" cy="366052"/>
            </a:xfrm>
            <a:prstGeom prst="roundRect">
              <a:avLst>
                <a:gd name="adj" fmla="val 22222"/>
              </a:avLst>
            </a:prstGeom>
            <a:solidFill>
              <a:srgbClr val="E3EEFB"/>
            </a:solidFill>
            <a:ln w="162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61" y="5273436"/>
              <a:ext cx="4359972" cy="169319"/>
            </a:xfrm>
            <a:prstGeom prst="rect">
              <a:avLst/>
            </a:prstGeom>
            <a:noFill/>
          </p:spPr>
          <p:txBody>
            <a:bodyPr wrap="none" anchor="ctr" lIns="0" rIns="0" tIns="0" bIns="0">
              <a:noAutofit/>
            </a:bodyPr>
            <a:lstStyle/>
            <a:p>
              <a:pPr algn="ctr"/>
              <a:r>
                <a:rPr sz="919" b="0">
                  <a:solidFill>
                    <a:srgbClr val="16202C"/>
                  </a:solidFill>
                  <a:latin typeface="맑은 고딕"/>
                  <a:ea typeface="맑은 고딕"/>
                  <a:cs typeface="맑은 고딕"/>
                </a:rPr>
                <a:t>셋은 서로 다른 저장소를 쓰므로 조합할 수 있다 — 무엇을 붙박을지 고르는 것은 컴파일러다</a:t>
              </a:r>
            </a:p>
          </p:txBody>
        </p:sp>
      </p:grpSp>
      <p:sp>
        <p:nvSpPr>
          <p:cNvPr id="88" name="Rectangle 8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 본문이 든 세 가지 재사용 구성이 CE 안의 서로 다른 저장소 세 곳에 그대로 대응한다.</a:t>
            </a:r>
          </a:p>
        </p:txBody>
      </p:sp>
      <p:sp>
        <p:nvSpPr>
          <p:cNvPr id="89" name="Rectangle 8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CE 의 세 가지 데이터 재사용 전략 — 무엇을 붙박느냐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weight / input / output stationary 가 각각 RF / feed unit / accumulator 에 대응한다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136</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본문: "The architecture supports several data reuse configurations through software, including weight stationary using the register file, input stationary using the input buffer within the CE, and output stationary using accumulator registers [18]."</a:t>
            </a:r>
          </a:p>
          <a:p>
            <a:pPr algn="l">
              <a:lnSpc>
                <a:spcPct val="118000"/>
              </a:lnSpc>
              <a:spcBef>
                <a:spcPts val="600"/>
              </a:spcBef>
              <a:spcAft>
                <a:spcPts val="200"/>
              </a:spcAft>
            </a:pPr>
            <a:r>
              <a:rPr sz="1900" b="1" i="0">
                <a:solidFill>
                  <a:srgbClr val="083F80"/>
                </a:solidFill>
                <a:latin typeface="Segoe UI"/>
                <a:ea typeface="맑은 고딕"/>
                <a:cs typeface="맑은 고딕"/>
              </a:rPr>
              <a:t>▪  input stationary 가 쓴다는 'input buffer' 의 실체는 feed unit 의 '같은 데이터를 연속 사이클에 반복 공급하는' 기능이다. IV-C 는 input buffer 라는 용어를 쓰지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용어 출처는 논문이 인용한 [18] — Sze 등의 dataflow 분류다</a:t>
            </a:r>
          </a:p>
          <a:p>
            <a:pPr algn="l">
              <a:lnSpc>
                <a:spcPct val="118000"/>
              </a:lnSpc>
              <a:spcBef>
                <a:spcPts val="600"/>
              </a:spcBef>
              <a:spcAft>
                <a:spcPts val="200"/>
              </a:spcAft>
            </a:pPr>
            <a:r>
              <a:rPr sz="1900" b="0" i="0">
                <a:solidFill>
                  <a:srgbClr val="16202C"/>
                </a:solidFill>
                <a:latin typeface="Segoe UI"/>
                <a:ea typeface="맑은 고딕"/>
                <a:cs typeface="맑은 고딕"/>
              </a:rPr>
              <a:t>▪  weight stationary 의 RF 는 슬라이스당 80 KB 이고, sub-context 가 다음 가중치를 미리 채워 double buffering 처럼 쓴다</a:t>
            </a:r>
          </a:p>
          <a:p>
            <a:pPr algn="l">
              <a:lnSpc>
                <a:spcPct val="118000"/>
              </a:lnSpc>
              <a:spcBef>
                <a:spcPts val="600"/>
              </a:spcBef>
              <a:spcAft>
                <a:spcPts val="200"/>
              </a:spcAft>
            </a:pPr>
            <a:r>
              <a:rPr sz="1900" b="1" i="0">
                <a:solidFill>
                  <a:srgbClr val="083F80"/>
                </a:solidFill>
                <a:latin typeface="Segoe UI"/>
                <a:ea typeface="맑은 고딕"/>
                <a:cs typeface="맑은 고딕"/>
              </a:rPr>
              <a:t>▪  많은 가속기가 dataflow 하나를 하드웨어에 못박는 것과 대비된다. 하드웨어를 열어 둔 대가는 컴파일러의 tactic 탐색 부담이다</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7 — Vector Engine 전체 블록도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137</a:t>
            </a:r>
          </a:p>
        </p:txBody>
      </p:sp>
      <p:pic>
        <p:nvPicPr>
          <p:cNvPr id="8" name="Picture 7" descr="isca_fig7.png"/>
          <p:cNvPicPr>
            <a:picLocks noChangeAspect="1"/>
          </p:cNvPicPr>
          <p:nvPr/>
        </p:nvPicPr>
        <p:blipFill>
          <a:blip r:embed="rId2"/>
          <a:stretch>
            <a:fillRect/>
          </a:stretch>
        </p:blipFill>
        <p:spPr>
          <a:xfrm>
            <a:off x="566928" y="1517904"/>
            <a:ext cx="5971233" cy="3571682"/>
          </a:xfrm>
          <a:prstGeom prst="rect">
            <a:avLst/>
          </a:prstGeom>
        </p:spPr>
      </p:pic>
      <p:sp>
        <p:nvSpPr>
          <p:cNvPr id="9" name="Rectangle 8"/>
          <p:cNvSpPr/>
          <p:nvPr/>
        </p:nvSpPr>
        <p:spPr>
          <a:xfrm>
            <a:off x="566928" y="1517904"/>
            <a:ext cx="5971233" cy="3571682"/>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5117018"/>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7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000" b="0" i="0">
                <a:solidFill>
                  <a:srgbClr val="16202C"/>
                </a:solidFill>
                <a:latin typeface="Segoe UI"/>
                <a:ea typeface="맑은 고딕"/>
                <a:cs typeface="맑은 고딕"/>
              </a:rPr>
              <a:t>▪  최상단 가로로 긴 블록이 Router (라우터) 다. VE 의 모든 데이터가 여기를 통과한다</a:t>
            </a:r>
          </a:p>
          <a:p>
            <a:pPr algn="l">
              <a:lnSpc>
                <a:spcPct val="118000"/>
              </a:lnSpc>
              <a:spcBef>
                <a:spcPts val="600"/>
              </a:spcBef>
              <a:spcAft>
                <a:spcPts val="200"/>
              </a:spcAft>
            </a:pPr>
            <a:r>
              <a:rPr sz="1000" b="0" i="0">
                <a:solidFill>
                  <a:srgbClr val="16202C"/>
                </a:solidFill>
                <a:latin typeface="Segoe UI"/>
                <a:ea typeface="맑은 고딕"/>
                <a:cs typeface="맑은 고딕"/>
              </a:rPr>
              <a:t>▪  범례가 색으로 세 종류의 경로를 구분한다</a:t>
            </a:r>
          </a:p>
          <a:p>
            <a:pPr algn="l">
              <a:lnSpc>
                <a:spcPct val="118000"/>
              </a:lnSpc>
              <a:spcBef>
                <a:spcPts val="200"/>
              </a:spcBef>
              <a:spcAft>
                <a:spcPts val="100"/>
              </a:spcAft>
            </a:pPr>
            <a:r>
              <a:rPr sz="880" b="0" i="0">
                <a:solidFill>
                  <a:srgbClr val="2C3A4B"/>
                </a:solidFill>
                <a:latin typeface="Segoe UI"/>
                <a:ea typeface="맑은 고딕"/>
                <a:cs typeface="맑은 고딕"/>
              </a:rPr>
              <a:t>–  검정 = Intra-Slice Datapath (슬라이스 내부 데이터패스)</a:t>
            </a:r>
          </a:p>
          <a:p>
            <a:pPr algn="l">
              <a:lnSpc>
                <a:spcPct val="118000"/>
              </a:lnSpc>
              <a:spcBef>
                <a:spcPts val="200"/>
              </a:spcBef>
              <a:spcAft>
                <a:spcPts val="100"/>
              </a:spcAft>
            </a:pPr>
            <a:r>
              <a:rPr sz="880" b="0" i="0">
                <a:solidFill>
                  <a:srgbClr val="2C3A4B"/>
                </a:solidFill>
                <a:latin typeface="Segoe UI"/>
                <a:ea typeface="맑은 고딕"/>
                <a:cs typeface="맑은 고딕"/>
              </a:rPr>
              <a:t>–  빨강 = Inter-Slice Reduce Channel (슬라이스 간 축약 채널)</a:t>
            </a:r>
          </a:p>
          <a:p>
            <a:pPr algn="l">
              <a:lnSpc>
                <a:spcPct val="118000"/>
              </a:lnSpc>
              <a:spcBef>
                <a:spcPts val="200"/>
              </a:spcBef>
              <a:spcAft>
                <a:spcPts val="100"/>
              </a:spcAft>
            </a:pPr>
            <a:r>
              <a:rPr sz="880" b="0" i="0">
                <a:solidFill>
                  <a:srgbClr val="2C3A4B"/>
                </a:solidFill>
                <a:latin typeface="Segoe UI"/>
                <a:ea typeface="맑은 고딕"/>
                <a:cs typeface="맑은 고딕"/>
              </a:rPr>
              <a:t>–  파랑 = Inter-Slice Distribute Channel (슬라이스 간 배포 채널)</a:t>
            </a:r>
          </a:p>
          <a:p>
            <a:pPr algn="l">
              <a:lnSpc>
                <a:spcPct val="118000"/>
              </a:lnSpc>
              <a:spcBef>
                <a:spcPts val="600"/>
              </a:spcBef>
              <a:spcAft>
                <a:spcPts val="200"/>
              </a:spcAft>
            </a:pPr>
            <a:r>
              <a:rPr sz="1000" b="0" i="0">
                <a:solidFill>
                  <a:srgbClr val="16202C"/>
                </a:solidFill>
                <a:latin typeface="Segoe UI"/>
                <a:ea typeface="맑은 고딕"/>
                <a:cs typeface="맑은 고딕"/>
              </a:rPr>
              <a:t>▪  오른쪽 위 Input 이 Router 로 들어오고, 오른쪽 아래 Output 으로 나간다. 빨강·파랑 화살표는 좌우 양쪽으로 뻗어 이웃 슬라이스와 연결된다</a:t>
            </a:r>
          </a:p>
          <a:p>
            <a:pPr algn="l">
              <a:lnSpc>
                <a:spcPct val="118000"/>
              </a:lnSpc>
              <a:spcBef>
                <a:spcPts val="600"/>
              </a:spcBef>
              <a:spcAft>
                <a:spcPts val="200"/>
              </a:spcAft>
            </a:pPr>
            <a:r>
              <a:rPr sz="1000" b="0" i="0">
                <a:solidFill>
                  <a:srgbClr val="16202C"/>
                </a:solidFill>
                <a:latin typeface="Segoe UI"/>
                <a:ea typeface="맑은 고딕"/>
                <a:cs typeface="맑은 고딕"/>
              </a:rPr>
              <a:t>▪  왼쪽 ReduceUnit: Int/Fp.Cluster 가 여러 장 겹쳐 있고 Add, Min/Max 등을 수행한다. Router 의 검정 경로와 빨강 reduce channel 을 모두 입력으로 받는다</a:t>
            </a:r>
          </a:p>
          <a:p>
            <a:pPr algn="l">
              <a:lnSpc>
                <a:spcPct val="118000"/>
              </a:lnSpc>
              <a:spcBef>
                <a:spcPts val="600"/>
              </a:spcBef>
              <a:spcAft>
                <a:spcPts val="200"/>
              </a:spcAft>
            </a:pPr>
            <a:r>
              <a:rPr sz="1000" b="0" i="0">
                <a:solidFill>
                  <a:srgbClr val="16202C"/>
                </a:solidFill>
                <a:latin typeface="Segoe UI"/>
                <a:ea typeface="맑은 고딕"/>
                <a:cs typeface="맑은 고딕"/>
              </a:rPr>
              <a:t>▪  오른쪽 ArithmeticUnit: 상단에 Conditional Operation, 그 아래 Int.Cluster(Add/Mul/Shift/Logic) 와 Fp.Cluster(Add/Mul·Div/Exp·Log/Sin·Cos) 가 각각 여러 장, 하단에 Spatial/Temporal Reduction 과 Type Conversion, 우측에 VRF 가 있다</a:t>
            </a:r>
          </a:p>
          <a:p>
            <a:pPr algn="l">
              <a:lnSpc>
                <a:spcPct val="118000"/>
              </a:lnSpc>
              <a:spcBef>
                <a:spcPts val="600"/>
              </a:spcBef>
              <a:spcAft>
                <a:spcPts val="200"/>
              </a:spcAft>
            </a:pPr>
            <a:r>
              <a:rPr sz="1000" b="0" i="0">
                <a:solidFill>
                  <a:srgbClr val="16202C"/>
                </a:solidFill>
                <a:latin typeface="Segoe UI"/>
                <a:ea typeface="맑은 고딕"/>
                <a:cs typeface="맑은 고딕"/>
              </a:rPr>
              <a:t>▪  두 유닛의 결과는 짙은 파란 선을 타고 Router 로 되돌아간다</a:t>
            </a:r>
          </a:p>
          <a:p>
            <a:pPr algn="l">
              <a:lnSpc>
                <a:spcPct val="118000"/>
              </a:lnSpc>
              <a:spcBef>
                <a:spcPts val="600"/>
              </a:spcBef>
              <a:spcAft>
                <a:spcPts val="200"/>
              </a:spcAft>
            </a:pPr>
            <a:r>
              <a:rPr sz="1000" b="1" i="0">
                <a:solidFill>
                  <a:srgbClr val="083F80"/>
                </a:solidFill>
                <a:latin typeface="Segoe UI"/>
                <a:ea typeface="맑은 고딕"/>
                <a:cs typeface="맑은 고딕"/>
              </a:rPr>
              <a:t>▪  주의: 본문은 Router / ReduceUnit / ArithmeticUnit / VRF 같은 블록 이름을 서술하지 않는다. 이 이름들은 Fig. 7 에만 있다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Router 를 중심에 두고 ReduceUnit(축약)과 ArithmeticUnit(연산)이 매달린 구조다. 슬라이스 간 채널이 두 종류다.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IV-D. Vector Engine — 담당 업무</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0" i="0">
                <a:solidFill>
                  <a:srgbClr val="16202C"/>
                </a:solidFill>
                <a:latin typeface="Segoe UI"/>
                <a:ea typeface="맑은 고딕"/>
                <a:cs typeface="맑은 고딕"/>
              </a:rPr>
              <a:t>▪  VE 가 처리하는 것</a:t>
            </a:r>
          </a:p>
          <a:p>
            <a:pPr algn="l">
              <a:lnSpc>
                <a:spcPct val="118000"/>
              </a:lnSpc>
              <a:spcBef>
                <a:spcPts val="200"/>
              </a:spcBef>
              <a:spcAft>
                <a:spcPts val="100"/>
              </a:spcAft>
            </a:pPr>
            <a:r>
              <a:rPr sz="1380" b="0" i="0">
                <a:solidFill>
                  <a:srgbClr val="2C3A4B"/>
                </a:solidFill>
                <a:latin typeface="Segoe UI"/>
                <a:ea typeface="맑은 고딕"/>
                <a:cs typeface="맑은 고딕"/>
              </a:rPr>
              <a:t>–  non-linear functions (비선형 함수)</a:t>
            </a:r>
          </a:p>
          <a:p>
            <a:pPr algn="l">
              <a:lnSpc>
                <a:spcPct val="118000"/>
              </a:lnSpc>
              <a:spcBef>
                <a:spcPts val="200"/>
              </a:spcBef>
              <a:spcAft>
                <a:spcPts val="100"/>
              </a:spcAft>
            </a:pPr>
            <a:r>
              <a:rPr sz="1380" b="0" i="0">
                <a:solidFill>
                  <a:srgbClr val="2C3A4B"/>
                </a:solidFill>
                <a:latin typeface="Segoe UI"/>
                <a:ea typeface="맑은 고딕"/>
                <a:cs typeface="맑은 고딕"/>
              </a:rPr>
              <a:t>–  element-wise operations (원소별 연산)</a:t>
            </a:r>
          </a:p>
          <a:p>
            <a:pPr algn="l">
              <a:lnSpc>
                <a:spcPct val="118000"/>
              </a:lnSpc>
              <a:spcBef>
                <a:spcPts val="200"/>
              </a:spcBef>
              <a:spcAft>
                <a:spcPts val="100"/>
              </a:spcAft>
            </a:pPr>
            <a:r>
              <a:rPr sz="1380" b="0" i="0">
                <a:solidFill>
                  <a:srgbClr val="2C3A4B"/>
                </a:solidFill>
                <a:latin typeface="Segoe UI"/>
                <a:ea typeface="맑은 고딕"/>
                <a:cs typeface="맑은 고딕"/>
              </a:rPr>
              <a:t>–  reductions (축약)</a:t>
            </a:r>
          </a:p>
          <a:p>
            <a:pPr algn="l">
              <a:lnSpc>
                <a:spcPct val="118000"/>
              </a:lnSpc>
              <a:spcBef>
                <a:spcPts val="200"/>
              </a:spcBef>
              <a:spcAft>
                <a:spcPts val="100"/>
              </a:spcAft>
            </a:pPr>
            <a:r>
              <a:rPr sz="1380" b="0" i="0">
                <a:solidFill>
                  <a:srgbClr val="2C3A4B"/>
                </a:solidFill>
                <a:latin typeface="Segoe UI"/>
                <a:ea typeface="맑은 고딕"/>
                <a:cs typeface="맑은 고딕"/>
              </a:rPr>
              <a:t>–  type conversions (자료형 변환)</a:t>
            </a:r>
          </a:p>
          <a:p>
            <a:pPr algn="l">
              <a:lnSpc>
                <a:spcPct val="118000"/>
              </a:lnSpc>
              <a:spcBef>
                <a:spcPts val="600"/>
              </a:spcBef>
              <a:spcAft>
                <a:spcPts val="200"/>
              </a:spcAft>
            </a:pPr>
            <a:r>
              <a:rPr sz="1500" b="1" i="0">
                <a:solidFill>
                  <a:srgbClr val="083F80"/>
                </a:solidFill>
                <a:latin typeface="Segoe UI"/>
                <a:ea typeface="맑은 고딕"/>
                <a:cs typeface="맑은 고딕"/>
              </a:rPr>
              <a:t>▪  구조: 여러 functional unit(기능 유닛) 이 cluster(클러스터) 로 묶여 있고, 컴파일러가 chain(연쇄) 을 형성해 pipeline(파이프라인화) 할 수 있다</a:t>
            </a:r>
          </a:p>
          <a:p>
            <a:pPr algn="l">
              <a:lnSpc>
                <a:spcPct val="118000"/>
              </a:lnSpc>
              <a:spcBef>
                <a:spcPts val="600"/>
              </a:spcBef>
              <a:spcAft>
                <a:spcPts val="200"/>
              </a:spcAft>
            </a:pPr>
            <a:r>
              <a:rPr sz="1500" b="0" i="0">
                <a:solidFill>
                  <a:srgbClr val="16202C"/>
                </a:solidFill>
                <a:latin typeface="Segoe UI"/>
                <a:ea typeface="맑은 고딕"/>
                <a:cs typeface="맑은 고딕"/>
              </a:rPr>
              <a:t>▪  functional unit 이 실현하는 연산의 종류</a:t>
            </a:r>
          </a:p>
          <a:p>
            <a:pPr algn="l">
              <a:lnSpc>
                <a:spcPct val="118000"/>
              </a:lnSpc>
              <a:spcBef>
                <a:spcPts val="200"/>
              </a:spcBef>
              <a:spcAft>
                <a:spcPts val="100"/>
              </a:spcAft>
            </a:pPr>
            <a:r>
              <a:rPr sz="1380" b="0" i="0">
                <a:solidFill>
                  <a:srgbClr val="2C3A4B"/>
                </a:solidFill>
                <a:latin typeface="Segoe UI"/>
                <a:ea typeface="맑은 고딕"/>
                <a:cs typeface="맑은 고딕"/>
              </a:rPr>
              <a:t>–  INT32 / FP32 상의 각종 산술·논리 연산</a:t>
            </a:r>
          </a:p>
          <a:p>
            <a:pPr algn="l">
              <a:lnSpc>
                <a:spcPct val="118000"/>
              </a:lnSpc>
              <a:spcBef>
                <a:spcPts val="200"/>
              </a:spcBef>
              <a:spcAft>
                <a:spcPts val="100"/>
              </a:spcAft>
            </a:pPr>
            <a:r>
              <a:rPr sz="1380" b="0" i="0">
                <a:solidFill>
                  <a:srgbClr val="2C3A4B"/>
                </a:solidFill>
                <a:latin typeface="Segoe UI"/>
                <a:ea typeface="맑은 고딕"/>
                <a:cs typeface="맑은 고딕"/>
              </a:rPr>
              <a:t>–  exp, sin 같은 transcendental function (초월함수)</a:t>
            </a:r>
          </a:p>
          <a:p>
            <a:pPr algn="l">
              <a:lnSpc>
                <a:spcPct val="118000"/>
              </a:lnSpc>
              <a:spcBef>
                <a:spcPts val="200"/>
              </a:spcBef>
              <a:spcAft>
                <a:spcPts val="100"/>
              </a:spcAft>
            </a:pPr>
            <a:r>
              <a:rPr sz="1380" b="0" i="0">
                <a:solidFill>
                  <a:srgbClr val="2C3A4B"/>
                </a:solidFill>
                <a:latin typeface="Segoe UI"/>
                <a:ea typeface="맑은 고딕"/>
                <a:cs typeface="맑은 고딕"/>
              </a:rPr>
              <a:t>–  predicated operation (술어 기반 조건부 연산) — Fig. 7 의 Conditional Operation 블록</a:t>
            </a:r>
          </a:p>
          <a:p>
            <a:pPr algn="l">
              <a:lnSpc>
                <a:spcPct val="118000"/>
              </a:lnSpc>
              <a:spcBef>
                <a:spcPts val="200"/>
              </a:spcBef>
              <a:spcAft>
                <a:spcPts val="100"/>
              </a:spcAft>
            </a:pPr>
            <a:r>
              <a:rPr sz="1380" b="1" i="0">
                <a:solidFill>
                  <a:srgbClr val="2C3A4B"/>
                </a:solidFill>
                <a:latin typeface="Segoe UI"/>
                <a:ea typeface="맑은 고딕"/>
                <a:cs typeface="맑은 고딕"/>
              </a:rPr>
              <a:t>–  INT4/8/16/32, FP8, FP16/BF16, FP32 에 대한 모든 종류의 type conversion 과 quantization(양자화)</a:t>
            </a:r>
          </a:p>
          <a:p>
            <a:pPr algn="l">
              <a:lnSpc>
                <a:spcPct val="118000"/>
              </a:lnSpc>
              <a:spcBef>
                <a:spcPts val="600"/>
              </a:spcBef>
              <a:spcAft>
                <a:spcPts val="200"/>
              </a:spcAft>
            </a:pPr>
            <a:r>
              <a:rPr sz="1500" b="0" i="0">
                <a:solidFill>
                  <a:srgbClr val="16202C"/>
                </a:solidFill>
                <a:latin typeface="Segoe UI"/>
                <a:ea typeface="맑은 고딕"/>
                <a:cs typeface="맑은 고딕"/>
              </a:rPr>
              <a:t>▪  Table I 은 초월함수의 예로 exp, cos, tanh 등을 든다. Fig. 7 에는 Exp/Log 와 Sin/Cos 가 그려져 있고 tanh 는 없다 — 그림이 전부를 나열하지 않은 것으로 보인다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CE 가 못 하는 것 전부를 맡는다. 비선형 함수, element-wise, reduction, type conversion.</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Router 와 두 개의 슬라이스 간 채널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본문 근거: VE 는 "both intra-slice and inter-slice reductions, routing, or multicasting reduction results to designated slices" 를 지원한다</a:t>
            </a:r>
          </a:p>
          <a:p>
            <a:pPr algn="l">
              <a:lnSpc>
                <a:spcPct val="118000"/>
              </a:lnSpc>
              <a:spcBef>
                <a:spcPts val="600"/>
              </a:spcBef>
              <a:spcAft>
                <a:spcPts val="200"/>
              </a:spcAft>
            </a:pPr>
            <a:r>
              <a:rPr sz="1600" b="0" i="0">
                <a:solidFill>
                  <a:srgbClr val="16202C"/>
                </a:solidFill>
                <a:latin typeface="Segoe UI"/>
                <a:ea typeface="맑은 고딕"/>
                <a:cs typeface="맑은 고딕"/>
              </a:rPr>
              <a:t>▪  즉 (1) 슬라이스 내부 축약, (2) 슬라이스 간 축약, (3) 라우팅, (4) 축약 결과를 지정된 슬라이스들로 multicast 하는 것까지 지원한다</a:t>
            </a:r>
          </a:p>
          <a:p>
            <a:pPr algn="l">
              <a:lnSpc>
                <a:spcPct val="118000"/>
              </a:lnSpc>
              <a:spcBef>
                <a:spcPts val="600"/>
              </a:spcBef>
              <a:spcAft>
                <a:spcPts val="200"/>
              </a:spcAft>
            </a:pPr>
            <a:r>
              <a:rPr sz="1600" b="0" i="0">
                <a:solidFill>
                  <a:srgbClr val="16202C"/>
                </a:solidFill>
                <a:latin typeface="Segoe UI"/>
                <a:ea typeface="맑은 고딕"/>
                <a:cs typeface="맑은 고딕"/>
              </a:rPr>
              <a:t>▪  Fig. 7 은 이를 두 개의 물리 채널로 구현한다</a:t>
            </a:r>
          </a:p>
          <a:p>
            <a:pPr algn="l">
              <a:lnSpc>
                <a:spcPct val="118000"/>
              </a:lnSpc>
              <a:spcBef>
                <a:spcPts val="200"/>
              </a:spcBef>
              <a:spcAft>
                <a:spcPts val="100"/>
              </a:spcAft>
            </a:pPr>
            <a:r>
              <a:rPr sz="1480" b="1" i="0">
                <a:solidFill>
                  <a:srgbClr val="2C3A4B"/>
                </a:solidFill>
                <a:latin typeface="Segoe UI"/>
                <a:ea typeface="맑은 고딕"/>
                <a:cs typeface="맑은 고딕"/>
              </a:rPr>
              <a:t>–  Inter-Slice Reduce Channel (빨강, 좌우 양방향): 이웃 슬라이스의 부분 축약값을 받아 ReduceUnit 으로 직접 넣고, 자기 결과를 다음 슬라이스로 내보낸다 → 슬라이스를 가로지르는 축약 체인</a:t>
            </a:r>
          </a:p>
          <a:p>
            <a:pPr algn="l">
              <a:lnSpc>
                <a:spcPct val="118000"/>
              </a:lnSpc>
              <a:spcBef>
                <a:spcPts val="200"/>
              </a:spcBef>
              <a:spcAft>
                <a:spcPts val="100"/>
              </a:spcAft>
            </a:pPr>
            <a:r>
              <a:rPr sz="1480" b="1" i="0">
                <a:solidFill>
                  <a:srgbClr val="2C3A4B"/>
                </a:solidFill>
                <a:latin typeface="Segoe UI"/>
                <a:ea typeface="맑은 고딕"/>
                <a:cs typeface="맑은 고딕"/>
              </a:rPr>
              <a:t>–  Inter-Slice Distribute Channel (파랑, 좌우 양방향): 완성된 축약 결과를 지정된 슬라이스들에 되뿌린다</a:t>
            </a:r>
          </a:p>
          <a:p>
            <a:pPr algn="l">
              <a:lnSpc>
                <a:spcPct val="118000"/>
              </a:lnSpc>
              <a:spcBef>
                <a:spcPts val="600"/>
              </a:spcBef>
              <a:spcAft>
                <a:spcPts val="200"/>
              </a:spcAft>
            </a:pPr>
            <a:r>
              <a:rPr sz="1600" b="0" i="0">
                <a:solidFill>
                  <a:srgbClr val="16202C"/>
                </a:solidFill>
                <a:latin typeface="Segoe UI"/>
                <a:ea typeface="맑은 고딕"/>
                <a:cs typeface="맑은 고딕"/>
              </a:rPr>
              <a:t>▪  빨강 화살표가 Router 를 거치지 않고 ReduceUnit 으로 바로 내려가는 점이 그림에서 눈에 띈다. 축약 경로의 지연을 줄이려는 구조로 읽힌다</a:t>
            </a:r>
          </a:p>
          <a:p>
            <a:pPr algn="l">
              <a:lnSpc>
                <a:spcPct val="118000"/>
              </a:lnSpc>
              <a:spcBef>
                <a:spcPts val="600"/>
              </a:spcBef>
              <a:spcAft>
                <a:spcPts val="200"/>
              </a:spcAft>
            </a:pPr>
            <a:r>
              <a:rPr sz="1600" b="0" i="0">
                <a:solidFill>
                  <a:srgbClr val="16202C"/>
                </a:solidFill>
                <a:latin typeface="Segoe UI"/>
                <a:ea typeface="맑은 고딕"/>
                <a:cs typeface="맑은 고딕"/>
              </a:rPr>
              <a:t>▪  두 채널이 분리돼 있으므로 '모으기' 와 '되뿌리기' 가 서로를 막지 않는다</a:t>
            </a:r>
          </a:p>
          <a:p>
            <a:pPr algn="l">
              <a:lnSpc>
                <a:spcPct val="118000"/>
              </a:lnSpc>
              <a:spcBef>
                <a:spcPts val="600"/>
              </a:spcBef>
              <a:spcAft>
                <a:spcPts val="200"/>
              </a:spcAft>
            </a:pPr>
            <a:r>
              <a:rPr sz="1600" b="1" i="0">
                <a:solidFill>
                  <a:srgbClr val="083F80"/>
                </a:solidFill>
                <a:latin typeface="Segoe UI"/>
                <a:ea typeface="맑은 고딕"/>
                <a:cs typeface="맑은 고딕"/>
              </a:rPr>
              <a:t>▪  주의: 채널 이름과 방향성은 Fig. 7 범례에서만 확인된다. 본문은 채널 개수·폭·지연을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reduce channel 로 모으고, distribute channel 로 되뿌린다. 두 채널이 분리돼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ReduceUnit</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Fig. 7 좌측 블록이다. 내부에 Int/Fp.Cluster 가 여러 장 겹쳐 그려져 있다 (다중 인스턴스라는 뜻)</a:t>
            </a:r>
          </a:p>
          <a:p>
            <a:pPr algn="l">
              <a:lnSpc>
                <a:spcPct val="118000"/>
              </a:lnSpc>
              <a:spcBef>
                <a:spcPts val="600"/>
              </a:spcBef>
              <a:spcAft>
                <a:spcPts val="200"/>
              </a:spcAft>
            </a:pPr>
            <a:r>
              <a:rPr sz="1800" b="1" i="0">
                <a:solidFill>
                  <a:srgbClr val="083F80"/>
                </a:solidFill>
                <a:latin typeface="Segoe UI"/>
                <a:ea typeface="맑은 고딕"/>
                <a:cs typeface="맑은 고딕"/>
              </a:rPr>
              <a:t>▪  클러스터 이름이 Int/Fp 겸용이다. 정수와 부동소수 축약을 같은 클러스터가 처리한다</a:t>
            </a:r>
          </a:p>
          <a:p>
            <a:pPr algn="l">
              <a:lnSpc>
                <a:spcPct val="118000"/>
              </a:lnSpc>
              <a:spcBef>
                <a:spcPts val="600"/>
              </a:spcBef>
              <a:spcAft>
                <a:spcPts val="200"/>
              </a:spcAft>
            </a:pPr>
            <a:r>
              <a:rPr sz="1800" b="0" i="0">
                <a:solidFill>
                  <a:srgbClr val="16202C"/>
                </a:solidFill>
                <a:latin typeface="Segoe UI"/>
                <a:ea typeface="맑은 고딕"/>
                <a:cs typeface="맑은 고딕"/>
              </a:rPr>
              <a:t>▪  그림에 명시된 연산: Add (합), Min / Max (최소/최대), 그리고 "..."</a:t>
            </a:r>
          </a:p>
          <a:p>
            <a:pPr algn="l">
              <a:lnSpc>
                <a:spcPct val="118000"/>
              </a:lnSpc>
              <a:spcBef>
                <a:spcPts val="600"/>
              </a:spcBef>
              <a:spcAft>
                <a:spcPts val="200"/>
              </a:spcAft>
            </a:pPr>
            <a:r>
              <a:rPr sz="1800" b="0" i="0">
                <a:solidFill>
                  <a:srgbClr val="16202C"/>
                </a:solidFill>
                <a:latin typeface="Segoe UI"/>
                <a:ea typeface="맑은 고딕"/>
                <a:cs typeface="맑은 고딕"/>
              </a:rPr>
              <a:t>▪  입력이 두 갈래다</a:t>
            </a:r>
          </a:p>
          <a:p>
            <a:pPr algn="l">
              <a:lnSpc>
                <a:spcPct val="118000"/>
              </a:lnSpc>
              <a:spcBef>
                <a:spcPts val="200"/>
              </a:spcBef>
              <a:spcAft>
                <a:spcPts val="100"/>
              </a:spcAft>
            </a:pPr>
            <a:r>
              <a:rPr sz="1680" b="0" i="0">
                <a:solidFill>
                  <a:srgbClr val="2C3A4B"/>
                </a:solidFill>
                <a:latin typeface="Segoe UI"/>
                <a:ea typeface="맑은 고딕"/>
                <a:cs typeface="맑은 고딕"/>
              </a:rPr>
              <a:t>–  Router 에서 내려오는 검정 경로 — 슬라이스 내부 데이터</a:t>
            </a:r>
          </a:p>
          <a:p>
            <a:pPr algn="l">
              <a:lnSpc>
                <a:spcPct val="118000"/>
              </a:lnSpc>
              <a:spcBef>
                <a:spcPts val="200"/>
              </a:spcBef>
              <a:spcAft>
                <a:spcPts val="100"/>
              </a:spcAft>
            </a:pPr>
            <a:r>
              <a:rPr sz="1680" b="0" i="0">
                <a:solidFill>
                  <a:srgbClr val="2C3A4B"/>
                </a:solidFill>
                <a:latin typeface="Segoe UI"/>
                <a:ea typeface="맑은 고딕"/>
                <a:cs typeface="맑은 고딕"/>
              </a:rPr>
              <a:t>–  빨강 Inter-Slice Reduce Channel — 이웃 슬라이스에서 온 부분 축약값</a:t>
            </a:r>
          </a:p>
          <a:p>
            <a:pPr algn="l">
              <a:lnSpc>
                <a:spcPct val="118000"/>
              </a:lnSpc>
              <a:spcBef>
                <a:spcPts val="600"/>
              </a:spcBef>
              <a:spcAft>
                <a:spcPts val="200"/>
              </a:spcAft>
            </a:pPr>
            <a:r>
              <a:rPr sz="1800" b="0" i="0">
                <a:solidFill>
                  <a:srgbClr val="16202C"/>
                </a:solidFill>
                <a:latin typeface="Segoe UI"/>
                <a:ea typeface="맑은 고딕"/>
                <a:cs typeface="맑은 고딕"/>
              </a:rPr>
              <a:t>▪  출력은 짙은 파란 선을 타고 Router 로 되돌아간다. 거기서 Output 으로 나가거나 슬라이스 간 채널로 넘어간다</a:t>
            </a:r>
          </a:p>
          <a:p>
            <a:pPr algn="l">
              <a:lnSpc>
                <a:spcPct val="118000"/>
              </a:lnSpc>
              <a:spcBef>
                <a:spcPts val="600"/>
              </a:spcBef>
              <a:spcAft>
                <a:spcPts val="200"/>
              </a:spcAft>
            </a:pPr>
            <a:r>
              <a:rPr sz="1800" b="1" i="0">
                <a:solidFill>
                  <a:srgbClr val="083F80"/>
                </a:solidFill>
                <a:latin typeface="Segoe UI"/>
                <a:ea typeface="맑은 고딕"/>
                <a:cs typeface="맑은 고딕"/>
              </a:rPr>
              <a:t>▪  CE 의 DPE reduction tree 가 '곱셈 결과의 축약' 전용인 데 반해, ReduceUnit 은 곱셈 없이 순수 축약만 하는 경로다</a:t>
            </a:r>
          </a:p>
          <a:p>
            <a:pPr algn="l">
              <a:lnSpc>
                <a:spcPct val="118000"/>
              </a:lnSpc>
              <a:spcBef>
                <a:spcPts val="600"/>
              </a:spcBef>
              <a:spcAft>
                <a:spcPts val="200"/>
              </a:spcAft>
            </a:pPr>
            <a:r>
              <a:rPr sz="1800" b="0" i="0">
                <a:solidFill>
                  <a:srgbClr val="16202C"/>
                </a:solidFill>
                <a:latin typeface="Segoe UI"/>
                <a:ea typeface="맑은 고딕"/>
                <a:cs typeface="맑은 고딕"/>
              </a:rPr>
              <a:t>▪  용도 예: softmax 의 지수합, layer-norm 의 합, max-pooling 의 최대값</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Int/Fp 겸용 cluster 여러 장으로 축약 전담. Add 와 Min/Max 를 지원한다.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ArithmeticUnit (1) — Int.Cluster / Fp.Cluster / Conditional</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Conditional Operation (조건부 연산) — 블록 최상단. 본문의 predicated operation 에 대응한다</a:t>
            </a:r>
          </a:p>
          <a:p>
            <a:pPr algn="l">
              <a:lnSpc>
                <a:spcPct val="118000"/>
              </a:lnSpc>
              <a:spcBef>
                <a:spcPts val="600"/>
              </a:spcBef>
              <a:spcAft>
                <a:spcPts val="200"/>
              </a:spcAft>
            </a:pPr>
            <a:r>
              <a:rPr sz="1700" b="0" i="0">
                <a:solidFill>
                  <a:srgbClr val="16202C"/>
                </a:solidFill>
                <a:latin typeface="Segoe UI"/>
                <a:ea typeface="맑은 고딕"/>
                <a:cs typeface="맑은 고딕"/>
              </a:rPr>
              <a:t>▪  Int.Cluster (정수 클러스터) — 여러 장 겹쳐 있다</a:t>
            </a:r>
          </a:p>
          <a:p>
            <a:pPr algn="l">
              <a:lnSpc>
                <a:spcPct val="118000"/>
              </a:lnSpc>
              <a:spcBef>
                <a:spcPts val="200"/>
              </a:spcBef>
              <a:spcAft>
                <a:spcPts val="100"/>
              </a:spcAft>
            </a:pPr>
            <a:r>
              <a:rPr sz="1580" b="0" i="0">
                <a:solidFill>
                  <a:srgbClr val="2C3A4B"/>
                </a:solidFill>
                <a:latin typeface="Segoe UI"/>
                <a:ea typeface="맑은 고딕"/>
                <a:cs typeface="맑은 고딕"/>
              </a:rPr>
              <a:t>–  Add (덧셈), Mul (곱셈), Shift (시프트), Logic (논리 연산), "..."</a:t>
            </a:r>
          </a:p>
          <a:p>
            <a:pPr algn="l">
              <a:lnSpc>
                <a:spcPct val="118000"/>
              </a:lnSpc>
              <a:spcBef>
                <a:spcPts val="600"/>
              </a:spcBef>
              <a:spcAft>
                <a:spcPts val="200"/>
              </a:spcAft>
            </a:pPr>
            <a:r>
              <a:rPr sz="1700" b="0" i="0">
                <a:solidFill>
                  <a:srgbClr val="16202C"/>
                </a:solidFill>
                <a:latin typeface="Segoe UI"/>
                <a:ea typeface="맑은 고딕"/>
                <a:cs typeface="맑은 고딕"/>
              </a:rPr>
              <a:t>▪  Fp.Cluster (부동소수 클러스터) — 여러 장 겹쳐 있다</a:t>
            </a:r>
          </a:p>
          <a:p>
            <a:pPr algn="l">
              <a:lnSpc>
                <a:spcPct val="118000"/>
              </a:lnSpc>
              <a:spcBef>
                <a:spcPts val="200"/>
              </a:spcBef>
              <a:spcAft>
                <a:spcPts val="100"/>
              </a:spcAft>
            </a:pPr>
            <a:r>
              <a:rPr sz="1580" b="0" i="0">
                <a:solidFill>
                  <a:srgbClr val="2C3A4B"/>
                </a:solidFill>
                <a:latin typeface="Segoe UI"/>
                <a:ea typeface="맑은 고딕"/>
                <a:cs typeface="맑은 고딕"/>
              </a:rPr>
              <a:t>–  Add (덧셈), Mul / Div (곱셈/나눗셈), Exp / Log (지수/로그), Sin / Cos (사인/코사인), "..."</a:t>
            </a:r>
          </a:p>
          <a:p>
            <a:pPr algn="l">
              <a:lnSpc>
                <a:spcPct val="118000"/>
              </a:lnSpc>
              <a:spcBef>
                <a:spcPts val="600"/>
              </a:spcBef>
              <a:spcAft>
                <a:spcPts val="200"/>
              </a:spcAft>
            </a:pPr>
            <a:r>
              <a:rPr sz="1700" b="1" i="0">
                <a:solidFill>
                  <a:srgbClr val="083F80"/>
                </a:solidFill>
                <a:latin typeface="Segoe UI"/>
                <a:ea typeface="맑은 고딕"/>
                <a:cs typeface="맑은 고딕"/>
              </a:rPr>
              <a:t>▪  Exp / Log 와 Sin / Cos 가 클러스터 안에 직접 있다는 점이 중요하다. 초월함수를 소프트웨어 근사로 돌리지 않고 하드웨어로 처리한다</a:t>
            </a:r>
          </a:p>
          <a:p>
            <a:pPr algn="l">
              <a:lnSpc>
                <a:spcPct val="118000"/>
              </a:lnSpc>
              <a:spcBef>
                <a:spcPts val="600"/>
              </a:spcBef>
              <a:spcAft>
                <a:spcPts val="200"/>
              </a:spcAft>
            </a:pPr>
            <a:r>
              <a:rPr sz="1700" b="0" i="0">
                <a:solidFill>
                  <a:srgbClr val="16202C"/>
                </a:solidFill>
                <a:latin typeface="Segoe UI"/>
                <a:ea typeface="맑은 고딕"/>
                <a:cs typeface="맑은 고딕"/>
              </a:rPr>
              <a:t>▪  VRF (Vector Register File, 벡터 레지스터 파일) — ArithmeticUnit 우측의 세로 블록</a:t>
            </a:r>
          </a:p>
          <a:p>
            <a:pPr algn="l">
              <a:lnSpc>
                <a:spcPct val="118000"/>
              </a:lnSpc>
              <a:spcBef>
                <a:spcPts val="200"/>
              </a:spcBef>
              <a:spcAft>
                <a:spcPts val="100"/>
              </a:spcAft>
            </a:pPr>
            <a:r>
              <a:rPr sz="1580" b="0" i="0">
                <a:solidFill>
                  <a:srgbClr val="2C3A4B"/>
                </a:solidFill>
                <a:latin typeface="Segoe UI"/>
                <a:ea typeface="맑은 고딕"/>
                <a:cs typeface="맑은 고딕"/>
              </a:rPr>
              <a:t>–  Fig. 4 의 슬라이스 그림에도 Tensor Register File 과 나란히 Vector Register File 이 그려져 있다. 같은 것으로 보인다</a:t>
            </a:r>
          </a:p>
          <a:p>
            <a:pPr algn="l">
              <a:lnSpc>
                <a:spcPct val="118000"/>
              </a:lnSpc>
              <a:spcBef>
                <a:spcPts val="200"/>
              </a:spcBef>
              <a:spcAft>
                <a:spcPts val="100"/>
              </a:spcAft>
            </a:pPr>
            <a:r>
              <a:rPr sz="1580" b="1" i="0">
                <a:solidFill>
                  <a:srgbClr val="2C3A4B"/>
                </a:solidFill>
                <a:latin typeface="Segoe UI"/>
                <a:ea typeface="맑은 고딕"/>
                <a:cs typeface="맑은 고딕"/>
              </a:rPr>
              <a:t>–  chain 으로 묶인 functional unit 사이의 중간값을 담아 두는 저장소로 읽힌다. 논문은 VRF 의 용량·포트 수를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정수 클러스터와 부동소수 클러스터가 각각 여러 장. 초월함수가 하드웨어에 직접 들어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ArithmeticUnit (2) — Spatial/Temporal Reduction · Type Conversion</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Spatial / Temporal Reduction (공간 / 시간 축약) — ArithmeticUnit 하단 블록</a:t>
            </a:r>
          </a:p>
          <a:p>
            <a:pPr algn="l">
              <a:lnSpc>
                <a:spcPct val="118000"/>
              </a:lnSpc>
              <a:spcBef>
                <a:spcPts val="200"/>
              </a:spcBef>
              <a:spcAft>
                <a:spcPts val="100"/>
              </a:spcAft>
            </a:pPr>
            <a:r>
              <a:rPr sz="1480" b="0" i="0">
                <a:solidFill>
                  <a:srgbClr val="2C3A4B"/>
                </a:solidFill>
                <a:latin typeface="Segoe UI"/>
                <a:ea typeface="맑은 고딕"/>
                <a:cs typeface="맑은 고딕"/>
              </a:rPr>
              <a:t>–  spatial reduction: 한 사이클에 병렬로 들어온 여러 lane 의 값을 합친다 — CE 에서 DPE 의 reduction tree 가 하는 일과 같은 축이다</a:t>
            </a:r>
          </a:p>
          <a:p>
            <a:pPr algn="l">
              <a:lnSpc>
                <a:spcPct val="118000"/>
              </a:lnSpc>
              <a:spcBef>
                <a:spcPts val="200"/>
              </a:spcBef>
              <a:spcAft>
                <a:spcPts val="100"/>
              </a:spcAft>
            </a:pPr>
            <a:r>
              <a:rPr sz="1480" b="0" i="0">
                <a:solidFill>
                  <a:srgbClr val="2C3A4B"/>
                </a:solidFill>
                <a:latin typeface="Segoe UI"/>
                <a:ea typeface="맑은 고딕"/>
                <a:cs typeface="맑은 고딕"/>
              </a:rPr>
              <a:t>–  temporal reduction: 여러 사이클에 걸쳐 흘러 들어온 값을 누적한다 — CE 에서 accumulation unit 이 하는 일과 같은 축이다</a:t>
            </a:r>
          </a:p>
          <a:p>
            <a:pPr algn="l">
              <a:lnSpc>
                <a:spcPct val="118000"/>
              </a:lnSpc>
              <a:spcBef>
                <a:spcPts val="200"/>
              </a:spcBef>
              <a:spcAft>
                <a:spcPts val="100"/>
              </a:spcAft>
            </a:pPr>
            <a:r>
              <a:rPr sz="1480" b="0" i="0">
                <a:solidFill>
                  <a:srgbClr val="2C3A4B"/>
                </a:solidFill>
                <a:latin typeface="Segoe UI"/>
                <a:ea typeface="맑은 고딕"/>
                <a:cs typeface="맑은 고딕"/>
              </a:rPr>
              <a:t>–  용어의 근거는 본문의 CE 서술이다. "spatially summing element-wise multiplication results" 와 "temporally accumulated by an accumulation unit"</a:t>
            </a:r>
          </a:p>
          <a:p>
            <a:pPr algn="l">
              <a:lnSpc>
                <a:spcPct val="118000"/>
              </a:lnSpc>
              <a:spcBef>
                <a:spcPts val="200"/>
              </a:spcBef>
              <a:spcAft>
                <a:spcPts val="100"/>
              </a:spcAft>
            </a:pPr>
            <a:r>
              <a:rPr sz="1480" b="1" i="0">
                <a:solidFill>
                  <a:srgbClr val="2C3A4B"/>
                </a:solidFill>
                <a:latin typeface="Segoe UI"/>
                <a:ea typeface="맑은 고딕"/>
                <a:cs typeface="맑은 고딕"/>
              </a:rPr>
              <a:t>–  단, 본문 IV-D 는 spatial/temporal 구분을 서술하지 않는다. 이 블록명은 Fig. 7 에만 있다</a:t>
            </a:r>
          </a:p>
          <a:p>
            <a:pPr algn="l">
              <a:lnSpc>
                <a:spcPct val="118000"/>
              </a:lnSpc>
              <a:spcBef>
                <a:spcPts val="600"/>
              </a:spcBef>
              <a:spcAft>
                <a:spcPts val="200"/>
              </a:spcAft>
            </a:pPr>
            <a:r>
              <a:rPr sz="1600" b="1" i="0">
                <a:solidFill>
                  <a:srgbClr val="083F80"/>
                </a:solidFill>
                <a:latin typeface="Segoe UI"/>
                <a:ea typeface="맑은 고딕"/>
                <a:cs typeface="맑은 고딕"/>
              </a:rPr>
              <a:t>▪  Type Conversion (자료형 변환) — 그 아래 블록</a:t>
            </a:r>
          </a:p>
          <a:p>
            <a:pPr algn="l">
              <a:lnSpc>
                <a:spcPct val="118000"/>
              </a:lnSpc>
              <a:spcBef>
                <a:spcPts val="200"/>
              </a:spcBef>
              <a:spcAft>
                <a:spcPts val="100"/>
              </a:spcAft>
            </a:pPr>
            <a:r>
              <a:rPr sz="1480" b="0" i="0">
                <a:solidFill>
                  <a:srgbClr val="2C3A4B"/>
                </a:solidFill>
                <a:latin typeface="Segoe UI"/>
                <a:ea typeface="맑은 고딕"/>
                <a:cs typeface="맑은 고딕"/>
              </a:rPr>
              <a:t>–  INT4/8/16/32, FP8, FP16/BF16, FP32 사이의 변환과 quantization 전부를 담당한다</a:t>
            </a:r>
          </a:p>
          <a:p>
            <a:pPr algn="l">
              <a:lnSpc>
                <a:spcPct val="118000"/>
              </a:lnSpc>
              <a:spcBef>
                <a:spcPts val="200"/>
              </a:spcBef>
              <a:spcAft>
                <a:spcPts val="100"/>
              </a:spcAft>
            </a:pPr>
            <a:r>
              <a:rPr sz="1480" b="0" i="0">
                <a:solidFill>
                  <a:srgbClr val="2C3A4B"/>
                </a:solidFill>
                <a:latin typeface="Segoe UI"/>
                <a:ea typeface="맑은 고딕"/>
                <a:cs typeface="맑은 고딕"/>
              </a:rPr>
              <a:t>–  CE 는 저정밀 입력을 받고 FP32/INT32 로 출력하므로, 앞뒤 단계의 정밀도 정합을 누군가는 맞춰야 한다. 그 자리가 여기다</a:t>
            </a:r>
          </a:p>
          <a:p>
            <a:pPr algn="l">
              <a:lnSpc>
                <a:spcPct val="118000"/>
              </a:lnSpc>
              <a:spcBef>
                <a:spcPts val="600"/>
              </a:spcBef>
              <a:spcAft>
                <a:spcPts val="200"/>
              </a:spcAft>
            </a:pPr>
            <a:r>
              <a:rPr sz="1600" b="1" i="0">
                <a:solidFill>
                  <a:srgbClr val="083F80"/>
                </a:solidFill>
                <a:latin typeface="Segoe UI"/>
                <a:ea typeface="맑은 고딕"/>
                <a:cs typeface="맑은 고딕"/>
              </a:rPr>
              <a:t>▪  참고: 자료형 변환기는 파이프라인 세 곳에 있다 — Fetch Unit 의 fetch process unit(IV-B), VE 의 Type Conversion(IV-D), Commit Unit 의 commit process unit(IV-F)</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VE 도 CE 와 같은 두 축(공간·시간)의 축약을 갖는다. 그리고 파이프라인 세 곳에 변환기가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VE 처리량과 CE 와의 역할 분담</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143</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처리량</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슬라이스 하나의 VE 처리량</a:t>
            </a:r>
          </a:p>
          <a:p>
            <a:pPr algn="l">
              <a:lnSpc>
                <a:spcPct val="118000"/>
              </a:lnSpc>
              <a:spcBef>
                <a:spcPts val="200"/>
              </a:spcBef>
              <a:spcAft>
                <a:spcPts val="100"/>
              </a:spcAft>
            </a:pPr>
            <a:r>
              <a:rPr sz="1380" b="0" i="0">
                <a:solidFill>
                  <a:srgbClr val="2C3A4B"/>
                </a:solidFill>
                <a:latin typeface="Segoe UI"/>
                <a:ea typeface="맑은 고딕"/>
                <a:cs typeface="맑은 고딕"/>
              </a:rPr>
              <a:t>–  8-way INT32</a:t>
            </a:r>
          </a:p>
          <a:p>
            <a:pPr algn="l">
              <a:lnSpc>
                <a:spcPct val="118000"/>
              </a:lnSpc>
              <a:spcBef>
                <a:spcPts val="200"/>
              </a:spcBef>
              <a:spcAft>
                <a:spcPts val="100"/>
              </a:spcAft>
            </a:pPr>
            <a:r>
              <a:rPr sz="1380" b="0" i="0">
                <a:solidFill>
                  <a:srgbClr val="2C3A4B"/>
                </a:solidFill>
                <a:latin typeface="Segoe UI"/>
                <a:ea typeface="맑은 고딕"/>
                <a:cs typeface="맑은 고딕"/>
              </a:rPr>
              <a:t>–  4-way FP32</a:t>
            </a:r>
          </a:p>
          <a:p>
            <a:pPr algn="l">
              <a:lnSpc>
                <a:spcPct val="118000"/>
              </a:lnSpc>
              <a:spcBef>
                <a:spcPts val="600"/>
              </a:spcBef>
              <a:spcAft>
                <a:spcPts val="200"/>
              </a:spcAft>
            </a:pPr>
            <a:r>
              <a:rPr sz="1500" b="1" i="0">
                <a:solidFill>
                  <a:srgbClr val="083F80"/>
                </a:solidFill>
                <a:latin typeface="Segoe UI"/>
                <a:ea typeface="맑은 고딕"/>
                <a:cs typeface="맑은 고딕"/>
              </a:rPr>
              <a:t>▪  Table I: PE 당 Vector Engine 은 512 ways 다</a:t>
            </a:r>
          </a:p>
          <a:p>
            <a:pPr algn="l">
              <a:lnSpc>
                <a:spcPct val="118000"/>
              </a:lnSpc>
              <a:spcBef>
                <a:spcPts val="200"/>
              </a:spcBef>
              <a:spcAft>
                <a:spcPts val="100"/>
              </a:spcAft>
            </a:pPr>
            <a:r>
              <a:rPr sz="1380" b="0" i="0">
                <a:solidFill>
                  <a:srgbClr val="2C3A4B"/>
                </a:solidFill>
                <a:latin typeface="Segoe UI"/>
                <a:ea typeface="맑은 고딕"/>
                <a:cs typeface="맑은 고딕"/>
              </a:rPr>
              <a:t>–  TU 는 64 + 1 슬라이스를 갖는다 (1개는 수율 개선용 예비)</a:t>
            </a:r>
          </a:p>
          <a:p>
            <a:pPr algn="l">
              <a:lnSpc>
                <a:spcPct val="118000"/>
              </a:lnSpc>
              <a:spcBef>
                <a:spcPts val="200"/>
              </a:spcBef>
              <a:spcAft>
                <a:spcPts val="100"/>
              </a:spcAft>
            </a:pPr>
            <a:r>
              <a:rPr sz="1380" b="0" i="0">
                <a:solidFill>
                  <a:srgbClr val="2C3A4B"/>
                </a:solidFill>
                <a:latin typeface="Segoe UI"/>
                <a:ea typeface="맑은 고딕"/>
                <a:cs typeface="맑은 고딕"/>
              </a:rPr>
              <a:t>–  64 × 8-way INT32 = 512 ways 로 정합한다 [논문 수치로부터의 계산]</a:t>
            </a:r>
          </a:p>
          <a:p>
            <a:pPr algn="l">
              <a:lnSpc>
                <a:spcPct val="118000"/>
              </a:lnSpc>
              <a:spcBef>
                <a:spcPts val="600"/>
              </a:spcBef>
              <a:spcAft>
                <a:spcPts val="200"/>
              </a:spcAft>
            </a:pPr>
            <a:r>
              <a:rPr sz="1500" b="0" i="0">
                <a:solidFill>
                  <a:srgbClr val="16202C"/>
                </a:solidFill>
                <a:latin typeface="Segoe UI"/>
                <a:ea typeface="맑은 고딕"/>
                <a:cs typeface="맑은 고딕"/>
              </a:rPr>
              <a:t>▪  CE 쪽과 비교하면 규모 차이가 크다. 슬라이스당 CE 는 BF16 기준 256 MAC 인 반면 VE 는 8-way 다</a:t>
            </a:r>
          </a:p>
          <a:p>
            <a:pPr algn="l">
              <a:lnSpc>
                <a:spcPct val="118000"/>
              </a:lnSpc>
              <a:spcBef>
                <a:spcPts val="600"/>
              </a:spcBef>
              <a:spcAft>
                <a:spcPts val="200"/>
              </a:spcAft>
            </a:pPr>
            <a:r>
              <a:rPr sz="1500" b="1" i="0">
                <a:solidFill>
                  <a:srgbClr val="083F80"/>
                </a:solidFill>
                <a:latin typeface="Segoe UI"/>
                <a:ea typeface="맑은 고딕"/>
                <a:cs typeface="맑은 고딕"/>
              </a:rPr>
              <a:t>▪  VE 는 연산량을 감당하는 유닛이 아니라, 연산 사이를 메우는 유닛이다</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왜 나눴나</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CE 의 담당</a:t>
            </a:r>
          </a:p>
          <a:p>
            <a:pPr algn="l">
              <a:lnSpc>
                <a:spcPct val="118000"/>
              </a:lnSpc>
              <a:spcBef>
                <a:spcPts val="200"/>
              </a:spcBef>
              <a:spcAft>
                <a:spcPts val="100"/>
              </a:spcAft>
            </a:pPr>
            <a:r>
              <a:rPr sz="1280" b="0" i="0">
                <a:solidFill>
                  <a:srgbClr val="2C3A4B"/>
                </a:solidFill>
                <a:latin typeface="Segoe UI"/>
                <a:ea typeface="맑은 고딕"/>
                <a:cs typeface="맑은 고딕"/>
              </a:rPr>
              <a:t>–  저정밀 dot product 전담: INT4/8, BF16, FP8</a:t>
            </a:r>
          </a:p>
          <a:p>
            <a:pPr algn="l">
              <a:lnSpc>
                <a:spcPct val="118000"/>
              </a:lnSpc>
              <a:spcBef>
                <a:spcPts val="200"/>
              </a:spcBef>
              <a:spcAft>
                <a:spcPts val="100"/>
              </a:spcAft>
            </a:pPr>
            <a:r>
              <a:rPr sz="1280" b="1" i="0">
                <a:solidFill>
                  <a:srgbClr val="2C3A4B"/>
                </a:solidFill>
                <a:latin typeface="Segoe UI"/>
                <a:ea typeface="맑은 고딕"/>
                <a:cs typeface="맑은 고딕"/>
              </a:rPr>
              <a:t>–  이유: area and power efficiency (면적과 전력 효율)</a:t>
            </a:r>
          </a:p>
          <a:p>
            <a:pPr algn="l">
              <a:lnSpc>
                <a:spcPct val="118000"/>
              </a:lnSpc>
              <a:spcBef>
                <a:spcPts val="600"/>
              </a:spcBef>
              <a:spcAft>
                <a:spcPts val="200"/>
              </a:spcAft>
            </a:pPr>
            <a:r>
              <a:rPr sz="1400" b="1" i="0">
                <a:solidFill>
                  <a:srgbClr val="083F80"/>
                </a:solidFill>
                <a:latin typeface="Segoe UI"/>
                <a:ea typeface="맑은 고딕"/>
                <a:cs typeface="맑은 고딕"/>
              </a:rPr>
              <a:t>▪  VE 의 담당</a:t>
            </a:r>
          </a:p>
          <a:p>
            <a:pPr algn="l">
              <a:lnSpc>
                <a:spcPct val="118000"/>
              </a:lnSpc>
              <a:spcBef>
                <a:spcPts val="200"/>
              </a:spcBef>
              <a:spcAft>
                <a:spcPts val="100"/>
              </a:spcAft>
            </a:pPr>
            <a:r>
              <a:rPr sz="1280" b="0" i="0">
                <a:solidFill>
                  <a:srgbClr val="2C3A4B"/>
                </a:solidFill>
                <a:latin typeface="Segoe UI"/>
                <a:ea typeface="맑은 고딕"/>
                <a:cs typeface="맑은 고딕"/>
              </a:rPr>
              <a:t>–  INT32 / FP32 dot product 도 지원한다</a:t>
            </a:r>
          </a:p>
          <a:p>
            <a:pPr algn="l">
              <a:lnSpc>
                <a:spcPct val="118000"/>
              </a:lnSpc>
              <a:spcBef>
                <a:spcPts val="200"/>
              </a:spcBef>
              <a:spcAft>
                <a:spcPts val="100"/>
              </a:spcAft>
            </a:pPr>
            <a:r>
              <a:rPr sz="1280" b="0" i="0">
                <a:solidFill>
                  <a:srgbClr val="2C3A4B"/>
                </a:solidFill>
                <a:latin typeface="Segoe UI"/>
                <a:ea typeface="맑은 고딕"/>
                <a:cs typeface="맑은 고딕"/>
              </a:rPr>
              <a:t>–  그 밖의 각종 산술 연산도 지원한다</a:t>
            </a:r>
          </a:p>
          <a:p>
            <a:pPr algn="l">
              <a:lnSpc>
                <a:spcPct val="118000"/>
              </a:lnSpc>
              <a:spcBef>
                <a:spcPts val="200"/>
              </a:spcBef>
              <a:spcAft>
                <a:spcPts val="100"/>
              </a:spcAft>
            </a:pPr>
            <a:r>
              <a:rPr sz="1280" b="1" i="0">
                <a:solidFill>
                  <a:srgbClr val="2C3A4B"/>
                </a:solidFill>
                <a:latin typeface="Segoe UI"/>
                <a:ea typeface="맑은 고딕"/>
                <a:cs typeface="맑은 고딕"/>
              </a:rPr>
              <a:t>–  이유: flexibility (유연성)</a:t>
            </a:r>
          </a:p>
          <a:p>
            <a:pPr algn="l">
              <a:lnSpc>
                <a:spcPct val="118000"/>
              </a:lnSpc>
              <a:spcBef>
                <a:spcPts val="600"/>
              </a:spcBef>
              <a:spcAft>
                <a:spcPts val="200"/>
              </a:spcAft>
            </a:pPr>
            <a:r>
              <a:rPr sz="1400" b="1" i="0">
                <a:solidFill>
                  <a:srgbClr val="083F80"/>
                </a:solidFill>
                <a:latin typeface="Segoe UI"/>
                <a:ea typeface="맑은 고딕"/>
                <a:cs typeface="맑은 고딕"/>
              </a:rPr>
              <a:t>▪  정리: 정밀도가 필요하면 VE, 처리량이 필요하면 CE 다</a:t>
            </a:r>
          </a:p>
          <a:p>
            <a:pPr algn="l">
              <a:lnSpc>
                <a:spcPct val="118000"/>
              </a:lnSpc>
              <a:spcBef>
                <a:spcPts val="600"/>
              </a:spcBef>
              <a:spcAft>
                <a:spcPts val="200"/>
              </a:spcAft>
            </a:pPr>
            <a:r>
              <a:rPr sz="1400" b="0" i="0">
                <a:solidFill>
                  <a:srgbClr val="16202C"/>
                </a:solidFill>
                <a:latin typeface="Segoe UI"/>
                <a:ea typeface="맑은 고딕"/>
                <a:cs typeface="맑은 고딕"/>
              </a:rPr>
              <a:t>▪  덕분에 CE 는 고정밀 경로를 아예 갖지 않아도 되고, 그만큼 면적과 전력을 아낀다</a:t>
            </a:r>
          </a:p>
          <a:p>
            <a:pPr algn="l">
              <a:lnSpc>
                <a:spcPct val="118000"/>
              </a:lnSpc>
              <a:spcBef>
                <a:spcPts val="600"/>
              </a:spcBef>
              <a:spcAft>
                <a:spcPts val="200"/>
              </a:spcAft>
            </a:pPr>
            <a:r>
              <a:rPr sz="1400" b="0" i="0">
                <a:solidFill>
                  <a:srgbClr val="16202C"/>
                </a:solidFill>
                <a:latin typeface="Segoe UI"/>
                <a:ea typeface="맑은 고딕"/>
                <a:cs typeface="맑은 고딕"/>
              </a:rPr>
              <a:t>▪  드물게 등장하는 FP32 내적 때문에 대형 MAC 어레이 전체를 FP32 로 만드는 낭비를 피한 설계다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CE 는 저정밀 내적, VE 는 고정밀·유연성. 서로 다른 목적을 맡는다.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VE 가 LLM 을 빠르게 만드는 지점 — softmax 가 슬라이스를 넘는 길</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exp 는 하드웨어로, 분모는 두 채널의 왕복으로</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144</a:t>
            </a:r>
          </a:p>
        </p:txBody>
      </p:sp>
      <p:grpSp>
        <p:nvGrpSpPr>
          <p:cNvPr id="9" name="도해 A5#22"/>
          <p:cNvGrpSpPr/>
          <p:nvPr/>
        </p:nvGrpSpPr>
        <p:grpSpPr>
          <a:xfrm>
            <a:off x="1245000" y="1463040"/>
            <a:ext cx="9701695" cy="4078224"/>
            <a:chOff x="1245000" y="1463040"/>
            <a:chExt cx="9701695" cy="4078224"/>
          </a:xfrm>
        </p:grpSpPr>
        <p:sp>
          <p:nvSpPr>
            <p:cNvPr id="10" name="TextBox 9"/>
            <p:cNvSpPr txBox="1"/>
            <p:nvPr/>
          </p:nvSpPr>
          <p:spPr>
            <a:xfrm>
              <a:off x="1245000" y="1477966"/>
              <a:ext cx="2860288" cy="222481"/>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softmax — 슬라이스 경계를 넘는 분모 계산</a:t>
              </a:r>
            </a:p>
          </p:txBody>
        </p:sp>
        <p:cxnSp>
          <p:nvCxnSpPr>
            <p:cNvPr id="11" name="Connector 10"/>
            <p:cNvCxnSpPr/>
            <p:nvPr/>
          </p:nvCxnSpPr>
          <p:spPr>
            <a:xfrm>
              <a:off x="7434769" y="1546448"/>
              <a:ext cx="351193" cy="0"/>
            </a:xfrm>
            <a:prstGeom prst="line">
              <a:avLst/>
            </a:prstGeom>
            <a:ln w="28534">
              <a:solidFill>
                <a:srgbClr val="B422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51810" y="1463040"/>
              <a:ext cx="1407185" cy="15891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Inter-Slice Reduce Channel</a:t>
              </a:r>
            </a:p>
          </p:txBody>
        </p:sp>
        <p:cxnSp>
          <p:nvCxnSpPr>
            <p:cNvPr id="13" name="Connector 12"/>
            <p:cNvCxnSpPr/>
            <p:nvPr/>
          </p:nvCxnSpPr>
          <p:spPr>
            <a:xfrm>
              <a:off x="7434769" y="1743994"/>
              <a:ext cx="351193" cy="0"/>
            </a:xfrm>
            <a:prstGeom prst="line">
              <a:avLst/>
            </a:prstGeom>
            <a:ln w="28534">
              <a:solidFill>
                <a:srgbClr val="0B5FC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51810" y="1660586"/>
              <a:ext cx="1532846" cy="15891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Inter-Slice Distribute Channel</a:t>
              </a:r>
            </a:p>
          </p:txBody>
        </p:sp>
        <p:sp>
          <p:nvSpPr>
            <p:cNvPr id="15" name="Rounded Rectangle 14"/>
            <p:cNvSpPr/>
            <p:nvPr/>
          </p:nvSpPr>
          <p:spPr>
            <a:xfrm>
              <a:off x="1245000" y="1875691"/>
              <a:ext cx="2897339" cy="2085206"/>
            </a:xfrm>
            <a:prstGeom prst="roundRect">
              <a:avLst>
                <a:gd name="adj" fmla="val 4736"/>
              </a:avLst>
            </a:prstGeom>
            <a:solidFill>
              <a:srgbClr val="F4F8FD"/>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59380" y="1875691"/>
              <a:ext cx="2897339" cy="2085206"/>
            </a:xfrm>
            <a:prstGeom prst="roundRect">
              <a:avLst>
                <a:gd name="adj" fmla="val 4736"/>
              </a:avLst>
            </a:prstGeom>
            <a:solidFill>
              <a:srgbClr val="F4F8FD"/>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73760" y="1875691"/>
              <a:ext cx="2897339" cy="2085206"/>
            </a:xfrm>
            <a:prstGeom prst="roundRect">
              <a:avLst>
                <a:gd name="adj" fmla="val 4736"/>
              </a:avLst>
            </a:prstGeom>
            <a:solidFill>
              <a:srgbClr val="F4F8FD"/>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92618" y="1979952"/>
              <a:ext cx="602103" cy="198643"/>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Slice k-1</a:t>
              </a:r>
            </a:p>
          </p:txBody>
        </p:sp>
        <p:sp>
          <p:nvSpPr>
            <p:cNvPr id="19" name="TextBox 18"/>
            <p:cNvSpPr txBox="1"/>
            <p:nvPr/>
          </p:nvSpPr>
          <p:spPr>
            <a:xfrm>
              <a:off x="5767153" y="1979952"/>
              <a:ext cx="481792" cy="198643"/>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Slice k</a:t>
              </a:r>
            </a:p>
          </p:txBody>
        </p:sp>
        <p:sp>
          <p:nvSpPr>
            <p:cNvPr id="20" name="TextBox 19"/>
            <p:cNvSpPr txBox="1"/>
            <p:nvPr/>
          </p:nvSpPr>
          <p:spPr>
            <a:xfrm>
              <a:off x="9000594" y="1979952"/>
              <a:ext cx="643670" cy="198643"/>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Slice k+1</a:t>
              </a:r>
            </a:p>
          </p:txBody>
        </p:sp>
        <p:sp>
          <p:nvSpPr>
            <p:cNvPr id="21" name="Rounded Rectangle 20"/>
            <p:cNvSpPr/>
            <p:nvPr/>
          </p:nvSpPr>
          <p:spPr>
            <a:xfrm>
              <a:off x="1442546" y="2292733"/>
              <a:ext cx="2502247" cy="460940"/>
            </a:xfrm>
            <a:prstGeom prst="roundRect">
              <a:avLst>
                <a:gd name="adj" fmla="val 14285"/>
              </a:avLst>
            </a:prstGeom>
            <a:solidFill>
              <a:srgbClr val="E2F4E8"/>
            </a:solidFill>
            <a:ln w="1975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756926" y="2292733"/>
              <a:ext cx="2502247" cy="460940"/>
            </a:xfrm>
            <a:prstGeom prst="roundRect">
              <a:avLst>
                <a:gd name="adj" fmla="val 14285"/>
              </a:avLst>
            </a:prstGeom>
            <a:solidFill>
              <a:srgbClr val="E2F4E8"/>
            </a:solidFill>
            <a:ln w="1975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71306" y="2292733"/>
              <a:ext cx="2502247" cy="460940"/>
            </a:xfrm>
            <a:prstGeom prst="roundRect">
              <a:avLst>
                <a:gd name="adj" fmla="val 14285"/>
              </a:avLst>
            </a:prstGeom>
            <a:solidFill>
              <a:srgbClr val="E2F4E8"/>
            </a:solidFill>
            <a:ln w="1975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56583" y="2365824"/>
              <a:ext cx="1074172" cy="182752"/>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Fp.Cluster — exp</a:t>
              </a:r>
            </a:p>
          </p:txBody>
        </p:sp>
        <p:sp>
          <p:nvSpPr>
            <p:cNvPr id="25" name="TextBox 24"/>
            <p:cNvSpPr txBox="1"/>
            <p:nvPr/>
          </p:nvSpPr>
          <p:spPr>
            <a:xfrm>
              <a:off x="5470963" y="2365824"/>
              <a:ext cx="1074172" cy="182752"/>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Fp.Cluster — exp</a:t>
              </a:r>
            </a:p>
          </p:txBody>
        </p:sp>
        <p:sp>
          <p:nvSpPr>
            <p:cNvPr id="26" name="TextBox 25"/>
            <p:cNvSpPr txBox="1"/>
            <p:nvPr/>
          </p:nvSpPr>
          <p:spPr>
            <a:xfrm>
              <a:off x="8785343" y="2365824"/>
              <a:ext cx="1074172" cy="182752"/>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Fp.Cluster — exp</a:t>
              </a:r>
            </a:p>
          </p:txBody>
        </p:sp>
        <p:sp>
          <p:nvSpPr>
            <p:cNvPr id="27" name="TextBox 26"/>
            <p:cNvSpPr txBox="1"/>
            <p:nvPr/>
          </p:nvSpPr>
          <p:spPr>
            <a:xfrm>
              <a:off x="2015977" y="2560517"/>
              <a:ext cx="1355384"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원소별 지수, 하드웨어로 처리</a:t>
              </a:r>
            </a:p>
          </p:txBody>
        </p:sp>
        <p:sp>
          <p:nvSpPr>
            <p:cNvPr id="28" name="TextBox 27"/>
            <p:cNvSpPr txBox="1"/>
            <p:nvPr/>
          </p:nvSpPr>
          <p:spPr>
            <a:xfrm>
              <a:off x="5330357" y="2560517"/>
              <a:ext cx="1355384"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원소별 지수, 하드웨어로 처리</a:t>
              </a:r>
            </a:p>
          </p:txBody>
        </p:sp>
        <p:sp>
          <p:nvSpPr>
            <p:cNvPr id="29" name="TextBox 28"/>
            <p:cNvSpPr txBox="1"/>
            <p:nvPr/>
          </p:nvSpPr>
          <p:spPr>
            <a:xfrm>
              <a:off x="8644738" y="2560517"/>
              <a:ext cx="1355384"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원소별 지수, 하드웨어로 처리</a:t>
              </a:r>
            </a:p>
          </p:txBody>
        </p:sp>
        <p:cxnSp>
          <p:nvCxnSpPr>
            <p:cNvPr id="30" name="Connector 29"/>
            <p:cNvCxnSpPr/>
            <p:nvPr/>
          </p:nvCxnSpPr>
          <p:spPr>
            <a:xfrm>
              <a:off x="2693669" y="2753673"/>
              <a:ext cx="0" cy="131697"/>
            </a:xfrm>
            <a:prstGeom prst="line">
              <a:avLst/>
            </a:prstGeom>
            <a:ln w="1755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08049" y="2753673"/>
              <a:ext cx="0" cy="131697"/>
            </a:xfrm>
            <a:prstGeom prst="line">
              <a:avLst/>
            </a:prstGeom>
            <a:ln w="1755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22429" y="2753673"/>
              <a:ext cx="0" cy="131697"/>
            </a:xfrm>
            <a:prstGeom prst="line">
              <a:avLst/>
            </a:prstGeom>
            <a:ln w="17559">
              <a:solidFill>
                <a:srgbClr val="16202C"/>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2638795" y="2885370"/>
              <a:ext cx="109748" cy="87798"/>
            </a:xfrm>
            <a:custGeom>
              <a:avLst/>
              <a:gdLst/>
              <a:ahLst/>
              <a:cxnLst/>
              <a:rect l="l" t="t" r="r" b="b"/>
              <a:pathLst>
                <a:path w="109748" h="87798">
                  <a:moveTo>
                    <a:pt x="0" y="0"/>
                  </a:moveTo>
                  <a:lnTo>
                    <a:pt x="109748" y="0"/>
                  </a:lnTo>
                  <a:lnTo>
                    <a:pt x="54874" y="87798"/>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953176" y="2885370"/>
              <a:ext cx="109747" cy="87798"/>
            </a:xfrm>
            <a:custGeom>
              <a:avLst/>
              <a:gdLst/>
              <a:ahLst/>
              <a:cxnLst/>
              <a:rect l="l" t="t" r="r" b="b"/>
              <a:pathLst>
                <a:path w="109747" h="87798">
                  <a:moveTo>
                    <a:pt x="0" y="0"/>
                  </a:moveTo>
                  <a:lnTo>
                    <a:pt x="109747" y="0"/>
                  </a:lnTo>
                  <a:lnTo>
                    <a:pt x="54873" y="87798"/>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9267556" y="2885370"/>
              <a:ext cx="109747" cy="87798"/>
            </a:xfrm>
            <a:custGeom>
              <a:avLst/>
              <a:gdLst/>
              <a:ahLst/>
              <a:cxnLst/>
              <a:rect l="l" t="t" r="r" b="b"/>
              <a:pathLst>
                <a:path w="109747" h="87798">
                  <a:moveTo>
                    <a:pt x="0" y="0"/>
                  </a:moveTo>
                  <a:lnTo>
                    <a:pt x="109747" y="0"/>
                  </a:lnTo>
                  <a:lnTo>
                    <a:pt x="54873" y="87798"/>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442546" y="2973168"/>
              <a:ext cx="2502247" cy="460940"/>
            </a:xfrm>
            <a:prstGeom prst="roundRect">
              <a:avLst>
                <a:gd name="adj" fmla="val 14285"/>
              </a:avLst>
            </a:prstGeom>
            <a:solidFill>
              <a:srgbClr val="FDE8E8"/>
            </a:solidFill>
            <a:ln w="1975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756926" y="2973168"/>
              <a:ext cx="2502247" cy="460940"/>
            </a:xfrm>
            <a:prstGeom prst="roundRect">
              <a:avLst>
                <a:gd name="adj" fmla="val 14285"/>
              </a:avLst>
            </a:prstGeom>
            <a:solidFill>
              <a:srgbClr val="FDE8E8"/>
            </a:solidFill>
            <a:ln w="1975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071306" y="2973168"/>
              <a:ext cx="2502247" cy="460940"/>
            </a:xfrm>
            <a:prstGeom prst="roundRect">
              <a:avLst>
                <a:gd name="adj" fmla="val 14285"/>
              </a:avLst>
            </a:prstGeom>
            <a:solidFill>
              <a:srgbClr val="FDE8E8"/>
            </a:solidFill>
            <a:ln w="19754">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84728" y="3046260"/>
              <a:ext cx="1017882" cy="182752"/>
            </a:xfrm>
            <a:prstGeom prst="rect">
              <a:avLst/>
            </a:prstGeom>
            <a:noFill/>
          </p:spPr>
          <p:txBody>
            <a:bodyPr wrap="none" anchor="ctr" lIns="0" rIns="0" tIns="0" bIns="0">
              <a:noAutofit/>
            </a:bodyPr>
            <a:lstStyle/>
            <a:p>
              <a:pPr algn="ctr"/>
              <a:r>
                <a:rPr sz="990" b="1">
                  <a:solidFill>
                    <a:srgbClr val="B4222A"/>
                  </a:solidFill>
                  <a:latin typeface="맑은 고딕"/>
                  <a:ea typeface="맑은 고딕"/>
                  <a:cs typeface="맑은 고딕"/>
                </a:rPr>
                <a:t>ReduceUnit — Σ</a:t>
              </a:r>
            </a:p>
          </p:txBody>
        </p:sp>
        <p:sp>
          <p:nvSpPr>
            <p:cNvPr id="40" name="TextBox 39"/>
            <p:cNvSpPr txBox="1"/>
            <p:nvPr/>
          </p:nvSpPr>
          <p:spPr>
            <a:xfrm>
              <a:off x="5499108" y="3046260"/>
              <a:ext cx="1017882" cy="182752"/>
            </a:xfrm>
            <a:prstGeom prst="rect">
              <a:avLst/>
            </a:prstGeom>
            <a:noFill/>
          </p:spPr>
          <p:txBody>
            <a:bodyPr wrap="none" anchor="ctr" lIns="0" rIns="0" tIns="0" bIns="0">
              <a:noAutofit/>
            </a:bodyPr>
            <a:lstStyle/>
            <a:p>
              <a:pPr algn="ctr"/>
              <a:r>
                <a:rPr sz="990" b="1">
                  <a:solidFill>
                    <a:srgbClr val="B4222A"/>
                  </a:solidFill>
                  <a:latin typeface="맑은 고딕"/>
                  <a:ea typeface="맑은 고딕"/>
                  <a:cs typeface="맑은 고딕"/>
                </a:rPr>
                <a:t>ReduceUnit — Σ</a:t>
              </a:r>
            </a:p>
          </p:txBody>
        </p:sp>
        <p:sp>
          <p:nvSpPr>
            <p:cNvPr id="41" name="TextBox 40"/>
            <p:cNvSpPr txBox="1"/>
            <p:nvPr/>
          </p:nvSpPr>
          <p:spPr>
            <a:xfrm>
              <a:off x="8813488" y="3046260"/>
              <a:ext cx="1017882" cy="182752"/>
            </a:xfrm>
            <a:prstGeom prst="rect">
              <a:avLst/>
            </a:prstGeom>
            <a:noFill/>
          </p:spPr>
          <p:txBody>
            <a:bodyPr wrap="none" anchor="ctr" lIns="0" rIns="0" tIns="0" bIns="0">
              <a:noAutofit/>
            </a:bodyPr>
            <a:lstStyle/>
            <a:p>
              <a:pPr algn="ctr"/>
              <a:r>
                <a:rPr sz="990" b="1">
                  <a:solidFill>
                    <a:srgbClr val="B4222A"/>
                  </a:solidFill>
                  <a:latin typeface="맑은 고딕"/>
                  <a:ea typeface="맑은 고딕"/>
                  <a:cs typeface="맑은 고딕"/>
                </a:rPr>
                <a:t>ReduceUnit — Σ</a:t>
              </a:r>
            </a:p>
          </p:txBody>
        </p:sp>
        <p:sp>
          <p:nvSpPr>
            <p:cNvPr id="42" name="TextBox 41"/>
            <p:cNvSpPr txBox="1"/>
            <p:nvPr/>
          </p:nvSpPr>
          <p:spPr>
            <a:xfrm>
              <a:off x="2194976" y="3240953"/>
              <a:ext cx="997387"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슬라이스 안의 부분합</a:t>
              </a:r>
            </a:p>
          </p:txBody>
        </p:sp>
        <p:sp>
          <p:nvSpPr>
            <p:cNvPr id="43" name="TextBox 42"/>
            <p:cNvSpPr txBox="1"/>
            <p:nvPr/>
          </p:nvSpPr>
          <p:spPr>
            <a:xfrm>
              <a:off x="5509356" y="3240953"/>
              <a:ext cx="997387"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슬라이스 안의 부분합</a:t>
              </a:r>
            </a:p>
          </p:txBody>
        </p:sp>
        <p:sp>
          <p:nvSpPr>
            <p:cNvPr id="44" name="TextBox 43"/>
            <p:cNvSpPr txBox="1"/>
            <p:nvPr/>
          </p:nvSpPr>
          <p:spPr>
            <a:xfrm>
              <a:off x="8823736" y="3240953"/>
              <a:ext cx="997387" cy="158915"/>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슬라이스 안의 부분합</a:t>
              </a:r>
            </a:p>
          </p:txBody>
        </p:sp>
        <p:sp>
          <p:nvSpPr>
            <p:cNvPr id="45" name="TextBox 44"/>
            <p:cNvSpPr txBox="1"/>
            <p:nvPr/>
          </p:nvSpPr>
          <p:spPr>
            <a:xfrm>
              <a:off x="2129566" y="3570196"/>
              <a:ext cx="1128206" cy="158915"/>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이 슬라이스 몫의 exp 합</a:t>
              </a:r>
            </a:p>
          </p:txBody>
        </p:sp>
        <p:sp>
          <p:nvSpPr>
            <p:cNvPr id="46" name="TextBox 45"/>
            <p:cNvSpPr txBox="1"/>
            <p:nvPr/>
          </p:nvSpPr>
          <p:spPr>
            <a:xfrm>
              <a:off x="5443946" y="3570196"/>
              <a:ext cx="1128206" cy="158915"/>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이 슬라이스 몫의 exp 합</a:t>
              </a:r>
            </a:p>
          </p:txBody>
        </p:sp>
        <p:sp>
          <p:nvSpPr>
            <p:cNvPr id="47" name="TextBox 46"/>
            <p:cNvSpPr txBox="1"/>
            <p:nvPr/>
          </p:nvSpPr>
          <p:spPr>
            <a:xfrm>
              <a:off x="8758326" y="3570196"/>
              <a:ext cx="1128206" cy="158915"/>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이 슬라이스 몫의 exp 합</a:t>
              </a:r>
            </a:p>
          </p:txBody>
        </p:sp>
        <p:cxnSp>
          <p:nvCxnSpPr>
            <p:cNvPr id="48" name="Connector 47"/>
            <p:cNvCxnSpPr/>
            <p:nvPr/>
          </p:nvCxnSpPr>
          <p:spPr>
            <a:xfrm>
              <a:off x="3966742" y="3203638"/>
              <a:ext cx="702386" cy="0"/>
            </a:xfrm>
            <a:prstGeom prst="line">
              <a:avLst/>
            </a:prstGeom>
            <a:ln w="28534">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281123" y="3203638"/>
              <a:ext cx="702385" cy="0"/>
            </a:xfrm>
            <a:prstGeom prst="line">
              <a:avLst/>
            </a:prstGeom>
            <a:ln w="28534">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573553" y="3203638"/>
              <a:ext cx="153647" cy="0"/>
            </a:xfrm>
            <a:prstGeom prst="line">
              <a:avLst/>
            </a:prstGeom>
            <a:ln w="28534">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727200" y="3203638"/>
              <a:ext cx="0" cy="910906"/>
            </a:xfrm>
            <a:prstGeom prst="line">
              <a:avLst/>
            </a:prstGeom>
            <a:ln w="28534">
              <a:solidFill>
                <a:srgbClr val="B4222A"/>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4669128" y="3148764"/>
              <a:ext cx="87798" cy="109748"/>
            </a:xfrm>
            <a:custGeom>
              <a:avLst/>
              <a:gdLst/>
              <a:ahLst/>
              <a:cxnLst/>
              <a:rect l="l" t="t" r="r" b="b"/>
              <a:pathLst>
                <a:path w="87798" h="109748">
                  <a:moveTo>
                    <a:pt x="0" y="0"/>
                  </a:moveTo>
                  <a:lnTo>
                    <a:pt x="0" y="109748"/>
                  </a:lnTo>
                  <a:lnTo>
                    <a:pt x="87798" y="54874"/>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983508" y="3148764"/>
              <a:ext cx="87798" cy="109748"/>
            </a:xfrm>
            <a:custGeom>
              <a:avLst/>
              <a:gdLst/>
              <a:ahLst/>
              <a:cxnLst/>
              <a:rect l="l" t="t" r="r" b="b"/>
              <a:pathLst>
                <a:path w="87798" h="109748">
                  <a:moveTo>
                    <a:pt x="0" y="0"/>
                  </a:moveTo>
                  <a:lnTo>
                    <a:pt x="0" y="109748"/>
                  </a:lnTo>
                  <a:lnTo>
                    <a:pt x="87798" y="54874"/>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10672326" y="4114544"/>
              <a:ext cx="109748" cy="87798"/>
            </a:xfrm>
            <a:custGeom>
              <a:avLst/>
              <a:gdLst/>
              <a:ahLst/>
              <a:cxnLst/>
              <a:rect l="l" t="t" r="r" b="b"/>
              <a:pathLst>
                <a:path w="109748" h="87798">
                  <a:moveTo>
                    <a:pt x="0" y="0"/>
                  </a:moveTo>
                  <a:lnTo>
                    <a:pt x="109748" y="0"/>
                  </a:lnTo>
                  <a:lnTo>
                    <a:pt x="54874" y="8779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496123" y="4202342"/>
              <a:ext cx="8450572" cy="482890"/>
            </a:xfrm>
            <a:prstGeom prst="roundRect">
              <a:avLst>
                <a:gd name="adj" fmla="val 18181"/>
              </a:avLst>
            </a:prstGeom>
            <a:solidFill>
              <a:srgbClr val="FFF7E6"/>
            </a:solidFill>
            <a:ln w="2414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87927" y="4278288"/>
              <a:ext cx="2298731" cy="206589"/>
            </a:xfrm>
            <a:prstGeom prst="rect">
              <a:avLst/>
            </a:prstGeom>
            <a:noFill/>
          </p:spPr>
          <p:txBody>
            <a:bodyPr wrap="none" anchor="ctr" lIns="0" rIns="0" tIns="0" bIns="0">
              <a:noAutofit/>
            </a:bodyPr>
            <a:lstStyle/>
            <a:p>
              <a:pPr algn="ctr"/>
              <a:r>
                <a:rPr sz="1120" b="1">
                  <a:solidFill>
                    <a:srgbClr val="B45409"/>
                  </a:solidFill>
                  <a:latin typeface="맑은 고딕"/>
                  <a:ea typeface="맑은 고딕"/>
                  <a:cs typeface="맑은 고딕"/>
                </a:rPr>
                <a:t>전체 분모 = 모든 슬라이스 부분합의 합</a:t>
              </a:r>
            </a:p>
          </p:txBody>
        </p:sp>
        <p:sp>
          <p:nvSpPr>
            <p:cNvPr id="57" name="TextBox 56"/>
            <p:cNvSpPr txBox="1"/>
            <p:nvPr/>
          </p:nvSpPr>
          <p:spPr>
            <a:xfrm>
              <a:off x="4841212" y="4492076"/>
              <a:ext cx="2992161" cy="158915"/>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reduce channel 이 슬라이스를 가로질러 부분합을 모아 완성한다</a:t>
              </a:r>
            </a:p>
          </p:txBody>
        </p:sp>
        <p:cxnSp>
          <p:nvCxnSpPr>
            <p:cNvPr id="58" name="Connector 57"/>
            <p:cNvCxnSpPr/>
            <p:nvPr/>
          </p:nvCxnSpPr>
          <p:spPr>
            <a:xfrm>
              <a:off x="2693669" y="4685232"/>
              <a:ext cx="0" cy="219495"/>
            </a:xfrm>
            <a:prstGeom prst="line">
              <a:avLst/>
            </a:prstGeom>
            <a:ln w="28534">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008049" y="4685232"/>
              <a:ext cx="0" cy="219495"/>
            </a:xfrm>
            <a:prstGeom prst="line">
              <a:avLst/>
            </a:prstGeom>
            <a:ln w="28534">
              <a:solidFill>
                <a:srgbClr val="0B5FC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322429" y="4685232"/>
              <a:ext cx="0" cy="219495"/>
            </a:xfrm>
            <a:prstGeom prst="line">
              <a:avLst/>
            </a:prstGeom>
            <a:ln w="28534">
              <a:solidFill>
                <a:srgbClr val="0B5FC0"/>
              </a:solidFill>
            </a:ln>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2638795" y="4904727"/>
              <a:ext cx="109748" cy="87799"/>
            </a:xfrm>
            <a:custGeom>
              <a:avLst/>
              <a:gdLst/>
              <a:ahLst/>
              <a:cxnLst/>
              <a:rect l="l" t="t" r="r" b="b"/>
              <a:pathLst>
                <a:path w="109748" h="87799">
                  <a:moveTo>
                    <a:pt x="0" y="0"/>
                  </a:moveTo>
                  <a:lnTo>
                    <a:pt x="109748" y="0"/>
                  </a:lnTo>
                  <a:lnTo>
                    <a:pt x="54874" y="87799"/>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5953176" y="4904727"/>
              <a:ext cx="109747" cy="87799"/>
            </a:xfrm>
            <a:custGeom>
              <a:avLst/>
              <a:gdLst/>
              <a:ahLst/>
              <a:cxnLst/>
              <a:rect l="l" t="t" r="r" b="b"/>
              <a:pathLst>
                <a:path w="109747" h="87799">
                  <a:moveTo>
                    <a:pt x="0" y="0"/>
                  </a:moveTo>
                  <a:lnTo>
                    <a:pt x="109747" y="0"/>
                  </a:lnTo>
                  <a:lnTo>
                    <a:pt x="54873" y="87799"/>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9267556" y="4904727"/>
              <a:ext cx="109747" cy="87799"/>
            </a:xfrm>
            <a:custGeom>
              <a:avLst/>
              <a:gdLst/>
              <a:ahLst/>
              <a:cxnLst/>
              <a:rect l="l" t="t" r="r" b="b"/>
              <a:pathLst>
                <a:path w="109747" h="87799">
                  <a:moveTo>
                    <a:pt x="0" y="0"/>
                  </a:moveTo>
                  <a:lnTo>
                    <a:pt x="109747" y="0"/>
                  </a:lnTo>
                  <a:lnTo>
                    <a:pt x="54873" y="87799"/>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327969" y="4777420"/>
              <a:ext cx="970609" cy="158915"/>
            </a:xfrm>
            <a:prstGeom prst="rect">
              <a:avLst/>
            </a:prstGeom>
            <a:noFill/>
          </p:spPr>
          <p:txBody>
            <a:bodyPr wrap="none" anchor="ctr" lIns="0" rIns="0" tIns="0" bIns="0">
              <a:noAutofit/>
            </a:bodyPr>
            <a:lstStyle/>
            <a:p>
              <a:pPr algn="r"/>
              <a:r>
                <a:rPr sz="860" b="0">
                  <a:solidFill>
                    <a:srgbClr val="0B5FC0"/>
                  </a:solidFill>
                  <a:latin typeface="맑은 고딕"/>
                  <a:ea typeface="맑은 고딕"/>
                  <a:cs typeface="맑은 고딕"/>
                </a:rPr>
                <a:t>distribute channel</a:t>
              </a:r>
            </a:p>
          </p:txBody>
        </p:sp>
        <p:sp>
          <p:nvSpPr>
            <p:cNvPr id="65" name="Rounded Rectangle 64"/>
            <p:cNvSpPr/>
            <p:nvPr/>
          </p:nvSpPr>
          <p:spPr>
            <a:xfrm>
              <a:off x="1245000" y="4992526"/>
              <a:ext cx="2897339" cy="548738"/>
            </a:xfrm>
            <a:prstGeom prst="roundRect">
              <a:avLst>
                <a:gd name="adj" fmla="val 16000"/>
              </a:avLst>
            </a:prstGeom>
            <a:solidFill>
              <a:srgbClr val="E3EEFB"/>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4559380" y="4992526"/>
              <a:ext cx="2897339" cy="548738"/>
            </a:xfrm>
            <a:prstGeom prst="roundRect">
              <a:avLst>
                <a:gd name="adj" fmla="val 16000"/>
              </a:avLst>
            </a:prstGeom>
            <a:solidFill>
              <a:srgbClr val="E3EEFB"/>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873760" y="4992526"/>
              <a:ext cx="2897339" cy="548738"/>
            </a:xfrm>
            <a:prstGeom prst="roundRect">
              <a:avLst>
                <a:gd name="adj" fmla="val 16000"/>
              </a:avLst>
            </a:prstGeom>
            <a:solidFill>
              <a:srgbClr val="E3EEFB"/>
            </a:solidFill>
            <a:ln w="1975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01156" y="5087567"/>
              <a:ext cx="1385027" cy="182752"/>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 분모 → softmax 출력</a:t>
              </a:r>
            </a:p>
          </p:txBody>
        </p:sp>
        <p:sp>
          <p:nvSpPr>
            <p:cNvPr id="69" name="TextBox 68"/>
            <p:cNvSpPr txBox="1"/>
            <p:nvPr/>
          </p:nvSpPr>
          <p:spPr>
            <a:xfrm>
              <a:off x="5315536" y="5087567"/>
              <a:ext cx="1385027" cy="182752"/>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 분모 → softmax 출력</a:t>
              </a:r>
            </a:p>
          </p:txBody>
        </p:sp>
        <p:sp>
          <p:nvSpPr>
            <p:cNvPr id="70" name="TextBox 69"/>
            <p:cNvSpPr txBox="1"/>
            <p:nvPr/>
          </p:nvSpPr>
          <p:spPr>
            <a:xfrm>
              <a:off x="8629916" y="5087567"/>
              <a:ext cx="1385027" cy="182752"/>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 분모 → softmax 출력</a:t>
              </a:r>
            </a:p>
          </p:txBody>
        </p:sp>
        <p:sp>
          <p:nvSpPr>
            <p:cNvPr id="71" name="TextBox 70"/>
            <p:cNvSpPr txBox="1"/>
            <p:nvPr/>
          </p:nvSpPr>
          <p:spPr>
            <a:xfrm>
              <a:off x="2004717" y="5310574"/>
              <a:ext cx="1377904" cy="150969"/>
            </a:xfrm>
            <a:prstGeom prst="rect">
              <a:avLst/>
            </a:prstGeom>
            <a:noFill/>
          </p:spPr>
          <p:txBody>
            <a:bodyPr wrap="none" anchor="ctr" lIns="0" rIns="0" tIns="0" bIns="0">
              <a:noAutofit/>
            </a:bodyPr>
            <a:lstStyle/>
            <a:p>
              <a:pPr algn="ctr"/>
              <a:r>
                <a:rPr sz="819" b="0">
                  <a:solidFill>
                    <a:srgbClr val="5B6B7B"/>
                  </a:solidFill>
                  <a:latin typeface="맑은 고딕"/>
                  <a:ea typeface="맑은 고딕"/>
                  <a:cs typeface="맑은 고딕"/>
                </a:rPr>
                <a:t>각 슬라이스가 자기 몫을 나눈다</a:t>
              </a:r>
            </a:p>
          </p:txBody>
        </p:sp>
        <p:sp>
          <p:nvSpPr>
            <p:cNvPr id="72" name="TextBox 71"/>
            <p:cNvSpPr txBox="1"/>
            <p:nvPr/>
          </p:nvSpPr>
          <p:spPr>
            <a:xfrm>
              <a:off x="5319097" y="5310574"/>
              <a:ext cx="1377904" cy="150969"/>
            </a:xfrm>
            <a:prstGeom prst="rect">
              <a:avLst/>
            </a:prstGeom>
            <a:noFill/>
          </p:spPr>
          <p:txBody>
            <a:bodyPr wrap="none" anchor="ctr" lIns="0" rIns="0" tIns="0" bIns="0">
              <a:noAutofit/>
            </a:bodyPr>
            <a:lstStyle/>
            <a:p>
              <a:pPr algn="ctr"/>
              <a:r>
                <a:rPr sz="819" b="0">
                  <a:solidFill>
                    <a:srgbClr val="5B6B7B"/>
                  </a:solidFill>
                  <a:latin typeface="맑은 고딕"/>
                  <a:ea typeface="맑은 고딕"/>
                  <a:cs typeface="맑은 고딕"/>
                </a:rPr>
                <a:t>각 슬라이스가 자기 몫을 나눈다</a:t>
              </a:r>
            </a:p>
          </p:txBody>
        </p:sp>
        <p:sp>
          <p:nvSpPr>
            <p:cNvPr id="73" name="TextBox 72"/>
            <p:cNvSpPr txBox="1"/>
            <p:nvPr/>
          </p:nvSpPr>
          <p:spPr>
            <a:xfrm>
              <a:off x="8633477" y="5310574"/>
              <a:ext cx="1377904" cy="150969"/>
            </a:xfrm>
            <a:prstGeom prst="rect">
              <a:avLst/>
            </a:prstGeom>
            <a:noFill/>
          </p:spPr>
          <p:txBody>
            <a:bodyPr wrap="none" anchor="ctr" lIns="0" rIns="0" tIns="0" bIns="0">
              <a:noAutofit/>
            </a:bodyPr>
            <a:lstStyle/>
            <a:p>
              <a:pPr algn="ctr"/>
              <a:r>
                <a:rPr sz="819" b="0">
                  <a:solidFill>
                    <a:srgbClr val="5B6B7B"/>
                  </a:solidFill>
                  <a:latin typeface="맑은 고딕"/>
                  <a:ea typeface="맑은 고딕"/>
                  <a:cs typeface="맑은 고딕"/>
                </a:rPr>
                <a:t>각 슬라이스가 자기 몫을 나눈다</a:t>
              </a:r>
            </a:p>
          </p:txBody>
        </p:sp>
        <p:sp>
          <p:nvSpPr>
            <p:cNvPr id="74" name="Rounded Rectangle 73"/>
            <p:cNvSpPr/>
            <p:nvPr/>
          </p:nvSpPr>
          <p:spPr>
            <a:xfrm>
              <a:off x="1354747" y="2182985"/>
              <a:ext cx="263394" cy="241445"/>
            </a:xfrm>
            <a:prstGeom prst="roundRect">
              <a:avLst>
                <a:gd name="adj" fmla="val 27272"/>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354747" y="2863420"/>
              <a:ext cx="263394" cy="241445"/>
            </a:xfrm>
            <a:prstGeom prst="roundRect">
              <a:avLst>
                <a:gd name="adj" fmla="val 27272"/>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219162" y="2929269"/>
              <a:ext cx="263394" cy="241445"/>
            </a:xfrm>
            <a:prstGeom prst="roundRect">
              <a:avLst>
                <a:gd name="adj" fmla="val 27272"/>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2583922" y="4092595"/>
              <a:ext cx="263394" cy="241445"/>
            </a:xfrm>
            <a:prstGeom prst="roundRect">
              <a:avLst>
                <a:gd name="adj" fmla="val 27272"/>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354747" y="4882778"/>
              <a:ext cx="263394" cy="241445"/>
            </a:xfrm>
            <a:prstGeom prst="roundRect">
              <a:avLst>
                <a:gd name="adj" fmla="val 27272"/>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423889" y="2205812"/>
              <a:ext cx="125112" cy="190698"/>
            </a:xfrm>
            <a:prstGeom prst="rect">
              <a:avLst/>
            </a:prstGeom>
            <a:noFill/>
          </p:spPr>
          <p:txBody>
            <a:bodyPr wrap="none" anchor="ctr" lIns="0" rIns="0" tIns="0" bIns="0">
              <a:noAutofit/>
            </a:bodyPr>
            <a:lstStyle/>
            <a:p>
              <a:pPr algn="ctr"/>
              <a:r>
                <a:rPr sz="1040" b="1">
                  <a:solidFill>
                    <a:srgbClr val="FFFFFF"/>
                  </a:solidFill>
                  <a:latin typeface="맑은 고딕"/>
                  <a:ea typeface="맑은 고딕"/>
                  <a:cs typeface="맑은 고딕"/>
                </a:rPr>
                <a:t>1</a:t>
              </a:r>
            </a:p>
          </p:txBody>
        </p:sp>
        <p:sp>
          <p:nvSpPr>
            <p:cNvPr id="80" name="TextBox 79"/>
            <p:cNvSpPr txBox="1"/>
            <p:nvPr/>
          </p:nvSpPr>
          <p:spPr>
            <a:xfrm>
              <a:off x="1423889" y="2886248"/>
              <a:ext cx="125112" cy="190698"/>
            </a:xfrm>
            <a:prstGeom prst="rect">
              <a:avLst/>
            </a:prstGeom>
            <a:noFill/>
          </p:spPr>
          <p:txBody>
            <a:bodyPr wrap="none" anchor="ctr" lIns="0" rIns="0" tIns="0" bIns="0">
              <a:noAutofit/>
            </a:bodyPr>
            <a:lstStyle/>
            <a:p>
              <a:pPr algn="ctr"/>
              <a:r>
                <a:rPr sz="1040" b="1">
                  <a:solidFill>
                    <a:srgbClr val="FFFFFF"/>
                  </a:solidFill>
                  <a:latin typeface="맑은 고딕"/>
                  <a:ea typeface="맑은 고딕"/>
                  <a:cs typeface="맑은 고딕"/>
                </a:rPr>
                <a:t>2</a:t>
              </a:r>
            </a:p>
          </p:txBody>
        </p:sp>
        <p:sp>
          <p:nvSpPr>
            <p:cNvPr id="81" name="TextBox 80"/>
            <p:cNvSpPr txBox="1"/>
            <p:nvPr/>
          </p:nvSpPr>
          <p:spPr>
            <a:xfrm>
              <a:off x="4288303" y="2952097"/>
              <a:ext cx="125112" cy="190698"/>
            </a:xfrm>
            <a:prstGeom prst="rect">
              <a:avLst/>
            </a:prstGeom>
            <a:noFill/>
          </p:spPr>
          <p:txBody>
            <a:bodyPr wrap="none" anchor="ctr" lIns="0" rIns="0" tIns="0" bIns="0">
              <a:noAutofit/>
            </a:bodyPr>
            <a:lstStyle/>
            <a:p>
              <a:pPr algn="ctr"/>
              <a:r>
                <a:rPr sz="1040" b="1">
                  <a:solidFill>
                    <a:srgbClr val="FFFFFF"/>
                  </a:solidFill>
                  <a:latin typeface="맑은 고딕"/>
                  <a:ea typeface="맑은 고딕"/>
                  <a:cs typeface="맑은 고딕"/>
                </a:rPr>
                <a:t>3</a:t>
              </a:r>
            </a:p>
          </p:txBody>
        </p:sp>
        <p:sp>
          <p:nvSpPr>
            <p:cNvPr id="82" name="TextBox 81"/>
            <p:cNvSpPr txBox="1"/>
            <p:nvPr/>
          </p:nvSpPr>
          <p:spPr>
            <a:xfrm>
              <a:off x="2653063" y="4115422"/>
              <a:ext cx="125112" cy="190698"/>
            </a:xfrm>
            <a:prstGeom prst="rect">
              <a:avLst/>
            </a:prstGeom>
            <a:noFill/>
          </p:spPr>
          <p:txBody>
            <a:bodyPr wrap="none" anchor="ctr" lIns="0" rIns="0" tIns="0" bIns="0">
              <a:noAutofit/>
            </a:bodyPr>
            <a:lstStyle/>
            <a:p>
              <a:pPr algn="ctr"/>
              <a:r>
                <a:rPr sz="1040" b="1">
                  <a:solidFill>
                    <a:srgbClr val="FFFFFF"/>
                  </a:solidFill>
                  <a:latin typeface="맑은 고딕"/>
                  <a:ea typeface="맑은 고딕"/>
                  <a:cs typeface="맑은 고딕"/>
                </a:rPr>
                <a:t>4</a:t>
              </a:r>
            </a:p>
          </p:txBody>
        </p:sp>
        <p:sp>
          <p:nvSpPr>
            <p:cNvPr id="83" name="TextBox 82"/>
            <p:cNvSpPr txBox="1"/>
            <p:nvPr/>
          </p:nvSpPr>
          <p:spPr>
            <a:xfrm>
              <a:off x="1423889" y="4905605"/>
              <a:ext cx="125112" cy="190698"/>
            </a:xfrm>
            <a:prstGeom prst="rect">
              <a:avLst/>
            </a:prstGeom>
            <a:noFill/>
          </p:spPr>
          <p:txBody>
            <a:bodyPr wrap="none" anchor="ctr" lIns="0" rIns="0" tIns="0" bIns="0">
              <a:noAutofit/>
            </a:bodyPr>
            <a:lstStyle/>
            <a:p>
              <a:pPr algn="ctr"/>
              <a:r>
                <a:rPr sz="1040" b="1">
                  <a:solidFill>
                    <a:srgbClr val="FFFFFF"/>
                  </a:solidFill>
                  <a:latin typeface="맑은 고딕"/>
                  <a:ea typeface="맑은 고딕"/>
                  <a:cs typeface="맑은 고딕"/>
                </a:rPr>
                <a:t>5</a:t>
              </a:r>
            </a:p>
          </p:txBody>
        </p:sp>
      </p:grpSp>
      <p:sp>
        <p:nvSpPr>
          <p:cNvPr id="84" name="Rectangle 8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element-wise exp 는 Fp.Cluster 가, 지수합은 ReduceUnit 이 맡는다. 텐서가 여러 슬라이스에 걸치면 분모가 슬라이스 경계를 넘는다.</a:t>
            </a:r>
          </a:p>
        </p:txBody>
      </p:sp>
      <p:sp>
        <p:nvSpPr>
          <p:cNvPr id="85" name="Rectangle 8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VE 가 LLM 을 빠르게 만드는 지점 — softmax 가 슬라이스를 넘는 길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exp 는 하드웨어로, 분모는 두 채널의 왕복으로</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145</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본문: "the VE handles element-wise exp in hardware, and computes the sum of exponentials using reduction for softmax" — 이 기능들이 softmax·layer-norm 의 빠른 처리를 돕는다</a:t>
            </a:r>
          </a:p>
          <a:p>
            <a:pPr algn="l">
              <a:lnSpc>
                <a:spcPct val="118000"/>
              </a:lnSpc>
              <a:spcBef>
                <a:spcPts val="600"/>
              </a:spcBef>
              <a:spcAft>
                <a:spcPts val="200"/>
              </a:spcAft>
            </a:pPr>
            <a:r>
              <a:rPr sz="1900" b="0" i="0">
                <a:solidFill>
                  <a:srgbClr val="16202C"/>
                </a:solidFill>
                <a:latin typeface="Segoe UI"/>
                <a:ea typeface="맑은 고딕"/>
                <a:cs typeface="맑은 고딕"/>
              </a:rPr>
              <a:t>▪  exp 가 Fp.Cluster 안에 하드웨어로 들어 있다는 것이 요점이다. 소프트웨어 근사로 돌리지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layer-norm 도 구조가 같다. 평균·분산을 위한 reduction 과 element-wise 연산의 조합이다</a:t>
            </a:r>
          </a:p>
          <a:p>
            <a:pPr algn="l">
              <a:lnSpc>
                <a:spcPct val="118000"/>
              </a:lnSpc>
              <a:spcBef>
                <a:spcPts val="600"/>
              </a:spcBef>
              <a:spcAft>
                <a:spcPts val="200"/>
              </a:spcAft>
            </a:pPr>
            <a:r>
              <a:rPr sz="1900" b="1" i="0">
                <a:solidFill>
                  <a:srgbClr val="083F80"/>
                </a:solidFill>
                <a:latin typeface="Segoe UI"/>
                <a:ea typeface="맑은 고딕"/>
                <a:cs typeface="맑은 고딕"/>
              </a:rPr>
              <a:t>▪  reduce 와 distribute 가 별개 채널이므로 '모으기'와 '되뿌리기'가 서로를 막지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단계 구분(①~⑤)은 Fig. 7 의 채널 구조에서 재구성한 것이다. 논문은 softmax 를 예로만 들 뿐 채널이 어떻게 쓰이는지 단계별로 서술하지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채널 이름과 방향은 Fig. 7 범례에서만 확인된다. 채널의 개수·폭·지연은 논문에 없다</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VE 의 세 가지 사용 모드</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CE 뒤에 붙이거나, 혼자 쓰거나, 다른 컨텍스트에서 겹쳐 돌리거나</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146</a:t>
            </a:r>
          </a:p>
        </p:txBody>
      </p:sp>
      <p:grpSp>
        <p:nvGrpSpPr>
          <p:cNvPr id="9" name="도해 A5#23"/>
          <p:cNvGrpSpPr/>
          <p:nvPr/>
        </p:nvGrpSpPr>
        <p:grpSpPr>
          <a:xfrm>
            <a:off x="1186225" y="1463040"/>
            <a:ext cx="9819245" cy="4078224"/>
            <a:chOff x="1186225" y="1463040"/>
            <a:chExt cx="9819245" cy="4078224"/>
          </a:xfrm>
        </p:grpSpPr>
        <p:sp>
          <p:nvSpPr>
            <p:cNvPr id="10" name="TextBox 9"/>
            <p:cNvSpPr txBox="1"/>
            <p:nvPr/>
          </p:nvSpPr>
          <p:spPr>
            <a:xfrm>
              <a:off x="1186225" y="1463040"/>
              <a:ext cx="5535633" cy="161397"/>
            </a:xfrm>
            <a:prstGeom prst="rect">
              <a:avLst/>
            </a:prstGeom>
            <a:noFill/>
          </p:spPr>
          <p:txBody>
            <a:bodyPr wrap="none" anchor="ctr" lIns="0" rIns="0" tIns="0" bIns="0">
              <a:noAutofit/>
            </a:bodyPr>
            <a:lstStyle/>
            <a:p>
              <a:pPr algn="l"/>
              <a:r>
                <a:rPr sz="880" b="0">
                  <a:solidFill>
                    <a:srgbClr val="5B6B7B"/>
                  </a:solidFill>
                  <a:latin typeface="맑은 고딕"/>
                  <a:ea typeface="맑은 고딕"/>
                  <a:cs typeface="맑은 고딕"/>
                </a:rPr>
                <a:t>DM = data memory slice · FU = fetch unit · CE = contraction engine · VE = vector engine · CU = commit unit</a:t>
              </a:r>
            </a:p>
          </p:txBody>
        </p:sp>
        <p:sp>
          <p:nvSpPr>
            <p:cNvPr id="11" name="Rounded Rectangle 10"/>
            <p:cNvSpPr/>
            <p:nvPr/>
          </p:nvSpPr>
          <p:spPr>
            <a:xfrm>
              <a:off x="1186225" y="1740951"/>
              <a:ext cx="1847079" cy="1125232"/>
            </a:xfrm>
            <a:prstGeom prst="roundRect">
              <a:avLst>
                <a:gd name="adj" fmla="val 7547"/>
              </a:avLst>
            </a:prstGeom>
            <a:solidFill>
              <a:srgbClr val="E3EEFB"/>
            </a:solidFill>
            <a:ln w="191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592" y="1878102"/>
              <a:ext cx="416347"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모드 1</a:t>
              </a:r>
            </a:p>
          </p:txBody>
        </p:sp>
        <p:sp>
          <p:nvSpPr>
            <p:cNvPr id="13" name="TextBox 12"/>
            <p:cNvSpPr txBox="1"/>
            <p:nvPr/>
          </p:nvSpPr>
          <p:spPr>
            <a:xfrm>
              <a:off x="1739991" y="2142426"/>
              <a:ext cx="739548"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CE 결과에 이어</a:t>
              </a:r>
            </a:p>
          </p:txBody>
        </p:sp>
        <p:sp>
          <p:nvSpPr>
            <p:cNvPr id="14" name="TextBox 13"/>
            <p:cNvSpPr txBox="1"/>
            <p:nvPr/>
          </p:nvSpPr>
          <p:spPr>
            <a:xfrm>
              <a:off x="1831724" y="2312272"/>
              <a:ext cx="556082"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즉시 chain</a:t>
              </a:r>
            </a:p>
          </p:txBody>
        </p:sp>
        <p:sp>
          <p:nvSpPr>
            <p:cNvPr id="15" name="TextBox 14"/>
            <p:cNvSpPr txBox="1"/>
            <p:nvPr/>
          </p:nvSpPr>
          <p:spPr>
            <a:xfrm>
              <a:off x="1827547" y="2558125"/>
              <a:ext cx="564437" cy="146025"/>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(on-the-fly)</a:t>
              </a:r>
            </a:p>
          </p:txBody>
        </p:sp>
        <p:sp>
          <p:nvSpPr>
            <p:cNvPr id="16" name="Rounded Rectangle 15"/>
            <p:cNvSpPr/>
            <p:nvPr/>
          </p:nvSpPr>
          <p:spPr>
            <a:xfrm>
              <a:off x="3224382" y="2038182"/>
              <a:ext cx="636924" cy="467078"/>
            </a:xfrm>
            <a:prstGeom prst="roundRect">
              <a:avLst>
                <a:gd name="adj" fmla="val 13636"/>
              </a:avLst>
            </a:prstGeom>
            <a:solidFill>
              <a:srgbClr val="EEF2F7"/>
            </a:solidFill>
            <a:ln w="1698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95158" y="2038182"/>
              <a:ext cx="636924" cy="467078"/>
            </a:xfrm>
            <a:prstGeom prst="roundRect">
              <a:avLst>
                <a:gd name="adj" fmla="val 13636"/>
              </a:avLst>
            </a:prstGeom>
            <a:solidFill>
              <a:srgbClr val="EEF2F7"/>
            </a:solidFill>
            <a:ln w="1698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073614" y="2038182"/>
              <a:ext cx="636924" cy="467078"/>
            </a:xfrm>
            <a:prstGeom prst="roundRect">
              <a:avLst>
                <a:gd name="adj" fmla="val 13636"/>
              </a:avLst>
            </a:prstGeom>
            <a:solidFill>
              <a:srgbClr val="E3EEFB"/>
            </a:solidFill>
            <a:ln w="1698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045926" y="2038182"/>
              <a:ext cx="636924" cy="467078"/>
            </a:xfrm>
            <a:prstGeom prst="roundRect">
              <a:avLst>
                <a:gd name="adj" fmla="val 13636"/>
              </a:avLst>
            </a:prstGeom>
            <a:solidFill>
              <a:srgbClr val="E3EEFB"/>
            </a:solidFill>
            <a:ln w="1698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22846" y="2038182"/>
              <a:ext cx="849232" cy="467078"/>
            </a:xfrm>
            <a:prstGeom prst="roundRect">
              <a:avLst>
                <a:gd name="adj" fmla="val 13636"/>
              </a:avLst>
            </a:prstGeom>
            <a:solidFill>
              <a:srgbClr val="CBE0F7"/>
            </a:solidFill>
            <a:ln w="21230">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84386" y="2038182"/>
              <a:ext cx="849232" cy="467078"/>
            </a:xfrm>
            <a:prstGeom prst="roundRect">
              <a:avLst>
                <a:gd name="adj" fmla="val 13636"/>
              </a:avLst>
            </a:prstGeom>
            <a:solidFill>
              <a:srgbClr val="E2F4E8"/>
            </a:solidFill>
            <a:ln w="2123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09881" y="2164718"/>
              <a:ext cx="265926" cy="199824"/>
            </a:xfrm>
            <a:prstGeom prst="rect">
              <a:avLst/>
            </a:prstGeom>
            <a:noFill/>
          </p:spPr>
          <p:txBody>
            <a:bodyPr wrap="none" anchor="ctr" lIns="0" rIns="0" tIns="0" bIns="0">
              <a:noAutofit/>
            </a:bodyPr>
            <a:lstStyle/>
            <a:p>
              <a:pPr algn="ctr"/>
              <a:r>
                <a:rPr sz="1090" b="1">
                  <a:solidFill>
                    <a:srgbClr val="5B6B7B"/>
                  </a:solidFill>
                  <a:latin typeface="맑은 고딕"/>
                  <a:ea typeface="맑은 고딕"/>
                  <a:cs typeface="맑은 고딕"/>
                </a:rPr>
                <a:t>DM</a:t>
              </a:r>
            </a:p>
          </p:txBody>
        </p:sp>
        <p:sp>
          <p:nvSpPr>
            <p:cNvPr id="23" name="TextBox 22"/>
            <p:cNvSpPr txBox="1"/>
            <p:nvPr/>
          </p:nvSpPr>
          <p:spPr>
            <a:xfrm>
              <a:off x="4275259" y="2164718"/>
              <a:ext cx="233634"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FU</a:t>
              </a:r>
            </a:p>
          </p:txBody>
        </p:sp>
        <p:sp>
          <p:nvSpPr>
            <p:cNvPr id="24" name="TextBox 23"/>
            <p:cNvSpPr txBox="1"/>
            <p:nvPr/>
          </p:nvSpPr>
          <p:spPr>
            <a:xfrm>
              <a:off x="5234923" y="2164718"/>
              <a:ext cx="225078"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CE</a:t>
              </a:r>
            </a:p>
          </p:txBody>
        </p:sp>
        <p:sp>
          <p:nvSpPr>
            <p:cNvPr id="25" name="TextBox 24"/>
            <p:cNvSpPr txBox="1"/>
            <p:nvPr/>
          </p:nvSpPr>
          <p:spPr>
            <a:xfrm>
              <a:off x="6299016" y="2164718"/>
              <a:ext cx="219972" cy="199824"/>
            </a:xfrm>
            <a:prstGeom prst="rect">
              <a:avLst/>
            </a:prstGeom>
            <a:noFill/>
          </p:spPr>
          <p:txBody>
            <a:bodyPr wrap="none" anchor="ctr" lIns="0" rIns="0" tIns="0" bIns="0">
              <a:noAutofit/>
            </a:bodyPr>
            <a:lstStyle/>
            <a:p>
              <a:pPr algn="ctr"/>
              <a:r>
                <a:rPr sz="1090" b="1">
                  <a:solidFill>
                    <a:srgbClr val="1A7F37"/>
                  </a:solidFill>
                  <a:latin typeface="맑은 고딕"/>
                  <a:ea typeface="맑은 고딕"/>
                  <a:cs typeface="맑은 고딕"/>
                </a:rPr>
                <a:t>VE</a:t>
              </a:r>
            </a:p>
          </p:txBody>
        </p:sp>
        <p:sp>
          <p:nvSpPr>
            <p:cNvPr id="26" name="TextBox 25"/>
            <p:cNvSpPr txBox="1"/>
            <p:nvPr/>
          </p:nvSpPr>
          <p:spPr>
            <a:xfrm>
              <a:off x="7243983" y="2164718"/>
              <a:ext cx="240810"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CU</a:t>
              </a:r>
            </a:p>
          </p:txBody>
        </p:sp>
        <p:sp>
          <p:nvSpPr>
            <p:cNvPr id="27" name="TextBox 26"/>
            <p:cNvSpPr txBox="1"/>
            <p:nvPr/>
          </p:nvSpPr>
          <p:spPr>
            <a:xfrm>
              <a:off x="8080656" y="2164718"/>
              <a:ext cx="265926" cy="199824"/>
            </a:xfrm>
            <a:prstGeom prst="rect">
              <a:avLst/>
            </a:prstGeom>
            <a:noFill/>
          </p:spPr>
          <p:txBody>
            <a:bodyPr wrap="none" anchor="ctr" lIns="0" rIns="0" tIns="0" bIns="0">
              <a:noAutofit/>
            </a:bodyPr>
            <a:lstStyle/>
            <a:p>
              <a:pPr algn="ctr"/>
              <a:r>
                <a:rPr sz="1090" b="1">
                  <a:solidFill>
                    <a:srgbClr val="5B6B7B"/>
                  </a:solidFill>
                  <a:latin typeface="맑은 고딕"/>
                  <a:ea typeface="맑은 고딕"/>
                  <a:cs typeface="맑은 고딕"/>
                </a:rPr>
                <a:t>DM</a:t>
              </a:r>
            </a:p>
          </p:txBody>
        </p:sp>
        <p:cxnSp>
          <p:nvCxnSpPr>
            <p:cNvPr id="28" name="Connector 27"/>
            <p:cNvCxnSpPr/>
            <p:nvPr/>
          </p:nvCxnSpPr>
          <p:spPr>
            <a:xfrm>
              <a:off x="3861306" y="2271721"/>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710538" y="2271721"/>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772078" y="2271721"/>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33618" y="2271721"/>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682850" y="2271721"/>
              <a:ext cx="127384"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3988691" y="2218644"/>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4837923" y="2218644"/>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5899463" y="2218644"/>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6961003" y="2218644"/>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810234" y="2218644"/>
              <a:ext cx="84924" cy="106154"/>
            </a:xfrm>
            <a:custGeom>
              <a:avLst/>
              <a:gdLst/>
              <a:ahLst/>
              <a:cxnLst/>
              <a:rect l="l" t="t" r="r" b="b"/>
              <a:pathLst>
                <a:path w="84924" h="106154">
                  <a:moveTo>
                    <a:pt x="0" y="0"/>
                  </a:moveTo>
                  <a:lnTo>
                    <a:pt x="0" y="106154"/>
                  </a:lnTo>
                  <a:lnTo>
                    <a:pt x="84924"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14306" y="1857508"/>
              <a:ext cx="327851" cy="146025"/>
            </a:xfrm>
            <a:prstGeom prst="rect">
              <a:avLst/>
            </a:prstGeom>
            <a:noFill/>
          </p:spPr>
          <p:txBody>
            <a:bodyPr wrap="none" anchor="ctr" lIns="0" rIns="0" tIns="0" bIns="0">
              <a:noAutofit/>
            </a:bodyPr>
            <a:lstStyle/>
            <a:p>
              <a:pPr algn="ctr"/>
              <a:r>
                <a:rPr sz="790" b="0">
                  <a:solidFill>
                    <a:srgbClr val="1A7F37"/>
                  </a:solidFill>
                  <a:latin typeface="맑은 고딕"/>
                  <a:ea typeface="맑은 고딕"/>
                  <a:cs typeface="맑은 고딕"/>
                </a:rPr>
                <a:t>fusion</a:t>
              </a:r>
            </a:p>
          </p:txBody>
        </p:sp>
        <p:sp>
          <p:nvSpPr>
            <p:cNvPr id="39" name="TextBox 38"/>
            <p:cNvSpPr txBox="1"/>
            <p:nvPr/>
          </p:nvSpPr>
          <p:spPr>
            <a:xfrm>
              <a:off x="4873644" y="2594429"/>
              <a:ext cx="2009177" cy="153711"/>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예: LLaMA-2 FFN 의 expand + SiLU 를 융합</a:t>
              </a:r>
            </a:p>
          </p:txBody>
        </p:sp>
        <p:sp>
          <p:nvSpPr>
            <p:cNvPr id="40" name="Rounded Rectangle 39"/>
            <p:cNvSpPr/>
            <p:nvPr/>
          </p:nvSpPr>
          <p:spPr>
            <a:xfrm>
              <a:off x="8701928" y="1974490"/>
              <a:ext cx="2292926" cy="594462"/>
            </a:xfrm>
            <a:prstGeom prst="roundRect">
              <a:avLst>
                <a:gd name="adj" fmla="val 14285"/>
              </a:avLst>
            </a:prstGeom>
            <a:solidFill>
              <a:srgbClr val="E2F4E8"/>
            </a:solidFill>
            <a:ln w="1698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45477" y="2078733"/>
              <a:ext cx="1605829" cy="161397"/>
            </a:xfrm>
            <a:prstGeom prst="rect">
              <a:avLst/>
            </a:prstGeom>
            <a:noFill/>
          </p:spPr>
          <p:txBody>
            <a:bodyPr wrap="none" anchor="ctr" lIns="0" rIns="0" tIns="0" bIns="0">
              <a:noAutofit/>
            </a:bodyPr>
            <a:lstStyle/>
            <a:p>
              <a:pPr algn="ctr"/>
              <a:r>
                <a:rPr sz="880" b="1">
                  <a:solidFill>
                    <a:srgbClr val="1A7F37"/>
                  </a:solidFill>
                  <a:latin typeface="맑은 고딕"/>
                  <a:ea typeface="맑은 고딕"/>
                  <a:cs typeface="맑은 고딕"/>
                </a:rPr>
                <a:t>중간 텐서를 SRAM 에 쓰지 않는다</a:t>
              </a:r>
            </a:p>
          </p:txBody>
        </p:sp>
        <p:sp>
          <p:nvSpPr>
            <p:cNvPr id="42" name="TextBox 41"/>
            <p:cNvSpPr txBox="1"/>
            <p:nvPr/>
          </p:nvSpPr>
          <p:spPr>
            <a:xfrm>
              <a:off x="9336251" y="2275967"/>
              <a:ext cx="1024280" cy="15371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성능·에너지 모두 개선</a:t>
              </a:r>
            </a:p>
          </p:txBody>
        </p:sp>
        <p:sp>
          <p:nvSpPr>
            <p:cNvPr id="43" name="Rounded Rectangle 42"/>
            <p:cNvSpPr/>
            <p:nvPr/>
          </p:nvSpPr>
          <p:spPr>
            <a:xfrm>
              <a:off x="1186225" y="3014799"/>
              <a:ext cx="1847079" cy="1125232"/>
            </a:xfrm>
            <a:prstGeom prst="roundRect">
              <a:avLst>
                <a:gd name="adj" fmla="val 7547"/>
              </a:avLst>
            </a:prstGeom>
            <a:solidFill>
              <a:srgbClr val="E3EEFB"/>
            </a:solidFill>
            <a:ln w="191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1592" y="3151950"/>
              <a:ext cx="416347"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모드 2</a:t>
              </a:r>
            </a:p>
          </p:txBody>
        </p:sp>
        <p:sp>
          <p:nvSpPr>
            <p:cNvPr id="45" name="TextBox 44"/>
            <p:cNvSpPr txBox="1"/>
            <p:nvPr/>
          </p:nvSpPr>
          <p:spPr>
            <a:xfrm>
              <a:off x="1675399" y="3416273"/>
              <a:ext cx="868732"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contraction 없이</a:t>
              </a:r>
            </a:p>
          </p:txBody>
        </p:sp>
        <p:sp>
          <p:nvSpPr>
            <p:cNvPr id="46" name="TextBox 45"/>
            <p:cNvSpPr txBox="1"/>
            <p:nvPr/>
          </p:nvSpPr>
          <p:spPr>
            <a:xfrm>
              <a:off x="1794774" y="3586120"/>
              <a:ext cx="629981"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VE 단독 사용</a:t>
              </a:r>
            </a:p>
          </p:txBody>
        </p:sp>
        <p:sp>
          <p:nvSpPr>
            <p:cNvPr id="47" name="TextBox 46"/>
            <p:cNvSpPr txBox="1"/>
            <p:nvPr/>
          </p:nvSpPr>
          <p:spPr>
            <a:xfrm>
              <a:off x="1661453" y="3831972"/>
              <a:ext cx="896624" cy="146025"/>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N차원 벡터 프로세서</a:t>
              </a:r>
            </a:p>
          </p:txBody>
        </p:sp>
        <p:sp>
          <p:nvSpPr>
            <p:cNvPr id="48" name="Rounded Rectangle 47"/>
            <p:cNvSpPr/>
            <p:nvPr/>
          </p:nvSpPr>
          <p:spPr>
            <a:xfrm>
              <a:off x="3224382" y="3312030"/>
              <a:ext cx="636924" cy="467078"/>
            </a:xfrm>
            <a:prstGeom prst="roundRect">
              <a:avLst>
                <a:gd name="adj" fmla="val 13636"/>
              </a:avLst>
            </a:prstGeom>
            <a:solidFill>
              <a:srgbClr val="EEF2F7"/>
            </a:solidFill>
            <a:ln w="1698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833618" y="3312030"/>
              <a:ext cx="636924" cy="467078"/>
            </a:xfrm>
            <a:prstGeom prst="roundRect">
              <a:avLst>
                <a:gd name="adj" fmla="val 13636"/>
              </a:avLst>
            </a:prstGeom>
            <a:solidFill>
              <a:srgbClr val="EEF2F7"/>
            </a:solidFill>
            <a:ln w="1698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073614" y="3312030"/>
              <a:ext cx="636924" cy="467078"/>
            </a:xfrm>
            <a:prstGeom prst="roundRect">
              <a:avLst>
                <a:gd name="adj" fmla="val 13636"/>
              </a:avLst>
            </a:prstGeom>
            <a:solidFill>
              <a:srgbClr val="E3EEFB"/>
            </a:solidFill>
            <a:ln w="1698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984386" y="3312030"/>
              <a:ext cx="636924" cy="467078"/>
            </a:xfrm>
            <a:prstGeom prst="roundRect">
              <a:avLst>
                <a:gd name="adj" fmla="val 13636"/>
              </a:avLst>
            </a:prstGeom>
            <a:solidFill>
              <a:srgbClr val="E3EEFB"/>
            </a:solidFill>
            <a:ln w="1698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922846" y="3312030"/>
              <a:ext cx="849232" cy="467078"/>
            </a:xfrm>
            <a:prstGeom prst="roundRect">
              <a:avLst>
                <a:gd name="adj" fmla="val 13636"/>
              </a:avLst>
            </a:prstGeom>
            <a:solidFill>
              <a:srgbClr val="E2F4E8"/>
            </a:solidFill>
            <a:ln w="2123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09881" y="3438566"/>
              <a:ext cx="265926" cy="199824"/>
            </a:xfrm>
            <a:prstGeom prst="rect">
              <a:avLst/>
            </a:prstGeom>
            <a:noFill/>
          </p:spPr>
          <p:txBody>
            <a:bodyPr wrap="none" anchor="ctr" lIns="0" rIns="0" tIns="0" bIns="0">
              <a:noAutofit/>
            </a:bodyPr>
            <a:lstStyle/>
            <a:p>
              <a:pPr algn="ctr"/>
              <a:r>
                <a:rPr sz="1090" b="1">
                  <a:solidFill>
                    <a:srgbClr val="5B6B7B"/>
                  </a:solidFill>
                  <a:latin typeface="맑은 고딕"/>
                  <a:ea typeface="맑은 고딕"/>
                  <a:cs typeface="맑은 고딕"/>
                </a:rPr>
                <a:t>DM</a:t>
              </a:r>
            </a:p>
          </p:txBody>
        </p:sp>
        <p:sp>
          <p:nvSpPr>
            <p:cNvPr id="54" name="TextBox 53"/>
            <p:cNvSpPr txBox="1"/>
            <p:nvPr/>
          </p:nvSpPr>
          <p:spPr>
            <a:xfrm>
              <a:off x="4275259" y="3438566"/>
              <a:ext cx="233634"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FU</a:t>
              </a:r>
            </a:p>
          </p:txBody>
        </p:sp>
        <p:sp>
          <p:nvSpPr>
            <p:cNvPr id="55" name="TextBox 54"/>
            <p:cNvSpPr txBox="1"/>
            <p:nvPr/>
          </p:nvSpPr>
          <p:spPr>
            <a:xfrm>
              <a:off x="5237476" y="3438566"/>
              <a:ext cx="219972" cy="199824"/>
            </a:xfrm>
            <a:prstGeom prst="rect">
              <a:avLst/>
            </a:prstGeom>
            <a:noFill/>
          </p:spPr>
          <p:txBody>
            <a:bodyPr wrap="none" anchor="ctr" lIns="0" rIns="0" tIns="0" bIns="0">
              <a:noAutofit/>
            </a:bodyPr>
            <a:lstStyle/>
            <a:p>
              <a:pPr algn="ctr"/>
              <a:r>
                <a:rPr sz="1090" b="1">
                  <a:solidFill>
                    <a:srgbClr val="1A7F37"/>
                  </a:solidFill>
                  <a:latin typeface="맑은 고딕"/>
                  <a:ea typeface="맑은 고딕"/>
                  <a:cs typeface="맑은 고딕"/>
                </a:rPr>
                <a:t>VE</a:t>
              </a:r>
            </a:p>
          </p:txBody>
        </p:sp>
        <p:sp>
          <p:nvSpPr>
            <p:cNvPr id="56" name="TextBox 55"/>
            <p:cNvSpPr txBox="1"/>
            <p:nvPr/>
          </p:nvSpPr>
          <p:spPr>
            <a:xfrm>
              <a:off x="6182443" y="3438566"/>
              <a:ext cx="240810"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CU</a:t>
              </a:r>
            </a:p>
          </p:txBody>
        </p:sp>
        <p:sp>
          <p:nvSpPr>
            <p:cNvPr id="57" name="TextBox 56"/>
            <p:cNvSpPr txBox="1"/>
            <p:nvPr/>
          </p:nvSpPr>
          <p:spPr>
            <a:xfrm>
              <a:off x="7019117" y="3438566"/>
              <a:ext cx="265926" cy="199824"/>
            </a:xfrm>
            <a:prstGeom prst="rect">
              <a:avLst/>
            </a:prstGeom>
            <a:noFill/>
          </p:spPr>
          <p:txBody>
            <a:bodyPr wrap="none" anchor="ctr" lIns="0" rIns="0" tIns="0" bIns="0">
              <a:noAutofit/>
            </a:bodyPr>
            <a:lstStyle/>
            <a:p>
              <a:pPr algn="ctr"/>
              <a:r>
                <a:rPr sz="1090" b="1">
                  <a:solidFill>
                    <a:srgbClr val="5B6B7B"/>
                  </a:solidFill>
                  <a:latin typeface="맑은 고딕"/>
                  <a:ea typeface="맑은 고딕"/>
                  <a:cs typeface="맑은 고딕"/>
                </a:rPr>
                <a:t>DM</a:t>
              </a:r>
            </a:p>
          </p:txBody>
        </p:sp>
        <p:cxnSp>
          <p:nvCxnSpPr>
            <p:cNvPr id="58" name="Connector 57"/>
            <p:cNvCxnSpPr/>
            <p:nvPr/>
          </p:nvCxnSpPr>
          <p:spPr>
            <a:xfrm>
              <a:off x="3861306" y="3545569"/>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710538" y="3545569"/>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772078" y="3545569"/>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21310" y="3545569"/>
              <a:ext cx="127385" cy="0"/>
            </a:xfrm>
            <a:prstGeom prst="line">
              <a:avLst/>
            </a:prstGeom>
            <a:ln w="16984">
              <a:solidFill>
                <a:srgbClr val="16202C"/>
              </a:solidFill>
            </a:ln>
          </p:spPr>
          <p:style>
            <a:lnRef idx="2">
              <a:schemeClr val="accent1"/>
            </a:lnRef>
            <a:fillRef idx="0">
              <a:schemeClr val="accent1"/>
            </a:fillRef>
            <a:effectRef idx="1">
              <a:schemeClr val="accent1"/>
            </a:effectRef>
            <a:fontRef idx="minor">
              <a:schemeClr val="tx1"/>
            </a:fontRef>
          </p:style>
        </p:cxnSp>
        <p:sp>
          <p:nvSpPr>
            <p:cNvPr id="62" name="Freeform 61"/>
            <p:cNvSpPr/>
            <p:nvPr/>
          </p:nvSpPr>
          <p:spPr>
            <a:xfrm>
              <a:off x="3988691" y="3492492"/>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4837923" y="3492492"/>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5899463" y="3492492"/>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6748695" y="3492492"/>
              <a:ext cx="84923" cy="106154"/>
            </a:xfrm>
            <a:custGeom>
              <a:avLst/>
              <a:gdLst/>
              <a:ahLst/>
              <a:cxnLst/>
              <a:rect l="l" t="t" r="r" b="b"/>
              <a:pathLst>
                <a:path w="84923" h="106154">
                  <a:moveTo>
                    <a:pt x="0" y="0"/>
                  </a:moveTo>
                  <a:lnTo>
                    <a:pt x="0" y="106154"/>
                  </a:lnTo>
                  <a:lnTo>
                    <a:pt x="84923" y="53077"/>
                  </a:lnTo>
                  <a:close/>
                </a:path>
              </a:pathLst>
            </a:custGeom>
            <a:solidFill>
              <a:srgbClr val="16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36914" y="3868277"/>
              <a:ext cx="1021095" cy="15371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CE 는 관여하지 않는다</a:t>
              </a:r>
            </a:p>
          </p:txBody>
        </p:sp>
        <p:sp>
          <p:nvSpPr>
            <p:cNvPr id="67" name="Rounded Rectangle 66"/>
            <p:cNvSpPr/>
            <p:nvPr/>
          </p:nvSpPr>
          <p:spPr>
            <a:xfrm>
              <a:off x="7640388" y="3248338"/>
              <a:ext cx="3354466" cy="594462"/>
            </a:xfrm>
            <a:prstGeom prst="roundRect">
              <a:avLst>
                <a:gd name="adj" fmla="val 14285"/>
              </a:avLst>
            </a:prstGeom>
            <a:solidFill>
              <a:srgbClr val="EEF2F7"/>
            </a:solidFill>
            <a:ln w="16984">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38134" y="3352581"/>
              <a:ext cx="2358975" cy="161397"/>
            </a:xfrm>
            <a:prstGeom prst="rect">
              <a:avLst/>
            </a:prstGeom>
            <a:noFill/>
          </p:spPr>
          <p:txBody>
            <a:bodyPr wrap="none" anchor="ctr" lIns="0" rIns="0" tIns="0" bIns="0">
              <a:noAutofit/>
            </a:bodyPr>
            <a:lstStyle/>
            <a:p>
              <a:pPr algn="ctr"/>
              <a:r>
                <a:rPr sz="880" b="1">
                  <a:solidFill>
                    <a:srgbClr val="16202C"/>
                  </a:solidFill>
                  <a:latin typeface="맑은 고딕"/>
                  <a:ea typeface="맑은 고딕"/>
                  <a:cs typeface="맑은 고딕"/>
                </a:rPr>
                <a:t>FU + VE + CU 만으로 N차원 벡터 프로세서가 된다</a:t>
              </a:r>
            </a:p>
          </p:txBody>
        </p:sp>
        <p:sp>
          <p:nvSpPr>
            <p:cNvPr id="69" name="TextBox 68"/>
            <p:cNvSpPr txBox="1"/>
            <p:nvPr/>
          </p:nvSpPr>
          <p:spPr>
            <a:xfrm>
              <a:off x="8270730" y="3549815"/>
              <a:ext cx="2093781" cy="15371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fetch sequencer 가 N중 루프 주소를 생성한다</a:t>
              </a:r>
            </a:p>
          </p:txBody>
        </p:sp>
        <p:sp>
          <p:nvSpPr>
            <p:cNvPr id="70" name="Rounded Rectangle 69"/>
            <p:cNvSpPr/>
            <p:nvPr/>
          </p:nvSpPr>
          <p:spPr>
            <a:xfrm>
              <a:off x="1186225" y="4288647"/>
              <a:ext cx="1847079" cy="1252617"/>
            </a:xfrm>
            <a:prstGeom prst="roundRect">
              <a:avLst>
                <a:gd name="adj" fmla="val 6779"/>
              </a:avLst>
            </a:prstGeom>
            <a:solidFill>
              <a:srgbClr val="E3EEFB"/>
            </a:solidFill>
            <a:ln w="191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901592" y="4447029"/>
              <a:ext cx="416347" cy="199824"/>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모드 3</a:t>
              </a:r>
            </a:p>
          </p:txBody>
        </p:sp>
        <p:sp>
          <p:nvSpPr>
            <p:cNvPr id="72" name="TextBox 71"/>
            <p:cNvSpPr txBox="1"/>
            <p:nvPr/>
          </p:nvSpPr>
          <p:spPr>
            <a:xfrm>
              <a:off x="1666928" y="4711352"/>
              <a:ext cx="885675"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다른 context 에서</a:t>
              </a:r>
            </a:p>
          </p:txBody>
        </p:sp>
        <p:sp>
          <p:nvSpPr>
            <p:cNvPr id="73" name="TextBox 72"/>
            <p:cNvSpPr txBox="1"/>
            <p:nvPr/>
          </p:nvSpPr>
          <p:spPr>
            <a:xfrm>
              <a:off x="1731018" y="4881198"/>
              <a:ext cx="757494" cy="161397"/>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VE 를 병렬 사용</a:t>
              </a:r>
            </a:p>
          </p:txBody>
        </p:sp>
        <p:sp>
          <p:nvSpPr>
            <p:cNvPr id="74" name="TextBox 73"/>
            <p:cNvSpPr txBox="1"/>
            <p:nvPr/>
          </p:nvSpPr>
          <p:spPr>
            <a:xfrm>
              <a:off x="1658528" y="5169513"/>
              <a:ext cx="902473" cy="146025"/>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main / sub context</a:t>
              </a:r>
            </a:p>
          </p:txBody>
        </p:sp>
        <p:sp>
          <p:nvSpPr>
            <p:cNvPr id="75" name="TextBox 74"/>
            <p:cNvSpPr txBox="1"/>
            <p:nvPr/>
          </p:nvSpPr>
          <p:spPr>
            <a:xfrm>
              <a:off x="5797077" y="4335355"/>
              <a:ext cx="3092160" cy="15371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sub 의 element-wise 시간이 main 의 contraction 시간 안에 숨는다</a:t>
              </a:r>
            </a:p>
          </p:txBody>
        </p:sp>
        <p:sp>
          <p:nvSpPr>
            <p:cNvPr id="76" name="TextBox 75"/>
            <p:cNvSpPr txBox="1"/>
            <p:nvPr/>
          </p:nvSpPr>
          <p:spPr>
            <a:xfrm>
              <a:off x="3549553" y="4605198"/>
              <a:ext cx="715138" cy="161397"/>
            </a:xfrm>
            <a:prstGeom prst="rect">
              <a:avLst/>
            </a:prstGeom>
            <a:noFill/>
          </p:spPr>
          <p:txBody>
            <a:bodyPr wrap="none" anchor="ctr" lIns="0" rIns="0" tIns="0" bIns="0">
              <a:noAutofit/>
            </a:bodyPr>
            <a:lstStyle/>
            <a:p>
              <a:pPr algn="r"/>
              <a:r>
                <a:rPr sz="880" b="0">
                  <a:solidFill>
                    <a:srgbClr val="16202C"/>
                  </a:solidFill>
                  <a:latin typeface="맑은 고딕"/>
                  <a:ea typeface="맑은 고딕"/>
                  <a:cs typeface="맑은 고딕"/>
                </a:rPr>
                <a:t>main context</a:t>
              </a:r>
            </a:p>
          </p:txBody>
        </p:sp>
        <p:sp>
          <p:nvSpPr>
            <p:cNvPr id="77" name="Rounded Rectangle 76"/>
            <p:cNvSpPr/>
            <p:nvPr/>
          </p:nvSpPr>
          <p:spPr>
            <a:xfrm>
              <a:off x="4370845" y="4522186"/>
              <a:ext cx="5944623" cy="318462"/>
            </a:xfrm>
            <a:prstGeom prst="roundRect">
              <a:avLst>
                <a:gd name="adj" fmla="val 16666"/>
              </a:avLst>
            </a:prstGeom>
            <a:solidFill>
              <a:srgbClr val="CBE0F7"/>
            </a:solidFill>
            <a:ln w="191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710248" y="4592884"/>
              <a:ext cx="1265817" cy="176768"/>
            </a:xfrm>
            <a:prstGeom prst="rect">
              <a:avLst/>
            </a:prstGeom>
            <a:noFill/>
          </p:spPr>
          <p:txBody>
            <a:bodyPr wrap="none" anchor="ctr" lIns="0" rIns="0" tIns="0" bIns="0">
              <a:noAutofit/>
            </a:bodyPr>
            <a:lstStyle/>
            <a:p>
              <a:pPr algn="ctr"/>
              <a:r>
                <a:rPr sz="960" b="1">
                  <a:solidFill>
                    <a:srgbClr val="083F80"/>
                  </a:solidFill>
                  <a:latin typeface="맑은 고딕"/>
                  <a:ea typeface="맑은 고딕"/>
                  <a:cs typeface="맑은 고딕"/>
                </a:rPr>
                <a:t>contraction (CE) 수행</a:t>
              </a:r>
            </a:p>
          </p:txBody>
        </p:sp>
        <p:sp>
          <p:nvSpPr>
            <p:cNvPr id="79" name="TextBox 78"/>
            <p:cNvSpPr txBox="1"/>
            <p:nvPr/>
          </p:nvSpPr>
          <p:spPr>
            <a:xfrm>
              <a:off x="3625458" y="5029814"/>
              <a:ext cx="639233" cy="161397"/>
            </a:xfrm>
            <a:prstGeom prst="rect">
              <a:avLst/>
            </a:prstGeom>
            <a:noFill/>
          </p:spPr>
          <p:txBody>
            <a:bodyPr wrap="none" anchor="ctr" lIns="0" rIns="0" tIns="0" bIns="0">
              <a:noAutofit/>
            </a:bodyPr>
            <a:lstStyle/>
            <a:p>
              <a:pPr algn="r"/>
              <a:r>
                <a:rPr sz="880" b="0">
                  <a:solidFill>
                    <a:srgbClr val="16202C"/>
                  </a:solidFill>
                  <a:latin typeface="맑은 고딕"/>
                  <a:ea typeface="맑은 고딕"/>
                  <a:cs typeface="맑은 고딕"/>
                </a:rPr>
                <a:t>sub context</a:t>
              </a:r>
            </a:p>
          </p:txBody>
        </p:sp>
        <p:sp>
          <p:nvSpPr>
            <p:cNvPr id="80" name="Rounded Rectangle 79"/>
            <p:cNvSpPr/>
            <p:nvPr/>
          </p:nvSpPr>
          <p:spPr>
            <a:xfrm>
              <a:off x="5220077" y="4946802"/>
              <a:ext cx="3609236" cy="318462"/>
            </a:xfrm>
            <a:prstGeom prst="roundRect">
              <a:avLst>
                <a:gd name="adj" fmla="val 16666"/>
              </a:avLst>
            </a:prstGeom>
            <a:solidFill>
              <a:srgbClr val="E2F4E8"/>
            </a:solidFill>
            <a:ln w="1910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10910" y="5017500"/>
              <a:ext cx="1427569" cy="176768"/>
            </a:xfrm>
            <a:prstGeom prst="rect">
              <a:avLst/>
            </a:prstGeom>
            <a:noFill/>
          </p:spPr>
          <p:txBody>
            <a:bodyPr wrap="none" anchor="ctr" lIns="0" rIns="0" tIns="0" bIns="0">
              <a:noAutofit/>
            </a:bodyPr>
            <a:lstStyle/>
            <a:p>
              <a:pPr algn="ctr"/>
              <a:r>
                <a:rPr sz="960" b="1">
                  <a:solidFill>
                    <a:srgbClr val="1A7F37"/>
                  </a:solidFill>
                  <a:latin typeface="맑은 고딕"/>
                  <a:ea typeface="맑은 고딕"/>
                  <a:cs typeface="맑은 고딕"/>
                </a:rPr>
                <a:t>VE 로 element-wise 처리</a:t>
              </a:r>
            </a:p>
          </p:txBody>
        </p:sp>
        <p:cxnSp>
          <p:nvCxnSpPr>
            <p:cNvPr id="82" name="Connector 81"/>
            <p:cNvCxnSpPr/>
            <p:nvPr/>
          </p:nvCxnSpPr>
          <p:spPr>
            <a:xfrm>
              <a:off x="4370845" y="5413879"/>
              <a:ext cx="6199393" cy="0"/>
            </a:xfrm>
            <a:prstGeom prst="line">
              <a:avLst/>
            </a:prstGeom>
            <a:ln w="14861">
              <a:solidFill>
                <a:srgbClr val="5B6B7B"/>
              </a:solidFill>
            </a:ln>
          </p:spPr>
          <p:style>
            <a:lnRef idx="2">
              <a:schemeClr val="accent1"/>
            </a:lnRef>
            <a:fillRef idx="0">
              <a:schemeClr val="accent1"/>
            </a:fillRef>
            <a:effectRef idx="1">
              <a:schemeClr val="accent1"/>
            </a:effectRef>
            <a:fontRef idx="minor">
              <a:schemeClr val="tx1"/>
            </a:fontRef>
          </p:style>
        </p:cxnSp>
        <p:sp>
          <p:nvSpPr>
            <p:cNvPr id="83" name="Freeform 82"/>
            <p:cNvSpPr/>
            <p:nvPr/>
          </p:nvSpPr>
          <p:spPr>
            <a:xfrm>
              <a:off x="10570238" y="5360802"/>
              <a:ext cx="106154" cy="106154"/>
            </a:xfrm>
            <a:custGeom>
              <a:avLst/>
              <a:gdLst/>
              <a:ahLst/>
              <a:cxnLst/>
              <a:rect l="l" t="t" r="r" b="b"/>
              <a:pathLst>
                <a:path w="106154" h="106154">
                  <a:moveTo>
                    <a:pt x="0" y="0"/>
                  </a:moveTo>
                  <a:lnTo>
                    <a:pt x="0" y="106154"/>
                  </a:lnTo>
                  <a:lnTo>
                    <a:pt x="106154" y="53077"/>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771931" y="5333202"/>
              <a:ext cx="233539" cy="15371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시간</a:t>
              </a:r>
            </a:p>
          </p:txBody>
        </p:sp>
      </p:grpSp>
      <p:sp>
        <p:nvSpPr>
          <p:cNvPr id="85" name="Rectangle 84"/>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(1)은 CE 결과에 즉시 chain, (2)는 contraction 없이 단독, (3)은 다른 컨텍스트에서 병렬.</a:t>
            </a:r>
          </a:p>
        </p:txBody>
      </p:sp>
      <p:sp>
        <p:nvSpPr>
          <p:cNvPr id="86" name="Rectangle 85"/>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VE 의 세 가지 사용 모드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CE 뒤에 붙이거나, 혼자 쓰거나, 다른 컨텍스트에서 겹쳐 돌리거나</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147</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(1)은 공간적 융합(연산 융합), (3)은 시간적 융합(지연 은닉)이다. 둘 다 중간 텐서의 메모리 왕복을 없애는 것이 목적이다</a:t>
            </a:r>
          </a:p>
          <a:p>
            <a:pPr algn="l">
              <a:lnSpc>
                <a:spcPct val="118000"/>
              </a:lnSpc>
              <a:spcBef>
                <a:spcPts val="600"/>
              </a:spcBef>
              <a:spcAft>
                <a:spcPts val="200"/>
              </a:spcAft>
            </a:pPr>
            <a:r>
              <a:rPr sz="1900" b="0" i="0">
                <a:solidFill>
                  <a:srgbClr val="16202C"/>
                </a:solidFill>
                <a:latin typeface="Segoe UI"/>
                <a:ea typeface="맑은 고딕"/>
                <a:cs typeface="맑은 고딕"/>
              </a:rPr>
              <a:t>▪  논문이 든 (1)의 예는 LLaMA-2 feed-forward layer 의 expand 연산과 SiLU 활성화 함수의 fusion 이다</a:t>
            </a:r>
          </a:p>
          <a:p>
            <a:pPr algn="l">
              <a:lnSpc>
                <a:spcPct val="118000"/>
              </a:lnSpc>
              <a:spcBef>
                <a:spcPts val="600"/>
              </a:spcBef>
              <a:spcAft>
                <a:spcPts val="200"/>
              </a:spcAft>
            </a:pPr>
            <a:r>
              <a:rPr sz="1900" b="0" i="0">
                <a:solidFill>
                  <a:srgbClr val="16202C"/>
                </a:solidFill>
                <a:latin typeface="Segoe UI"/>
                <a:ea typeface="맑은 고딕"/>
                <a:cs typeface="맑은 고딕"/>
              </a:rPr>
              <a:t>▪  (2)에서 fetch sequencer 가 N중 루프 주소를 생성하므로, 다차원 텐서 전체를 한 번의 연산 기동으로 훑는다</a:t>
            </a:r>
          </a:p>
          <a:p>
            <a:pPr algn="l">
              <a:lnSpc>
                <a:spcPct val="118000"/>
              </a:lnSpc>
              <a:spcBef>
                <a:spcPts val="600"/>
              </a:spcBef>
              <a:spcAft>
                <a:spcPts val="200"/>
              </a:spcAft>
            </a:pPr>
            <a:r>
              <a:rPr sz="1900" b="1" i="0">
                <a:solidFill>
                  <a:srgbClr val="083F80"/>
                </a:solidFill>
                <a:latin typeface="Segoe UI"/>
                <a:ea typeface="맑은 고딕"/>
                <a:cs typeface="맑은 고딕"/>
              </a:rPr>
              <a:t>▪  (3)은 III-B 의 main/sub context 설계가 VE 에서 결실을 맺는 지점이다. contraction 뒤에 이어질 element-wise 연산을 contraction 시간 안에 숨긴다</a:t>
            </a:r>
          </a:p>
          <a:p>
            <a:pPr algn="l">
              <a:lnSpc>
                <a:spcPct val="118000"/>
              </a:lnSpc>
              <a:spcBef>
                <a:spcPts val="600"/>
              </a:spcBef>
              <a:spcAft>
                <a:spcPts val="200"/>
              </a:spcAft>
            </a:pPr>
            <a:r>
              <a:rPr sz="1900" b="0" i="0">
                <a:solidFill>
                  <a:srgbClr val="16202C"/>
                </a:solidFill>
                <a:latin typeface="Segoe UI"/>
                <a:ea typeface="맑은 고딕"/>
                <a:cs typeface="맑은 고딕"/>
              </a:rPr>
              <a:t>▪  VE 자체는 작다 — 슬라이스당 8-way INT32 / 4-way FP32. 연산량을 감당하는 유닛이 아니라 연산 사이를 메우는 유닛이다</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IV-E. Transpose Engine (TE)</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TE 는 슬라이스 내부에서(within a slice) 텐서의 last axis(마지막 축) 를 다른 축들과 transpose(전치) 한다</a:t>
            </a:r>
          </a:p>
          <a:p>
            <a:pPr algn="l">
              <a:lnSpc>
                <a:spcPct val="118000"/>
              </a:lnSpc>
              <a:spcBef>
                <a:spcPts val="600"/>
              </a:spcBef>
              <a:spcAft>
                <a:spcPts val="200"/>
              </a:spcAft>
            </a:pPr>
            <a:r>
              <a:rPr sz="1600" b="1" i="0">
                <a:solidFill>
                  <a:srgbClr val="083F80"/>
                </a:solidFill>
                <a:latin typeface="Segoe UI"/>
                <a:ea typeface="맑은 고딕"/>
                <a:cs typeface="맑은 고딕"/>
              </a:rPr>
              <a:t>▪  동작 방식: 지정된 행 집합(a specified set of rows) 에 대해 데이터를 push(밀어 넣기) 하고, 다른 행 집합에 대해 pop(꺼내기) 한다</a:t>
            </a:r>
          </a:p>
          <a:p>
            <a:pPr algn="l">
              <a:lnSpc>
                <a:spcPct val="118000"/>
              </a:lnSpc>
              <a:spcBef>
                <a:spcPts val="600"/>
              </a:spcBef>
              <a:spcAft>
                <a:spcPts val="200"/>
              </a:spcAft>
            </a:pPr>
            <a:r>
              <a:rPr sz="1600" b="0" i="0">
                <a:solidFill>
                  <a:srgbClr val="16202C"/>
                </a:solidFill>
                <a:latin typeface="Segoe UI"/>
                <a:ea typeface="맑은 고딕"/>
                <a:cs typeface="맑은 고딕"/>
              </a:rPr>
              <a:t>▪  즉 쓰기 순서와 읽기 순서를 다르게 잡는 버퍼로 전치를 구현한다</a:t>
            </a:r>
          </a:p>
          <a:p>
            <a:pPr algn="l">
              <a:lnSpc>
                <a:spcPct val="118000"/>
              </a:lnSpc>
              <a:spcBef>
                <a:spcPts val="600"/>
              </a:spcBef>
              <a:spcAft>
                <a:spcPts val="200"/>
              </a:spcAft>
            </a:pPr>
            <a:r>
              <a:rPr sz="1600" b="1" i="0">
                <a:solidFill>
                  <a:srgbClr val="083F80"/>
                </a:solidFill>
                <a:latin typeface="Segoe UI"/>
                <a:ea typeface="맑은 고딕"/>
                <a:cs typeface="맑은 고딕"/>
              </a:rPr>
              <a:t>▪  중요한 단서: fetch sequencer 와 commit sequencer 로도 마지막 축과 다른 축 사이의 전치를 수행할 수 있다</a:t>
            </a:r>
          </a:p>
          <a:p>
            <a:pPr algn="l">
              <a:lnSpc>
                <a:spcPct val="118000"/>
              </a:lnSpc>
              <a:spcBef>
                <a:spcPts val="200"/>
              </a:spcBef>
              <a:spcAft>
                <a:spcPts val="100"/>
              </a:spcAft>
            </a:pPr>
            <a:r>
              <a:rPr sz="1480" b="0" i="0">
                <a:solidFill>
                  <a:srgbClr val="2C3A4B"/>
                </a:solidFill>
                <a:latin typeface="Segoe UI"/>
                <a:ea typeface="맑은 고딕"/>
                <a:cs typeface="맑은 고딕"/>
              </a:rPr>
              <a:t>–  주소 생성 순서만 바꾸면 되기 때문이다. 전용 TE 를 거치지 않아도 되는 경우가 생긴다</a:t>
            </a:r>
          </a:p>
          <a:p>
            <a:pPr algn="l">
              <a:lnSpc>
                <a:spcPct val="118000"/>
              </a:lnSpc>
              <a:spcBef>
                <a:spcPts val="600"/>
              </a:spcBef>
              <a:spcAft>
                <a:spcPts val="200"/>
              </a:spcAft>
            </a:pPr>
            <a:r>
              <a:rPr sz="1600" b="0" i="0">
                <a:solidFill>
                  <a:srgbClr val="16202C"/>
                </a:solidFill>
                <a:latin typeface="Segoe UI"/>
                <a:ea typeface="맑은 고딕"/>
                <a:cs typeface="맑은 고딕"/>
              </a:rPr>
              <a:t>▪  여기에 CE 의 feed unit 도 텐서 transpose 기능을 갖는다 (IV-C)</a:t>
            </a:r>
          </a:p>
          <a:p>
            <a:pPr algn="l">
              <a:lnSpc>
                <a:spcPct val="118000"/>
              </a:lnSpc>
              <a:spcBef>
                <a:spcPts val="600"/>
              </a:spcBef>
              <a:spcAft>
                <a:spcPts val="200"/>
              </a:spcAft>
            </a:pPr>
            <a:r>
              <a:rPr sz="1600" b="0" i="0">
                <a:solidFill>
                  <a:srgbClr val="16202C"/>
                </a:solidFill>
                <a:latin typeface="Segoe UI"/>
                <a:ea typeface="맑은 고딕"/>
                <a:cs typeface="맑은 고딕"/>
              </a:rPr>
              <a:t>▪  그리고 CE 출력의 row-major / column-major 선택도 사실상 축 순서를 바꾸는 수단이다 (Fig. 6)</a:t>
            </a:r>
          </a:p>
          <a:p>
            <a:pPr algn="l">
              <a:lnSpc>
                <a:spcPct val="118000"/>
              </a:lnSpc>
              <a:spcBef>
                <a:spcPts val="600"/>
              </a:spcBef>
              <a:spcAft>
                <a:spcPts val="200"/>
              </a:spcAft>
            </a:pPr>
            <a:r>
              <a:rPr sz="1600" b="1" i="0">
                <a:solidFill>
                  <a:srgbClr val="083F80"/>
                </a:solidFill>
                <a:latin typeface="Segoe UI"/>
                <a:ea typeface="맑은 고딕"/>
                <a:cs typeface="맑은 고딕"/>
              </a:rPr>
              <a:t>▪  결과적으로 칩 안에 전치 경로가 여러 갈래로 존재한다. 컴파일러가 가장 싼 경로를 고를 수 있다</a:t>
            </a:r>
          </a:p>
          <a:p>
            <a:pPr algn="l">
              <a:lnSpc>
                <a:spcPct val="118000"/>
              </a:lnSpc>
              <a:spcBef>
                <a:spcPts val="600"/>
              </a:spcBef>
              <a:spcAft>
                <a:spcPts val="200"/>
              </a:spcAft>
            </a:pPr>
            <a:r>
              <a:rPr sz="1600" b="0" i="0">
                <a:solidFill>
                  <a:srgbClr val="16202C"/>
                </a:solidFill>
                <a:latin typeface="Segoe UI"/>
                <a:ea typeface="맑은 고딕"/>
                <a:cs typeface="맑은 고딕"/>
              </a:rPr>
              <a:t>▪  논문은 이 경로들의 비용을 비교하거나 선택 기준을 제시하지는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슬라이스 내부에서 마지막 축을 다른 축과 전치한다. push 후 pop 방식이다.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텐서 조작 — TE + VE + Commit Unit 의 합작</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본문: "Together with the VE, the TE and the commit unit handle tensor manipulations across multiple slices or within a single slice."</a:t>
            </a:r>
          </a:p>
          <a:p>
            <a:pPr algn="l">
              <a:lnSpc>
                <a:spcPct val="118000"/>
              </a:lnSpc>
              <a:spcBef>
                <a:spcPts val="600"/>
              </a:spcBef>
              <a:spcAft>
                <a:spcPts val="200"/>
              </a:spcAft>
            </a:pPr>
            <a:r>
              <a:rPr sz="1500" b="0" i="0">
                <a:solidFill>
                  <a:srgbClr val="16202C"/>
                </a:solidFill>
                <a:latin typeface="Segoe UI"/>
                <a:ea typeface="맑은 고딕"/>
                <a:cs typeface="맑은 고딕"/>
              </a:rPr>
              <a:t>▪  즉 텐서 조작의 범위가 단일 슬라이스 내부에 그치지 않고 여러 슬라이스를 가로지른다 (VE 의 슬라이스 간 채널이 그 통로다)</a:t>
            </a:r>
          </a:p>
          <a:p>
            <a:pPr algn="l">
              <a:lnSpc>
                <a:spcPct val="118000"/>
              </a:lnSpc>
              <a:spcBef>
                <a:spcPts val="600"/>
              </a:spcBef>
              <a:spcAft>
                <a:spcPts val="200"/>
              </a:spcAft>
            </a:pPr>
            <a:r>
              <a:rPr sz="1500" b="1" i="0">
                <a:solidFill>
                  <a:srgbClr val="083F80"/>
                </a:solidFill>
                <a:latin typeface="Segoe UI"/>
                <a:ea typeface="맑은 고딕"/>
                <a:cs typeface="맑은 고딕"/>
              </a:rPr>
              <a:t>▪  tensor manipulation 에 포함되는 것: transpose, split, slice, concat, reshape 등</a:t>
            </a:r>
          </a:p>
          <a:p>
            <a:pPr algn="l">
              <a:lnSpc>
                <a:spcPct val="118000"/>
              </a:lnSpc>
              <a:spcBef>
                <a:spcPts val="600"/>
              </a:spcBef>
              <a:spcAft>
                <a:spcPts val="200"/>
              </a:spcAft>
            </a:pPr>
            <a:r>
              <a:rPr sz="1500" b="0" i="0">
                <a:solidFill>
                  <a:srgbClr val="16202C"/>
                </a:solidFill>
                <a:latin typeface="Segoe UI"/>
                <a:ea typeface="맑은 고딕"/>
                <a:cs typeface="맑은 고딕"/>
              </a:rPr>
              <a:t>▪  조작이 필요한 두 가지 이유</a:t>
            </a:r>
          </a:p>
          <a:p>
            <a:pPr algn="l">
              <a:lnSpc>
                <a:spcPct val="118000"/>
              </a:lnSpc>
              <a:spcBef>
                <a:spcPts val="200"/>
              </a:spcBef>
              <a:spcAft>
                <a:spcPts val="100"/>
              </a:spcAft>
            </a:pPr>
            <a:r>
              <a:rPr sz="1380" b="0" i="0">
                <a:solidFill>
                  <a:srgbClr val="2C3A4B"/>
                </a:solidFill>
                <a:latin typeface="Segoe UI"/>
                <a:ea typeface="맑은 고딕"/>
                <a:cs typeface="맑은 고딕"/>
              </a:rPr>
              <a:t>–  (1) 모델이 명시적으로 정의한 조작 — 예: attention 의 head 분리/병합</a:t>
            </a:r>
          </a:p>
          <a:p>
            <a:pPr algn="l">
              <a:lnSpc>
                <a:spcPct val="118000"/>
              </a:lnSpc>
              <a:spcBef>
                <a:spcPts val="200"/>
              </a:spcBef>
              <a:spcAft>
                <a:spcPts val="100"/>
              </a:spcAft>
            </a:pPr>
            <a:r>
              <a:rPr sz="1380" b="1" i="0">
                <a:solidFill>
                  <a:srgbClr val="2C3A4B"/>
                </a:solidFill>
                <a:latin typeface="Segoe UI"/>
                <a:ea typeface="맑은 고딕"/>
                <a:cs typeface="맑은 고딕"/>
              </a:rPr>
              <a:t>–  (2) 컴파일러가 후속 연산에 최적화된 layout(레이아웃) 으로 저장하기 위한 조작</a:t>
            </a:r>
          </a:p>
          <a:p>
            <a:pPr algn="l">
              <a:lnSpc>
                <a:spcPct val="118000"/>
              </a:lnSpc>
              <a:spcBef>
                <a:spcPts val="600"/>
              </a:spcBef>
              <a:spcAft>
                <a:spcPts val="200"/>
              </a:spcAft>
            </a:pPr>
            <a:r>
              <a:rPr sz="1500" b="1" i="0">
                <a:solidFill>
                  <a:srgbClr val="083F80"/>
                </a:solidFill>
                <a:latin typeface="Segoe UI"/>
                <a:ea typeface="맑은 고딕"/>
                <a:cs typeface="맑은 고딕"/>
              </a:rPr>
              <a:t>▪  처리 시점: VE 와 마찬가지로 dot product 연산 이후에 on-the-fly 로, 또는 dot product 와 병렬로 처리할 수 있다</a:t>
            </a:r>
          </a:p>
          <a:p>
            <a:pPr algn="l">
              <a:lnSpc>
                <a:spcPct val="118000"/>
              </a:lnSpc>
              <a:spcBef>
                <a:spcPts val="600"/>
              </a:spcBef>
              <a:spcAft>
                <a:spcPts val="200"/>
              </a:spcAft>
            </a:pPr>
            <a:r>
              <a:rPr sz="1500" b="0" i="0">
                <a:solidFill>
                  <a:srgbClr val="16202C"/>
                </a:solidFill>
                <a:latin typeface="Segoe UI"/>
                <a:ea typeface="맑은 고딕"/>
                <a:cs typeface="맑은 고딕"/>
              </a:rPr>
              <a:t>▪  즉 텐서 조작 때문에 별도의 커널 패스를 돌 필요가 없다. 이것이 layout 변환 비용을 실질적으로 0 에 가깝게 만든다</a:t>
            </a:r>
          </a:p>
          <a:p>
            <a:pPr algn="l">
              <a:lnSpc>
                <a:spcPct val="118000"/>
              </a:lnSpc>
              <a:spcBef>
                <a:spcPts val="600"/>
              </a:spcBef>
              <a:spcAft>
                <a:spcPts val="200"/>
              </a:spcAft>
            </a:pPr>
            <a:r>
              <a:rPr sz="1500" b="0" i="0">
                <a:solidFill>
                  <a:srgbClr val="16202C"/>
                </a:solidFill>
                <a:latin typeface="Segoe UI"/>
                <a:ea typeface="맑은 고딕"/>
                <a:cs typeface="맑은 고딕"/>
              </a:rPr>
              <a:t>▪  논문이 명시적으로 연결하지는 않지만, II 절의 bridge operator(이웃 연산 간 lowered shape 불일치를 해소하는 연산자) 가 실행되는 하드웨어 경로가 여기로 읽힌다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transpose, split, slice, concat, reshape 를 dot product 뒤에 즉시 또는 병렬로 처리한다.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IV-F. Commit Unit (CU)</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CU 는 commit sequencer (커밋 시퀀서) 와 commit process unit (커밋 처리 유닛) 으로 구성된다</a:t>
            </a:r>
          </a:p>
          <a:p>
            <a:pPr algn="l">
              <a:lnSpc>
                <a:spcPct val="118000"/>
              </a:lnSpc>
              <a:spcBef>
                <a:spcPts val="600"/>
              </a:spcBef>
              <a:spcAft>
                <a:spcPts val="200"/>
              </a:spcAft>
            </a:pPr>
            <a:r>
              <a:rPr sz="1500" b="0" i="0">
                <a:solidFill>
                  <a:srgbClr val="16202C"/>
                </a:solidFill>
                <a:latin typeface="Segoe UI"/>
                <a:ea typeface="맑은 고딕"/>
                <a:cs typeface="맑은 고딕"/>
              </a:rPr>
              <a:t>▪  commit sequencer</a:t>
            </a:r>
          </a:p>
          <a:p>
            <a:pPr algn="l">
              <a:lnSpc>
                <a:spcPct val="118000"/>
              </a:lnSpc>
              <a:spcBef>
                <a:spcPts val="200"/>
              </a:spcBef>
              <a:spcAft>
                <a:spcPts val="100"/>
              </a:spcAft>
            </a:pPr>
            <a:r>
              <a:rPr sz="1380" b="0" i="0">
                <a:solidFill>
                  <a:srgbClr val="2C3A4B"/>
                </a:solidFill>
                <a:latin typeface="Segoe UI"/>
                <a:ea typeface="맑은 고딕"/>
                <a:cs typeface="맑은 고딕"/>
              </a:rPr>
              <a:t>–  순차적으로 전송돼 오는 commit 데이터에 대해 주소를 지정한다</a:t>
            </a:r>
          </a:p>
          <a:p>
            <a:pPr algn="l">
              <a:lnSpc>
                <a:spcPct val="118000"/>
              </a:lnSpc>
              <a:spcBef>
                <a:spcPts val="200"/>
              </a:spcBef>
              <a:spcAft>
                <a:spcPts val="100"/>
              </a:spcAft>
            </a:pPr>
            <a:r>
              <a:rPr sz="1380" b="1" i="0">
                <a:solidFill>
                  <a:srgbClr val="2C3A4B"/>
                </a:solidFill>
                <a:latin typeface="Segoe UI"/>
                <a:ea typeface="맑은 고딕"/>
                <a:cs typeface="맑은 고딕"/>
              </a:rPr>
              <a:t>–  그 결과 텐서의 storage layout(저장 레이아웃) 을 조작할 수 있다</a:t>
            </a:r>
          </a:p>
          <a:p>
            <a:pPr algn="l">
              <a:lnSpc>
                <a:spcPct val="118000"/>
              </a:lnSpc>
              <a:spcBef>
                <a:spcPts val="600"/>
              </a:spcBef>
              <a:spcAft>
                <a:spcPts val="200"/>
              </a:spcAft>
            </a:pPr>
            <a:r>
              <a:rPr sz="1500" b="0" i="0">
                <a:solidFill>
                  <a:srgbClr val="16202C"/>
                </a:solidFill>
                <a:latin typeface="Segoe UI"/>
                <a:ea typeface="맑은 고딕"/>
                <a:cs typeface="맑은 고딕"/>
              </a:rPr>
              <a:t>▪  commit sequencer 가 생성한 주소를 이용해, 필요하면 storage bandwidth(저장 대역폭) 소비량을 조절할 수 있다</a:t>
            </a:r>
          </a:p>
          <a:p>
            <a:pPr algn="l">
              <a:lnSpc>
                <a:spcPct val="118000"/>
              </a:lnSpc>
              <a:spcBef>
                <a:spcPts val="200"/>
              </a:spcBef>
              <a:spcAft>
                <a:spcPts val="100"/>
              </a:spcAft>
            </a:pPr>
            <a:r>
              <a:rPr sz="1380" b="1" i="0">
                <a:solidFill>
                  <a:srgbClr val="2C3A4B"/>
                </a:solidFill>
                <a:latin typeface="Segoe UI"/>
                <a:ea typeface="맑은 고딕"/>
                <a:cs typeface="맑은 고딕"/>
              </a:rPr>
              <a:t>–  commit size 파라미터로 8B / 16B / 32B per cycle 중 하나를 고른다</a:t>
            </a:r>
          </a:p>
          <a:p>
            <a:pPr algn="l">
              <a:lnSpc>
                <a:spcPct val="118000"/>
              </a:lnSpc>
              <a:spcBef>
                <a:spcPts val="600"/>
              </a:spcBef>
              <a:spcAft>
                <a:spcPts val="200"/>
              </a:spcAft>
            </a:pPr>
            <a:r>
              <a:rPr sz="1500" b="0" i="0">
                <a:solidFill>
                  <a:srgbClr val="16202C"/>
                </a:solidFill>
                <a:latin typeface="Segoe UI"/>
                <a:ea typeface="맑은 고딕"/>
                <a:cs typeface="맑은 고딕"/>
              </a:rPr>
              <a:t>▪  commit process unit</a:t>
            </a:r>
          </a:p>
          <a:p>
            <a:pPr algn="l">
              <a:lnSpc>
                <a:spcPct val="118000"/>
              </a:lnSpc>
              <a:spcBef>
                <a:spcPts val="200"/>
              </a:spcBef>
              <a:spcAft>
                <a:spcPts val="100"/>
              </a:spcAft>
            </a:pPr>
            <a:r>
              <a:rPr sz="1380" b="0" i="0">
                <a:solidFill>
                  <a:srgbClr val="2C3A4B"/>
                </a:solidFill>
                <a:latin typeface="Segoe UI"/>
                <a:ea typeface="맑은 고딕"/>
                <a:cs typeface="맑은 고딕"/>
              </a:rPr>
              <a:t>–  simple type conversions (간단한 자료형 변환) 을 지원한다</a:t>
            </a:r>
          </a:p>
          <a:p>
            <a:pPr algn="l">
              <a:lnSpc>
                <a:spcPct val="118000"/>
              </a:lnSpc>
              <a:spcBef>
                <a:spcPts val="200"/>
              </a:spcBef>
              <a:spcAft>
                <a:spcPts val="100"/>
              </a:spcAft>
            </a:pPr>
            <a:r>
              <a:rPr sz="1380" b="1" i="0">
                <a:solidFill>
                  <a:srgbClr val="2C3A4B"/>
                </a:solidFill>
                <a:latin typeface="Segoe UI"/>
                <a:ea typeface="맑은 고딕"/>
                <a:cs typeface="맑은 고딕"/>
              </a:rPr>
              <a:t>–  저장 시 compaction(압축 저장) 을 위해 데이터에서 padding(패딩) 을 제거할 수 있다</a:t>
            </a:r>
          </a:p>
          <a:p>
            <a:pPr algn="l">
              <a:lnSpc>
                <a:spcPct val="118000"/>
              </a:lnSpc>
              <a:spcBef>
                <a:spcPts val="600"/>
              </a:spcBef>
              <a:spcAft>
                <a:spcPts val="200"/>
              </a:spcAft>
            </a:pPr>
            <a:r>
              <a:rPr sz="1500" b="1" i="0">
                <a:solidFill>
                  <a:srgbClr val="083F80"/>
                </a:solidFill>
                <a:latin typeface="Segoe UI"/>
                <a:ea typeface="맑은 고딕"/>
                <a:cs typeface="맑은 고딕"/>
              </a:rPr>
              <a:t>▪  구조의 대칭성: Fetch Unit = fetch sequencer + fetch process unit (주소 생성 + type conversion·padding 추가), Commit Unit = commit sequencer + commit process unit (주소 지정 + type conversion·padding 제거)</a:t>
            </a:r>
          </a:p>
          <a:p>
            <a:pPr algn="l">
              <a:lnSpc>
                <a:spcPct val="118000"/>
              </a:lnSpc>
              <a:spcBef>
                <a:spcPts val="600"/>
              </a:spcBef>
              <a:spcAft>
                <a:spcPts val="200"/>
              </a:spcAft>
            </a:pPr>
            <a:r>
              <a:rPr sz="1500" b="0" i="0">
                <a:solidFill>
                  <a:srgbClr val="16202C"/>
                </a:solidFill>
                <a:latin typeface="Segoe UI"/>
                <a:ea typeface="맑은 고딕"/>
                <a:cs typeface="맑은 고딕"/>
              </a:rPr>
              <a:t>▪  수치 정합: CE 출력 포트가 32B 이고 commit 최대 폭도 32B/cycle 이다. DM slice 는 16 뱅크 × 8B = 128B/cycle (= 128 GB/s @ 1 GHz) 이므로 커밋이 뱅크를 다 먹지 않는다 [IV-A 수치로부터의 계산]</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commit sequencer 가 주소를, commit process unit 이 자료형과 padding 을 처리한다.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5부 · MICRO-ARCHITECTURE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정리 — 이 부의 핵심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CE 는 고정 크기 행렬곱기가 아니다. reduction tree 깊이라는 손잡이 하나로 element-wise 곱셈부터 완전 내적까지 연속 변화한다</a:t>
            </a:r>
          </a:p>
          <a:p>
            <a:pPr algn="l">
              <a:lnSpc>
                <a:spcPct val="118000"/>
              </a:lnSpc>
              <a:spcBef>
                <a:spcPts val="600"/>
              </a:spcBef>
              <a:spcAft>
                <a:spcPts val="200"/>
              </a:spcAft>
            </a:pPr>
            <a:r>
              <a:rPr sz="1500" b="0" i="0">
                <a:solidFill>
                  <a:srgbClr val="16202C"/>
                </a:solidFill>
                <a:latin typeface="Segoe UI"/>
                <a:ea typeface="맑은 고딕"/>
                <a:cs typeface="맑은 고딕"/>
              </a:rPr>
              <a:t>▪  재사용은 세 방향으로 동시에 일어난다. feed unit 의 broadcast(공간), feed unit 의 반복 공급(시간), accumulation unit 의 1024개 누산기(출력 고정)</a:t>
            </a:r>
          </a:p>
          <a:p>
            <a:pPr algn="l">
              <a:lnSpc>
                <a:spcPct val="118000"/>
              </a:lnSpc>
              <a:spcBef>
                <a:spcPts val="600"/>
              </a:spcBef>
              <a:spcAft>
                <a:spcPts val="200"/>
              </a:spcAft>
            </a:pPr>
            <a:r>
              <a:rPr sz="1500" b="0" i="0">
                <a:solidFill>
                  <a:srgbClr val="16202C"/>
                </a:solidFill>
                <a:latin typeface="Segoe UI"/>
                <a:ea typeface="맑은 고딕"/>
                <a:cs typeface="맑은 고딕"/>
              </a:rPr>
              <a:t>▪  자료형별 처리량은 입력 폭이 결정한다. 32 BF16 / 64 FP8 / 64 INT8 / 128 INT4 → 1 : 2 : 2 : 4</a:t>
            </a:r>
          </a:p>
          <a:p>
            <a:pPr algn="l">
              <a:lnSpc>
                <a:spcPct val="118000"/>
              </a:lnSpc>
              <a:spcBef>
                <a:spcPts val="600"/>
              </a:spcBef>
              <a:spcAft>
                <a:spcPts val="200"/>
              </a:spcAft>
            </a:pPr>
            <a:r>
              <a:rPr sz="1500" b="0" i="0">
                <a:solidFill>
                  <a:srgbClr val="16202C"/>
                </a:solidFill>
                <a:latin typeface="Segoe UI"/>
                <a:ea typeface="맑은 고딕"/>
                <a:cs typeface="맑은 고딕"/>
              </a:rPr>
              <a:t>▪  RF 80 KB/slice 는 단순한 가중치 저장소가 아니라, sub-context 가 다음 가중치를 미리 채우는 더블버퍼 지점이다</a:t>
            </a:r>
          </a:p>
          <a:p>
            <a:pPr algn="l">
              <a:lnSpc>
                <a:spcPct val="118000"/>
              </a:lnSpc>
              <a:spcBef>
                <a:spcPts val="600"/>
              </a:spcBef>
              <a:spcAft>
                <a:spcPts val="200"/>
              </a:spcAft>
            </a:pPr>
            <a:r>
              <a:rPr sz="1500" b="1" i="0">
                <a:solidFill>
                  <a:srgbClr val="083F80"/>
                </a:solidFill>
                <a:latin typeface="Segoe UI"/>
                <a:ea typeface="맑은 고딕"/>
                <a:cs typeface="맑은 고딕"/>
              </a:rPr>
              <a:t>▪  operation sequencer 가 명령어 없이 control register 만으로 전체 루프를 전개한다 → 결정론적 성능, 정확한 cost model</a:t>
            </a:r>
          </a:p>
          <a:p>
            <a:pPr algn="l">
              <a:lnSpc>
                <a:spcPct val="118000"/>
              </a:lnSpc>
              <a:spcBef>
                <a:spcPts val="600"/>
              </a:spcBef>
              <a:spcAft>
                <a:spcPts val="200"/>
              </a:spcAft>
            </a:pPr>
            <a:r>
              <a:rPr sz="1500" b="0" i="0">
                <a:solidFill>
                  <a:srgbClr val="16202C"/>
                </a:solidFill>
                <a:latin typeface="Segoe UI"/>
                <a:ea typeface="맑은 고딕"/>
                <a:cs typeface="맑은 고딕"/>
              </a:rPr>
              <a:t>▪  VE 는 CE 가 못 하는 전부를 맡는다. 초월함수, 조건부 연산, 모든 정밀도 변환, 그리고 슬라이스를 가로지르는 축약과 배포</a:t>
            </a:r>
          </a:p>
          <a:p>
            <a:pPr algn="l">
              <a:lnSpc>
                <a:spcPct val="118000"/>
              </a:lnSpc>
              <a:spcBef>
                <a:spcPts val="600"/>
              </a:spcBef>
              <a:spcAft>
                <a:spcPts val="200"/>
              </a:spcAft>
            </a:pPr>
            <a:r>
              <a:rPr sz="1500" b="0" i="0">
                <a:solidFill>
                  <a:srgbClr val="16202C"/>
                </a:solidFill>
                <a:latin typeface="Segoe UI"/>
                <a:ea typeface="맑은 고딕"/>
                <a:cs typeface="맑은 고딕"/>
              </a:rPr>
              <a:t>▪  VE 의 두 채널(reduce / distribute) 이 softmax·layer-norm 을 슬라이스 경계 너머로 확장한다</a:t>
            </a:r>
          </a:p>
          <a:p>
            <a:pPr algn="l">
              <a:lnSpc>
                <a:spcPct val="118000"/>
              </a:lnSpc>
              <a:spcBef>
                <a:spcPts val="600"/>
              </a:spcBef>
              <a:spcAft>
                <a:spcPts val="200"/>
              </a:spcAft>
            </a:pPr>
            <a:r>
              <a:rPr sz="1500" b="1" i="0">
                <a:solidFill>
                  <a:srgbClr val="083F80"/>
                </a:solidFill>
                <a:latin typeface="Segoe UI"/>
                <a:ea typeface="맑은 고딕"/>
                <a:cs typeface="맑은 고딕"/>
              </a:rPr>
              <a:t>▪  TE·CU·feed unit·시퀀서에 전치와 레이아웃 조작 경로가 흩어져 있어, 텐서 조작이 별도 패스를 요구하지 않는다</a:t>
            </a:r>
          </a:p>
          <a:p>
            <a:pPr algn="l">
              <a:lnSpc>
                <a:spcPct val="118000"/>
              </a:lnSpc>
              <a:spcBef>
                <a:spcPts val="600"/>
              </a:spcBef>
              <a:spcAft>
                <a:spcPts val="200"/>
              </a:spcAft>
            </a:pPr>
            <a:r>
              <a:rPr sz="1500" b="0" i="0">
                <a:solidFill>
                  <a:srgbClr val="16202C"/>
                </a:solidFill>
                <a:latin typeface="Segoe UI"/>
                <a:ea typeface="맑은 고딕"/>
                <a:cs typeface="맑은 고딕"/>
              </a:rPr>
              <a:t>▪  논문이 밝히지 않은 것: 80B 입력 폭의 구성, VRF 용량, 슬라이스 간 채널의 폭과 지연, "Accumulation Unit x 32"·"유닛당 4개"·"총 1024개" 세 수치의 관계</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CE 는 재구성 가능한 축약기, VE 는 만능 후처리기, TE·CU 는 레이아웃 흡수기다.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6</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PROGRAMMING INTERFACE</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컴파일러 스택과 IR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부의 구성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A. Programming Interface — CPU 코어가 Tensor Unit(TU, 텐서 유닛)을 coprocessor(보조 프로세서)로 제어하는 방식</a:t>
            </a:r>
          </a:p>
          <a:p>
            <a:pPr algn="l">
              <a:lnSpc>
                <a:spcPct val="118000"/>
              </a:lnSpc>
              <a:spcBef>
                <a:spcPts val="200"/>
              </a:spcBef>
              <a:spcAft>
                <a:spcPts val="100"/>
              </a:spcAft>
            </a:pPr>
            <a:r>
              <a:rPr sz="1780" b="0" i="0">
                <a:solidFill>
                  <a:srgbClr val="2C3A4B"/>
                </a:solidFill>
                <a:latin typeface="Segoe UI"/>
                <a:ea typeface="맑은 고딕"/>
                <a:cs typeface="맑은 고딕"/>
              </a:rPr>
              <a:t>–  제어 레지스터, 커맨드 프로세서, 커맨드 집합, PE 간 통신</a:t>
            </a:r>
          </a:p>
          <a:p>
            <a:pPr algn="l">
              <a:lnSpc>
                <a:spcPct val="118000"/>
              </a:lnSpc>
              <a:spcBef>
                <a:spcPts val="600"/>
              </a:spcBef>
              <a:spcAft>
                <a:spcPts val="200"/>
              </a:spcAft>
            </a:pPr>
            <a:r>
              <a:rPr sz="1900" b="1" i="0">
                <a:solidFill>
                  <a:srgbClr val="083F80"/>
                </a:solidFill>
                <a:latin typeface="Segoe UI"/>
                <a:ea typeface="맑은 고딕"/>
                <a:cs typeface="맑은 고딕"/>
              </a:rPr>
              <a:t>▪  B. Various Tactics — Fig. 8, 같은 연산에 대한 세 가지 lowered shape(내려진 형상) 과 tactic(전술) 대안</a:t>
            </a:r>
          </a:p>
          <a:p>
            <a:pPr algn="l">
              <a:lnSpc>
                <a:spcPct val="118000"/>
              </a:lnSpc>
              <a:spcBef>
                <a:spcPts val="200"/>
              </a:spcBef>
              <a:spcAft>
                <a:spcPts val="100"/>
              </a:spcAft>
            </a:pPr>
            <a:r>
              <a:rPr sz="1780" b="0" i="0">
                <a:solidFill>
                  <a:srgbClr val="2C3A4B"/>
                </a:solidFill>
                <a:latin typeface="Segoe UI"/>
                <a:ea typeface="맑은 고딕"/>
                <a:cs typeface="맑은 고딕"/>
              </a:rPr>
              <a:t>–  (a)(b)(c) 가 각각 무엇을 다르게 하는가, 그리고 정렬(alignment) 제약</a:t>
            </a:r>
          </a:p>
          <a:p>
            <a:pPr algn="l">
              <a:lnSpc>
                <a:spcPct val="118000"/>
              </a:lnSpc>
              <a:spcBef>
                <a:spcPts val="600"/>
              </a:spcBef>
              <a:spcAft>
                <a:spcPts val="200"/>
              </a:spcAft>
            </a:pPr>
            <a:r>
              <a:rPr sz="1900" b="1" i="0">
                <a:solidFill>
                  <a:srgbClr val="083F80"/>
                </a:solidFill>
                <a:latin typeface="Segoe UI"/>
                <a:ea typeface="맑은 고딕"/>
                <a:cs typeface="맑은 고딕"/>
              </a:rPr>
              <a:t>▪  C. End-to-End Compiler — 5단계 컴파일 파이프라인과 Fig. 9 의 IR 두 계층</a:t>
            </a:r>
          </a:p>
          <a:p>
            <a:pPr algn="l">
              <a:lnSpc>
                <a:spcPct val="118000"/>
              </a:lnSpc>
              <a:spcBef>
                <a:spcPts val="600"/>
              </a:spcBef>
              <a:spcAft>
                <a:spcPts val="200"/>
              </a:spcAft>
            </a:pPr>
            <a:r>
              <a:rPr sz="1900" b="1" i="0">
                <a:solidFill>
                  <a:srgbClr val="083F80"/>
                </a:solidFill>
                <a:latin typeface="Segoe UI"/>
                <a:ea typeface="맑은 고딕"/>
                <a:cs typeface="맑은 고딕"/>
              </a:rPr>
              <a:t>▪  D. Low-Level API — 프레임워크 밖 사용자를 위한 저수준 인터페이스</a:t>
            </a:r>
          </a:p>
          <a:p>
            <a:pPr algn="l">
              <a:lnSpc>
                <a:spcPct val="118000"/>
              </a:lnSpc>
              <a:spcBef>
                <a:spcPts val="600"/>
              </a:spcBef>
              <a:spcAft>
                <a:spcPts val="200"/>
              </a:spcAft>
            </a:pPr>
            <a:r>
              <a:rPr sz="1900" b="1" i="0">
                <a:solidFill>
                  <a:srgbClr val="083F80"/>
                </a:solidFill>
                <a:latin typeface="Segoe UI"/>
                <a:ea typeface="맑은 고딕"/>
                <a:cs typeface="맑은 고딕"/>
              </a:rPr>
              <a:t>▪  이 부를 관통하는 질문: 선언적(declarative)인 einsum 을 어떻게 결정적(deterministic)인 하드웨어 커맨드로 내리는가</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V 절은 '표기법 → 컴파일러 → 커맨드 → 실행'의 사슬을 끝까지 잇는 절이다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A-1. 코프로세서 모델: 왜 비동기인가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CPU 코어는 레지스터를 통해 TU 를 coprocessor 로 제어한다</a:t>
            </a:r>
          </a:p>
          <a:p>
            <a:pPr algn="l">
              <a:lnSpc>
                <a:spcPct val="118000"/>
              </a:lnSpc>
              <a:spcBef>
                <a:spcPts val="600"/>
              </a:spcBef>
              <a:spcAft>
                <a:spcPts val="200"/>
              </a:spcAft>
            </a:pPr>
            <a:r>
              <a:rPr sz="1900" b="0" i="0">
                <a:solidFill>
                  <a:srgbClr val="16202C"/>
                </a:solidFill>
                <a:latin typeface="Segoe UI"/>
                <a:ea typeface="맑은 고딕"/>
                <a:cs typeface="맑은 고딕"/>
              </a:rPr>
              <a:t>▪  코어에서 코프로세서에 접근하는 데 latency(지연)가 존재한다</a:t>
            </a:r>
          </a:p>
          <a:p>
            <a:pPr algn="l">
              <a:lnSpc>
                <a:spcPct val="118000"/>
              </a:lnSpc>
              <a:spcBef>
                <a:spcPts val="200"/>
              </a:spcBef>
              <a:spcAft>
                <a:spcPts val="100"/>
              </a:spcAft>
            </a:pPr>
            <a:r>
              <a:rPr sz="1780" b="1" i="0">
                <a:solidFill>
                  <a:srgbClr val="2C3A4B"/>
                </a:solidFill>
                <a:latin typeface="Segoe UI"/>
                <a:ea typeface="맑은 고딕"/>
                <a:cs typeface="맑은 고딕"/>
              </a:rPr>
              <a:t>–  그래서 TU 는 asynchronous(비동기)로 동작하도록 설계됐다</a:t>
            </a:r>
          </a:p>
          <a:p>
            <a:pPr algn="l">
              <a:lnSpc>
                <a:spcPct val="118000"/>
              </a:lnSpc>
              <a:spcBef>
                <a:spcPts val="200"/>
              </a:spcBef>
              <a:spcAft>
                <a:spcPts val="100"/>
              </a:spcAft>
            </a:pPr>
            <a:r>
              <a:rPr sz="1780" b="0" i="0">
                <a:solidFill>
                  <a:srgbClr val="2C3A4B"/>
                </a:solidFill>
                <a:latin typeface="Segoe UI"/>
                <a:ea typeface="맑은 고딕"/>
                <a:cs typeface="맑은 고딕"/>
              </a:rPr>
              <a:t>–  동기식이면 레지스터를 쓸 때마다 코어가 멈춰 기다려야 한다. 비동기이므로 코어는 일을 던져 놓고 다른 작업을 이어간다</a:t>
            </a:r>
          </a:p>
          <a:p>
            <a:pPr algn="l">
              <a:lnSpc>
                <a:spcPct val="118000"/>
              </a:lnSpc>
              <a:spcBef>
                <a:spcPts val="600"/>
              </a:spcBef>
              <a:spcAft>
                <a:spcPts val="200"/>
              </a:spcAft>
            </a:pPr>
            <a:r>
              <a:rPr sz="1900" b="1" i="0">
                <a:solidFill>
                  <a:srgbClr val="083F80"/>
                </a:solidFill>
                <a:latin typeface="Segoe UI"/>
                <a:ea typeface="맑은 고딕"/>
                <a:cs typeface="맑은 고딕"/>
              </a:rPr>
              <a:t>▪  TU 는 텐서의 shape(형상) 과 tactic 을 기술하는 대규모 control register 집합을 갖는다</a:t>
            </a:r>
          </a:p>
          <a:p>
            <a:pPr algn="l">
              <a:lnSpc>
                <a:spcPct val="118000"/>
              </a:lnSpc>
              <a:spcBef>
                <a:spcPts val="200"/>
              </a:spcBef>
              <a:spcAft>
                <a:spcPts val="100"/>
              </a:spcAft>
            </a:pPr>
            <a:r>
              <a:rPr sz="1780" b="0" i="0">
                <a:solidFill>
                  <a:srgbClr val="2C3A4B"/>
                </a:solidFill>
                <a:latin typeface="Segoe UI"/>
                <a:ea typeface="맑은 고딕"/>
                <a:cs typeface="맑은 고딕"/>
              </a:rPr>
              <a:t>–  즉 TU 에게 프로그램이란 '명령어 스트림'이 아니라 '레지스터 설정'이다</a:t>
            </a:r>
          </a:p>
          <a:p>
            <a:pPr algn="l">
              <a:lnSpc>
                <a:spcPct val="118000"/>
              </a:lnSpc>
              <a:spcBef>
                <a:spcPts val="200"/>
              </a:spcBef>
              <a:spcAft>
                <a:spcPts val="100"/>
              </a:spcAft>
            </a:pPr>
            <a:r>
              <a:rPr sz="1780" b="0" i="0">
                <a:solidFill>
                  <a:srgbClr val="2C3A4B"/>
                </a:solidFill>
                <a:latin typeface="Segoe UI"/>
                <a:ea typeface="맑은 고딕"/>
                <a:cs typeface="맑은 고딕"/>
              </a:rPr>
              <a:t>–  어떤 축을 어떤 stride 로 몇 개 슬라이스에 걸칠지, 루프 순서는 무엇인지가 전부 레지스터 값으로 표현된다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TU 는 명령어를 해석하는 코어가 아니라, 레지스터로 형상과 순서를 기술받는 엔진이다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A-2. 제어 레지스터의 구조와 브로드캐스트</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slice(슬라이스, 기본 연산 단위)마다 자기 제어 레지스터를 갖는다 → 슬라이스별 개별 제어가 가능하다</a:t>
            </a:r>
          </a:p>
          <a:p>
            <a:pPr algn="l">
              <a:lnSpc>
                <a:spcPct val="118000"/>
              </a:lnSpc>
              <a:spcBef>
                <a:spcPts val="600"/>
              </a:spcBef>
              <a:spcAft>
                <a:spcPts val="200"/>
              </a:spcAft>
            </a:pPr>
            <a:r>
              <a:rPr sz="1700" b="0" i="0">
                <a:solidFill>
                  <a:srgbClr val="16202C"/>
                </a:solidFill>
                <a:latin typeface="Segoe UI"/>
                <a:ea typeface="맑은 고딕"/>
                <a:cs typeface="맑은 고딕"/>
              </a:rPr>
              <a:t>▪  그러나 통상적으로는 하나의 TU 안 모든 슬라이스를 동일한 설정으로 제어한다</a:t>
            </a:r>
          </a:p>
          <a:p>
            <a:pPr algn="l">
              <a:lnSpc>
                <a:spcPct val="118000"/>
              </a:lnSpc>
              <a:spcBef>
                <a:spcPts val="600"/>
              </a:spcBef>
              <a:spcAft>
                <a:spcPts val="200"/>
              </a:spcAft>
            </a:pPr>
            <a:r>
              <a:rPr sz="1700" b="1" i="0">
                <a:solidFill>
                  <a:srgbClr val="083F80"/>
                </a:solidFill>
                <a:latin typeface="Segoe UI"/>
                <a:ea typeface="맑은 고딕"/>
                <a:cs typeface="맑은 고딕"/>
              </a:rPr>
              <a:t>▪  모든 슬라이스의 제어 레지스터는 broadcast(브로드캐스트)로 한 번에 설정할 수 있다</a:t>
            </a:r>
          </a:p>
          <a:p>
            <a:pPr algn="l">
              <a:lnSpc>
                <a:spcPct val="118000"/>
              </a:lnSpc>
              <a:spcBef>
                <a:spcPts val="200"/>
              </a:spcBef>
              <a:spcAft>
                <a:spcPts val="100"/>
              </a:spcAft>
            </a:pPr>
            <a:r>
              <a:rPr sz="1580" b="0" i="0">
                <a:solidFill>
                  <a:srgbClr val="2C3A4B"/>
                </a:solidFill>
                <a:latin typeface="Segoe UI"/>
                <a:ea typeface="맑은 고딕"/>
                <a:cs typeface="맑은 고딕"/>
              </a:rPr>
              <a:t>–  64+1 개 슬라이스를 하나씩 세팅하면 설정 비용이 실행 시간을 압도한다. 브로드캐스트가 이를 없앤다</a:t>
            </a:r>
          </a:p>
          <a:p>
            <a:pPr algn="l">
              <a:lnSpc>
                <a:spcPct val="118000"/>
              </a:lnSpc>
              <a:spcBef>
                <a:spcPts val="600"/>
              </a:spcBef>
              <a:spcAft>
                <a:spcPts val="200"/>
              </a:spcAft>
            </a:pPr>
            <a:r>
              <a:rPr sz="1700" b="1" i="0">
                <a:solidFill>
                  <a:srgbClr val="083F80"/>
                </a:solidFill>
                <a:latin typeface="Segoe UI"/>
                <a:ea typeface="맑은 고딕"/>
                <a:cs typeface="맑은 고딕"/>
              </a:rPr>
              <a:t>▪  contraction(수축) 연산은 chained processing(체이닝 처리)까지 포함해 제어 레지스터를 통해 직접 노출된다</a:t>
            </a:r>
          </a:p>
          <a:p>
            <a:pPr algn="l">
              <a:lnSpc>
                <a:spcPct val="118000"/>
              </a:lnSpc>
              <a:spcBef>
                <a:spcPts val="200"/>
              </a:spcBef>
              <a:spcAft>
                <a:spcPts val="100"/>
              </a:spcAft>
            </a:pPr>
            <a:r>
              <a:rPr sz="1580" b="0" i="0">
                <a:solidFill>
                  <a:srgbClr val="2C3A4B"/>
                </a:solidFill>
                <a:latin typeface="Segoe UI"/>
                <a:ea typeface="맑은 고딕"/>
                <a:cs typeface="맑은 고딕"/>
              </a:rPr>
              <a:t>–  CE → VE → TE 를 이어 붙이는 체이닝도 별도 명령이 아니라 레지스터 설정이다</a:t>
            </a:r>
          </a:p>
          <a:p>
            <a:pPr algn="l">
              <a:lnSpc>
                <a:spcPct val="118000"/>
              </a:lnSpc>
              <a:spcBef>
                <a:spcPts val="600"/>
              </a:spcBef>
              <a:spcAft>
                <a:spcPts val="200"/>
              </a:spcAft>
            </a:pPr>
            <a:r>
              <a:rPr sz="1700" b="1" i="0">
                <a:solidFill>
                  <a:srgbClr val="083F80"/>
                </a:solidFill>
                <a:latin typeface="Segoe UI"/>
                <a:ea typeface="맑은 고딕"/>
                <a:cs typeface="맑은 고딕"/>
              </a:rPr>
              <a:t>▪  모든 제어 레지스터 구성이 끝난 뒤 실행을 촉발하는 enable bit 가 따로 있다</a:t>
            </a:r>
          </a:p>
          <a:p>
            <a:pPr algn="l">
              <a:lnSpc>
                <a:spcPct val="118000"/>
              </a:lnSpc>
              <a:spcBef>
                <a:spcPts val="600"/>
              </a:spcBef>
              <a:spcAft>
                <a:spcPts val="200"/>
              </a:spcAft>
            </a:pPr>
            <a:r>
              <a:rPr sz="1700" b="0" i="0">
                <a:solidFill>
                  <a:srgbClr val="16202C"/>
                </a:solidFill>
                <a:latin typeface="Segoe UI"/>
                <a:ea typeface="맑은 고딕"/>
                <a:cs typeface="맑은 고딕"/>
              </a:rPr>
              <a:t>▪  III 절 참조: 제어 레지스터는 TU 주소 공간에 매핑되며, ARM 코어의 LLPP(low-latency peripheral port)로 직접 쓰거나 커맨드 큐를 경유해 TUC 가 대신 세팅한다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슬라이스별 개별 제어 가능 + 브로드캐스트 일괄 설정 → 유연성과 설정 비용을 동시에 잡는다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A-3. TU 컨트롤러와 커맨드 프로세서</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CPU 코어 → 커맨드 큐(64) → 커맨드 프로세서 → 슬라이스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155</a:t>
            </a:r>
          </a:p>
        </p:txBody>
      </p:sp>
      <p:grpSp>
        <p:nvGrpSpPr>
          <p:cNvPr id="9" name="도해 A6#04"/>
          <p:cNvGrpSpPr/>
          <p:nvPr/>
        </p:nvGrpSpPr>
        <p:grpSpPr>
          <a:xfrm>
            <a:off x="975411" y="1463040"/>
            <a:ext cx="10240874" cy="4078224"/>
            <a:chOff x="975411" y="1463040"/>
            <a:chExt cx="10240874" cy="4078224"/>
          </a:xfrm>
        </p:grpSpPr>
        <p:sp>
          <p:nvSpPr>
            <p:cNvPr id="10" name="Rounded Rectangle 9"/>
            <p:cNvSpPr/>
            <p:nvPr/>
          </p:nvSpPr>
          <p:spPr>
            <a:xfrm>
              <a:off x="975411" y="2165401"/>
              <a:ext cx="2220366" cy="1699260"/>
            </a:xfrm>
            <a:prstGeom prst="roundRect">
              <a:avLst>
                <a:gd name="adj" fmla="val 6000"/>
              </a:avLst>
            </a:prstGeom>
            <a:solidFill>
              <a:srgbClr val="E2F4E8"/>
            </a:solidFill>
            <a:ln w="2265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28908" y="2343936"/>
              <a:ext cx="713372" cy="229649"/>
            </a:xfrm>
            <a:prstGeom prst="rect">
              <a:avLst/>
            </a:prstGeom>
            <a:noFill/>
          </p:spPr>
          <p:txBody>
            <a:bodyPr wrap="none" anchor="ctr" lIns="0" rIns="0" tIns="0" bIns="0">
              <a:noAutofit/>
            </a:bodyPr>
            <a:lstStyle/>
            <a:p>
              <a:pPr algn="ctr"/>
              <a:r>
                <a:rPr sz="1250" b="1">
                  <a:solidFill>
                    <a:srgbClr val="1A7F37"/>
                  </a:solidFill>
                  <a:latin typeface="맑은 고딕"/>
                  <a:ea typeface="맑은 고딕"/>
                  <a:cs typeface="맑은 고딕"/>
                </a:rPr>
                <a:t>CPU 코어</a:t>
              </a:r>
            </a:p>
          </p:txBody>
        </p:sp>
        <p:sp>
          <p:nvSpPr>
            <p:cNvPr id="12" name="TextBox 11"/>
            <p:cNvSpPr txBox="1"/>
            <p:nvPr/>
          </p:nvSpPr>
          <p:spPr>
            <a:xfrm>
              <a:off x="1572332" y="2684468"/>
              <a:ext cx="1026523" cy="172237"/>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커맨드를 큐에 push</a:t>
              </a:r>
            </a:p>
          </p:txBody>
        </p:sp>
        <p:sp>
          <p:nvSpPr>
            <p:cNvPr id="13" name="TextBox 12"/>
            <p:cNvSpPr txBox="1"/>
            <p:nvPr/>
          </p:nvSpPr>
          <p:spPr>
            <a:xfrm>
              <a:off x="1586487" y="2911036"/>
              <a:ext cx="998213" cy="172237"/>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동적 제어 흐름 담당</a:t>
              </a:r>
            </a:p>
          </p:txBody>
        </p:sp>
        <p:cxnSp>
          <p:nvCxnSpPr>
            <p:cNvPr id="14" name="Connector 13"/>
            <p:cNvCxnSpPr/>
            <p:nvPr/>
          </p:nvCxnSpPr>
          <p:spPr>
            <a:xfrm>
              <a:off x="1201979" y="3230270"/>
              <a:ext cx="1767230" cy="0"/>
            </a:xfrm>
            <a:prstGeom prst="line">
              <a:avLst/>
            </a:prstGeom>
            <a:ln w="11328">
              <a:solidFill>
                <a:srgbClr val="1A7F3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51444" y="3341515"/>
              <a:ext cx="468299" cy="172237"/>
            </a:xfrm>
            <a:prstGeom prst="rect">
              <a:avLst/>
            </a:prstGeom>
            <a:noFill/>
          </p:spPr>
          <p:txBody>
            <a:bodyPr wrap="none" anchor="ctr" lIns="0" rIns="0" tIns="0" bIns="0">
              <a:noAutofit/>
            </a:bodyPr>
            <a:lstStyle/>
            <a:p>
              <a:pPr algn="ctr"/>
              <a:r>
                <a:rPr sz="940" b="1">
                  <a:solidFill>
                    <a:srgbClr val="1A7F37"/>
                  </a:solidFill>
                  <a:latin typeface="맑은 고딕"/>
                  <a:ea typeface="맑은 고딕"/>
                  <a:cs typeface="맑은 고딕"/>
                </a:rPr>
                <a:t>제1 임무</a:t>
              </a:r>
            </a:p>
          </p:txBody>
        </p:sp>
        <p:sp>
          <p:nvSpPr>
            <p:cNvPr id="16" name="TextBox 15"/>
            <p:cNvSpPr txBox="1"/>
            <p:nvPr/>
          </p:nvSpPr>
          <p:spPr>
            <a:xfrm>
              <a:off x="1654526" y="3568083"/>
              <a:ext cx="862137" cy="172237"/>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큐를 비우지 않기</a:t>
              </a:r>
            </a:p>
          </p:txBody>
        </p:sp>
        <p:sp>
          <p:nvSpPr>
            <p:cNvPr id="17" name="TextBox 16"/>
            <p:cNvSpPr txBox="1"/>
            <p:nvPr/>
          </p:nvSpPr>
          <p:spPr>
            <a:xfrm>
              <a:off x="3180937" y="2147275"/>
              <a:ext cx="301562" cy="16403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push</a:t>
              </a:r>
            </a:p>
          </p:txBody>
        </p:sp>
        <p:cxnSp>
          <p:nvCxnSpPr>
            <p:cNvPr id="18" name="Connector 17"/>
            <p:cNvCxnSpPr/>
            <p:nvPr/>
          </p:nvCxnSpPr>
          <p:spPr>
            <a:xfrm>
              <a:off x="3195777" y="2414626"/>
              <a:ext cx="158598" cy="0"/>
            </a:xfrm>
            <a:prstGeom prst="line">
              <a:avLst/>
            </a:prstGeom>
            <a:ln w="22656">
              <a:solidFill>
                <a:srgbClr val="1A7F37"/>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3331718" y="2346655"/>
              <a:ext cx="135941" cy="135941"/>
            </a:xfrm>
            <a:custGeom>
              <a:avLst/>
              <a:gdLst/>
              <a:ahLst/>
              <a:cxnLst/>
              <a:rect l="l" t="t" r="r" b="b"/>
              <a:pathLst>
                <a:path w="135941" h="135941">
                  <a:moveTo>
                    <a:pt x="0" y="0"/>
                  </a:moveTo>
                  <a:lnTo>
                    <a:pt x="135941" y="67971"/>
                  </a:lnTo>
                  <a:lnTo>
                    <a:pt x="0" y="135941"/>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67659" y="1463040"/>
              <a:ext cx="4871212" cy="3398520"/>
            </a:xfrm>
            <a:prstGeom prst="roundRect">
              <a:avLst>
                <a:gd name="adj" fmla="val 3333"/>
              </a:avLst>
            </a:prstGeom>
            <a:solidFill>
              <a:srgbClr val="F4F8FD"/>
            </a:solidFill>
            <a:ln w="2832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40046" y="1544378"/>
              <a:ext cx="926437" cy="237851"/>
            </a:xfrm>
            <a:prstGeom prst="rect">
              <a:avLst/>
            </a:prstGeom>
            <a:noFill/>
          </p:spPr>
          <p:txBody>
            <a:bodyPr wrap="none" anchor="ctr" lIns="0" rIns="0" tIns="0" bIns="0">
              <a:noAutofit/>
            </a:bodyPr>
            <a:lstStyle/>
            <a:p>
              <a:pPr algn="ctr"/>
              <a:r>
                <a:rPr sz="1290" b="1">
                  <a:solidFill>
                    <a:srgbClr val="083F80"/>
                  </a:solidFill>
                  <a:latin typeface="맑은 고딕"/>
                  <a:ea typeface="맑은 고딕"/>
                  <a:cs typeface="맑은 고딕"/>
                </a:rPr>
                <a:t>TU 컨트롤러</a:t>
              </a:r>
            </a:p>
          </p:txBody>
        </p:sp>
        <p:sp>
          <p:nvSpPr>
            <p:cNvPr id="22" name="TextBox 21"/>
            <p:cNvSpPr txBox="1"/>
            <p:nvPr/>
          </p:nvSpPr>
          <p:spPr>
            <a:xfrm>
              <a:off x="5219638" y="1855682"/>
              <a:ext cx="1367253" cy="188641"/>
            </a:xfrm>
            <a:prstGeom prst="rect">
              <a:avLst/>
            </a:prstGeom>
            <a:noFill/>
          </p:spPr>
          <p:txBody>
            <a:bodyPr wrap="none" anchor="ctr" lIns="0" rIns="0" tIns="0" bIns="0">
              <a:noAutofit/>
            </a:bodyPr>
            <a:lstStyle/>
            <a:p>
              <a:pPr algn="ctr"/>
              <a:r>
                <a:rPr sz="1030" b="1">
                  <a:solidFill>
                    <a:srgbClr val="083F80"/>
                  </a:solidFill>
                  <a:latin typeface="맑은 고딕"/>
                  <a:ea typeface="맑은 고딕"/>
                  <a:cs typeface="맑은 고딕"/>
                </a:rPr>
                <a:t>커맨드 큐 — 64 entries</a:t>
              </a:r>
            </a:p>
          </p:txBody>
        </p:sp>
        <p:sp>
          <p:nvSpPr>
            <p:cNvPr id="23" name="Rounded Rectangle 22"/>
            <p:cNvSpPr/>
            <p:nvPr/>
          </p:nvSpPr>
          <p:spPr>
            <a:xfrm>
              <a:off x="3603600" y="2097430"/>
              <a:ext cx="611734" cy="407822"/>
            </a:xfrm>
            <a:prstGeom prst="roundRect">
              <a:avLst>
                <a:gd name="adj" fmla="val 13888"/>
              </a:avLst>
            </a:prstGeom>
            <a:solidFill>
              <a:srgbClr val="FDEBD3"/>
            </a:solidFill>
            <a:ln w="15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62625" y="2220004"/>
              <a:ext cx="293683" cy="172237"/>
            </a:xfrm>
            <a:prstGeom prst="rect">
              <a:avLst/>
            </a:prstGeom>
            <a:noFill/>
          </p:spPr>
          <p:txBody>
            <a:bodyPr wrap="none" anchor="ctr" lIns="0" rIns="0" tIns="0" bIns="0">
              <a:noAutofit/>
            </a:bodyPr>
            <a:lstStyle/>
            <a:p>
              <a:pPr algn="ctr"/>
              <a:r>
                <a:rPr sz="940" b="0">
                  <a:solidFill>
                    <a:srgbClr val="B45409"/>
                  </a:solidFill>
                  <a:latin typeface="맑은 고딕"/>
                  <a:ea typeface="맑은 고딕"/>
                  <a:cs typeface="맑은 고딕"/>
                </a:rPr>
                <a:t>dma</a:t>
              </a:r>
            </a:p>
          </p:txBody>
        </p:sp>
        <p:sp>
          <p:nvSpPr>
            <p:cNvPr id="25" name="Rounded Rectangle 24"/>
            <p:cNvSpPr/>
            <p:nvPr/>
          </p:nvSpPr>
          <p:spPr>
            <a:xfrm>
              <a:off x="4260647" y="2097430"/>
              <a:ext cx="611734" cy="407822"/>
            </a:xfrm>
            <a:prstGeom prst="roundRect">
              <a:avLst>
                <a:gd name="adj" fmla="val 13888"/>
              </a:avLst>
            </a:prstGeom>
            <a:solidFill>
              <a:srgbClr val="EEF2F7"/>
            </a:solidFill>
            <a:ln w="1585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2765" y="2220004"/>
              <a:ext cx="287498" cy="172237"/>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load</a:t>
              </a:r>
            </a:p>
          </p:txBody>
        </p:sp>
        <p:sp>
          <p:nvSpPr>
            <p:cNvPr id="27" name="Rounded Rectangle 26"/>
            <p:cNvSpPr/>
            <p:nvPr/>
          </p:nvSpPr>
          <p:spPr>
            <a:xfrm>
              <a:off x="4917694" y="2097430"/>
              <a:ext cx="611734" cy="407822"/>
            </a:xfrm>
            <a:prstGeom prst="roundRect">
              <a:avLst>
                <a:gd name="adj" fmla="val 13888"/>
              </a:avLst>
            </a:prstGeom>
            <a:solidFill>
              <a:srgbClr val="FDE8E8"/>
            </a:solidFill>
            <a:ln w="15859">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6863" y="2220004"/>
              <a:ext cx="353395" cy="172237"/>
            </a:xfrm>
            <a:prstGeom prst="rect">
              <a:avLst/>
            </a:prstGeom>
            <a:noFill/>
          </p:spPr>
          <p:txBody>
            <a:bodyPr wrap="none" anchor="ctr" lIns="0" rIns="0" tIns="0" bIns="0">
              <a:noAutofit/>
            </a:bodyPr>
            <a:lstStyle/>
            <a:p>
              <a:pPr algn="ctr"/>
              <a:r>
                <a:rPr sz="940" b="0">
                  <a:solidFill>
                    <a:srgbClr val="B4222A"/>
                  </a:solidFill>
                  <a:latin typeface="맑은 고딕"/>
                  <a:ea typeface="맑은 고딕"/>
                  <a:cs typeface="맑은 고딕"/>
                </a:rPr>
                <a:t>waitd</a:t>
              </a:r>
            </a:p>
          </p:txBody>
        </p:sp>
        <p:sp>
          <p:nvSpPr>
            <p:cNvPr id="29" name="Rounded Rectangle 28"/>
            <p:cNvSpPr/>
            <p:nvPr/>
          </p:nvSpPr>
          <p:spPr>
            <a:xfrm>
              <a:off x="5574741" y="2097430"/>
              <a:ext cx="611734" cy="407822"/>
            </a:xfrm>
            <a:prstGeom prst="roundRect">
              <a:avLst>
                <a:gd name="adj" fmla="val 13888"/>
              </a:avLst>
            </a:prstGeom>
            <a:solidFill>
              <a:srgbClr val="DCEBF9"/>
            </a:solidFill>
            <a:ln w="1585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34956" y="2220004"/>
              <a:ext cx="291304" cy="172237"/>
            </a:xfrm>
            <a:prstGeom prst="rect">
              <a:avLst/>
            </a:prstGeom>
            <a:noFill/>
          </p:spPr>
          <p:txBody>
            <a:bodyPr wrap="none" anchor="ctr" lIns="0" rIns="0" tIns="0" bIns="0">
              <a:noAutofit/>
            </a:bodyPr>
            <a:lstStyle/>
            <a:p>
              <a:pPr algn="ctr"/>
              <a:r>
                <a:rPr sz="940" b="0">
                  <a:solidFill>
                    <a:srgbClr val="083F80"/>
                  </a:solidFill>
                  <a:latin typeface="맑은 고딕"/>
                  <a:ea typeface="맑은 고딕"/>
                  <a:cs typeface="맑은 고딕"/>
                </a:rPr>
                <a:t>exec</a:t>
              </a:r>
            </a:p>
          </p:txBody>
        </p:sp>
        <p:sp>
          <p:nvSpPr>
            <p:cNvPr id="31" name="Rounded Rectangle 30"/>
            <p:cNvSpPr/>
            <p:nvPr/>
          </p:nvSpPr>
          <p:spPr>
            <a:xfrm>
              <a:off x="6231788" y="2097430"/>
              <a:ext cx="611734" cy="407822"/>
            </a:xfrm>
            <a:prstGeom prst="roundRect">
              <a:avLst>
                <a:gd name="adj" fmla="val 13888"/>
              </a:avLst>
            </a:prstGeom>
            <a:solidFill>
              <a:srgbClr val="FDEBD3"/>
            </a:solidFill>
            <a:ln w="1585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0814" y="2220004"/>
              <a:ext cx="293683" cy="172237"/>
            </a:xfrm>
            <a:prstGeom prst="rect">
              <a:avLst/>
            </a:prstGeom>
            <a:noFill/>
          </p:spPr>
          <p:txBody>
            <a:bodyPr wrap="none" anchor="ctr" lIns="0" rIns="0" tIns="0" bIns="0">
              <a:noAutofit/>
            </a:bodyPr>
            <a:lstStyle/>
            <a:p>
              <a:pPr algn="ctr"/>
              <a:r>
                <a:rPr sz="940" b="0">
                  <a:solidFill>
                    <a:srgbClr val="B45409"/>
                  </a:solidFill>
                  <a:latin typeface="맑은 고딕"/>
                  <a:ea typeface="맑은 고딕"/>
                  <a:cs typeface="맑은 고딕"/>
                </a:rPr>
                <a:t>dma</a:t>
              </a:r>
            </a:p>
          </p:txBody>
        </p:sp>
        <p:sp>
          <p:nvSpPr>
            <p:cNvPr id="33" name="Rounded Rectangle 32"/>
            <p:cNvSpPr/>
            <p:nvPr/>
          </p:nvSpPr>
          <p:spPr>
            <a:xfrm>
              <a:off x="6888836" y="2097430"/>
              <a:ext cx="611734" cy="407822"/>
            </a:xfrm>
            <a:prstGeom prst="roundRect">
              <a:avLst>
                <a:gd name="adj" fmla="val 13888"/>
              </a:avLst>
            </a:prstGeom>
            <a:solidFill>
              <a:srgbClr val="EEF2F7"/>
            </a:solidFill>
            <a:ln w="15859">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50953" y="2220004"/>
              <a:ext cx="287498" cy="172237"/>
            </a:xfrm>
            <a:prstGeom prst="rect">
              <a:avLst/>
            </a:prstGeom>
            <a:noFill/>
          </p:spPr>
          <p:txBody>
            <a:bodyPr wrap="none" anchor="ctr" lIns="0" rIns="0" tIns="0" bIns="0">
              <a:noAutofit/>
            </a:bodyPr>
            <a:lstStyle/>
            <a:p>
              <a:pPr algn="ctr"/>
              <a:r>
                <a:rPr sz="940" b="0">
                  <a:solidFill>
                    <a:srgbClr val="5B6B7B"/>
                  </a:solidFill>
                  <a:latin typeface="맑은 고딕"/>
                  <a:ea typeface="맑은 고딕"/>
                  <a:cs typeface="맑은 고딕"/>
                </a:rPr>
                <a:t>load</a:t>
              </a:r>
            </a:p>
          </p:txBody>
        </p:sp>
        <p:sp>
          <p:nvSpPr>
            <p:cNvPr id="35" name="TextBox 34"/>
            <p:cNvSpPr txBox="1"/>
            <p:nvPr/>
          </p:nvSpPr>
          <p:spPr>
            <a:xfrm>
              <a:off x="7634743" y="2168573"/>
              <a:ext cx="411357" cy="278860"/>
            </a:xfrm>
            <a:prstGeom prst="rect">
              <a:avLst/>
            </a:prstGeom>
            <a:noFill/>
          </p:spPr>
          <p:txBody>
            <a:bodyPr wrap="none" anchor="ctr" lIns="0" rIns="0" tIns="0" bIns="0">
              <a:noAutofit/>
            </a:bodyPr>
            <a:lstStyle/>
            <a:p>
              <a:pPr algn="ctr"/>
              <a:r>
                <a:rPr sz="1520" b="1">
                  <a:solidFill>
                    <a:srgbClr val="5B6B7B"/>
                  </a:solidFill>
                  <a:latin typeface="맑은 고딕"/>
                  <a:ea typeface="맑은 고딕"/>
                  <a:cs typeface="맑은 고딕"/>
                </a:rPr>
                <a:t>···</a:t>
              </a:r>
            </a:p>
          </p:txBody>
        </p:sp>
        <p:cxnSp>
          <p:nvCxnSpPr>
            <p:cNvPr id="36" name="Connector 35"/>
            <p:cNvCxnSpPr/>
            <p:nvPr/>
          </p:nvCxnSpPr>
          <p:spPr>
            <a:xfrm>
              <a:off x="5903265" y="2550566"/>
              <a:ext cx="0" cy="294539"/>
            </a:xfrm>
            <a:prstGeom prst="line">
              <a:avLst/>
            </a:prstGeom>
            <a:ln w="22656">
              <a:solidFill>
                <a:srgbClr val="0B5FC0"/>
              </a:solidFill>
            </a:ln>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5835294" y="2822448"/>
              <a:ext cx="135941" cy="113284"/>
            </a:xfrm>
            <a:custGeom>
              <a:avLst/>
              <a:gdLst/>
              <a:ahLst/>
              <a:cxnLst/>
              <a:rect l="l" t="t" r="r" b="b"/>
              <a:pathLst>
                <a:path w="135941" h="113284">
                  <a:moveTo>
                    <a:pt x="0" y="0"/>
                  </a:moveTo>
                  <a:lnTo>
                    <a:pt x="67971" y="113284"/>
                  </a:lnTo>
                  <a:lnTo>
                    <a:pt x="135941"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18504" y="2663624"/>
              <a:ext cx="978694" cy="155833"/>
            </a:xfrm>
            <a:prstGeom prst="rect">
              <a:avLst/>
            </a:prstGeom>
            <a:noFill/>
          </p:spPr>
          <p:txBody>
            <a:bodyPr wrap="none" anchor="ctr" lIns="0" rIns="0" tIns="0" bIns="0">
              <a:noAutofit/>
            </a:bodyPr>
            <a:lstStyle/>
            <a:p>
              <a:pPr algn="l"/>
              <a:r>
                <a:rPr sz="850" b="0">
                  <a:solidFill>
                    <a:srgbClr val="5B6B7B"/>
                  </a:solidFill>
                  <a:latin typeface="맑은 고딕"/>
                  <a:ea typeface="맑은 고딕"/>
                  <a:cs typeface="맑은 고딕"/>
                </a:rPr>
                <a:t>앞에서부터 순차 pop</a:t>
              </a:r>
            </a:p>
          </p:txBody>
        </p:sp>
        <p:sp>
          <p:nvSpPr>
            <p:cNvPr id="39" name="Rounded Rectangle 38"/>
            <p:cNvSpPr/>
            <p:nvPr/>
          </p:nvSpPr>
          <p:spPr>
            <a:xfrm>
              <a:off x="3603600" y="2958389"/>
              <a:ext cx="4554017" cy="702361"/>
            </a:xfrm>
            <a:prstGeom prst="roundRect">
              <a:avLst>
                <a:gd name="adj" fmla="val 11290"/>
              </a:avLst>
            </a:prstGeom>
            <a:solidFill>
              <a:srgbClr val="DCEBF9"/>
            </a:solidFill>
            <a:ln w="2039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3079" y="3088665"/>
              <a:ext cx="995058" cy="205044"/>
            </a:xfrm>
            <a:prstGeom prst="rect">
              <a:avLst/>
            </a:prstGeom>
            <a:noFill/>
          </p:spPr>
          <p:txBody>
            <a:bodyPr wrap="none" anchor="ctr" lIns="0" rIns="0" tIns="0" bIns="0">
              <a:noAutofit/>
            </a:bodyPr>
            <a:lstStyle/>
            <a:p>
              <a:pPr algn="ctr"/>
              <a:r>
                <a:rPr sz="1120" b="1">
                  <a:solidFill>
                    <a:srgbClr val="083F80"/>
                  </a:solidFill>
                  <a:latin typeface="맑은 고딕"/>
                  <a:ea typeface="맑은 고딕"/>
                  <a:cs typeface="맑은 고딕"/>
                </a:rPr>
                <a:t>커맨드 프로세서</a:t>
              </a:r>
            </a:p>
          </p:txBody>
        </p:sp>
        <p:sp>
          <p:nvSpPr>
            <p:cNvPr id="41" name="TextBox 40"/>
            <p:cNvSpPr txBox="1"/>
            <p:nvPr/>
          </p:nvSpPr>
          <p:spPr>
            <a:xfrm>
              <a:off x="4975695" y="3370743"/>
              <a:ext cx="1809825" cy="164035"/>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큐 안의 커맨드를 순차적으로 실행한다</a:t>
              </a:r>
            </a:p>
          </p:txBody>
        </p:sp>
        <p:cxnSp>
          <p:nvCxnSpPr>
            <p:cNvPr id="42" name="Connector 41"/>
            <p:cNvCxnSpPr/>
            <p:nvPr/>
          </p:nvCxnSpPr>
          <p:spPr>
            <a:xfrm>
              <a:off x="5880608" y="3660750"/>
              <a:ext cx="0" cy="271881"/>
            </a:xfrm>
            <a:prstGeom prst="line">
              <a:avLst/>
            </a:prstGeom>
            <a:ln w="22656">
              <a:solidFill>
                <a:srgbClr val="0B5FC0"/>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5812638" y="3909974"/>
              <a:ext cx="135940" cy="113284"/>
            </a:xfrm>
            <a:custGeom>
              <a:avLst/>
              <a:gdLst/>
              <a:ahLst/>
              <a:cxnLst/>
              <a:rect l="l" t="t" r="r" b="b"/>
              <a:pathLst>
                <a:path w="135940" h="113284">
                  <a:moveTo>
                    <a:pt x="0" y="0"/>
                  </a:moveTo>
                  <a:lnTo>
                    <a:pt x="67970" y="113284"/>
                  </a:lnTo>
                  <a:lnTo>
                    <a:pt x="135940"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603600" y="4045915"/>
              <a:ext cx="4554017" cy="634390"/>
            </a:xfrm>
            <a:prstGeom prst="roundRect">
              <a:avLst>
                <a:gd name="adj" fmla="val 12500"/>
              </a:avLst>
            </a:prstGeom>
            <a:solidFill>
              <a:srgbClr val="EEF2F7"/>
            </a:solidFill>
            <a:ln w="1812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88376" y="4173246"/>
              <a:ext cx="2784464" cy="180439"/>
            </a:xfrm>
            <a:prstGeom prst="rect">
              <a:avLst/>
            </a:prstGeom>
            <a:noFill/>
          </p:spPr>
          <p:txBody>
            <a:bodyPr wrap="none" anchor="ctr" lIns="0" rIns="0" tIns="0" bIns="0">
              <a:noAutofit/>
            </a:bodyPr>
            <a:lstStyle/>
            <a:p>
              <a:pPr algn="ctr"/>
              <a:r>
                <a:rPr sz="980" b="0">
                  <a:solidFill>
                    <a:srgbClr val="16202C"/>
                  </a:solidFill>
                  <a:latin typeface="맑은 고딕"/>
                  <a:ea typeface="맑은 고딕"/>
                  <a:cs typeface="맑은 고딕"/>
                </a:rPr>
                <a:t>레지스터 read/write · 슬라이스 제어 · TU 상태 관리</a:t>
              </a:r>
            </a:p>
          </p:txBody>
        </p:sp>
        <p:sp>
          <p:nvSpPr>
            <p:cNvPr id="46" name="TextBox 45"/>
            <p:cNvSpPr txBox="1"/>
            <p:nvPr/>
          </p:nvSpPr>
          <p:spPr>
            <a:xfrm>
              <a:off x="4917142" y="4419526"/>
              <a:ext cx="1926933" cy="155833"/>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분기·반복 같은 동적 제어 흐름은 여기 없다</a:t>
              </a:r>
            </a:p>
          </p:txBody>
        </p:sp>
        <p:sp>
          <p:nvSpPr>
            <p:cNvPr id="47" name="TextBox 46"/>
            <p:cNvSpPr txBox="1"/>
            <p:nvPr/>
          </p:nvSpPr>
          <p:spPr>
            <a:xfrm>
              <a:off x="8367758" y="3037461"/>
              <a:ext cx="236764" cy="155833"/>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제어</a:t>
              </a:r>
            </a:p>
          </p:txBody>
        </p:sp>
        <p:cxnSp>
          <p:nvCxnSpPr>
            <p:cNvPr id="48" name="Connector 47"/>
            <p:cNvCxnSpPr/>
            <p:nvPr/>
          </p:nvCxnSpPr>
          <p:spPr>
            <a:xfrm>
              <a:off x="8338871" y="3298241"/>
              <a:ext cx="158597" cy="0"/>
            </a:xfrm>
            <a:prstGeom prst="line">
              <a:avLst/>
            </a:prstGeom>
            <a:ln w="22656">
              <a:solidFill>
                <a:srgbClr val="0B5FC0"/>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8474812" y="3230270"/>
              <a:ext cx="158597" cy="135941"/>
            </a:xfrm>
            <a:custGeom>
              <a:avLst/>
              <a:gdLst/>
              <a:ahLst/>
              <a:cxnLst/>
              <a:rect l="l" t="t" r="r" b="b"/>
              <a:pathLst>
                <a:path w="158597" h="135941">
                  <a:moveTo>
                    <a:pt x="0" y="0"/>
                  </a:moveTo>
                  <a:lnTo>
                    <a:pt x="158597" y="67971"/>
                  </a:lnTo>
                  <a:lnTo>
                    <a:pt x="0" y="135941"/>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633409" y="1825549"/>
              <a:ext cx="2582875" cy="2854757"/>
            </a:xfrm>
            <a:prstGeom prst="roundRect">
              <a:avLst>
                <a:gd name="adj" fmla="val 3947"/>
              </a:avLst>
            </a:prstGeom>
            <a:solidFill>
              <a:srgbClr val="F4F8FD"/>
            </a:solidFill>
            <a:ln w="2039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77216" y="1955825"/>
              <a:ext cx="1295261" cy="205044"/>
            </a:xfrm>
            <a:prstGeom prst="rect">
              <a:avLst/>
            </a:prstGeom>
            <a:noFill/>
          </p:spPr>
          <p:txBody>
            <a:bodyPr wrap="none" anchor="ctr" lIns="0" rIns="0" tIns="0" bIns="0">
              <a:noAutofit/>
            </a:bodyPr>
            <a:lstStyle/>
            <a:p>
              <a:pPr algn="ctr"/>
              <a:r>
                <a:rPr sz="1120" b="1">
                  <a:solidFill>
                    <a:srgbClr val="083F80"/>
                  </a:solidFill>
                  <a:latin typeface="맑은 고딕"/>
                  <a:ea typeface="맑은 고딕"/>
                  <a:cs typeface="맑은 고딕"/>
                </a:rPr>
                <a:t>TU 슬라이스 64+1개</a:t>
              </a:r>
            </a:p>
          </p:txBody>
        </p:sp>
        <p:sp>
          <p:nvSpPr>
            <p:cNvPr id="52" name="Rounded Rectangle 51"/>
            <p:cNvSpPr/>
            <p:nvPr/>
          </p:nvSpPr>
          <p:spPr>
            <a:xfrm>
              <a:off x="8769350"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165844"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562338"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9958832"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0355326"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0751820" y="2278685"/>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769350"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165844"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562338"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958832"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0355326"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0751820" y="2607208"/>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769350"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9165844"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562338"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958832"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355326"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0751820" y="2935732"/>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769350"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9165844"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9562338"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9958832"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0355326"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0751820" y="3264256"/>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8769350"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9165844"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9562338"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9958832"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10355326"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0751820" y="3592779"/>
              <a:ext cx="339852" cy="271882"/>
            </a:xfrm>
            <a:prstGeom prst="roundRect">
              <a:avLst>
                <a:gd name="adj" fmla="val 12500"/>
              </a:avLst>
            </a:prstGeom>
            <a:solidFill>
              <a:srgbClr val="B8D4F3"/>
            </a:solidFill>
            <a:ln w="1019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019934" y="4005133"/>
              <a:ext cx="1809825" cy="16403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각 슬라이스가 제어 레지스터를 갖는다</a:t>
              </a:r>
            </a:p>
          </p:txBody>
        </p:sp>
        <p:sp>
          <p:nvSpPr>
            <p:cNvPr id="83" name="TextBox 82"/>
            <p:cNvSpPr txBox="1"/>
            <p:nvPr/>
          </p:nvSpPr>
          <p:spPr>
            <a:xfrm>
              <a:off x="9201642" y="4231701"/>
              <a:ext cx="1446410" cy="164035"/>
            </a:xfrm>
            <a:prstGeom prst="rect">
              <a:avLst/>
            </a:prstGeom>
            <a:noFill/>
          </p:spPr>
          <p:txBody>
            <a:bodyPr wrap="none" anchor="ctr" lIns="0" rIns="0" tIns="0" bIns="0">
              <a:noAutofit/>
            </a:bodyPr>
            <a:lstStyle/>
            <a:p>
              <a:pPr algn="ctr"/>
              <a:r>
                <a:rPr sz="890" b="0">
                  <a:solidFill>
                    <a:srgbClr val="5B6B7B"/>
                  </a:solidFill>
                  <a:latin typeface="맑은 고딕"/>
                  <a:ea typeface="맑은 고딕"/>
                  <a:cs typeface="맑은 고딕"/>
                </a:rPr>
                <a:t>브로드캐스트로 일괄 설정한다</a:t>
              </a:r>
            </a:p>
          </p:txBody>
        </p:sp>
        <p:sp>
          <p:nvSpPr>
            <p:cNvPr id="84" name="Rounded Rectangle 83"/>
            <p:cNvSpPr/>
            <p:nvPr/>
          </p:nvSpPr>
          <p:spPr>
            <a:xfrm>
              <a:off x="975411" y="4997501"/>
              <a:ext cx="10240874" cy="543763"/>
            </a:xfrm>
            <a:prstGeom prst="roundRect">
              <a:avLst>
                <a:gd name="adj" fmla="val 16666"/>
              </a:avLst>
            </a:prstGeom>
            <a:solidFill>
              <a:srgbClr val="FFF7E6"/>
            </a:solidFill>
            <a:ln w="1812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13334" y="5173091"/>
              <a:ext cx="4165028" cy="205044"/>
            </a:xfrm>
            <a:prstGeom prst="rect">
              <a:avLst/>
            </a:prstGeom>
            <a:noFill/>
          </p:spPr>
          <p:txBody>
            <a:bodyPr wrap="none" anchor="ctr" lIns="0" rIns="0" tIns="0" bIns="0">
              <a:noAutofit/>
            </a:bodyPr>
            <a:lstStyle/>
            <a:p>
              <a:pPr algn="ctr"/>
              <a:r>
                <a:rPr sz="1120" b="1">
                  <a:solidFill>
                    <a:srgbClr val="B45409"/>
                  </a:solidFill>
                  <a:latin typeface="맑은 고딕"/>
                  <a:ea typeface="맑은 고딕"/>
                  <a:cs typeface="맑은 고딕"/>
                </a:rPr>
                <a:t>큐가 비면 TU 가 멈춘다 — 큐를 채워 두는 것이 CPU 코어의 제1 임무다</a:t>
              </a:r>
            </a:p>
          </p:txBody>
        </p:sp>
      </p:grpSp>
      <p:sp>
        <p:nvSpPr>
          <p:cNvPr id="86" name="Rectangle 8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커맨드 큐 64엔트리를 비우지 않는 것이 CPU 코어의 제1 임무다</a:t>
            </a:r>
          </a:p>
        </p:txBody>
      </p:sp>
      <p:sp>
        <p:nvSpPr>
          <p:cNvPr id="87" name="Rectangle 8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A-3. TU 컨트롤러와 커맨드 프로세서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CPU 코어 → 커맨드 큐(64) → 커맨드 프로세서 → 슬라이스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156</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커맨드 프로세서를 둔 목적은 CPU 코어가 수많은 제어 레지스터를 직접 세팅하는 대신, 일반적인 DMA 엔진처럼 텐서 연산과 텐서 이동을 비동기로 시키게 하는 것이다</a:t>
            </a:r>
          </a:p>
          <a:p>
            <a:pPr algn="l">
              <a:lnSpc>
                <a:spcPct val="118000"/>
              </a:lnSpc>
              <a:spcBef>
                <a:spcPts val="600"/>
              </a:spcBef>
              <a:spcAft>
                <a:spcPts val="200"/>
              </a:spcAft>
            </a:pPr>
            <a:r>
              <a:rPr sz="1900" b="1" i="0">
                <a:solidFill>
                  <a:srgbClr val="083F80"/>
                </a:solidFill>
                <a:latin typeface="Segoe UI"/>
                <a:ea typeface="맑은 고딕"/>
                <a:cs typeface="맑은 고딕"/>
              </a:rPr>
              <a:t>▪  커맨드 큐 크기 64 entries 는 논문 V-A 가 명시한 값이다</a:t>
            </a:r>
          </a:p>
          <a:p>
            <a:pPr algn="l">
              <a:lnSpc>
                <a:spcPct val="118000"/>
              </a:lnSpc>
              <a:spcBef>
                <a:spcPts val="600"/>
              </a:spcBef>
              <a:spcAft>
                <a:spcPts val="200"/>
              </a:spcAft>
            </a:pPr>
            <a:r>
              <a:rPr sz="1900" b="0" i="0">
                <a:solidFill>
                  <a:srgbClr val="16202C"/>
                </a:solidFill>
                <a:latin typeface="Segoe UI"/>
                <a:ea typeface="맑은 고딕"/>
                <a:cs typeface="맑은 고딕"/>
              </a:rPr>
              <a:t>▪  커맨드 프로세서가 순차 실행만 하는 대가로, 분기·반복 같은 동적 제어 흐름은 CPU 코어가 전부 떠안는다</a:t>
            </a:r>
          </a:p>
          <a:p>
            <a:pPr algn="l">
              <a:lnSpc>
                <a:spcPct val="118000"/>
              </a:lnSpc>
              <a:spcBef>
                <a:spcPts val="600"/>
              </a:spcBef>
              <a:spcAft>
                <a:spcPts val="200"/>
              </a:spcAft>
            </a:pPr>
            <a:r>
              <a:rPr sz="1900" b="0" i="0">
                <a:solidFill>
                  <a:srgbClr val="16202C"/>
                </a:solidFill>
                <a:latin typeface="Segoe UI"/>
                <a:ea typeface="맑은 고딕"/>
                <a:cs typeface="맑은 고딕"/>
              </a:rPr>
              <a:t>▪  제어 레지스터는 TU 주소 공간에 매핑된다. ARM 코어가 LLPP 로 직접 쓰거나, 이 커맨드 큐를 경유해 TU 컨트롤러가 대신 세팅한다 (III 절)</a:t>
            </a:r>
          </a:p>
          <a:p>
            <a:pPr algn="l">
              <a:lnSpc>
                <a:spcPct val="118000"/>
              </a:lnSpc>
              <a:spcBef>
                <a:spcPts val="600"/>
              </a:spcBef>
              <a:spcAft>
                <a:spcPts val="200"/>
              </a:spcAft>
            </a:pPr>
            <a:r>
              <a:rPr sz="1900" b="0" i="0">
                <a:solidFill>
                  <a:srgbClr val="16202C"/>
                </a:solidFill>
                <a:latin typeface="Segoe UI"/>
                <a:ea typeface="맑은 고딕"/>
                <a:cs typeface="맑은 고딕"/>
              </a:rPr>
              <a:t>▪  VI 절에서 보고되는 TU 활용률의 하한을 결정하는 것이 바로 이 큐를 채우는 능력이다</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A-4. TU 커맨드 집합</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157</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논문 V-A 가 열거한 TU commands</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900" b="0" i="0">
                <a:solidFill>
                  <a:srgbClr val="E6EDF3"/>
                </a:solidFill>
                <a:latin typeface="Consolas"/>
                <a:ea typeface="Consolas"/>
                <a:cs typeface="Consolas"/>
              </a:rPr>
              <a:t>dma(addr, id)</a:t>
            </a:r>
          </a:p>
          <a:p>
            <a:pPr algn="l">
              <a:lnSpc>
                <a:spcPct val="124000"/>
              </a:lnSpc>
              <a:spcAft>
                <a:spcPts val="0"/>
              </a:spcAft>
            </a:pPr>
            <a:r>
              <a:rPr sz="900" b="0" i="0">
                <a:solidFill>
                  <a:srgbClr val="E6EDF3"/>
                </a:solidFill>
                <a:latin typeface="Consolas"/>
                <a:ea typeface="Consolas"/>
                <a:cs typeface="Consolas"/>
              </a:rPr>
              <a:t>    DMA 로 HBM 과 텐서를 주고받는다.</a:t>
            </a:r>
          </a:p>
          <a:p>
            <a:pPr algn="l">
              <a:lnSpc>
                <a:spcPct val="124000"/>
              </a:lnSpc>
              <a:spcAft>
                <a:spcPts val="0"/>
              </a:spcAft>
            </a:pPr>
            <a:r>
              <a:rPr sz="900" b="0" i="0">
                <a:solidFill>
                  <a:srgbClr val="E6EDF3"/>
                </a:solidFill>
                <a:latin typeface="Consolas"/>
                <a:ea typeface="Consolas"/>
                <a:cs typeface="Consolas"/>
              </a:rPr>
              <a:t>    id 는 shape 을 포함한 source/destination 텐서 정보를 기술한다.</a:t>
            </a:r>
          </a:p>
          <a:p>
            <a:pPr algn="l">
              <a:lnSpc>
                <a:spcPct val="124000"/>
              </a:lnSpc>
              <a:spcAft>
                <a:spcPts val="0"/>
              </a:spcAft>
            </a:pPr>
            <a:r>
              <a:rPr sz="900" b="0" i="0">
                <a:solidFill>
                  <a:srgbClr val="E6EDF3"/>
                </a:solidFill>
                <a:latin typeface="Consolas"/>
                <a:ea typeface="Consolas"/>
                <a:cs typeface="Consolas"/>
              </a:rPr>
              <a:t> </a:t>
            </a:r>
          </a:p>
          <a:p>
            <a:pPr algn="l">
              <a:lnSpc>
                <a:spcPct val="124000"/>
              </a:lnSpc>
              <a:spcAft>
                <a:spcPts val="0"/>
              </a:spcAft>
            </a:pPr>
            <a:r>
              <a:rPr sz="900" b="0" i="0">
                <a:solidFill>
                  <a:srgbClr val="E6EDF3"/>
                </a:solidFill>
                <a:latin typeface="Consolas"/>
                <a:ea typeface="Consolas"/>
                <a:cs typeface="Consolas"/>
              </a:rPr>
              <a:t>load(addr, csr_addr, size)</a:t>
            </a:r>
          </a:p>
          <a:p>
            <a:pPr algn="l">
              <a:lnSpc>
                <a:spcPct val="124000"/>
              </a:lnSpc>
              <a:spcAft>
                <a:spcPts val="0"/>
              </a:spcAft>
            </a:pPr>
            <a:r>
              <a:rPr sz="900" b="0" i="0">
                <a:solidFill>
                  <a:srgbClr val="E6EDF3"/>
                </a:solidFill>
                <a:latin typeface="Consolas"/>
                <a:ea typeface="Consolas"/>
                <a:cs typeface="Consolas"/>
              </a:rPr>
              <a:t>    메모리에서 control register 로 값을 적재한다.</a:t>
            </a:r>
          </a:p>
          <a:p>
            <a:pPr algn="l">
              <a:lnSpc>
                <a:spcPct val="124000"/>
              </a:lnSpc>
              <a:spcAft>
                <a:spcPts val="0"/>
              </a:spcAft>
            </a:pPr>
            <a:r>
              <a:rPr sz="900" b="0" i="0">
                <a:solidFill>
                  <a:srgbClr val="E6EDF3"/>
                </a:solidFill>
                <a:latin typeface="Consolas"/>
                <a:ea typeface="Consolas"/>
                <a:cs typeface="Consolas"/>
              </a:rPr>
              <a:t> </a:t>
            </a:r>
          </a:p>
          <a:p>
            <a:pPr algn="l">
              <a:lnSpc>
                <a:spcPct val="124000"/>
              </a:lnSpc>
              <a:spcAft>
                <a:spcPts val="0"/>
              </a:spcAft>
            </a:pPr>
            <a:r>
              <a:rPr sz="900" b="0" i="0">
                <a:solidFill>
                  <a:srgbClr val="E6EDF3"/>
                </a:solidFill>
                <a:latin typeface="Consolas"/>
                <a:ea typeface="Consolas"/>
                <a:cs typeface="Consolas"/>
              </a:rPr>
              <a:t>exec(id)</a:t>
            </a:r>
          </a:p>
          <a:p>
            <a:pPr algn="l">
              <a:lnSpc>
                <a:spcPct val="124000"/>
              </a:lnSpc>
              <a:spcAft>
                <a:spcPts val="0"/>
              </a:spcAft>
            </a:pPr>
            <a:r>
              <a:rPr sz="900" b="0" i="0">
                <a:solidFill>
                  <a:srgbClr val="E6EDF3"/>
                </a:solidFill>
                <a:latin typeface="Consolas"/>
                <a:ea typeface="Consolas"/>
                <a:cs typeface="Consolas"/>
              </a:rPr>
              <a:t>    tensor contraction 연산을 실행한다.</a:t>
            </a:r>
          </a:p>
          <a:p>
            <a:pPr algn="l">
              <a:lnSpc>
                <a:spcPct val="124000"/>
              </a:lnSpc>
              <a:spcAft>
                <a:spcPts val="0"/>
              </a:spcAft>
            </a:pPr>
            <a:r>
              <a:rPr sz="900" b="0" i="0">
                <a:solidFill>
                  <a:srgbClr val="E6EDF3"/>
                </a:solidFill>
                <a:latin typeface="Consolas"/>
                <a:ea typeface="Consolas"/>
                <a:cs typeface="Consolas"/>
              </a:rPr>
              <a:t> </a:t>
            </a:r>
          </a:p>
          <a:p>
            <a:pPr algn="l">
              <a:lnSpc>
                <a:spcPct val="124000"/>
              </a:lnSpc>
              <a:spcAft>
                <a:spcPts val="0"/>
              </a:spcAft>
            </a:pPr>
            <a:r>
              <a:rPr sz="900" b="0" i="0">
                <a:solidFill>
                  <a:srgbClr val="E6EDF3"/>
                </a:solidFill>
                <a:latin typeface="Consolas"/>
                <a:ea typeface="Consolas"/>
                <a:cs typeface="Consolas"/>
              </a:rPr>
              <a:t>waitd(id) / waite(id)</a:t>
            </a:r>
          </a:p>
          <a:p>
            <a:pPr algn="l">
              <a:lnSpc>
                <a:spcPct val="124000"/>
              </a:lnSpc>
              <a:spcAft>
                <a:spcPts val="0"/>
              </a:spcAft>
            </a:pPr>
            <a:r>
              <a:rPr sz="900" b="0" i="0">
                <a:solidFill>
                  <a:srgbClr val="E6EDF3"/>
                </a:solidFill>
                <a:latin typeface="Consolas"/>
                <a:ea typeface="Consolas"/>
                <a:cs typeface="Consolas"/>
              </a:rPr>
              <a:t>    각각 DMA 커맨드 / exec 커맨드의 완료를 기다린다.</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dma 와 exec 를 포함한 대부분의 커맨드는 asynchronous 로 실행된다 → 데이터 전송과 연산의 overlap(중첩)이 가능하다</a:t>
            </a:r>
          </a:p>
          <a:p>
            <a:pPr algn="l">
              <a:lnSpc>
                <a:spcPct val="118000"/>
              </a:lnSpc>
              <a:spcBef>
                <a:spcPts val="600"/>
              </a:spcBef>
              <a:spcAft>
                <a:spcPts val="200"/>
              </a:spcAft>
            </a:pPr>
            <a:r>
              <a:rPr sz="1500" b="0" i="0">
                <a:solidFill>
                  <a:srgbClr val="16202C"/>
                </a:solidFill>
                <a:latin typeface="Segoe UI"/>
                <a:ea typeface="맑은 고딕"/>
                <a:cs typeface="맑은 고딕"/>
              </a:rPr>
              <a:t>▪  동기화가 필요한 지점에서만 wait 를 호출한다</a:t>
            </a:r>
          </a:p>
          <a:p>
            <a:pPr algn="l">
              <a:lnSpc>
                <a:spcPct val="118000"/>
              </a:lnSpc>
              <a:spcBef>
                <a:spcPts val="600"/>
              </a:spcBef>
              <a:spcAft>
                <a:spcPts val="200"/>
              </a:spcAft>
            </a:pPr>
            <a:r>
              <a:rPr sz="1500" b="0" i="0">
                <a:solidFill>
                  <a:srgbClr val="16202C"/>
                </a:solidFill>
                <a:latin typeface="Segoe UI"/>
                <a:ea typeface="맑은 고딕"/>
                <a:cs typeface="맑은 고딕"/>
              </a:rPr>
              <a:t>▪  제어 레지스터 설정조차 load 커맨드로 메모리에서 통째로 실어 온다. 코어가 필드를 하나씩 쓰지 않는다</a:t>
            </a:r>
          </a:p>
          <a:p>
            <a:pPr algn="l">
              <a:lnSpc>
                <a:spcPct val="118000"/>
              </a:lnSpc>
              <a:spcBef>
                <a:spcPts val="600"/>
              </a:spcBef>
              <a:spcAft>
                <a:spcPts val="200"/>
              </a:spcAft>
            </a:pPr>
            <a:r>
              <a:rPr sz="1500" b="0" i="0">
                <a:solidFill>
                  <a:srgbClr val="16202C"/>
                </a:solidFill>
                <a:latin typeface="Segoe UI"/>
                <a:ea typeface="맑은 고딕"/>
                <a:cs typeface="맑은 고딕"/>
              </a:rPr>
              <a:t>▪  논문은 이 네 종류만 'Some of the TU commands' 로 예시한다. 전체 커맨드 목록은 논문에 없다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커맨드 네 종류로 '옮기고, 설정하고, 실행하고, 기다린다'가 전부 표현된다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A-5. 전형적 커맨드 시퀀스 = 소프트웨어 파이프라인</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한 줄짜리 커맨드 시퀀스를 시간축에 펴 놓으면 이중 버퍼링이 보인다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158</a:t>
            </a:r>
          </a:p>
        </p:txBody>
      </p:sp>
      <p:grpSp>
        <p:nvGrpSpPr>
          <p:cNvPr id="9" name="도해 A6#06"/>
          <p:cNvGrpSpPr/>
          <p:nvPr/>
        </p:nvGrpSpPr>
        <p:grpSpPr>
          <a:xfrm>
            <a:off x="673931" y="1463040"/>
            <a:ext cx="10843833" cy="4078224"/>
            <a:chOff x="673931" y="1463040"/>
            <a:chExt cx="10843833" cy="4078224"/>
          </a:xfrm>
        </p:grpSpPr>
        <p:sp>
          <p:nvSpPr>
            <p:cNvPr id="10" name="Rounded Rectangle 9"/>
            <p:cNvSpPr/>
            <p:nvPr/>
          </p:nvSpPr>
          <p:spPr>
            <a:xfrm>
              <a:off x="673931" y="1463040"/>
              <a:ext cx="10843833" cy="848648"/>
            </a:xfrm>
            <a:prstGeom prst="roundRect">
              <a:avLst>
                <a:gd name="adj" fmla="val 11111"/>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45272" y="1568885"/>
              <a:ext cx="1236757" cy="162139"/>
            </a:xfrm>
            <a:prstGeom prst="rect">
              <a:avLst/>
            </a:prstGeom>
            <a:noFill/>
          </p:spPr>
          <p:txBody>
            <a:bodyPr wrap="none" anchor="ctr" lIns="0" rIns="0" tIns="0" bIns="0">
              <a:noAutofit/>
            </a:bodyPr>
            <a:lstStyle/>
            <a:p>
              <a:pPr algn="r"/>
              <a:r>
                <a:rPr sz="880" b="0">
                  <a:solidFill>
                    <a:srgbClr val="8FA3B8"/>
                  </a:solidFill>
                  <a:latin typeface="맑은 고딕"/>
                  <a:ea typeface="맑은 고딕"/>
                  <a:cs typeface="맑은 고딕"/>
                </a:rPr>
                <a:t>논문 V-A 의 전형적 시퀀스</a:t>
              </a:r>
            </a:p>
          </p:txBody>
        </p:sp>
        <p:sp>
          <p:nvSpPr>
            <p:cNvPr id="12" name="TextBox 11"/>
            <p:cNvSpPr txBox="1"/>
            <p:nvPr/>
          </p:nvSpPr>
          <p:spPr>
            <a:xfrm>
              <a:off x="909667" y="1787176"/>
              <a:ext cx="2926067" cy="213341"/>
            </a:xfrm>
            <a:prstGeom prst="rect">
              <a:avLst/>
            </a:prstGeom>
            <a:noFill/>
          </p:spPr>
          <p:txBody>
            <a:bodyPr wrap="none" anchor="ctr" lIns="0" rIns="0" tIns="0" bIns="0">
              <a:noAutofit/>
            </a:bodyPr>
            <a:lstStyle/>
            <a:p>
              <a:pPr algn="l"/>
              <a:r>
                <a:rPr sz="1050" b="0">
                  <a:solidFill>
                    <a:srgbClr val="E6EDF3"/>
                  </a:solidFill>
                  <a:latin typeface="Consolas"/>
                  <a:ea typeface="Consolas"/>
                  <a:cs typeface="Consolas"/>
                </a:rPr>
                <a:t>dma(., 0) - load() - waitd(0) - exec(0)</a:t>
              </a:r>
            </a:p>
          </p:txBody>
        </p:sp>
        <p:sp>
          <p:nvSpPr>
            <p:cNvPr id="13" name="TextBox 12"/>
            <p:cNvSpPr txBox="1"/>
            <p:nvPr/>
          </p:nvSpPr>
          <p:spPr>
            <a:xfrm>
              <a:off x="1640447" y="2022912"/>
              <a:ext cx="4325746" cy="213341"/>
            </a:xfrm>
            <a:prstGeom prst="rect">
              <a:avLst/>
            </a:prstGeom>
            <a:noFill/>
          </p:spPr>
          <p:txBody>
            <a:bodyPr wrap="none" anchor="ctr" lIns="0" rIns="0" tIns="0" bIns="0">
              <a:noAutofit/>
            </a:bodyPr>
            <a:lstStyle/>
            <a:p>
              <a:pPr algn="l"/>
              <a:r>
                <a:rPr sz="1050" b="0">
                  <a:solidFill>
                    <a:srgbClr val="9FB3C8"/>
                  </a:solidFill>
                  <a:latin typeface="Consolas"/>
                  <a:ea typeface="Consolas"/>
                  <a:cs typeface="Consolas"/>
                </a:rPr>
                <a:t>- dma(., 1) - load() - waite(0) - waitd(1) - exec(1) - ...</a:t>
              </a:r>
            </a:p>
          </p:txBody>
        </p:sp>
        <p:sp>
          <p:nvSpPr>
            <p:cNvPr id="14" name="Rectangle 13"/>
            <p:cNvSpPr/>
            <p:nvPr/>
          </p:nvSpPr>
          <p:spPr>
            <a:xfrm>
              <a:off x="4445699" y="2547423"/>
              <a:ext cx="2027325" cy="1603001"/>
            </a:xfrm>
            <a:prstGeom prst="rect">
              <a:avLst/>
            </a:prstGeom>
            <a:solidFill>
              <a:srgbClr val="FF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4495" y="2547423"/>
              <a:ext cx="2027325" cy="1603001"/>
            </a:xfrm>
            <a:prstGeom prst="rect">
              <a:avLst/>
            </a:prstGeom>
            <a:solidFill>
              <a:srgbClr val="FF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44879" y="2363550"/>
              <a:ext cx="530169" cy="170672"/>
            </a:xfrm>
            <a:prstGeom prst="rect">
              <a:avLst/>
            </a:prstGeom>
            <a:noFill/>
          </p:spPr>
          <p:txBody>
            <a:bodyPr wrap="none" anchor="ctr" lIns="0" rIns="0" tIns="0" bIns="0">
              <a:noAutofit/>
            </a:bodyPr>
            <a:lstStyle/>
            <a:p>
              <a:pPr algn="ctr"/>
              <a:r>
                <a:rPr sz="930" b="1">
                  <a:solidFill>
                    <a:srgbClr val="B4222A"/>
                  </a:solidFill>
                  <a:latin typeface="맑은 고딕"/>
                  <a:ea typeface="맑은 고딕"/>
                  <a:cs typeface="맑은 고딕"/>
                </a:rPr>
                <a:t>waitd(0)</a:t>
              </a:r>
            </a:p>
          </p:txBody>
        </p:sp>
        <p:sp>
          <p:nvSpPr>
            <p:cNvPr id="17" name="TextBox 16"/>
            <p:cNvSpPr txBox="1"/>
            <p:nvPr/>
          </p:nvSpPr>
          <p:spPr>
            <a:xfrm>
              <a:off x="6271529" y="2363550"/>
              <a:ext cx="1133770" cy="170672"/>
            </a:xfrm>
            <a:prstGeom prst="rect">
              <a:avLst/>
            </a:prstGeom>
            <a:noFill/>
          </p:spPr>
          <p:txBody>
            <a:bodyPr wrap="none" anchor="ctr" lIns="0" rIns="0" tIns="0" bIns="0">
              <a:noAutofit/>
            </a:bodyPr>
            <a:lstStyle/>
            <a:p>
              <a:pPr algn="ctr"/>
              <a:r>
                <a:rPr sz="930" b="1">
                  <a:solidFill>
                    <a:srgbClr val="B4222A"/>
                  </a:solidFill>
                  <a:latin typeface="맑은 고딕"/>
                  <a:ea typeface="맑은 고딕"/>
                  <a:cs typeface="맑은 고딕"/>
                </a:rPr>
                <a:t>waite(0) · waitd(1)</a:t>
              </a:r>
            </a:p>
          </p:txBody>
        </p:sp>
        <p:cxnSp>
          <p:nvCxnSpPr>
            <p:cNvPr id="18" name="Connector 17"/>
            <p:cNvCxnSpPr/>
            <p:nvPr/>
          </p:nvCxnSpPr>
          <p:spPr>
            <a:xfrm>
              <a:off x="4209964" y="2547423"/>
              <a:ext cx="0" cy="1603002"/>
            </a:xfrm>
            <a:prstGeom prst="line">
              <a:avLst/>
            </a:prstGeom>
            <a:ln w="14144">
              <a:solidFill>
                <a:srgbClr val="B4222A"/>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38414" y="2547423"/>
              <a:ext cx="0" cy="1603002"/>
            </a:xfrm>
            <a:prstGeom prst="line">
              <a:avLst/>
            </a:prstGeom>
            <a:ln w="14144">
              <a:solidFill>
                <a:srgbClr val="B4222A"/>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31218" y="2836199"/>
              <a:ext cx="727097" cy="213341"/>
            </a:xfrm>
            <a:prstGeom prst="rect">
              <a:avLst/>
            </a:prstGeom>
            <a:noFill/>
          </p:spPr>
          <p:txBody>
            <a:bodyPr wrap="none" anchor="ctr" lIns="0" rIns="0" tIns="0" bIns="0">
              <a:noAutofit/>
            </a:bodyPr>
            <a:lstStyle/>
            <a:p>
              <a:pPr algn="r"/>
              <a:r>
                <a:rPr sz="1160" b="1">
                  <a:solidFill>
                    <a:srgbClr val="16202C"/>
                  </a:solidFill>
                  <a:latin typeface="맑은 고딕"/>
                  <a:ea typeface="맑은 고딕"/>
                  <a:cs typeface="맑은 고딕"/>
                </a:rPr>
                <a:t>TU — 연산</a:t>
              </a:r>
            </a:p>
          </p:txBody>
        </p:sp>
        <p:sp>
          <p:nvSpPr>
            <p:cNvPr id="21" name="TextBox 20"/>
            <p:cNvSpPr txBox="1"/>
            <p:nvPr/>
          </p:nvSpPr>
          <p:spPr>
            <a:xfrm>
              <a:off x="816109" y="3661273"/>
              <a:ext cx="942205" cy="213341"/>
            </a:xfrm>
            <a:prstGeom prst="rect">
              <a:avLst/>
            </a:prstGeom>
            <a:noFill/>
          </p:spPr>
          <p:txBody>
            <a:bodyPr wrap="none" anchor="ctr" lIns="0" rIns="0" tIns="0" bIns="0">
              <a:noAutofit/>
            </a:bodyPr>
            <a:lstStyle/>
            <a:p>
              <a:pPr algn="r"/>
              <a:r>
                <a:rPr sz="1160" b="1">
                  <a:solidFill>
                    <a:srgbClr val="16202C"/>
                  </a:solidFill>
                  <a:latin typeface="맑은 고딕"/>
                  <a:ea typeface="맑은 고딕"/>
                  <a:cs typeface="맑은 고딕"/>
                </a:rPr>
                <a:t>TDMA — 전송</a:t>
              </a:r>
            </a:p>
          </p:txBody>
        </p:sp>
        <p:cxnSp>
          <p:nvCxnSpPr>
            <p:cNvPr id="22" name="Connector 21"/>
            <p:cNvCxnSpPr/>
            <p:nvPr/>
          </p:nvCxnSpPr>
          <p:spPr>
            <a:xfrm>
              <a:off x="1899756" y="3231056"/>
              <a:ext cx="9193684" cy="0"/>
            </a:xfrm>
            <a:prstGeom prst="line">
              <a:avLst/>
            </a:prstGeom>
            <a:ln w="11786">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899756" y="4056130"/>
              <a:ext cx="9193684" cy="0"/>
            </a:xfrm>
            <a:prstGeom prst="line">
              <a:avLst/>
            </a:prstGeom>
            <a:ln w="11786">
              <a:solidFill>
                <a:srgbClr val="D6DEE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45699" y="2665291"/>
              <a:ext cx="2286634" cy="542192"/>
            </a:xfrm>
            <a:prstGeom prst="roundRect">
              <a:avLst>
                <a:gd name="adj" fmla="val 13043"/>
              </a:avLst>
            </a:prstGeom>
            <a:solidFill>
              <a:srgbClr val="CBE0F7"/>
            </a:solidFill>
            <a:ln w="2121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0756" y="2836199"/>
              <a:ext cx="576521" cy="213341"/>
            </a:xfrm>
            <a:prstGeom prst="rect">
              <a:avLst/>
            </a:prstGeom>
            <a:noFill/>
          </p:spPr>
          <p:txBody>
            <a:bodyPr wrap="none" anchor="ctr" lIns="0" rIns="0" tIns="0" bIns="0">
              <a:noAutofit/>
            </a:bodyPr>
            <a:lstStyle/>
            <a:p>
              <a:pPr algn="ctr"/>
              <a:r>
                <a:rPr sz="1160" b="1">
                  <a:solidFill>
                    <a:srgbClr val="083F80"/>
                  </a:solidFill>
                  <a:latin typeface="맑은 고딕"/>
                  <a:ea typeface="맑은 고딕"/>
                  <a:cs typeface="맑은 고딕"/>
                </a:rPr>
                <a:t>exec(0)</a:t>
              </a:r>
            </a:p>
          </p:txBody>
        </p:sp>
        <p:sp>
          <p:nvSpPr>
            <p:cNvPr id="26" name="Rounded Rectangle 25"/>
            <p:cNvSpPr/>
            <p:nvPr/>
          </p:nvSpPr>
          <p:spPr>
            <a:xfrm>
              <a:off x="6944495" y="2665291"/>
              <a:ext cx="2286634" cy="542192"/>
            </a:xfrm>
            <a:prstGeom prst="roundRect">
              <a:avLst>
                <a:gd name="adj" fmla="val 13043"/>
              </a:avLst>
            </a:prstGeom>
            <a:solidFill>
              <a:srgbClr val="FDEBD3"/>
            </a:solidFill>
            <a:ln w="2121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99552" y="2836199"/>
              <a:ext cx="576521" cy="213341"/>
            </a:xfrm>
            <a:prstGeom prst="rect">
              <a:avLst/>
            </a:prstGeom>
            <a:noFill/>
          </p:spPr>
          <p:txBody>
            <a:bodyPr wrap="none" anchor="ctr" lIns="0" rIns="0" tIns="0" bIns="0">
              <a:noAutofit/>
            </a:bodyPr>
            <a:lstStyle/>
            <a:p>
              <a:pPr algn="ctr"/>
              <a:r>
                <a:rPr sz="1160" b="1">
                  <a:solidFill>
                    <a:srgbClr val="B45409"/>
                  </a:solidFill>
                  <a:latin typeface="맑은 고딕"/>
                  <a:ea typeface="맑은 고딕"/>
                  <a:cs typeface="맑은 고딕"/>
                </a:rPr>
                <a:t>exec(1)</a:t>
              </a:r>
            </a:p>
          </p:txBody>
        </p:sp>
        <p:sp>
          <p:nvSpPr>
            <p:cNvPr id="28" name="TextBox 27"/>
            <p:cNvSpPr txBox="1"/>
            <p:nvPr/>
          </p:nvSpPr>
          <p:spPr>
            <a:xfrm>
              <a:off x="9523159" y="2819933"/>
              <a:ext cx="453178" cy="307210"/>
            </a:xfrm>
            <a:prstGeom prst="rect">
              <a:avLst/>
            </a:prstGeom>
            <a:noFill/>
          </p:spPr>
          <p:txBody>
            <a:bodyPr wrap="none" anchor="ctr" lIns="0" rIns="0" tIns="0" bIns="0">
              <a:noAutofit/>
            </a:bodyPr>
            <a:lstStyle/>
            <a:p>
              <a:pPr algn="ctr"/>
              <a:r>
                <a:rPr sz="1670" b="1">
                  <a:solidFill>
                    <a:srgbClr val="5B6B7B"/>
                  </a:solidFill>
                  <a:latin typeface="맑은 고딕"/>
                  <a:ea typeface="맑은 고딕"/>
                  <a:cs typeface="맑은 고딕"/>
                </a:rPr>
                <a:t>···</a:t>
              </a:r>
            </a:p>
          </p:txBody>
        </p:sp>
        <p:sp>
          <p:nvSpPr>
            <p:cNvPr id="29" name="Rounded Rectangle 28"/>
            <p:cNvSpPr/>
            <p:nvPr/>
          </p:nvSpPr>
          <p:spPr>
            <a:xfrm>
              <a:off x="1946903" y="3490365"/>
              <a:ext cx="2027325" cy="542192"/>
            </a:xfrm>
            <a:prstGeom prst="roundRect">
              <a:avLst>
                <a:gd name="adj" fmla="val 13043"/>
              </a:avLst>
            </a:prstGeom>
            <a:solidFill>
              <a:srgbClr val="CBE0F7"/>
            </a:solidFill>
            <a:ln w="2121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50562" y="3587488"/>
              <a:ext cx="620008" cy="187740"/>
            </a:xfrm>
            <a:prstGeom prst="rect">
              <a:avLst/>
            </a:prstGeom>
            <a:noFill/>
          </p:spPr>
          <p:txBody>
            <a:bodyPr wrap="none" anchor="ctr" lIns="0" rIns="0" tIns="0" bIns="0">
              <a:noAutofit/>
            </a:bodyPr>
            <a:lstStyle/>
            <a:p>
              <a:pPr algn="ctr"/>
              <a:r>
                <a:rPr sz="1019" b="1">
                  <a:solidFill>
                    <a:srgbClr val="083F80"/>
                  </a:solidFill>
                  <a:latin typeface="맑은 고딕"/>
                  <a:ea typeface="맑은 고딕"/>
                  <a:cs typeface="맑은 고딕"/>
                </a:rPr>
                <a:t>dma(., 0)</a:t>
              </a:r>
            </a:p>
          </p:txBody>
        </p:sp>
        <p:sp>
          <p:nvSpPr>
            <p:cNvPr id="31" name="TextBox 30"/>
            <p:cNvSpPr txBox="1"/>
            <p:nvPr/>
          </p:nvSpPr>
          <p:spPr>
            <a:xfrm>
              <a:off x="2778283" y="3789749"/>
              <a:ext cx="364565"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load()</a:t>
              </a:r>
            </a:p>
          </p:txBody>
        </p:sp>
        <p:sp>
          <p:nvSpPr>
            <p:cNvPr id="32" name="Rounded Rectangle 31"/>
            <p:cNvSpPr/>
            <p:nvPr/>
          </p:nvSpPr>
          <p:spPr>
            <a:xfrm>
              <a:off x="4445699" y="3490365"/>
              <a:ext cx="2027325" cy="542192"/>
            </a:xfrm>
            <a:prstGeom prst="roundRect">
              <a:avLst>
                <a:gd name="adj" fmla="val 13043"/>
              </a:avLst>
            </a:prstGeom>
            <a:solidFill>
              <a:srgbClr val="FDEBD3"/>
            </a:solidFill>
            <a:ln w="2121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49358" y="3587488"/>
              <a:ext cx="620008" cy="187740"/>
            </a:xfrm>
            <a:prstGeom prst="rect">
              <a:avLst/>
            </a:prstGeom>
            <a:noFill/>
          </p:spPr>
          <p:txBody>
            <a:bodyPr wrap="none" anchor="ctr" lIns="0" rIns="0" tIns="0" bIns="0">
              <a:noAutofit/>
            </a:bodyPr>
            <a:lstStyle/>
            <a:p>
              <a:pPr algn="ctr"/>
              <a:r>
                <a:rPr sz="1019" b="1">
                  <a:solidFill>
                    <a:srgbClr val="B45409"/>
                  </a:solidFill>
                  <a:latin typeface="맑은 고딕"/>
                  <a:ea typeface="맑은 고딕"/>
                  <a:cs typeface="맑은 고딕"/>
                </a:rPr>
                <a:t>dma(., 1)</a:t>
              </a:r>
            </a:p>
          </p:txBody>
        </p:sp>
        <p:sp>
          <p:nvSpPr>
            <p:cNvPr id="34" name="TextBox 33"/>
            <p:cNvSpPr txBox="1"/>
            <p:nvPr/>
          </p:nvSpPr>
          <p:spPr>
            <a:xfrm>
              <a:off x="5277079" y="3789749"/>
              <a:ext cx="364565"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load()</a:t>
              </a:r>
            </a:p>
          </p:txBody>
        </p:sp>
        <p:sp>
          <p:nvSpPr>
            <p:cNvPr id="35" name="Rounded Rectangle 34"/>
            <p:cNvSpPr/>
            <p:nvPr/>
          </p:nvSpPr>
          <p:spPr>
            <a:xfrm>
              <a:off x="6944495" y="3490365"/>
              <a:ext cx="2027325" cy="542192"/>
            </a:xfrm>
            <a:prstGeom prst="roundRect">
              <a:avLst>
                <a:gd name="adj" fmla="val 13043"/>
              </a:avLst>
            </a:prstGeom>
            <a:solidFill>
              <a:srgbClr val="E2F4E8"/>
            </a:solidFill>
            <a:ln w="2121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48154" y="3587488"/>
              <a:ext cx="620008" cy="187740"/>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dma(., 2)</a:t>
              </a:r>
            </a:p>
          </p:txBody>
        </p:sp>
        <p:sp>
          <p:nvSpPr>
            <p:cNvPr id="37" name="TextBox 36"/>
            <p:cNvSpPr txBox="1"/>
            <p:nvPr/>
          </p:nvSpPr>
          <p:spPr>
            <a:xfrm>
              <a:off x="7775875" y="3789749"/>
              <a:ext cx="364565"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load()</a:t>
              </a:r>
            </a:p>
          </p:txBody>
        </p:sp>
        <p:sp>
          <p:nvSpPr>
            <p:cNvPr id="38" name="TextBox 37"/>
            <p:cNvSpPr txBox="1"/>
            <p:nvPr/>
          </p:nvSpPr>
          <p:spPr>
            <a:xfrm>
              <a:off x="9523159" y="3645008"/>
              <a:ext cx="453178" cy="307210"/>
            </a:xfrm>
            <a:prstGeom prst="rect">
              <a:avLst/>
            </a:prstGeom>
            <a:noFill/>
          </p:spPr>
          <p:txBody>
            <a:bodyPr wrap="none" anchor="ctr" lIns="0" rIns="0" tIns="0" bIns="0">
              <a:noAutofit/>
            </a:bodyPr>
            <a:lstStyle/>
            <a:p>
              <a:pPr algn="ctr"/>
              <a:r>
                <a:rPr sz="1670" b="1">
                  <a:solidFill>
                    <a:srgbClr val="5B6B7B"/>
                  </a:solidFill>
                  <a:latin typeface="맑은 고딕"/>
                  <a:ea typeface="맑은 고딕"/>
                  <a:cs typeface="맑은 고딕"/>
                </a:rPr>
                <a:t>···</a:t>
              </a:r>
            </a:p>
          </p:txBody>
        </p:sp>
        <p:sp>
          <p:nvSpPr>
            <p:cNvPr id="39" name="TextBox 38"/>
            <p:cNvSpPr txBox="1"/>
            <p:nvPr/>
          </p:nvSpPr>
          <p:spPr>
            <a:xfrm>
              <a:off x="4749839" y="4195450"/>
              <a:ext cx="1419045" cy="179206"/>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겹침 = double buffering</a:t>
              </a:r>
            </a:p>
          </p:txBody>
        </p:sp>
        <p:sp>
          <p:nvSpPr>
            <p:cNvPr id="40" name="TextBox 39"/>
            <p:cNvSpPr txBox="1"/>
            <p:nvPr/>
          </p:nvSpPr>
          <p:spPr>
            <a:xfrm>
              <a:off x="7822021" y="4195450"/>
              <a:ext cx="272274" cy="179206"/>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겹침</a:t>
              </a:r>
            </a:p>
          </p:txBody>
        </p:sp>
        <p:cxnSp>
          <p:nvCxnSpPr>
            <p:cNvPr id="41" name="Connector 40"/>
            <p:cNvCxnSpPr/>
            <p:nvPr/>
          </p:nvCxnSpPr>
          <p:spPr>
            <a:xfrm>
              <a:off x="1946903" y="4574748"/>
              <a:ext cx="8934375" cy="0"/>
            </a:xfrm>
            <a:prstGeom prst="line">
              <a:avLst/>
            </a:prstGeom>
            <a:ln w="17680">
              <a:solidFill>
                <a:srgbClr val="5B6B7B"/>
              </a:solidFill>
            </a:ln>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10857704" y="4504028"/>
              <a:ext cx="165015" cy="141441"/>
            </a:xfrm>
            <a:custGeom>
              <a:avLst/>
              <a:gdLst/>
              <a:ahLst/>
              <a:cxnLst/>
              <a:rect l="l" t="t" r="r" b="b"/>
              <a:pathLst>
                <a:path w="165015" h="141441">
                  <a:moveTo>
                    <a:pt x="0" y="0"/>
                  </a:moveTo>
                  <a:lnTo>
                    <a:pt x="165015" y="70720"/>
                  </a:lnTo>
                  <a:lnTo>
                    <a:pt x="0" y="141441"/>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093440" y="4478333"/>
              <a:ext cx="272274" cy="179206"/>
            </a:xfrm>
            <a:prstGeom prst="rect">
              <a:avLst/>
            </a:prstGeom>
            <a:noFill/>
          </p:spPr>
          <p:txBody>
            <a:bodyPr wrap="none" anchor="ctr" lIns="0" rIns="0" tIns="0" bIns="0">
              <a:noAutofit/>
            </a:bodyPr>
            <a:lstStyle/>
            <a:p>
              <a:pPr algn="l"/>
              <a:r>
                <a:rPr sz="969" b="0">
                  <a:solidFill>
                    <a:srgbClr val="5B6B7B"/>
                  </a:solidFill>
                  <a:latin typeface="맑은 고딕"/>
                  <a:ea typeface="맑은 고딕"/>
                  <a:cs typeface="맑은 고딕"/>
                </a:rPr>
                <a:t>시간</a:t>
              </a:r>
            </a:p>
          </p:txBody>
        </p:sp>
        <p:sp>
          <p:nvSpPr>
            <p:cNvPr id="44" name="Rounded Rectangle 43"/>
            <p:cNvSpPr/>
            <p:nvPr/>
          </p:nvSpPr>
          <p:spPr>
            <a:xfrm>
              <a:off x="673931" y="4786910"/>
              <a:ext cx="3488885" cy="754354"/>
            </a:xfrm>
            <a:prstGeom prst="roundRect">
              <a:avLst>
                <a:gd name="adj" fmla="val 12500"/>
              </a:avLst>
            </a:prstGeom>
            <a:solidFill>
              <a:srgbClr val="E3EEFB"/>
            </a:solidFill>
            <a:ln w="1885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51546" y="4905721"/>
              <a:ext cx="733656" cy="204807"/>
            </a:xfrm>
            <a:prstGeom prst="rect">
              <a:avLst/>
            </a:prstGeom>
            <a:noFill/>
          </p:spPr>
          <p:txBody>
            <a:bodyPr wrap="none" anchor="ctr" lIns="0" rIns="0" tIns="0" bIns="0">
              <a:noAutofit/>
            </a:bodyPr>
            <a:lstStyle/>
            <a:p>
              <a:pPr algn="ctr"/>
              <a:r>
                <a:rPr sz="1110" b="1">
                  <a:solidFill>
                    <a:srgbClr val="083F80"/>
                  </a:solidFill>
                  <a:latin typeface="맑은 고딕"/>
                  <a:ea typeface="맑은 고딕"/>
                  <a:cs typeface="맑은 고딕"/>
                </a:rPr>
                <a:t>비동기 발행</a:t>
              </a:r>
            </a:p>
          </p:txBody>
        </p:sp>
        <p:sp>
          <p:nvSpPr>
            <p:cNvPr id="46" name="TextBox 45"/>
            <p:cNvSpPr txBox="1"/>
            <p:nvPr/>
          </p:nvSpPr>
          <p:spPr>
            <a:xfrm>
              <a:off x="1575914" y="5168802"/>
              <a:ext cx="1684919"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dma·exec 는 던져 놓고 반환한다</a:t>
              </a:r>
            </a:p>
          </p:txBody>
        </p:sp>
        <p:sp>
          <p:nvSpPr>
            <p:cNvPr id="47" name="TextBox 46"/>
            <p:cNvSpPr txBox="1"/>
            <p:nvPr/>
          </p:nvSpPr>
          <p:spPr>
            <a:xfrm>
              <a:off x="1629721" y="5333817"/>
              <a:ext cx="1577306"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wait 는 동기화 지점에만 넣는다</a:t>
              </a:r>
            </a:p>
          </p:txBody>
        </p:sp>
        <p:sp>
          <p:nvSpPr>
            <p:cNvPr id="48" name="Rounded Rectangle 47"/>
            <p:cNvSpPr/>
            <p:nvPr/>
          </p:nvSpPr>
          <p:spPr>
            <a:xfrm>
              <a:off x="4351405" y="4786910"/>
              <a:ext cx="3488885" cy="754354"/>
            </a:xfrm>
            <a:prstGeom prst="roundRect">
              <a:avLst>
                <a:gd name="adj" fmla="val 12500"/>
              </a:avLst>
            </a:prstGeom>
            <a:solidFill>
              <a:srgbClr val="FDE8E8"/>
            </a:solidFill>
            <a:ln w="1885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89840" y="4905721"/>
              <a:ext cx="812014" cy="204807"/>
            </a:xfrm>
            <a:prstGeom prst="rect">
              <a:avLst/>
            </a:prstGeom>
            <a:noFill/>
          </p:spPr>
          <p:txBody>
            <a:bodyPr wrap="none" anchor="ctr" lIns="0" rIns="0" tIns="0" bIns="0">
              <a:noAutofit/>
            </a:bodyPr>
            <a:lstStyle/>
            <a:p>
              <a:pPr algn="ctr"/>
              <a:r>
                <a:rPr sz="1110" b="1">
                  <a:solidFill>
                    <a:srgbClr val="B4222A"/>
                  </a:solidFill>
                  <a:latin typeface="맑은 고딕"/>
                  <a:ea typeface="맑은 고딕"/>
                  <a:cs typeface="맑은 고딕"/>
                </a:rPr>
                <a:t>wait 두 종류</a:t>
              </a:r>
            </a:p>
          </p:txBody>
        </p:sp>
        <p:sp>
          <p:nvSpPr>
            <p:cNvPr id="50" name="TextBox 49"/>
            <p:cNvSpPr txBox="1"/>
            <p:nvPr/>
          </p:nvSpPr>
          <p:spPr>
            <a:xfrm>
              <a:off x="5381569" y="5168802"/>
              <a:ext cx="1428557"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waitd(id) — DMA 완료 대기</a:t>
              </a:r>
            </a:p>
          </p:txBody>
        </p:sp>
        <p:sp>
          <p:nvSpPr>
            <p:cNvPr id="51" name="TextBox 50"/>
            <p:cNvSpPr txBox="1"/>
            <p:nvPr/>
          </p:nvSpPr>
          <p:spPr>
            <a:xfrm>
              <a:off x="5386578" y="5333817"/>
              <a:ext cx="1418538"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waite(id) — exec 완료 대기</a:t>
              </a:r>
            </a:p>
          </p:txBody>
        </p:sp>
        <p:sp>
          <p:nvSpPr>
            <p:cNvPr id="52" name="Rounded Rectangle 51"/>
            <p:cNvSpPr/>
            <p:nvPr/>
          </p:nvSpPr>
          <p:spPr>
            <a:xfrm>
              <a:off x="8028879" y="4786910"/>
              <a:ext cx="3488885" cy="754354"/>
            </a:xfrm>
            <a:prstGeom prst="roundRect">
              <a:avLst>
                <a:gd name="adj" fmla="val 12500"/>
              </a:avLst>
            </a:prstGeom>
            <a:solidFill>
              <a:srgbClr val="E2F4E8"/>
            </a:solidFill>
            <a:ln w="18858">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90440" y="4905721"/>
              <a:ext cx="765763" cy="204807"/>
            </a:xfrm>
            <a:prstGeom prst="rect">
              <a:avLst/>
            </a:prstGeom>
            <a:noFill/>
          </p:spPr>
          <p:txBody>
            <a:bodyPr wrap="none" anchor="ctr" lIns="0" rIns="0" tIns="0" bIns="0">
              <a:noAutofit/>
            </a:bodyPr>
            <a:lstStyle/>
            <a:p>
              <a:pPr algn="ctr"/>
              <a:r>
                <a:rPr sz="1110" b="1">
                  <a:solidFill>
                    <a:srgbClr val="1A7F37"/>
                  </a:solidFill>
                  <a:latin typeface="맑은 고딕"/>
                  <a:ea typeface="맑은 고딕"/>
                  <a:cs typeface="맑은 고딕"/>
                </a:rPr>
                <a:t>큐 상태 확인</a:t>
              </a:r>
            </a:p>
          </p:txBody>
        </p:sp>
        <p:sp>
          <p:nvSpPr>
            <p:cNvPr id="54" name="TextBox 53"/>
            <p:cNvSpPr txBox="1"/>
            <p:nvPr/>
          </p:nvSpPr>
          <p:spPr>
            <a:xfrm>
              <a:off x="9132887" y="5168802"/>
              <a:ext cx="1280869"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CPU 코어가 polling 또는</a:t>
              </a:r>
            </a:p>
          </p:txBody>
        </p:sp>
        <p:sp>
          <p:nvSpPr>
            <p:cNvPr id="55" name="TextBox 54"/>
            <p:cNvSpPr txBox="1"/>
            <p:nvPr/>
          </p:nvSpPr>
          <p:spPr>
            <a:xfrm>
              <a:off x="9033465" y="5333817"/>
              <a:ext cx="1479712" cy="170672"/>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interrupt 로 상태를 확인한다</a:t>
              </a:r>
            </a:p>
          </p:txBody>
        </p:sp>
      </p:grpSp>
      <p:sp>
        <p:nvSpPr>
          <p:cNvPr id="56" name="Rectangle 5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연산과 전송을 겹치는 소프트웨어 파이프라인이 커맨드 시퀀스 수준에서 그대로 드러난다</a:t>
            </a:r>
          </a:p>
        </p:txBody>
      </p:sp>
      <p:sp>
        <p:nvSpPr>
          <p:cNvPr id="57" name="Rectangle 5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A-5. 전형적 커맨드 시퀀스 = 소프트웨어 파이프라인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한 줄짜리 커맨드 시퀀스를 시간축에 펴 놓으면 이중 버퍼링이 보인다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위 코드 두 줄은 논문 V-A 원문 그대로다. 아래 타임라인은 그것을 시간축에 펴 놓은 것뿐이다</a:t>
            </a:r>
          </a:p>
          <a:p>
            <a:pPr algn="l">
              <a:lnSpc>
                <a:spcPct val="118000"/>
              </a:lnSpc>
              <a:spcBef>
                <a:spcPts val="600"/>
              </a:spcBef>
              <a:spcAft>
                <a:spcPts val="200"/>
              </a:spcAft>
            </a:pPr>
            <a:r>
              <a:rPr sz="1900" b="1" i="0">
                <a:solidFill>
                  <a:srgbClr val="083F80"/>
                </a:solidFill>
                <a:latin typeface="Segoe UI"/>
                <a:ea typeface="맑은 고딕"/>
                <a:cs typeface="맑은 고딕"/>
              </a:rPr>
              <a:t>▪  dma 와 exec 를 포함한 대부분의 커맨드가 asynchronous 이기 때문에 이 겹침이 성립한다</a:t>
            </a:r>
          </a:p>
          <a:p>
            <a:pPr algn="l">
              <a:lnSpc>
                <a:spcPct val="118000"/>
              </a:lnSpc>
              <a:spcBef>
                <a:spcPts val="600"/>
              </a:spcBef>
              <a:spcAft>
                <a:spcPts val="200"/>
              </a:spcAft>
            </a:pPr>
            <a:r>
              <a:rPr sz="1900" b="0" i="0">
                <a:solidFill>
                  <a:srgbClr val="16202C"/>
                </a:solidFill>
                <a:latin typeface="Segoe UI"/>
                <a:ea typeface="맑은 고딕"/>
                <a:cs typeface="맑은 고딕"/>
              </a:rPr>
              <a:t>▪  제어 레지스터 설정조차 load 커맨드로 메모리에서 통째로 실어 온다. 코어가 필드를 하나씩 쓰지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논문의 시퀀스는 exec(1) 뒤에 '...' 로 끝난다. 그림의 세 번째 반복(초록)은 같은 패턴의 연장이다</a:t>
            </a:r>
          </a:p>
          <a:p>
            <a:pPr algn="l">
              <a:lnSpc>
                <a:spcPct val="118000"/>
              </a:lnSpc>
              <a:spcBef>
                <a:spcPts val="600"/>
              </a:spcBef>
              <a:spcAft>
                <a:spcPts val="200"/>
              </a:spcAft>
            </a:pPr>
            <a:r>
              <a:rPr sz="1900" b="1" i="0">
                <a:solidFill>
                  <a:srgbClr val="083F80"/>
                </a:solidFill>
                <a:latin typeface="Segoe UI"/>
                <a:ea typeface="맑은 고딕"/>
                <a:cs typeface="맑은 고딕"/>
              </a:rPr>
              <a:t>▪  III 절의 '메모리 전송이 대부분 신경망, 특히 LLM 의 병목'이라는 진단에 대한 소프트웨어 측 대응이 이 파이프라인이다</a:t>
            </a:r>
          </a:p>
          <a:p>
            <a:pPr algn="l">
              <a:lnSpc>
                <a:spcPct val="118000"/>
              </a:lnSpc>
              <a:spcBef>
                <a:spcPts val="600"/>
              </a:spcBef>
              <a:spcAft>
                <a:spcPts val="200"/>
              </a:spcAft>
            </a:pPr>
            <a:r>
              <a:rPr sz="1900" b="0" i="0">
                <a:solidFill>
                  <a:srgbClr val="16202C"/>
                </a:solidFill>
                <a:latin typeface="Segoe UI"/>
                <a:ea typeface="맑은 고딕"/>
                <a:cs typeface="맑은 고딕"/>
              </a:rPr>
              <a:t>▪  VI 절 Fig. 13 의 TU·TDMA 트레이스가 이 시퀀스가 실제로 겹쳐 도는 모습을 보여준다</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A-6. PE 간 통신: 메시지 패싱과 주소 변환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PE 들은 서로, 그리고 host 와 message passing(메시지 패싱)으로 통신한다</a:t>
            </a:r>
          </a:p>
          <a:p>
            <a:pPr algn="l">
              <a:lnSpc>
                <a:spcPct val="118000"/>
              </a:lnSpc>
              <a:spcBef>
                <a:spcPts val="600"/>
              </a:spcBef>
              <a:spcAft>
                <a:spcPts val="200"/>
              </a:spcAft>
            </a:pPr>
            <a:r>
              <a:rPr sz="1900" b="0" i="0">
                <a:solidFill>
                  <a:srgbClr val="16202C"/>
                </a:solidFill>
                <a:latin typeface="Segoe UI"/>
                <a:ea typeface="맑은 고딕"/>
                <a:cs typeface="맑은 고딕"/>
              </a:rPr>
              <a:t>▪  각 PE 는 IPC memory area(프로세스 간 통신 메모리 영역)를 노출한다</a:t>
            </a:r>
          </a:p>
          <a:p>
            <a:pPr algn="l">
              <a:lnSpc>
                <a:spcPct val="118000"/>
              </a:lnSpc>
              <a:spcBef>
                <a:spcPts val="600"/>
              </a:spcBef>
              <a:spcAft>
                <a:spcPts val="200"/>
              </a:spcAft>
            </a:pPr>
            <a:r>
              <a:rPr sz="1900" b="1" i="0">
                <a:solidFill>
                  <a:srgbClr val="083F80"/>
                </a:solidFill>
                <a:latin typeface="Segoe UI"/>
                <a:ea typeface="맑은 고딕"/>
                <a:cs typeface="맑은 고딕"/>
              </a:rPr>
              <a:t>▪  head/tail 레지스터를 doorbell register(도어벨 레지스터)로 설정한다</a:t>
            </a:r>
          </a:p>
          <a:p>
            <a:pPr algn="l">
              <a:lnSpc>
                <a:spcPct val="118000"/>
              </a:lnSpc>
              <a:spcBef>
                <a:spcPts val="200"/>
              </a:spcBef>
              <a:spcAft>
                <a:spcPts val="100"/>
              </a:spcAft>
            </a:pPr>
            <a:r>
              <a:rPr sz="1780" b="0" i="0">
                <a:solidFill>
                  <a:srgbClr val="2C3A4B"/>
                </a:solidFill>
                <a:latin typeface="Segoe UI"/>
                <a:ea typeface="맑은 고딕"/>
                <a:cs typeface="맑은 고딕"/>
              </a:rPr>
              <a:t>–  수신 측을 폴링시키지 않고 '벨을 눌러' 알린다. 링 버퍼의 머리/꼬리를 그대로 도어벨로 쓴다</a:t>
            </a:r>
          </a:p>
          <a:p>
            <a:pPr algn="l">
              <a:lnSpc>
                <a:spcPct val="118000"/>
              </a:lnSpc>
              <a:spcBef>
                <a:spcPts val="600"/>
              </a:spcBef>
              <a:spcAft>
                <a:spcPts val="200"/>
              </a:spcAft>
            </a:pPr>
            <a:r>
              <a:rPr sz="1900" b="1" i="0">
                <a:solidFill>
                  <a:srgbClr val="083F80"/>
                </a:solidFill>
                <a:latin typeface="Segoe UI"/>
                <a:ea typeface="맑은 고딕"/>
                <a:cs typeface="맑은 고딕"/>
              </a:rPr>
              <a:t>▪  address translation(주소 변환)을 사용하며, 그 효과는 둘이다</a:t>
            </a:r>
          </a:p>
          <a:p>
            <a:pPr algn="l">
              <a:lnSpc>
                <a:spcPct val="118000"/>
              </a:lnSpc>
              <a:spcBef>
                <a:spcPts val="200"/>
              </a:spcBef>
              <a:spcAft>
                <a:spcPts val="100"/>
              </a:spcAft>
            </a:pPr>
            <a:r>
              <a:rPr sz="1780" b="0" i="0">
                <a:solidFill>
                  <a:srgbClr val="2C3A4B"/>
                </a:solidFill>
                <a:latin typeface="Segoe UI"/>
                <a:ea typeface="맑은 고딕"/>
                <a:cs typeface="맑은 고딕"/>
              </a:rPr>
              <a:t>–  서로 다른 process address space(프로세스 주소 공간)에 대한 접근을 보호한다</a:t>
            </a:r>
          </a:p>
          <a:p>
            <a:pPr algn="l">
              <a:lnSpc>
                <a:spcPct val="118000"/>
              </a:lnSpc>
              <a:spcBef>
                <a:spcPts val="200"/>
              </a:spcBef>
              <a:spcAft>
                <a:spcPts val="100"/>
              </a:spcAft>
            </a:pPr>
            <a:r>
              <a:rPr sz="1780" b="0" i="0">
                <a:solidFill>
                  <a:srgbClr val="2C3A4B"/>
                </a:solidFill>
                <a:latin typeface="Segoe UI"/>
                <a:ea typeface="맑은 고딕"/>
                <a:cs typeface="맑은 고딕"/>
              </a:rPr>
              <a:t>–  동시에 여러 PE 가 통신을 위해 하나의 주소 공간을 공유할 수 있게 한다</a:t>
            </a:r>
          </a:p>
          <a:p>
            <a:pPr algn="l">
              <a:lnSpc>
                <a:spcPct val="118000"/>
              </a:lnSpc>
              <a:spcBef>
                <a:spcPts val="600"/>
              </a:spcBef>
              <a:spcAft>
                <a:spcPts val="200"/>
              </a:spcAft>
            </a:pPr>
            <a:r>
              <a:rPr sz="1900" b="1" i="0">
                <a:solidFill>
                  <a:srgbClr val="083F80"/>
                </a:solidFill>
                <a:latin typeface="Segoe UI"/>
                <a:ea typeface="맑은 고딕"/>
                <a:cs typeface="맑은 고딕"/>
              </a:rPr>
              <a:t>▪  다른 칩에 있는 PE 도 이 PE 의 주소 공간에 매핑된다 → 여러 칩을 쓸 때도 프로그래밍 모델이 단순해진다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주소 공간에 매핑한다는 한 가지 추상화로 칩 내부 통신과 칩 사이 통신을 통일한다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A-7. 멀티노드 실행과 텐서 병렬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multi-node(다중 노드) 실행에서는 PCIe P2P 와 함께 TCP 를 통한 통신을 사용한다</a:t>
            </a:r>
          </a:p>
          <a:p>
            <a:pPr algn="l">
              <a:lnSpc>
                <a:spcPct val="118000"/>
              </a:lnSpc>
              <a:spcBef>
                <a:spcPts val="200"/>
              </a:spcBef>
              <a:spcAft>
                <a:spcPts val="100"/>
              </a:spcAft>
            </a:pPr>
            <a:r>
              <a:rPr sz="1580" b="0" i="0">
                <a:solidFill>
                  <a:srgbClr val="2C3A4B"/>
                </a:solidFill>
                <a:latin typeface="Segoe UI"/>
                <a:ea typeface="맑은 고딕"/>
                <a:cs typeface="맑은 고딕"/>
              </a:rPr>
              <a:t>–  원문 표현은 "communication over TCP with PCIe P2P" 다. 이 문장 전후에서 TCP 는 칩 이름(Tensor Contraction Processor)을 가리킨다</a:t>
            </a:r>
          </a:p>
          <a:p>
            <a:pPr algn="l">
              <a:lnSpc>
                <a:spcPct val="118000"/>
              </a:lnSpc>
              <a:spcBef>
                <a:spcPts val="600"/>
              </a:spcBef>
              <a:spcAft>
                <a:spcPts val="200"/>
              </a:spcAft>
            </a:pPr>
            <a:r>
              <a:rPr sz="1700" b="0" i="0">
                <a:solidFill>
                  <a:srgbClr val="16202C"/>
                </a:solidFill>
                <a:latin typeface="Segoe UI"/>
                <a:ea typeface="맑은 고딕"/>
                <a:cs typeface="맑은 고딕"/>
              </a:rPr>
              <a:t>▪  PE 는 tensor DMA(데이터 전송)와 IPC 메시지로 다른 PE 와 통신한다</a:t>
            </a:r>
          </a:p>
          <a:p>
            <a:pPr algn="l">
              <a:lnSpc>
                <a:spcPct val="118000"/>
              </a:lnSpc>
              <a:spcBef>
                <a:spcPts val="600"/>
              </a:spcBef>
              <a:spcAft>
                <a:spcPts val="200"/>
              </a:spcAft>
            </a:pPr>
            <a:r>
              <a:rPr sz="1700" b="1" i="0">
                <a:solidFill>
                  <a:srgbClr val="083F80"/>
                </a:solidFill>
                <a:latin typeface="Segoe UI"/>
                <a:ea typeface="맑은 고딕"/>
                <a:cs typeface="맑은 고딕"/>
              </a:rPr>
              <a:t>▪  initiator(개시자) 관점에서, 같은 TCP 안의 PE 에 접근하는 것과 다른 TCP 의 PE 또는 메모리에 접근하는 것이 동일하다</a:t>
            </a:r>
          </a:p>
          <a:p>
            <a:pPr algn="l">
              <a:lnSpc>
                <a:spcPct val="118000"/>
              </a:lnSpc>
              <a:spcBef>
                <a:spcPts val="600"/>
              </a:spcBef>
              <a:spcAft>
                <a:spcPts val="200"/>
              </a:spcAft>
            </a:pPr>
            <a:r>
              <a:rPr sz="1700" b="0" i="0">
                <a:solidFill>
                  <a:srgbClr val="16202C"/>
                </a:solidFill>
                <a:latin typeface="Segoe UI"/>
                <a:ea typeface="맑은 고딕"/>
                <a:cs typeface="맑은 고딕"/>
              </a:rPr>
              <a:t>▪  대상 주소가 다른 TCP 에 매핑되어 있으면, PE 가 개시한 트랜잭션이 NoC 와 PCIe 를 거쳐 다른 TCP 로 전달된다</a:t>
            </a:r>
          </a:p>
          <a:p>
            <a:pPr algn="l">
              <a:lnSpc>
                <a:spcPct val="118000"/>
              </a:lnSpc>
              <a:spcBef>
                <a:spcPts val="600"/>
              </a:spcBef>
              <a:spcAft>
                <a:spcPts val="200"/>
              </a:spcAft>
            </a:pPr>
            <a:r>
              <a:rPr sz="1700" b="1" i="0">
                <a:solidFill>
                  <a:srgbClr val="083F80"/>
                </a:solidFill>
                <a:latin typeface="Segoe UI"/>
                <a:ea typeface="맑은 고딕"/>
                <a:cs typeface="맑은 고딕"/>
              </a:rPr>
              <a:t>▪  레이어 실행 후 텐서 동기화와 IPC 메시지 전송을 지원한다 → 여러 PE 가 tensor parallel(텐서 병렬) 연산을 수행할 수 있다</a:t>
            </a:r>
          </a:p>
          <a:p>
            <a:pPr algn="l">
              <a:lnSpc>
                <a:spcPct val="118000"/>
              </a:lnSpc>
              <a:spcBef>
                <a:spcPts val="600"/>
              </a:spcBef>
              <a:spcAft>
                <a:spcPts val="200"/>
              </a:spcAft>
            </a:pPr>
            <a:r>
              <a:rPr sz="1700" b="0" i="0">
                <a:solidFill>
                  <a:srgbClr val="16202C"/>
                </a:solidFill>
                <a:latin typeface="Segoe UI"/>
                <a:ea typeface="맑은 고딕"/>
                <a:cs typeface="맑은 고딕"/>
              </a:rPr>
              <a:t>▪  이 절은 노드 간 링크의 대역폭이나 토폴로지를 따로 밝히지 않는다. 관련 수치는 III 절의 PCIe Gen5 방향당 64 GB/s 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'어느 칩인지'를 소프트웨어가 신경 쓰지 않게 만드는 것이 멀티칩 확장의 핵심이다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8 — 같은 연산 ble,ef 에 대한 세 가지 lowered shape 과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162</a:t>
            </a:r>
          </a:p>
        </p:txBody>
      </p:sp>
      <p:pic>
        <p:nvPicPr>
          <p:cNvPr id="8" name="Picture 7" descr="isca_fig8.png"/>
          <p:cNvPicPr>
            <a:picLocks noChangeAspect="1"/>
          </p:cNvPicPr>
          <p:nvPr/>
        </p:nvPicPr>
        <p:blipFill>
          <a:blip r:embed="rId2"/>
          <a:stretch>
            <a:fillRect/>
          </a:stretch>
        </p:blipFill>
        <p:spPr>
          <a:xfrm>
            <a:off x="2056822" y="1517904"/>
            <a:ext cx="8078051" cy="2728570"/>
          </a:xfrm>
          <a:prstGeom prst="rect">
            <a:avLst/>
          </a:prstGeom>
        </p:spPr>
      </p:pic>
      <p:sp>
        <p:nvSpPr>
          <p:cNvPr id="9" name="Rectangle 8"/>
          <p:cNvSpPr/>
          <p:nvPr/>
        </p:nvSpPr>
        <p:spPr>
          <a:xfrm>
            <a:off x="2056822" y="1517904"/>
            <a:ext cx="8078051" cy="2728570"/>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273906"/>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8 — TCP: A Tensor Contraction Processor for AI Workloads (ISCA 2024)</a:t>
            </a:r>
          </a:p>
        </p:txBody>
      </p:sp>
      <p:sp>
        <p:nvSpPr>
          <p:cNvPr id="11" name="TextBox 10"/>
          <p:cNvSpPr txBox="1"/>
          <p:nvPr/>
        </p:nvSpPr>
        <p:spPr>
          <a:xfrm>
            <a:off x="566928" y="4593946"/>
            <a:ext cx="11057839" cy="167883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대상 연산은 II 절의 feed-forward contraction ble,ef→blf 다. 그림은 b 와 l 을 묶은 BL 축, E 축, F 축으로 표기한다</a:t>
            </a:r>
          </a:p>
          <a:p>
            <a:pPr algn="l">
              <a:lnSpc>
                <a:spcPct val="118000"/>
              </a:lnSpc>
              <a:spcBef>
                <a:spcPts val="600"/>
              </a:spcBef>
              <a:spcAft>
                <a:spcPts val="200"/>
              </a:spcAft>
            </a:pPr>
            <a:r>
              <a:rPr sz="1400" b="1" i="0">
                <a:solidFill>
                  <a:srgbClr val="083F80"/>
                </a:solidFill>
                <a:latin typeface="Segoe UI"/>
                <a:ea typeface="맑은 고딕"/>
                <a:cs typeface="맑은 고딕"/>
              </a:rPr>
              <a:t>▪  슬라이스 수는 s = 4 다(Slice0~Slice3). 세 경우 모두 하드웨어는 동일하고, 컴파일러가 고른 lowered shape 과 tactic 만 다르다</a:t>
            </a:r>
          </a:p>
          <a:p>
            <a:pPr algn="l">
              <a:lnSpc>
                <a:spcPct val="118000"/>
              </a:lnSpc>
              <a:spcBef>
                <a:spcPts val="600"/>
              </a:spcBef>
              <a:spcAft>
                <a:spcPts val="200"/>
              </a:spcAft>
            </a:pPr>
            <a:r>
              <a:rPr sz="1400" b="0" i="0">
                <a:solidFill>
                  <a:srgbClr val="16202C"/>
                </a:solidFill>
                <a:latin typeface="Segoe UI"/>
                <a:ea typeface="맑은 고딕"/>
                <a:cs typeface="맑은 고딕"/>
              </a:rPr>
              <a:t>▪  위쪽 세 블록은 입력(파랑, BL×E) ⊗ 가중치(초록, E×F) = 출력(주황, BL×F) 이며, 블록 안의 색 분할이 곧 슬라이스 분할이다</a:t>
            </a:r>
          </a:p>
          <a:p>
            <a:pPr algn="l">
              <a:lnSpc>
                <a:spcPct val="118000"/>
              </a:lnSpc>
              <a:spcBef>
                <a:spcPts val="600"/>
              </a:spcBef>
              <a:spcAft>
                <a:spcPts val="200"/>
              </a:spcAft>
            </a:pPr>
            <a:r>
              <a:rPr sz="1400" b="0" i="0">
                <a:solidFill>
                  <a:srgbClr val="16202C"/>
                </a:solidFill>
                <a:latin typeface="Segoe UI"/>
                <a:ea typeface="맑은 고딕"/>
                <a:cs typeface="맑은 고딕"/>
              </a:rPr>
              <a:t>▪  아래쪽 각 슬라이스의 세로 스택은 Data Memory → Fetch Unit → CE와 RF(그리고 VE, TE) → Commit Unit 파이프라인이다</a:t>
            </a:r>
          </a:p>
          <a:p>
            <a:pPr algn="l">
              <a:lnSpc>
                <a:spcPct val="118000"/>
              </a:lnSpc>
              <a:spcBef>
                <a:spcPts val="600"/>
              </a:spcBef>
              <a:spcAft>
                <a:spcPts val="200"/>
              </a:spcAft>
            </a:pPr>
            <a:r>
              <a:rPr sz="1400" b="1" i="0">
                <a:solidFill>
                  <a:srgbClr val="083F80"/>
                </a:solidFill>
                <a:latin typeface="Segoe UI"/>
                <a:ea typeface="맑은 고딕"/>
                <a:cs typeface="맑은 고딕"/>
              </a:rPr>
              <a:t>▪  (a) 에만 슬라이스 사이에 Reduce &amp; Route 블록이 있다 → 슬라이스 간 부분합 합산이 필요하다는 뜻이다</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8 — 같은 연산 ble,ef 에 대한 세 가지 lowered shape 과 tactic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(c) 에만 Fetch Unit 행에 multicast 라벨이 있다 → 한 번 읽은 데이터를 여러 슬라이스가 나눠 쓴다는 뜻이다</a:t>
            </a:r>
          </a:p>
          <a:p>
            <a:pPr algn="l">
              <a:lnSpc>
                <a:spcPct val="118000"/>
              </a:lnSpc>
              <a:spcBef>
                <a:spcPts val="600"/>
              </a:spcBef>
              <a:spcAft>
                <a:spcPts val="200"/>
              </a:spcAft>
            </a:pPr>
            <a:r>
              <a:rPr sz="1900" b="0" i="0">
                <a:solidFill>
                  <a:srgbClr val="16202C"/>
                </a:solidFill>
                <a:latin typeface="Segoe UI"/>
                <a:ea typeface="맑은 고딕"/>
                <a:cs typeface="맑은 고딕"/>
              </a:rPr>
              <a:t>▪  (b) 는 Reduce &amp; Route 도 multicast 라벨도 없다 → 슬라이스가 독립적으로 돌고 시간 누적으로 수축을 끝낸다</a:t>
            </a:r>
          </a:p>
          <a:p>
            <a:pPr algn="l">
              <a:lnSpc>
                <a:spcPct val="118000"/>
              </a:lnSpc>
              <a:spcBef>
                <a:spcPts val="600"/>
              </a:spcBef>
              <a:spcAft>
                <a:spcPts val="200"/>
              </a:spcAft>
            </a:pPr>
            <a:r>
              <a:rPr sz="1900" b="0" i="0">
                <a:solidFill>
                  <a:srgbClr val="16202C"/>
                </a:solidFill>
                <a:latin typeface="Segoe UI"/>
                <a:ea typeface="맑은 고딕"/>
                <a:cs typeface="맑은 고딕"/>
              </a:rPr>
              <a:t>▪  (a) 의 CE 안에 붉은 글씨로 표시된 H, W 는 IV-C 절의 DPE 개수(H = 8)와 dot-product 폭(W)을 가리킨다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하드웨어는 그대로 두고, 어느 축을 슬라이스에 걸고 어느 축을 시간축 루프로 돌릴지만 바꾼 세 가지 선택지다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8 (a)(b)(c) 정면 비교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164</a:t>
            </a:r>
          </a:p>
        </p:txBody>
      </p:sp>
      <p:graphicFrame>
        <p:nvGraphicFramePr>
          <p:cNvPr id="8" name="Table 7"/>
          <p:cNvGraphicFramePr>
            <a:graphicFrameLocks noGrp="1"/>
          </p:cNvGraphicFramePr>
          <p:nvPr/>
        </p:nvGraphicFramePr>
        <p:xfrm>
          <a:off x="566928" y="1517904"/>
          <a:ext cx="11057838" cy="3456432"/>
        </p:xfrm>
        <a:graphic>
          <a:graphicData uri="http://schemas.openxmlformats.org/drawingml/2006/table">
            <a:tbl>
              <a:tblPr firstRow="1" bandRow="1">
                <a:tableStyleId>{5C22544A-7EE6-4342-B048-85BDC9FD1C3A}</a:tableStyleId>
              </a:tblPr>
              <a:tblGrid>
                <a:gridCol w="1104420"/>
                <a:gridCol w="4090446"/>
                <a:gridCol w="3545053"/>
                <a:gridCol w="2317919"/>
              </a:tblGrid>
              <a:tr h="384048">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(a) 왼쪽</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(b) 가운데</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(c) 오른쪽</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슬라이스 분할 축</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b 와 e 를 함께 분할</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b 또는 l</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f</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논문이 명시한 표기</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contraction 은 e^{E/2}[2] | e^1[E/2] 로 두 슬라이스에 걸침, 병렬 contraction 은 b^{B/2}[2] 축</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tail axis 가 e 가 아님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f 를 두 슬라이스에 분할</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contraction 축 e 의 처리</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슬라이스 사이로 쪼갬</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슬라이스 내부에서 처리</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슬라이스 내부에서 처리</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DPE reduction tree depth</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리덕션 트리 사용(공간 합산)</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depth 0</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명시 없음</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누적 방식</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슬라이스 간 부분합 합산 필요</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RF 에서 읽은 e 원소를 W 로 broadcast, 곱한 뒤 accumulation unit 에서 시간 누적</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명시 없음</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두 번째 피연산자</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슬라이스별로 나뉨</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전 슬라이스로 multicast 후 RF 적재</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두 슬라이스로 나눠 RF 적재, 한 번 적재 후 multicast</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슬라이스 간 통신</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Reduce &amp; Route 필요</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없음</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Fetch Unit multicast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대표적 이점</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E 가 클 때 수축 지연 단축</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슬라이스 독립 실행, RF 분할로 다음 레이어 선적재</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적재 1회로 두 슬라이스가 재사용</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세 tactic 의 차이는 결국 '어느 축을 공간에 펼치고 어느 축을 시간에 흘릴 것인가'의 차이다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B. Fig. 8 (a) — contraction 축 e 를 슬라이스에 걸친 경우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contraction 이 e^{E/2}[2] | e^1[E/2] 로 두 슬라이스에 걸쳐 일어난다</a:t>
            </a:r>
          </a:p>
          <a:p>
            <a:pPr algn="l">
              <a:lnSpc>
                <a:spcPct val="118000"/>
              </a:lnSpc>
              <a:spcBef>
                <a:spcPts val="200"/>
              </a:spcBef>
              <a:spcAft>
                <a:spcPts val="100"/>
              </a:spcAft>
            </a:pPr>
            <a:r>
              <a:rPr sz="1680" b="0" i="0">
                <a:solidFill>
                  <a:srgbClr val="2C3A4B"/>
                </a:solidFill>
                <a:latin typeface="Segoe UI"/>
                <a:ea typeface="맑은 고딕"/>
                <a:cs typeface="맑은 고딕"/>
              </a:rPr>
              <a:t>–  표기 해석: 슬라이스 간에는 e 축을 stride E/2 로 2개 슬라이스에 나누고, 슬라이스 안에서는 stride 1 로 길이 E/2 를 돈다</a:t>
            </a:r>
          </a:p>
          <a:p>
            <a:pPr algn="l">
              <a:lnSpc>
                <a:spcPct val="118000"/>
              </a:lnSpc>
              <a:spcBef>
                <a:spcPts val="600"/>
              </a:spcBef>
              <a:spcAft>
                <a:spcPts val="200"/>
              </a:spcAft>
            </a:pPr>
            <a:r>
              <a:rPr sz="1800" b="1" i="0">
                <a:solidFill>
                  <a:srgbClr val="083F80"/>
                </a:solidFill>
                <a:latin typeface="Segoe UI"/>
                <a:ea typeface="맑은 고딕"/>
                <a:cs typeface="맑은 고딕"/>
              </a:rPr>
              <a:t>▪  동시에 b^{B/2}[2] 축을 따라 parallel contraction(병렬 수축)이 일어난다</a:t>
            </a:r>
          </a:p>
          <a:p>
            <a:pPr algn="l">
              <a:lnSpc>
                <a:spcPct val="118000"/>
              </a:lnSpc>
              <a:spcBef>
                <a:spcPts val="200"/>
              </a:spcBef>
              <a:spcAft>
                <a:spcPts val="100"/>
              </a:spcAft>
            </a:pPr>
            <a:r>
              <a:rPr sz="1680" b="0" i="0">
                <a:solidFill>
                  <a:srgbClr val="2C3A4B"/>
                </a:solidFill>
                <a:latin typeface="Segoe UI"/>
                <a:ea typeface="맑은 고딕"/>
                <a:cs typeface="맑은 고딕"/>
              </a:rPr>
              <a:t>–  즉 4개 슬라이스가 b 로 2분할 × e 로 2분할 되어 채워진다</a:t>
            </a:r>
          </a:p>
          <a:p>
            <a:pPr algn="l">
              <a:lnSpc>
                <a:spcPct val="118000"/>
              </a:lnSpc>
              <a:spcBef>
                <a:spcPts val="600"/>
              </a:spcBef>
              <a:spcAft>
                <a:spcPts val="200"/>
              </a:spcAft>
            </a:pPr>
            <a:r>
              <a:rPr sz="1800" b="1" i="0">
                <a:solidFill>
                  <a:srgbClr val="083F80"/>
                </a:solidFill>
                <a:latin typeface="Segoe UI"/>
                <a:ea typeface="맑은 고딕"/>
                <a:cs typeface="맑은 고딕"/>
              </a:rPr>
              <a:t>▪  contraction 축을 쪼갰으므로 한 슬라이스는 partial sum(부분합)만 만들어 낸다</a:t>
            </a:r>
          </a:p>
          <a:p>
            <a:pPr algn="l">
              <a:lnSpc>
                <a:spcPct val="118000"/>
              </a:lnSpc>
              <a:spcBef>
                <a:spcPts val="200"/>
              </a:spcBef>
              <a:spcAft>
                <a:spcPts val="100"/>
              </a:spcAft>
            </a:pPr>
            <a:r>
              <a:rPr sz="1680" b="0" i="0">
                <a:solidFill>
                  <a:srgbClr val="2C3A4B"/>
                </a:solidFill>
                <a:latin typeface="Segoe UI"/>
                <a:ea typeface="맑은 고딕"/>
                <a:cs typeface="맑은 고딕"/>
              </a:rPr>
              <a:t>–  그래서 그림에 Slice0-1 사이와 Slice2-3 사이에 Reduce &amp; Route 블록이 있다. 두 슬라이스의 부분합을 합쳐야 최종값이 된다</a:t>
            </a:r>
          </a:p>
          <a:p>
            <a:pPr algn="l">
              <a:lnSpc>
                <a:spcPct val="118000"/>
              </a:lnSpc>
              <a:spcBef>
                <a:spcPts val="600"/>
              </a:spcBef>
              <a:spcAft>
                <a:spcPts val="200"/>
              </a:spcAft>
            </a:pPr>
            <a:r>
              <a:rPr sz="1800" b="0" i="0">
                <a:solidFill>
                  <a:srgbClr val="16202C"/>
                </a:solidFill>
                <a:latin typeface="Segoe UI"/>
                <a:ea typeface="맑은 고딕"/>
                <a:cs typeface="맑은 고딕"/>
              </a:rPr>
              <a:t>▪  이 슬라이스 간 리덕션은 IV-D 절 VE 의 inter-slice reduce channel 과 router 가 담당하는 기능이다</a:t>
            </a:r>
          </a:p>
          <a:p>
            <a:pPr algn="l">
              <a:lnSpc>
                <a:spcPct val="118000"/>
              </a:lnSpc>
              <a:spcBef>
                <a:spcPts val="600"/>
              </a:spcBef>
              <a:spcAft>
                <a:spcPts val="200"/>
              </a:spcAft>
            </a:pPr>
            <a:r>
              <a:rPr sz="1800" b="1" i="0">
                <a:solidFill>
                  <a:srgbClr val="083F80"/>
                </a:solidFill>
                <a:latin typeface="Segoe UI"/>
                <a:ea typeface="맑은 고딕"/>
                <a:cs typeface="맑은 고딕"/>
              </a:rPr>
              <a:t>▪  장점: contraction 축이 길 때(E 가 클 때) 그 길이를 슬라이스 수로 나눠 지연을 줄인다</a:t>
            </a:r>
          </a:p>
          <a:p>
            <a:pPr algn="l">
              <a:lnSpc>
                <a:spcPct val="118000"/>
              </a:lnSpc>
              <a:spcBef>
                <a:spcPts val="600"/>
              </a:spcBef>
              <a:spcAft>
                <a:spcPts val="200"/>
              </a:spcAft>
            </a:pPr>
            <a:r>
              <a:rPr sz="1800" b="0" i="0">
                <a:solidFill>
                  <a:srgbClr val="16202C"/>
                </a:solidFill>
                <a:latin typeface="Segoe UI"/>
                <a:ea typeface="맑은 고딕"/>
                <a:cs typeface="맑은 고딕"/>
              </a:rPr>
              <a:t>▪  대가: 슬라이스 간 리덕션 트래픽과 그에 따른 추가 지연이 생긴다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e 를 쪼개면 빨라지지만 슬라이스 간 합산이 반드시 뒤따른다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B. Fig. 8 (b) — tail axis 가 e 가 아닌 경우, DPE depth 0</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이 경우는 tail axis(마지막 축)가 e 가 아니며, 그 결과 DPE depth 가 0 이 된다</a:t>
            </a:r>
          </a:p>
          <a:p>
            <a:pPr algn="l">
              <a:lnSpc>
                <a:spcPct val="118000"/>
              </a:lnSpc>
              <a:spcBef>
                <a:spcPts val="200"/>
              </a:spcBef>
              <a:spcAft>
                <a:spcPts val="100"/>
              </a:spcAft>
            </a:pPr>
            <a:r>
              <a:rPr sz="1580" b="0" i="0">
                <a:solidFill>
                  <a:srgbClr val="2C3A4B"/>
                </a:solidFill>
                <a:latin typeface="Segoe UI"/>
                <a:ea typeface="맑은 고딕"/>
                <a:cs typeface="맑은 고딕"/>
              </a:rPr>
              <a:t>–  depth 0 은 reduction tree 를 타지 않는다는 뜻이다. IV-C 절 기준으로 DPE 가 입력 개수만큼(예: BF16 이면 32개) 곱셈 결과를 그대로 낸다</a:t>
            </a:r>
          </a:p>
          <a:p>
            <a:pPr algn="l">
              <a:lnSpc>
                <a:spcPct val="118000"/>
              </a:lnSpc>
              <a:spcBef>
                <a:spcPts val="600"/>
              </a:spcBef>
              <a:spcAft>
                <a:spcPts val="200"/>
              </a:spcAft>
            </a:pPr>
            <a:r>
              <a:rPr sz="1700" b="1" i="0">
                <a:solidFill>
                  <a:srgbClr val="083F80"/>
                </a:solidFill>
                <a:latin typeface="Segoe UI"/>
                <a:ea typeface="맑은 고딕"/>
                <a:cs typeface="맑은 고딕"/>
              </a:rPr>
              <a:t>▪  RF 에서 읽은 e 의 각 원소가 W 전체로 broadcast 되고, 곱해진 뒤 accumulation unit 에서 temporally accumulated(시간적으로 누적)된다</a:t>
            </a:r>
          </a:p>
          <a:p>
            <a:pPr algn="l">
              <a:lnSpc>
                <a:spcPct val="118000"/>
              </a:lnSpc>
              <a:spcBef>
                <a:spcPts val="200"/>
              </a:spcBef>
              <a:spcAft>
                <a:spcPts val="100"/>
              </a:spcAft>
            </a:pPr>
            <a:r>
              <a:rPr sz="1580" b="0" i="0">
                <a:solidFill>
                  <a:srgbClr val="2C3A4B"/>
                </a:solidFill>
                <a:latin typeface="Segoe UI"/>
                <a:ea typeface="맑은 고딕"/>
                <a:cs typeface="맑은 고딕"/>
              </a:rPr>
              <a:t>–  즉 공간 리덕션 대신 시간 누적으로 contraction 을 완성한다</a:t>
            </a:r>
          </a:p>
          <a:p>
            <a:pPr algn="l">
              <a:lnSpc>
                <a:spcPct val="118000"/>
              </a:lnSpc>
              <a:spcBef>
                <a:spcPts val="600"/>
              </a:spcBef>
              <a:spcAft>
                <a:spcPts val="200"/>
              </a:spcAft>
            </a:pPr>
            <a:r>
              <a:rPr sz="1700" b="0" i="0">
                <a:solidFill>
                  <a:srgbClr val="16202C"/>
                </a:solidFill>
                <a:latin typeface="Segoe UI"/>
                <a:ea typeface="맑은 고딕"/>
                <a:cs typeface="맑은 고딕"/>
              </a:rPr>
              <a:t>▪  각 슬라이스의 partition axis(분할 축)는 b 또는 l 이고, 이들이 병렬로 처리된다</a:t>
            </a:r>
          </a:p>
          <a:p>
            <a:pPr algn="l">
              <a:lnSpc>
                <a:spcPct val="118000"/>
              </a:lnSpc>
              <a:spcBef>
                <a:spcPts val="600"/>
              </a:spcBef>
              <a:spcAft>
                <a:spcPts val="200"/>
              </a:spcAft>
            </a:pPr>
            <a:r>
              <a:rPr sz="1700" b="1" i="0">
                <a:solidFill>
                  <a:srgbClr val="083F80"/>
                </a:solidFill>
                <a:latin typeface="Segoe UI"/>
                <a:ea typeface="맑은 고딕"/>
                <a:cs typeface="맑은 고딕"/>
              </a:rPr>
              <a:t>▪  두 번째 피연산자는 모든 슬라이스로 multicast 되어 RF 에 적재된다</a:t>
            </a:r>
          </a:p>
          <a:p>
            <a:pPr algn="l">
              <a:lnSpc>
                <a:spcPct val="118000"/>
              </a:lnSpc>
              <a:spcBef>
                <a:spcPts val="600"/>
              </a:spcBef>
              <a:spcAft>
                <a:spcPts val="200"/>
              </a:spcAft>
            </a:pPr>
            <a:r>
              <a:rPr sz="1700" b="1" i="0">
                <a:solidFill>
                  <a:srgbClr val="083F80"/>
                </a:solidFill>
                <a:latin typeface="Segoe UI"/>
                <a:ea typeface="맑은 고딕"/>
                <a:cs typeface="맑은 고딕"/>
              </a:rPr>
              <a:t>▪  TCP 는 두 개의 context(컨텍스트)를 지원해, 텐서 연산을 수행하면서 다음 레이어를 위한 데이터 이동을 병렬화한다</a:t>
            </a:r>
          </a:p>
          <a:p>
            <a:pPr algn="l">
              <a:lnSpc>
                <a:spcPct val="118000"/>
              </a:lnSpc>
              <a:spcBef>
                <a:spcPts val="200"/>
              </a:spcBef>
              <a:spcAft>
                <a:spcPts val="100"/>
              </a:spcAft>
            </a:pPr>
            <a:r>
              <a:rPr sz="1580" b="1" i="0">
                <a:solidFill>
                  <a:srgbClr val="2C3A4B"/>
                </a:solidFill>
                <a:latin typeface="Segoe UI"/>
                <a:ea typeface="맑은 고딕"/>
                <a:cs typeface="맑은 고딕"/>
              </a:rPr>
              <a:t>–  RF 를 분할해, 일부는 현재 텐서 연산에 쓰고 나머지에는 다음 레이어의 텐서를 동시에 적재할 수 있다</a:t>
            </a:r>
          </a:p>
          <a:p>
            <a:pPr algn="l">
              <a:lnSpc>
                <a:spcPct val="118000"/>
              </a:lnSpc>
              <a:spcBef>
                <a:spcPts val="600"/>
              </a:spcBef>
              <a:spcAft>
                <a:spcPts val="200"/>
              </a:spcAft>
            </a:pPr>
            <a:r>
              <a:rPr sz="1700" b="0" i="0">
                <a:solidFill>
                  <a:srgbClr val="16202C"/>
                </a:solidFill>
                <a:latin typeface="Segoe UI"/>
                <a:ea typeface="맑은 고딕"/>
                <a:cs typeface="맑은 고딕"/>
              </a:rPr>
              <a:t>▪  IV-C 절의 'RF 가 동시 read/write 를 처리한다'는 서술이 이 tactic 을 위한 하드웨어 근거다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DPE depth 0 = 공간 리덕션 없이 broadcast, 곱셈, 시간 누적만으로 수축한다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B. Fig. 8 (c) — f 축을 슬라이스에 분할하고 입력을 multicast</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f 가 두 슬라이스에 걸쳐 분할되어 RF 에 적재된다</a:t>
            </a:r>
          </a:p>
          <a:p>
            <a:pPr algn="l">
              <a:lnSpc>
                <a:spcPct val="118000"/>
              </a:lnSpc>
              <a:spcBef>
                <a:spcPts val="600"/>
              </a:spcBef>
              <a:spcAft>
                <a:spcPts val="200"/>
              </a:spcAft>
            </a:pPr>
            <a:r>
              <a:rPr sz="1900" b="1" i="0">
                <a:solidFill>
                  <a:srgbClr val="083F80"/>
                </a:solidFill>
                <a:latin typeface="Segoe UI"/>
                <a:ea typeface="맑은 고딕"/>
                <a:cs typeface="맑은 고딕"/>
              </a:rPr>
              <a:t>▪  데이터는 한 번만 적재되고, 두 슬라이스로 multicast 되어 병렬 실행이 가능하다</a:t>
            </a:r>
          </a:p>
          <a:p>
            <a:pPr algn="l">
              <a:lnSpc>
                <a:spcPct val="118000"/>
              </a:lnSpc>
              <a:spcBef>
                <a:spcPts val="200"/>
              </a:spcBef>
              <a:spcAft>
                <a:spcPts val="100"/>
              </a:spcAft>
            </a:pPr>
            <a:r>
              <a:rPr sz="1780" b="0" i="0">
                <a:solidFill>
                  <a:srgbClr val="2C3A4B"/>
                </a:solidFill>
                <a:latin typeface="Segoe UI"/>
                <a:ea typeface="맑은 고딕"/>
                <a:cs typeface="맑은 고딕"/>
              </a:rPr>
              <a:t>–  그래서 그림 (c) 의 Fetch Unit 행에만 multicast 라벨이 두 개 보인다</a:t>
            </a:r>
          </a:p>
          <a:p>
            <a:pPr algn="l">
              <a:lnSpc>
                <a:spcPct val="118000"/>
              </a:lnSpc>
              <a:spcBef>
                <a:spcPts val="600"/>
              </a:spcBef>
              <a:spcAft>
                <a:spcPts val="200"/>
              </a:spcAft>
            </a:pPr>
            <a:r>
              <a:rPr sz="1900" b="1" i="0">
                <a:solidFill>
                  <a:srgbClr val="083F80"/>
                </a:solidFill>
                <a:latin typeface="Segoe UI"/>
                <a:ea typeface="맑은 고딕"/>
                <a:cs typeface="맑은 고딕"/>
              </a:rPr>
              <a:t>▪  (a) 와의 차이: contraction 축 e 를 쪼개지 않으므로 슬라이스 간 리덕션이 필요 없다</a:t>
            </a:r>
          </a:p>
          <a:p>
            <a:pPr algn="l">
              <a:lnSpc>
                <a:spcPct val="118000"/>
              </a:lnSpc>
              <a:spcBef>
                <a:spcPts val="600"/>
              </a:spcBef>
              <a:spcAft>
                <a:spcPts val="200"/>
              </a:spcAft>
            </a:pPr>
            <a:r>
              <a:rPr sz="1900" b="1" i="0">
                <a:solidFill>
                  <a:srgbClr val="083F80"/>
                </a:solidFill>
                <a:latin typeface="Segoe UI"/>
                <a:ea typeface="맑은 고딕"/>
                <a:cs typeface="맑은 고딕"/>
              </a:rPr>
              <a:t>▪  (b) 와의 차이: 출력 축 f 를 슬라이스에 걸어 출력 방향 병렬성을 얻는다</a:t>
            </a:r>
          </a:p>
          <a:p>
            <a:pPr algn="l">
              <a:lnSpc>
                <a:spcPct val="118000"/>
              </a:lnSpc>
              <a:spcBef>
                <a:spcPts val="600"/>
              </a:spcBef>
              <a:spcAft>
                <a:spcPts val="200"/>
              </a:spcAft>
            </a:pPr>
            <a:r>
              <a:rPr sz="1900" b="0" i="0">
                <a:solidFill>
                  <a:srgbClr val="16202C"/>
                </a:solidFill>
                <a:latin typeface="Segoe UI"/>
                <a:ea typeface="맑은 고딕"/>
                <a:cs typeface="맑은 고딕"/>
              </a:rPr>
              <a:t>▪  근거 하드웨어: IV-B 절의 fetch network 는 circuit-switched(회선 교환) 방식으로 multicast 를 지원하고, 소프트웨어가 정한 고정 토폴로지를 유지한다</a:t>
            </a:r>
          </a:p>
          <a:p>
            <a:pPr algn="l">
              <a:lnSpc>
                <a:spcPct val="118000"/>
              </a:lnSpc>
              <a:spcBef>
                <a:spcPts val="200"/>
              </a:spcBef>
              <a:spcAft>
                <a:spcPts val="100"/>
              </a:spcAft>
            </a:pPr>
            <a:r>
              <a:rPr sz="1780" b="0" i="0">
                <a:solidFill>
                  <a:srgbClr val="2C3A4B"/>
                </a:solidFill>
                <a:latin typeface="Segoe UI"/>
                <a:ea typeface="맑은 고딕"/>
                <a:cs typeface="맑은 고딕"/>
              </a:rPr>
              <a:t>–  circuit-switched 이고 소스와 목적지 사이 중재 순서가 컴파일러에 의해 엄격히 정해지므로 network congestion(네트워크 혼잡)이 없다</a:t>
            </a:r>
          </a:p>
          <a:p>
            <a:pPr algn="l">
              <a:lnSpc>
                <a:spcPct val="118000"/>
              </a:lnSpc>
              <a:spcBef>
                <a:spcPts val="600"/>
              </a:spcBef>
              <a:spcAft>
                <a:spcPts val="200"/>
              </a:spcAft>
            </a:pPr>
            <a:r>
              <a:rPr sz="1900" b="0" i="0">
                <a:solidFill>
                  <a:srgbClr val="16202C"/>
                </a:solidFill>
                <a:latin typeface="Segoe UI"/>
                <a:ea typeface="맑은 고딕"/>
                <a:cs typeface="맑은 고딕"/>
              </a:rPr>
              <a:t>▪  결과적으로 SRAM 읽기 횟수를 줄이면서 두 슬라이스의 연산기를 동시에 채운다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한 번 읽은 데이터를 여러 슬라이스가 나눠 쓰는, 데이터 재사용 중심의 tactic 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B. 정렬 페널티는 어느 자리에만 걸리는가</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공간에 펼친 축 vs 시간에 흐르는 축, 그리고 컴파일러의 회피 전략</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168</a:t>
            </a:r>
          </a:p>
        </p:txBody>
      </p:sp>
      <p:grpSp>
        <p:nvGrpSpPr>
          <p:cNvPr id="9" name="도해 A6#14"/>
          <p:cNvGrpSpPr/>
          <p:nvPr/>
        </p:nvGrpSpPr>
        <p:grpSpPr>
          <a:xfrm>
            <a:off x="1310176" y="1463040"/>
            <a:ext cx="9571343" cy="4078224"/>
            <a:chOff x="1310176" y="1463040"/>
            <a:chExt cx="9571343" cy="4078224"/>
          </a:xfrm>
        </p:grpSpPr>
        <p:sp>
          <p:nvSpPr>
            <p:cNvPr id="10" name="Rounded Rectangle 9"/>
            <p:cNvSpPr/>
            <p:nvPr/>
          </p:nvSpPr>
          <p:spPr>
            <a:xfrm>
              <a:off x="1310176" y="1463040"/>
              <a:ext cx="4681635" cy="2247185"/>
            </a:xfrm>
            <a:prstGeom prst="roundRect">
              <a:avLst>
                <a:gd name="adj" fmla="val 4629"/>
              </a:avLst>
            </a:prstGeom>
            <a:solidFill>
              <a:srgbClr val="FDF7F0"/>
            </a:solidFill>
            <a:ln w="2080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54472" y="1585387"/>
              <a:ext cx="2393044" cy="210902"/>
            </a:xfrm>
            <a:prstGeom prst="rect">
              <a:avLst/>
            </a:prstGeom>
            <a:noFill/>
          </p:spPr>
          <p:txBody>
            <a:bodyPr wrap="none" anchor="ctr" lIns="0" rIns="0" tIns="0" bIns="0">
              <a:noAutofit/>
            </a:bodyPr>
            <a:lstStyle/>
            <a:p>
              <a:pPr algn="ctr"/>
              <a:r>
                <a:rPr sz="1150" b="1">
                  <a:solidFill>
                    <a:srgbClr val="B45409"/>
                  </a:solidFill>
                  <a:latin typeface="맑은 고딕"/>
                  <a:ea typeface="맑은 고딕"/>
                  <a:cs typeface="맑은 고딕"/>
                </a:rPr>
                <a:t>슬라이스 안 마지막 차원 — 페널티 있다</a:t>
              </a:r>
            </a:p>
          </p:txBody>
        </p:sp>
        <p:sp>
          <p:nvSpPr>
            <p:cNvPr id="12" name="TextBox 11"/>
            <p:cNvSpPr txBox="1"/>
            <p:nvPr/>
          </p:nvSpPr>
          <p:spPr>
            <a:xfrm>
              <a:off x="2631438" y="1841732"/>
              <a:ext cx="2039112" cy="150645"/>
            </a:xfrm>
            <a:prstGeom prst="rect">
              <a:avLst/>
            </a:prstGeom>
            <a:noFill/>
          </p:spPr>
          <p:txBody>
            <a:bodyPr wrap="none" anchor="ctr" lIns="0" rIns="0" tIns="0" bIns="0">
              <a:noAutofit/>
            </a:bodyPr>
            <a:lstStyle/>
            <a:p>
              <a:pPr algn="ctr"/>
              <a:r>
                <a:rPr sz="819" b="0">
                  <a:solidFill>
                    <a:srgbClr val="5B6B7B"/>
                  </a:solidFill>
                  <a:latin typeface="맑은 고딕"/>
                  <a:ea typeface="맑은 고딕"/>
                  <a:cs typeface="맑은 고딕"/>
                </a:rPr>
                <a:t>dot-product engine 의 width 와 맞아야 한다</a:t>
              </a:r>
            </a:p>
          </p:txBody>
        </p:sp>
        <p:sp>
          <p:nvSpPr>
            <p:cNvPr id="13" name="TextBox 12"/>
            <p:cNvSpPr txBox="1"/>
            <p:nvPr/>
          </p:nvSpPr>
          <p:spPr>
            <a:xfrm>
              <a:off x="1518249" y="2100158"/>
              <a:ext cx="1307248" cy="165709"/>
            </a:xfrm>
            <a:prstGeom prst="rect">
              <a:avLst/>
            </a:prstGeom>
            <a:noFill/>
          </p:spPr>
          <p:txBody>
            <a:bodyPr wrap="none" anchor="ctr" lIns="0" rIns="0" tIns="0" bIns="0">
              <a:noAutofit/>
            </a:bodyPr>
            <a:lstStyle/>
            <a:p>
              <a:pPr algn="l"/>
              <a:r>
                <a:rPr sz="900" b="1">
                  <a:solidFill>
                    <a:srgbClr val="16202C"/>
                  </a:solidFill>
                  <a:latin typeface="맑은 고딕"/>
                  <a:ea typeface="맑은 고딕"/>
                  <a:cs typeface="맑은 고딕"/>
                </a:rPr>
                <a:t>① 마지막 차원 = W  (정렬)</a:t>
              </a:r>
            </a:p>
          </p:txBody>
        </p:sp>
        <p:sp>
          <p:nvSpPr>
            <p:cNvPr id="14" name="Rounded Rectangle 13"/>
            <p:cNvSpPr/>
            <p:nvPr/>
          </p:nvSpPr>
          <p:spPr>
            <a:xfrm>
              <a:off x="1518249"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017624"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16998"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016372"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15747"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015121"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14495"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13870" y="2316138"/>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18249" y="2688796"/>
              <a:ext cx="2021233" cy="158177"/>
            </a:xfrm>
            <a:prstGeom prst="rect">
              <a:avLst/>
            </a:prstGeom>
            <a:noFill/>
          </p:spPr>
          <p:txBody>
            <a:bodyPr wrap="none" anchor="ctr" lIns="0" rIns="0" tIns="0" bIns="0">
              <a:noAutofit/>
            </a:bodyPr>
            <a:lstStyle/>
            <a:p>
              <a:pPr algn="l"/>
              <a:r>
                <a:rPr sz="860" b="0">
                  <a:solidFill>
                    <a:srgbClr val="1A7F37"/>
                  </a:solidFill>
                  <a:latin typeface="맑은 고딕"/>
                  <a:ea typeface="맑은 고딕"/>
                  <a:cs typeface="맑은 고딕"/>
                </a:rPr>
                <a:t>→ DPE 레인을 모두 쓴다 · 활용률 손실 없음</a:t>
              </a:r>
            </a:p>
          </p:txBody>
        </p:sp>
        <p:sp>
          <p:nvSpPr>
            <p:cNvPr id="23" name="TextBox 22"/>
            <p:cNvSpPr txBox="1"/>
            <p:nvPr/>
          </p:nvSpPr>
          <p:spPr>
            <a:xfrm>
              <a:off x="1518249" y="2974064"/>
              <a:ext cx="1412532" cy="165709"/>
            </a:xfrm>
            <a:prstGeom prst="rect">
              <a:avLst/>
            </a:prstGeom>
            <a:noFill/>
          </p:spPr>
          <p:txBody>
            <a:bodyPr wrap="none" anchor="ctr" lIns="0" rIns="0" tIns="0" bIns="0">
              <a:noAutofit/>
            </a:bodyPr>
            <a:lstStyle/>
            <a:p>
              <a:pPr algn="l"/>
              <a:r>
                <a:rPr sz="900" b="1">
                  <a:solidFill>
                    <a:srgbClr val="16202C"/>
                  </a:solidFill>
                  <a:latin typeface="맑은 고딕"/>
                  <a:ea typeface="맑은 고딕"/>
                  <a:cs typeface="맑은 고딕"/>
                </a:rPr>
                <a:t>② 마지막 차원 &lt; W  (비정렬)</a:t>
              </a:r>
            </a:p>
          </p:txBody>
        </p:sp>
        <p:sp>
          <p:nvSpPr>
            <p:cNvPr id="24" name="Rounded Rectangle 23"/>
            <p:cNvSpPr/>
            <p:nvPr/>
          </p:nvSpPr>
          <p:spPr>
            <a:xfrm>
              <a:off x="1518249" y="3190043"/>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017624" y="3190043"/>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516998" y="3190043"/>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016372" y="3190043"/>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515747" y="3190043"/>
              <a:ext cx="457760" cy="270494"/>
            </a:xfrm>
            <a:prstGeom prst="roundRect">
              <a:avLst>
                <a:gd name="adj" fmla="val 11538"/>
              </a:avLst>
            </a:prstGeom>
            <a:solidFill>
              <a:srgbClr val="0B5FC0"/>
            </a:solidFill>
            <a:ln w="10403">
              <a:solidFill>
                <a:srgbClr val="083F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015121" y="3190043"/>
              <a:ext cx="457760" cy="270494"/>
            </a:xfrm>
            <a:prstGeom prst="roundRect">
              <a:avLst>
                <a:gd name="adj" fmla="val 11538"/>
              </a:avLst>
            </a:prstGeom>
            <a:solidFill>
              <a:srgbClr val="FDE8E8"/>
            </a:solidFill>
            <a:ln w="12484">
              <a:solidFill>
                <a:srgbClr val="B422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514495" y="3190043"/>
              <a:ext cx="457760" cy="270494"/>
            </a:xfrm>
            <a:prstGeom prst="roundRect">
              <a:avLst>
                <a:gd name="adj" fmla="val 11538"/>
              </a:avLst>
            </a:prstGeom>
            <a:solidFill>
              <a:srgbClr val="FDE8E8"/>
            </a:solidFill>
            <a:ln w="12484">
              <a:solidFill>
                <a:srgbClr val="B422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013870" y="3190043"/>
              <a:ext cx="457760" cy="270494"/>
            </a:xfrm>
            <a:prstGeom prst="roundRect">
              <a:avLst>
                <a:gd name="adj" fmla="val 11538"/>
              </a:avLst>
            </a:prstGeom>
            <a:solidFill>
              <a:srgbClr val="FDE8E8"/>
            </a:solidFill>
            <a:ln w="12484">
              <a:solidFill>
                <a:srgbClr val="B422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28935" y="3256626"/>
              <a:ext cx="228880" cy="150645"/>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낭비</a:t>
              </a:r>
            </a:p>
          </p:txBody>
        </p:sp>
        <p:sp>
          <p:nvSpPr>
            <p:cNvPr id="33" name="TextBox 32"/>
            <p:cNvSpPr txBox="1"/>
            <p:nvPr/>
          </p:nvSpPr>
          <p:spPr>
            <a:xfrm>
              <a:off x="1518249" y="3500279"/>
              <a:ext cx="1653429" cy="158177"/>
            </a:xfrm>
            <a:prstGeom prst="rect">
              <a:avLst/>
            </a:prstGeom>
            <a:noFill/>
          </p:spPr>
          <p:txBody>
            <a:bodyPr wrap="none" anchor="ctr" lIns="0" rIns="0" tIns="0" bIns="0">
              <a:noAutofit/>
            </a:bodyPr>
            <a:lstStyle/>
            <a:p>
              <a:pPr algn="l"/>
              <a:r>
                <a:rPr sz="860" b="0">
                  <a:solidFill>
                    <a:srgbClr val="B4222A"/>
                  </a:solidFill>
                  <a:latin typeface="맑은 고딕"/>
                  <a:ea typeface="맑은 고딕"/>
                  <a:cs typeface="맑은 고딕"/>
                </a:rPr>
                <a:t>→ 남는 레인만큼 활용률이 떨어진다</a:t>
              </a:r>
            </a:p>
          </p:txBody>
        </p:sp>
        <p:sp>
          <p:nvSpPr>
            <p:cNvPr id="34" name="Rounded Rectangle 33"/>
            <p:cNvSpPr/>
            <p:nvPr/>
          </p:nvSpPr>
          <p:spPr>
            <a:xfrm>
              <a:off x="6199884" y="1463040"/>
              <a:ext cx="4681635" cy="2247185"/>
            </a:xfrm>
            <a:prstGeom prst="roundRect">
              <a:avLst>
                <a:gd name="adj" fmla="val 4629"/>
              </a:avLst>
            </a:prstGeom>
            <a:solidFill>
              <a:srgbClr val="F3FAF5"/>
            </a:solidFill>
            <a:ln w="2080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4710" y="1585387"/>
              <a:ext cx="2091983" cy="210902"/>
            </a:xfrm>
            <a:prstGeom prst="rect">
              <a:avLst/>
            </a:prstGeom>
            <a:noFill/>
          </p:spPr>
          <p:txBody>
            <a:bodyPr wrap="none" anchor="ctr" lIns="0" rIns="0" tIns="0" bIns="0">
              <a:noAutofit/>
            </a:bodyPr>
            <a:lstStyle/>
            <a:p>
              <a:pPr algn="ctr"/>
              <a:r>
                <a:rPr sz="1150" b="1">
                  <a:solidFill>
                    <a:srgbClr val="1A7F37"/>
                  </a:solidFill>
                  <a:latin typeface="맑은 고딕"/>
                  <a:ea typeface="맑은 고딕"/>
                  <a:cs typeface="맑은 고딕"/>
                </a:rPr>
                <a:t>시간축으로 도는 축 — 페널티 없다</a:t>
              </a:r>
            </a:p>
          </p:txBody>
        </p:sp>
        <p:sp>
          <p:nvSpPr>
            <p:cNvPr id="36" name="TextBox 35"/>
            <p:cNvSpPr txBox="1"/>
            <p:nvPr/>
          </p:nvSpPr>
          <p:spPr>
            <a:xfrm>
              <a:off x="7650150" y="1841732"/>
              <a:ext cx="1781102" cy="150645"/>
            </a:xfrm>
            <a:prstGeom prst="rect">
              <a:avLst/>
            </a:prstGeom>
            <a:noFill/>
          </p:spPr>
          <p:txBody>
            <a:bodyPr wrap="none" anchor="ctr" lIns="0" rIns="0" tIns="0" bIns="0">
              <a:noAutofit/>
            </a:bodyPr>
            <a:lstStyle/>
            <a:p>
              <a:pPr algn="ctr"/>
              <a:r>
                <a:rPr sz="819" b="0">
                  <a:solidFill>
                    <a:srgbClr val="5B6B7B"/>
                  </a:solidFill>
                  <a:latin typeface="맑은 고딕"/>
                  <a:ea typeface="맑은 고딕"/>
                  <a:cs typeface="맑은 고딕"/>
                </a:rPr>
                <a:t>정렬 여부가 활용률에 영향을 주지 않는다</a:t>
              </a:r>
            </a:p>
          </p:txBody>
        </p:sp>
        <p:sp>
          <p:nvSpPr>
            <p:cNvPr id="37" name="Rounded Rectangle 36"/>
            <p:cNvSpPr/>
            <p:nvPr/>
          </p:nvSpPr>
          <p:spPr>
            <a:xfrm>
              <a:off x="6428764" y="2170487"/>
              <a:ext cx="998749" cy="499374"/>
            </a:xfrm>
            <a:prstGeom prst="roundRect">
              <a:avLst>
                <a:gd name="adj" fmla="val 12500"/>
              </a:avLst>
            </a:prstGeom>
            <a:solidFill>
              <a:srgbClr val="E2F4E8"/>
            </a:solidFill>
            <a:ln w="1664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510742" y="2170487"/>
              <a:ext cx="998749" cy="499374"/>
            </a:xfrm>
            <a:prstGeom prst="roundRect">
              <a:avLst>
                <a:gd name="adj" fmla="val 12500"/>
              </a:avLst>
            </a:prstGeom>
            <a:solidFill>
              <a:srgbClr val="E2F4E8"/>
            </a:solidFill>
            <a:ln w="1664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92719" y="2170487"/>
              <a:ext cx="998749" cy="499374"/>
            </a:xfrm>
            <a:prstGeom prst="roundRect">
              <a:avLst>
                <a:gd name="adj" fmla="val 12500"/>
              </a:avLst>
            </a:prstGeom>
            <a:solidFill>
              <a:srgbClr val="E2F4E8"/>
            </a:solidFill>
            <a:ln w="1664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674697" y="2170487"/>
              <a:ext cx="582603" cy="499374"/>
            </a:xfrm>
            <a:prstGeom prst="roundRect">
              <a:avLst>
                <a:gd name="adj" fmla="val 12500"/>
              </a:avLst>
            </a:prstGeom>
            <a:solidFill>
              <a:srgbClr val="E2F4E8"/>
            </a:solidFill>
            <a:ln w="1664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42558" y="2337777"/>
              <a:ext cx="171161" cy="180774"/>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t0</a:t>
              </a:r>
            </a:p>
          </p:txBody>
        </p:sp>
        <p:sp>
          <p:nvSpPr>
            <p:cNvPr id="42" name="TextBox 41"/>
            <p:cNvSpPr txBox="1"/>
            <p:nvPr/>
          </p:nvSpPr>
          <p:spPr>
            <a:xfrm>
              <a:off x="7924536" y="2337777"/>
              <a:ext cx="171161" cy="180774"/>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t1</a:t>
              </a:r>
            </a:p>
          </p:txBody>
        </p:sp>
        <p:sp>
          <p:nvSpPr>
            <p:cNvPr id="43" name="TextBox 42"/>
            <p:cNvSpPr txBox="1"/>
            <p:nvPr/>
          </p:nvSpPr>
          <p:spPr>
            <a:xfrm>
              <a:off x="9006513" y="2337777"/>
              <a:ext cx="171161" cy="180774"/>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t2</a:t>
              </a:r>
            </a:p>
          </p:txBody>
        </p:sp>
        <p:sp>
          <p:nvSpPr>
            <p:cNvPr id="44" name="TextBox 43"/>
            <p:cNvSpPr txBox="1"/>
            <p:nvPr/>
          </p:nvSpPr>
          <p:spPr>
            <a:xfrm>
              <a:off x="9880419" y="2337777"/>
              <a:ext cx="171161" cy="180774"/>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t3</a:t>
              </a:r>
            </a:p>
          </p:txBody>
        </p:sp>
        <p:sp>
          <p:nvSpPr>
            <p:cNvPr id="45" name="TextBox 44"/>
            <p:cNvSpPr txBox="1"/>
            <p:nvPr/>
          </p:nvSpPr>
          <p:spPr>
            <a:xfrm>
              <a:off x="9863003" y="2540440"/>
              <a:ext cx="205992" cy="135580"/>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짧다</a:t>
              </a:r>
            </a:p>
          </p:txBody>
        </p:sp>
        <p:cxnSp>
          <p:nvCxnSpPr>
            <p:cNvPr id="46" name="Connector 45"/>
            <p:cNvCxnSpPr/>
            <p:nvPr/>
          </p:nvCxnSpPr>
          <p:spPr>
            <a:xfrm>
              <a:off x="6428764" y="2857127"/>
              <a:ext cx="3890958" cy="0"/>
            </a:xfrm>
            <a:prstGeom prst="line">
              <a:avLst/>
            </a:prstGeom>
            <a:ln w="14565">
              <a:solidFill>
                <a:srgbClr val="5B6B7B"/>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10298915" y="2805109"/>
              <a:ext cx="145651" cy="104036"/>
            </a:xfrm>
            <a:custGeom>
              <a:avLst/>
              <a:gdLst/>
              <a:ahLst/>
              <a:cxnLst/>
              <a:rect l="l" t="t" r="r" b="b"/>
              <a:pathLst>
                <a:path w="145651" h="104036">
                  <a:moveTo>
                    <a:pt x="0" y="0"/>
                  </a:moveTo>
                  <a:lnTo>
                    <a:pt x="145651" y="52018"/>
                  </a:lnTo>
                  <a:lnTo>
                    <a:pt x="0" y="104036"/>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28764" y="2944517"/>
              <a:ext cx="835100" cy="150645"/>
            </a:xfrm>
            <a:prstGeom prst="rect">
              <a:avLst/>
            </a:prstGeom>
            <a:noFill/>
          </p:spPr>
          <p:txBody>
            <a:bodyPr wrap="none" anchor="ctr" lIns="0" rIns="0" tIns="0" bIns="0">
              <a:noAutofit/>
            </a:bodyPr>
            <a:lstStyle/>
            <a:p>
              <a:pPr algn="l"/>
              <a:r>
                <a:rPr sz="819" b="0">
                  <a:solidFill>
                    <a:srgbClr val="5B6B7B"/>
                  </a:solidFill>
                  <a:latin typeface="맑은 고딕"/>
                  <a:ea typeface="맑은 고딕"/>
                  <a:cs typeface="맑은 고딕"/>
                </a:rPr>
                <a:t>루프 반복 = 시간축</a:t>
              </a:r>
            </a:p>
          </p:txBody>
        </p:sp>
        <p:sp>
          <p:nvSpPr>
            <p:cNvPr id="49" name="TextBox 48"/>
            <p:cNvSpPr txBox="1"/>
            <p:nvPr/>
          </p:nvSpPr>
          <p:spPr>
            <a:xfrm>
              <a:off x="6428764" y="3208978"/>
              <a:ext cx="2228240" cy="158177"/>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마지막 반복이 짧아도 DPE 레인은 그대로 다 쓴다</a:t>
              </a:r>
            </a:p>
          </p:txBody>
        </p:sp>
        <p:sp>
          <p:nvSpPr>
            <p:cNvPr id="50" name="TextBox 49"/>
            <p:cNvSpPr txBox="1"/>
            <p:nvPr/>
          </p:nvSpPr>
          <p:spPr>
            <a:xfrm>
              <a:off x="6428764" y="3473438"/>
              <a:ext cx="1996062" cy="165709"/>
            </a:xfrm>
            <a:prstGeom prst="rect">
              <a:avLst/>
            </a:prstGeom>
            <a:noFill/>
          </p:spPr>
          <p:txBody>
            <a:bodyPr wrap="none" anchor="ctr" lIns="0" rIns="0" tIns="0" bIns="0">
              <a:noAutofit/>
            </a:bodyPr>
            <a:lstStyle/>
            <a:p>
              <a:pPr algn="l"/>
              <a:r>
                <a:rPr sz="900" b="1">
                  <a:solidFill>
                    <a:srgbClr val="1A7F37"/>
                  </a:solidFill>
                  <a:latin typeface="맑은 고딕"/>
                  <a:ea typeface="맑은 고딕"/>
                  <a:cs typeface="맑은 고딕"/>
                </a:rPr>
                <a:t>→ 공간에 펼친 축만 정렬 페널티를 받는다</a:t>
              </a:r>
            </a:p>
          </p:txBody>
        </p:sp>
        <p:sp>
          <p:nvSpPr>
            <p:cNvPr id="51" name="Rounded Rectangle 50"/>
            <p:cNvSpPr/>
            <p:nvPr/>
          </p:nvSpPr>
          <p:spPr>
            <a:xfrm>
              <a:off x="1310176" y="3897490"/>
              <a:ext cx="9571342" cy="1643774"/>
            </a:xfrm>
            <a:prstGeom prst="roundRect">
              <a:avLst>
                <a:gd name="adj" fmla="val 6329"/>
              </a:avLst>
            </a:prstGeom>
            <a:solidFill>
              <a:srgbClr val="F4F8FD"/>
            </a:solidFill>
            <a:ln w="208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37769" y="4019837"/>
              <a:ext cx="3516157" cy="210902"/>
            </a:xfrm>
            <a:prstGeom prst="rect">
              <a:avLst/>
            </a:prstGeom>
            <a:noFill/>
          </p:spPr>
          <p:txBody>
            <a:bodyPr wrap="none" anchor="ctr" lIns="0" rIns="0" tIns="0" bIns="0">
              <a:noAutofit/>
            </a:bodyPr>
            <a:lstStyle/>
            <a:p>
              <a:pPr algn="ctr"/>
              <a:r>
                <a:rPr sz="1150" b="1">
                  <a:solidFill>
                    <a:srgbClr val="083F80"/>
                  </a:solidFill>
                  <a:latin typeface="맑은 고딕"/>
                  <a:ea typeface="맑은 고딕"/>
                  <a:cs typeface="맑은 고딕"/>
                </a:rPr>
                <a:t>분할 축이 2의 거듭제곱이 아닐 때 — 컴파일러의 회피 전략</a:t>
              </a:r>
            </a:p>
          </p:txBody>
        </p:sp>
        <p:sp>
          <p:nvSpPr>
            <p:cNvPr id="53" name="Rounded Rectangle 52"/>
            <p:cNvSpPr/>
            <p:nvPr/>
          </p:nvSpPr>
          <p:spPr>
            <a:xfrm>
              <a:off x="1559864" y="4355250"/>
              <a:ext cx="2621715" cy="1019556"/>
            </a:xfrm>
            <a:prstGeom prst="roundRect">
              <a:avLst>
                <a:gd name="adj" fmla="val 8163"/>
              </a:avLst>
            </a:prstGeom>
            <a:solidFill>
              <a:srgbClr val="FDE8E8"/>
            </a:solidFill>
            <a:ln w="18726">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33393" y="4480926"/>
              <a:ext cx="274656" cy="180774"/>
            </a:xfrm>
            <a:prstGeom prst="rect">
              <a:avLst/>
            </a:prstGeom>
            <a:noFill/>
          </p:spPr>
          <p:txBody>
            <a:bodyPr wrap="none" anchor="ctr" lIns="0" rIns="0" tIns="0" bIns="0">
              <a:noAutofit/>
            </a:bodyPr>
            <a:lstStyle/>
            <a:p>
              <a:pPr algn="ctr"/>
              <a:r>
                <a:rPr sz="980" b="1">
                  <a:solidFill>
                    <a:srgbClr val="B4222A"/>
                  </a:solidFill>
                  <a:latin typeface="맑은 고딕"/>
                  <a:ea typeface="맑은 고딕"/>
                  <a:cs typeface="맑은 고딕"/>
                </a:rPr>
                <a:t>문제</a:t>
              </a:r>
            </a:p>
          </p:txBody>
        </p:sp>
        <p:sp>
          <p:nvSpPr>
            <p:cNvPr id="55" name="TextBox 54"/>
            <p:cNvSpPr txBox="1"/>
            <p:nvPr/>
          </p:nvSpPr>
          <p:spPr>
            <a:xfrm>
              <a:off x="2261609" y="4748715"/>
              <a:ext cx="1218224"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슬라이스에 나눌 축 크기가</a:t>
              </a:r>
            </a:p>
          </p:txBody>
        </p:sp>
        <p:sp>
          <p:nvSpPr>
            <p:cNvPr id="56" name="TextBox 55"/>
            <p:cNvSpPr txBox="1"/>
            <p:nvPr/>
          </p:nvSpPr>
          <p:spPr>
            <a:xfrm>
              <a:off x="2344030" y="4935981"/>
              <a:ext cx="1053383"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2의 거듭제곱이 아니다</a:t>
              </a:r>
            </a:p>
          </p:txBody>
        </p:sp>
        <p:sp>
          <p:nvSpPr>
            <p:cNvPr id="57" name="TextBox 56"/>
            <p:cNvSpPr txBox="1"/>
            <p:nvPr/>
          </p:nvSpPr>
          <p:spPr>
            <a:xfrm>
              <a:off x="2410548" y="5156122"/>
              <a:ext cx="920347" cy="143112"/>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성능이 나빠질 수 있다</a:t>
              </a:r>
            </a:p>
          </p:txBody>
        </p:sp>
        <p:cxnSp>
          <p:nvCxnSpPr>
            <p:cNvPr id="58" name="Connector 57"/>
            <p:cNvCxnSpPr/>
            <p:nvPr/>
          </p:nvCxnSpPr>
          <p:spPr>
            <a:xfrm>
              <a:off x="4181579" y="4865028"/>
              <a:ext cx="208073" cy="0"/>
            </a:xfrm>
            <a:prstGeom prst="line">
              <a:avLst/>
            </a:prstGeom>
            <a:ln w="22887">
              <a:solidFill>
                <a:srgbClr val="0B5FC0"/>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4368844" y="4802606"/>
              <a:ext cx="145651" cy="124844"/>
            </a:xfrm>
            <a:custGeom>
              <a:avLst/>
              <a:gdLst/>
              <a:ahLst/>
              <a:cxnLst/>
              <a:rect l="l" t="t" r="r" b="b"/>
              <a:pathLst>
                <a:path w="145651" h="124844">
                  <a:moveTo>
                    <a:pt x="0" y="0"/>
                  </a:moveTo>
                  <a:lnTo>
                    <a:pt x="145651" y="62422"/>
                  </a:lnTo>
                  <a:lnTo>
                    <a:pt x="0" y="124844"/>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597724" y="4355250"/>
              <a:ext cx="2621715" cy="1019556"/>
            </a:xfrm>
            <a:prstGeom prst="roundRect">
              <a:avLst>
                <a:gd name="adj" fmla="val 8163"/>
              </a:avLst>
            </a:prstGeom>
            <a:solidFill>
              <a:srgbClr val="E3EEFB"/>
            </a:solidFill>
            <a:ln w="1872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71254" y="4480926"/>
              <a:ext cx="274656" cy="180774"/>
            </a:xfrm>
            <a:prstGeom prst="rect">
              <a:avLst/>
            </a:prstGeom>
            <a:noFill/>
          </p:spPr>
          <p:txBody>
            <a:bodyPr wrap="none" anchor="ctr" lIns="0" rIns="0" tIns="0" bIns="0">
              <a:noAutofit/>
            </a:bodyPr>
            <a:lstStyle/>
            <a:p>
              <a:pPr algn="ctr"/>
              <a:r>
                <a:rPr sz="980" b="1">
                  <a:solidFill>
                    <a:srgbClr val="083F80"/>
                  </a:solidFill>
                  <a:latin typeface="맑은 고딕"/>
                  <a:ea typeface="맑은 고딕"/>
                  <a:cs typeface="맑은 고딕"/>
                </a:rPr>
                <a:t>판단</a:t>
              </a:r>
            </a:p>
          </p:txBody>
        </p:sp>
        <p:sp>
          <p:nvSpPr>
            <p:cNvPr id="62" name="TextBox 61"/>
            <p:cNvSpPr txBox="1"/>
            <p:nvPr/>
          </p:nvSpPr>
          <p:spPr>
            <a:xfrm>
              <a:off x="5303676" y="4748715"/>
              <a:ext cx="1209812"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performance estimator</a:t>
              </a:r>
            </a:p>
          </p:txBody>
        </p:sp>
        <p:sp>
          <p:nvSpPr>
            <p:cNvPr id="63" name="TextBox 62"/>
            <p:cNvSpPr txBox="1"/>
            <p:nvPr/>
          </p:nvSpPr>
          <p:spPr>
            <a:xfrm>
              <a:off x="5375281" y="4935981"/>
              <a:ext cx="1066601"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(성능 추정기)로 견준다</a:t>
              </a:r>
            </a:p>
          </p:txBody>
        </p:sp>
        <p:sp>
          <p:nvSpPr>
            <p:cNvPr id="64" name="TextBox 63"/>
            <p:cNvSpPr txBox="1"/>
            <p:nvPr/>
          </p:nvSpPr>
          <p:spPr>
            <a:xfrm>
              <a:off x="5266553" y="5156122"/>
              <a:ext cx="1284058" cy="143112"/>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논문이 밝힌 근거는 이것뿐이다</a:t>
              </a:r>
            </a:p>
          </p:txBody>
        </p:sp>
        <p:cxnSp>
          <p:nvCxnSpPr>
            <p:cNvPr id="65" name="Connector 64"/>
            <p:cNvCxnSpPr/>
            <p:nvPr/>
          </p:nvCxnSpPr>
          <p:spPr>
            <a:xfrm>
              <a:off x="7219440" y="4865028"/>
              <a:ext cx="208072" cy="0"/>
            </a:xfrm>
            <a:prstGeom prst="line">
              <a:avLst/>
            </a:prstGeom>
            <a:ln w="22887">
              <a:solidFill>
                <a:srgbClr val="0B5FC0"/>
              </a:solidFill>
            </a:ln>
          </p:spPr>
          <p:style>
            <a:lnRef idx="2">
              <a:schemeClr val="accent1"/>
            </a:lnRef>
            <a:fillRef idx="0">
              <a:schemeClr val="accent1"/>
            </a:fillRef>
            <a:effectRef idx="1">
              <a:schemeClr val="accent1"/>
            </a:effectRef>
            <a:fontRef idx="minor">
              <a:schemeClr val="tx1"/>
            </a:fontRef>
          </p:style>
        </p:cxnSp>
        <p:sp>
          <p:nvSpPr>
            <p:cNvPr id="66" name="Freeform 65"/>
            <p:cNvSpPr/>
            <p:nvPr/>
          </p:nvSpPr>
          <p:spPr>
            <a:xfrm>
              <a:off x="7406705" y="4802606"/>
              <a:ext cx="145651" cy="124844"/>
            </a:xfrm>
            <a:custGeom>
              <a:avLst/>
              <a:gdLst/>
              <a:ahLst/>
              <a:cxnLst/>
              <a:rect l="l" t="t" r="r" b="b"/>
              <a:pathLst>
                <a:path w="145651" h="124844">
                  <a:moveTo>
                    <a:pt x="0" y="0"/>
                  </a:moveTo>
                  <a:lnTo>
                    <a:pt x="145651" y="62422"/>
                  </a:lnTo>
                  <a:lnTo>
                    <a:pt x="0" y="124844"/>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635585" y="4355250"/>
              <a:ext cx="2996246" cy="1019556"/>
            </a:xfrm>
            <a:prstGeom prst="roundRect">
              <a:avLst>
                <a:gd name="adj" fmla="val 8163"/>
              </a:avLst>
            </a:prstGeom>
            <a:solidFill>
              <a:srgbClr val="E2F4E8"/>
            </a:solidFill>
            <a:ln w="1872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96380" y="4480926"/>
              <a:ext cx="274656" cy="180774"/>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회피</a:t>
              </a:r>
            </a:p>
          </p:txBody>
        </p:sp>
        <p:sp>
          <p:nvSpPr>
            <p:cNvPr id="69" name="TextBox 68"/>
            <p:cNvSpPr txBox="1"/>
            <p:nvPr/>
          </p:nvSpPr>
          <p:spPr>
            <a:xfrm>
              <a:off x="8675345" y="4748715"/>
              <a:ext cx="916726"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그 축을 슬라이스 안</a:t>
              </a:r>
            </a:p>
          </p:txBody>
        </p:sp>
        <p:sp>
          <p:nvSpPr>
            <p:cNvPr id="70" name="TextBox 69"/>
            <p:cNvSpPr txBox="1"/>
            <p:nvPr/>
          </p:nvSpPr>
          <p:spPr>
            <a:xfrm>
              <a:off x="8443979" y="4935981"/>
              <a:ext cx="1379459" cy="158177"/>
            </a:xfrm>
            <a:prstGeom prst="rect">
              <a:avLst/>
            </a:prstGeom>
            <a:noFill/>
          </p:spPr>
          <p:txBody>
            <a:bodyPr wrap="none" anchor="ctr" lIns="0" rIns="0" tIns="0" bIns="0">
              <a:noAutofit/>
            </a:bodyPr>
            <a:lstStyle/>
            <a:p>
              <a:pPr algn="ctr"/>
              <a:r>
                <a:rPr sz="860" b="0">
                  <a:solidFill>
                    <a:srgbClr val="16202C"/>
                  </a:solidFill>
                  <a:latin typeface="맑은 고딕"/>
                  <a:ea typeface="맑은 고딕"/>
                  <a:cs typeface="맑은 고딕"/>
                </a:rPr>
                <a:t>'마지막이 아닌' 차원에 놓는다</a:t>
              </a:r>
            </a:p>
          </p:txBody>
        </p:sp>
        <p:sp>
          <p:nvSpPr>
            <p:cNvPr id="71" name="TextBox 70"/>
            <p:cNvSpPr txBox="1"/>
            <p:nvPr/>
          </p:nvSpPr>
          <p:spPr>
            <a:xfrm>
              <a:off x="8537143" y="5156122"/>
              <a:ext cx="1193130" cy="143112"/>
            </a:xfrm>
            <a:prstGeom prst="rect">
              <a:avLst/>
            </a:prstGeom>
            <a:noFill/>
          </p:spPr>
          <p:txBody>
            <a:bodyPr wrap="none" anchor="ctr" lIns="0" rIns="0" tIns="0" bIns="0">
              <a:noAutofit/>
            </a:bodyPr>
            <a:lstStyle/>
            <a:p>
              <a:pPr algn="ctr"/>
              <a:r>
                <a:rPr sz="780" b="0">
                  <a:solidFill>
                    <a:srgbClr val="5B6B7B"/>
                  </a:solidFill>
                  <a:latin typeface="맑은 고딕"/>
                  <a:ea typeface="맑은 고딕"/>
                  <a:cs typeface="맑은 고딕"/>
                </a:rPr>
                <a:t>페널티 자리에서 치워 버린다</a:t>
              </a:r>
            </a:p>
          </p:txBody>
        </p:sp>
      </p:grpSp>
      <p:sp>
        <p:nvSpPr>
          <p:cNvPr id="72" name="Rectangle 7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정렬 페널티는 슬라이스 내부 마지막 축에만 걸린다. 컴파일러는 문제 축을 그 자리에서 치워 버린다</a:t>
            </a:r>
          </a:p>
        </p:txBody>
      </p:sp>
      <p:sp>
        <p:nvSpPr>
          <p:cNvPr id="73" name="Rectangle 7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B. 정렬 페널티는 어느 자리에만 걸리는가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공간에 펼친 축 vs 시간에 흐르는 축, 그리고 컴파일러의 회피 전략</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컴파일러는 일부 차원이 unaligned 인 tactic 도 탐색 공간에 넣는다. 미리 배제하지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페널티가 슬라이스 안 마지막 차원에만 걸리는 이유는, 그 축만 dot-product engine 의 width 위로 공간적으로 펼쳐지기 때문이다</a:t>
            </a:r>
          </a:p>
          <a:p>
            <a:pPr algn="l">
              <a:lnSpc>
                <a:spcPct val="118000"/>
              </a:lnSpc>
              <a:spcBef>
                <a:spcPts val="600"/>
              </a:spcBef>
              <a:spcAft>
                <a:spcPts val="200"/>
              </a:spcAft>
            </a:pPr>
            <a:r>
              <a:rPr sz="1900" b="0" i="0">
                <a:solidFill>
                  <a:srgbClr val="16202C"/>
                </a:solidFill>
                <a:latin typeface="Segoe UI"/>
                <a:ea typeface="맑은 고딕"/>
                <a:cs typeface="맑은 고딕"/>
              </a:rPr>
              <a:t>▪  분할 축을 2의 거듭제곱으로 나누는 것은 슬라이스 설정의 편의 때문이다. 성능상의 이유가 아니다</a:t>
            </a:r>
          </a:p>
          <a:p>
            <a:pPr algn="l">
              <a:lnSpc>
                <a:spcPct val="118000"/>
              </a:lnSpc>
              <a:spcBef>
                <a:spcPts val="600"/>
              </a:spcBef>
              <a:spcAft>
                <a:spcPts val="200"/>
              </a:spcAft>
            </a:pPr>
            <a:r>
              <a:rPr sz="1900" b="0" i="0">
                <a:solidFill>
                  <a:srgbClr val="16202C"/>
                </a:solidFill>
                <a:latin typeface="Segoe UI"/>
                <a:ea typeface="맑은 고딕"/>
                <a:cs typeface="맑은 고딕"/>
              </a:rPr>
              <a:t>▪  그림의 레인 8칸과 반복 4회는 설명용 수다. 논문은 이 절에서 W 의 구체적 값을 밝히지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고정 크기 행렬 유닛이면 shape 이 안 맞을 때 패딩 외에 방법이 없다. TCP 는 축의 배치를 바꾸는 선택지를 하나 더 갖는다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C. 엔드투엔드 컴파일러 — 다섯 번 낮아진다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모델 그래프 → primitive → kernel → low-level operator → command → binary</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170</a:t>
            </a:r>
          </a:p>
        </p:txBody>
      </p:sp>
      <p:grpSp>
        <p:nvGrpSpPr>
          <p:cNvPr id="9" name="도해 A6#15"/>
          <p:cNvGrpSpPr/>
          <p:nvPr/>
        </p:nvGrpSpPr>
        <p:grpSpPr>
          <a:xfrm>
            <a:off x="566928" y="1818399"/>
            <a:ext cx="11057839" cy="3367506"/>
            <a:chOff x="566928" y="1818399"/>
            <a:chExt cx="11057839" cy="3367506"/>
          </a:xfrm>
        </p:grpSpPr>
        <p:sp>
          <p:nvSpPr>
            <p:cNvPr id="10" name="Rounded Rectangle 9"/>
            <p:cNvSpPr/>
            <p:nvPr/>
          </p:nvSpPr>
          <p:spPr>
            <a:xfrm>
              <a:off x="566928" y="1818399"/>
              <a:ext cx="1624045" cy="764257"/>
            </a:xfrm>
            <a:prstGeom prst="roundRect">
              <a:avLst>
                <a:gd name="adj" fmla="val 12500"/>
              </a:avLst>
            </a:prstGeom>
            <a:solidFill>
              <a:srgbClr val="F4F8FD"/>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1822" y="1955726"/>
              <a:ext cx="774258"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모델 그래프</a:t>
              </a:r>
            </a:p>
          </p:txBody>
        </p:sp>
        <p:sp>
          <p:nvSpPr>
            <p:cNvPr id="12" name="TextBox 11"/>
            <p:cNvSpPr txBox="1"/>
            <p:nvPr/>
          </p:nvSpPr>
          <p:spPr>
            <a:xfrm>
              <a:off x="1069427" y="2229187"/>
              <a:ext cx="619048" cy="172913"/>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전체 그래프</a:t>
              </a:r>
            </a:p>
          </p:txBody>
        </p:sp>
        <p:sp>
          <p:nvSpPr>
            <p:cNvPr id="13" name="TextBox 12"/>
            <p:cNvSpPr txBox="1"/>
            <p:nvPr/>
          </p:nvSpPr>
          <p:spPr>
            <a:xfrm>
              <a:off x="989466" y="2434103"/>
              <a:ext cx="778969"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레이어 단위 아님</a:t>
              </a:r>
            </a:p>
          </p:txBody>
        </p:sp>
        <p:sp>
          <p:nvSpPr>
            <p:cNvPr id="14" name="Rounded Rectangle 13"/>
            <p:cNvSpPr/>
            <p:nvPr/>
          </p:nvSpPr>
          <p:spPr>
            <a:xfrm>
              <a:off x="2453687" y="1818399"/>
              <a:ext cx="1624045" cy="764257"/>
            </a:xfrm>
            <a:prstGeom prst="roundRect">
              <a:avLst>
                <a:gd name="adj" fmla="val 12500"/>
              </a:avLst>
            </a:prstGeom>
            <a:solidFill>
              <a:srgbClr val="E3EEFB"/>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1046" y="1955726"/>
              <a:ext cx="729328"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primitive</a:t>
              </a:r>
            </a:p>
          </p:txBody>
        </p:sp>
        <p:sp>
          <p:nvSpPr>
            <p:cNvPr id="16" name="TextBox 15"/>
            <p:cNvSpPr txBox="1"/>
            <p:nvPr/>
          </p:nvSpPr>
          <p:spPr>
            <a:xfrm>
              <a:off x="2918510" y="2194557"/>
              <a:ext cx="694399"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operator</a:t>
              </a:r>
            </a:p>
          </p:txBody>
        </p:sp>
        <p:sp>
          <p:nvSpPr>
            <p:cNvPr id="17" name="TextBox 16"/>
            <p:cNvSpPr txBox="1"/>
            <p:nvPr/>
          </p:nvSpPr>
          <p:spPr>
            <a:xfrm>
              <a:off x="2987138" y="2434103"/>
              <a:ext cx="557143"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기본 연산자</a:t>
              </a:r>
            </a:p>
          </p:txBody>
        </p:sp>
        <p:sp>
          <p:nvSpPr>
            <p:cNvPr id="18" name="Rounded Rectangle 17"/>
            <p:cNvSpPr/>
            <p:nvPr/>
          </p:nvSpPr>
          <p:spPr>
            <a:xfrm>
              <a:off x="4340445" y="1818399"/>
              <a:ext cx="1624045" cy="764257"/>
            </a:xfrm>
            <a:prstGeom prst="roundRect">
              <a:avLst>
                <a:gd name="adj" fmla="val 12500"/>
              </a:avLst>
            </a:prstGeom>
            <a:solidFill>
              <a:srgbClr val="DCEBF9"/>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69" y="1955726"/>
              <a:ext cx="520799"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kernel</a:t>
              </a:r>
            </a:p>
          </p:txBody>
        </p:sp>
        <p:sp>
          <p:nvSpPr>
            <p:cNvPr id="20" name="TextBox 19"/>
            <p:cNvSpPr txBox="1"/>
            <p:nvPr/>
          </p:nvSpPr>
          <p:spPr>
            <a:xfrm>
              <a:off x="4708286" y="2215335"/>
              <a:ext cx="888365" cy="190204"/>
            </a:xfrm>
            <a:prstGeom prst="rect">
              <a:avLst/>
            </a:prstGeom>
            <a:noFill/>
          </p:spPr>
          <p:txBody>
            <a:bodyPr wrap="none" anchor="ctr" lIns="0" rIns="0" tIns="0" bIns="0">
              <a:noAutofit/>
            </a:bodyPr>
            <a:lstStyle/>
            <a:p>
              <a:pPr algn="ctr"/>
              <a:r>
                <a:rPr sz="1030" b="0">
                  <a:solidFill>
                    <a:srgbClr val="16202C"/>
                  </a:solidFill>
                  <a:latin typeface="맑은 고딕"/>
                  <a:ea typeface="맑은 고딕"/>
                  <a:cs typeface="맑은 고딕"/>
                </a:rPr>
                <a:t>Tensor Kernel</a:t>
              </a:r>
            </a:p>
          </p:txBody>
        </p:sp>
        <p:sp>
          <p:nvSpPr>
            <p:cNvPr id="21" name="TextBox 20"/>
            <p:cNvSpPr txBox="1"/>
            <p:nvPr/>
          </p:nvSpPr>
          <p:spPr>
            <a:xfrm>
              <a:off x="4934995" y="2434103"/>
              <a:ext cx="434946"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Fig. 9(a)</a:t>
              </a:r>
            </a:p>
          </p:txBody>
        </p:sp>
        <p:sp>
          <p:nvSpPr>
            <p:cNvPr id="22" name="Rounded Rectangle 21"/>
            <p:cNvSpPr/>
            <p:nvPr/>
          </p:nvSpPr>
          <p:spPr>
            <a:xfrm>
              <a:off x="6227204" y="1818399"/>
              <a:ext cx="1624045" cy="764257"/>
            </a:xfrm>
            <a:prstGeom prst="roundRect">
              <a:avLst>
                <a:gd name="adj" fmla="val 12500"/>
              </a:avLst>
            </a:prstGeom>
            <a:solidFill>
              <a:srgbClr val="CBE0F7"/>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4862" y="1955726"/>
              <a:ext cx="728731"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low-level</a:t>
              </a:r>
            </a:p>
          </p:txBody>
        </p:sp>
        <p:sp>
          <p:nvSpPr>
            <p:cNvPr id="24" name="TextBox 23"/>
            <p:cNvSpPr txBox="1"/>
            <p:nvPr/>
          </p:nvSpPr>
          <p:spPr>
            <a:xfrm>
              <a:off x="6692027" y="2194557"/>
              <a:ext cx="694399"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operator</a:t>
              </a:r>
            </a:p>
          </p:txBody>
        </p:sp>
        <p:sp>
          <p:nvSpPr>
            <p:cNvPr id="25" name="TextBox 24"/>
            <p:cNvSpPr txBox="1"/>
            <p:nvPr/>
          </p:nvSpPr>
          <p:spPr>
            <a:xfrm>
              <a:off x="6818799" y="2434103"/>
              <a:ext cx="440857"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Fig. 9(b)</a:t>
              </a:r>
            </a:p>
          </p:txBody>
        </p:sp>
        <p:sp>
          <p:nvSpPr>
            <p:cNvPr id="26" name="Rounded Rectangle 25"/>
            <p:cNvSpPr/>
            <p:nvPr/>
          </p:nvSpPr>
          <p:spPr>
            <a:xfrm>
              <a:off x="8113963" y="1818399"/>
              <a:ext cx="1624045" cy="764257"/>
            </a:xfrm>
            <a:prstGeom prst="roundRect">
              <a:avLst>
                <a:gd name="adj" fmla="val 12500"/>
              </a:avLst>
            </a:prstGeom>
            <a:solidFill>
              <a:srgbClr val="B8D4F3"/>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93" y="1955726"/>
              <a:ext cx="789185"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command</a:t>
              </a:r>
            </a:p>
          </p:txBody>
        </p:sp>
        <p:sp>
          <p:nvSpPr>
            <p:cNvPr id="28" name="TextBox 27"/>
            <p:cNvSpPr txBox="1"/>
            <p:nvPr/>
          </p:nvSpPr>
          <p:spPr>
            <a:xfrm>
              <a:off x="8786270" y="2194557"/>
              <a:ext cx="279431"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list</a:t>
              </a:r>
            </a:p>
          </p:txBody>
        </p:sp>
        <p:sp>
          <p:nvSpPr>
            <p:cNvPr id="29" name="TextBox 28"/>
            <p:cNvSpPr txBox="1"/>
            <p:nvPr/>
          </p:nvSpPr>
          <p:spPr>
            <a:xfrm>
              <a:off x="8373088" y="2434103"/>
              <a:ext cx="1105796"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dma·load·exec·wait</a:t>
              </a:r>
            </a:p>
          </p:txBody>
        </p:sp>
        <p:sp>
          <p:nvSpPr>
            <p:cNvPr id="30" name="Rounded Rectangle 29"/>
            <p:cNvSpPr/>
            <p:nvPr/>
          </p:nvSpPr>
          <p:spPr>
            <a:xfrm>
              <a:off x="10000722" y="1818399"/>
              <a:ext cx="1624045" cy="764257"/>
            </a:xfrm>
            <a:prstGeom prst="roundRect">
              <a:avLst>
                <a:gd name="adj" fmla="val 12500"/>
              </a:avLst>
            </a:prstGeom>
            <a:solidFill>
              <a:srgbClr val="A4C8F0"/>
            </a:solidFill>
            <a:ln w="2149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46747" y="1955726"/>
              <a:ext cx="531994" cy="216141"/>
            </a:xfrm>
            <a:prstGeom prst="rect">
              <a:avLst/>
            </a:prstGeom>
            <a:noFill/>
          </p:spPr>
          <p:txBody>
            <a:bodyPr wrap="none" anchor="ctr" lIns="0" rIns="0" tIns="0" bIns="0">
              <a:noAutofit/>
            </a:bodyPr>
            <a:lstStyle/>
            <a:p>
              <a:pPr algn="ctr"/>
              <a:r>
                <a:rPr sz="1180" b="1">
                  <a:solidFill>
                    <a:srgbClr val="083F80"/>
                  </a:solidFill>
                  <a:latin typeface="맑은 고딕"/>
                  <a:ea typeface="맑은 고딕"/>
                  <a:cs typeface="맑은 고딕"/>
                </a:rPr>
                <a:t>binary</a:t>
              </a:r>
            </a:p>
          </p:txBody>
        </p:sp>
        <p:sp>
          <p:nvSpPr>
            <p:cNvPr id="32" name="TextBox 31"/>
            <p:cNvSpPr txBox="1"/>
            <p:nvPr/>
          </p:nvSpPr>
          <p:spPr>
            <a:xfrm>
              <a:off x="10456242" y="2215335"/>
              <a:ext cx="713004" cy="190204"/>
            </a:xfrm>
            <a:prstGeom prst="rect">
              <a:avLst/>
            </a:prstGeom>
            <a:noFill/>
          </p:spPr>
          <p:txBody>
            <a:bodyPr wrap="none" anchor="ctr" lIns="0" rIns="0" tIns="0" bIns="0">
              <a:noAutofit/>
            </a:bodyPr>
            <a:lstStyle/>
            <a:p>
              <a:pPr algn="ctr"/>
              <a:r>
                <a:rPr sz="1030" b="0">
                  <a:solidFill>
                    <a:srgbClr val="16202C"/>
                  </a:solidFill>
                  <a:latin typeface="맑은 고딕"/>
                  <a:ea typeface="맑은 고딕"/>
                  <a:cs typeface="맑은 고딕"/>
                </a:rPr>
                <a:t>executable</a:t>
              </a:r>
            </a:p>
          </p:txBody>
        </p:sp>
        <p:sp>
          <p:nvSpPr>
            <p:cNvPr id="33" name="TextBox 32"/>
            <p:cNvSpPr txBox="1"/>
            <p:nvPr/>
          </p:nvSpPr>
          <p:spPr>
            <a:xfrm>
              <a:off x="10583611" y="2434103"/>
              <a:ext cx="458267"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실행 파일</a:t>
              </a:r>
            </a:p>
          </p:txBody>
        </p:sp>
        <p:cxnSp>
          <p:nvCxnSpPr>
            <p:cNvPr id="34" name="Connector 33"/>
            <p:cNvCxnSpPr/>
            <p:nvPr/>
          </p:nvCxnSpPr>
          <p:spPr>
            <a:xfrm>
              <a:off x="2214856" y="2200527"/>
              <a:ext cx="119416" cy="0"/>
            </a:xfrm>
            <a:prstGeom prst="line">
              <a:avLst/>
            </a:prstGeom>
            <a:ln w="23883">
              <a:solidFill>
                <a:srgbClr val="0B5FC0"/>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2310389" y="2128878"/>
              <a:ext cx="143298" cy="143298"/>
            </a:xfrm>
            <a:custGeom>
              <a:avLst/>
              <a:gdLst/>
              <a:ahLst/>
              <a:cxnLst/>
              <a:rect l="l" t="t" r="r" b="b"/>
              <a:pathLst>
                <a:path w="143298" h="143298">
                  <a:moveTo>
                    <a:pt x="0" y="0"/>
                  </a:moveTo>
                  <a:lnTo>
                    <a:pt x="143298" y="71649"/>
                  </a:lnTo>
                  <a:lnTo>
                    <a:pt x="0" y="143298"/>
                  </a:lnTo>
                  <a:close/>
                </a:path>
              </a:pathLst>
            </a:custGeom>
            <a:solidFill>
              <a:srgbClr val="0B5FC0"/>
            </a:solidFill>
            <a:ln w="2388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4101615" y="2200527"/>
              <a:ext cx="119415" cy="0"/>
            </a:xfrm>
            <a:prstGeom prst="line">
              <a:avLst/>
            </a:prstGeom>
            <a:ln w="23883">
              <a:solidFill>
                <a:srgbClr val="0B5FC0"/>
              </a:solidFill>
            </a:ln>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4197147" y="2128878"/>
              <a:ext cx="143298" cy="143298"/>
            </a:xfrm>
            <a:custGeom>
              <a:avLst/>
              <a:gdLst/>
              <a:ahLst/>
              <a:cxnLst/>
              <a:rect l="l" t="t" r="r" b="b"/>
              <a:pathLst>
                <a:path w="143298" h="143298">
                  <a:moveTo>
                    <a:pt x="0" y="0"/>
                  </a:moveTo>
                  <a:lnTo>
                    <a:pt x="143298" y="71649"/>
                  </a:lnTo>
                  <a:lnTo>
                    <a:pt x="0" y="143298"/>
                  </a:lnTo>
                  <a:close/>
                </a:path>
              </a:pathLst>
            </a:custGeom>
            <a:solidFill>
              <a:srgbClr val="0B5FC0"/>
            </a:solidFill>
            <a:ln w="2388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5988374" y="2200527"/>
              <a:ext cx="119415" cy="0"/>
            </a:xfrm>
            <a:prstGeom prst="line">
              <a:avLst/>
            </a:prstGeom>
            <a:ln w="23883">
              <a:solidFill>
                <a:srgbClr val="0B5FC0"/>
              </a:solidFill>
            </a:ln>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6083906" y="2128878"/>
              <a:ext cx="143298" cy="143298"/>
            </a:xfrm>
            <a:custGeom>
              <a:avLst/>
              <a:gdLst/>
              <a:ahLst/>
              <a:cxnLst/>
              <a:rect l="l" t="t" r="r" b="b"/>
              <a:pathLst>
                <a:path w="143298" h="143298">
                  <a:moveTo>
                    <a:pt x="0" y="0"/>
                  </a:moveTo>
                  <a:lnTo>
                    <a:pt x="143298" y="71649"/>
                  </a:lnTo>
                  <a:lnTo>
                    <a:pt x="0" y="143298"/>
                  </a:lnTo>
                  <a:close/>
                </a:path>
              </a:pathLst>
            </a:custGeom>
            <a:solidFill>
              <a:srgbClr val="0B5FC0"/>
            </a:solidFill>
            <a:ln w="2388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7875133" y="2200527"/>
              <a:ext cx="119415" cy="0"/>
            </a:xfrm>
            <a:prstGeom prst="line">
              <a:avLst/>
            </a:prstGeom>
            <a:ln w="23883">
              <a:solidFill>
                <a:srgbClr val="0B5FC0"/>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7970665" y="2128878"/>
              <a:ext cx="143298" cy="143298"/>
            </a:xfrm>
            <a:custGeom>
              <a:avLst/>
              <a:gdLst/>
              <a:ahLst/>
              <a:cxnLst/>
              <a:rect l="l" t="t" r="r" b="b"/>
              <a:pathLst>
                <a:path w="143298" h="143298">
                  <a:moveTo>
                    <a:pt x="0" y="0"/>
                  </a:moveTo>
                  <a:lnTo>
                    <a:pt x="143298" y="71649"/>
                  </a:lnTo>
                  <a:lnTo>
                    <a:pt x="0" y="143298"/>
                  </a:lnTo>
                  <a:close/>
                </a:path>
              </a:pathLst>
            </a:custGeom>
            <a:solidFill>
              <a:srgbClr val="0B5FC0"/>
            </a:solidFill>
            <a:ln w="2388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9761891" y="2200527"/>
              <a:ext cx="119415" cy="0"/>
            </a:xfrm>
            <a:prstGeom prst="line">
              <a:avLst/>
            </a:prstGeom>
            <a:ln w="23883">
              <a:solidFill>
                <a:srgbClr val="0B5FC0"/>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9857423" y="2128878"/>
              <a:ext cx="143299" cy="143298"/>
            </a:xfrm>
            <a:custGeom>
              <a:avLst/>
              <a:gdLst/>
              <a:ahLst/>
              <a:cxnLst/>
              <a:rect l="l" t="t" r="r" b="b"/>
              <a:pathLst>
                <a:path w="143299" h="143298">
                  <a:moveTo>
                    <a:pt x="0" y="0"/>
                  </a:moveTo>
                  <a:lnTo>
                    <a:pt x="143299" y="71649"/>
                  </a:lnTo>
                  <a:lnTo>
                    <a:pt x="0" y="143298"/>
                  </a:lnTo>
                  <a:close/>
                </a:path>
              </a:pathLst>
            </a:custGeom>
            <a:solidFill>
              <a:srgbClr val="0B5FC0"/>
            </a:solidFill>
            <a:ln w="2388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6928" y="2682964"/>
              <a:ext cx="372575" cy="172913"/>
            </a:xfrm>
            <a:prstGeom prst="rect">
              <a:avLst/>
            </a:prstGeom>
            <a:noFill/>
          </p:spPr>
          <p:txBody>
            <a:bodyPr wrap="none" anchor="ctr" lIns="0" rIns="0" tIns="0" bIns="0">
              <a:noAutofit/>
            </a:bodyPr>
            <a:lstStyle/>
            <a:p>
              <a:pPr algn="l"/>
              <a:r>
                <a:rPr sz="940" b="0">
                  <a:solidFill>
                    <a:srgbClr val="5B6B7B"/>
                  </a:solidFill>
                  <a:latin typeface="맑은 고딕"/>
                  <a:ea typeface="맑은 고딕"/>
                  <a:cs typeface="맑은 고딕"/>
                </a:rPr>
                <a:t>추상적</a:t>
              </a:r>
            </a:p>
          </p:txBody>
        </p:sp>
        <p:sp>
          <p:nvSpPr>
            <p:cNvPr id="45" name="TextBox 44"/>
            <p:cNvSpPr txBox="1"/>
            <p:nvPr/>
          </p:nvSpPr>
          <p:spPr>
            <a:xfrm>
              <a:off x="10785995" y="2682964"/>
              <a:ext cx="838772" cy="172913"/>
            </a:xfrm>
            <a:prstGeom prst="rect">
              <a:avLst/>
            </a:prstGeom>
            <a:noFill/>
          </p:spPr>
          <p:txBody>
            <a:bodyPr wrap="none" anchor="ctr" lIns="0" rIns="0" tIns="0" bIns="0">
              <a:noAutofit/>
            </a:bodyPr>
            <a:lstStyle/>
            <a:p>
              <a:pPr algn="r"/>
              <a:r>
                <a:rPr sz="940" b="0">
                  <a:solidFill>
                    <a:srgbClr val="5B6B7B"/>
                  </a:solidFill>
                  <a:latin typeface="맑은 고딕"/>
                  <a:ea typeface="맑은 고딕"/>
                  <a:cs typeface="맑은 고딕"/>
                </a:rPr>
                <a:t>하드웨어에 밀착</a:t>
              </a:r>
            </a:p>
          </p:txBody>
        </p:sp>
        <p:cxnSp>
          <p:nvCxnSpPr>
            <p:cNvPr id="46" name="Connector 45"/>
            <p:cNvCxnSpPr/>
            <p:nvPr/>
          </p:nvCxnSpPr>
          <p:spPr>
            <a:xfrm>
              <a:off x="2322330" y="2630422"/>
              <a:ext cx="0" cy="429894"/>
            </a:xfrm>
            <a:prstGeom prst="line">
              <a:avLst/>
            </a:prstGeom>
            <a:ln w="14329">
              <a:solidFill>
                <a:srgbClr val="D6DEE7"/>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209089" y="2630422"/>
              <a:ext cx="0" cy="429894"/>
            </a:xfrm>
            <a:prstGeom prst="line">
              <a:avLst/>
            </a:prstGeom>
            <a:ln w="14329">
              <a:solidFill>
                <a:srgbClr val="D6DEE7"/>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095848" y="2630422"/>
              <a:ext cx="0" cy="429894"/>
            </a:xfrm>
            <a:prstGeom prst="line">
              <a:avLst/>
            </a:prstGeom>
            <a:ln w="14329">
              <a:solidFill>
                <a:srgbClr val="D6DEE7"/>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982606" y="2630422"/>
              <a:ext cx="0" cy="429894"/>
            </a:xfrm>
            <a:prstGeom prst="line">
              <a:avLst/>
            </a:prstGeom>
            <a:ln w="14329">
              <a:solidFill>
                <a:srgbClr val="D6DEE7"/>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869365" y="2630422"/>
              <a:ext cx="0" cy="429894"/>
            </a:xfrm>
            <a:prstGeom prst="line">
              <a:avLst/>
            </a:prstGeom>
            <a:ln w="14329">
              <a:solidFill>
                <a:srgbClr val="D6DEE7"/>
              </a:solidFill>
              <a:prstDash val="dash"/>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426717" y="3084199"/>
              <a:ext cx="1791227" cy="1409098"/>
            </a:xfrm>
            <a:prstGeom prst="roundRect">
              <a:avLst>
                <a:gd name="adj" fmla="val 6779"/>
              </a:avLst>
            </a:prstGeom>
            <a:solidFill>
              <a:srgbClr val="F4F8FD"/>
            </a:solidFill>
            <a:ln w="191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2167090" y="3215556"/>
              <a:ext cx="310479" cy="310479"/>
            </a:xfrm>
            <a:prstGeom prst="roundRect">
              <a:avLst>
                <a:gd name="adj" fmla="val 50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48591" y="3250425"/>
              <a:ext cx="147478" cy="224787"/>
            </a:xfrm>
            <a:prstGeom prst="rect">
              <a:avLst/>
            </a:prstGeom>
            <a:noFill/>
          </p:spPr>
          <p:txBody>
            <a:bodyPr wrap="none" anchor="ctr" lIns="0" rIns="0" tIns="0" bIns="0">
              <a:noAutofit/>
            </a:bodyPr>
            <a:lstStyle/>
            <a:p>
              <a:pPr algn="ctr"/>
              <a:r>
                <a:rPr sz="1220" b="1">
                  <a:solidFill>
                    <a:srgbClr val="FFFFFF"/>
                  </a:solidFill>
                  <a:latin typeface="맑은 고딕"/>
                  <a:ea typeface="맑은 고딕"/>
                  <a:cs typeface="맑은 고딕"/>
                </a:rPr>
                <a:t>1</a:t>
              </a:r>
            </a:p>
          </p:txBody>
        </p:sp>
        <p:sp>
          <p:nvSpPr>
            <p:cNvPr id="54" name="TextBox 53"/>
            <p:cNvSpPr txBox="1"/>
            <p:nvPr/>
          </p:nvSpPr>
          <p:spPr>
            <a:xfrm>
              <a:off x="1761073" y="3593624"/>
              <a:ext cx="1122514" cy="198850"/>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기본 연산자로 분해</a:t>
              </a:r>
            </a:p>
          </p:txBody>
        </p:sp>
        <p:sp>
          <p:nvSpPr>
            <p:cNvPr id="55" name="TextBox 54"/>
            <p:cNvSpPr txBox="1"/>
            <p:nvPr/>
          </p:nvSpPr>
          <p:spPr>
            <a:xfrm>
              <a:off x="1702470" y="3884042"/>
              <a:ext cx="1239720"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프레임워크의 넓은 연산을</a:t>
              </a:r>
            </a:p>
          </p:txBody>
        </p:sp>
        <p:sp>
          <p:nvSpPr>
            <p:cNvPr id="56" name="TextBox 55"/>
            <p:cNvSpPr txBox="1"/>
            <p:nvPr/>
          </p:nvSpPr>
          <p:spPr>
            <a:xfrm>
              <a:off x="1724762" y="4075106"/>
              <a:ext cx="1195136"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작은 primitive 집합으로</a:t>
              </a:r>
            </a:p>
          </p:txBody>
        </p:sp>
        <p:sp>
          <p:nvSpPr>
            <p:cNvPr id="57" name="TextBox 56"/>
            <p:cNvSpPr txBox="1"/>
            <p:nvPr/>
          </p:nvSpPr>
          <p:spPr>
            <a:xfrm>
              <a:off x="1681519" y="4273096"/>
              <a:ext cx="1281623"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Primitive Op. Conversion</a:t>
              </a:r>
            </a:p>
          </p:txBody>
        </p:sp>
        <p:sp>
          <p:nvSpPr>
            <p:cNvPr id="58" name="Rounded Rectangle 57"/>
            <p:cNvSpPr/>
            <p:nvPr/>
          </p:nvSpPr>
          <p:spPr>
            <a:xfrm>
              <a:off x="3313475" y="3084199"/>
              <a:ext cx="1791227" cy="1409098"/>
            </a:xfrm>
            <a:prstGeom prst="roundRect">
              <a:avLst>
                <a:gd name="adj" fmla="val 6779"/>
              </a:avLst>
            </a:prstGeom>
            <a:solidFill>
              <a:srgbClr val="F4F8FD"/>
            </a:solidFill>
            <a:ln w="191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053849" y="3215556"/>
              <a:ext cx="310479" cy="310479"/>
            </a:xfrm>
            <a:prstGeom prst="roundRect">
              <a:avLst>
                <a:gd name="adj" fmla="val 50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35350" y="3250425"/>
              <a:ext cx="147478" cy="224787"/>
            </a:xfrm>
            <a:prstGeom prst="rect">
              <a:avLst/>
            </a:prstGeom>
            <a:noFill/>
          </p:spPr>
          <p:txBody>
            <a:bodyPr wrap="none" anchor="ctr" lIns="0" rIns="0" tIns="0" bIns="0">
              <a:noAutofit/>
            </a:bodyPr>
            <a:lstStyle/>
            <a:p>
              <a:pPr algn="ctr"/>
              <a:r>
                <a:rPr sz="1220" b="1">
                  <a:solidFill>
                    <a:srgbClr val="FFFFFF"/>
                  </a:solidFill>
                  <a:latin typeface="맑은 고딕"/>
                  <a:ea typeface="맑은 고딕"/>
                  <a:cs typeface="맑은 고딕"/>
                </a:rPr>
                <a:t>2</a:t>
              </a:r>
            </a:p>
          </p:txBody>
        </p:sp>
        <p:sp>
          <p:nvSpPr>
            <p:cNvPr id="61" name="TextBox 60"/>
            <p:cNvSpPr txBox="1"/>
            <p:nvPr/>
          </p:nvSpPr>
          <p:spPr>
            <a:xfrm>
              <a:off x="3852930" y="3593624"/>
              <a:ext cx="712317" cy="198850"/>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커널로 묶기</a:t>
              </a:r>
            </a:p>
          </p:txBody>
        </p:sp>
        <p:sp>
          <p:nvSpPr>
            <p:cNvPr id="62" name="TextBox 61"/>
            <p:cNvSpPr txBox="1"/>
            <p:nvPr/>
          </p:nvSpPr>
          <p:spPr>
            <a:xfrm>
              <a:off x="3701255" y="3884042"/>
              <a:ext cx="1015667"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재사용 최대화 · 융합</a:t>
              </a:r>
            </a:p>
          </p:txBody>
        </p:sp>
        <p:sp>
          <p:nvSpPr>
            <p:cNvPr id="63" name="TextBox 62"/>
            <p:cNvSpPr txBox="1"/>
            <p:nvPr/>
          </p:nvSpPr>
          <p:spPr>
            <a:xfrm>
              <a:off x="3493198" y="4075106"/>
              <a:ext cx="1431781"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read-contract-vector-write</a:t>
              </a:r>
            </a:p>
          </p:txBody>
        </p:sp>
        <p:sp>
          <p:nvSpPr>
            <p:cNvPr id="64" name="TextBox 63"/>
            <p:cNvSpPr txBox="1"/>
            <p:nvPr/>
          </p:nvSpPr>
          <p:spPr>
            <a:xfrm>
              <a:off x="3555058" y="4273096"/>
              <a:ext cx="1308061"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Tensor Kernel Generation</a:t>
              </a:r>
            </a:p>
          </p:txBody>
        </p:sp>
        <p:sp>
          <p:nvSpPr>
            <p:cNvPr id="65" name="Rounded Rectangle 64"/>
            <p:cNvSpPr/>
            <p:nvPr/>
          </p:nvSpPr>
          <p:spPr>
            <a:xfrm>
              <a:off x="5200234" y="3084199"/>
              <a:ext cx="1791227" cy="1409098"/>
            </a:xfrm>
            <a:prstGeom prst="roundRect">
              <a:avLst>
                <a:gd name="adj" fmla="val 6779"/>
              </a:avLst>
            </a:prstGeom>
            <a:solidFill>
              <a:srgbClr val="FFF7E6"/>
            </a:solidFill>
            <a:ln w="2627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940608" y="3215556"/>
              <a:ext cx="310479" cy="310479"/>
            </a:xfrm>
            <a:prstGeom prst="roundRect">
              <a:avLst>
                <a:gd name="adj" fmla="val 50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22109" y="3250425"/>
              <a:ext cx="147478" cy="224787"/>
            </a:xfrm>
            <a:prstGeom prst="rect">
              <a:avLst/>
            </a:prstGeom>
            <a:noFill/>
          </p:spPr>
          <p:txBody>
            <a:bodyPr wrap="none" anchor="ctr" lIns="0" rIns="0" tIns="0" bIns="0">
              <a:noAutofit/>
            </a:bodyPr>
            <a:lstStyle/>
            <a:p>
              <a:pPr algn="ctr"/>
              <a:r>
                <a:rPr sz="1220" b="1">
                  <a:solidFill>
                    <a:srgbClr val="FFFFFF"/>
                  </a:solidFill>
                  <a:latin typeface="맑은 고딕"/>
                  <a:ea typeface="맑은 고딕"/>
                  <a:cs typeface="맑은 고딕"/>
                </a:rPr>
                <a:t>3</a:t>
              </a:r>
            </a:p>
          </p:txBody>
        </p:sp>
        <p:sp>
          <p:nvSpPr>
            <p:cNvPr id="68" name="TextBox 67"/>
            <p:cNvSpPr txBox="1"/>
            <p:nvPr/>
          </p:nvSpPr>
          <p:spPr>
            <a:xfrm>
              <a:off x="5534865" y="3593624"/>
              <a:ext cx="1121965" cy="198850"/>
            </a:xfrm>
            <a:prstGeom prst="rect">
              <a:avLst/>
            </a:prstGeom>
            <a:noFill/>
          </p:spPr>
          <p:txBody>
            <a:bodyPr wrap="none" anchor="ctr" lIns="0" rIns="0" tIns="0" bIns="0">
              <a:noAutofit/>
            </a:bodyPr>
            <a:lstStyle/>
            <a:p>
              <a:pPr algn="ctr"/>
              <a:r>
                <a:rPr sz="1080" b="1">
                  <a:solidFill>
                    <a:srgbClr val="B45409"/>
                  </a:solidFill>
                  <a:latin typeface="맑은 고딕"/>
                  <a:ea typeface="맑은 고딕"/>
                  <a:cs typeface="맑은 고딕"/>
                </a:rPr>
                <a:t>tactic 이 확정된다</a:t>
              </a:r>
            </a:p>
          </p:txBody>
        </p:sp>
        <p:sp>
          <p:nvSpPr>
            <p:cNvPr id="69" name="TextBox 68"/>
            <p:cNvSpPr txBox="1"/>
            <p:nvPr/>
          </p:nvSpPr>
          <p:spPr>
            <a:xfrm>
              <a:off x="5615297" y="3884042"/>
              <a:ext cx="961101"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cost function 으로</a:t>
              </a:r>
            </a:p>
          </p:txBody>
        </p:sp>
        <p:sp>
          <p:nvSpPr>
            <p:cNvPr id="70" name="TextBox 69"/>
            <p:cNvSpPr txBox="1"/>
            <p:nvPr/>
          </p:nvSpPr>
          <p:spPr>
            <a:xfrm>
              <a:off x="5367818" y="4075106"/>
              <a:ext cx="1456058"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lowered shape · tactic 선택</a:t>
              </a:r>
            </a:p>
          </p:txBody>
        </p:sp>
        <p:sp>
          <p:nvSpPr>
            <p:cNvPr id="71" name="TextBox 70"/>
            <p:cNvSpPr txBox="1"/>
            <p:nvPr/>
          </p:nvSpPr>
          <p:spPr>
            <a:xfrm>
              <a:off x="5459335" y="4273096"/>
              <a:ext cx="1273025"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Low-Level Operator Gen.</a:t>
              </a:r>
            </a:p>
          </p:txBody>
        </p:sp>
        <p:sp>
          <p:nvSpPr>
            <p:cNvPr id="72" name="Rounded Rectangle 71"/>
            <p:cNvSpPr/>
            <p:nvPr/>
          </p:nvSpPr>
          <p:spPr>
            <a:xfrm>
              <a:off x="7086993" y="3084199"/>
              <a:ext cx="1791227" cy="1409098"/>
            </a:xfrm>
            <a:prstGeom prst="roundRect">
              <a:avLst>
                <a:gd name="adj" fmla="val 6779"/>
              </a:avLst>
            </a:prstGeom>
            <a:solidFill>
              <a:srgbClr val="F4F8FD"/>
            </a:solidFill>
            <a:ln w="191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827367" y="3215556"/>
              <a:ext cx="310479" cy="310479"/>
            </a:xfrm>
            <a:prstGeom prst="roundRect">
              <a:avLst>
                <a:gd name="adj" fmla="val 50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08867" y="3250425"/>
              <a:ext cx="147478" cy="224787"/>
            </a:xfrm>
            <a:prstGeom prst="rect">
              <a:avLst/>
            </a:prstGeom>
            <a:noFill/>
          </p:spPr>
          <p:txBody>
            <a:bodyPr wrap="none" anchor="ctr" lIns="0" rIns="0" tIns="0" bIns="0">
              <a:noAutofit/>
            </a:bodyPr>
            <a:lstStyle/>
            <a:p>
              <a:pPr algn="ctr"/>
              <a:r>
                <a:rPr sz="1220" b="1">
                  <a:solidFill>
                    <a:srgbClr val="FFFFFF"/>
                  </a:solidFill>
                  <a:latin typeface="맑은 고딕"/>
                  <a:ea typeface="맑은 고딕"/>
                  <a:cs typeface="맑은 고딕"/>
                </a:rPr>
                <a:t>4</a:t>
              </a:r>
            </a:p>
          </p:txBody>
        </p:sp>
        <p:sp>
          <p:nvSpPr>
            <p:cNvPr id="75" name="TextBox 74"/>
            <p:cNvSpPr txBox="1"/>
            <p:nvPr/>
          </p:nvSpPr>
          <p:spPr>
            <a:xfrm>
              <a:off x="7563277" y="3593624"/>
              <a:ext cx="838658" cy="198850"/>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커맨드 리스트</a:t>
              </a:r>
            </a:p>
          </p:txBody>
        </p:sp>
        <p:sp>
          <p:nvSpPr>
            <p:cNvPr id="76" name="TextBox 75"/>
            <p:cNvSpPr txBox="1"/>
            <p:nvPr/>
          </p:nvSpPr>
          <p:spPr>
            <a:xfrm>
              <a:off x="7375679" y="3884042"/>
              <a:ext cx="1213855"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하드웨어 기능과 1:1 대응</a:t>
              </a:r>
            </a:p>
          </p:txBody>
        </p:sp>
        <p:sp>
          <p:nvSpPr>
            <p:cNvPr id="77" name="TextBox 76"/>
            <p:cNvSpPr txBox="1"/>
            <p:nvPr/>
          </p:nvSpPr>
          <p:spPr>
            <a:xfrm>
              <a:off x="7420149" y="4075106"/>
              <a:ext cx="1124914"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버퍼·RF 크기로 쪼갠다</a:t>
              </a:r>
            </a:p>
          </p:txBody>
        </p:sp>
        <p:sp>
          <p:nvSpPr>
            <p:cNvPr id="78" name="TextBox 77"/>
            <p:cNvSpPr txBox="1"/>
            <p:nvPr/>
          </p:nvSpPr>
          <p:spPr>
            <a:xfrm>
              <a:off x="7409933" y="4273096"/>
              <a:ext cx="1145346"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Command Generation</a:t>
              </a:r>
            </a:p>
          </p:txBody>
        </p:sp>
        <p:sp>
          <p:nvSpPr>
            <p:cNvPr id="79" name="Rounded Rectangle 78"/>
            <p:cNvSpPr/>
            <p:nvPr/>
          </p:nvSpPr>
          <p:spPr>
            <a:xfrm>
              <a:off x="8973752" y="3084199"/>
              <a:ext cx="1791227" cy="1409098"/>
            </a:xfrm>
            <a:prstGeom prst="roundRect">
              <a:avLst>
                <a:gd name="adj" fmla="val 6779"/>
              </a:avLst>
            </a:prstGeom>
            <a:solidFill>
              <a:srgbClr val="F4F8FD"/>
            </a:solidFill>
            <a:ln w="1910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9714125" y="3215556"/>
              <a:ext cx="310479" cy="310479"/>
            </a:xfrm>
            <a:prstGeom prst="roundRect">
              <a:avLst>
                <a:gd name="adj" fmla="val 50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795626" y="3250425"/>
              <a:ext cx="147478" cy="224787"/>
            </a:xfrm>
            <a:prstGeom prst="rect">
              <a:avLst/>
            </a:prstGeom>
            <a:noFill/>
          </p:spPr>
          <p:txBody>
            <a:bodyPr wrap="none" anchor="ctr" lIns="0" rIns="0" tIns="0" bIns="0">
              <a:noAutofit/>
            </a:bodyPr>
            <a:lstStyle/>
            <a:p>
              <a:pPr algn="ctr"/>
              <a:r>
                <a:rPr sz="1220" b="1">
                  <a:solidFill>
                    <a:srgbClr val="FFFFFF"/>
                  </a:solidFill>
                  <a:latin typeface="맑은 고딕"/>
                  <a:ea typeface="맑은 고딕"/>
                  <a:cs typeface="맑은 고딕"/>
                </a:rPr>
                <a:t>5</a:t>
              </a:r>
            </a:p>
          </p:txBody>
        </p:sp>
        <p:sp>
          <p:nvSpPr>
            <p:cNvPr id="82" name="TextBox 81"/>
            <p:cNvSpPr txBox="1"/>
            <p:nvPr/>
          </p:nvSpPr>
          <p:spPr>
            <a:xfrm>
              <a:off x="9346216" y="3593624"/>
              <a:ext cx="1046297" cy="198850"/>
            </a:xfrm>
            <a:prstGeom prst="rect">
              <a:avLst/>
            </a:prstGeom>
            <a:noFill/>
          </p:spPr>
          <p:txBody>
            <a:bodyPr wrap="none" anchor="ctr" lIns="0" rIns="0" tIns="0" bIns="0">
              <a:noAutofit/>
            </a:bodyPr>
            <a:lstStyle/>
            <a:p>
              <a:pPr algn="ctr"/>
              <a:r>
                <a:rPr sz="1080" b="1">
                  <a:solidFill>
                    <a:srgbClr val="083F80"/>
                  </a:solidFill>
                  <a:latin typeface="맑은 고딕"/>
                  <a:ea typeface="맑은 고딕"/>
                  <a:cs typeface="맑은 고딕"/>
                </a:rPr>
                <a:t>스케줄·자원 할당</a:t>
              </a:r>
            </a:p>
          </p:txBody>
        </p:sp>
        <p:sp>
          <p:nvSpPr>
            <p:cNvPr id="83" name="TextBox 82"/>
            <p:cNvSpPr txBox="1"/>
            <p:nvPr/>
          </p:nvSpPr>
          <p:spPr>
            <a:xfrm>
              <a:off x="9168109" y="3884042"/>
              <a:ext cx="1402513"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휴리스틱+ILP+유전 알고리즘</a:t>
              </a:r>
            </a:p>
          </p:txBody>
        </p:sp>
        <p:sp>
          <p:nvSpPr>
            <p:cNvPr id="84" name="TextBox 83"/>
            <p:cNvSpPr txBox="1"/>
            <p:nvPr/>
          </p:nvSpPr>
          <p:spPr>
            <a:xfrm>
              <a:off x="9453705" y="4075106"/>
              <a:ext cx="831320" cy="164267"/>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 실행 바이너리</a:t>
              </a:r>
            </a:p>
          </p:txBody>
        </p:sp>
        <p:sp>
          <p:nvSpPr>
            <p:cNvPr id="85" name="TextBox 84"/>
            <p:cNvSpPr txBox="1"/>
            <p:nvPr/>
          </p:nvSpPr>
          <p:spPr>
            <a:xfrm>
              <a:off x="9256121" y="4273096"/>
              <a:ext cx="1226489" cy="155622"/>
            </a:xfrm>
            <a:prstGeom prst="rect">
              <a:avLst/>
            </a:prstGeom>
            <a:noFill/>
          </p:spPr>
          <p:txBody>
            <a:bodyPr wrap="none" anchor="ctr" lIns="0" rIns="0" tIns="0" bIns="0">
              <a:noAutofit/>
            </a:bodyPr>
            <a:lstStyle/>
            <a:p>
              <a:pPr algn="ctr"/>
              <a:r>
                <a:rPr sz="850" b="0">
                  <a:solidFill>
                    <a:srgbClr val="5B6B7B"/>
                  </a:solidFill>
                  <a:latin typeface="맑은 고딕"/>
                  <a:ea typeface="맑은 고딕"/>
                  <a:cs typeface="맑은 고딕"/>
                </a:rPr>
                <a:t>Scheduling &amp; Allocation</a:t>
              </a:r>
            </a:p>
          </p:txBody>
        </p:sp>
        <p:cxnSp>
          <p:nvCxnSpPr>
            <p:cNvPr id="86" name="Connector 85"/>
            <p:cNvCxnSpPr/>
            <p:nvPr/>
          </p:nvCxnSpPr>
          <p:spPr>
            <a:xfrm>
              <a:off x="6095848" y="4493297"/>
              <a:ext cx="0" cy="95532"/>
            </a:xfrm>
            <a:prstGeom prst="line">
              <a:avLst/>
            </a:prstGeom>
            <a:ln w="23883">
              <a:solidFill>
                <a:srgbClr val="B45409"/>
              </a:solidFill>
            </a:ln>
          </p:spPr>
          <p:style>
            <a:lnRef idx="2">
              <a:schemeClr val="accent1"/>
            </a:lnRef>
            <a:fillRef idx="0">
              <a:schemeClr val="accent1"/>
            </a:fillRef>
            <a:effectRef idx="1">
              <a:schemeClr val="accent1"/>
            </a:effectRef>
            <a:fontRef idx="minor">
              <a:schemeClr val="tx1"/>
            </a:fontRef>
          </p:style>
        </p:cxnSp>
        <p:sp>
          <p:nvSpPr>
            <p:cNvPr id="87" name="Freeform 86"/>
            <p:cNvSpPr/>
            <p:nvPr/>
          </p:nvSpPr>
          <p:spPr>
            <a:xfrm>
              <a:off x="6024198" y="4564946"/>
              <a:ext cx="143299" cy="95533"/>
            </a:xfrm>
            <a:custGeom>
              <a:avLst/>
              <a:gdLst/>
              <a:ahLst/>
              <a:cxnLst/>
              <a:rect l="l" t="t" r="r" b="b"/>
              <a:pathLst>
                <a:path w="143299" h="95533">
                  <a:moveTo>
                    <a:pt x="0" y="0"/>
                  </a:moveTo>
                  <a:lnTo>
                    <a:pt x="71650" y="95533"/>
                  </a:lnTo>
                  <a:lnTo>
                    <a:pt x="143299"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3349300" y="4636596"/>
              <a:ext cx="5493095" cy="549309"/>
            </a:xfrm>
            <a:prstGeom prst="roundRect">
              <a:avLst>
                <a:gd name="adj" fmla="val 17391"/>
              </a:avLst>
            </a:prstGeom>
            <a:solidFill>
              <a:srgbClr val="FFF7E6"/>
            </a:solidFill>
            <a:ln w="1910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162639" y="4716126"/>
              <a:ext cx="1866416" cy="198850"/>
            </a:xfrm>
            <a:prstGeom prst="rect">
              <a:avLst/>
            </a:prstGeom>
            <a:noFill/>
          </p:spPr>
          <p:txBody>
            <a:bodyPr wrap="none" anchor="ctr" lIns="0" rIns="0" tIns="0" bIns="0">
              <a:noAutofit/>
            </a:bodyPr>
            <a:lstStyle/>
            <a:p>
              <a:pPr algn="ctr"/>
              <a:r>
                <a:rPr sz="1080" b="1">
                  <a:solidFill>
                    <a:srgbClr val="B45409"/>
                  </a:solidFill>
                  <a:latin typeface="맑은 고딕"/>
                  <a:ea typeface="맑은 고딕"/>
                  <a:cs typeface="맑은 고딕"/>
                </a:rPr>
                <a:t>3단계가 이 컴파일러의 중심이다</a:t>
              </a:r>
            </a:p>
          </p:txBody>
        </p:sp>
        <p:sp>
          <p:nvSpPr>
            <p:cNvPr id="90" name="TextBox 89"/>
            <p:cNvSpPr txBox="1"/>
            <p:nvPr/>
          </p:nvSpPr>
          <p:spPr>
            <a:xfrm>
              <a:off x="5131511" y="4951851"/>
              <a:ext cx="1928673" cy="172913"/>
            </a:xfrm>
            <a:prstGeom prst="rect">
              <a:avLst/>
            </a:prstGeom>
            <a:noFill/>
          </p:spPr>
          <p:txBody>
            <a:bodyPr wrap="none" anchor="ctr" lIns="0" rIns="0" tIns="0" bIns="0">
              <a:noAutofit/>
            </a:bodyPr>
            <a:lstStyle/>
            <a:p>
              <a:pPr algn="ctr"/>
              <a:r>
                <a:rPr sz="940" b="0">
                  <a:solidFill>
                    <a:srgbClr val="16202C"/>
                  </a:solidFill>
                  <a:latin typeface="맑은 고딕"/>
                  <a:ea typeface="맑은 고딕"/>
                  <a:cs typeface="맑은 고딕"/>
                </a:rPr>
                <a:t>Fig. 8 의 (a)(b)(c) 중 하나를 고르는 곳</a:t>
              </a:r>
            </a:p>
          </p:txBody>
        </p:sp>
      </p:grpSp>
      <p:sp>
        <p:nvSpPr>
          <p:cNvPr id="91" name="Rectangle 9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프레임워크 연산자 → primitive → kernel → low-level operator → command → binary. 다섯 번 낮아진다</a:t>
            </a:r>
          </a:p>
        </p:txBody>
      </p:sp>
      <p:sp>
        <p:nvSpPr>
          <p:cNvPr id="92" name="Rectangle 9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C. 엔드투엔드 컴파일러 — 다섯 번 낮아진다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모델 그래프 → primitive → kernel → low-level operator → command → binary</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171</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컴파일러는 레이어 단위가 아니라 모델 그래프 전체를 입력으로 받는다. 인접 레이어 간 lowered shape 정합을 다루려면 전역 시야가 필요하다</a:t>
            </a:r>
          </a:p>
          <a:p>
            <a:pPr algn="l">
              <a:lnSpc>
                <a:spcPct val="118000"/>
              </a:lnSpc>
              <a:spcBef>
                <a:spcPts val="600"/>
              </a:spcBef>
              <a:spcAft>
                <a:spcPts val="200"/>
              </a:spcAft>
            </a:pPr>
            <a:r>
              <a:rPr sz="1900" b="1" i="0">
                <a:solidFill>
                  <a:srgbClr val="083F80"/>
                </a:solidFill>
                <a:latin typeface="Segoe UI"/>
                <a:ea typeface="맑은 고딕"/>
                <a:cs typeface="맑은 고딕"/>
              </a:rPr>
              <a:t>▪  '하드웨어 기능과 1:1 대응'이 성립하는 것은 4단계 command 수준이다. 3단계 low-level operator 는 아직 1:1 이 아니다</a:t>
            </a:r>
          </a:p>
          <a:p>
            <a:pPr algn="l">
              <a:lnSpc>
                <a:spcPct val="118000"/>
              </a:lnSpc>
              <a:spcBef>
                <a:spcPts val="600"/>
              </a:spcBef>
              <a:spcAft>
                <a:spcPts val="200"/>
              </a:spcAft>
            </a:pPr>
            <a:r>
              <a:rPr sz="1900" b="0" i="0">
                <a:solidFill>
                  <a:srgbClr val="16202C"/>
                </a:solidFill>
                <a:latin typeface="Segoe UI"/>
                <a:ea typeface="맑은 고딕"/>
                <a:cs typeface="맑은 고딕"/>
              </a:rPr>
              <a:t>▪  5단계 스케줄링은 heuristic, ILP, 유전 알고리즘을 섞어 쓴다. 어느 기법을 어느 하위 문제에 적용하는지는 논문에 없다</a:t>
            </a:r>
          </a:p>
          <a:p>
            <a:pPr algn="l">
              <a:lnSpc>
                <a:spcPct val="118000"/>
              </a:lnSpc>
              <a:spcBef>
                <a:spcPts val="600"/>
              </a:spcBef>
              <a:spcAft>
                <a:spcPts val="200"/>
              </a:spcAft>
            </a:pPr>
            <a:r>
              <a:rPr sz="1900" b="0" i="0">
                <a:solidFill>
                  <a:srgbClr val="16202C"/>
                </a:solidFill>
                <a:latin typeface="Segoe UI"/>
                <a:ea typeface="맑은 고딕"/>
                <a:cs typeface="맑은 고딕"/>
              </a:rPr>
              <a:t>▪  논문은 3단계 cost function 의 수식이나 탐색 알고리즘, 그리고 컴파일 소요 시간도 밝히지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상자 색이 옅은 파랑에서 진한 파랑으로 가는 것은 산출물이 점점 하드웨어에 밀착한다는 뜻이다</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9 — 저수준 컴파일러 IR 두 계층</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172</a:t>
            </a:r>
          </a:p>
        </p:txBody>
      </p:sp>
      <p:pic>
        <p:nvPicPr>
          <p:cNvPr id="8" name="Picture 7" descr="isca_fig9.png"/>
          <p:cNvPicPr>
            <a:picLocks noChangeAspect="1"/>
          </p:cNvPicPr>
          <p:nvPr/>
        </p:nvPicPr>
        <p:blipFill>
          <a:blip r:embed="rId2"/>
          <a:stretch>
            <a:fillRect/>
          </a:stretch>
        </p:blipFill>
        <p:spPr>
          <a:xfrm>
            <a:off x="566928" y="1517904"/>
            <a:ext cx="5971233" cy="2880567"/>
          </a:xfrm>
          <a:prstGeom prst="rect">
            <a:avLst/>
          </a:prstGeom>
        </p:spPr>
      </p:pic>
      <p:sp>
        <p:nvSpPr>
          <p:cNvPr id="9" name="Rectangle 8"/>
          <p:cNvSpPr/>
          <p:nvPr/>
        </p:nvSpPr>
        <p:spPr>
          <a:xfrm>
            <a:off x="566928" y="1517904"/>
            <a:ext cx="5971233" cy="2880567"/>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425903"/>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9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000" b="1" i="0">
                <a:solidFill>
                  <a:srgbClr val="083F80"/>
                </a:solidFill>
                <a:latin typeface="Segoe UI"/>
                <a:ea typeface="맑은 고딕"/>
                <a:cs typeface="맑은 고딕"/>
              </a:rPr>
              <a:t>▪  (a) Tensor Kernel: 커널은 read, contraction, vector operation, write 의 시퀀스로 구조화된 연산 단위다</a:t>
            </a:r>
          </a:p>
          <a:p>
            <a:pPr algn="l">
              <a:lnSpc>
                <a:spcPct val="118000"/>
              </a:lnSpc>
              <a:spcBef>
                <a:spcPts val="200"/>
              </a:spcBef>
              <a:spcAft>
                <a:spcPts val="100"/>
              </a:spcAft>
            </a:pPr>
            <a:r>
              <a:rPr sz="880" b="0" i="0">
                <a:solidFill>
                  <a:srgbClr val="2C3A4B"/>
                </a:solidFill>
                <a:latin typeface="Segoe UI"/>
                <a:ea typeface="맑은 고딕"/>
                <a:cs typeface="맑은 고딕"/>
              </a:rPr>
              <a:t>–  그림의 상자 흐름은 Read(Permute, Broadcast, Slide, ..) → EinOps(Elementwise, Reduce) → VectorOps(Add, Exp, Reduce, Quant, ..) → Write(Permute) 다</a:t>
            </a:r>
          </a:p>
          <a:p>
            <a:pPr algn="l">
              <a:lnSpc>
                <a:spcPct val="118000"/>
              </a:lnSpc>
              <a:spcBef>
                <a:spcPts val="200"/>
              </a:spcBef>
              <a:spcAft>
                <a:spcPts val="100"/>
              </a:spcAft>
            </a:pPr>
            <a:r>
              <a:rPr sz="880" b="0" i="0">
                <a:solidFill>
                  <a:srgbClr val="2C3A4B"/>
                </a:solidFill>
                <a:latin typeface="Segoe UI"/>
                <a:ea typeface="맑은 고딕"/>
                <a:cs typeface="맑은 고딕"/>
              </a:rPr>
              <a:t>–  EinOps 와 VectorOps 에는 옆에서 RHS Read 가 들어온다. VectorOps 쪽 RHS Read 는 여러 장이 겹쳐 그려져 있어 우변 피연산자를 여럿 받음을 나타낸다</a:t>
            </a:r>
          </a:p>
          <a:p>
            <a:pPr algn="l">
              <a:lnSpc>
                <a:spcPct val="118000"/>
              </a:lnSpc>
              <a:spcBef>
                <a:spcPts val="200"/>
              </a:spcBef>
              <a:spcAft>
                <a:spcPts val="100"/>
              </a:spcAft>
            </a:pPr>
            <a:r>
              <a:rPr sz="880" b="1" i="0">
                <a:solidFill>
                  <a:srgbClr val="2C3A4B"/>
                </a:solidFill>
                <a:latin typeface="Segoe UI"/>
                <a:ea typeface="맑은 고딕"/>
                <a:cs typeface="맑은 고딕"/>
              </a:rPr>
              <a:t>–  이 모양은 IV 절의 슬라이스 파이프라인 FU → OU(CE, VE, TE) → CU 와 정확히 대응한다</a:t>
            </a:r>
          </a:p>
          <a:p>
            <a:pPr algn="l">
              <a:lnSpc>
                <a:spcPct val="118000"/>
              </a:lnSpc>
              <a:spcBef>
                <a:spcPts val="600"/>
              </a:spcBef>
              <a:spcAft>
                <a:spcPts val="200"/>
              </a:spcAft>
            </a:pPr>
            <a:r>
              <a:rPr sz="1000" b="1" i="0">
                <a:solidFill>
                  <a:srgbClr val="083F80"/>
                </a:solidFill>
                <a:latin typeface="Segoe UI"/>
                <a:ea typeface="맑은 고딕"/>
                <a:cs typeface="맑은 고딕"/>
              </a:rPr>
              <a:t>▪  (b) Low-Level Operator: 위에서 아래로 Original Tensor → Lowered Tensor → 하드웨어 파이프라인 대응 순으로 그려진다</a:t>
            </a:r>
          </a:p>
          <a:p>
            <a:pPr algn="l">
              <a:lnSpc>
                <a:spcPct val="118000"/>
              </a:lnSpc>
              <a:spcBef>
                <a:spcPts val="200"/>
              </a:spcBef>
              <a:spcAft>
                <a:spcPts val="100"/>
              </a:spcAft>
            </a:pPr>
            <a:r>
              <a:rPr sz="880" b="0" i="0">
                <a:solidFill>
                  <a:srgbClr val="2C3A4B"/>
                </a:solidFill>
                <a:latin typeface="Segoe UI"/>
                <a:ea typeface="맑은 고딕"/>
                <a:cs typeface="맑은 고딕"/>
              </a:rPr>
              <a:t>–  Lowered Tensor 는 슬라이스별 조각의 격자로 그려지고 일부 칸이 비어 있다. 분할이 항상 균등하지는 않음을 보여준다</a:t>
            </a:r>
          </a:p>
          <a:p>
            <a:pPr algn="l">
              <a:lnSpc>
                <a:spcPct val="118000"/>
              </a:lnSpc>
              <a:spcBef>
                <a:spcPts val="200"/>
              </a:spcBef>
              <a:spcAft>
                <a:spcPts val="100"/>
              </a:spcAft>
            </a:pPr>
            <a:r>
              <a:rPr sz="880" b="0" i="0">
                <a:solidFill>
                  <a:srgbClr val="2C3A4B"/>
                </a:solidFill>
                <a:latin typeface="Segoe UI"/>
                <a:ea typeface="맑은 고딕"/>
                <a:cs typeface="맑은 고딕"/>
              </a:rPr>
              <a:t>–  왼쪽 열은 SRAM, Fetch Unit, Operation Unit(Contraction Engine, Vector Engine, Transpose Engine), Commit Unit 이다</a:t>
            </a:r>
          </a:p>
          <a:p>
            <a:pPr algn="l">
              <a:lnSpc>
                <a:spcPct val="118000"/>
              </a:lnSpc>
              <a:spcBef>
                <a:spcPts val="200"/>
              </a:spcBef>
              <a:spcAft>
                <a:spcPts val="100"/>
              </a:spcAft>
            </a:pPr>
            <a:r>
              <a:rPr sz="880" b="1" i="0">
                <a:solidFill>
                  <a:srgbClr val="2C3A4B"/>
                </a:solidFill>
                <a:latin typeface="Segoe UI"/>
                <a:ea typeface="맑은 고딕"/>
                <a:cs typeface="맑은 고딕"/>
              </a:rPr>
              <a:t>–  오른쪽 Operator Tensor 열은 같은 텐서가 단계마다 어떻게 기술되는지를 보여준다: A×B×C×D → [E]×B×C×D×A → [E]e × B[b] × C × Dd × [Aa] × f → ...</a:t>
            </a:r>
          </a:p>
          <a:p>
            <a:pPr algn="l">
              <a:lnSpc>
                <a:spcPct val="118000"/>
              </a:lnSpc>
              <a:spcBef>
                <a:spcPts val="600"/>
              </a:spcBef>
              <a:spcAft>
                <a:spcPts val="200"/>
              </a:spcAft>
            </a:pPr>
            <a:r>
              <a:rPr sz="1000" b="0" i="0">
                <a:solidFill>
                  <a:srgbClr val="16202C"/>
                </a:solidFill>
                <a:latin typeface="Segoe UI"/>
                <a:ea typeface="맑은 고딕"/>
                <a:cs typeface="맑은 고딕"/>
              </a:rPr>
              <a:t>▪  대괄호는 슬라이스 분할(inter-slice)을, 소문자 첨자는 II 절 low-level einsum 의 stride 및 루프 표기 계열을 가리키는 것으로 읽힌다. 다만 논문 본문은 (b) 의 표기를 따로 설명하지 않는다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IR 은 두 계층이다. Tensor Kernel 은 무엇을 하는가를, Low-Level Operator 는 어느 슬라이스에서 어떤 순서로 하는가를 담는다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9 두 계층의 역할 분담</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(a) 무엇을 하는가 | 3단계 경계 | (b) 어떻게 내려놓는가</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173</a:t>
            </a:r>
          </a:p>
        </p:txBody>
      </p:sp>
      <p:grpSp>
        <p:nvGrpSpPr>
          <p:cNvPr id="9" name="도해 A6#17"/>
          <p:cNvGrpSpPr/>
          <p:nvPr/>
        </p:nvGrpSpPr>
        <p:grpSpPr>
          <a:xfrm>
            <a:off x="1365108" y="1463040"/>
            <a:ext cx="9461479" cy="4078224"/>
            <a:chOff x="1365108" y="1463040"/>
            <a:chExt cx="9461479" cy="4078224"/>
          </a:xfrm>
        </p:grpSpPr>
        <p:sp>
          <p:nvSpPr>
            <p:cNvPr id="10" name="Rounded Rectangle 9"/>
            <p:cNvSpPr/>
            <p:nvPr/>
          </p:nvSpPr>
          <p:spPr>
            <a:xfrm>
              <a:off x="1365108" y="1463040"/>
              <a:ext cx="4282135" cy="4078224"/>
            </a:xfrm>
            <a:prstGeom prst="roundRect">
              <a:avLst>
                <a:gd name="adj" fmla="val 2500"/>
              </a:avLst>
            </a:prstGeom>
            <a:solidFill>
              <a:srgbClr val="F4F8FD"/>
            </a:solidFill>
            <a:ln w="2548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7165" y="1597417"/>
              <a:ext cx="2338020" cy="214066"/>
            </a:xfrm>
            <a:prstGeom prst="rect">
              <a:avLst/>
            </a:prstGeom>
            <a:noFill/>
          </p:spPr>
          <p:txBody>
            <a:bodyPr wrap="none" anchor="ctr" lIns="0" rIns="0" tIns="0" bIns="0">
              <a:noAutofit/>
            </a:bodyPr>
            <a:lstStyle/>
            <a:p>
              <a:pPr algn="ctr"/>
              <a:r>
                <a:rPr sz="1160" b="1">
                  <a:solidFill>
                    <a:srgbClr val="083F80"/>
                  </a:solidFill>
                  <a:latin typeface="맑은 고딕"/>
                  <a:ea typeface="맑은 고딕"/>
                  <a:cs typeface="맑은 고딕"/>
                </a:rPr>
                <a:t>(a) Tensor Kernel — 무엇을 하는가</a:t>
              </a:r>
            </a:p>
          </p:txBody>
        </p:sp>
        <p:sp>
          <p:nvSpPr>
            <p:cNvPr id="12" name="Rounded Rectangle 11"/>
            <p:cNvSpPr/>
            <p:nvPr/>
          </p:nvSpPr>
          <p:spPr>
            <a:xfrm>
              <a:off x="1426281" y="2166534"/>
              <a:ext cx="407822" cy="265085"/>
            </a:xfrm>
            <a:prstGeom prst="roundRect">
              <a:avLst>
                <a:gd name="adj" fmla="val 19230"/>
              </a:avLst>
            </a:prstGeom>
            <a:solidFill>
              <a:srgbClr val="DCEBF9"/>
            </a:solidFill>
            <a:ln w="1223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35256" y="2219958"/>
              <a:ext cx="189872" cy="162395"/>
            </a:xfrm>
            <a:prstGeom prst="rect">
              <a:avLst/>
            </a:prstGeom>
            <a:noFill/>
          </p:spPr>
          <p:txBody>
            <a:bodyPr wrap="none" anchor="ctr" lIns="0" rIns="0" tIns="0" bIns="0">
              <a:noAutofit/>
            </a:bodyPr>
            <a:lstStyle/>
            <a:p>
              <a:pPr algn="ctr"/>
              <a:r>
                <a:rPr sz="880" b="1">
                  <a:solidFill>
                    <a:srgbClr val="083F80"/>
                  </a:solidFill>
                  <a:latin typeface="맑은 고딕"/>
                  <a:ea typeface="맑은 고딕"/>
                  <a:cs typeface="맑은 고딕"/>
                </a:rPr>
                <a:t>FU</a:t>
              </a:r>
            </a:p>
          </p:txBody>
        </p:sp>
        <p:sp>
          <p:nvSpPr>
            <p:cNvPr id="14" name="Rounded Rectangle 13"/>
            <p:cNvSpPr/>
            <p:nvPr/>
          </p:nvSpPr>
          <p:spPr>
            <a:xfrm>
              <a:off x="1426281" y="2961787"/>
              <a:ext cx="407822" cy="265085"/>
            </a:xfrm>
            <a:prstGeom prst="roundRect">
              <a:avLst>
                <a:gd name="adj" fmla="val 19230"/>
              </a:avLst>
            </a:prstGeom>
            <a:solidFill>
              <a:srgbClr val="CBE0F7"/>
            </a:solidFill>
            <a:ln w="1223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8733" y="3015212"/>
              <a:ext cx="182919" cy="162395"/>
            </a:xfrm>
            <a:prstGeom prst="rect">
              <a:avLst/>
            </a:prstGeom>
            <a:noFill/>
          </p:spPr>
          <p:txBody>
            <a:bodyPr wrap="none" anchor="ctr" lIns="0" rIns="0" tIns="0" bIns="0">
              <a:noAutofit/>
            </a:bodyPr>
            <a:lstStyle/>
            <a:p>
              <a:pPr algn="ctr"/>
              <a:r>
                <a:rPr sz="880" b="1">
                  <a:solidFill>
                    <a:srgbClr val="083F80"/>
                  </a:solidFill>
                  <a:latin typeface="맑은 고딕"/>
                  <a:ea typeface="맑은 고딕"/>
                  <a:cs typeface="맑은 고딕"/>
                </a:rPr>
                <a:t>CE</a:t>
              </a:r>
            </a:p>
          </p:txBody>
        </p:sp>
        <p:sp>
          <p:nvSpPr>
            <p:cNvPr id="16" name="Rounded Rectangle 15"/>
            <p:cNvSpPr/>
            <p:nvPr/>
          </p:nvSpPr>
          <p:spPr>
            <a:xfrm>
              <a:off x="1426281" y="3757041"/>
              <a:ext cx="407822" cy="265085"/>
            </a:xfrm>
            <a:prstGeom prst="roundRect">
              <a:avLst>
                <a:gd name="adj" fmla="val 19230"/>
              </a:avLst>
            </a:prstGeom>
            <a:solidFill>
              <a:srgbClr val="E2F4E8"/>
            </a:solidFill>
            <a:ln w="1223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0808" y="3810466"/>
              <a:ext cx="178769" cy="162395"/>
            </a:xfrm>
            <a:prstGeom prst="rect">
              <a:avLst/>
            </a:prstGeom>
            <a:noFill/>
          </p:spPr>
          <p:txBody>
            <a:bodyPr wrap="none" anchor="ctr" lIns="0" rIns="0" tIns="0" bIns="0">
              <a:noAutofit/>
            </a:bodyPr>
            <a:lstStyle/>
            <a:p>
              <a:pPr algn="ctr"/>
              <a:r>
                <a:rPr sz="880" b="1">
                  <a:solidFill>
                    <a:srgbClr val="1A7F37"/>
                  </a:solidFill>
                  <a:latin typeface="맑은 고딕"/>
                  <a:ea typeface="맑은 고딕"/>
                  <a:cs typeface="맑은 고딕"/>
                </a:rPr>
                <a:t>VE</a:t>
              </a:r>
            </a:p>
          </p:txBody>
        </p:sp>
        <p:sp>
          <p:nvSpPr>
            <p:cNvPr id="18" name="Rounded Rectangle 17"/>
            <p:cNvSpPr/>
            <p:nvPr/>
          </p:nvSpPr>
          <p:spPr>
            <a:xfrm>
              <a:off x="1426281" y="4552295"/>
              <a:ext cx="407822" cy="265085"/>
            </a:xfrm>
            <a:prstGeom prst="roundRect">
              <a:avLst>
                <a:gd name="adj" fmla="val 1923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32340" y="4605719"/>
              <a:ext cx="195704" cy="162395"/>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CU</a:t>
              </a:r>
            </a:p>
          </p:txBody>
        </p:sp>
        <p:sp>
          <p:nvSpPr>
            <p:cNvPr id="20" name="Rounded Rectangle 19"/>
            <p:cNvSpPr/>
            <p:nvPr/>
          </p:nvSpPr>
          <p:spPr>
            <a:xfrm>
              <a:off x="1915668" y="2013600"/>
              <a:ext cx="2141068" cy="570951"/>
            </a:xfrm>
            <a:prstGeom prst="roundRect">
              <a:avLst>
                <a:gd name="adj" fmla="val 12500"/>
              </a:avLst>
            </a:prstGeom>
            <a:solidFill>
              <a:srgbClr val="E3EEFB"/>
            </a:solidFill>
            <a:ln w="1835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05740" y="2110458"/>
              <a:ext cx="360923" cy="184540"/>
            </a:xfrm>
            <a:prstGeom prst="rect">
              <a:avLst/>
            </a:prstGeom>
            <a:noFill/>
          </p:spPr>
          <p:txBody>
            <a:bodyPr wrap="none" anchor="ctr" lIns="0" rIns="0" tIns="0" bIns="0">
              <a:noAutofit/>
            </a:bodyPr>
            <a:lstStyle/>
            <a:p>
              <a:pPr algn="ctr"/>
              <a:r>
                <a:rPr sz="1000" b="1">
                  <a:solidFill>
                    <a:srgbClr val="083F80"/>
                  </a:solidFill>
                  <a:latin typeface="맑은 고딕"/>
                  <a:ea typeface="맑은 고딕"/>
                  <a:cs typeface="맑은 고딕"/>
                </a:rPr>
                <a:t>Read</a:t>
              </a:r>
            </a:p>
          </p:txBody>
        </p:sp>
        <p:sp>
          <p:nvSpPr>
            <p:cNvPr id="22" name="TextBox 21"/>
            <p:cNvSpPr txBox="1"/>
            <p:nvPr/>
          </p:nvSpPr>
          <p:spPr>
            <a:xfrm>
              <a:off x="2337448" y="2349850"/>
              <a:ext cx="1297507" cy="140250"/>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Permute · Broadcast · Slide</a:t>
              </a:r>
            </a:p>
          </p:txBody>
        </p:sp>
        <p:cxnSp>
          <p:nvCxnSpPr>
            <p:cNvPr id="23" name="Connector 22"/>
            <p:cNvCxnSpPr/>
            <p:nvPr/>
          </p:nvCxnSpPr>
          <p:spPr>
            <a:xfrm>
              <a:off x="2986202" y="2584552"/>
              <a:ext cx="0" cy="122346"/>
            </a:xfrm>
            <a:prstGeom prst="line">
              <a:avLst/>
            </a:prstGeom>
            <a:ln w="20391">
              <a:solidFill>
                <a:srgbClr val="0B5FC0"/>
              </a:solidFill>
            </a:ln>
          </p:spPr>
          <p:style>
            <a:lnRef idx="2">
              <a:schemeClr val="accent1"/>
            </a:lnRef>
            <a:fillRef idx="0">
              <a:schemeClr val="accent1"/>
            </a:fillRef>
            <a:effectRef idx="1">
              <a:schemeClr val="accent1"/>
            </a:effectRef>
            <a:fontRef idx="minor">
              <a:schemeClr val="tx1"/>
            </a:fontRef>
          </p:style>
        </p:cxnSp>
        <p:sp>
          <p:nvSpPr>
            <p:cNvPr id="24" name="Freeform 23"/>
            <p:cNvSpPr/>
            <p:nvPr/>
          </p:nvSpPr>
          <p:spPr>
            <a:xfrm>
              <a:off x="2925028" y="2686507"/>
              <a:ext cx="122347" cy="101956"/>
            </a:xfrm>
            <a:custGeom>
              <a:avLst/>
              <a:gdLst/>
              <a:ahLst/>
              <a:cxnLst/>
              <a:rect l="l" t="t" r="r" b="b"/>
              <a:pathLst>
                <a:path w="122347" h="101956">
                  <a:moveTo>
                    <a:pt x="0" y="0"/>
                  </a:moveTo>
                  <a:lnTo>
                    <a:pt x="61174" y="101956"/>
                  </a:lnTo>
                  <a:lnTo>
                    <a:pt x="122347"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915668" y="2808854"/>
              <a:ext cx="2141068" cy="570951"/>
            </a:xfrm>
            <a:prstGeom prst="roundRect">
              <a:avLst>
                <a:gd name="adj" fmla="val 12500"/>
              </a:avLst>
            </a:prstGeom>
            <a:solidFill>
              <a:srgbClr val="CBE0F7"/>
            </a:solidFill>
            <a:ln w="1835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2528" y="2905712"/>
              <a:ext cx="487348" cy="184540"/>
            </a:xfrm>
            <a:prstGeom prst="rect">
              <a:avLst/>
            </a:prstGeom>
            <a:noFill/>
          </p:spPr>
          <p:txBody>
            <a:bodyPr wrap="none" anchor="ctr" lIns="0" rIns="0" tIns="0" bIns="0">
              <a:noAutofit/>
            </a:bodyPr>
            <a:lstStyle/>
            <a:p>
              <a:pPr algn="ctr"/>
              <a:r>
                <a:rPr sz="1000" b="1">
                  <a:solidFill>
                    <a:srgbClr val="083F80"/>
                  </a:solidFill>
                  <a:latin typeface="맑은 고딕"/>
                  <a:ea typeface="맑은 고딕"/>
                  <a:cs typeface="맑은 고딕"/>
                </a:rPr>
                <a:t>EinOps</a:t>
              </a:r>
            </a:p>
          </p:txBody>
        </p:sp>
        <p:sp>
          <p:nvSpPr>
            <p:cNvPr id="27" name="TextBox 26"/>
            <p:cNvSpPr txBox="1"/>
            <p:nvPr/>
          </p:nvSpPr>
          <p:spPr>
            <a:xfrm>
              <a:off x="2462830" y="3145103"/>
              <a:ext cx="1046742" cy="140250"/>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Elementwise · Reduce</a:t>
              </a:r>
            </a:p>
          </p:txBody>
        </p:sp>
        <p:cxnSp>
          <p:nvCxnSpPr>
            <p:cNvPr id="28" name="Connector 27"/>
            <p:cNvCxnSpPr/>
            <p:nvPr/>
          </p:nvCxnSpPr>
          <p:spPr>
            <a:xfrm>
              <a:off x="2986202" y="3379805"/>
              <a:ext cx="0" cy="122347"/>
            </a:xfrm>
            <a:prstGeom prst="line">
              <a:avLst/>
            </a:prstGeom>
            <a:ln w="20391">
              <a:solidFill>
                <a:srgbClr val="0B5FC0"/>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925028" y="3481761"/>
              <a:ext cx="122347" cy="101955"/>
            </a:xfrm>
            <a:custGeom>
              <a:avLst/>
              <a:gdLst/>
              <a:ahLst/>
              <a:cxnLst/>
              <a:rect l="l" t="t" r="r" b="b"/>
              <a:pathLst>
                <a:path w="122347" h="101955">
                  <a:moveTo>
                    <a:pt x="0" y="0"/>
                  </a:moveTo>
                  <a:lnTo>
                    <a:pt x="61174" y="101955"/>
                  </a:lnTo>
                  <a:lnTo>
                    <a:pt x="122347"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915668" y="3604108"/>
              <a:ext cx="2141068" cy="570951"/>
            </a:xfrm>
            <a:prstGeom prst="roundRect">
              <a:avLst>
                <a:gd name="adj" fmla="val 12500"/>
              </a:avLst>
            </a:prstGeom>
            <a:solidFill>
              <a:srgbClr val="E2F4E8"/>
            </a:solidFill>
            <a:ln w="1835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40636" y="3700965"/>
              <a:ext cx="691132" cy="184540"/>
            </a:xfrm>
            <a:prstGeom prst="rect">
              <a:avLst/>
            </a:prstGeom>
            <a:noFill/>
          </p:spPr>
          <p:txBody>
            <a:bodyPr wrap="none" anchor="ctr" lIns="0" rIns="0" tIns="0" bIns="0">
              <a:noAutofit/>
            </a:bodyPr>
            <a:lstStyle/>
            <a:p>
              <a:pPr algn="ctr"/>
              <a:r>
                <a:rPr sz="1000" b="1">
                  <a:solidFill>
                    <a:srgbClr val="1A7F37"/>
                  </a:solidFill>
                  <a:latin typeface="맑은 고딕"/>
                  <a:ea typeface="맑은 고딕"/>
                  <a:cs typeface="맑은 고딕"/>
                </a:rPr>
                <a:t>VectorOps</a:t>
              </a:r>
            </a:p>
          </p:txBody>
        </p:sp>
        <p:sp>
          <p:nvSpPr>
            <p:cNvPr id="32" name="TextBox 31"/>
            <p:cNvSpPr txBox="1"/>
            <p:nvPr/>
          </p:nvSpPr>
          <p:spPr>
            <a:xfrm>
              <a:off x="2344422" y="3940357"/>
              <a:ext cx="1283560" cy="140250"/>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Add · Exp · Reduce · Quant</a:t>
              </a:r>
            </a:p>
          </p:txBody>
        </p:sp>
        <p:cxnSp>
          <p:nvCxnSpPr>
            <p:cNvPr id="33" name="Connector 32"/>
            <p:cNvCxnSpPr/>
            <p:nvPr/>
          </p:nvCxnSpPr>
          <p:spPr>
            <a:xfrm>
              <a:off x="2986202" y="4175059"/>
              <a:ext cx="0" cy="122347"/>
            </a:xfrm>
            <a:prstGeom prst="line">
              <a:avLst/>
            </a:prstGeom>
            <a:ln w="20391">
              <a:solidFill>
                <a:srgbClr val="1A7F37"/>
              </a:solidFill>
            </a:ln>
          </p:spPr>
          <p:style>
            <a:lnRef idx="2">
              <a:schemeClr val="accent1"/>
            </a:lnRef>
            <a:fillRef idx="0">
              <a:schemeClr val="accent1"/>
            </a:fillRef>
            <a:effectRef idx="1">
              <a:schemeClr val="accent1"/>
            </a:effectRef>
            <a:fontRef idx="minor">
              <a:schemeClr val="tx1"/>
            </a:fontRef>
          </p:style>
        </p:cxnSp>
        <p:sp>
          <p:nvSpPr>
            <p:cNvPr id="34" name="Freeform 33"/>
            <p:cNvSpPr/>
            <p:nvPr/>
          </p:nvSpPr>
          <p:spPr>
            <a:xfrm>
              <a:off x="2925028" y="4277015"/>
              <a:ext cx="122347" cy="101955"/>
            </a:xfrm>
            <a:custGeom>
              <a:avLst/>
              <a:gdLst/>
              <a:ahLst/>
              <a:cxnLst/>
              <a:rect l="l" t="t" r="r" b="b"/>
              <a:pathLst>
                <a:path w="122347" h="101955">
                  <a:moveTo>
                    <a:pt x="0" y="0"/>
                  </a:moveTo>
                  <a:lnTo>
                    <a:pt x="61174" y="101955"/>
                  </a:lnTo>
                  <a:lnTo>
                    <a:pt x="122347" y="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915668" y="4399361"/>
              <a:ext cx="2141068" cy="570951"/>
            </a:xfrm>
            <a:prstGeom prst="roundRect">
              <a:avLst>
                <a:gd name="adj" fmla="val 12500"/>
              </a:avLst>
            </a:prstGeom>
            <a:solidFill>
              <a:srgbClr val="FDEBD3"/>
            </a:solidFill>
            <a:ln w="1835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95162" y="4496219"/>
              <a:ext cx="382079" cy="184540"/>
            </a:xfrm>
            <a:prstGeom prst="rect">
              <a:avLst/>
            </a:prstGeom>
            <a:noFill/>
          </p:spPr>
          <p:txBody>
            <a:bodyPr wrap="none" anchor="ctr" lIns="0" rIns="0" tIns="0" bIns="0">
              <a:noAutofit/>
            </a:bodyPr>
            <a:lstStyle/>
            <a:p>
              <a:pPr algn="ctr"/>
              <a:r>
                <a:rPr sz="1000" b="1">
                  <a:solidFill>
                    <a:srgbClr val="B45409"/>
                  </a:solidFill>
                  <a:latin typeface="맑은 고딕"/>
                  <a:ea typeface="맑은 고딕"/>
                  <a:cs typeface="맑은 고딕"/>
                </a:rPr>
                <a:t>Write</a:t>
              </a:r>
            </a:p>
          </p:txBody>
        </p:sp>
        <p:sp>
          <p:nvSpPr>
            <p:cNvPr id="37" name="TextBox 36"/>
            <p:cNvSpPr txBox="1"/>
            <p:nvPr/>
          </p:nvSpPr>
          <p:spPr>
            <a:xfrm>
              <a:off x="2775197" y="4735611"/>
              <a:ext cx="422010" cy="140250"/>
            </a:xfrm>
            <a:prstGeom prst="rect">
              <a:avLst/>
            </a:prstGeom>
            <a:noFill/>
          </p:spPr>
          <p:txBody>
            <a:bodyPr wrap="none" anchor="ctr" lIns="0" rIns="0" tIns="0" bIns="0">
              <a:noAutofit/>
            </a:bodyPr>
            <a:lstStyle/>
            <a:p>
              <a:pPr algn="ctr"/>
              <a:r>
                <a:rPr sz="760" b="0">
                  <a:solidFill>
                    <a:srgbClr val="16202C"/>
                  </a:solidFill>
                  <a:latin typeface="맑은 고딕"/>
                  <a:ea typeface="맑은 고딕"/>
                  <a:cs typeface="맑은 고딕"/>
                </a:rPr>
                <a:t>Permute</a:t>
              </a:r>
            </a:p>
          </p:txBody>
        </p:sp>
        <p:sp>
          <p:nvSpPr>
            <p:cNvPr id="38" name="Rounded Rectangle 37"/>
            <p:cNvSpPr/>
            <p:nvPr/>
          </p:nvSpPr>
          <p:spPr>
            <a:xfrm>
              <a:off x="4260647" y="2890418"/>
              <a:ext cx="1060338" cy="407822"/>
            </a:xfrm>
            <a:prstGeom prst="roundRect">
              <a:avLst>
                <a:gd name="adj" fmla="val 15000"/>
              </a:avLst>
            </a:prstGeom>
            <a:solidFill>
              <a:srgbClr val="F7FAFD"/>
            </a:solidFill>
            <a:ln w="1427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9177" y="3021125"/>
              <a:ext cx="523277" cy="155013"/>
            </a:xfrm>
            <a:prstGeom prst="rect">
              <a:avLst/>
            </a:prstGeom>
            <a:noFill/>
          </p:spPr>
          <p:txBody>
            <a:bodyPr wrap="none" anchor="ctr" lIns="0" rIns="0" tIns="0" bIns="0">
              <a:noAutofit/>
            </a:bodyPr>
            <a:lstStyle/>
            <a:p>
              <a:pPr algn="ctr"/>
              <a:r>
                <a:rPr sz="840" b="0">
                  <a:solidFill>
                    <a:srgbClr val="083F80"/>
                  </a:solidFill>
                  <a:latin typeface="맑은 고딕"/>
                  <a:ea typeface="맑은 고딕"/>
                  <a:cs typeface="맑은 고딕"/>
                </a:rPr>
                <a:t>RHS Read</a:t>
              </a:r>
            </a:p>
          </p:txBody>
        </p:sp>
        <p:cxnSp>
          <p:nvCxnSpPr>
            <p:cNvPr id="40" name="Connector 39"/>
            <p:cNvCxnSpPr/>
            <p:nvPr/>
          </p:nvCxnSpPr>
          <p:spPr>
            <a:xfrm flipH="1">
              <a:off x="4219864" y="3094330"/>
              <a:ext cx="40783" cy="0"/>
            </a:xfrm>
            <a:prstGeom prst="line">
              <a:avLst/>
            </a:prstGeom>
            <a:ln w="18352">
              <a:solidFill>
                <a:srgbClr val="0B5FC0"/>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4097518" y="3033156"/>
              <a:ext cx="122346" cy="122347"/>
            </a:xfrm>
            <a:custGeom>
              <a:avLst/>
              <a:gdLst/>
              <a:ahLst/>
              <a:cxnLst/>
              <a:rect l="l" t="t" r="r" b="b"/>
              <a:pathLst>
                <a:path w="122346" h="122347">
                  <a:moveTo>
                    <a:pt x="122346" y="0"/>
                  </a:moveTo>
                  <a:lnTo>
                    <a:pt x="0" y="61174"/>
                  </a:lnTo>
                  <a:lnTo>
                    <a:pt x="122346" y="12234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342211" y="3644890"/>
              <a:ext cx="1060338" cy="407822"/>
            </a:xfrm>
            <a:prstGeom prst="roundRect">
              <a:avLst>
                <a:gd name="adj" fmla="val 15000"/>
              </a:avLst>
            </a:prstGeom>
            <a:solidFill>
              <a:srgbClr val="F7FAFD"/>
            </a:solidFill>
            <a:ln w="1223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281038" y="3726454"/>
              <a:ext cx="1060338" cy="407822"/>
            </a:xfrm>
            <a:prstGeom prst="roundRect">
              <a:avLst>
                <a:gd name="adj" fmla="val 15000"/>
              </a:avLst>
            </a:prstGeom>
            <a:solidFill>
              <a:srgbClr val="E3EEFB"/>
            </a:solidFill>
            <a:ln w="1427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49568" y="3857161"/>
              <a:ext cx="523277" cy="155013"/>
            </a:xfrm>
            <a:prstGeom prst="rect">
              <a:avLst/>
            </a:prstGeom>
            <a:noFill/>
          </p:spPr>
          <p:txBody>
            <a:bodyPr wrap="none" anchor="ctr" lIns="0" rIns="0" tIns="0" bIns="0">
              <a:noAutofit/>
            </a:bodyPr>
            <a:lstStyle/>
            <a:p>
              <a:pPr algn="ctr"/>
              <a:r>
                <a:rPr sz="840" b="0">
                  <a:solidFill>
                    <a:srgbClr val="083F80"/>
                  </a:solidFill>
                  <a:latin typeface="맑은 고딕"/>
                  <a:ea typeface="맑은 고딕"/>
                  <a:cs typeface="맑은 고딕"/>
                </a:rPr>
                <a:t>RHS Read</a:t>
              </a:r>
            </a:p>
          </p:txBody>
        </p:sp>
        <p:cxnSp>
          <p:nvCxnSpPr>
            <p:cNvPr id="45" name="Connector 44"/>
            <p:cNvCxnSpPr/>
            <p:nvPr/>
          </p:nvCxnSpPr>
          <p:spPr>
            <a:xfrm flipH="1">
              <a:off x="4219864" y="3930366"/>
              <a:ext cx="61174" cy="0"/>
            </a:xfrm>
            <a:prstGeom prst="line">
              <a:avLst/>
            </a:prstGeom>
            <a:ln w="18352">
              <a:solidFill>
                <a:srgbClr val="0B5FC0"/>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097518" y="3869192"/>
              <a:ext cx="122346" cy="122347"/>
            </a:xfrm>
            <a:custGeom>
              <a:avLst/>
              <a:gdLst/>
              <a:ahLst/>
              <a:cxnLst/>
              <a:rect l="l" t="t" r="r" b="b"/>
              <a:pathLst>
                <a:path w="122346" h="122347">
                  <a:moveTo>
                    <a:pt x="122346" y="0"/>
                  </a:moveTo>
                  <a:lnTo>
                    <a:pt x="0" y="61174"/>
                  </a:lnTo>
                  <a:lnTo>
                    <a:pt x="122346" y="12234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32651" y="4190964"/>
              <a:ext cx="757112" cy="132869"/>
            </a:xfrm>
            <a:prstGeom prst="rect">
              <a:avLst/>
            </a:prstGeom>
            <a:noFill/>
          </p:spPr>
          <p:txBody>
            <a:bodyPr wrap="none" anchor="ctr" lIns="0" rIns="0" tIns="0" bIns="0">
              <a:noAutofit/>
            </a:bodyPr>
            <a:lstStyle/>
            <a:p>
              <a:pPr algn="ctr"/>
              <a:r>
                <a:rPr sz="720" b="0">
                  <a:solidFill>
                    <a:srgbClr val="5B6B7B"/>
                  </a:solidFill>
                  <a:latin typeface="맑은 고딕"/>
                  <a:ea typeface="맑은 고딕"/>
                  <a:cs typeface="맑은 고딕"/>
                </a:rPr>
                <a:t>여러 장 = 우변 여럿</a:t>
              </a:r>
            </a:p>
          </p:txBody>
        </p:sp>
        <p:sp>
          <p:nvSpPr>
            <p:cNvPr id="48" name="TextBox 47"/>
            <p:cNvSpPr txBox="1"/>
            <p:nvPr/>
          </p:nvSpPr>
          <p:spPr>
            <a:xfrm>
              <a:off x="2370018" y="5151998"/>
              <a:ext cx="2272315" cy="155013"/>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아직 lowered shape 도 tactic 도 정해지지 않았다</a:t>
              </a:r>
            </a:p>
          </p:txBody>
        </p:sp>
        <p:sp>
          <p:nvSpPr>
            <p:cNvPr id="49" name="TextBox 48"/>
            <p:cNvSpPr txBox="1"/>
            <p:nvPr/>
          </p:nvSpPr>
          <p:spPr>
            <a:xfrm>
              <a:off x="2732475" y="5347344"/>
              <a:ext cx="1547401"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실행은 되지만 효율은 보장되지 않는다</a:t>
              </a:r>
            </a:p>
          </p:txBody>
        </p:sp>
        <p:cxnSp>
          <p:nvCxnSpPr>
            <p:cNvPr id="50" name="Connector 49"/>
            <p:cNvCxnSpPr/>
            <p:nvPr/>
          </p:nvCxnSpPr>
          <p:spPr>
            <a:xfrm>
              <a:off x="6095848" y="1605778"/>
              <a:ext cx="0" cy="1406987"/>
            </a:xfrm>
            <a:prstGeom prst="line">
              <a:avLst/>
            </a:prstGeom>
            <a:ln w="14273">
              <a:solidFill>
                <a:srgbClr val="B4222A"/>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95848" y="4195450"/>
              <a:ext cx="0" cy="1203076"/>
            </a:xfrm>
            <a:prstGeom prst="line">
              <a:avLst/>
            </a:prstGeom>
            <a:ln w="14273">
              <a:solidFill>
                <a:srgbClr val="B4222A"/>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925174" y="3115536"/>
              <a:ext cx="341347" cy="177158"/>
            </a:xfrm>
            <a:prstGeom prst="rect">
              <a:avLst/>
            </a:prstGeom>
            <a:noFill/>
          </p:spPr>
          <p:txBody>
            <a:bodyPr wrap="none" anchor="ctr" lIns="0" rIns="0" tIns="0" bIns="0">
              <a:noAutofit/>
            </a:bodyPr>
            <a:lstStyle/>
            <a:p>
              <a:pPr algn="ctr"/>
              <a:r>
                <a:rPr sz="960" b="1">
                  <a:solidFill>
                    <a:srgbClr val="B4222A"/>
                  </a:solidFill>
                  <a:latin typeface="맑은 고딕"/>
                  <a:ea typeface="맑은 고딕"/>
                  <a:cs typeface="맑은 고딕"/>
                </a:rPr>
                <a:t>3단계</a:t>
              </a:r>
            </a:p>
          </p:txBody>
        </p:sp>
        <p:sp>
          <p:nvSpPr>
            <p:cNvPr id="53" name="TextBox 52"/>
            <p:cNvSpPr txBox="1"/>
            <p:nvPr/>
          </p:nvSpPr>
          <p:spPr>
            <a:xfrm>
              <a:off x="5853655" y="3328624"/>
              <a:ext cx="484386" cy="140250"/>
            </a:xfrm>
            <a:prstGeom prst="rect">
              <a:avLst/>
            </a:prstGeom>
            <a:noFill/>
          </p:spPr>
          <p:txBody>
            <a:bodyPr wrap="none" anchor="ctr" lIns="0" rIns="0" tIns="0" bIns="0">
              <a:noAutofit/>
            </a:bodyPr>
            <a:lstStyle/>
            <a:p>
              <a:pPr algn="ctr"/>
              <a:r>
                <a:rPr sz="760" b="0">
                  <a:solidFill>
                    <a:srgbClr val="B4222A"/>
                  </a:solidFill>
                  <a:latin typeface="맑은 고딕"/>
                  <a:ea typeface="맑은 고딕"/>
                  <a:cs typeface="맑은 고딕"/>
                </a:rPr>
                <a:t>tactic 선택</a:t>
              </a:r>
            </a:p>
          </p:txBody>
        </p:sp>
        <p:cxnSp>
          <p:nvCxnSpPr>
            <p:cNvPr id="54" name="Connector 53"/>
            <p:cNvCxnSpPr/>
            <p:nvPr/>
          </p:nvCxnSpPr>
          <p:spPr>
            <a:xfrm>
              <a:off x="5728807" y="3665281"/>
              <a:ext cx="632125" cy="0"/>
            </a:xfrm>
            <a:prstGeom prst="line">
              <a:avLst/>
            </a:prstGeom>
            <a:ln w="22430">
              <a:solidFill>
                <a:srgbClr val="B4222A"/>
              </a:solidFill>
            </a:ln>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6340541" y="3593912"/>
              <a:ext cx="142738" cy="142738"/>
            </a:xfrm>
            <a:custGeom>
              <a:avLst/>
              <a:gdLst/>
              <a:ahLst/>
              <a:cxnLst/>
              <a:rect l="l" t="t" r="r" b="b"/>
              <a:pathLst>
                <a:path w="142738" h="142738">
                  <a:moveTo>
                    <a:pt x="0" y="0"/>
                  </a:moveTo>
                  <a:lnTo>
                    <a:pt x="142738" y="71369"/>
                  </a:lnTo>
                  <a:lnTo>
                    <a:pt x="0" y="142738"/>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4749" y="3797619"/>
              <a:ext cx="302196"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형상이</a:t>
              </a:r>
            </a:p>
          </p:txBody>
        </p:sp>
        <p:sp>
          <p:nvSpPr>
            <p:cNvPr id="57" name="TextBox 56"/>
            <p:cNvSpPr txBox="1"/>
            <p:nvPr/>
          </p:nvSpPr>
          <p:spPr>
            <a:xfrm>
              <a:off x="5889347" y="3940357"/>
              <a:ext cx="413002"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못 박힌다</a:t>
              </a:r>
            </a:p>
          </p:txBody>
        </p:sp>
        <p:sp>
          <p:nvSpPr>
            <p:cNvPr id="58" name="Rounded Rectangle 57"/>
            <p:cNvSpPr/>
            <p:nvPr/>
          </p:nvSpPr>
          <p:spPr>
            <a:xfrm>
              <a:off x="6544452" y="1463040"/>
              <a:ext cx="4282135" cy="4078224"/>
            </a:xfrm>
            <a:prstGeom prst="roundRect">
              <a:avLst>
                <a:gd name="adj" fmla="val 2500"/>
              </a:avLst>
            </a:prstGeom>
            <a:solidFill>
              <a:srgbClr val="FDF7F0"/>
            </a:solidFill>
            <a:ln w="2548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61556" y="1597417"/>
              <a:ext cx="3047927" cy="214066"/>
            </a:xfrm>
            <a:prstGeom prst="rect">
              <a:avLst/>
            </a:prstGeom>
            <a:noFill/>
          </p:spPr>
          <p:txBody>
            <a:bodyPr wrap="none" anchor="ctr" lIns="0" rIns="0" tIns="0" bIns="0">
              <a:noAutofit/>
            </a:bodyPr>
            <a:lstStyle/>
            <a:p>
              <a:pPr algn="ctr"/>
              <a:r>
                <a:rPr sz="1160" b="1">
                  <a:solidFill>
                    <a:srgbClr val="B45409"/>
                  </a:solidFill>
                  <a:latin typeface="맑은 고딕"/>
                  <a:ea typeface="맑은 고딕"/>
                  <a:cs typeface="맑은 고딕"/>
                </a:rPr>
                <a:t>(b) Low-Level Operator — 어떻게 내려놓는가</a:t>
              </a:r>
            </a:p>
          </p:txBody>
        </p:sp>
        <p:sp>
          <p:nvSpPr>
            <p:cNvPr id="60" name="Rounded Rectangle 59"/>
            <p:cNvSpPr/>
            <p:nvPr/>
          </p:nvSpPr>
          <p:spPr>
            <a:xfrm>
              <a:off x="6789146" y="1993209"/>
              <a:ext cx="1733245" cy="489387"/>
            </a:xfrm>
            <a:prstGeom prst="roundRect">
              <a:avLst>
                <a:gd name="adj" fmla="val 14583"/>
              </a:avLst>
            </a:prstGeom>
            <a:solidFill>
              <a:srgbClr val="FDEBD3"/>
            </a:solidFill>
            <a:ln w="1835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74579" y="2075589"/>
              <a:ext cx="962379" cy="177158"/>
            </a:xfrm>
            <a:prstGeom prst="rect">
              <a:avLst/>
            </a:prstGeom>
            <a:noFill/>
          </p:spPr>
          <p:txBody>
            <a:bodyPr wrap="none" anchor="ctr" lIns="0" rIns="0" tIns="0" bIns="0">
              <a:noAutofit/>
            </a:bodyPr>
            <a:lstStyle/>
            <a:p>
              <a:pPr algn="ctr"/>
              <a:r>
                <a:rPr sz="960" b="1">
                  <a:solidFill>
                    <a:srgbClr val="B45409"/>
                  </a:solidFill>
                  <a:latin typeface="맑은 고딕"/>
                  <a:ea typeface="맑은 고딕"/>
                  <a:cs typeface="맑은 고딕"/>
                </a:rPr>
                <a:t>Original Tensor</a:t>
              </a:r>
            </a:p>
          </p:txBody>
        </p:sp>
        <p:sp>
          <p:nvSpPr>
            <p:cNvPr id="62" name="TextBox 61"/>
            <p:cNvSpPr txBox="1"/>
            <p:nvPr/>
          </p:nvSpPr>
          <p:spPr>
            <a:xfrm>
              <a:off x="7265291" y="2276850"/>
              <a:ext cx="780954" cy="155013"/>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A × B × C × D</a:t>
              </a:r>
            </a:p>
          </p:txBody>
        </p:sp>
        <p:cxnSp>
          <p:nvCxnSpPr>
            <p:cNvPr id="63" name="Connector 62"/>
            <p:cNvCxnSpPr/>
            <p:nvPr/>
          </p:nvCxnSpPr>
          <p:spPr>
            <a:xfrm>
              <a:off x="7655768" y="2482596"/>
              <a:ext cx="0" cy="122347"/>
            </a:xfrm>
            <a:prstGeom prst="line">
              <a:avLst/>
            </a:prstGeom>
            <a:ln w="20391">
              <a:solidFill>
                <a:srgbClr val="B45409"/>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7594595" y="2584552"/>
              <a:ext cx="122347" cy="101955"/>
            </a:xfrm>
            <a:custGeom>
              <a:avLst/>
              <a:gdLst/>
              <a:ahLst/>
              <a:cxnLst/>
              <a:rect l="l" t="t" r="r" b="b"/>
              <a:pathLst>
                <a:path w="122347" h="101955">
                  <a:moveTo>
                    <a:pt x="0" y="0"/>
                  </a:moveTo>
                  <a:lnTo>
                    <a:pt x="61173" y="101955"/>
                  </a:lnTo>
                  <a:lnTo>
                    <a:pt x="122347" y="0"/>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55737" y="2748496"/>
              <a:ext cx="1000062" cy="177158"/>
            </a:xfrm>
            <a:prstGeom prst="rect">
              <a:avLst/>
            </a:prstGeom>
            <a:noFill/>
          </p:spPr>
          <p:txBody>
            <a:bodyPr wrap="none" anchor="ctr" lIns="0" rIns="0" tIns="0" bIns="0">
              <a:noAutofit/>
            </a:bodyPr>
            <a:lstStyle/>
            <a:p>
              <a:pPr algn="ctr"/>
              <a:r>
                <a:rPr sz="960" b="1">
                  <a:solidFill>
                    <a:srgbClr val="B45409"/>
                  </a:solidFill>
                  <a:latin typeface="맑은 고딕"/>
                  <a:ea typeface="맑은 고딕"/>
                  <a:cs typeface="맑은 고딕"/>
                </a:rPr>
                <a:t>Lowered Tensor</a:t>
              </a:r>
            </a:p>
          </p:txBody>
        </p:sp>
        <p:sp>
          <p:nvSpPr>
            <p:cNvPr id="66" name="Rounded Rectangle 65"/>
            <p:cNvSpPr/>
            <p:nvPr/>
          </p:nvSpPr>
          <p:spPr>
            <a:xfrm>
              <a:off x="6860514" y="2992374"/>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268337" y="2992374"/>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676159" y="2992374"/>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8083982" y="2992374"/>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860514" y="3277850"/>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268337" y="3277850"/>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676159" y="3277850"/>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6860514" y="3563325"/>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268337" y="3563325"/>
              <a:ext cx="367040" cy="244693"/>
            </a:xfrm>
            <a:prstGeom prst="roundRect">
              <a:avLst>
                <a:gd name="adj" fmla="val 12500"/>
              </a:avLst>
            </a:prstGeom>
            <a:solidFill>
              <a:srgbClr val="FDEBD3"/>
            </a:solidFill>
            <a:ln w="1223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8083982" y="3277850"/>
              <a:ext cx="367040" cy="244693"/>
            </a:xfrm>
            <a:prstGeom prst="roundRect">
              <a:avLst>
                <a:gd name="adj" fmla="val 12500"/>
              </a:avLst>
            </a:prstGeom>
            <a:solidFill>
              <a:srgbClr val="FDF7F0"/>
            </a:solidFill>
            <a:ln w="12234">
              <a:solidFill>
                <a:srgbClr val="D6DEE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676159" y="3563325"/>
              <a:ext cx="367040" cy="244693"/>
            </a:xfrm>
            <a:prstGeom prst="roundRect">
              <a:avLst>
                <a:gd name="adj" fmla="val 12500"/>
              </a:avLst>
            </a:prstGeom>
            <a:solidFill>
              <a:srgbClr val="FDF7F0"/>
            </a:solidFill>
            <a:ln w="12234">
              <a:solidFill>
                <a:srgbClr val="D6DEE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083982" y="3563325"/>
              <a:ext cx="367040" cy="244693"/>
            </a:xfrm>
            <a:prstGeom prst="roundRect">
              <a:avLst>
                <a:gd name="adj" fmla="val 12500"/>
              </a:avLst>
            </a:prstGeom>
            <a:solidFill>
              <a:srgbClr val="FDF7F0"/>
            </a:solidFill>
            <a:ln w="12234">
              <a:solidFill>
                <a:srgbClr val="D6DEE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67158" y="3899575"/>
              <a:ext cx="1377221"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빈 칸 = 분할이 늘 균등하지는 않다</a:t>
              </a:r>
            </a:p>
          </p:txBody>
        </p:sp>
        <p:sp>
          <p:nvSpPr>
            <p:cNvPr id="79" name="Rounded Rectangle 78"/>
            <p:cNvSpPr/>
            <p:nvPr/>
          </p:nvSpPr>
          <p:spPr>
            <a:xfrm>
              <a:off x="8705911" y="1993209"/>
              <a:ext cx="1957548" cy="1998330"/>
            </a:xfrm>
            <a:prstGeom prst="roundRect">
              <a:avLst>
                <a:gd name="adj" fmla="val 4166"/>
              </a:avLst>
            </a:prstGeom>
            <a:solidFill>
              <a:srgbClr val="FFF7E6"/>
            </a:solidFill>
            <a:ln w="1631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54819" y="2116371"/>
              <a:ext cx="859730" cy="177158"/>
            </a:xfrm>
            <a:prstGeom prst="rect">
              <a:avLst/>
            </a:prstGeom>
            <a:noFill/>
          </p:spPr>
          <p:txBody>
            <a:bodyPr wrap="none" anchor="ctr" lIns="0" rIns="0" tIns="0" bIns="0">
              <a:noAutofit/>
            </a:bodyPr>
            <a:lstStyle/>
            <a:p>
              <a:pPr algn="ctr"/>
              <a:r>
                <a:rPr sz="960" b="1">
                  <a:solidFill>
                    <a:srgbClr val="B45409"/>
                  </a:solidFill>
                  <a:latin typeface="맑은 고딕"/>
                  <a:ea typeface="맑은 고딕"/>
                  <a:cs typeface="맑은 고딕"/>
                </a:rPr>
                <a:t>여기서 고정된다</a:t>
              </a:r>
            </a:p>
          </p:txBody>
        </p:sp>
        <p:sp>
          <p:nvSpPr>
            <p:cNvPr id="81" name="TextBox 80"/>
            <p:cNvSpPr txBox="1"/>
            <p:nvPr/>
          </p:nvSpPr>
          <p:spPr>
            <a:xfrm>
              <a:off x="8869040" y="2439979"/>
              <a:ext cx="1111107" cy="155013"/>
            </a:xfrm>
            <a:prstGeom prst="rect">
              <a:avLst/>
            </a:prstGeom>
            <a:noFill/>
          </p:spPr>
          <p:txBody>
            <a:bodyPr wrap="none" anchor="ctr" lIns="0" rIns="0" tIns="0" bIns="0">
              <a:noAutofit/>
            </a:bodyPr>
            <a:lstStyle/>
            <a:p>
              <a:pPr algn="l"/>
              <a:r>
                <a:rPr sz="840" b="0">
                  <a:solidFill>
                    <a:srgbClr val="16202C"/>
                  </a:solidFill>
                  <a:latin typeface="맑은 고딕"/>
                  <a:ea typeface="맑은 고딕"/>
                  <a:cs typeface="맑은 고딕"/>
                </a:rPr>
                <a:t>· operation sequence</a:t>
              </a:r>
            </a:p>
          </p:txBody>
        </p:sp>
        <p:sp>
          <p:nvSpPr>
            <p:cNvPr id="82" name="TextBox 81"/>
            <p:cNvSpPr txBox="1"/>
            <p:nvPr/>
          </p:nvSpPr>
          <p:spPr>
            <a:xfrm>
              <a:off x="8869040" y="2705063"/>
              <a:ext cx="675614" cy="155013"/>
            </a:xfrm>
            <a:prstGeom prst="rect">
              <a:avLst/>
            </a:prstGeom>
            <a:noFill/>
          </p:spPr>
          <p:txBody>
            <a:bodyPr wrap="none" anchor="ctr" lIns="0" rIns="0" tIns="0" bIns="0">
              <a:noAutofit/>
            </a:bodyPr>
            <a:lstStyle/>
            <a:p>
              <a:pPr algn="l"/>
              <a:r>
                <a:rPr sz="840" b="0">
                  <a:solidFill>
                    <a:srgbClr val="16202C"/>
                  </a:solidFill>
                  <a:latin typeface="맑은 고딕"/>
                  <a:ea typeface="맑은 고딕"/>
                  <a:cs typeface="맑은 고딕"/>
                </a:rPr>
                <a:t>· parallelism</a:t>
              </a:r>
            </a:p>
          </p:txBody>
        </p:sp>
        <p:sp>
          <p:nvSpPr>
            <p:cNvPr id="83" name="TextBox 82"/>
            <p:cNvSpPr txBox="1"/>
            <p:nvPr/>
          </p:nvSpPr>
          <p:spPr>
            <a:xfrm>
              <a:off x="8869040" y="2970148"/>
              <a:ext cx="943568" cy="155013"/>
            </a:xfrm>
            <a:prstGeom prst="rect">
              <a:avLst/>
            </a:prstGeom>
            <a:noFill/>
          </p:spPr>
          <p:txBody>
            <a:bodyPr wrap="none" anchor="ctr" lIns="0" rIns="0" tIns="0" bIns="0">
              <a:noAutofit/>
            </a:bodyPr>
            <a:lstStyle/>
            <a:p>
              <a:pPr algn="l"/>
              <a:r>
                <a:rPr sz="840" b="0">
                  <a:solidFill>
                    <a:srgbClr val="16202C"/>
                  </a:solidFill>
                  <a:latin typeface="맑은 고딕"/>
                  <a:ea typeface="맑은 고딕"/>
                  <a:cs typeface="맑은 고딕"/>
                </a:rPr>
                <a:t>· data reuse tactic</a:t>
              </a:r>
            </a:p>
          </p:txBody>
        </p:sp>
        <p:sp>
          <p:nvSpPr>
            <p:cNvPr id="84" name="TextBox 83"/>
            <p:cNvSpPr txBox="1"/>
            <p:nvPr/>
          </p:nvSpPr>
          <p:spPr>
            <a:xfrm>
              <a:off x="8869040" y="3235232"/>
              <a:ext cx="1199212" cy="155013"/>
            </a:xfrm>
            <a:prstGeom prst="rect">
              <a:avLst/>
            </a:prstGeom>
            <a:noFill/>
          </p:spPr>
          <p:txBody>
            <a:bodyPr wrap="none" anchor="ctr" lIns="0" rIns="0" tIns="0" bIns="0">
              <a:noAutofit/>
            </a:bodyPr>
            <a:lstStyle/>
            <a:p>
              <a:pPr algn="l"/>
              <a:r>
                <a:rPr sz="840" b="0">
                  <a:solidFill>
                    <a:srgbClr val="16202C"/>
                  </a:solidFill>
                  <a:latin typeface="맑은 고딕"/>
                  <a:ea typeface="맑은 고딕"/>
                  <a:cs typeface="맑은 고딕"/>
                </a:rPr>
                <a:t>· lowered in/out tensor</a:t>
              </a:r>
            </a:p>
          </p:txBody>
        </p:sp>
        <p:sp>
          <p:nvSpPr>
            <p:cNvPr id="85" name="TextBox 84"/>
            <p:cNvSpPr txBox="1"/>
            <p:nvPr/>
          </p:nvSpPr>
          <p:spPr>
            <a:xfrm>
              <a:off x="9153468" y="3593708"/>
              <a:ext cx="1062433"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tactic 선택이 끝난 결과물</a:t>
              </a:r>
            </a:p>
          </p:txBody>
        </p:sp>
        <p:sp>
          <p:nvSpPr>
            <p:cNvPr id="86" name="TextBox 85"/>
            <p:cNvSpPr txBox="1"/>
            <p:nvPr/>
          </p:nvSpPr>
          <p:spPr>
            <a:xfrm>
              <a:off x="7904892" y="4167310"/>
              <a:ext cx="1561256" cy="162395"/>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하드웨어 단계와 나란히 대응된다</a:t>
              </a:r>
            </a:p>
          </p:txBody>
        </p:sp>
        <p:sp>
          <p:nvSpPr>
            <p:cNvPr id="87" name="Rounded Rectangle 86"/>
            <p:cNvSpPr/>
            <p:nvPr/>
          </p:nvSpPr>
          <p:spPr>
            <a:xfrm>
              <a:off x="6666799" y="4399361"/>
              <a:ext cx="774863" cy="428214"/>
            </a:xfrm>
            <a:prstGeom prst="roundRect">
              <a:avLst>
                <a:gd name="adj" fmla="val 14285"/>
              </a:avLst>
            </a:prstGeom>
            <a:solidFill>
              <a:srgbClr val="EEF2F7"/>
            </a:solidFill>
            <a:ln w="14273">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885514" y="4540264"/>
              <a:ext cx="337432" cy="155013"/>
            </a:xfrm>
            <a:prstGeom prst="rect">
              <a:avLst/>
            </a:prstGeom>
            <a:noFill/>
          </p:spPr>
          <p:txBody>
            <a:bodyPr wrap="none" anchor="ctr" lIns="0" rIns="0" tIns="0" bIns="0">
              <a:noAutofit/>
            </a:bodyPr>
            <a:lstStyle/>
            <a:p>
              <a:pPr algn="ctr"/>
              <a:r>
                <a:rPr sz="840" b="1">
                  <a:solidFill>
                    <a:srgbClr val="5B6B7B"/>
                  </a:solidFill>
                  <a:latin typeface="맑은 고딕"/>
                  <a:ea typeface="맑은 고딕"/>
                  <a:cs typeface="맑은 고딕"/>
                </a:rPr>
                <a:t>SRAM</a:t>
              </a:r>
            </a:p>
          </p:txBody>
        </p:sp>
        <p:sp>
          <p:nvSpPr>
            <p:cNvPr id="89" name="Rounded Rectangle 88"/>
            <p:cNvSpPr/>
            <p:nvPr/>
          </p:nvSpPr>
          <p:spPr>
            <a:xfrm>
              <a:off x="7625182" y="4399361"/>
              <a:ext cx="774863" cy="428214"/>
            </a:xfrm>
            <a:prstGeom prst="roundRect">
              <a:avLst>
                <a:gd name="adj" fmla="val 14285"/>
              </a:avLst>
            </a:prstGeom>
            <a:solidFill>
              <a:srgbClr val="FDEBD3"/>
            </a:solidFill>
            <a:ln w="1427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921992" y="4540264"/>
              <a:ext cx="181241" cy="155013"/>
            </a:xfrm>
            <a:prstGeom prst="rect">
              <a:avLst/>
            </a:prstGeom>
            <a:noFill/>
          </p:spPr>
          <p:txBody>
            <a:bodyPr wrap="none" anchor="ctr" lIns="0" rIns="0" tIns="0" bIns="0">
              <a:noAutofit/>
            </a:bodyPr>
            <a:lstStyle/>
            <a:p>
              <a:pPr algn="ctr"/>
              <a:r>
                <a:rPr sz="840" b="1">
                  <a:solidFill>
                    <a:srgbClr val="B45409"/>
                  </a:solidFill>
                  <a:latin typeface="맑은 고딕"/>
                  <a:ea typeface="맑은 고딕"/>
                  <a:cs typeface="맑은 고딕"/>
                </a:rPr>
                <a:t>FU</a:t>
              </a:r>
            </a:p>
          </p:txBody>
        </p:sp>
        <p:sp>
          <p:nvSpPr>
            <p:cNvPr id="91" name="Rounded Rectangle 90"/>
            <p:cNvSpPr/>
            <p:nvPr/>
          </p:nvSpPr>
          <p:spPr>
            <a:xfrm>
              <a:off x="8583564" y="4399361"/>
              <a:ext cx="1203076" cy="428214"/>
            </a:xfrm>
            <a:prstGeom prst="roundRect">
              <a:avLst>
                <a:gd name="adj" fmla="val 14285"/>
              </a:avLst>
            </a:prstGeom>
            <a:solidFill>
              <a:srgbClr val="FDEBD3"/>
            </a:solidFill>
            <a:ln w="1631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84579" y="4458699"/>
              <a:ext cx="201046" cy="155013"/>
            </a:xfrm>
            <a:prstGeom prst="rect">
              <a:avLst/>
            </a:prstGeom>
            <a:noFill/>
          </p:spPr>
          <p:txBody>
            <a:bodyPr wrap="none" anchor="ctr" lIns="0" rIns="0" tIns="0" bIns="0">
              <a:noAutofit/>
            </a:bodyPr>
            <a:lstStyle/>
            <a:p>
              <a:pPr algn="ctr"/>
              <a:r>
                <a:rPr sz="840" b="1">
                  <a:solidFill>
                    <a:srgbClr val="B45409"/>
                  </a:solidFill>
                  <a:latin typeface="맑은 고딕"/>
                  <a:ea typeface="맑은 고딕"/>
                  <a:cs typeface="맑은 고딕"/>
                </a:rPr>
                <a:t>OU</a:t>
              </a:r>
            </a:p>
          </p:txBody>
        </p:sp>
        <p:sp>
          <p:nvSpPr>
            <p:cNvPr id="93" name="TextBox 92"/>
            <p:cNvSpPr txBox="1"/>
            <p:nvPr/>
          </p:nvSpPr>
          <p:spPr>
            <a:xfrm>
              <a:off x="8911795" y="4639569"/>
              <a:ext cx="546615" cy="132869"/>
            </a:xfrm>
            <a:prstGeom prst="rect">
              <a:avLst/>
            </a:prstGeom>
            <a:noFill/>
          </p:spPr>
          <p:txBody>
            <a:bodyPr wrap="none" anchor="ctr" lIns="0" rIns="0" tIns="0" bIns="0">
              <a:noAutofit/>
            </a:bodyPr>
            <a:lstStyle/>
            <a:p>
              <a:pPr algn="ctr"/>
              <a:r>
                <a:rPr sz="720" b="0">
                  <a:solidFill>
                    <a:srgbClr val="16202C"/>
                  </a:solidFill>
                  <a:latin typeface="맑은 고딕"/>
                  <a:ea typeface="맑은 고딕"/>
                  <a:cs typeface="맑은 고딕"/>
                </a:rPr>
                <a:t>CE · VE · TE</a:t>
              </a:r>
            </a:p>
          </p:txBody>
        </p:sp>
        <p:sp>
          <p:nvSpPr>
            <p:cNvPr id="94" name="Rounded Rectangle 93"/>
            <p:cNvSpPr/>
            <p:nvPr/>
          </p:nvSpPr>
          <p:spPr>
            <a:xfrm>
              <a:off x="9970160" y="4399361"/>
              <a:ext cx="774863" cy="428214"/>
            </a:xfrm>
            <a:prstGeom prst="roundRect">
              <a:avLst>
                <a:gd name="adj" fmla="val 14285"/>
              </a:avLst>
            </a:prstGeom>
            <a:solidFill>
              <a:srgbClr val="FDEBD3"/>
            </a:solidFill>
            <a:ln w="1427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264188" y="4540264"/>
              <a:ext cx="186808" cy="155013"/>
            </a:xfrm>
            <a:prstGeom prst="rect">
              <a:avLst/>
            </a:prstGeom>
            <a:noFill/>
          </p:spPr>
          <p:txBody>
            <a:bodyPr wrap="none" anchor="ctr" lIns="0" rIns="0" tIns="0" bIns="0">
              <a:noAutofit/>
            </a:bodyPr>
            <a:lstStyle/>
            <a:p>
              <a:pPr algn="ctr"/>
              <a:r>
                <a:rPr sz="840" b="1">
                  <a:solidFill>
                    <a:srgbClr val="B45409"/>
                  </a:solidFill>
                  <a:latin typeface="맑은 고딕"/>
                  <a:ea typeface="맑은 고딕"/>
                  <a:cs typeface="맑은 고딕"/>
                </a:rPr>
                <a:t>CU</a:t>
              </a:r>
            </a:p>
          </p:txBody>
        </p:sp>
        <p:cxnSp>
          <p:nvCxnSpPr>
            <p:cNvPr id="96" name="Connector 95"/>
            <p:cNvCxnSpPr/>
            <p:nvPr/>
          </p:nvCxnSpPr>
          <p:spPr>
            <a:xfrm>
              <a:off x="7441661" y="4613468"/>
              <a:ext cx="81565" cy="0"/>
            </a:xfrm>
            <a:prstGeom prst="line">
              <a:avLst/>
            </a:prstGeom>
            <a:ln w="18352">
              <a:solidFill>
                <a:srgbClr val="B45409"/>
              </a:solidFill>
            </a:ln>
          </p:spPr>
          <p:style>
            <a:lnRef idx="2">
              <a:schemeClr val="accent1"/>
            </a:lnRef>
            <a:fillRef idx="0">
              <a:schemeClr val="accent1"/>
            </a:fillRef>
            <a:effectRef idx="1">
              <a:schemeClr val="accent1"/>
            </a:effectRef>
            <a:fontRef idx="minor">
              <a:schemeClr val="tx1"/>
            </a:fontRef>
          </p:style>
        </p:cxnSp>
        <p:sp>
          <p:nvSpPr>
            <p:cNvPr id="97" name="Freeform 96"/>
            <p:cNvSpPr/>
            <p:nvPr/>
          </p:nvSpPr>
          <p:spPr>
            <a:xfrm>
              <a:off x="7502835" y="4562490"/>
              <a:ext cx="122347" cy="101956"/>
            </a:xfrm>
            <a:custGeom>
              <a:avLst/>
              <a:gdLst/>
              <a:ahLst/>
              <a:cxnLst/>
              <a:rect l="l" t="t" r="r" b="b"/>
              <a:pathLst>
                <a:path w="122347" h="101956">
                  <a:moveTo>
                    <a:pt x="0" y="0"/>
                  </a:moveTo>
                  <a:lnTo>
                    <a:pt x="122347" y="50978"/>
                  </a:lnTo>
                  <a:lnTo>
                    <a:pt x="0" y="101956"/>
                  </a:lnTo>
                  <a:close/>
                </a:path>
              </a:pathLst>
            </a:custGeom>
            <a:solidFill>
              <a:srgbClr val="B45409"/>
            </a:solidFill>
            <a:ln w="1835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Connector 97"/>
            <p:cNvCxnSpPr/>
            <p:nvPr/>
          </p:nvCxnSpPr>
          <p:spPr>
            <a:xfrm>
              <a:off x="8400044" y="4613468"/>
              <a:ext cx="81565" cy="0"/>
            </a:xfrm>
            <a:prstGeom prst="line">
              <a:avLst/>
            </a:prstGeom>
            <a:ln w="18352">
              <a:solidFill>
                <a:srgbClr val="B45409"/>
              </a:solidFill>
            </a:ln>
          </p:spPr>
          <p:style>
            <a:lnRef idx="2">
              <a:schemeClr val="accent1"/>
            </a:lnRef>
            <a:fillRef idx="0">
              <a:schemeClr val="accent1"/>
            </a:fillRef>
            <a:effectRef idx="1">
              <a:schemeClr val="accent1"/>
            </a:effectRef>
            <a:fontRef idx="minor">
              <a:schemeClr val="tx1"/>
            </a:fontRef>
          </p:style>
        </p:cxnSp>
        <p:sp>
          <p:nvSpPr>
            <p:cNvPr id="99" name="Freeform 98"/>
            <p:cNvSpPr/>
            <p:nvPr/>
          </p:nvSpPr>
          <p:spPr>
            <a:xfrm>
              <a:off x="8461217" y="4562490"/>
              <a:ext cx="122347" cy="101956"/>
            </a:xfrm>
            <a:custGeom>
              <a:avLst/>
              <a:gdLst/>
              <a:ahLst/>
              <a:cxnLst/>
              <a:rect l="l" t="t" r="r" b="b"/>
              <a:pathLst>
                <a:path w="122347" h="101956">
                  <a:moveTo>
                    <a:pt x="0" y="0"/>
                  </a:moveTo>
                  <a:lnTo>
                    <a:pt x="122347" y="50978"/>
                  </a:lnTo>
                  <a:lnTo>
                    <a:pt x="0" y="101956"/>
                  </a:lnTo>
                  <a:close/>
                </a:path>
              </a:pathLst>
            </a:custGeom>
            <a:solidFill>
              <a:srgbClr val="B45409"/>
            </a:solidFill>
            <a:ln w="1835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a:off x="9786640" y="4613468"/>
              <a:ext cx="81565" cy="0"/>
            </a:xfrm>
            <a:prstGeom prst="line">
              <a:avLst/>
            </a:prstGeom>
            <a:ln w="18352">
              <a:solidFill>
                <a:srgbClr val="B45409"/>
              </a:solidFill>
            </a:ln>
          </p:spPr>
          <p:style>
            <a:lnRef idx="2">
              <a:schemeClr val="accent1"/>
            </a:lnRef>
            <a:fillRef idx="0">
              <a:schemeClr val="accent1"/>
            </a:fillRef>
            <a:effectRef idx="1">
              <a:schemeClr val="accent1"/>
            </a:effectRef>
            <a:fontRef idx="minor">
              <a:schemeClr val="tx1"/>
            </a:fontRef>
          </p:style>
        </p:cxnSp>
        <p:sp>
          <p:nvSpPr>
            <p:cNvPr id="101" name="Freeform 100"/>
            <p:cNvSpPr/>
            <p:nvPr/>
          </p:nvSpPr>
          <p:spPr>
            <a:xfrm>
              <a:off x="9847814" y="4562490"/>
              <a:ext cx="122346" cy="101956"/>
            </a:xfrm>
            <a:custGeom>
              <a:avLst/>
              <a:gdLst/>
              <a:ahLst/>
              <a:cxnLst/>
              <a:rect l="l" t="t" r="r" b="b"/>
              <a:pathLst>
                <a:path w="122346" h="101956">
                  <a:moveTo>
                    <a:pt x="0" y="0"/>
                  </a:moveTo>
                  <a:lnTo>
                    <a:pt x="122346" y="50978"/>
                  </a:lnTo>
                  <a:lnTo>
                    <a:pt x="0" y="101956"/>
                  </a:lnTo>
                  <a:close/>
                </a:path>
              </a:pathLst>
            </a:custGeom>
            <a:solidFill>
              <a:srgbClr val="B45409"/>
            </a:solidFill>
            <a:ln w="1835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744092" y="4988869"/>
              <a:ext cx="1882855" cy="155013"/>
            </a:xfrm>
            <a:prstGeom prst="rect">
              <a:avLst/>
            </a:prstGeom>
            <a:noFill/>
          </p:spPr>
          <p:txBody>
            <a:bodyPr wrap="none" anchor="ctr" lIns="0" rIns="0" tIns="0" bIns="0">
              <a:noAutofit/>
            </a:bodyPr>
            <a:lstStyle/>
            <a:p>
              <a:pPr algn="ctr"/>
              <a:r>
                <a:rPr sz="840" b="0">
                  <a:solidFill>
                    <a:srgbClr val="16202C"/>
                  </a:solidFill>
                  <a:latin typeface="맑은 고딕"/>
                  <a:ea typeface="맑은 고딕"/>
                  <a:cs typeface="맑은 고딕"/>
                </a:rPr>
                <a:t>하드웨어 명령과 완전한 1:1 대응은 아니다</a:t>
              </a:r>
            </a:p>
          </p:txBody>
        </p:sp>
        <p:sp>
          <p:nvSpPr>
            <p:cNvPr id="103" name="TextBox 102"/>
            <p:cNvSpPr txBox="1"/>
            <p:nvPr/>
          </p:nvSpPr>
          <p:spPr>
            <a:xfrm>
              <a:off x="7778349" y="5204607"/>
              <a:ext cx="1814341" cy="140250"/>
            </a:xfrm>
            <a:prstGeom prst="rect">
              <a:avLst/>
            </a:prstGeom>
            <a:noFill/>
          </p:spPr>
          <p:txBody>
            <a:bodyPr wrap="none" anchor="ctr" lIns="0" rIns="0" tIns="0" bIns="0">
              <a:noAutofit/>
            </a:bodyPr>
            <a:lstStyle/>
            <a:p>
              <a:pPr algn="ctr"/>
              <a:r>
                <a:rPr sz="760" b="0">
                  <a:solidFill>
                    <a:srgbClr val="5B6B7B"/>
                  </a:solidFill>
                  <a:latin typeface="맑은 고딕"/>
                  <a:ea typeface="맑은 고딕"/>
                  <a:cs typeface="맑은 고딕"/>
                </a:rPr>
                <a:t>그래서 4단계에서 command 로 다시 쪼갠다</a:t>
              </a:r>
            </a:p>
          </p:txBody>
        </p:sp>
      </p:grpSp>
      <p:sp>
        <p:nvSpPr>
          <p:cNvPr id="104" name="Rectangle 10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3단계 경계선이 곧 '아직 형상이 자유로운 세계'와 '형상이 못 박힌 세계'의 경계다</a:t>
            </a:r>
          </a:p>
        </p:txBody>
      </p:sp>
      <p:sp>
        <p:nvSpPr>
          <p:cNvPr id="105" name="Rectangle 10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9 두 계층의 역할 분담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(a) 무엇을 하는가 | 3단계 경계 | (b) 어떻게 내려놓는가</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(a) 는 primitive operator 를 clustering 한 결과물이다. 커널의 고정 구조(Read→EinOps→VectorOps→Write)는 슬라이스 파이프라인 모양을 그대로 베낀 것이다</a:t>
            </a:r>
          </a:p>
          <a:p>
            <a:pPr algn="l">
              <a:lnSpc>
                <a:spcPct val="118000"/>
              </a:lnSpc>
              <a:spcBef>
                <a:spcPts val="600"/>
              </a:spcBef>
              <a:spcAft>
                <a:spcPts val="200"/>
              </a:spcAft>
            </a:pPr>
            <a:r>
              <a:rPr sz="1900" b="0" i="0">
                <a:solidFill>
                  <a:srgbClr val="16202C"/>
                </a:solidFill>
                <a:latin typeface="Segoe UI"/>
                <a:ea typeface="맑은 고딕"/>
                <a:cs typeface="맑은 고딕"/>
              </a:rPr>
              <a:t>▪  왼쪽의 FU / CE / VE / CU 태그는 IV 절 슬라이스 파이프라인과의 대응을 표시하려고 붙인 것이다. Fig. 9(a) 원본에는 이 태그가 없다</a:t>
            </a:r>
          </a:p>
          <a:p>
            <a:pPr algn="l">
              <a:lnSpc>
                <a:spcPct val="118000"/>
              </a:lnSpc>
              <a:spcBef>
                <a:spcPts val="600"/>
              </a:spcBef>
              <a:spcAft>
                <a:spcPts val="200"/>
              </a:spcAft>
            </a:pPr>
            <a:r>
              <a:rPr sz="1900" b="1" i="0">
                <a:solidFill>
                  <a:srgbClr val="083F80"/>
                </a:solidFill>
                <a:latin typeface="Segoe UI"/>
                <a:ea typeface="맑은 고딕"/>
                <a:cs typeface="맑은 고딕"/>
              </a:rPr>
              <a:t>▪  (b) 오른쪽 Operator Tensor 열의 표기(대괄호 = 슬라이스 분할, 소문자 첨자 = stride·루프)는 II 절 low-level einsum 계열로 읽히지만, 논문 본문은 (b) 의 표기를 따로 설명하지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Lowered Tensor 격자에 빈 칸이 있는 것은 Fig. 9(b) 원본 그대로다. 분할이 항상 균등하지는 않음을 나타낸다</a:t>
            </a:r>
          </a:p>
          <a:p>
            <a:pPr algn="l">
              <a:lnSpc>
                <a:spcPct val="118000"/>
              </a:lnSpc>
              <a:spcBef>
                <a:spcPts val="600"/>
              </a:spcBef>
              <a:spcAft>
                <a:spcPts val="200"/>
              </a:spcAft>
            </a:pPr>
            <a:r>
              <a:rPr sz="1900" b="0" i="0">
                <a:solidFill>
                  <a:srgbClr val="16202C"/>
                </a:solidFill>
                <a:latin typeface="Segoe UI"/>
                <a:ea typeface="맑은 고딕"/>
                <a:cs typeface="맑은 고딕"/>
              </a:rPr>
              <a:t>▪  이 경계를 명확히 잡아 두면 뒤의 4, 5단계 설명이 훨씬 쉬워진다</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C-1. Primitive Operator Conversion (1단계)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PyTorch 같은 ML 프레임워크는 방대한 연산 집합을 갖는다. 논문은 이 사실을 참고문헌 [5] 로 인용한다</a:t>
            </a:r>
          </a:p>
          <a:p>
            <a:pPr algn="l">
              <a:lnSpc>
                <a:spcPct val="118000"/>
              </a:lnSpc>
              <a:spcBef>
                <a:spcPts val="600"/>
              </a:spcBef>
              <a:spcAft>
                <a:spcPts val="200"/>
              </a:spcAft>
            </a:pPr>
            <a:r>
              <a:rPr sz="1700" b="1" i="0">
                <a:solidFill>
                  <a:srgbClr val="083F80"/>
                </a:solidFill>
                <a:latin typeface="Segoe UI"/>
                <a:ea typeface="맑은 고딕"/>
                <a:cs typeface="맑은 고딕"/>
              </a:rPr>
              <a:t>▪  그러나 그중 많은 연산은 작은 primitive operator 집합으로 분해할 수 있다</a:t>
            </a:r>
          </a:p>
          <a:p>
            <a:pPr algn="l">
              <a:lnSpc>
                <a:spcPct val="118000"/>
              </a:lnSpc>
              <a:spcBef>
                <a:spcPts val="600"/>
              </a:spcBef>
              <a:spcAft>
                <a:spcPts val="200"/>
              </a:spcAft>
            </a:pPr>
            <a:r>
              <a:rPr sz="1700" b="1" i="0">
                <a:solidFill>
                  <a:srgbClr val="083F80"/>
                </a:solidFill>
                <a:latin typeface="Segoe UI"/>
                <a:ea typeface="맑은 고딕"/>
                <a:cs typeface="맑은 고딕"/>
              </a:rPr>
              <a:t>▪  논문이 열거한 primitive operator 예시는 다음과 같다</a:t>
            </a:r>
          </a:p>
          <a:p>
            <a:pPr algn="l">
              <a:lnSpc>
                <a:spcPct val="118000"/>
              </a:lnSpc>
              <a:spcBef>
                <a:spcPts val="200"/>
              </a:spcBef>
              <a:spcAft>
                <a:spcPts val="100"/>
              </a:spcAft>
            </a:pPr>
            <a:r>
              <a:rPr sz="1580" b="0" i="0">
                <a:solidFill>
                  <a:srgbClr val="2C3A4B"/>
                </a:solidFill>
                <a:latin typeface="Segoe UI"/>
                <a:ea typeface="맑은 고딕"/>
                <a:cs typeface="맑은 고딕"/>
              </a:rPr>
              <a:t>–  element-wise arithmetic operation (원소별 산술 연산)</a:t>
            </a:r>
          </a:p>
          <a:p>
            <a:pPr algn="l">
              <a:lnSpc>
                <a:spcPct val="118000"/>
              </a:lnSpc>
              <a:spcBef>
                <a:spcPts val="200"/>
              </a:spcBef>
              <a:spcAft>
                <a:spcPts val="100"/>
              </a:spcAft>
            </a:pPr>
            <a:r>
              <a:rPr sz="1580" b="0" i="0">
                <a:solidFill>
                  <a:srgbClr val="2C3A4B"/>
                </a:solidFill>
                <a:latin typeface="Segoe UI"/>
                <a:ea typeface="맑은 고딕"/>
                <a:cs typeface="맑은 고딕"/>
              </a:rPr>
              <a:t>–  텐서의 특정 축을 따른 reduction (축약)</a:t>
            </a:r>
          </a:p>
          <a:p>
            <a:pPr algn="l">
              <a:lnSpc>
                <a:spcPct val="118000"/>
              </a:lnSpc>
              <a:spcBef>
                <a:spcPts val="200"/>
              </a:spcBef>
              <a:spcAft>
                <a:spcPts val="100"/>
              </a:spcAft>
            </a:pPr>
            <a:r>
              <a:rPr sz="1580" b="0" i="0">
                <a:solidFill>
                  <a:srgbClr val="2C3A4B"/>
                </a:solidFill>
                <a:latin typeface="Segoe UI"/>
                <a:ea typeface="맑은 고딕"/>
                <a:cs typeface="맑은 고딕"/>
              </a:rPr>
              <a:t>–  linear algebra operation (선형대수 연산)</a:t>
            </a:r>
          </a:p>
          <a:p>
            <a:pPr algn="l">
              <a:lnSpc>
                <a:spcPct val="118000"/>
              </a:lnSpc>
              <a:spcBef>
                <a:spcPts val="200"/>
              </a:spcBef>
              <a:spcAft>
                <a:spcPts val="100"/>
              </a:spcAft>
            </a:pPr>
            <a:r>
              <a:rPr sz="1580" b="0" i="0">
                <a:solidFill>
                  <a:srgbClr val="2C3A4B"/>
                </a:solidFill>
                <a:latin typeface="Segoe UI"/>
                <a:ea typeface="맑은 고딕"/>
                <a:cs typeface="맑은 고딕"/>
              </a:rPr>
              <a:t>–  reshape / indexing / slice operation</a:t>
            </a:r>
          </a:p>
          <a:p>
            <a:pPr algn="l">
              <a:lnSpc>
                <a:spcPct val="118000"/>
              </a:lnSpc>
              <a:spcBef>
                <a:spcPts val="200"/>
              </a:spcBef>
              <a:spcAft>
                <a:spcPts val="100"/>
              </a:spcAft>
            </a:pPr>
            <a:r>
              <a:rPr sz="1580" b="0" i="0">
                <a:solidFill>
                  <a:srgbClr val="2C3A4B"/>
                </a:solidFill>
                <a:latin typeface="Segoe UI"/>
                <a:ea typeface="맑은 고딕"/>
                <a:cs typeface="맑은 고딕"/>
              </a:rPr>
              <a:t>–  type conversion (자료형 변환)</a:t>
            </a:r>
          </a:p>
          <a:p>
            <a:pPr algn="l">
              <a:lnSpc>
                <a:spcPct val="118000"/>
              </a:lnSpc>
              <a:spcBef>
                <a:spcPts val="200"/>
              </a:spcBef>
              <a:spcAft>
                <a:spcPts val="100"/>
              </a:spcAft>
            </a:pPr>
            <a:r>
              <a:rPr sz="1580" b="0" i="0">
                <a:solidFill>
                  <a:srgbClr val="2C3A4B"/>
                </a:solidFill>
                <a:latin typeface="Segoe UI"/>
                <a:ea typeface="맑은 고딕"/>
                <a:cs typeface="맑은 고딕"/>
              </a:rPr>
              <a:t>–  comparison operation (비교 연산)</a:t>
            </a:r>
          </a:p>
          <a:p>
            <a:pPr algn="l">
              <a:lnSpc>
                <a:spcPct val="118000"/>
              </a:lnSpc>
              <a:spcBef>
                <a:spcPts val="600"/>
              </a:spcBef>
              <a:spcAft>
                <a:spcPts val="200"/>
              </a:spcAft>
            </a:pPr>
            <a:r>
              <a:rPr sz="1700" b="0" i="0">
                <a:solidFill>
                  <a:srgbClr val="16202C"/>
                </a:solidFill>
                <a:latin typeface="Segoe UI"/>
                <a:ea typeface="맑은 고딕"/>
                <a:cs typeface="맑은 고딕"/>
              </a:rPr>
              <a:t>▪  1단계는 입력 연산자들을 이 primitive operator 들로 분해한다</a:t>
            </a:r>
          </a:p>
          <a:p>
            <a:pPr algn="l">
              <a:lnSpc>
                <a:spcPct val="118000"/>
              </a:lnSpc>
              <a:spcBef>
                <a:spcPts val="600"/>
              </a:spcBef>
              <a:spcAft>
                <a:spcPts val="200"/>
              </a:spcAft>
            </a:pPr>
            <a:r>
              <a:rPr sz="1700" b="0" i="0">
                <a:solidFill>
                  <a:srgbClr val="16202C"/>
                </a:solidFill>
                <a:latin typeface="Segoe UI"/>
                <a:ea typeface="맑은 고딕"/>
                <a:cs typeface="맑은 고딕"/>
              </a:rPr>
              <a:t>▪  논문은 primitive operator 의 정확한 개수나 전체 목록은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프레임워크의 넓은 연산 표면을 좁은 공통분모로 눌러 놓는 단계다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C-2. Tensor Kernel Generation (2단계)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primitive operator 의 그래프는 최적화하기에 너무 크고 너무 fine-grained(잘게 쪼개져) 하다</a:t>
            </a:r>
          </a:p>
          <a:p>
            <a:pPr algn="l">
              <a:lnSpc>
                <a:spcPct val="118000"/>
              </a:lnSpc>
              <a:spcBef>
                <a:spcPts val="600"/>
              </a:spcBef>
              <a:spcAft>
                <a:spcPts val="200"/>
              </a:spcAft>
            </a:pPr>
            <a:r>
              <a:rPr sz="1700" b="1" i="0">
                <a:solidFill>
                  <a:srgbClr val="083F80"/>
                </a:solidFill>
                <a:latin typeface="Segoe UI"/>
                <a:ea typeface="맑은 고딕"/>
                <a:cs typeface="맑은 고딕"/>
              </a:rPr>
              <a:t>▪  그래서 primitive operator 를 clustering 해 kernel 을 만든다 (Fig. 9(a) 가 그 예시다)</a:t>
            </a:r>
          </a:p>
          <a:p>
            <a:pPr algn="l">
              <a:lnSpc>
                <a:spcPct val="118000"/>
              </a:lnSpc>
              <a:spcBef>
                <a:spcPts val="600"/>
              </a:spcBef>
              <a:spcAft>
                <a:spcPts val="200"/>
              </a:spcAft>
            </a:pPr>
            <a:r>
              <a:rPr sz="1700" b="1" i="0">
                <a:solidFill>
                  <a:srgbClr val="083F80"/>
                </a:solidFill>
                <a:latin typeface="Segoe UI"/>
                <a:ea typeface="맑은 고딕"/>
                <a:cs typeface="맑은 고딕"/>
              </a:rPr>
              <a:t>▪  kernel 은 read, contraction, vector operation, write 의 시퀀스로 구조화된 연산 단위다</a:t>
            </a:r>
          </a:p>
          <a:p>
            <a:pPr algn="l">
              <a:lnSpc>
                <a:spcPct val="118000"/>
              </a:lnSpc>
              <a:spcBef>
                <a:spcPts val="600"/>
              </a:spcBef>
              <a:spcAft>
                <a:spcPts val="200"/>
              </a:spcAft>
            </a:pPr>
            <a:r>
              <a:rPr sz="1700" b="1" i="0">
                <a:solidFill>
                  <a:srgbClr val="083F80"/>
                </a:solidFill>
                <a:latin typeface="Segoe UI"/>
                <a:ea typeface="맑은 고딕"/>
                <a:cs typeface="맑은 고딕"/>
              </a:rPr>
              <a:t>▪  clustering 의 목적은 데이터 재사용을 최대화하는 것이며, 수단은 두 가지다</a:t>
            </a:r>
          </a:p>
          <a:p>
            <a:pPr algn="l">
              <a:lnSpc>
                <a:spcPct val="118000"/>
              </a:lnSpc>
              <a:spcBef>
                <a:spcPts val="200"/>
              </a:spcBef>
              <a:spcAft>
                <a:spcPts val="100"/>
              </a:spcAft>
            </a:pPr>
            <a:r>
              <a:rPr sz="1580" b="0" i="0">
                <a:solidFill>
                  <a:srgbClr val="2C3A4B"/>
                </a:solidFill>
                <a:latin typeface="Segoe UI"/>
                <a:ea typeface="맑은 고딕"/>
                <a:cs typeface="맑은 고딕"/>
              </a:rPr>
              <a:t>–  연산자를 fusing(융합)한다</a:t>
            </a:r>
          </a:p>
          <a:p>
            <a:pPr algn="l">
              <a:lnSpc>
                <a:spcPct val="118000"/>
              </a:lnSpc>
              <a:spcBef>
                <a:spcPts val="200"/>
              </a:spcBef>
              <a:spcAft>
                <a:spcPts val="100"/>
              </a:spcAft>
            </a:pPr>
            <a:r>
              <a:rPr sz="1580" b="0" i="0">
                <a:solidFill>
                  <a:srgbClr val="2C3A4B"/>
                </a:solidFill>
                <a:latin typeface="Segoe UI"/>
                <a:ea typeface="맑은 고딕"/>
                <a:cs typeface="맑은 고딕"/>
              </a:rPr>
              <a:t>–  중복된 텐서 사용(redundant tensor usage)을 제거한다</a:t>
            </a:r>
          </a:p>
          <a:p>
            <a:pPr algn="l">
              <a:lnSpc>
                <a:spcPct val="118000"/>
              </a:lnSpc>
              <a:spcBef>
                <a:spcPts val="600"/>
              </a:spcBef>
              <a:spcAft>
                <a:spcPts val="200"/>
              </a:spcAft>
            </a:pPr>
            <a:r>
              <a:rPr sz="1700" b="1" i="0">
                <a:solidFill>
                  <a:srgbClr val="083F80"/>
                </a:solidFill>
                <a:latin typeface="Segoe UI"/>
                <a:ea typeface="맑은 고딕"/>
                <a:cs typeface="맑은 고딕"/>
              </a:rPr>
              <a:t>▪  하드웨어적 근거: 슬라이스 파이프라인이 FU → OU → CU 이고 CE, VE, TE 를 컴파일러가 체이닝할 수 있으므로, 이 모양의 커널은 한 번의 스트리밍으로 실행된다</a:t>
            </a:r>
          </a:p>
          <a:p>
            <a:pPr algn="l">
              <a:lnSpc>
                <a:spcPct val="118000"/>
              </a:lnSpc>
              <a:spcBef>
                <a:spcPts val="600"/>
              </a:spcBef>
              <a:spcAft>
                <a:spcPts val="200"/>
              </a:spcAft>
            </a:pPr>
            <a:r>
              <a:rPr sz="1700" b="0" i="0">
                <a:solidFill>
                  <a:srgbClr val="16202C"/>
                </a:solidFill>
                <a:latin typeface="Segoe UI"/>
                <a:ea typeface="맑은 고딕"/>
                <a:cs typeface="맑은 고딕"/>
              </a:rPr>
              <a:t>▪  IV-D 절의 예: LLaMA-2 feed-forward 레이어의 expand 연산에 SiLU 같은 활성함수를 융합해 성능과 에너지 효율을 높인다</a:t>
            </a:r>
          </a:p>
          <a:p>
            <a:pPr algn="l">
              <a:lnSpc>
                <a:spcPct val="118000"/>
              </a:lnSpc>
              <a:spcBef>
                <a:spcPts val="600"/>
              </a:spcBef>
              <a:spcAft>
                <a:spcPts val="200"/>
              </a:spcAft>
            </a:pPr>
            <a:r>
              <a:rPr sz="1700" b="0" i="0">
                <a:solidFill>
                  <a:srgbClr val="16202C"/>
                </a:solidFill>
                <a:latin typeface="Segoe UI"/>
                <a:ea typeface="맑은 고딕"/>
                <a:cs typeface="맑은 고딕"/>
              </a:rPr>
              <a:t>▪  1단계가 잘게 부수는 단계였다면, 2단계는 하드웨어가 한 번에 삼킬 수 있는 크기로 다시 뭉치는 단계다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커널의 모양(read-contract-vector-write)은 슬라이스 파이프라인의 모양을 그대로 베낀 것이다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C-3. Low-Level Operator Generation (3단계) — tactic 이 결정되는 곳</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커널은 실행 가능하지만, 모든 커널이 하드웨어를 효율적으로 쓰는 것은 아니다</a:t>
            </a:r>
          </a:p>
          <a:p>
            <a:pPr algn="l">
              <a:lnSpc>
                <a:spcPct val="118000"/>
              </a:lnSpc>
              <a:spcBef>
                <a:spcPts val="600"/>
              </a:spcBef>
              <a:spcAft>
                <a:spcPts val="200"/>
              </a:spcAft>
            </a:pPr>
            <a:r>
              <a:rPr sz="1500" b="1" i="0">
                <a:solidFill>
                  <a:srgbClr val="083F80"/>
                </a:solidFill>
                <a:latin typeface="Segoe UI"/>
                <a:ea typeface="맑은 고딕"/>
                <a:cs typeface="맑은 고딕"/>
              </a:rPr>
              <a:t>▪  커널을 low-level operator 로 컴파일할 때 다음을 함께 고려한다</a:t>
            </a:r>
          </a:p>
          <a:p>
            <a:pPr algn="l">
              <a:lnSpc>
                <a:spcPct val="118000"/>
              </a:lnSpc>
              <a:spcBef>
                <a:spcPts val="200"/>
              </a:spcBef>
              <a:spcAft>
                <a:spcPts val="100"/>
              </a:spcAft>
            </a:pPr>
            <a:r>
              <a:rPr sz="1380" b="0" i="0">
                <a:solidFill>
                  <a:srgbClr val="2C3A4B"/>
                </a:solidFill>
                <a:latin typeface="Segoe UI"/>
                <a:ea typeface="맑은 고딕"/>
                <a:cs typeface="맑은 고딕"/>
              </a:rPr>
              <a:t>–  여러 가지 가능한 커널 선택지</a:t>
            </a:r>
          </a:p>
          <a:p>
            <a:pPr algn="l">
              <a:lnSpc>
                <a:spcPct val="118000"/>
              </a:lnSpc>
              <a:spcBef>
                <a:spcPts val="200"/>
              </a:spcBef>
              <a:spcAft>
                <a:spcPts val="100"/>
              </a:spcAft>
            </a:pPr>
            <a:r>
              <a:rPr sz="1380" b="1" i="0">
                <a:solidFill>
                  <a:srgbClr val="2C3A4B"/>
                </a:solidFill>
                <a:latin typeface="Segoe UI"/>
                <a:ea typeface="맑은 고딕"/>
                <a:cs typeface="맑은 고딕"/>
              </a:rPr>
              <a:t>–  인접 레이어 간 텐서 shape 차이 때문에 필요할 수 있는 bridge operator(브리지 연산자) 후보</a:t>
            </a:r>
          </a:p>
          <a:p>
            <a:pPr algn="l">
              <a:lnSpc>
                <a:spcPct val="118000"/>
              </a:lnSpc>
              <a:spcBef>
                <a:spcPts val="600"/>
              </a:spcBef>
              <a:spcAft>
                <a:spcPts val="200"/>
              </a:spcAft>
            </a:pPr>
            <a:r>
              <a:rPr sz="1500" b="0" i="0">
                <a:solidFill>
                  <a:srgbClr val="16202C"/>
                </a:solidFill>
                <a:latin typeface="Segoe UI"/>
                <a:ea typeface="맑은 고딕"/>
                <a:cs typeface="맑은 고딕"/>
              </a:rPr>
              <a:t>▪  bridge operator 는 II-B 절에서 도입된 개념이다. 앞 레이어 출력의 lowered shape 과 다음 레이어 입력의 lowered shape 이 맞지 않을 때 형상을 변환해 준다</a:t>
            </a:r>
          </a:p>
          <a:p>
            <a:pPr algn="l">
              <a:lnSpc>
                <a:spcPct val="118000"/>
              </a:lnSpc>
              <a:spcBef>
                <a:spcPts val="600"/>
              </a:spcBef>
              <a:spcAft>
                <a:spcPts val="200"/>
              </a:spcAft>
            </a:pPr>
            <a:r>
              <a:rPr sz="1500" b="1" i="0">
                <a:solidFill>
                  <a:srgbClr val="083F80"/>
                </a:solidFill>
                <a:latin typeface="Segoe UI"/>
                <a:ea typeface="맑은 고딕"/>
                <a:cs typeface="맑은 고딕"/>
              </a:rPr>
              <a:t>▪  그중 가장 cost-effective(비용 대비 효과가 좋은) 선택지를 고른다</a:t>
            </a:r>
          </a:p>
          <a:p>
            <a:pPr algn="l">
              <a:lnSpc>
                <a:spcPct val="118000"/>
              </a:lnSpc>
              <a:spcBef>
                <a:spcPts val="600"/>
              </a:spcBef>
              <a:spcAft>
                <a:spcPts val="200"/>
              </a:spcAft>
            </a:pPr>
            <a:r>
              <a:rPr sz="1500" b="1" i="0">
                <a:solidFill>
                  <a:srgbClr val="083F80"/>
                </a:solidFill>
                <a:latin typeface="Segoe UI"/>
                <a:ea typeface="맑은 고딕"/>
                <a:cs typeface="맑은 고딕"/>
              </a:rPr>
              <a:t>▪  cost 는 다음 세 가지를 고려해 결정된다: 커널과 bridge 의 input/output shape, lowered axis shape, tactic</a:t>
            </a:r>
          </a:p>
          <a:p>
            <a:pPr algn="l">
              <a:lnSpc>
                <a:spcPct val="118000"/>
              </a:lnSpc>
              <a:spcBef>
                <a:spcPts val="600"/>
              </a:spcBef>
              <a:spcAft>
                <a:spcPts val="200"/>
              </a:spcAft>
            </a:pPr>
            <a:r>
              <a:rPr sz="1500" b="1" i="0">
                <a:solidFill>
                  <a:srgbClr val="083F80"/>
                </a:solidFill>
                <a:latin typeface="Segoe UI"/>
                <a:ea typeface="맑은 고딕"/>
                <a:cs typeface="맑은 고딕"/>
              </a:rPr>
              <a:t>▪  최종 low-level operator 는 lowered input/output tensor 를 받고, operation sequence, parallelism, data reuse tactic 이 고정된 상태다</a:t>
            </a:r>
          </a:p>
          <a:p>
            <a:pPr algn="l">
              <a:lnSpc>
                <a:spcPct val="118000"/>
              </a:lnSpc>
              <a:spcBef>
                <a:spcPts val="600"/>
              </a:spcBef>
              <a:spcAft>
                <a:spcPts val="200"/>
              </a:spcAft>
            </a:pPr>
            <a:r>
              <a:rPr sz="1500" b="1" i="0">
                <a:solidFill>
                  <a:srgbClr val="083F80"/>
                </a:solidFill>
                <a:latin typeface="Segoe UI"/>
                <a:ea typeface="맑은 고딕"/>
                <a:cs typeface="맑은 고딕"/>
              </a:rPr>
              <a:t>▪  이 단계가 바로 Fig. 8 의 (a)(b)(c) 중 하나를 고르는 단계다</a:t>
            </a:r>
          </a:p>
          <a:p>
            <a:pPr algn="l">
              <a:lnSpc>
                <a:spcPct val="118000"/>
              </a:lnSpc>
              <a:spcBef>
                <a:spcPts val="600"/>
              </a:spcBef>
              <a:spcAft>
                <a:spcPts val="200"/>
              </a:spcAft>
            </a:pPr>
            <a:r>
              <a:rPr sz="1500" b="0" i="0">
                <a:solidFill>
                  <a:srgbClr val="16202C"/>
                </a:solidFill>
                <a:latin typeface="Segoe UI"/>
                <a:ea typeface="맑은 고딕"/>
                <a:cs typeface="맑은 고딕"/>
              </a:rPr>
              <a:t>▪  논문은 이 단계의 cost function 수식이나 탐색 알고리즘을 구체적으로 밝히지 않는다. I 절에서 '연산이 결정적이라 정확한 성능·에너지 cost model 을 만들 수 있다'고 밝힌 것이 근거의 전부다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tactic 선택은 Fig. 8 의 세 갈래 중 하나를 비용 기준으로 고르는 일이다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C-4. Command Generation (4단계)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command 는 tensor unit 한 번의 실행을 나타낸다</a:t>
            </a:r>
          </a:p>
          <a:p>
            <a:pPr algn="l">
              <a:lnSpc>
                <a:spcPct val="118000"/>
              </a:lnSpc>
              <a:spcBef>
                <a:spcPts val="600"/>
              </a:spcBef>
              <a:spcAft>
                <a:spcPts val="200"/>
              </a:spcAft>
            </a:pPr>
            <a:r>
              <a:rPr sz="1700" b="1" i="0">
                <a:solidFill>
                  <a:srgbClr val="083F80"/>
                </a:solidFill>
                <a:latin typeface="Segoe UI"/>
                <a:ea typeface="맑은 고딕"/>
                <a:cs typeface="맑은 고딕"/>
              </a:rPr>
              <a:t>▪  하나의 command 는 여러 sub-unit 의 동작을 기술한다: fetch unit, contraction engine, vector engine, transpose engine 등</a:t>
            </a:r>
          </a:p>
          <a:p>
            <a:pPr algn="l">
              <a:lnSpc>
                <a:spcPct val="118000"/>
              </a:lnSpc>
              <a:spcBef>
                <a:spcPts val="600"/>
              </a:spcBef>
              <a:spcAft>
                <a:spcPts val="200"/>
              </a:spcAft>
            </a:pPr>
            <a:r>
              <a:rPr sz="1700" b="1" i="0">
                <a:solidFill>
                  <a:srgbClr val="083F80"/>
                </a:solidFill>
                <a:latin typeface="Segoe UI"/>
                <a:ea typeface="맑은 고딕"/>
                <a:cs typeface="맑은 고딕"/>
              </a:rPr>
              <a:t>▪  low-level operator 는 대체로 하드웨어 명령에 대응하지만, buffer 와 RF 크기를 고려해 여러 command 로 더 잘게 나뉜다</a:t>
            </a:r>
          </a:p>
          <a:p>
            <a:pPr algn="l">
              <a:lnSpc>
                <a:spcPct val="118000"/>
              </a:lnSpc>
              <a:spcBef>
                <a:spcPts val="200"/>
              </a:spcBef>
              <a:spcAft>
                <a:spcPts val="100"/>
              </a:spcAft>
            </a:pPr>
            <a:r>
              <a:rPr sz="1580" b="0" i="0">
                <a:solidFill>
                  <a:srgbClr val="2C3A4B"/>
                </a:solidFill>
                <a:latin typeface="Segoe UI"/>
                <a:ea typeface="맑은 고딕"/>
                <a:cs typeface="맑은 고딕"/>
              </a:rPr>
              <a:t>–  예: 가중치가 슬라이스당 80 KB 인 RF 에 한 번에 들어가지 않으면, 그 low-level operator 는 여러 command 로 쪼개져야 한다</a:t>
            </a:r>
          </a:p>
          <a:p>
            <a:pPr algn="l">
              <a:lnSpc>
                <a:spcPct val="118000"/>
              </a:lnSpc>
              <a:spcBef>
                <a:spcPts val="600"/>
              </a:spcBef>
              <a:spcAft>
                <a:spcPts val="200"/>
              </a:spcAft>
            </a:pPr>
            <a:r>
              <a:rPr sz="1700" b="1" i="0">
                <a:solidFill>
                  <a:srgbClr val="083F80"/>
                </a:solidFill>
                <a:latin typeface="Segoe UI"/>
                <a:ea typeface="맑은 고딕"/>
                <a:cs typeface="맑은 고딕"/>
              </a:rPr>
              <a:t>▪  논문의 단계 요약문은 4단계 결과물을 '하드웨어 기능과 1:1 로 대응하는 command list' 라고 표현한다</a:t>
            </a:r>
          </a:p>
          <a:p>
            <a:pPr algn="l">
              <a:lnSpc>
                <a:spcPct val="118000"/>
              </a:lnSpc>
              <a:spcBef>
                <a:spcPts val="200"/>
              </a:spcBef>
              <a:spcAft>
                <a:spcPts val="100"/>
              </a:spcAft>
            </a:pPr>
            <a:r>
              <a:rPr sz="1580" b="1" i="0">
                <a:solidFill>
                  <a:srgbClr val="2C3A4B"/>
                </a:solidFill>
                <a:latin typeface="Segoe UI"/>
                <a:ea typeface="맑은 고딕"/>
                <a:cs typeface="맑은 고딕"/>
              </a:rPr>
              <a:t>–  즉 1:1 대응은 low-level operator 수준이 아니라 command 수준에서 성립한다</a:t>
            </a:r>
          </a:p>
          <a:p>
            <a:pPr algn="l">
              <a:lnSpc>
                <a:spcPct val="118000"/>
              </a:lnSpc>
              <a:spcBef>
                <a:spcPts val="600"/>
              </a:spcBef>
              <a:spcAft>
                <a:spcPts val="200"/>
              </a:spcAft>
            </a:pPr>
            <a:r>
              <a:rPr sz="1700" b="1" i="0">
                <a:solidFill>
                  <a:srgbClr val="083F80"/>
                </a:solidFill>
                <a:latin typeface="Segoe UI"/>
                <a:ea typeface="맑은 고딕"/>
                <a:cs typeface="맑은 고딕"/>
              </a:rPr>
              <a:t>▪  그리고 이 command 가 곧 V-A 절 커맨드 큐에 들어가는 그 단위다 (dma, load, exec, waitd/waite)</a:t>
            </a:r>
          </a:p>
          <a:p>
            <a:pPr algn="l">
              <a:lnSpc>
                <a:spcPct val="118000"/>
              </a:lnSpc>
              <a:spcBef>
                <a:spcPts val="600"/>
              </a:spcBef>
              <a:spcAft>
                <a:spcPts val="200"/>
              </a:spcAft>
            </a:pPr>
            <a:r>
              <a:rPr sz="1700" b="0" i="0">
                <a:solidFill>
                  <a:srgbClr val="16202C"/>
                </a:solidFill>
                <a:latin typeface="Segoe UI"/>
                <a:ea typeface="맑은 고딕"/>
                <a:cs typeface="맑은 고딕"/>
              </a:rPr>
              <a:t>▪  논문은 command 하나가 커버하는 최대 텐서 크기나 분할 규칙의 세부는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RF 와 버퍼에 들어가느냐가 low-level operator 를 command 로 쪼개는 기준이다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C-5. Scheduling &amp; Resource Allocation (5단계) — 바이너리 생성</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300" b="1" i="0">
                <a:solidFill>
                  <a:srgbClr val="083F80"/>
                </a:solidFill>
                <a:latin typeface="Segoe UI"/>
                <a:ea typeface="맑은 고딕"/>
                <a:cs typeface="맑은 고딕"/>
              </a:rPr>
              <a:t>▪  마지막으로 resource limit(자원 한계)을 고려해 command 들의 execution plan(실행 계획)을 생성한다</a:t>
            </a:r>
          </a:p>
          <a:p>
            <a:pPr algn="l">
              <a:lnSpc>
                <a:spcPct val="118000"/>
              </a:lnSpc>
              <a:spcBef>
                <a:spcPts val="600"/>
              </a:spcBef>
              <a:spcAft>
                <a:spcPts val="200"/>
              </a:spcAft>
            </a:pPr>
            <a:r>
              <a:rPr sz="1300" b="1" i="0">
                <a:solidFill>
                  <a:srgbClr val="083F80"/>
                </a:solidFill>
                <a:latin typeface="Segoe UI"/>
                <a:ea typeface="맑은 고딕"/>
                <a:cs typeface="맑은 고딕"/>
              </a:rPr>
              <a:t>▪  결정해야 할 것은 다음 네 가지다</a:t>
            </a:r>
          </a:p>
          <a:p>
            <a:pPr algn="l">
              <a:lnSpc>
                <a:spcPct val="118000"/>
              </a:lnSpc>
              <a:spcBef>
                <a:spcPts val="200"/>
              </a:spcBef>
              <a:spcAft>
                <a:spcPts val="100"/>
              </a:spcAft>
            </a:pPr>
            <a:r>
              <a:rPr sz="1180" b="0" i="0">
                <a:solidFill>
                  <a:srgbClr val="2C3A4B"/>
                </a:solidFill>
                <a:latin typeface="Segoe UI"/>
                <a:ea typeface="맑은 고딕"/>
                <a:cs typeface="맑은 고딕"/>
              </a:rPr>
              <a:t>–  각 command 를 언제 실행할 것인가</a:t>
            </a:r>
          </a:p>
          <a:p>
            <a:pPr algn="l">
              <a:lnSpc>
                <a:spcPct val="118000"/>
              </a:lnSpc>
              <a:spcBef>
                <a:spcPts val="200"/>
              </a:spcBef>
              <a:spcAft>
                <a:spcPts val="100"/>
              </a:spcAft>
            </a:pPr>
            <a:r>
              <a:rPr sz="1180" b="0" i="0">
                <a:solidFill>
                  <a:srgbClr val="2C3A4B"/>
                </a:solidFill>
                <a:latin typeface="Segoe UI"/>
                <a:ea typeface="맑은 고딕"/>
                <a:cs typeface="맑은 고딕"/>
              </a:rPr>
              <a:t>–  입력을 언제 준비할 것인가</a:t>
            </a:r>
          </a:p>
          <a:p>
            <a:pPr algn="l">
              <a:lnSpc>
                <a:spcPct val="118000"/>
              </a:lnSpc>
              <a:spcBef>
                <a:spcPts val="200"/>
              </a:spcBef>
              <a:spcAft>
                <a:spcPts val="100"/>
              </a:spcAft>
            </a:pPr>
            <a:r>
              <a:rPr sz="1180" b="0" i="0">
                <a:solidFill>
                  <a:srgbClr val="2C3A4B"/>
                </a:solidFill>
                <a:latin typeface="Segoe UI"/>
                <a:ea typeface="맑은 고딕"/>
                <a:cs typeface="맑은 고딕"/>
              </a:rPr>
              <a:t>–  출력을 어디에 저장할 것인가</a:t>
            </a:r>
          </a:p>
          <a:p>
            <a:pPr algn="l">
              <a:lnSpc>
                <a:spcPct val="118000"/>
              </a:lnSpc>
              <a:spcBef>
                <a:spcPts val="200"/>
              </a:spcBef>
              <a:spcAft>
                <a:spcPts val="100"/>
              </a:spcAft>
            </a:pPr>
            <a:r>
              <a:rPr sz="1180" b="0" i="0">
                <a:solidFill>
                  <a:srgbClr val="2C3A4B"/>
                </a:solidFill>
                <a:latin typeface="Segoe UI"/>
                <a:ea typeface="맑은 고딕"/>
                <a:cs typeface="맑은 고딕"/>
              </a:rPr>
              <a:t>–  자원 한계 안에서 여러 command 를 어떻게 동시에 돌릴 것인가</a:t>
            </a:r>
          </a:p>
          <a:p>
            <a:pPr algn="l">
              <a:lnSpc>
                <a:spcPct val="118000"/>
              </a:lnSpc>
              <a:spcBef>
                <a:spcPts val="600"/>
              </a:spcBef>
              <a:spcAft>
                <a:spcPts val="200"/>
              </a:spcAft>
            </a:pPr>
            <a:r>
              <a:rPr sz="1300" b="1" i="0">
                <a:solidFill>
                  <a:srgbClr val="083F80"/>
                </a:solidFill>
                <a:latin typeface="Segoe UI"/>
                <a:ea typeface="맑은 고딕"/>
                <a:cs typeface="맑은 고딕"/>
              </a:rPr>
              <a:t>▪  주 전략은 세 가지다</a:t>
            </a:r>
          </a:p>
          <a:p>
            <a:pPr algn="l">
              <a:lnSpc>
                <a:spcPct val="118000"/>
              </a:lnSpc>
              <a:spcBef>
                <a:spcPts val="200"/>
              </a:spcBef>
              <a:spcAft>
                <a:spcPts val="100"/>
              </a:spcAft>
            </a:pPr>
            <a:r>
              <a:rPr sz="1180" b="0" i="0">
                <a:solidFill>
                  <a:srgbClr val="2C3A4B"/>
                </a:solidFill>
                <a:latin typeface="Segoe UI"/>
                <a:ea typeface="맑은 고딕"/>
                <a:cs typeface="맑은 고딕"/>
              </a:rPr>
              <a:t>–  memory pressure(메모리 압박)를 줄인다</a:t>
            </a:r>
          </a:p>
          <a:p>
            <a:pPr algn="l">
              <a:lnSpc>
                <a:spcPct val="118000"/>
              </a:lnSpc>
              <a:spcBef>
                <a:spcPts val="200"/>
              </a:spcBef>
              <a:spcAft>
                <a:spcPts val="100"/>
              </a:spcAft>
            </a:pPr>
            <a:r>
              <a:rPr sz="1180" b="0" i="0">
                <a:solidFill>
                  <a:srgbClr val="2C3A4B"/>
                </a:solidFill>
                <a:latin typeface="Segoe UI"/>
                <a:ea typeface="맑은 고딕"/>
                <a:cs typeface="맑은 고딕"/>
              </a:rPr>
              <a:t>–  메모리 오버헤드를 숨기도록 command 를 스케줄한다</a:t>
            </a:r>
          </a:p>
          <a:p>
            <a:pPr algn="l">
              <a:lnSpc>
                <a:spcPct val="118000"/>
              </a:lnSpc>
              <a:spcBef>
                <a:spcPts val="200"/>
              </a:spcBef>
              <a:spcAft>
                <a:spcPts val="100"/>
              </a:spcAft>
            </a:pPr>
            <a:r>
              <a:rPr sz="1180" b="0" i="0">
                <a:solidFill>
                  <a:srgbClr val="2C3A4B"/>
                </a:solidFill>
                <a:latin typeface="Segoe UI"/>
                <a:ea typeface="맑은 고딕"/>
                <a:cs typeface="맑은 고딕"/>
              </a:rPr>
              <a:t>–  메모리 연산을 연산과 동시에 실행한다</a:t>
            </a:r>
          </a:p>
          <a:p>
            <a:pPr algn="l">
              <a:lnSpc>
                <a:spcPct val="118000"/>
              </a:lnSpc>
              <a:spcBef>
                <a:spcPts val="600"/>
              </a:spcBef>
              <a:spcAft>
                <a:spcPts val="200"/>
              </a:spcAft>
            </a:pPr>
            <a:r>
              <a:rPr sz="1300" b="1" i="0">
                <a:solidFill>
                  <a:srgbClr val="083F80"/>
                </a:solidFill>
                <a:latin typeface="Segoe UI"/>
                <a:ea typeface="맑은 고딕"/>
                <a:cs typeface="맑은 고딕"/>
              </a:rPr>
              <a:t>▪  스케줄링 알고리즘은 heuristic(휴리스틱), ILP(integer linear programming, 정수 선형 계획법), genetic algorithm(유전 알고리즘)을 섞어 쓴다</a:t>
            </a:r>
          </a:p>
          <a:p>
            <a:pPr algn="l">
              <a:lnSpc>
                <a:spcPct val="118000"/>
              </a:lnSpc>
              <a:spcBef>
                <a:spcPts val="600"/>
              </a:spcBef>
              <a:spcAft>
                <a:spcPts val="200"/>
              </a:spcAft>
            </a:pPr>
            <a:r>
              <a:rPr sz="1300" b="1" i="0">
                <a:solidFill>
                  <a:srgbClr val="083F80"/>
                </a:solidFill>
                <a:latin typeface="Segoe UI"/>
                <a:ea typeface="맑은 고딕"/>
                <a:cs typeface="맑은 고딕"/>
              </a:rPr>
              <a:t>▪  resource allocation 은 텐서를 SRAM(즉 DM slice)과 RF 에 매핑하는 일이다</a:t>
            </a:r>
          </a:p>
          <a:p>
            <a:pPr algn="l">
              <a:lnSpc>
                <a:spcPct val="118000"/>
              </a:lnSpc>
              <a:spcBef>
                <a:spcPts val="600"/>
              </a:spcBef>
              <a:spcAft>
                <a:spcPts val="200"/>
              </a:spcAft>
            </a:pPr>
            <a:r>
              <a:rPr sz="1300" b="0" i="0">
                <a:solidFill>
                  <a:srgbClr val="16202C"/>
                </a:solidFill>
                <a:latin typeface="Segoe UI"/>
                <a:ea typeface="맑은 고딕"/>
                <a:cs typeface="맑은 고딕"/>
              </a:rPr>
              <a:t>▪  스케줄링과 자원 할당이 끝나면 최선의 plan 이 executable(실행 파일)로 번역된다</a:t>
            </a:r>
          </a:p>
          <a:p>
            <a:pPr algn="l">
              <a:lnSpc>
                <a:spcPct val="118000"/>
              </a:lnSpc>
              <a:spcBef>
                <a:spcPts val="600"/>
              </a:spcBef>
              <a:spcAft>
                <a:spcPts val="200"/>
              </a:spcAft>
            </a:pPr>
            <a:r>
              <a:rPr sz="1300" b="0" i="0">
                <a:solidFill>
                  <a:srgbClr val="16202C"/>
                </a:solidFill>
                <a:latin typeface="Segoe UI"/>
                <a:ea typeface="맑은 고딕"/>
                <a:cs typeface="맑은 고딕"/>
              </a:rPr>
              <a:t>▪  논문은 세 기법을 각각 어떤 하위 문제에 적용하는지, 그리고 컴파일 소요 시간은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휴리스틱 + ILP + 유전 알고리즘의 혼합. 목적은 언제나 메모리를 연산 뒤에 숨기는 것이다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D. Low-Level API — 컴파일러 밖의 문</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0" i="0">
                <a:solidFill>
                  <a:srgbClr val="16202C"/>
                </a:solidFill>
                <a:latin typeface="Segoe UI"/>
                <a:ea typeface="맑은 고딕"/>
                <a:cs typeface="맑은 고딕"/>
              </a:rPr>
              <a:t>▪  대부분의 사용자는 PyTorch, TensorFlow 같은 프레임워크를 통해서만 AI 가속기를 접한다</a:t>
            </a:r>
          </a:p>
          <a:p>
            <a:pPr algn="l">
              <a:lnSpc>
                <a:spcPct val="118000"/>
              </a:lnSpc>
              <a:spcBef>
                <a:spcPts val="600"/>
              </a:spcBef>
              <a:spcAft>
                <a:spcPts val="200"/>
              </a:spcAft>
            </a:pPr>
            <a:r>
              <a:rPr sz="1700" b="1" i="0">
                <a:solidFill>
                  <a:srgbClr val="083F80"/>
                </a:solidFill>
                <a:latin typeface="Segoe UI"/>
                <a:ea typeface="맑은 고딕"/>
                <a:cs typeface="맑은 고딕"/>
              </a:rPr>
              <a:t>▪  그럼에도 low-level API 가 필요한 사례가 있다. 논문은 셋을 든다</a:t>
            </a:r>
          </a:p>
          <a:p>
            <a:pPr algn="l">
              <a:lnSpc>
                <a:spcPct val="118000"/>
              </a:lnSpc>
              <a:spcBef>
                <a:spcPts val="200"/>
              </a:spcBef>
              <a:spcAft>
                <a:spcPts val="100"/>
              </a:spcAft>
            </a:pPr>
            <a:r>
              <a:rPr sz="1580" b="1" i="0">
                <a:solidFill>
                  <a:srgbClr val="2C3A4B"/>
                </a:solidFill>
                <a:latin typeface="Segoe UI"/>
                <a:ea typeface="맑은 고딕"/>
                <a:cs typeface="맑은 고딕"/>
              </a:rPr>
              <a:t>–  완전히 새로운 AI 연산을 돌리려는데 컴파일러가 충분히 좋은 코드를 만들지 못하는 경우</a:t>
            </a:r>
          </a:p>
          <a:p>
            <a:pPr algn="l">
              <a:lnSpc>
                <a:spcPct val="118000"/>
              </a:lnSpc>
              <a:spcBef>
                <a:spcPts val="200"/>
              </a:spcBef>
              <a:spcAft>
                <a:spcPts val="100"/>
              </a:spcAft>
            </a:pPr>
            <a:r>
              <a:rPr sz="1580" b="1" i="0">
                <a:solidFill>
                  <a:srgbClr val="2C3A4B"/>
                </a:solidFill>
                <a:latin typeface="Segoe UI"/>
                <a:ea typeface="맑은 고딕"/>
                <a:cs typeface="맑은 고딕"/>
              </a:rPr>
              <a:t>–  컴파일러 및 런타임 연구자가 하드웨어에 저수준으로 접근해야 하는 경우</a:t>
            </a:r>
          </a:p>
          <a:p>
            <a:pPr algn="l">
              <a:lnSpc>
                <a:spcPct val="118000"/>
              </a:lnSpc>
              <a:spcBef>
                <a:spcPts val="200"/>
              </a:spcBef>
              <a:spcAft>
                <a:spcPts val="100"/>
              </a:spcAft>
            </a:pPr>
            <a:r>
              <a:rPr sz="1580" b="1" i="0">
                <a:solidFill>
                  <a:srgbClr val="2C3A4B"/>
                </a:solidFill>
                <a:latin typeface="Segoe UI"/>
                <a:ea typeface="맑은 고딕"/>
                <a:cs typeface="맑은 고딕"/>
              </a:rPr>
              <a:t>–  대규모 배포처럼 사람이 손으로 모델을 최적화하는 것이 재정적으로 타당한 경우</a:t>
            </a:r>
          </a:p>
          <a:p>
            <a:pPr algn="l">
              <a:lnSpc>
                <a:spcPct val="118000"/>
              </a:lnSpc>
              <a:spcBef>
                <a:spcPts val="600"/>
              </a:spcBef>
              <a:spcAft>
                <a:spcPts val="200"/>
              </a:spcAft>
            </a:pPr>
            <a:r>
              <a:rPr sz="1700" b="1" i="0">
                <a:solidFill>
                  <a:srgbClr val="083F80"/>
                </a:solidFill>
                <a:latin typeface="Segoe UI"/>
                <a:ea typeface="맑은 고딕"/>
                <a:cs typeface="맑은 고딕"/>
              </a:rPr>
              <a:t>▪  논문의 관찰: GPU 의 경우 학계 연구자가 벤더 소프트웨어를 정기적으로 능가해 왔고, 벤더는 그 성과를 다시 자기 소프트웨어에 흡수해 왔다</a:t>
            </a:r>
          </a:p>
          <a:p>
            <a:pPr algn="l">
              <a:lnSpc>
                <a:spcPct val="118000"/>
              </a:lnSpc>
              <a:spcBef>
                <a:spcPts val="200"/>
              </a:spcBef>
              <a:spcAft>
                <a:spcPts val="100"/>
              </a:spcAft>
            </a:pPr>
            <a:r>
              <a:rPr sz="1580" b="0" i="0">
                <a:solidFill>
                  <a:srgbClr val="2C3A4B"/>
                </a:solidFill>
                <a:latin typeface="Segoe UI"/>
                <a:ea typeface="맑은 고딕"/>
                <a:cs typeface="맑은 고딕"/>
              </a:rPr>
              <a:t>–  따라서 저수준을 막아 두면 그런 개선의 유입 경로 자체가 닫힌다는 논리다</a:t>
            </a:r>
          </a:p>
          <a:p>
            <a:pPr algn="l">
              <a:lnSpc>
                <a:spcPct val="118000"/>
              </a:lnSpc>
              <a:spcBef>
                <a:spcPts val="600"/>
              </a:spcBef>
              <a:spcAft>
                <a:spcPts val="200"/>
              </a:spcAft>
            </a:pPr>
            <a:r>
              <a:rPr sz="1700" b="1" i="0">
                <a:solidFill>
                  <a:srgbClr val="083F80"/>
                </a:solidFill>
                <a:latin typeface="Segoe UI"/>
                <a:ea typeface="맑은 고딕"/>
                <a:cs typeface="맑은 고딕"/>
              </a:rPr>
              <a:t>▪  이런 사용 사례를 위해 TCP 는 이 논문에서 사용한 low-level einsum notation 과 유사한 API 를 제공한다</a:t>
            </a:r>
          </a:p>
          <a:p>
            <a:pPr algn="l">
              <a:lnSpc>
                <a:spcPct val="118000"/>
              </a:lnSpc>
              <a:spcBef>
                <a:spcPts val="600"/>
              </a:spcBef>
              <a:spcAft>
                <a:spcPts val="200"/>
              </a:spcAft>
            </a:pPr>
            <a:r>
              <a:rPr sz="1700" b="1" i="0">
                <a:solidFill>
                  <a:srgbClr val="083F80"/>
                </a:solidFill>
                <a:latin typeface="Segoe UI"/>
                <a:ea typeface="맑은 고딕"/>
                <a:cs typeface="맑은 고딕"/>
              </a:rPr>
              <a:t>▪  즉 II 절의 표기법은 논문 설명용 장치가 아니라 실제로 노출되는 사용자 인터페이스다</a:t>
            </a:r>
          </a:p>
          <a:p>
            <a:pPr algn="l">
              <a:lnSpc>
                <a:spcPct val="118000"/>
              </a:lnSpc>
              <a:spcBef>
                <a:spcPts val="600"/>
              </a:spcBef>
              <a:spcAft>
                <a:spcPts val="200"/>
              </a:spcAft>
            </a:pPr>
            <a:r>
              <a:rPr sz="1700" b="0" i="0">
                <a:solidFill>
                  <a:srgbClr val="16202C"/>
                </a:solidFill>
                <a:latin typeface="Segoe UI"/>
                <a:ea typeface="맑은 고딕"/>
                <a:cs typeface="맑은 고딕"/>
              </a:rPr>
              <a:t>▪  논문은 이 API 의 구체적 문법, 이름, 공개 범위는 밝히지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저수준 einsum 표기는 논문의 설명 도구가 아니라 실제로 노출되는 API 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정리: 무엇이 어디에서 결정되는가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181</a:t>
            </a:r>
          </a:p>
        </p:txBody>
      </p:sp>
      <p:graphicFrame>
        <p:nvGraphicFramePr>
          <p:cNvPr id="8" name="Table 7"/>
          <p:cNvGraphicFramePr>
            <a:graphicFrameLocks noGrp="1"/>
          </p:cNvGraphicFramePr>
          <p:nvPr/>
        </p:nvGraphicFramePr>
        <p:xfrm>
          <a:off x="566928" y="1517904"/>
          <a:ext cx="11057838" cy="4041648"/>
        </p:xfrm>
        <a:graphic>
          <a:graphicData uri="http://schemas.openxmlformats.org/drawingml/2006/table">
            <a:tbl>
              <a:tblPr firstRow="1" bandRow="1">
                <a:tableStyleId>{5C22544A-7EE6-4342-B048-85BDC9FD1C3A}</a:tableStyleId>
              </a:tblPr>
              <a:tblGrid>
                <a:gridCol w="3299516"/>
                <a:gridCol w="3031988"/>
                <a:gridCol w="4726334"/>
              </a:tblGrid>
              <a:tr h="367422">
                <a:tc>
                  <a:txBody>
                    <a:bodyPr wrap="square"/>
                    <a:lstStyle/>
                    <a:p>
                      <a:r>
                        <a:rPr sz="1000" b="1" i="0">
                          <a:solidFill>
                            <a:srgbClr val="FFFFFF"/>
                          </a:solidFill>
                          <a:latin typeface="Segoe UI"/>
                          <a:ea typeface="맑은 고딕"/>
                          <a:cs typeface="맑은 고딕"/>
                        </a:rPr>
                        <a:t>결정 항목</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결정 주체 / 단계</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근거</a:t>
                      </a:r>
                    </a:p>
                  </a:txBody>
                  <a:tcPr marL="73152" marR="73152" marT="27432" marB="27432">
                    <a:solidFill>
                      <a:srgbClr val="0B5FC0"/>
                    </a:solidFill>
                  </a:tcPr>
                </a:tc>
              </a:tr>
              <a:tr h="367422">
                <a:tc>
                  <a:txBody>
                    <a:bodyPr wrap="square"/>
                    <a:lstStyle/>
                    <a:p>
                      <a:r>
                        <a:rPr sz="1000" b="0" i="0">
                          <a:solidFill>
                            <a:srgbClr val="16202C"/>
                          </a:solidFill>
                          <a:latin typeface="Segoe UI"/>
                          <a:ea typeface="맑은 고딕"/>
                          <a:cs typeface="맑은 고딕"/>
                        </a:rPr>
                        <a:t>어떤 primitive 로 분해할지</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컴파일러 1단계</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프레임워크 연산자를 고정된 primitive 집합으로 분해</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어떤 연산을 한 커널로 묶을지</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컴파일러 2단계</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데이터 재사용 최대화, 중복 텐서 사용 제거</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lowered shape 과 tactic</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컴파일러 3단계</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cost function: shape, lowered axis shape, tactic</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bridge operator 삽입 여부</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컴파일러 3단계</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인접 레이어 간 lowered shape 불일치 (II-B)</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command 분할 단위</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컴파일러 4단계</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buffer 와 RF 크기</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실행 시점, 입력 준비, 출력 배치</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컴파일러 5단계</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heuristic + ILP + 유전 알고리즘</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텐서의 SRAM(DM slice)·RF 배치</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컴파일러 5단계 resource allocation</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자원 한계와 메모리 압박</a:t>
                      </a:r>
                    </a:p>
                  </a:txBody>
                  <a:tcPr marL="73152" marR="73152" marT="27432" marB="27432">
                    <a:solidFill>
                      <a:srgbClr val="FFFFFF"/>
                    </a:solidFill>
                  </a:tcPr>
                </a:tc>
              </a:tr>
              <a:tr h="367422">
                <a:tc>
                  <a:txBody>
                    <a:bodyPr wrap="square"/>
                    <a:lstStyle/>
                    <a:p>
                      <a:r>
                        <a:rPr sz="1000" b="0" i="0">
                          <a:solidFill>
                            <a:srgbClr val="16202C"/>
                          </a:solidFill>
                          <a:latin typeface="Segoe UI"/>
                          <a:ea typeface="맑은 고딕"/>
                          <a:cs typeface="맑은 고딕"/>
                        </a:rPr>
                        <a:t>fetch network 토폴로지</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컴파일러가 결정, 실행 중에는 고정</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circuit-switched, lowered shape 과 tactic 기반 (IV-B)</a:t>
                      </a:r>
                    </a:p>
                  </a:txBody>
                  <a:tcPr marL="73152" marR="73152" marT="27432" marB="27432">
                    <a:solidFill>
                      <a:srgbClr val="F6F9FC"/>
                    </a:solidFill>
                  </a:tcPr>
                </a:tc>
              </a:tr>
              <a:tr h="367422">
                <a:tc>
                  <a:txBody>
                    <a:bodyPr wrap="square"/>
                    <a:lstStyle/>
                    <a:p>
                      <a:r>
                        <a:rPr sz="1000" b="0" i="0">
                          <a:solidFill>
                            <a:srgbClr val="16202C"/>
                          </a:solidFill>
                          <a:latin typeface="Segoe UI"/>
                          <a:ea typeface="맑은 고딕"/>
                          <a:cs typeface="맑은 고딕"/>
                        </a:rPr>
                        <a:t>b, l 같은 동적 축의 실제 크기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런타임, 제어 레지스터</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요청 수와 토큰 생성 길이에 따라 동적 결정 (II-B)</a:t>
                      </a:r>
                    </a:p>
                  </a:txBody>
                  <a:tcPr marL="73152" marR="73152" marT="27432" marB="27432">
                    <a:solidFill>
                      <a:srgbClr val="FFFFFF"/>
                    </a:solidFill>
                  </a:tcPr>
                </a:tc>
              </a:tr>
              <a:tr h="367428">
                <a:tc>
                  <a:txBody>
                    <a:bodyPr wrap="square"/>
                    <a:lstStyle/>
                    <a:p>
                      <a:r>
                        <a:rPr sz="1000" b="0" i="0">
                          <a:solidFill>
                            <a:srgbClr val="16202C"/>
                          </a:solidFill>
                          <a:latin typeface="Segoe UI"/>
                          <a:ea typeface="맑은 고딕"/>
                          <a:cs typeface="맑은 고딕"/>
                        </a:rPr>
                        <a:t>커맨드 큐를 채워 TU 를 놀리지 않는 일</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런타임의 CPU 코어</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큐가 비면 TU 가 멈춘다 (V-A)</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거의 모든 것이 컴파일 타임에 결정되고, 런타임에는 동적 축의 크기와 큐 공급만 남는다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6부 · PROGRAMMING INTERFACE</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182</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2600" b="1" i="0">
                <a:solidFill>
                  <a:srgbClr val="083F80"/>
                </a:solidFill>
                <a:latin typeface="Segoe UI"/>
                <a:ea typeface="맑은 고딕"/>
                <a:cs typeface="맑은 고딕"/>
              </a:rPr>
              <a:t>선언적 einsum 을 결정적 하드웨어 커맨드로 내리는 것, 그것이 TCP 소프트웨어 스택의 전부다</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V. Programming Interface and Software Stack 요약</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7</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CASE STUDY (1)</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LLaMA-2 7B 매핑과 성능 비교</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VI절이 답하려는 질문</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논문이 이 절에서 밝히겠다고 선언한 것 네 가지</a:t>
            </a:r>
          </a:p>
          <a:p>
            <a:pPr algn="l">
              <a:lnSpc>
                <a:spcPct val="118000"/>
              </a:lnSpc>
              <a:spcBef>
                <a:spcPts val="200"/>
              </a:spcBef>
              <a:spcAft>
                <a:spcPts val="100"/>
              </a:spcAft>
            </a:pPr>
            <a:r>
              <a:rPr sz="1780" b="0" i="0">
                <a:solidFill>
                  <a:srgbClr val="2C3A4B"/>
                </a:solidFill>
                <a:latin typeface="Segoe UI"/>
                <a:ea typeface="맑은 고딕"/>
                <a:cs typeface="맑은 고딕"/>
              </a:rPr>
              <a:t>–  LLaMA-2 7B 모델[20]을 TCP 칩 위에서 어떻게 실행할 수 있는가</a:t>
            </a:r>
          </a:p>
          <a:p>
            <a:pPr algn="l">
              <a:lnSpc>
                <a:spcPct val="118000"/>
              </a:lnSpc>
              <a:spcBef>
                <a:spcPts val="200"/>
              </a:spcBef>
              <a:spcAft>
                <a:spcPts val="100"/>
              </a:spcAft>
            </a:pPr>
            <a:r>
              <a:rPr sz="1780" b="0" i="0">
                <a:solidFill>
                  <a:srgbClr val="2C3A4B"/>
                </a:solidFill>
                <a:latin typeface="Segoe UI"/>
                <a:ea typeface="맑은 고딕"/>
                <a:cs typeface="맑은 고딕"/>
              </a:rPr>
              <a:t>–  작은 batch size 에서도 TCP 가 어떻게 높은 utilization(이용률)을 달성하는가</a:t>
            </a:r>
          </a:p>
          <a:p>
            <a:pPr algn="l">
              <a:lnSpc>
                <a:spcPct val="118000"/>
              </a:lnSpc>
              <a:spcBef>
                <a:spcPts val="200"/>
              </a:spcBef>
              <a:spcAft>
                <a:spcPts val="100"/>
              </a:spcAft>
            </a:pPr>
            <a:r>
              <a:rPr sz="1780" b="0" i="0">
                <a:solidFill>
                  <a:srgbClr val="2C3A4B"/>
                </a:solidFill>
                <a:latin typeface="Segoe UI"/>
                <a:ea typeface="맑은 고딕"/>
                <a:cs typeface="맑은 고딕"/>
              </a:rPr>
              <a:t>–  data reuse 를 통해 energy efficiency(에너지 효율)가 어떻게 개선되는가</a:t>
            </a:r>
          </a:p>
          <a:p>
            <a:pPr algn="l">
              <a:lnSpc>
                <a:spcPct val="118000"/>
              </a:lnSpc>
              <a:spcBef>
                <a:spcPts val="200"/>
              </a:spcBef>
              <a:spcAft>
                <a:spcPts val="100"/>
              </a:spcAft>
            </a:pPr>
            <a:r>
              <a:rPr sz="1780" b="0" i="0">
                <a:solidFill>
                  <a:srgbClr val="2C3A4B"/>
                </a:solidFill>
                <a:latin typeface="Segoe UI"/>
                <a:ea typeface="맑은 고딕"/>
                <a:cs typeface="맑은 고딕"/>
              </a:rPr>
              <a:t>–  batch size 와 sequence length 가 최적 tactic(계산 축 순서 전략) 선택에 어떤 영향을 주는가, 그리고 연산과 DMA 전송이 어떻게 효율적으로 겹치는가</a:t>
            </a:r>
          </a:p>
          <a:p>
            <a:pPr algn="l">
              <a:lnSpc>
                <a:spcPct val="118000"/>
              </a:lnSpc>
              <a:spcBef>
                <a:spcPts val="600"/>
              </a:spcBef>
              <a:spcAft>
                <a:spcPts val="200"/>
              </a:spcAft>
            </a:pPr>
            <a:r>
              <a:rPr sz="1900" b="1" i="0">
                <a:solidFill>
                  <a:srgbClr val="083F80"/>
                </a:solidFill>
                <a:latin typeface="Segoe UI"/>
                <a:ea typeface="맑은 고딕"/>
                <a:cs typeface="맑은 고딕"/>
              </a:rPr>
              <a:t>▪  전제 조건</a:t>
            </a:r>
          </a:p>
          <a:p>
            <a:pPr algn="l">
              <a:lnSpc>
                <a:spcPct val="118000"/>
              </a:lnSpc>
              <a:spcBef>
                <a:spcPts val="200"/>
              </a:spcBef>
              <a:spcAft>
                <a:spcPts val="100"/>
              </a:spcAft>
            </a:pPr>
            <a:r>
              <a:rPr sz="1780" b="0" i="0">
                <a:solidFill>
                  <a:srgbClr val="2C3A4B"/>
                </a:solidFill>
                <a:latin typeface="Segoe UI"/>
                <a:ea typeface="맑은 고딕"/>
                <a:cs typeface="맑은 고딕"/>
              </a:rPr>
              <a:t>–  높은 성능을 위해서는 모든 PE(Processing Element, 처리 소자)와 HBM 대역폭을 효율적으로 써야 한다</a:t>
            </a:r>
          </a:p>
          <a:p>
            <a:pPr algn="l">
              <a:lnSpc>
                <a:spcPct val="118000"/>
              </a:lnSpc>
              <a:spcBef>
                <a:spcPts val="200"/>
              </a:spcBef>
              <a:spcAft>
                <a:spcPts val="100"/>
              </a:spcAft>
            </a:pPr>
            <a:r>
              <a:rPr sz="1780" b="0" i="0">
                <a:solidFill>
                  <a:srgbClr val="2C3A4B"/>
                </a:solidFill>
                <a:latin typeface="Segoe UI"/>
                <a:ea typeface="맑은 고딕"/>
                <a:cs typeface="맑은 고딕"/>
              </a:rPr>
              <a:t>–  이 논문은 단일 칩 내부의 병렬성에 집중한다. 즉 한 칩 안의 여러 PE 에 LLaMA-2 를 어떻게 펼치는지를 보인다</a:t>
            </a:r>
          </a:p>
          <a:p>
            <a:pPr algn="l">
              <a:lnSpc>
                <a:spcPct val="118000"/>
              </a:lnSpc>
              <a:spcBef>
                <a:spcPts val="200"/>
              </a:spcBef>
              <a:spcAft>
                <a:spcPts val="100"/>
              </a:spcAft>
            </a:pPr>
            <a:r>
              <a:rPr sz="1780" b="0" i="0">
                <a:solidFill>
                  <a:srgbClr val="2C3A4B"/>
                </a:solidFill>
                <a:latin typeface="Segoe UI"/>
                <a:ea typeface="맑은 고딕"/>
                <a:cs typeface="맑은 고딕"/>
              </a:rPr>
              <a:t>–  칩 간(multi-chip) 분산 실행은 이 절의 범위가 아니다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작은 배치에서도 높은 이용률, 그리고 data reuse(데이터 재사용)를 통한 에너지 효율이 핵심 주장이다.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병렬화 표기법과 가중치 분배 원칙</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표기법은 선행 연구 [17], [24] 를 따른다</a:t>
            </a:r>
          </a:p>
          <a:p>
            <a:pPr algn="l">
              <a:lnSpc>
                <a:spcPct val="118000"/>
              </a:lnSpc>
              <a:spcBef>
                <a:spcPts val="200"/>
              </a:spcBef>
              <a:spcAft>
                <a:spcPts val="100"/>
              </a:spcAft>
            </a:pPr>
            <a:r>
              <a:rPr sz="1680" b="0" i="0">
                <a:solidFill>
                  <a:srgbClr val="2C3A4B"/>
                </a:solidFill>
                <a:latin typeface="Segoe UI"/>
                <a:ea typeface="맑은 고딕"/>
                <a:cs typeface="맑은 고딕"/>
              </a:rPr>
              <a:t>–  아래첨자(subscript)는 여러 PE 에 나뉘어 있는 축을 나타낸다</a:t>
            </a:r>
          </a:p>
          <a:p>
            <a:pPr algn="l">
              <a:lnSpc>
                <a:spcPct val="118000"/>
              </a:lnSpc>
              <a:spcBef>
                <a:spcPts val="200"/>
              </a:spcBef>
              <a:spcAft>
                <a:spcPts val="100"/>
              </a:spcAft>
            </a:pPr>
            <a:r>
              <a:rPr sz="1680" b="0" i="0">
                <a:solidFill>
                  <a:srgbClr val="2C3A4B"/>
                </a:solidFill>
                <a:latin typeface="Segoe UI"/>
                <a:ea typeface="맑은 고딕"/>
                <a:cs typeface="맑은 고딕"/>
              </a:rPr>
              <a:t>–  B = batch size(배치 크기), L = sequence length(시퀀스 길이), E = embedding size(임베딩 차원)</a:t>
            </a:r>
          </a:p>
          <a:p>
            <a:pPr algn="l">
              <a:lnSpc>
                <a:spcPct val="118000"/>
              </a:lnSpc>
              <a:spcBef>
                <a:spcPts val="200"/>
              </a:spcBef>
              <a:spcAft>
                <a:spcPts val="100"/>
              </a:spcAft>
            </a:pPr>
            <a:r>
              <a:rPr sz="1680" b="0" i="0">
                <a:solidFill>
                  <a:srgbClr val="2C3A4B"/>
                </a:solidFill>
                <a:latin typeface="Segoe UI"/>
                <a:ea typeface="맑은 고딕"/>
                <a:cs typeface="맑은 고딕"/>
              </a:rPr>
              <a:t>–  예: BLEn 은 E 축이 n 개로 분할되어, 각 PE 가 (B × L × E/n) 차원의 텐서 조각을 저장한다는 의미다</a:t>
            </a:r>
          </a:p>
          <a:p>
            <a:pPr algn="l">
              <a:lnSpc>
                <a:spcPct val="118000"/>
              </a:lnSpc>
              <a:spcBef>
                <a:spcPts val="600"/>
              </a:spcBef>
              <a:spcAft>
                <a:spcPts val="200"/>
              </a:spcAft>
            </a:pPr>
            <a:r>
              <a:rPr sz="1800" b="1" i="0">
                <a:solidFill>
                  <a:srgbClr val="083F80"/>
                </a:solidFill>
                <a:latin typeface="Segoe UI"/>
                <a:ea typeface="맑은 고딕"/>
                <a:cs typeface="맑은 고딕"/>
              </a:rPr>
              <a:t>▪  가중치 분배</a:t>
            </a:r>
          </a:p>
          <a:p>
            <a:pPr algn="l">
              <a:lnSpc>
                <a:spcPct val="118000"/>
              </a:lnSpc>
              <a:spcBef>
                <a:spcPts val="200"/>
              </a:spcBef>
              <a:spcAft>
                <a:spcPts val="100"/>
              </a:spcAft>
            </a:pPr>
            <a:r>
              <a:rPr sz="1680" b="0" i="0">
                <a:solidFill>
                  <a:srgbClr val="2C3A4B"/>
                </a:solidFill>
                <a:latin typeface="Segoe UI"/>
                <a:ea typeface="맑은 고딕"/>
                <a:cs typeface="맑은 고딕"/>
              </a:rPr>
              <a:t>–  n 개의 PE 에 가중치를 균등하게 나누는 1D weight stationary(1차원 가중치 고정) 방식이 대부분의 경우 가장 단순하면서도 효율적인 분배법이다</a:t>
            </a:r>
          </a:p>
          <a:p>
            <a:pPr algn="l">
              <a:lnSpc>
                <a:spcPct val="118000"/>
              </a:lnSpc>
              <a:spcBef>
                <a:spcPts val="600"/>
              </a:spcBef>
              <a:spcAft>
                <a:spcPts val="200"/>
              </a:spcAft>
            </a:pPr>
            <a:r>
              <a:rPr sz="1800" b="1" i="0">
                <a:solidFill>
                  <a:srgbClr val="083F80"/>
                </a:solidFill>
                <a:latin typeface="Segoe UI"/>
                <a:ea typeface="맑은 고딕"/>
                <a:cs typeface="맑은 고딕"/>
              </a:rPr>
              <a:t>▪  정밀도</a:t>
            </a:r>
          </a:p>
          <a:p>
            <a:pPr algn="l">
              <a:lnSpc>
                <a:spcPct val="118000"/>
              </a:lnSpc>
              <a:spcBef>
                <a:spcPts val="200"/>
              </a:spcBef>
              <a:spcAft>
                <a:spcPts val="100"/>
              </a:spcAft>
            </a:pPr>
            <a:r>
              <a:rPr sz="1680" b="0" i="0">
                <a:solidFill>
                  <a:srgbClr val="2C3A4B"/>
                </a:solidFill>
                <a:latin typeface="Segoe UI"/>
                <a:ea typeface="맑은 고딕"/>
                <a:cs typeface="맑은 고딕"/>
              </a:rPr>
              <a:t>–  가중치와 활성값(activation) 모두 8-bit 를 사용한다</a:t>
            </a:r>
          </a:p>
          <a:p>
            <a:pPr algn="l">
              <a:lnSpc>
                <a:spcPct val="118000"/>
              </a:lnSpc>
              <a:spcBef>
                <a:spcPts val="600"/>
              </a:spcBef>
              <a:spcAft>
                <a:spcPts val="200"/>
              </a:spcAft>
            </a:pPr>
            <a:r>
              <a:rPr sz="1800" b="0" i="0">
                <a:solidFill>
                  <a:srgbClr val="16202C"/>
                </a:solidFill>
                <a:latin typeface="Segoe UI"/>
                <a:ea typeface="맑은 고딕"/>
                <a:cs typeface="맑은 고딕"/>
              </a:rPr>
              <a:t>▪  참고: LLaMA-2 7B 의 실제 하이퍼파라미터(층 수, 헤드 수, E, F 의 절대값)는 논문 본문에 명시돼 있지 않다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BLEn 은 E 축을 n 등분해 각 PE 가 B×L×E/n 을 갖는다는 뜻이다.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 Embedding Layer — prefill 단계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첫 층 앞의 embedding lookup(임베딩 조회)</a:t>
            </a:r>
          </a:p>
          <a:p>
            <a:pPr algn="l">
              <a:lnSpc>
                <a:spcPct val="118000"/>
              </a:lnSpc>
              <a:spcBef>
                <a:spcPts val="200"/>
              </a:spcBef>
              <a:spcAft>
                <a:spcPts val="100"/>
              </a:spcAft>
            </a:pPr>
            <a:r>
              <a:rPr sz="1780" b="0" i="0">
                <a:solidFill>
                  <a:srgbClr val="2C3A4B"/>
                </a:solidFill>
                <a:latin typeface="Segoe UI"/>
                <a:ea typeface="맑은 고딕"/>
                <a:cs typeface="맑은 고딕"/>
              </a:rPr>
              <a:t>–  BL 개의 token index(토큰 인덱스)로 gather(모으기) 연산을 수행해 BLE 텐서를 적재한다</a:t>
            </a:r>
          </a:p>
          <a:p>
            <a:pPr algn="l">
              <a:lnSpc>
                <a:spcPct val="118000"/>
              </a:lnSpc>
              <a:spcBef>
                <a:spcPts val="200"/>
              </a:spcBef>
              <a:spcAft>
                <a:spcPts val="100"/>
              </a:spcAft>
            </a:pPr>
            <a:r>
              <a:rPr sz="1780" b="0" i="0">
                <a:solidFill>
                  <a:srgbClr val="2C3A4B"/>
                </a:solidFill>
                <a:latin typeface="Segoe UI"/>
                <a:ea typeface="맑은 고딕"/>
                <a:cs typeface="맑은 고딕"/>
              </a:rPr>
              <a:t>–  n 개의 PE 를 쓸 때 BL 을 BnL 로 나누든 BLn 으로 나누든 데이터 이동량 면에서 큰 차이가 없다</a:t>
            </a:r>
          </a:p>
          <a:p>
            <a:pPr algn="l">
              <a:lnSpc>
                <a:spcPct val="118000"/>
              </a:lnSpc>
              <a:spcBef>
                <a:spcPts val="200"/>
              </a:spcBef>
              <a:spcAft>
                <a:spcPts val="100"/>
              </a:spcAft>
            </a:pPr>
            <a:r>
              <a:rPr sz="1780" b="0" i="0">
                <a:solidFill>
                  <a:srgbClr val="2C3A4B"/>
                </a:solidFill>
                <a:latin typeface="Segoe UI"/>
                <a:ea typeface="맑은 고딕"/>
                <a:cs typeface="맑은 고딕"/>
              </a:rPr>
              <a:t>–  이유: RMS normalization 을 거친 뒤 1D weight stationary 로 Q, K, V 를 계산하기 직전에, 모든 PE 가 all-gather(전체 수집)로 BLE 를 복제해야 한다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그 이전에 어떻게 나누어 처리하든 무관하다</a:t>
            </a:r>
          </a:p>
          <a:p>
            <a:pPr algn="l">
              <a:lnSpc>
                <a:spcPct val="118000"/>
              </a:lnSpc>
              <a:spcBef>
                <a:spcPts val="600"/>
              </a:spcBef>
              <a:spcAft>
                <a:spcPts val="200"/>
              </a:spcAft>
            </a:pPr>
            <a:r>
              <a:rPr sz="1900" b="1" i="0">
                <a:solidFill>
                  <a:srgbClr val="083F80"/>
                </a:solidFill>
                <a:latin typeface="Segoe UI"/>
                <a:ea typeface="맑은 고딕"/>
                <a:cs typeface="맑은 고딕"/>
              </a:rPr>
              <a:t>▪  하드웨어 관점</a:t>
            </a:r>
          </a:p>
          <a:p>
            <a:pPr algn="l">
              <a:lnSpc>
                <a:spcPct val="118000"/>
              </a:lnSpc>
              <a:spcBef>
                <a:spcPts val="200"/>
              </a:spcBef>
              <a:spcAft>
                <a:spcPts val="100"/>
              </a:spcAft>
            </a:pPr>
            <a:r>
              <a:rPr sz="1780" b="0" i="0">
                <a:solidFill>
                  <a:srgbClr val="2C3A4B"/>
                </a:solidFill>
                <a:latin typeface="Segoe UI"/>
                <a:ea typeface="맑은 고딕"/>
                <a:cs typeface="맑은 고딕"/>
              </a:rPr>
              <a:t>–  각 PE 가 tensor DMA 를 구동해 HBM 에 있는 embedding table 로부터 gather 를 수행한다</a:t>
            </a:r>
          </a:p>
          <a:p>
            <a:pPr algn="l">
              <a:lnSpc>
                <a:spcPct val="118000"/>
              </a:lnSpc>
              <a:spcBef>
                <a:spcPts val="200"/>
              </a:spcBef>
              <a:spcAft>
                <a:spcPts val="100"/>
              </a:spcAft>
            </a:pPr>
            <a:r>
              <a:rPr sz="1780" b="0" i="0">
                <a:solidFill>
                  <a:srgbClr val="2C3A4B"/>
                </a:solidFill>
                <a:latin typeface="Segoe UI"/>
                <a:ea typeface="맑은 고딕"/>
                <a:cs typeface="맑은 고딕"/>
              </a:rPr>
              <a:t>–  DMA 유닛은 HBM 상 텐서의 특정 차원에 대한 indirect access(간접 접근)를 지원한다</a:t>
            </a:r>
          </a:p>
          <a:p>
            <a:pPr algn="l">
              <a:lnSpc>
                <a:spcPct val="118000"/>
              </a:lnSpc>
              <a:spcBef>
                <a:spcPts val="200"/>
              </a:spcBef>
              <a:spcAft>
                <a:spcPts val="100"/>
              </a:spcAft>
            </a:pPr>
            <a:r>
              <a:rPr sz="1780" b="0" i="0">
                <a:solidFill>
                  <a:srgbClr val="2C3A4B"/>
                </a:solidFill>
                <a:latin typeface="Segoe UI"/>
                <a:ea typeface="맑은 고딕"/>
                <a:cs typeface="맑은 고딕"/>
              </a:rPr>
              <a:t>–  덕분에 full bandwidth(전대역폭) embedding lookup 이 가능하고, 동시에 후속 층 연산에 최적인 레이아웃으로 데이터를 메모리에 배치할 수 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어차피 all-gather 로 전 PE 가 BLE 를 복제하므로, 그 앞단을 어떻게 나누든 상관없다.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A. Embedding Layer — 배치 가능한 lowered shape 예시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186</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논문이 제시한 두 가지 배치 예시 (s = 슬라이스 수, l = 시퀀스 길이, e = 임베딩 차원)</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E6EDF3"/>
                </a:solidFill>
                <a:latin typeface="Consolas"/>
                <a:ea typeface="Consolas"/>
                <a:cs typeface="Consolas"/>
              </a:rPr>
              <a:t>E^(e/s)[s] | L[l] E[e/s]</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E6EDF3"/>
                </a:solidFill>
                <a:latin typeface="Consolas"/>
                <a:ea typeface="Consolas"/>
                <a:cs typeface="Consolas"/>
              </a:rPr>
              <a:t>L^(l/s)[s] | L[l/s] E[e]</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표기 규약 (II절)</a:t>
            </a:r>
          </a:p>
          <a:p>
            <a:pPr algn="l">
              <a:lnSpc>
                <a:spcPct val="124000"/>
              </a:lnSpc>
              <a:spcAft>
                <a:spcPts val="0"/>
              </a:spcAft>
            </a:pPr>
            <a:r>
              <a:rPr sz="1500" b="0" i="0">
                <a:solidFill>
                  <a:srgbClr val="7D91A8"/>
                </a:solidFill>
                <a:latin typeface="Consolas"/>
                <a:ea typeface="Consolas"/>
                <a:cs typeface="Consolas"/>
              </a:rPr>
              <a:t>#   "inter-slice partitioning shape | intra-slice shape"</a:t>
            </a:r>
          </a:p>
          <a:p>
            <a:pPr algn="l">
              <a:lnSpc>
                <a:spcPct val="124000"/>
              </a:lnSpc>
              <a:spcAft>
                <a:spcPts val="0"/>
              </a:spcAft>
            </a:pPr>
            <a:r>
              <a:rPr sz="1500" b="0" i="0">
                <a:solidFill>
                  <a:srgbClr val="7D91A8"/>
                </a:solidFill>
                <a:latin typeface="Consolas"/>
                <a:ea typeface="Consolas"/>
                <a:cs typeface="Consolas"/>
              </a:rPr>
              <a:t>#   윗첨자 = stride(보폭),  [n] = 그 축이 걸쳐 있는 슬라이스 수 또는 반복 횟수</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위 예시는 E 축을 s 개 슬라이스에 e/s 보폭으로 쪼갠 배치다</a:t>
            </a:r>
          </a:p>
          <a:p>
            <a:pPr algn="l">
              <a:lnSpc>
                <a:spcPct val="118000"/>
              </a:lnSpc>
              <a:spcBef>
                <a:spcPts val="600"/>
              </a:spcBef>
              <a:spcAft>
                <a:spcPts val="200"/>
              </a:spcAft>
            </a:pPr>
            <a:r>
              <a:rPr sz="1900" b="0" i="0">
                <a:solidFill>
                  <a:srgbClr val="16202C"/>
                </a:solidFill>
                <a:latin typeface="Segoe UI"/>
                <a:ea typeface="맑은 고딕"/>
                <a:cs typeface="맑은 고딕"/>
              </a:rPr>
              <a:t>▪  아래 예시는 L 축을 s 개 슬라이스에 l/s 보폭으로 쪼갠 배치이며, 각 슬라이스는 E 전체를 갖는다</a:t>
            </a:r>
          </a:p>
          <a:p>
            <a:pPr algn="l">
              <a:lnSpc>
                <a:spcPct val="118000"/>
              </a:lnSpc>
              <a:spcBef>
                <a:spcPts val="600"/>
              </a:spcBef>
              <a:spcAft>
                <a:spcPts val="200"/>
              </a:spcAft>
            </a:pPr>
            <a:r>
              <a:rPr sz="1900" b="0" i="0">
                <a:solidFill>
                  <a:srgbClr val="16202C"/>
                </a:solidFill>
                <a:latin typeface="Segoe UI"/>
                <a:ea typeface="맑은 고딕"/>
                <a:cs typeface="맑은 고딕"/>
              </a:rPr>
              <a:t>▪  두 배치 중 무엇을 쓸지는 뒤따르는 연산이 어떤 형상을 원하는지에 따라 컴파일러가 정한다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gather 결과를 곧바로 다음 층이 원하는 lowered shape(하강된 형상)로 떨어뜨린다.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A. Embedding Layer — decode 단계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decode phase(디코드 단계)의 특성</a:t>
            </a:r>
          </a:p>
          <a:p>
            <a:pPr algn="l">
              <a:lnSpc>
                <a:spcPct val="118000"/>
              </a:lnSpc>
              <a:spcBef>
                <a:spcPts val="200"/>
              </a:spcBef>
              <a:spcAft>
                <a:spcPts val="100"/>
              </a:spcAft>
            </a:pPr>
            <a:r>
              <a:rPr sz="1780" b="0" i="0">
                <a:solidFill>
                  <a:srgbClr val="2C3A4B"/>
                </a:solidFill>
                <a:latin typeface="Segoe UI"/>
                <a:ea typeface="맑은 고딕"/>
                <a:cs typeface="맑은 고딕"/>
              </a:rPr>
              <a:t>–  직전 출력 토큰이 다음 입력 토큰이 되므로, embedding lookup 은 마지막으로 생성된 토큰에 대해서만 수행한다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테이블 조회는 B 개 토큰에 대해서만 일어난다 (prefill 의 BL 개와 대비된다)</a:t>
            </a:r>
          </a:p>
          <a:p>
            <a:pPr algn="l">
              <a:lnSpc>
                <a:spcPct val="118000"/>
              </a:lnSpc>
              <a:spcBef>
                <a:spcPts val="600"/>
              </a:spcBef>
              <a:spcAft>
                <a:spcPts val="200"/>
              </a:spcAft>
            </a:pPr>
            <a:r>
              <a:rPr sz="1900" b="1" i="0">
                <a:solidFill>
                  <a:srgbClr val="083F80"/>
                </a:solidFill>
                <a:latin typeface="Segoe UI"/>
                <a:ea typeface="맑은 고딕"/>
                <a:cs typeface="맑은 고딕"/>
              </a:rPr>
              <a:t>▪  분배 전략의 역전</a:t>
            </a:r>
          </a:p>
          <a:p>
            <a:pPr algn="l">
              <a:lnSpc>
                <a:spcPct val="118000"/>
              </a:lnSpc>
              <a:spcBef>
                <a:spcPts val="200"/>
              </a:spcBef>
              <a:spcAft>
                <a:spcPts val="100"/>
              </a:spcAft>
            </a:pPr>
            <a:r>
              <a:rPr sz="1780" b="0" i="0">
                <a:solidFill>
                  <a:srgbClr val="2C3A4B"/>
                </a:solidFill>
                <a:latin typeface="Segoe UI"/>
                <a:ea typeface="맑은 고딕"/>
                <a:cs typeface="맑은 고딕"/>
              </a:rPr>
              <a:t>–  B 를 여러 PE 에 나누지 않는다</a:t>
            </a:r>
          </a:p>
          <a:p>
            <a:pPr algn="l">
              <a:lnSpc>
                <a:spcPct val="118000"/>
              </a:lnSpc>
              <a:spcBef>
                <a:spcPts val="200"/>
              </a:spcBef>
              <a:spcAft>
                <a:spcPts val="100"/>
              </a:spcAft>
            </a:pPr>
            <a:r>
              <a:rPr sz="1780" b="0" i="0">
                <a:solidFill>
                  <a:srgbClr val="2C3A4B"/>
                </a:solidFill>
                <a:latin typeface="Segoe UI"/>
                <a:ea typeface="맑은 고딕"/>
                <a:cs typeface="맑은 고딕"/>
              </a:rPr>
              <a:t>–  대신 각 PE 가 동일한 embedding lookup 을 그대로 수행한 뒤 attention layer 로 진행한다</a:t>
            </a:r>
          </a:p>
          <a:p>
            <a:pPr algn="l">
              <a:lnSpc>
                <a:spcPct val="118000"/>
              </a:lnSpc>
              <a:spcBef>
                <a:spcPts val="200"/>
              </a:spcBef>
              <a:spcAft>
                <a:spcPts val="100"/>
              </a:spcAft>
            </a:pPr>
            <a:r>
              <a:rPr sz="1780" b="0" i="0">
                <a:solidFill>
                  <a:srgbClr val="2C3A4B"/>
                </a:solidFill>
                <a:latin typeface="Segoe UI"/>
                <a:ea typeface="맑은 고딕"/>
                <a:cs typeface="맑은 고딕"/>
              </a:rPr>
              <a:t>–  이 경우에는 그것이 all-gather 를 수행하는 것보다 더 효율적이다</a:t>
            </a:r>
          </a:p>
          <a:p>
            <a:pPr algn="l">
              <a:lnSpc>
                <a:spcPct val="118000"/>
              </a:lnSpc>
              <a:spcBef>
                <a:spcPts val="600"/>
              </a:spcBef>
              <a:spcAft>
                <a:spcPts val="200"/>
              </a:spcAft>
            </a:pPr>
            <a:r>
              <a:rPr sz="1900" b="1" i="0">
                <a:solidFill>
                  <a:srgbClr val="083F80"/>
                </a:solidFill>
                <a:latin typeface="Segoe UI"/>
                <a:ea typeface="맑은 고딕"/>
                <a:cs typeface="맑은 고딕"/>
              </a:rPr>
              <a:t>▪  교훈: 같은 층이라도 prefill / decode 에 따라 최적 분배 전략이 뒤집힌다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decode 에서는 토큰이 B 개뿐이므로 all-gather 를 하느니 각 PE 가 같은 조회를 중복 수행하는 편이 낫다.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B. Attention Layer — 설명을 위한 구체 예시 설정</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논문이 설명용으로 가정한 수치</a:t>
            </a:r>
          </a:p>
          <a:p>
            <a:pPr algn="l">
              <a:lnSpc>
                <a:spcPct val="118000"/>
              </a:lnSpc>
              <a:spcBef>
                <a:spcPts val="200"/>
              </a:spcBef>
              <a:spcAft>
                <a:spcPts val="100"/>
              </a:spcAft>
            </a:pPr>
            <a:r>
              <a:rPr sz="1680" b="0" i="0">
                <a:solidFill>
                  <a:srgbClr val="2C3A4B"/>
                </a:solidFill>
                <a:latin typeface="Segoe UI"/>
                <a:ea typeface="맑은 고딕"/>
                <a:cs typeface="맑은 고딕"/>
              </a:rPr>
              <a:t>–  H = 4 (number of heads, 헤드 수)</a:t>
            </a:r>
          </a:p>
          <a:p>
            <a:pPr algn="l">
              <a:lnSpc>
                <a:spcPct val="118000"/>
              </a:lnSpc>
              <a:spcBef>
                <a:spcPts val="200"/>
              </a:spcBef>
              <a:spcAft>
                <a:spcPts val="100"/>
              </a:spcAft>
            </a:pPr>
            <a:r>
              <a:rPr sz="1680" b="0" i="0">
                <a:solidFill>
                  <a:srgbClr val="2C3A4B"/>
                </a:solidFill>
                <a:latin typeface="Segoe UI"/>
                <a:ea typeface="맑은 고딕"/>
                <a:cs typeface="맑은 고딕"/>
              </a:rPr>
              <a:t>–  L = 256 (sequence length, 시퀀스 길이)</a:t>
            </a:r>
          </a:p>
          <a:p>
            <a:pPr algn="l">
              <a:lnSpc>
                <a:spcPct val="118000"/>
              </a:lnSpc>
              <a:spcBef>
                <a:spcPts val="200"/>
              </a:spcBef>
              <a:spcAft>
                <a:spcPts val="100"/>
              </a:spcAft>
            </a:pPr>
            <a:r>
              <a:rPr sz="1680" b="0" i="0">
                <a:solidFill>
                  <a:srgbClr val="2C3A4B"/>
                </a:solidFill>
                <a:latin typeface="Segoe UI"/>
                <a:ea typeface="맑은 고딕"/>
                <a:cs typeface="맑은 고딕"/>
              </a:rPr>
              <a:t>–  D = 128 (per-head hidden dimension, 헤드당 은닉 차원)</a:t>
            </a:r>
          </a:p>
          <a:p>
            <a:pPr algn="l">
              <a:lnSpc>
                <a:spcPct val="118000"/>
              </a:lnSpc>
              <a:spcBef>
                <a:spcPts val="200"/>
              </a:spcBef>
              <a:spcAft>
                <a:spcPts val="100"/>
              </a:spcAft>
            </a:pPr>
            <a:r>
              <a:rPr sz="1680" b="0" i="0">
                <a:solidFill>
                  <a:srgbClr val="2C3A4B"/>
                </a:solidFill>
                <a:latin typeface="Segoe UI"/>
                <a:ea typeface="맑은 고딕"/>
                <a:cs typeface="맑은 고딕"/>
              </a:rPr>
              <a:t>–  각 헤드에 16개의 slice(슬라이스, TU 의 기본 연산 단위)를 할당한다</a:t>
            </a:r>
          </a:p>
          <a:p>
            <a:pPr algn="l">
              <a:lnSpc>
                <a:spcPct val="118000"/>
              </a:lnSpc>
              <a:spcBef>
                <a:spcPts val="200"/>
              </a:spcBef>
              <a:spcAft>
                <a:spcPts val="100"/>
              </a:spcAft>
            </a:pPr>
            <a:r>
              <a:rPr sz="1680" b="0" i="0">
                <a:solidFill>
                  <a:srgbClr val="2C3A4B"/>
                </a:solidFill>
                <a:latin typeface="Segoe UI"/>
                <a:ea typeface="맑은 고딕"/>
                <a:cs typeface="맑은 고딕"/>
              </a:rPr>
              <a:t>–  4 헤드 × 16 슬라이스 = 64 슬라이스. TU 가 갖는 64+1 슬라이스(1개는 수율용 예비) 중 64개를 모두 쓰는 구성이다</a:t>
            </a:r>
          </a:p>
          <a:p>
            <a:pPr algn="l">
              <a:lnSpc>
                <a:spcPct val="118000"/>
              </a:lnSpc>
              <a:spcBef>
                <a:spcPts val="600"/>
              </a:spcBef>
              <a:spcAft>
                <a:spcPts val="200"/>
              </a:spcAft>
            </a:pPr>
            <a:r>
              <a:rPr sz="1800" b="1" i="0">
                <a:solidFill>
                  <a:srgbClr val="083F80"/>
                </a:solidFill>
                <a:latin typeface="Segoe UI"/>
                <a:ea typeface="맑은 고딕"/>
                <a:cs typeface="맑은 고딕"/>
              </a:rPr>
              <a:t>▪  대상 연산</a:t>
            </a:r>
          </a:p>
          <a:p>
            <a:pPr algn="l">
              <a:lnSpc>
                <a:spcPct val="118000"/>
              </a:lnSpc>
              <a:spcBef>
                <a:spcPts val="200"/>
              </a:spcBef>
              <a:spcAft>
                <a:spcPts val="100"/>
              </a:spcAft>
            </a:pPr>
            <a:r>
              <a:rPr sz="1680" b="0" i="0">
                <a:solidFill>
                  <a:srgbClr val="2C3A4B"/>
                </a:solidFill>
                <a:latin typeface="Segoe UI"/>
                <a:ea typeface="맑은 고딕"/>
                <a:cs typeface="맑은 고딕"/>
              </a:rPr>
              <a:t>–  attention 의 QK^T 계산, 저수준 einsum 으로 HQD, HKD → HQK</a:t>
            </a:r>
          </a:p>
          <a:p>
            <a:pPr algn="l">
              <a:lnSpc>
                <a:spcPct val="118000"/>
              </a:lnSpc>
              <a:spcBef>
                <a:spcPts val="200"/>
              </a:spcBef>
              <a:spcAft>
                <a:spcPts val="100"/>
              </a:spcAft>
            </a:pPr>
            <a:r>
              <a:rPr sz="1680" b="0" i="0">
                <a:solidFill>
                  <a:srgbClr val="2C3A4B"/>
                </a:solidFill>
                <a:latin typeface="Segoe UI"/>
                <a:ea typeface="맑은 고딕"/>
                <a:cs typeface="맑은 고딕"/>
              </a:rPr>
              <a:t>–  Q, K, V 는 원래 모두 같은 벡터 인덱스(L)를 가리키지만, 논문은 가독성을 위해 축 이름을 Q / K / V 로 나눠 적었다 (각주 1)</a:t>
            </a:r>
          </a:p>
          <a:p>
            <a:pPr algn="l">
              <a:lnSpc>
                <a:spcPct val="118000"/>
              </a:lnSpc>
              <a:spcBef>
                <a:spcPts val="600"/>
              </a:spcBef>
              <a:spcAft>
                <a:spcPts val="200"/>
              </a:spcAft>
            </a:pPr>
            <a:r>
              <a:rPr sz="1800" b="0" i="0">
                <a:solidFill>
                  <a:srgbClr val="16202C"/>
                </a:solidFill>
                <a:latin typeface="Segoe UI"/>
                <a:ea typeface="맑은 고딕"/>
                <a:cs typeface="맑은 고딕"/>
              </a:rPr>
              <a:t>▪  주의: H=4, L=256, D=128 은 설명용 예시 값이며, LLaMA-2 7B 의 실제 값은 논문에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헤드 하나당 슬라이스 16개, 4개 헤드로 총 64 슬라이스를 쓰는 예시다.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10 — attention 층 QK^T 계산의 예시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189</a:t>
            </a:r>
          </a:p>
        </p:txBody>
      </p:sp>
      <p:pic>
        <p:nvPicPr>
          <p:cNvPr id="8" name="Picture 7" descr="isca_fig10.png"/>
          <p:cNvPicPr>
            <a:picLocks noChangeAspect="1"/>
          </p:cNvPicPr>
          <p:nvPr/>
        </p:nvPicPr>
        <p:blipFill>
          <a:blip r:embed="rId2"/>
          <a:stretch>
            <a:fillRect/>
          </a:stretch>
        </p:blipFill>
        <p:spPr>
          <a:xfrm>
            <a:off x="1098063" y="1517904"/>
            <a:ext cx="9995568" cy="2728570"/>
          </a:xfrm>
          <a:prstGeom prst="rect">
            <a:avLst/>
          </a:prstGeom>
        </p:spPr>
      </p:pic>
      <p:sp>
        <p:nvSpPr>
          <p:cNvPr id="9" name="Rectangle 8"/>
          <p:cNvSpPr/>
          <p:nvPr/>
        </p:nvSpPr>
        <p:spPr>
          <a:xfrm>
            <a:off x="1098063" y="1517904"/>
            <a:ext cx="9995568" cy="2728570"/>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273906"/>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10 — TCP: A Tensor Contraction Processor for AI Workloads (ISCA 2024)</a:t>
            </a:r>
          </a:p>
        </p:txBody>
      </p:sp>
      <p:sp>
        <p:nvSpPr>
          <p:cNvPr id="11" name="TextBox 10"/>
          <p:cNvSpPr txBox="1"/>
          <p:nvPr/>
        </p:nvSpPr>
        <p:spPr>
          <a:xfrm>
            <a:off x="566928" y="4593946"/>
            <a:ext cx="11057839" cy="1678838"/>
          </a:xfrm>
          <a:prstGeom prst="rect">
            <a:avLst/>
          </a:prstGeom>
          <a:noFill/>
        </p:spPr>
        <p:txBody>
          <a:bodyPr wrap="square" anchor="t" lIns="0" rIns="0" tIns="0" bIns="0">
            <a:spAutoFit/>
          </a:bodyPr>
          <a:lstStyle/>
          <a:p>
            <a:pPr algn="l">
              <a:lnSpc>
                <a:spcPct val="118000"/>
              </a:lnSpc>
              <a:spcBef>
                <a:spcPts val="200"/>
              </a:spcBef>
              <a:spcAft>
                <a:spcPts val="200"/>
              </a:spcAft>
            </a:pPr>
            <a:r>
              <a:rPr sz="1200" b="1" i="0">
                <a:solidFill>
                  <a:srgbClr val="083F80"/>
                </a:solidFill>
                <a:latin typeface="Segoe UI"/>
                <a:ea typeface="맑은 고딕"/>
                <a:cs typeface="맑은 고딕"/>
              </a:rPr>
              <a:t>▪  (a) Sequential fetch, commit &amp; data reuse</a:t>
            </a:r>
          </a:p>
          <a:p>
            <a:pPr algn="l">
              <a:lnSpc>
                <a:spcPct val="118000"/>
              </a:lnSpc>
              <a:spcBef>
                <a:spcPts val="200"/>
              </a:spcBef>
              <a:spcAft>
                <a:spcPts val="100"/>
              </a:spcAft>
            </a:pPr>
            <a:r>
              <a:rPr sz="1080" b="0" i="0">
                <a:solidFill>
                  <a:srgbClr val="2C3A4B"/>
                </a:solidFill>
                <a:latin typeface="Segoe UI"/>
                <a:ea typeface="맑은 고딕"/>
                <a:cs typeface="맑은 고딕"/>
              </a:rPr>
              <a:t>–  왼쪽의 in0 = Q (L=256 × D), 가운데 in1 = K (D × 256), 오른쪽 out = QK 를 16개 슬라이스가 나눠 계산한다</a:t>
            </a:r>
          </a:p>
          <a:p>
            <a:pPr algn="l">
              <a:lnSpc>
                <a:spcPct val="118000"/>
              </a:lnSpc>
              <a:spcBef>
                <a:spcPts val="200"/>
              </a:spcBef>
              <a:spcAft>
                <a:spcPts val="100"/>
              </a:spcAft>
            </a:pPr>
            <a:r>
              <a:rPr sz="1080" b="0" i="0">
                <a:solidFill>
                  <a:srgbClr val="2C3A4B"/>
                </a:solidFill>
                <a:latin typeface="Segoe UI"/>
                <a:ea typeface="맑은 고딕"/>
                <a:cs typeface="맑은 고딕"/>
              </a:rPr>
              <a:t>–  빨간 화살표가 in-slice reuse(슬라이스 내부 재사용), 노란 화살표가 fetch network multicast(멀티캐스트)를 나타낸다</a:t>
            </a:r>
          </a:p>
          <a:p>
            <a:pPr algn="l">
              <a:lnSpc>
                <a:spcPct val="118000"/>
              </a:lnSpc>
              <a:spcBef>
                <a:spcPts val="200"/>
              </a:spcBef>
              <a:spcAft>
                <a:spcPts val="100"/>
              </a:spcAft>
            </a:pPr>
            <a:r>
              <a:rPr sz="1080" b="0" i="0">
                <a:solidFill>
                  <a:srgbClr val="2C3A4B"/>
                </a:solidFill>
                <a:latin typeface="Segoe UI"/>
                <a:ea typeface="맑은 고딕"/>
                <a:cs typeface="맑은 고딕"/>
              </a:rPr>
              <a:t>–  출력 블록에 붙은 #DPE x #Feed 는 한 슬라이스가 한 번의 fetch 로 만들어 내는 출력 폭(8 × 2 = 16)이다</a:t>
            </a:r>
          </a:p>
          <a:p>
            <a:pPr algn="l">
              <a:lnSpc>
                <a:spcPct val="118000"/>
              </a:lnSpc>
              <a:spcBef>
                <a:spcPts val="600"/>
              </a:spcBef>
              <a:spcAft>
                <a:spcPts val="200"/>
              </a:spcAft>
            </a:pPr>
            <a:r>
              <a:rPr sz="1200" b="1" i="0">
                <a:solidFill>
                  <a:srgbClr val="083F80"/>
                </a:solidFill>
                <a:latin typeface="Segoe UI"/>
                <a:ea typeface="맑은 고딕"/>
                <a:cs typeface="맑은 고딕"/>
              </a:rPr>
              <a:t>▪  (b) Data reuse on DPEs, Feed Unit and Fetch Network</a:t>
            </a:r>
          </a:p>
          <a:p>
            <a:pPr algn="l">
              <a:lnSpc>
                <a:spcPct val="118000"/>
              </a:lnSpc>
              <a:spcBef>
                <a:spcPts val="200"/>
              </a:spcBef>
              <a:spcAft>
                <a:spcPts val="100"/>
              </a:spcAft>
            </a:pPr>
            <a:r>
              <a:rPr sz="1080" b="0" i="0">
                <a:solidFill>
                  <a:srgbClr val="2C3A4B"/>
                </a:solidFill>
                <a:latin typeface="Segoe UI"/>
                <a:ea typeface="맑은 고딕"/>
                <a:cs typeface="맑은 고딕"/>
              </a:rPr>
              <a:t>–  헤드 H[0] 내부에서 Q 블록 Q^16[0], Q^16[1], …, Q^16[15] 이 슬라이스 0~15 에 나뉘어 있다</a:t>
            </a:r>
          </a:p>
          <a:p>
            <a:pPr algn="l">
              <a:lnSpc>
                <a:spcPct val="118000"/>
              </a:lnSpc>
              <a:spcBef>
                <a:spcPts val="200"/>
              </a:spcBef>
              <a:spcAft>
                <a:spcPts val="100"/>
              </a:spcAft>
            </a:pPr>
            <a:r>
              <a:rPr sz="1080" b="0" i="0">
                <a:solidFill>
                  <a:srgbClr val="2C3A4B"/>
                </a:solidFill>
                <a:latin typeface="Segoe UI"/>
                <a:ea typeface="맑은 고딕"/>
                <a:cs typeface="맑은 고딕"/>
              </a:rPr>
              <a:t>–  가운데 multicast 띠가 fetch network 이며, query 벡터가 슬라이스를 순회하며 재사용된다</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10 — attention 층 QK^T 계산의 예시 tactic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각 슬라이스 안에서 RF → 8개 DPE → VE → TE 로 이어지는 경로가 그려져 있다</a:t>
            </a:r>
          </a:p>
          <a:p>
            <a:pPr algn="l">
              <a:lnSpc>
                <a:spcPct val="118000"/>
              </a:lnSpc>
              <a:spcBef>
                <a:spcPts val="600"/>
              </a:spcBef>
              <a:spcAft>
                <a:spcPts val="200"/>
              </a:spcAft>
            </a:pPr>
            <a:r>
              <a:rPr sz="1900" b="1" i="0">
                <a:solidFill>
                  <a:srgbClr val="083F80"/>
                </a:solidFill>
                <a:latin typeface="Segoe UI"/>
                <a:ea typeface="맑은 고딕"/>
                <a:cs typeface="맑은 고딕"/>
              </a:rPr>
              <a:t>▪  (c) Lowered shape &amp; tactic</a:t>
            </a:r>
          </a:p>
          <a:p>
            <a:pPr algn="l">
              <a:lnSpc>
                <a:spcPct val="118000"/>
              </a:lnSpc>
              <a:spcBef>
                <a:spcPts val="200"/>
              </a:spcBef>
              <a:spcAft>
                <a:spcPts val="100"/>
              </a:spcAft>
            </a:pPr>
            <a:r>
              <a:rPr sz="1780" b="0" i="0">
                <a:solidFill>
                  <a:srgbClr val="2C3A4B"/>
                </a:solidFill>
                <a:latin typeface="Segoe UI"/>
                <a:ea typeface="맑은 고딕"/>
                <a:cs typeface="맑은 고딕"/>
              </a:rPr>
              <a:t>–  헤드 H[0] ~ H[3] 네 그룹이 각각 16개 슬라이스를 갖고 병렬로 도는 전체 그림이다</a:t>
            </a:r>
          </a:p>
          <a:p>
            <a:pPr algn="l">
              <a:lnSpc>
                <a:spcPct val="118000"/>
              </a:lnSpc>
              <a:spcBef>
                <a:spcPts val="200"/>
              </a:spcBef>
              <a:spcAft>
                <a:spcPts val="100"/>
              </a:spcAft>
            </a:pPr>
            <a:r>
              <a:rPr sz="1780" b="0" i="0">
                <a:solidFill>
                  <a:srgbClr val="2C3A4B"/>
                </a:solidFill>
                <a:latin typeface="Segoe UI"/>
                <a:ea typeface="맑은 고딕"/>
                <a:cs typeface="맑은 고딕"/>
              </a:rPr>
              <a:t>–  파란 fetch 블록이 Q, 주황 commit 블록이 QK 출력, 초록 RF 블록이 K 다</a:t>
            </a:r>
          </a:p>
          <a:p>
            <a:pPr algn="l">
              <a:lnSpc>
                <a:spcPct val="118000"/>
              </a:lnSpc>
              <a:spcBef>
                <a:spcPts val="200"/>
              </a:spcBef>
              <a:spcAft>
                <a:spcPts val="100"/>
              </a:spcAft>
            </a:pPr>
            <a:r>
              <a:rPr sz="1780" b="0" i="0">
                <a:solidFill>
                  <a:srgbClr val="2C3A4B"/>
                </a:solidFill>
                <a:latin typeface="Segoe UI"/>
                <a:ea typeface="맑은 고딕"/>
                <a:cs typeface="맑은 고딕"/>
              </a:rPr>
              <a:t>–  하단에 in0 / in1 / out 의 lowered shape 과 tactic 이 저수준 einsum 으로 적혀 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(a) 순차 fetch/commit 과 데이터 재사용, (b) DPE·Feed Unit·Fetch Network 재사용, (c) lowered shape 와 tactic.</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10 (a) — Q 는 DM 으로, K 는 RF 로</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같은 attention 입력인데 실리는 메모리가 다르다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191</a:t>
            </a:r>
          </a:p>
        </p:txBody>
      </p:sp>
      <p:grpSp>
        <p:nvGrpSpPr>
          <p:cNvPr id="9" name="도해 A7#08"/>
          <p:cNvGrpSpPr/>
          <p:nvPr/>
        </p:nvGrpSpPr>
        <p:grpSpPr>
          <a:xfrm>
            <a:off x="897232" y="1463040"/>
            <a:ext cx="10397231" cy="4078224"/>
            <a:chOff x="897232" y="1463040"/>
            <a:chExt cx="10397231" cy="4078224"/>
          </a:xfrm>
        </p:grpSpPr>
        <p:sp>
          <p:nvSpPr>
            <p:cNvPr id="10" name="TextBox 9"/>
            <p:cNvSpPr txBox="1"/>
            <p:nvPr/>
          </p:nvSpPr>
          <p:spPr>
            <a:xfrm>
              <a:off x="897232" y="1502254"/>
              <a:ext cx="1326963" cy="202791"/>
            </a:xfrm>
            <a:prstGeom prst="rect">
              <a:avLst/>
            </a:prstGeom>
            <a:noFill/>
          </p:spPr>
          <p:txBody>
            <a:bodyPr wrap="none" anchor="ctr" lIns="0" rIns="0" tIns="0" bIns="0">
              <a:noAutofit/>
            </a:bodyPr>
            <a:lstStyle/>
            <a:p>
              <a:pPr algn="l"/>
              <a:r>
                <a:rPr sz="1100" b="1">
                  <a:solidFill>
                    <a:srgbClr val="083F80"/>
                  </a:solidFill>
                  <a:latin typeface="맑은 고딕"/>
                  <a:ea typeface="맑은 고딕"/>
                  <a:cs typeface="맑은 고딕"/>
                </a:rPr>
                <a:t>in0 = Q  (256 x 128)</a:t>
              </a:r>
            </a:p>
          </p:txBody>
        </p:sp>
        <p:sp>
          <p:nvSpPr>
            <p:cNvPr id="11" name="Rectangle 10"/>
            <p:cNvSpPr/>
            <p:nvPr/>
          </p:nvSpPr>
          <p:spPr>
            <a:xfrm>
              <a:off x="942048" y="1776750"/>
              <a:ext cx="2240782" cy="336117"/>
            </a:xfrm>
            <a:prstGeom prst="rect">
              <a:avLst/>
            </a:prstGeom>
            <a:solidFill>
              <a:srgbClr val="CBE0F7"/>
            </a:solidFill>
            <a:ln w="134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8792" y="1859658"/>
              <a:ext cx="867295"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행 0:16 → slice 0</a:t>
              </a:r>
            </a:p>
          </p:txBody>
        </p:sp>
        <p:sp>
          <p:nvSpPr>
            <p:cNvPr id="13" name="Rectangle 12"/>
            <p:cNvSpPr/>
            <p:nvPr/>
          </p:nvSpPr>
          <p:spPr>
            <a:xfrm>
              <a:off x="942048" y="2112867"/>
              <a:ext cx="2240782" cy="336117"/>
            </a:xfrm>
            <a:prstGeom prst="rect">
              <a:avLst/>
            </a:prstGeom>
            <a:solidFill>
              <a:srgbClr val="DCEBF9"/>
            </a:solidFill>
            <a:ln w="134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97701" y="2195776"/>
              <a:ext cx="929477"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행 16:32 → slice 1</a:t>
              </a:r>
            </a:p>
          </p:txBody>
        </p:sp>
        <p:sp>
          <p:nvSpPr>
            <p:cNvPr id="15" name="Rectangle 14"/>
            <p:cNvSpPr/>
            <p:nvPr/>
          </p:nvSpPr>
          <p:spPr>
            <a:xfrm>
              <a:off x="942048" y="2448984"/>
              <a:ext cx="2240782" cy="268894"/>
            </a:xfrm>
            <a:prstGeom prst="rect">
              <a:avLst/>
            </a:prstGeom>
            <a:solidFill>
              <a:srgbClr val="EEF2F7"/>
            </a:solidFill>
            <a:ln w="134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13657" y="2470496"/>
              <a:ext cx="297565" cy="210902"/>
            </a:xfrm>
            <a:prstGeom prst="rect">
              <a:avLst/>
            </a:prstGeom>
            <a:noFill/>
          </p:spPr>
          <p:txBody>
            <a:bodyPr wrap="none" anchor="ctr" lIns="0" rIns="0" tIns="0" bIns="0">
              <a:noAutofit/>
            </a:bodyPr>
            <a:lstStyle/>
            <a:p>
              <a:pPr algn="ctr"/>
              <a:r>
                <a:rPr sz="1150" b="0">
                  <a:solidFill>
                    <a:srgbClr val="5B6B7B"/>
                  </a:solidFill>
                  <a:latin typeface="맑은 고딕"/>
                  <a:ea typeface="맑은 고딕"/>
                  <a:cs typeface="맑은 고딕"/>
                </a:rPr>
                <a:t>···</a:t>
              </a:r>
            </a:p>
          </p:txBody>
        </p:sp>
        <p:sp>
          <p:nvSpPr>
            <p:cNvPr id="17" name="Rectangle 16"/>
            <p:cNvSpPr/>
            <p:nvPr/>
          </p:nvSpPr>
          <p:spPr>
            <a:xfrm>
              <a:off x="942048" y="2717878"/>
              <a:ext cx="2240782" cy="336117"/>
            </a:xfrm>
            <a:prstGeom prst="rect">
              <a:avLst/>
            </a:prstGeom>
            <a:solidFill>
              <a:srgbClr val="B8D4F3"/>
            </a:solidFill>
            <a:ln w="134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4428" y="2800787"/>
              <a:ext cx="1116022"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행 240:256 → slice 15</a:t>
              </a:r>
            </a:p>
          </p:txBody>
        </p:sp>
        <p:sp>
          <p:nvSpPr>
            <p:cNvPr id="19" name="TextBox 18"/>
            <p:cNvSpPr txBox="1"/>
            <p:nvPr/>
          </p:nvSpPr>
          <p:spPr>
            <a:xfrm>
              <a:off x="942048" y="3132199"/>
              <a:ext cx="1104924" cy="154121"/>
            </a:xfrm>
            <a:prstGeom prst="rect">
              <a:avLst/>
            </a:prstGeom>
            <a:noFill/>
          </p:spPr>
          <p:txBody>
            <a:bodyPr wrap="none" anchor="ctr" lIns="0" rIns="0" tIns="0" bIns="0">
              <a:noAutofit/>
            </a:bodyPr>
            <a:lstStyle/>
            <a:p>
              <a:pPr algn="l"/>
              <a:r>
                <a:rPr sz="840" b="0">
                  <a:solidFill>
                    <a:srgbClr val="5B6B7B"/>
                  </a:solidFill>
                  <a:latin typeface="맑은 고딕"/>
                  <a:ea typeface="맑은 고딕"/>
                  <a:cs typeface="맑은 고딕"/>
                </a:rPr>
                <a:t>query 행을 16개씩 잘라</a:t>
              </a:r>
            </a:p>
          </p:txBody>
        </p:sp>
        <p:sp>
          <p:nvSpPr>
            <p:cNvPr id="20" name="TextBox 19"/>
            <p:cNvSpPr txBox="1"/>
            <p:nvPr/>
          </p:nvSpPr>
          <p:spPr>
            <a:xfrm>
              <a:off x="942048" y="3311461"/>
              <a:ext cx="1222644" cy="154121"/>
            </a:xfrm>
            <a:prstGeom prst="rect">
              <a:avLst/>
            </a:prstGeom>
            <a:noFill/>
          </p:spPr>
          <p:txBody>
            <a:bodyPr wrap="none" anchor="ctr" lIns="0" rIns="0" tIns="0" bIns="0">
              <a:noAutofit/>
            </a:bodyPr>
            <a:lstStyle/>
            <a:p>
              <a:pPr algn="l"/>
              <a:r>
                <a:rPr sz="840" b="0">
                  <a:solidFill>
                    <a:srgbClr val="5B6B7B"/>
                  </a:solidFill>
                  <a:latin typeface="맑은 고딕"/>
                  <a:ea typeface="맑은 고딕"/>
                  <a:cs typeface="맑은 고딕"/>
                </a:rPr>
                <a:t>각 slice 의 DM 으로 보낸다</a:t>
              </a:r>
            </a:p>
          </p:txBody>
        </p:sp>
        <p:sp>
          <p:nvSpPr>
            <p:cNvPr id="21" name="TextBox 20"/>
            <p:cNvSpPr txBox="1"/>
            <p:nvPr/>
          </p:nvSpPr>
          <p:spPr>
            <a:xfrm>
              <a:off x="897232" y="3608589"/>
              <a:ext cx="1315199" cy="202791"/>
            </a:xfrm>
            <a:prstGeom prst="rect">
              <a:avLst/>
            </a:prstGeom>
            <a:noFill/>
          </p:spPr>
          <p:txBody>
            <a:bodyPr wrap="none" anchor="ctr" lIns="0" rIns="0" tIns="0" bIns="0">
              <a:noAutofit/>
            </a:bodyPr>
            <a:lstStyle/>
            <a:p>
              <a:pPr algn="l"/>
              <a:r>
                <a:rPr sz="1100" b="1">
                  <a:solidFill>
                    <a:srgbClr val="1A7F37"/>
                  </a:solidFill>
                  <a:latin typeface="맑은 고딕"/>
                  <a:ea typeface="맑은 고딕"/>
                  <a:cs typeface="맑은 고딕"/>
                </a:rPr>
                <a:t>in1 = K  (128 x 256)</a:t>
              </a:r>
            </a:p>
          </p:txBody>
        </p:sp>
        <p:sp>
          <p:nvSpPr>
            <p:cNvPr id="22" name="Rectangle 21"/>
            <p:cNvSpPr/>
            <p:nvPr/>
          </p:nvSpPr>
          <p:spPr>
            <a:xfrm>
              <a:off x="942048" y="3883085"/>
              <a:ext cx="560196" cy="649827"/>
            </a:xfrm>
            <a:prstGeom prst="rect">
              <a:avLst/>
            </a:prstGeom>
            <a:solidFill>
              <a:srgbClr val="B3E0C6"/>
            </a:solidFill>
            <a:ln w="1344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2485" y="4153547"/>
              <a:ext cx="219322" cy="137898"/>
            </a:xfrm>
            <a:prstGeom prst="rect">
              <a:avLst/>
            </a:prstGeom>
            <a:noFill/>
          </p:spPr>
          <p:txBody>
            <a:bodyPr wrap="none" anchor="ctr" lIns="0" rIns="0" tIns="0" bIns="0">
              <a:noAutofit/>
            </a:bodyPr>
            <a:lstStyle/>
            <a:p>
              <a:pPr algn="ctr"/>
              <a:r>
                <a:rPr sz="750" b="0">
                  <a:solidFill>
                    <a:srgbClr val="16202C"/>
                  </a:solidFill>
                  <a:latin typeface="맑은 고딕"/>
                  <a:ea typeface="맑은 고딕"/>
                  <a:cs typeface="맑은 고딕"/>
                </a:rPr>
                <a:t>0:16</a:t>
              </a:r>
            </a:p>
          </p:txBody>
        </p:sp>
        <p:sp>
          <p:nvSpPr>
            <p:cNvPr id="24" name="Rectangle 23"/>
            <p:cNvSpPr/>
            <p:nvPr/>
          </p:nvSpPr>
          <p:spPr>
            <a:xfrm>
              <a:off x="1502244" y="3883085"/>
              <a:ext cx="560196" cy="649827"/>
            </a:xfrm>
            <a:prstGeom prst="rect">
              <a:avLst/>
            </a:prstGeom>
            <a:solidFill>
              <a:srgbClr val="D3ECDD"/>
            </a:solidFill>
            <a:ln w="1344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6253" y="4153547"/>
              <a:ext cx="272177" cy="137898"/>
            </a:xfrm>
            <a:prstGeom prst="rect">
              <a:avLst/>
            </a:prstGeom>
            <a:noFill/>
          </p:spPr>
          <p:txBody>
            <a:bodyPr wrap="none" anchor="ctr" lIns="0" rIns="0" tIns="0" bIns="0">
              <a:noAutofit/>
            </a:bodyPr>
            <a:lstStyle/>
            <a:p>
              <a:pPr algn="ctr"/>
              <a:r>
                <a:rPr sz="750" b="0">
                  <a:solidFill>
                    <a:srgbClr val="16202C"/>
                  </a:solidFill>
                  <a:latin typeface="맑은 고딕"/>
                  <a:ea typeface="맑은 고딕"/>
                  <a:cs typeface="맑은 고딕"/>
                </a:rPr>
                <a:t>16:32</a:t>
              </a:r>
            </a:p>
          </p:txBody>
        </p:sp>
        <p:sp>
          <p:nvSpPr>
            <p:cNvPr id="26" name="Rectangle 25"/>
            <p:cNvSpPr/>
            <p:nvPr/>
          </p:nvSpPr>
          <p:spPr>
            <a:xfrm>
              <a:off x="2062439" y="3883085"/>
              <a:ext cx="560196" cy="649827"/>
            </a:xfrm>
            <a:prstGeom prst="rect">
              <a:avLst/>
            </a:prstGeom>
            <a:solidFill>
              <a:srgbClr val="EEF2F7"/>
            </a:solidFill>
            <a:ln w="1344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93755" y="4117471"/>
              <a:ext cx="297565" cy="210902"/>
            </a:xfrm>
            <a:prstGeom prst="rect">
              <a:avLst/>
            </a:prstGeom>
            <a:noFill/>
          </p:spPr>
          <p:txBody>
            <a:bodyPr wrap="none" anchor="ctr" lIns="0" rIns="0" tIns="0" bIns="0">
              <a:noAutofit/>
            </a:bodyPr>
            <a:lstStyle/>
            <a:p>
              <a:pPr algn="ctr"/>
              <a:r>
                <a:rPr sz="1150" b="0">
                  <a:solidFill>
                    <a:srgbClr val="5B6B7B"/>
                  </a:solidFill>
                  <a:latin typeface="맑은 고딕"/>
                  <a:ea typeface="맑은 고딕"/>
                  <a:cs typeface="맑은 고딕"/>
                </a:rPr>
                <a:t>···</a:t>
              </a:r>
            </a:p>
          </p:txBody>
        </p:sp>
        <p:sp>
          <p:nvSpPr>
            <p:cNvPr id="28" name="Rectangle 27"/>
            <p:cNvSpPr/>
            <p:nvPr/>
          </p:nvSpPr>
          <p:spPr>
            <a:xfrm>
              <a:off x="2622635" y="3883085"/>
              <a:ext cx="560196" cy="649827"/>
            </a:xfrm>
            <a:prstGeom prst="rect">
              <a:avLst/>
            </a:prstGeom>
            <a:solidFill>
              <a:srgbClr val="9ED6B4"/>
            </a:solidFill>
            <a:ln w="1344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3790" y="4153547"/>
              <a:ext cx="377886" cy="137898"/>
            </a:xfrm>
            <a:prstGeom prst="rect">
              <a:avLst/>
            </a:prstGeom>
            <a:noFill/>
          </p:spPr>
          <p:txBody>
            <a:bodyPr wrap="none" anchor="ctr" lIns="0" rIns="0" tIns="0" bIns="0">
              <a:noAutofit/>
            </a:bodyPr>
            <a:lstStyle/>
            <a:p>
              <a:pPr algn="ctr"/>
              <a:r>
                <a:rPr sz="750" b="0">
                  <a:solidFill>
                    <a:srgbClr val="16202C"/>
                  </a:solidFill>
                  <a:latin typeface="맑은 고딕"/>
                  <a:ea typeface="맑은 고딕"/>
                  <a:cs typeface="맑은 고딕"/>
                </a:rPr>
                <a:t>240:256</a:t>
              </a:r>
            </a:p>
          </p:txBody>
        </p:sp>
        <p:sp>
          <p:nvSpPr>
            <p:cNvPr id="30" name="TextBox 29"/>
            <p:cNvSpPr txBox="1"/>
            <p:nvPr/>
          </p:nvSpPr>
          <p:spPr>
            <a:xfrm>
              <a:off x="942048" y="4633523"/>
              <a:ext cx="987098" cy="154121"/>
            </a:xfrm>
            <a:prstGeom prst="rect">
              <a:avLst/>
            </a:prstGeom>
            <a:noFill/>
          </p:spPr>
          <p:txBody>
            <a:bodyPr wrap="none" anchor="ctr" lIns="0" rIns="0" tIns="0" bIns="0">
              <a:noAutofit/>
            </a:bodyPr>
            <a:lstStyle/>
            <a:p>
              <a:pPr algn="l"/>
              <a:r>
                <a:rPr sz="840" b="0">
                  <a:solidFill>
                    <a:srgbClr val="5B6B7B"/>
                  </a:solidFill>
                  <a:latin typeface="맑은 고딕"/>
                  <a:ea typeface="맑은 고딕"/>
                  <a:cs typeface="맑은 고딕"/>
                </a:rPr>
                <a:t>key 열을 16개씩 잘라</a:t>
              </a:r>
            </a:p>
          </p:txBody>
        </p:sp>
        <p:sp>
          <p:nvSpPr>
            <p:cNvPr id="31" name="TextBox 30"/>
            <p:cNvSpPr txBox="1"/>
            <p:nvPr/>
          </p:nvSpPr>
          <p:spPr>
            <a:xfrm>
              <a:off x="942048" y="4812786"/>
              <a:ext cx="1091407" cy="154121"/>
            </a:xfrm>
            <a:prstGeom prst="rect">
              <a:avLst/>
            </a:prstGeom>
            <a:noFill/>
          </p:spPr>
          <p:txBody>
            <a:bodyPr wrap="none" anchor="ctr" lIns="0" rIns="0" tIns="0" bIns="0">
              <a:noAutofit/>
            </a:bodyPr>
            <a:lstStyle/>
            <a:p>
              <a:pPr algn="l"/>
              <a:r>
                <a:rPr sz="840" b="0">
                  <a:solidFill>
                    <a:srgbClr val="5B6B7B"/>
                  </a:solidFill>
                  <a:latin typeface="맑은 고딕"/>
                  <a:ea typeface="맑은 고딕"/>
                  <a:cs typeface="맑은 고딕"/>
                </a:rPr>
                <a:t>각 slice 의 RF 로 보낸다</a:t>
              </a:r>
            </a:p>
          </p:txBody>
        </p:sp>
        <p:cxnSp>
          <p:nvCxnSpPr>
            <p:cNvPr id="32" name="Connector 31"/>
            <p:cNvCxnSpPr/>
            <p:nvPr/>
          </p:nvCxnSpPr>
          <p:spPr>
            <a:xfrm>
              <a:off x="3272462" y="2359353"/>
              <a:ext cx="515380" cy="0"/>
            </a:xfrm>
            <a:prstGeom prst="line">
              <a:avLst/>
            </a:prstGeom>
            <a:ln w="26889">
              <a:solidFill>
                <a:srgbClr val="0B5FC0"/>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3765434" y="2280926"/>
              <a:ext cx="179262" cy="156854"/>
            </a:xfrm>
            <a:custGeom>
              <a:avLst/>
              <a:gdLst/>
              <a:ahLst/>
              <a:cxnLst/>
              <a:rect l="l" t="t" r="r" b="b"/>
              <a:pathLst>
                <a:path w="179262" h="156854">
                  <a:moveTo>
                    <a:pt x="0" y="0"/>
                  </a:moveTo>
                  <a:lnTo>
                    <a:pt x="179262" y="78427"/>
                  </a:lnTo>
                  <a:lnTo>
                    <a:pt x="0" y="156854"/>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272462" y="4207998"/>
              <a:ext cx="515380" cy="0"/>
            </a:xfrm>
            <a:prstGeom prst="line">
              <a:avLst/>
            </a:prstGeom>
            <a:ln w="26889">
              <a:solidFill>
                <a:srgbClr val="1A7F37"/>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3765434" y="4129571"/>
              <a:ext cx="179262" cy="156855"/>
            </a:xfrm>
            <a:custGeom>
              <a:avLst/>
              <a:gdLst/>
              <a:ahLst/>
              <a:cxnLst/>
              <a:rect l="l" t="t" r="r" b="b"/>
              <a:pathLst>
                <a:path w="179262" h="156855">
                  <a:moveTo>
                    <a:pt x="0" y="0"/>
                  </a:moveTo>
                  <a:lnTo>
                    <a:pt x="179262" y="78427"/>
                  </a:lnTo>
                  <a:lnTo>
                    <a:pt x="0" y="156855"/>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989512" y="1463040"/>
              <a:ext cx="7304951" cy="3428397"/>
            </a:xfrm>
            <a:prstGeom prst="roundRect">
              <a:avLst>
                <a:gd name="adj" fmla="val 3267"/>
              </a:avLst>
            </a:prstGeom>
            <a:solidFill>
              <a:srgbClr val="F7FAFD"/>
            </a:solidFill>
            <a:ln w="2240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68775" y="1553568"/>
              <a:ext cx="2485924" cy="194679"/>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TU 안의 slice 16개 (헤드 하나에 배정된 몫)</a:t>
              </a:r>
            </a:p>
          </p:txBody>
        </p:sp>
        <p:sp>
          <p:nvSpPr>
            <p:cNvPr id="38" name="Rounded Rectangle 37"/>
            <p:cNvSpPr/>
            <p:nvPr/>
          </p:nvSpPr>
          <p:spPr>
            <a:xfrm>
              <a:off x="4168775" y="1821565"/>
              <a:ext cx="1702995" cy="313710"/>
            </a:xfrm>
            <a:prstGeom prst="roundRect">
              <a:avLst>
                <a:gd name="adj" fmla="val 21428"/>
              </a:avLst>
            </a:prstGeom>
            <a:solidFill>
              <a:srgbClr val="DCEBF9"/>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93796" y="1878481"/>
              <a:ext cx="452952" cy="194679"/>
            </a:xfrm>
            <a:prstGeom prst="rect">
              <a:avLst/>
            </a:prstGeom>
            <a:noFill/>
          </p:spPr>
          <p:txBody>
            <a:bodyPr wrap="none" anchor="ctr" lIns="0" rIns="0" tIns="0" bIns="0">
              <a:noAutofit/>
            </a:bodyPr>
            <a:lstStyle/>
            <a:p>
              <a:pPr algn="ctr"/>
              <a:r>
                <a:rPr sz="1060" b="1">
                  <a:solidFill>
                    <a:srgbClr val="083F80"/>
                  </a:solidFill>
                  <a:latin typeface="맑은 고딕"/>
                  <a:ea typeface="맑은 고딕"/>
                  <a:cs typeface="맑은 고딕"/>
                </a:rPr>
                <a:t>slice 0</a:t>
              </a:r>
            </a:p>
          </p:txBody>
        </p:sp>
        <p:sp>
          <p:nvSpPr>
            <p:cNvPr id="40" name="Rounded Rectangle 39"/>
            <p:cNvSpPr/>
            <p:nvPr/>
          </p:nvSpPr>
          <p:spPr>
            <a:xfrm>
              <a:off x="4280814" y="2247314"/>
              <a:ext cx="1478916" cy="918721"/>
            </a:xfrm>
            <a:prstGeom prst="roundRect">
              <a:avLst>
                <a:gd name="adj" fmla="val 7317"/>
              </a:avLst>
            </a:prstGeom>
            <a:solidFill>
              <a:srgbClr val="E3EEFB"/>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01527" y="2328430"/>
              <a:ext cx="237489" cy="178456"/>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DM</a:t>
              </a:r>
            </a:p>
          </p:txBody>
        </p:sp>
        <p:sp>
          <p:nvSpPr>
            <p:cNvPr id="42" name="TextBox 41"/>
            <p:cNvSpPr txBox="1"/>
            <p:nvPr/>
          </p:nvSpPr>
          <p:spPr>
            <a:xfrm>
              <a:off x="4695426" y="2549595"/>
              <a:ext cx="649692" cy="15412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데이터 메모리</a:t>
              </a:r>
            </a:p>
          </p:txBody>
        </p:sp>
        <p:sp>
          <p:nvSpPr>
            <p:cNvPr id="43" name="TextBox 42"/>
            <p:cNvSpPr txBox="1"/>
            <p:nvPr/>
          </p:nvSpPr>
          <p:spPr>
            <a:xfrm>
              <a:off x="4634017" y="2767175"/>
              <a:ext cx="772510"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Q[0:16][0:128]</a:t>
              </a:r>
            </a:p>
          </p:txBody>
        </p:sp>
        <p:sp>
          <p:nvSpPr>
            <p:cNvPr id="44" name="TextBox 43"/>
            <p:cNvSpPr txBox="1"/>
            <p:nvPr/>
          </p:nvSpPr>
          <p:spPr>
            <a:xfrm>
              <a:off x="4751395" y="2981842"/>
              <a:ext cx="537754"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query 16개</a:t>
              </a:r>
            </a:p>
          </p:txBody>
        </p:sp>
        <p:sp>
          <p:nvSpPr>
            <p:cNvPr id="45" name="Rounded Rectangle 44"/>
            <p:cNvSpPr/>
            <p:nvPr/>
          </p:nvSpPr>
          <p:spPr>
            <a:xfrm>
              <a:off x="4280814" y="3278074"/>
              <a:ext cx="1478916" cy="1254838"/>
            </a:xfrm>
            <a:prstGeom prst="roundRect">
              <a:avLst>
                <a:gd name="adj" fmla="val 5357"/>
              </a:avLst>
            </a:prstGeom>
            <a:solidFill>
              <a:srgbClr val="E2F4E8"/>
            </a:solidFill>
            <a:ln w="1568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3678" y="3359190"/>
              <a:ext cx="653188" cy="178456"/>
            </a:xfrm>
            <a:prstGeom prst="rect">
              <a:avLst/>
            </a:prstGeom>
            <a:noFill/>
          </p:spPr>
          <p:txBody>
            <a:bodyPr wrap="none" anchor="ctr" lIns="0" rIns="0" tIns="0" bIns="0">
              <a:noAutofit/>
            </a:bodyPr>
            <a:lstStyle/>
            <a:p>
              <a:pPr algn="ctr"/>
              <a:r>
                <a:rPr sz="969" b="1">
                  <a:solidFill>
                    <a:srgbClr val="1A7F37"/>
                  </a:solidFill>
                  <a:latin typeface="맑은 고딕"/>
                  <a:ea typeface="맑은 고딕"/>
                  <a:cs typeface="맑은 고딕"/>
                </a:rPr>
                <a:t>RF x 8 뱅크</a:t>
              </a:r>
            </a:p>
          </p:txBody>
        </p:sp>
        <p:sp>
          <p:nvSpPr>
            <p:cNvPr id="47" name="Rectangle 46"/>
            <p:cNvSpPr/>
            <p:nvPr/>
          </p:nvSpPr>
          <p:spPr>
            <a:xfrm>
              <a:off x="4370445"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27300"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84155"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84100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99786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15471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31157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468428"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39395" y="3977198"/>
              <a:ext cx="761754"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K[0:128][0:16]</a:t>
              </a:r>
            </a:p>
          </p:txBody>
        </p:sp>
        <p:sp>
          <p:nvSpPr>
            <p:cNvPr id="56" name="TextBox 55"/>
            <p:cNvSpPr txBox="1"/>
            <p:nvPr/>
          </p:nvSpPr>
          <p:spPr>
            <a:xfrm>
              <a:off x="4613452" y="4191865"/>
              <a:ext cx="813639"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key 16개 → 8뱅크</a:t>
              </a:r>
            </a:p>
          </p:txBody>
        </p:sp>
        <p:sp>
          <p:nvSpPr>
            <p:cNvPr id="57" name="Rounded Rectangle 56"/>
            <p:cNvSpPr/>
            <p:nvPr/>
          </p:nvSpPr>
          <p:spPr>
            <a:xfrm>
              <a:off x="6185479" y="1821565"/>
              <a:ext cx="1702995" cy="313710"/>
            </a:xfrm>
            <a:prstGeom prst="roundRect">
              <a:avLst>
                <a:gd name="adj" fmla="val 21428"/>
              </a:avLst>
            </a:prstGeom>
            <a:solidFill>
              <a:srgbClr val="DCEBF9"/>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10500" y="1878481"/>
              <a:ext cx="452952" cy="194679"/>
            </a:xfrm>
            <a:prstGeom prst="rect">
              <a:avLst/>
            </a:prstGeom>
            <a:noFill/>
          </p:spPr>
          <p:txBody>
            <a:bodyPr wrap="none" anchor="ctr" lIns="0" rIns="0" tIns="0" bIns="0">
              <a:noAutofit/>
            </a:bodyPr>
            <a:lstStyle/>
            <a:p>
              <a:pPr algn="ctr"/>
              <a:r>
                <a:rPr sz="1060" b="1">
                  <a:solidFill>
                    <a:srgbClr val="083F80"/>
                  </a:solidFill>
                  <a:latin typeface="맑은 고딕"/>
                  <a:ea typeface="맑은 고딕"/>
                  <a:cs typeface="맑은 고딕"/>
                </a:rPr>
                <a:t>slice 1</a:t>
              </a:r>
            </a:p>
          </p:txBody>
        </p:sp>
        <p:sp>
          <p:nvSpPr>
            <p:cNvPr id="59" name="Rounded Rectangle 58"/>
            <p:cNvSpPr/>
            <p:nvPr/>
          </p:nvSpPr>
          <p:spPr>
            <a:xfrm>
              <a:off x="6297518" y="2247314"/>
              <a:ext cx="1478916" cy="918721"/>
            </a:xfrm>
            <a:prstGeom prst="roundRect">
              <a:avLst>
                <a:gd name="adj" fmla="val 7317"/>
              </a:avLst>
            </a:prstGeom>
            <a:solidFill>
              <a:srgbClr val="E3EEFB"/>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18231" y="2328430"/>
              <a:ext cx="237489" cy="178456"/>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DM</a:t>
              </a:r>
            </a:p>
          </p:txBody>
        </p:sp>
        <p:sp>
          <p:nvSpPr>
            <p:cNvPr id="61" name="TextBox 60"/>
            <p:cNvSpPr txBox="1"/>
            <p:nvPr/>
          </p:nvSpPr>
          <p:spPr>
            <a:xfrm>
              <a:off x="6712130" y="2549595"/>
              <a:ext cx="649692" cy="15412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데이터 메모리</a:t>
              </a:r>
            </a:p>
          </p:txBody>
        </p:sp>
        <p:sp>
          <p:nvSpPr>
            <p:cNvPr id="62" name="TextBox 61"/>
            <p:cNvSpPr txBox="1"/>
            <p:nvPr/>
          </p:nvSpPr>
          <p:spPr>
            <a:xfrm>
              <a:off x="6619630" y="2767175"/>
              <a:ext cx="834691"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Q[16:32][0:128]</a:t>
              </a:r>
            </a:p>
          </p:txBody>
        </p:sp>
        <p:sp>
          <p:nvSpPr>
            <p:cNvPr id="63" name="TextBox 62"/>
            <p:cNvSpPr txBox="1"/>
            <p:nvPr/>
          </p:nvSpPr>
          <p:spPr>
            <a:xfrm>
              <a:off x="6768099" y="2981842"/>
              <a:ext cx="537754"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query 16개</a:t>
              </a:r>
            </a:p>
          </p:txBody>
        </p:sp>
        <p:sp>
          <p:nvSpPr>
            <p:cNvPr id="64" name="Rounded Rectangle 63"/>
            <p:cNvSpPr/>
            <p:nvPr/>
          </p:nvSpPr>
          <p:spPr>
            <a:xfrm>
              <a:off x="6297518" y="3278074"/>
              <a:ext cx="1478916" cy="1254838"/>
            </a:xfrm>
            <a:prstGeom prst="roundRect">
              <a:avLst>
                <a:gd name="adj" fmla="val 5357"/>
              </a:avLst>
            </a:prstGeom>
            <a:solidFill>
              <a:srgbClr val="E2F4E8"/>
            </a:solidFill>
            <a:ln w="1568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10382" y="3359190"/>
              <a:ext cx="653188" cy="178456"/>
            </a:xfrm>
            <a:prstGeom prst="rect">
              <a:avLst/>
            </a:prstGeom>
            <a:noFill/>
          </p:spPr>
          <p:txBody>
            <a:bodyPr wrap="none" anchor="ctr" lIns="0" rIns="0" tIns="0" bIns="0">
              <a:noAutofit/>
            </a:bodyPr>
            <a:lstStyle/>
            <a:p>
              <a:pPr algn="ctr"/>
              <a:r>
                <a:rPr sz="969" b="1">
                  <a:solidFill>
                    <a:srgbClr val="1A7F37"/>
                  </a:solidFill>
                  <a:latin typeface="맑은 고딕"/>
                  <a:ea typeface="맑은 고딕"/>
                  <a:cs typeface="맑은 고딕"/>
                </a:rPr>
                <a:t>RF x 8 뱅크</a:t>
              </a:r>
            </a:p>
          </p:txBody>
        </p:sp>
        <p:sp>
          <p:nvSpPr>
            <p:cNvPr id="66" name="Rectangle 65"/>
            <p:cNvSpPr/>
            <p:nvPr/>
          </p:nvSpPr>
          <p:spPr>
            <a:xfrm>
              <a:off x="638714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54400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70085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85771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014568"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171423"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328278"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485133"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625008" y="3977198"/>
              <a:ext cx="823936"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K[0:128][16:32]</a:t>
              </a:r>
            </a:p>
          </p:txBody>
        </p:sp>
        <p:sp>
          <p:nvSpPr>
            <p:cNvPr id="75" name="TextBox 74"/>
            <p:cNvSpPr txBox="1"/>
            <p:nvPr/>
          </p:nvSpPr>
          <p:spPr>
            <a:xfrm>
              <a:off x="6630156" y="4191865"/>
              <a:ext cx="813639"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key 16개 → 8뱅크</a:t>
              </a:r>
            </a:p>
          </p:txBody>
        </p:sp>
        <p:sp>
          <p:nvSpPr>
            <p:cNvPr id="76" name="TextBox 75"/>
            <p:cNvSpPr txBox="1"/>
            <p:nvPr/>
          </p:nvSpPr>
          <p:spPr>
            <a:xfrm>
              <a:off x="8294414" y="3007387"/>
              <a:ext cx="622220" cy="421805"/>
            </a:xfrm>
            <a:prstGeom prst="rect">
              <a:avLst/>
            </a:prstGeom>
            <a:noFill/>
          </p:spPr>
          <p:txBody>
            <a:bodyPr wrap="none" anchor="ctr" lIns="0" rIns="0" tIns="0" bIns="0">
              <a:noAutofit/>
            </a:bodyPr>
            <a:lstStyle/>
            <a:p>
              <a:pPr algn="ctr"/>
              <a:r>
                <a:rPr sz="2290" b="1">
                  <a:solidFill>
                    <a:srgbClr val="5B6B7B"/>
                  </a:solidFill>
                  <a:latin typeface="맑은 고딕"/>
                  <a:ea typeface="맑은 고딕"/>
                  <a:cs typeface="맑은 고딕"/>
                </a:rPr>
                <a:t>···</a:t>
              </a:r>
            </a:p>
          </p:txBody>
        </p:sp>
        <p:sp>
          <p:nvSpPr>
            <p:cNvPr id="77" name="Rounded Rectangle 76"/>
            <p:cNvSpPr/>
            <p:nvPr/>
          </p:nvSpPr>
          <p:spPr>
            <a:xfrm>
              <a:off x="9322574" y="1821565"/>
              <a:ext cx="1702995" cy="313710"/>
            </a:xfrm>
            <a:prstGeom prst="roundRect">
              <a:avLst>
                <a:gd name="adj" fmla="val 21428"/>
              </a:avLst>
            </a:prstGeom>
            <a:solidFill>
              <a:srgbClr val="DCEBF9"/>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07934" y="1878481"/>
              <a:ext cx="532275" cy="194679"/>
            </a:xfrm>
            <a:prstGeom prst="rect">
              <a:avLst/>
            </a:prstGeom>
            <a:noFill/>
          </p:spPr>
          <p:txBody>
            <a:bodyPr wrap="none" anchor="ctr" lIns="0" rIns="0" tIns="0" bIns="0">
              <a:noAutofit/>
            </a:bodyPr>
            <a:lstStyle/>
            <a:p>
              <a:pPr algn="ctr"/>
              <a:r>
                <a:rPr sz="1060" b="1">
                  <a:solidFill>
                    <a:srgbClr val="083F80"/>
                  </a:solidFill>
                  <a:latin typeface="맑은 고딕"/>
                  <a:ea typeface="맑은 고딕"/>
                  <a:cs typeface="맑은 고딕"/>
                </a:rPr>
                <a:t>slice 15</a:t>
              </a:r>
            </a:p>
          </p:txBody>
        </p:sp>
        <p:sp>
          <p:nvSpPr>
            <p:cNvPr id="79" name="Rounded Rectangle 78"/>
            <p:cNvSpPr/>
            <p:nvPr/>
          </p:nvSpPr>
          <p:spPr>
            <a:xfrm>
              <a:off x="9434613" y="2247314"/>
              <a:ext cx="1478916" cy="918721"/>
            </a:xfrm>
            <a:prstGeom prst="roundRect">
              <a:avLst>
                <a:gd name="adj" fmla="val 7317"/>
              </a:avLst>
            </a:prstGeom>
            <a:solidFill>
              <a:srgbClr val="E3EEFB"/>
            </a:solidFill>
            <a:ln w="1568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55327" y="2328430"/>
              <a:ext cx="237489" cy="178456"/>
            </a:xfrm>
            <a:prstGeom prst="rect">
              <a:avLst/>
            </a:prstGeom>
            <a:noFill/>
          </p:spPr>
          <p:txBody>
            <a:bodyPr wrap="none" anchor="ctr" lIns="0" rIns="0" tIns="0" bIns="0">
              <a:noAutofit/>
            </a:bodyPr>
            <a:lstStyle/>
            <a:p>
              <a:pPr algn="ctr"/>
              <a:r>
                <a:rPr sz="969" b="1">
                  <a:solidFill>
                    <a:srgbClr val="083F80"/>
                  </a:solidFill>
                  <a:latin typeface="맑은 고딕"/>
                  <a:ea typeface="맑은 고딕"/>
                  <a:cs typeface="맑은 고딕"/>
                </a:rPr>
                <a:t>DM</a:t>
              </a:r>
            </a:p>
          </p:txBody>
        </p:sp>
        <p:sp>
          <p:nvSpPr>
            <p:cNvPr id="81" name="TextBox 80"/>
            <p:cNvSpPr txBox="1"/>
            <p:nvPr/>
          </p:nvSpPr>
          <p:spPr>
            <a:xfrm>
              <a:off x="9849225" y="2549595"/>
              <a:ext cx="649692" cy="154121"/>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데이터 메모리</a:t>
              </a:r>
            </a:p>
          </p:txBody>
        </p:sp>
        <p:sp>
          <p:nvSpPr>
            <p:cNvPr id="82" name="TextBox 81"/>
            <p:cNvSpPr txBox="1"/>
            <p:nvPr/>
          </p:nvSpPr>
          <p:spPr>
            <a:xfrm>
              <a:off x="9694544" y="2767175"/>
              <a:ext cx="959055"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Q[240:256][0:128]</a:t>
              </a:r>
            </a:p>
          </p:txBody>
        </p:sp>
        <p:sp>
          <p:nvSpPr>
            <p:cNvPr id="83" name="TextBox 82"/>
            <p:cNvSpPr txBox="1"/>
            <p:nvPr/>
          </p:nvSpPr>
          <p:spPr>
            <a:xfrm>
              <a:off x="9905194" y="2981842"/>
              <a:ext cx="537754"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query 16개</a:t>
              </a:r>
            </a:p>
          </p:txBody>
        </p:sp>
        <p:sp>
          <p:nvSpPr>
            <p:cNvPr id="84" name="Rounded Rectangle 83"/>
            <p:cNvSpPr/>
            <p:nvPr/>
          </p:nvSpPr>
          <p:spPr>
            <a:xfrm>
              <a:off x="9434613" y="3278074"/>
              <a:ext cx="1478916" cy="1254838"/>
            </a:xfrm>
            <a:prstGeom prst="roundRect">
              <a:avLst>
                <a:gd name="adj" fmla="val 5357"/>
              </a:avLst>
            </a:prstGeom>
            <a:solidFill>
              <a:srgbClr val="E2F4E8"/>
            </a:solidFill>
            <a:ln w="1568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847477" y="3359190"/>
              <a:ext cx="653188" cy="178456"/>
            </a:xfrm>
            <a:prstGeom prst="rect">
              <a:avLst/>
            </a:prstGeom>
            <a:noFill/>
          </p:spPr>
          <p:txBody>
            <a:bodyPr wrap="none" anchor="ctr" lIns="0" rIns="0" tIns="0" bIns="0">
              <a:noAutofit/>
            </a:bodyPr>
            <a:lstStyle/>
            <a:p>
              <a:pPr algn="ctr"/>
              <a:r>
                <a:rPr sz="969" b="1">
                  <a:solidFill>
                    <a:srgbClr val="1A7F37"/>
                  </a:solidFill>
                  <a:latin typeface="맑은 고딕"/>
                  <a:ea typeface="맑은 고딕"/>
                  <a:cs typeface="맑은 고딕"/>
                </a:rPr>
                <a:t>RF x 8 뱅크</a:t>
              </a:r>
            </a:p>
          </p:txBody>
        </p:sp>
        <p:sp>
          <p:nvSpPr>
            <p:cNvPr id="86" name="Rectangle 85"/>
            <p:cNvSpPr/>
            <p:nvPr/>
          </p:nvSpPr>
          <p:spPr>
            <a:xfrm>
              <a:off x="9524245"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68109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83795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994809"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151664"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308518"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465373"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622228" y="3636599"/>
              <a:ext cx="134447" cy="246486"/>
            </a:xfrm>
            <a:prstGeom prst="rect">
              <a:avLst/>
            </a:prstGeom>
            <a:solidFill>
              <a:srgbClr val="B3E0C6"/>
            </a:solidFill>
            <a:ln w="10083">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699922" y="3977198"/>
              <a:ext cx="948299" cy="162233"/>
            </a:xfrm>
            <a:prstGeom prst="rect">
              <a:avLst/>
            </a:prstGeom>
            <a:noFill/>
          </p:spPr>
          <p:txBody>
            <a:bodyPr wrap="none" anchor="ctr" lIns="0" rIns="0" tIns="0" bIns="0">
              <a:noAutofit/>
            </a:bodyPr>
            <a:lstStyle/>
            <a:p>
              <a:pPr algn="ctr"/>
              <a:r>
                <a:rPr sz="880" b="0">
                  <a:solidFill>
                    <a:srgbClr val="16202C"/>
                  </a:solidFill>
                  <a:latin typeface="맑은 고딕"/>
                  <a:ea typeface="맑은 고딕"/>
                  <a:cs typeface="맑은 고딕"/>
                </a:rPr>
                <a:t>K[0:128][240:256]</a:t>
              </a:r>
            </a:p>
          </p:txBody>
        </p:sp>
        <p:sp>
          <p:nvSpPr>
            <p:cNvPr id="95" name="TextBox 94"/>
            <p:cNvSpPr txBox="1"/>
            <p:nvPr/>
          </p:nvSpPr>
          <p:spPr>
            <a:xfrm>
              <a:off x="9767252" y="4191865"/>
              <a:ext cx="813639" cy="146009"/>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key 16개 → 8뱅크</a:t>
              </a:r>
            </a:p>
          </p:txBody>
        </p:sp>
        <p:sp>
          <p:nvSpPr>
            <p:cNvPr id="96" name="Rounded Rectangle 95"/>
            <p:cNvSpPr/>
            <p:nvPr/>
          </p:nvSpPr>
          <p:spPr>
            <a:xfrm>
              <a:off x="897232" y="5137923"/>
              <a:ext cx="10397230" cy="403341"/>
            </a:xfrm>
            <a:prstGeom prst="roundRect">
              <a:avLst>
                <a:gd name="adj" fmla="val 22222"/>
              </a:avLst>
            </a:prstGeom>
            <a:solidFill>
              <a:srgbClr val="FFF7E6"/>
            </a:solidFill>
            <a:ln w="17926">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21311" y="5246153"/>
              <a:ext cx="549782" cy="186568"/>
            </a:xfrm>
            <a:prstGeom prst="rect">
              <a:avLst/>
            </a:prstGeom>
            <a:noFill/>
          </p:spPr>
          <p:txBody>
            <a:bodyPr wrap="none" anchor="ctr" lIns="0" rIns="0" tIns="0" bIns="0">
              <a:noAutofit/>
            </a:bodyPr>
            <a:lstStyle/>
            <a:p>
              <a:pPr algn="l"/>
              <a:r>
                <a:rPr sz="1010" b="1">
                  <a:solidFill>
                    <a:srgbClr val="B45409"/>
                  </a:solidFill>
                  <a:latin typeface="맑은 고딕"/>
                  <a:ea typeface="맑은 고딕"/>
                  <a:cs typeface="맑은 고딕"/>
                </a:rPr>
                <a:t>핵심 대비</a:t>
              </a:r>
            </a:p>
          </p:txBody>
        </p:sp>
        <p:sp>
          <p:nvSpPr>
            <p:cNvPr id="98" name="TextBox 97"/>
            <p:cNvSpPr txBox="1"/>
            <p:nvPr/>
          </p:nvSpPr>
          <p:spPr>
            <a:xfrm>
              <a:off x="1838361" y="5246153"/>
              <a:ext cx="4689056" cy="186568"/>
            </a:xfrm>
            <a:prstGeom prst="rect">
              <a:avLst/>
            </a:prstGeom>
            <a:noFill/>
          </p:spPr>
          <p:txBody>
            <a:bodyPr wrap="none" anchor="ctr" lIns="0" rIns="0" tIns="0" bIns="0">
              <a:noAutofit/>
            </a:bodyPr>
            <a:lstStyle/>
            <a:p>
              <a:pPr algn="l"/>
              <a:r>
                <a:rPr sz="1010" b="0">
                  <a:solidFill>
                    <a:srgbClr val="16202C"/>
                  </a:solidFill>
                  <a:latin typeface="맑은 고딕"/>
                  <a:ea typeface="맑은 고딕"/>
                  <a:cs typeface="맑은 고딕"/>
                </a:rPr>
                <a:t>흘려보내는 쪽 Q 는 DM 에서 fetch 되고, 고정해 두고 재사용하는 쪽 K 는 RF 에 상주한다</a:t>
              </a:r>
            </a:p>
          </p:txBody>
        </p:sp>
      </p:grpSp>
      <p:sp>
        <p:nvSpPr>
          <p:cNvPr id="99" name="Rectangle 9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흘려보내는 쪽(Q)은 DM 에서 fetch 되고, 고정해 두고 재사용하는 쪽(K)은 RF 에 상주한다.</a:t>
            </a:r>
          </a:p>
        </p:txBody>
      </p:sp>
      <p:sp>
        <p:nvSpPr>
          <p:cNvPr id="100" name="Rectangle 9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10 (a) — Q 는 DM 으로, K 는 RF 로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attention 입력인데 실리는 메모리가 다르다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192</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IV-C 절에서 DPE 는 두 입력 벡터 중 하나를 feed unit 에서, 다른 하나를 RF 에서 받는다고 했다. Q = feed, K = RF 는 그 구조에 그대로 대응한다</a:t>
            </a:r>
          </a:p>
          <a:p>
            <a:pPr algn="l">
              <a:lnSpc>
                <a:spcPct val="118000"/>
              </a:lnSpc>
              <a:spcBef>
                <a:spcPts val="600"/>
              </a:spcBef>
              <a:spcAft>
                <a:spcPts val="200"/>
              </a:spcAft>
            </a:pPr>
            <a:r>
              <a:rPr sz="1900" b="0" i="0">
                <a:solidFill>
                  <a:srgbClr val="16202C"/>
                </a:solidFill>
                <a:latin typeface="Segoe UI"/>
                <a:ea typeface="맑은 고딕"/>
                <a:cs typeface="맑은 고딕"/>
              </a:rPr>
              <a:t>▪  RF 뱅크 수와 DPE 수가 8 로 같다. 그래서 한 슬라이스가 가진 key 16개가 8개 뱅크에 나뉘어 저장된다</a:t>
            </a:r>
          </a:p>
          <a:p>
            <a:pPr algn="l">
              <a:lnSpc>
                <a:spcPct val="118000"/>
              </a:lnSpc>
              <a:spcBef>
                <a:spcPts val="600"/>
              </a:spcBef>
              <a:spcAft>
                <a:spcPts val="200"/>
              </a:spcAft>
            </a:pPr>
            <a:r>
              <a:rPr sz="1900" b="0" i="0">
                <a:solidFill>
                  <a:srgbClr val="16202C"/>
                </a:solidFill>
                <a:latin typeface="Segoe UI"/>
                <a:ea typeface="맑은 고딕"/>
                <a:cs typeface="맑은 고딕"/>
              </a:rPr>
              <a:t>▪  헤드 하나가 슬라이스 16개를 쓰므로 4 헤드 × 16 = 64. TU 의 64+1 슬라이스 중 64개를 전부 쓰는 구성이다</a:t>
            </a:r>
          </a:p>
          <a:p>
            <a:pPr algn="l">
              <a:lnSpc>
                <a:spcPct val="118000"/>
              </a:lnSpc>
              <a:spcBef>
                <a:spcPts val="600"/>
              </a:spcBef>
              <a:spcAft>
                <a:spcPts val="200"/>
              </a:spcAft>
            </a:pPr>
            <a:r>
              <a:rPr sz="1900" b="0" i="0">
                <a:solidFill>
                  <a:srgbClr val="16202C"/>
                </a:solidFill>
                <a:latin typeface="Segoe UI"/>
                <a:ea typeface="맑은 고딕"/>
                <a:cs typeface="맑은 고딕"/>
              </a:rPr>
              <a:t>▪  H=4, L=256, D=128 은 논문이 설명을 위해 가정한 예시 값이다. LLaMA-2 7B 의 실제 값은 논문에 없다</a:t>
            </a:r>
          </a:p>
          <a:p>
            <a:pPr algn="l">
              <a:lnSpc>
                <a:spcPct val="118000"/>
              </a:lnSpc>
              <a:spcBef>
                <a:spcPts val="600"/>
              </a:spcBef>
              <a:spcAft>
                <a:spcPts val="200"/>
              </a:spcAft>
            </a:pPr>
            <a:r>
              <a:rPr sz="1900" b="1" i="0">
                <a:solidFill>
                  <a:srgbClr val="083F80"/>
                </a:solidFill>
                <a:latin typeface="Segoe UI"/>
                <a:ea typeface="맑은 고딕"/>
                <a:cs typeface="맑은 고딕"/>
              </a:rPr>
              <a:t>▪  흘려보내는 쪽과 고정하는 쪽을 나눈 이 배치가 다음 슬라이드의 재사용 배수 256 을 만든다</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10 (a) — 사이클 단위 계산 흐름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1단계 — fetch</a:t>
            </a:r>
          </a:p>
          <a:p>
            <a:pPr algn="l">
              <a:lnSpc>
                <a:spcPct val="118000"/>
              </a:lnSpc>
              <a:spcBef>
                <a:spcPts val="200"/>
              </a:spcBef>
              <a:spcAft>
                <a:spcPts val="100"/>
              </a:spcAft>
            </a:pPr>
            <a:r>
              <a:rPr sz="1480" b="0" i="0">
                <a:solidFill>
                  <a:srgbClr val="2C3A4B"/>
                </a:solidFill>
                <a:latin typeface="Segoe UI"/>
                <a:ea typeface="맑은 고딕"/>
                <a:cs typeface="맑은 고딕"/>
              </a:rPr>
              <a:t>–  slice 0 의 DM 에서 첫 query 벡터 Q[0][0:128] 을 fetch 한다</a:t>
            </a:r>
          </a:p>
          <a:p>
            <a:pPr algn="l">
              <a:lnSpc>
                <a:spcPct val="118000"/>
              </a:lnSpc>
              <a:spcBef>
                <a:spcPts val="200"/>
              </a:spcBef>
              <a:spcAft>
                <a:spcPts val="100"/>
              </a:spcAft>
            </a:pPr>
            <a:r>
              <a:rPr sz="1480" b="0" i="0">
                <a:solidFill>
                  <a:srgbClr val="2C3A4B"/>
                </a:solidFill>
                <a:latin typeface="Segoe UI"/>
                <a:ea typeface="맑은 고딕"/>
                <a:cs typeface="맑은 고딕"/>
              </a:rPr>
              <a:t>–  DM 슬라이스에서 fetch 된 입력 벡터는 feed unit 을 거쳐 8개 DPE 로 broadcast(브로드캐스트) 될 수 있다</a:t>
            </a:r>
          </a:p>
          <a:p>
            <a:pPr algn="l">
              <a:lnSpc>
                <a:spcPct val="118000"/>
              </a:lnSpc>
              <a:spcBef>
                <a:spcPts val="600"/>
              </a:spcBef>
              <a:spcAft>
                <a:spcPts val="200"/>
              </a:spcAft>
            </a:pPr>
            <a:r>
              <a:rPr sz="1600" b="1" i="0">
                <a:solidFill>
                  <a:srgbClr val="083F80"/>
                </a:solidFill>
                <a:latin typeface="Segoe UI"/>
                <a:ea typeface="맑은 고딕"/>
                <a:cs typeface="맑은 고딕"/>
              </a:rPr>
              <a:t>▪  2단계 — 첫 사이클</a:t>
            </a:r>
          </a:p>
          <a:p>
            <a:pPr algn="l">
              <a:lnSpc>
                <a:spcPct val="118000"/>
              </a:lnSpc>
              <a:spcBef>
                <a:spcPts val="200"/>
              </a:spcBef>
              <a:spcAft>
                <a:spcPts val="100"/>
              </a:spcAft>
            </a:pPr>
            <a:r>
              <a:rPr sz="1480" b="0" i="0">
                <a:solidFill>
                  <a:srgbClr val="2C3A4B"/>
                </a:solidFill>
                <a:latin typeface="Segoe UI"/>
                <a:ea typeface="맑은 고딕"/>
                <a:cs typeface="맑은 고딕"/>
              </a:rPr>
              <a:t>–  query 벡터가 slice 0 의 DPE 들로 broadcast 되어 8개의 내적을 만든다</a:t>
            </a:r>
          </a:p>
          <a:p>
            <a:pPr algn="l">
              <a:lnSpc>
                <a:spcPct val="118000"/>
              </a:lnSpc>
              <a:spcBef>
                <a:spcPts val="200"/>
              </a:spcBef>
              <a:spcAft>
                <a:spcPts val="100"/>
              </a:spcAft>
            </a:pPr>
            <a:r>
              <a:rPr sz="1480" b="0" i="0">
                <a:solidFill>
                  <a:srgbClr val="2C3A4B"/>
                </a:solidFill>
                <a:latin typeface="Segoe UI"/>
                <a:ea typeface="맑은 고딕"/>
                <a:cs typeface="맑은 고딕"/>
              </a:rPr>
              <a:t>–  이것이 출력 행렬 QK 의 첫 8개 원소, 즉 QK[0][0:8] 이다</a:t>
            </a:r>
          </a:p>
          <a:p>
            <a:pPr algn="l">
              <a:lnSpc>
                <a:spcPct val="118000"/>
              </a:lnSpc>
              <a:spcBef>
                <a:spcPts val="600"/>
              </a:spcBef>
              <a:spcAft>
                <a:spcPts val="200"/>
              </a:spcAft>
            </a:pPr>
            <a:r>
              <a:rPr sz="1600" b="1" i="0">
                <a:solidFill>
                  <a:srgbClr val="083F80"/>
                </a:solidFill>
                <a:latin typeface="Segoe UI"/>
                <a:ea typeface="맑은 고딕"/>
                <a:cs typeface="맑은 고딕"/>
              </a:rPr>
              <a:t>▪  3단계 — 다음 사이클</a:t>
            </a:r>
          </a:p>
          <a:p>
            <a:pPr algn="l">
              <a:lnSpc>
                <a:spcPct val="118000"/>
              </a:lnSpc>
              <a:spcBef>
                <a:spcPts val="200"/>
              </a:spcBef>
              <a:spcAft>
                <a:spcPts val="100"/>
              </a:spcAft>
            </a:pPr>
            <a:r>
              <a:rPr sz="1480" b="0" i="0">
                <a:solidFill>
                  <a:srgbClr val="2C3A4B"/>
                </a:solidFill>
                <a:latin typeface="Segoe UI"/>
                <a:ea typeface="맑은 고딕"/>
                <a:cs typeface="맑은 고딕"/>
              </a:rPr>
              <a:t>–  같은 query 벡터를 같은 DPE 들에 다시 공급하면서, RF 에서는 새로운 key 벡터를 fetch 한다</a:t>
            </a:r>
          </a:p>
          <a:p>
            <a:pPr algn="l">
              <a:lnSpc>
                <a:spcPct val="118000"/>
              </a:lnSpc>
              <a:spcBef>
                <a:spcPts val="200"/>
              </a:spcBef>
              <a:spcAft>
                <a:spcPts val="100"/>
              </a:spcAft>
            </a:pPr>
            <a:r>
              <a:rPr sz="1480" b="0" i="0">
                <a:solidFill>
                  <a:srgbClr val="2C3A4B"/>
                </a:solidFill>
                <a:latin typeface="Segoe UI"/>
                <a:ea typeface="맑은 고딕"/>
                <a:cs typeface="맑은 고딕"/>
              </a:rPr>
              <a:t>–  그 결과 출력 행렬의 다음 8개 원소 QK[0][8:16] 을 slice 0 에서 얻는다</a:t>
            </a:r>
          </a:p>
          <a:p>
            <a:pPr algn="l">
              <a:lnSpc>
                <a:spcPct val="118000"/>
              </a:lnSpc>
              <a:spcBef>
                <a:spcPts val="600"/>
              </a:spcBef>
              <a:spcAft>
                <a:spcPts val="200"/>
              </a:spcAft>
            </a:pPr>
            <a:r>
              <a:rPr sz="1600" b="1" i="0">
                <a:solidFill>
                  <a:srgbClr val="083F80"/>
                </a:solidFill>
                <a:latin typeface="Segoe UI"/>
                <a:ea typeface="맑은 고딕"/>
                <a:cs typeface="맑은 고딕"/>
              </a:rPr>
              <a:t>▪  결과</a:t>
            </a:r>
          </a:p>
          <a:p>
            <a:pPr algn="l">
              <a:lnSpc>
                <a:spcPct val="118000"/>
              </a:lnSpc>
              <a:spcBef>
                <a:spcPts val="200"/>
              </a:spcBef>
              <a:spcAft>
                <a:spcPts val="100"/>
              </a:spcAft>
            </a:pPr>
            <a:r>
              <a:rPr sz="1480" b="0" i="0">
                <a:solidFill>
                  <a:srgbClr val="2C3A4B"/>
                </a:solidFill>
                <a:latin typeface="Segoe UI"/>
                <a:ea typeface="맑은 고딕"/>
                <a:cs typeface="맑은 고딕"/>
              </a:rPr>
              <a:t>–  slice 0 은 출력 행렬의 부분 행(sub-row) QK[0][0:16] 을 생산한다</a:t>
            </a:r>
          </a:p>
          <a:p>
            <a:pPr algn="l">
              <a:lnSpc>
                <a:spcPct val="118000"/>
              </a:lnSpc>
              <a:spcBef>
                <a:spcPts val="200"/>
              </a:spcBef>
              <a:spcAft>
                <a:spcPts val="100"/>
              </a:spcAft>
            </a:pPr>
            <a:r>
              <a:rPr sz="1480" b="0" i="0">
                <a:solidFill>
                  <a:srgbClr val="2C3A4B"/>
                </a:solidFill>
                <a:latin typeface="Segoe UI"/>
                <a:ea typeface="맑은 고딕"/>
                <a:cs typeface="맑은 고딕"/>
              </a:rPr>
              <a:t>–  같은 방식으로 각 슬라이스가 자신의 부분 행을 병렬로 생산한다 (slice 1 은 QK[0][16:32], …)</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query 벡터를 두 사이클 연속 쓰면서 key 만 바꿔 넣어, 슬라이스 하나가 출력 부분행 16개를 만든다.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10 (b) — 재사용 256회는 세 층위의 곱이다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8 (DPE) × 2 (feed) × 16 (slice)</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194</a:t>
            </a:r>
          </a:p>
        </p:txBody>
      </p:sp>
      <p:grpSp>
        <p:nvGrpSpPr>
          <p:cNvPr id="9" name="도해 A7#10"/>
          <p:cNvGrpSpPr/>
          <p:nvPr/>
        </p:nvGrpSpPr>
        <p:grpSpPr>
          <a:xfrm>
            <a:off x="1210475" y="1463040"/>
            <a:ext cx="9770745" cy="4078224"/>
            <a:chOff x="1210475" y="1463040"/>
            <a:chExt cx="9770745" cy="4078224"/>
          </a:xfrm>
        </p:grpSpPr>
        <p:sp>
          <p:nvSpPr>
            <p:cNvPr id="10" name="Rounded Rectangle 9"/>
            <p:cNvSpPr/>
            <p:nvPr/>
          </p:nvSpPr>
          <p:spPr>
            <a:xfrm>
              <a:off x="1210475" y="1463040"/>
              <a:ext cx="8071485" cy="1062038"/>
            </a:xfrm>
            <a:prstGeom prst="roundRect">
              <a:avLst>
                <a:gd name="adj" fmla="val 8000"/>
              </a:avLst>
            </a:prstGeom>
            <a:solidFill>
              <a:srgbClr val="F4F8FD"/>
            </a:solidFill>
            <a:ln w="1699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80401" y="1506371"/>
              <a:ext cx="2446297" cy="184540"/>
            </a:xfrm>
            <a:prstGeom prst="rect">
              <a:avLst/>
            </a:prstGeom>
            <a:noFill/>
          </p:spPr>
          <p:txBody>
            <a:bodyPr wrap="none" anchor="ctr" lIns="0" rIns="0" tIns="0" bIns="0">
              <a:noAutofit/>
            </a:bodyPr>
            <a:lstStyle/>
            <a:p>
              <a:pPr algn="l"/>
              <a:r>
                <a:rPr sz="1000" b="1">
                  <a:solidFill>
                    <a:srgbClr val="083F80"/>
                  </a:solidFill>
                  <a:latin typeface="맑은 고딕"/>
                  <a:ea typeface="맑은 고딕"/>
                  <a:cs typeface="맑은 고딕"/>
                </a:rPr>
                <a:t>① slice 안 · 공간 — 8개 DPE 로 broadcast</a:t>
              </a:r>
            </a:p>
          </p:txBody>
        </p:sp>
        <p:sp>
          <p:nvSpPr>
            <p:cNvPr id="12" name="Rounded Rectangle 11"/>
            <p:cNvSpPr/>
            <p:nvPr/>
          </p:nvSpPr>
          <p:spPr>
            <a:xfrm>
              <a:off x="1422882" y="1866614"/>
              <a:ext cx="977074" cy="509778"/>
            </a:xfrm>
            <a:prstGeom prst="roundRect">
              <a:avLst>
                <a:gd name="adj" fmla="val 12500"/>
              </a:avLst>
            </a:prstGeom>
            <a:solidFill>
              <a:srgbClr val="E3EEFB"/>
            </a:solidFill>
            <a:ln w="1699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15183" y="1949666"/>
              <a:ext cx="592474" cy="161472"/>
            </a:xfrm>
            <a:prstGeom prst="rect">
              <a:avLst/>
            </a:prstGeom>
            <a:noFill/>
          </p:spPr>
          <p:txBody>
            <a:bodyPr wrap="none" anchor="ctr" lIns="0" rIns="0" tIns="0" bIns="0">
              <a:noAutofit/>
            </a:bodyPr>
            <a:lstStyle/>
            <a:p>
              <a:pPr algn="ctr"/>
              <a:r>
                <a:rPr sz="880" b="1">
                  <a:solidFill>
                    <a:srgbClr val="083F80"/>
                  </a:solidFill>
                  <a:latin typeface="맑은 고딕"/>
                  <a:ea typeface="맑은 고딕"/>
                  <a:cs typeface="맑은 고딕"/>
                </a:rPr>
                <a:t>query 벡터</a:t>
              </a:r>
            </a:p>
          </p:txBody>
        </p:sp>
        <p:sp>
          <p:nvSpPr>
            <p:cNvPr id="14" name="TextBox 13"/>
            <p:cNvSpPr txBox="1"/>
            <p:nvPr/>
          </p:nvSpPr>
          <p:spPr>
            <a:xfrm>
              <a:off x="1563135" y="2153152"/>
              <a:ext cx="696569" cy="146094"/>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1개 · DM fetch</a:t>
              </a:r>
            </a:p>
          </p:txBody>
        </p:sp>
        <p:cxnSp>
          <p:nvCxnSpPr>
            <p:cNvPr id="15" name="Connector 14"/>
            <p:cNvCxnSpPr/>
            <p:nvPr/>
          </p:nvCxnSpPr>
          <p:spPr>
            <a:xfrm>
              <a:off x="2399957" y="2121503"/>
              <a:ext cx="212407" cy="0"/>
            </a:xfrm>
            <a:prstGeom prst="line">
              <a:avLst/>
            </a:prstGeom>
            <a:ln w="19116">
              <a:solidFill>
                <a:srgbClr val="0B5FC0"/>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2591124" y="2057781"/>
              <a:ext cx="169926" cy="127445"/>
            </a:xfrm>
            <a:custGeom>
              <a:avLst/>
              <a:gdLst/>
              <a:ahLst/>
              <a:cxnLst/>
              <a:rect l="l" t="t" r="r" b="b"/>
              <a:pathLst>
                <a:path w="169926" h="127445">
                  <a:moveTo>
                    <a:pt x="0" y="0"/>
                  </a:moveTo>
                  <a:lnTo>
                    <a:pt x="169926" y="63722"/>
                  </a:lnTo>
                  <a:lnTo>
                    <a:pt x="0" y="127445"/>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03531" y="1866614"/>
              <a:ext cx="807148" cy="509778"/>
            </a:xfrm>
            <a:prstGeom prst="roundRect">
              <a:avLst>
                <a:gd name="adj" fmla="val 12500"/>
              </a:avLst>
            </a:prstGeom>
            <a:solidFill>
              <a:srgbClr val="FDEBD3"/>
            </a:solidFill>
            <a:ln w="1699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777" y="1949666"/>
              <a:ext cx="304656" cy="161472"/>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Feed</a:t>
              </a:r>
            </a:p>
          </p:txBody>
        </p:sp>
        <p:sp>
          <p:nvSpPr>
            <p:cNvPr id="19" name="TextBox 18"/>
            <p:cNvSpPr txBox="1"/>
            <p:nvPr/>
          </p:nvSpPr>
          <p:spPr>
            <a:xfrm>
              <a:off x="3069163" y="2119592"/>
              <a:ext cx="275885" cy="161472"/>
            </a:xfrm>
            <a:prstGeom prst="rect">
              <a:avLst/>
            </a:prstGeom>
            <a:noFill/>
          </p:spPr>
          <p:txBody>
            <a:bodyPr wrap="none" anchor="ctr" lIns="0" rIns="0" tIns="0" bIns="0">
              <a:noAutofit/>
            </a:bodyPr>
            <a:lstStyle/>
            <a:p>
              <a:pPr algn="ctr"/>
              <a:r>
                <a:rPr sz="880" b="1">
                  <a:solidFill>
                    <a:srgbClr val="B45409"/>
                  </a:solidFill>
                  <a:latin typeface="맑은 고딕"/>
                  <a:ea typeface="맑은 고딕"/>
                  <a:cs typeface="맑은 고딕"/>
                </a:rPr>
                <a:t>Unit</a:t>
              </a:r>
            </a:p>
          </p:txBody>
        </p:sp>
        <p:cxnSp>
          <p:nvCxnSpPr>
            <p:cNvPr id="20" name="Connector 19"/>
            <p:cNvCxnSpPr/>
            <p:nvPr/>
          </p:nvCxnSpPr>
          <p:spPr>
            <a:xfrm>
              <a:off x="3610680" y="2121503"/>
              <a:ext cx="467296" cy="0"/>
            </a:xfrm>
            <a:prstGeom prst="line">
              <a:avLst/>
            </a:prstGeom>
            <a:ln w="19116">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077976" y="1781651"/>
              <a:ext cx="0" cy="339852"/>
            </a:xfrm>
            <a:prstGeom prst="line">
              <a:avLst/>
            </a:prstGeom>
            <a:ln w="19116">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077976" y="1781651"/>
              <a:ext cx="4885373" cy="0"/>
            </a:xfrm>
            <a:prstGeom prst="line">
              <a:avLst/>
            </a:prstGeom>
            <a:ln w="19116">
              <a:solidFill>
                <a:srgbClr val="B4540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67773" y="1600892"/>
              <a:ext cx="505779" cy="146094"/>
            </a:xfrm>
            <a:prstGeom prst="rect">
              <a:avLst/>
            </a:prstGeom>
            <a:noFill/>
          </p:spPr>
          <p:txBody>
            <a:bodyPr wrap="none" anchor="ctr" lIns="0" rIns="0" tIns="0" bIns="0">
              <a:noAutofit/>
            </a:bodyPr>
            <a:lstStyle/>
            <a:p>
              <a:pPr algn="ctr"/>
              <a:r>
                <a:rPr sz="790" b="0">
                  <a:solidFill>
                    <a:srgbClr val="B45409"/>
                  </a:solidFill>
                  <a:latin typeface="맑은 고딕"/>
                  <a:ea typeface="맑은 고딕"/>
                  <a:cs typeface="맑은 고딕"/>
                </a:rPr>
                <a:t>broadcast</a:t>
              </a:r>
            </a:p>
          </p:txBody>
        </p:sp>
        <p:cxnSp>
          <p:nvCxnSpPr>
            <p:cNvPr id="24" name="Connector 23"/>
            <p:cNvCxnSpPr/>
            <p:nvPr/>
          </p:nvCxnSpPr>
          <p:spPr>
            <a:xfrm>
              <a:off x="4364726"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80708"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96690"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212672"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28653"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44635"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60617"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76599" y="1781651"/>
              <a:ext cx="0" cy="106204"/>
            </a:xfrm>
            <a:prstGeom prst="line">
              <a:avLst/>
            </a:prstGeom>
            <a:ln w="14868">
              <a:solidFill>
                <a:srgbClr val="B45409"/>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4311624"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4927606"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543588"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159570"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6775552" y="1877235"/>
              <a:ext cx="106203" cy="74342"/>
            </a:xfrm>
            <a:custGeom>
              <a:avLst/>
              <a:gdLst/>
              <a:ahLst/>
              <a:cxnLst/>
              <a:rect l="l" t="t" r="r" b="b"/>
              <a:pathLst>
                <a:path w="106203" h="74342">
                  <a:moveTo>
                    <a:pt x="0" y="0"/>
                  </a:moveTo>
                  <a:lnTo>
                    <a:pt x="106203" y="0"/>
                  </a:lnTo>
                  <a:lnTo>
                    <a:pt x="53101"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391533"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8007515" y="1877235"/>
              <a:ext cx="106204" cy="74342"/>
            </a:xfrm>
            <a:custGeom>
              <a:avLst/>
              <a:gdLst/>
              <a:ahLst/>
              <a:cxnLst/>
              <a:rect l="l" t="t" r="r" b="b"/>
              <a:pathLst>
                <a:path w="106204" h="74342">
                  <a:moveTo>
                    <a:pt x="0" y="0"/>
                  </a:moveTo>
                  <a:lnTo>
                    <a:pt x="106204"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623497" y="1877235"/>
              <a:ext cx="106203" cy="74342"/>
            </a:xfrm>
            <a:custGeom>
              <a:avLst/>
              <a:gdLst/>
              <a:ahLst/>
              <a:cxnLst/>
              <a:rect l="l" t="t" r="r" b="b"/>
              <a:pathLst>
                <a:path w="106203" h="74342">
                  <a:moveTo>
                    <a:pt x="0" y="0"/>
                  </a:moveTo>
                  <a:lnTo>
                    <a:pt x="106203" y="0"/>
                  </a:lnTo>
                  <a:lnTo>
                    <a:pt x="53102" y="74342"/>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077976"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693958"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309940"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925922"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541903"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157885"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773867"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389848" y="1930336"/>
              <a:ext cx="573500" cy="446056"/>
            </a:xfrm>
            <a:prstGeom prst="roundRect">
              <a:avLst>
                <a:gd name="adj" fmla="val 9523"/>
              </a:avLst>
            </a:prstGeom>
            <a:solidFill>
              <a:srgbClr val="CBE0F7"/>
            </a:solidFill>
            <a:ln w="1274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04659"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0</a:t>
              </a:r>
            </a:p>
          </p:txBody>
        </p:sp>
        <p:sp>
          <p:nvSpPr>
            <p:cNvPr id="49" name="TextBox 48"/>
            <p:cNvSpPr txBox="1"/>
            <p:nvPr/>
          </p:nvSpPr>
          <p:spPr>
            <a:xfrm>
              <a:off x="4820640"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1</a:t>
              </a:r>
            </a:p>
          </p:txBody>
        </p:sp>
        <p:sp>
          <p:nvSpPr>
            <p:cNvPr id="50" name="TextBox 49"/>
            <p:cNvSpPr txBox="1"/>
            <p:nvPr/>
          </p:nvSpPr>
          <p:spPr>
            <a:xfrm>
              <a:off x="5436622"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2</a:t>
              </a:r>
            </a:p>
          </p:txBody>
        </p:sp>
        <p:sp>
          <p:nvSpPr>
            <p:cNvPr id="51" name="TextBox 50"/>
            <p:cNvSpPr txBox="1"/>
            <p:nvPr/>
          </p:nvSpPr>
          <p:spPr>
            <a:xfrm>
              <a:off x="6052604"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3</a:t>
              </a:r>
            </a:p>
          </p:txBody>
        </p:sp>
        <p:sp>
          <p:nvSpPr>
            <p:cNvPr id="52" name="TextBox 51"/>
            <p:cNvSpPr txBox="1"/>
            <p:nvPr/>
          </p:nvSpPr>
          <p:spPr>
            <a:xfrm>
              <a:off x="6668586"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4</a:t>
              </a:r>
            </a:p>
          </p:txBody>
        </p:sp>
        <p:sp>
          <p:nvSpPr>
            <p:cNvPr id="53" name="TextBox 52"/>
            <p:cNvSpPr txBox="1"/>
            <p:nvPr/>
          </p:nvSpPr>
          <p:spPr>
            <a:xfrm>
              <a:off x="7284567"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5</a:t>
              </a:r>
            </a:p>
          </p:txBody>
        </p:sp>
        <p:sp>
          <p:nvSpPr>
            <p:cNvPr id="54" name="TextBox 53"/>
            <p:cNvSpPr txBox="1"/>
            <p:nvPr/>
          </p:nvSpPr>
          <p:spPr>
            <a:xfrm>
              <a:off x="7900549"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6</a:t>
              </a:r>
            </a:p>
          </p:txBody>
        </p:sp>
        <p:sp>
          <p:nvSpPr>
            <p:cNvPr id="55" name="TextBox 54"/>
            <p:cNvSpPr txBox="1"/>
            <p:nvPr/>
          </p:nvSpPr>
          <p:spPr>
            <a:xfrm>
              <a:off x="8516531" y="2078809"/>
              <a:ext cx="320135"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DPE 7</a:t>
              </a:r>
            </a:p>
          </p:txBody>
        </p:sp>
        <p:sp>
          <p:nvSpPr>
            <p:cNvPr id="56" name="Rounded Rectangle 55"/>
            <p:cNvSpPr/>
            <p:nvPr/>
          </p:nvSpPr>
          <p:spPr>
            <a:xfrm>
              <a:off x="9494368" y="1463040"/>
              <a:ext cx="1486852" cy="1062038"/>
            </a:xfrm>
            <a:prstGeom prst="roundRect">
              <a:avLst>
                <a:gd name="adj" fmla="val 8000"/>
              </a:avLst>
            </a:prstGeom>
            <a:solidFill>
              <a:srgbClr val="E3EEFB"/>
            </a:solidFill>
            <a:ln w="2124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60761" y="1666951"/>
              <a:ext cx="554065" cy="461349"/>
            </a:xfrm>
            <a:prstGeom prst="rect">
              <a:avLst/>
            </a:prstGeom>
            <a:noFill/>
          </p:spPr>
          <p:txBody>
            <a:bodyPr wrap="none" anchor="ctr" lIns="0" rIns="0" tIns="0" bIns="0">
              <a:noAutofit/>
            </a:bodyPr>
            <a:lstStyle/>
            <a:p>
              <a:pPr algn="ctr"/>
              <a:r>
                <a:rPr sz="2510" b="1">
                  <a:solidFill>
                    <a:srgbClr val="083F80"/>
                  </a:solidFill>
                  <a:latin typeface="맑은 고딕"/>
                  <a:ea typeface="맑은 고딕"/>
                  <a:cs typeface="맑은 고딕"/>
                </a:rPr>
                <a:t>x 8</a:t>
              </a:r>
            </a:p>
          </p:txBody>
        </p:sp>
        <p:sp>
          <p:nvSpPr>
            <p:cNvPr id="58" name="TextBox 57"/>
            <p:cNvSpPr txBox="1"/>
            <p:nvPr/>
          </p:nvSpPr>
          <p:spPr>
            <a:xfrm>
              <a:off x="9852911" y="2189474"/>
              <a:ext cx="769765" cy="153783"/>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공간 방향 재사용</a:t>
              </a:r>
            </a:p>
          </p:txBody>
        </p:sp>
        <p:sp>
          <p:nvSpPr>
            <p:cNvPr id="59" name="Rounded Rectangle 58"/>
            <p:cNvSpPr/>
            <p:nvPr/>
          </p:nvSpPr>
          <p:spPr>
            <a:xfrm>
              <a:off x="1210475" y="2652522"/>
              <a:ext cx="8071485" cy="1062038"/>
            </a:xfrm>
            <a:prstGeom prst="roundRect">
              <a:avLst>
                <a:gd name="adj" fmla="val 8000"/>
              </a:avLst>
            </a:prstGeom>
            <a:solidFill>
              <a:srgbClr val="F4F8FD"/>
            </a:solidFill>
            <a:ln w="1699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380401" y="2717094"/>
              <a:ext cx="3166741" cy="184540"/>
            </a:xfrm>
            <a:prstGeom prst="rect">
              <a:avLst/>
            </a:prstGeom>
            <a:noFill/>
          </p:spPr>
          <p:txBody>
            <a:bodyPr wrap="none" anchor="ctr" lIns="0" rIns="0" tIns="0" bIns="0">
              <a:noAutofit/>
            </a:bodyPr>
            <a:lstStyle/>
            <a:p>
              <a:pPr algn="l"/>
              <a:r>
                <a:rPr sz="1000" b="1">
                  <a:solidFill>
                    <a:srgbClr val="083F80"/>
                  </a:solidFill>
                  <a:latin typeface="맑은 고딕"/>
                  <a:ea typeface="맑은 고딕"/>
                  <a:cs typeface="맑은 고딕"/>
                </a:rPr>
                <a:t>② slice 안 · 시간 — feed unit 이 같은 query 를 2번 공급</a:t>
              </a:r>
            </a:p>
          </p:txBody>
        </p:sp>
        <p:sp>
          <p:nvSpPr>
            <p:cNvPr id="61" name="Rounded Rectangle 60"/>
            <p:cNvSpPr/>
            <p:nvPr/>
          </p:nvSpPr>
          <p:spPr>
            <a:xfrm>
              <a:off x="1422882" y="3013615"/>
              <a:ext cx="1401890" cy="552260"/>
            </a:xfrm>
            <a:prstGeom prst="roundRect">
              <a:avLst>
                <a:gd name="adj" fmla="val 11538"/>
              </a:avLst>
            </a:prstGeom>
            <a:solidFill>
              <a:srgbClr val="E3EEFB"/>
            </a:solidFill>
            <a:ln w="1699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712341" y="3117907"/>
              <a:ext cx="822973" cy="161472"/>
            </a:xfrm>
            <a:prstGeom prst="rect">
              <a:avLst/>
            </a:prstGeom>
            <a:noFill/>
          </p:spPr>
          <p:txBody>
            <a:bodyPr wrap="none" anchor="ctr" lIns="0" rIns="0" tIns="0" bIns="0">
              <a:noAutofit/>
            </a:bodyPr>
            <a:lstStyle/>
            <a:p>
              <a:pPr algn="ctr"/>
              <a:r>
                <a:rPr sz="880" b="1">
                  <a:solidFill>
                    <a:srgbClr val="083F80"/>
                  </a:solidFill>
                  <a:latin typeface="맑은 고딕"/>
                  <a:ea typeface="맑은 고딕"/>
                  <a:cs typeface="맑은 고딕"/>
                </a:rPr>
                <a:t>같은 query 벡터</a:t>
              </a:r>
            </a:p>
          </p:txBody>
        </p:sp>
        <p:sp>
          <p:nvSpPr>
            <p:cNvPr id="63" name="TextBox 62"/>
            <p:cNvSpPr txBox="1"/>
            <p:nvPr/>
          </p:nvSpPr>
          <p:spPr>
            <a:xfrm>
              <a:off x="1687210" y="3321393"/>
              <a:ext cx="873234" cy="146094"/>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RF 의 key 만 바뀐다</a:t>
              </a:r>
            </a:p>
          </p:txBody>
        </p:sp>
        <p:cxnSp>
          <p:nvCxnSpPr>
            <p:cNvPr id="64" name="Connector 63"/>
            <p:cNvCxnSpPr/>
            <p:nvPr/>
          </p:nvCxnSpPr>
          <p:spPr>
            <a:xfrm>
              <a:off x="2824772" y="3289744"/>
              <a:ext cx="212408" cy="0"/>
            </a:xfrm>
            <a:prstGeom prst="line">
              <a:avLst/>
            </a:prstGeom>
            <a:ln w="19116">
              <a:solidFill>
                <a:srgbClr val="0B5FC0"/>
              </a:solidFill>
            </a:ln>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3015939" y="3226022"/>
              <a:ext cx="169926" cy="127445"/>
            </a:xfrm>
            <a:custGeom>
              <a:avLst/>
              <a:gdLst/>
              <a:ahLst/>
              <a:cxnLst/>
              <a:rect l="l" t="t" r="r" b="b"/>
              <a:pathLst>
                <a:path w="169926" h="127445">
                  <a:moveTo>
                    <a:pt x="0" y="0"/>
                  </a:moveTo>
                  <a:lnTo>
                    <a:pt x="169926" y="63722"/>
                  </a:lnTo>
                  <a:lnTo>
                    <a:pt x="0" y="127445"/>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3270828" y="3013615"/>
              <a:ext cx="2655094" cy="552260"/>
            </a:xfrm>
            <a:prstGeom prst="roundRect">
              <a:avLst>
                <a:gd name="adj" fmla="val 11538"/>
              </a:avLst>
            </a:prstGeom>
            <a:solidFill>
              <a:srgbClr val="CBE0F7"/>
            </a:solidFill>
            <a:ln w="148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97722" y="3111747"/>
              <a:ext cx="1401305" cy="169161"/>
            </a:xfrm>
            <a:prstGeom prst="rect">
              <a:avLst/>
            </a:prstGeom>
            <a:noFill/>
          </p:spPr>
          <p:txBody>
            <a:bodyPr wrap="none" anchor="ctr" lIns="0" rIns="0" tIns="0" bIns="0">
              <a:noAutofit/>
            </a:bodyPr>
            <a:lstStyle/>
            <a:p>
              <a:pPr algn="ctr"/>
              <a:r>
                <a:rPr sz="919" b="1">
                  <a:solidFill>
                    <a:srgbClr val="083F80"/>
                  </a:solidFill>
                  <a:latin typeface="맑은 고딕"/>
                  <a:ea typeface="맑은 고딕"/>
                  <a:cs typeface="맑은 고딕"/>
                </a:rPr>
                <a:t>cycle 0 — key 0~7 과 내적</a:t>
              </a:r>
            </a:p>
          </p:txBody>
        </p:sp>
        <p:sp>
          <p:nvSpPr>
            <p:cNvPr id="68" name="TextBox 67"/>
            <p:cNvSpPr txBox="1"/>
            <p:nvPr/>
          </p:nvSpPr>
          <p:spPr>
            <a:xfrm>
              <a:off x="4232306" y="3324155"/>
              <a:ext cx="732137" cy="169161"/>
            </a:xfrm>
            <a:prstGeom prst="rect">
              <a:avLst/>
            </a:prstGeom>
            <a:noFill/>
          </p:spPr>
          <p:txBody>
            <a:bodyPr wrap="none" anchor="ctr" lIns="0" rIns="0" tIns="0" bIns="0">
              <a:noAutofit/>
            </a:bodyPr>
            <a:lstStyle/>
            <a:p>
              <a:pPr algn="ctr"/>
              <a:r>
                <a:rPr sz="919" b="0">
                  <a:solidFill>
                    <a:srgbClr val="16202C"/>
                  </a:solidFill>
                  <a:latin typeface="맑은 고딕"/>
                  <a:ea typeface="맑은 고딕"/>
                  <a:cs typeface="맑은 고딕"/>
                </a:rPr>
                <a:t>→ QK[0][0:8]</a:t>
              </a:r>
            </a:p>
          </p:txBody>
        </p:sp>
        <p:cxnSp>
          <p:nvCxnSpPr>
            <p:cNvPr id="69" name="Connector 68"/>
            <p:cNvCxnSpPr/>
            <p:nvPr/>
          </p:nvCxnSpPr>
          <p:spPr>
            <a:xfrm>
              <a:off x="5925922" y="3289744"/>
              <a:ext cx="212407" cy="0"/>
            </a:xfrm>
            <a:prstGeom prst="line">
              <a:avLst/>
            </a:prstGeom>
            <a:ln w="19116">
              <a:solidFill>
                <a:srgbClr val="0B5FC0"/>
              </a:solidFill>
            </a:ln>
          </p:spPr>
          <p:style>
            <a:lnRef idx="2">
              <a:schemeClr val="accent1"/>
            </a:lnRef>
            <a:fillRef idx="0">
              <a:schemeClr val="accent1"/>
            </a:fillRef>
            <a:effectRef idx="1">
              <a:schemeClr val="accent1"/>
            </a:effectRef>
            <a:fontRef idx="minor">
              <a:schemeClr val="tx1"/>
            </a:fontRef>
          </p:style>
        </p:cxnSp>
        <p:sp>
          <p:nvSpPr>
            <p:cNvPr id="70" name="Freeform 69"/>
            <p:cNvSpPr/>
            <p:nvPr/>
          </p:nvSpPr>
          <p:spPr>
            <a:xfrm>
              <a:off x="6117088" y="3226022"/>
              <a:ext cx="169926" cy="127445"/>
            </a:xfrm>
            <a:custGeom>
              <a:avLst/>
              <a:gdLst/>
              <a:ahLst/>
              <a:cxnLst/>
              <a:rect l="l" t="t" r="r" b="b"/>
              <a:pathLst>
                <a:path w="169926" h="127445">
                  <a:moveTo>
                    <a:pt x="0" y="0"/>
                  </a:moveTo>
                  <a:lnTo>
                    <a:pt x="169926" y="63722"/>
                  </a:lnTo>
                  <a:lnTo>
                    <a:pt x="0" y="127445"/>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371977" y="3013615"/>
              <a:ext cx="2655094" cy="552260"/>
            </a:xfrm>
            <a:prstGeom prst="roundRect">
              <a:avLst>
                <a:gd name="adj" fmla="val 11538"/>
              </a:avLst>
            </a:prstGeom>
            <a:solidFill>
              <a:srgbClr val="CBE0F7"/>
            </a:solidFill>
            <a:ln w="1486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64408" y="3111747"/>
              <a:ext cx="1470232" cy="169161"/>
            </a:xfrm>
            <a:prstGeom prst="rect">
              <a:avLst/>
            </a:prstGeom>
            <a:noFill/>
          </p:spPr>
          <p:txBody>
            <a:bodyPr wrap="none" anchor="ctr" lIns="0" rIns="0" tIns="0" bIns="0">
              <a:noAutofit/>
            </a:bodyPr>
            <a:lstStyle/>
            <a:p>
              <a:pPr algn="ctr"/>
              <a:r>
                <a:rPr sz="919" b="1">
                  <a:solidFill>
                    <a:srgbClr val="083F80"/>
                  </a:solidFill>
                  <a:latin typeface="맑은 고딕"/>
                  <a:ea typeface="맑은 고딕"/>
                  <a:cs typeface="맑은 고딕"/>
                </a:rPr>
                <a:t>cycle 1 — key 8~15 과 내적</a:t>
              </a:r>
            </a:p>
          </p:txBody>
        </p:sp>
        <p:sp>
          <p:nvSpPr>
            <p:cNvPr id="73" name="TextBox 72"/>
            <p:cNvSpPr txBox="1"/>
            <p:nvPr/>
          </p:nvSpPr>
          <p:spPr>
            <a:xfrm>
              <a:off x="7301037" y="3324155"/>
              <a:ext cx="796974" cy="169161"/>
            </a:xfrm>
            <a:prstGeom prst="rect">
              <a:avLst/>
            </a:prstGeom>
            <a:noFill/>
          </p:spPr>
          <p:txBody>
            <a:bodyPr wrap="none" anchor="ctr" lIns="0" rIns="0" tIns="0" bIns="0">
              <a:noAutofit/>
            </a:bodyPr>
            <a:lstStyle/>
            <a:p>
              <a:pPr algn="ctr"/>
              <a:r>
                <a:rPr sz="919" b="0">
                  <a:solidFill>
                    <a:srgbClr val="16202C"/>
                  </a:solidFill>
                  <a:latin typeface="맑은 고딕"/>
                  <a:ea typeface="맑은 고딕"/>
                  <a:cs typeface="맑은 고딕"/>
                </a:rPr>
                <a:t>→ QK[0][8:16]</a:t>
              </a:r>
            </a:p>
          </p:txBody>
        </p:sp>
        <p:sp>
          <p:nvSpPr>
            <p:cNvPr id="74" name="Rounded Rectangle 73"/>
            <p:cNvSpPr/>
            <p:nvPr/>
          </p:nvSpPr>
          <p:spPr>
            <a:xfrm>
              <a:off x="9494368" y="2652522"/>
              <a:ext cx="1486852" cy="1062038"/>
            </a:xfrm>
            <a:prstGeom prst="roundRect">
              <a:avLst>
                <a:gd name="adj" fmla="val 8000"/>
              </a:avLst>
            </a:prstGeom>
            <a:solidFill>
              <a:srgbClr val="E3EEFB"/>
            </a:solidFill>
            <a:ln w="2124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960761" y="2856433"/>
              <a:ext cx="554065" cy="461349"/>
            </a:xfrm>
            <a:prstGeom prst="rect">
              <a:avLst/>
            </a:prstGeom>
            <a:noFill/>
          </p:spPr>
          <p:txBody>
            <a:bodyPr wrap="none" anchor="ctr" lIns="0" rIns="0" tIns="0" bIns="0">
              <a:noAutofit/>
            </a:bodyPr>
            <a:lstStyle/>
            <a:p>
              <a:pPr algn="ctr"/>
              <a:r>
                <a:rPr sz="2510" b="1">
                  <a:solidFill>
                    <a:srgbClr val="083F80"/>
                  </a:solidFill>
                  <a:latin typeface="맑은 고딕"/>
                  <a:ea typeface="맑은 고딕"/>
                  <a:cs typeface="맑은 고딕"/>
                </a:rPr>
                <a:t>x 2</a:t>
              </a:r>
            </a:p>
          </p:txBody>
        </p:sp>
        <p:sp>
          <p:nvSpPr>
            <p:cNvPr id="76" name="TextBox 75"/>
            <p:cNvSpPr txBox="1"/>
            <p:nvPr/>
          </p:nvSpPr>
          <p:spPr>
            <a:xfrm>
              <a:off x="9852911" y="3378956"/>
              <a:ext cx="769765" cy="153783"/>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시간 방향 재사용</a:t>
              </a:r>
            </a:p>
          </p:txBody>
        </p:sp>
        <p:sp>
          <p:nvSpPr>
            <p:cNvPr id="77" name="Rounded Rectangle 76"/>
            <p:cNvSpPr/>
            <p:nvPr/>
          </p:nvSpPr>
          <p:spPr>
            <a:xfrm>
              <a:off x="1210475" y="3842004"/>
              <a:ext cx="8071485" cy="1062038"/>
            </a:xfrm>
            <a:prstGeom prst="roundRect">
              <a:avLst>
                <a:gd name="adj" fmla="val 8000"/>
              </a:avLst>
            </a:prstGeom>
            <a:solidFill>
              <a:srgbClr val="F4F8FD"/>
            </a:solidFill>
            <a:ln w="1699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380401" y="3864094"/>
              <a:ext cx="3733104" cy="184540"/>
            </a:xfrm>
            <a:prstGeom prst="rect">
              <a:avLst/>
            </a:prstGeom>
            <a:noFill/>
          </p:spPr>
          <p:txBody>
            <a:bodyPr wrap="none" anchor="ctr" lIns="0" rIns="0" tIns="0" bIns="0">
              <a:noAutofit/>
            </a:bodyPr>
            <a:lstStyle/>
            <a:p>
              <a:pPr algn="l"/>
              <a:r>
                <a:rPr sz="1000" b="1">
                  <a:solidFill>
                    <a:srgbClr val="083F80"/>
                  </a:solidFill>
                  <a:latin typeface="맑은 고딕"/>
                  <a:ea typeface="맑은 고딕"/>
                  <a:cs typeface="맑은 고딕"/>
                </a:rPr>
                <a:t>③ slice 간 — fetch network 가 query 를 16개 slice 로 순회시킨다</a:t>
              </a:r>
            </a:p>
          </p:txBody>
        </p:sp>
        <p:cxnSp>
          <p:nvCxnSpPr>
            <p:cNvPr id="79" name="Connector 78"/>
            <p:cNvCxnSpPr/>
            <p:nvPr/>
          </p:nvCxnSpPr>
          <p:spPr>
            <a:xfrm>
              <a:off x="1422882" y="4139374"/>
              <a:ext cx="7285578" cy="0"/>
            </a:xfrm>
            <a:prstGeom prst="line">
              <a:avLst/>
            </a:prstGeom>
            <a:ln w="21240">
              <a:solidFill>
                <a:srgbClr val="B45409"/>
              </a:solidFill>
            </a:ln>
          </p:spPr>
          <p:style>
            <a:lnRef idx="2">
              <a:schemeClr val="accent1"/>
            </a:lnRef>
            <a:fillRef idx="0">
              <a:schemeClr val="accent1"/>
            </a:fillRef>
            <a:effectRef idx="1">
              <a:schemeClr val="accent1"/>
            </a:effectRef>
            <a:fontRef idx="minor">
              <a:schemeClr val="tx1"/>
            </a:fontRef>
          </p:style>
        </p:cxnSp>
        <p:sp>
          <p:nvSpPr>
            <p:cNvPr id="80" name="Freeform 79"/>
            <p:cNvSpPr/>
            <p:nvPr/>
          </p:nvSpPr>
          <p:spPr>
            <a:xfrm>
              <a:off x="8687219" y="4075652"/>
              <a:ext cx="169926" cy="127445"/>
            </a:xfrm>
            <a:custGeom>
              <a:avLst/>
              <a:gdLst/>
              <a:ahLst/>
              <a:cxnLst/>
              <a:rect l="l" t="t" r="r" b="b"/>
              <a:pathLst>
                <a:path w="169926" h="127445">
                  <a:moveTo>
                    <a:pt x="0" y="0"/>
                  </a:moveTo>
                  <a:lnTo>
                    <a:pt x="169926" y="63722"/>
                  </a:lnTo>
                  <a:lnTo>
                    <a:pt x="0" y="127445"/>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422882"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1890179"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2357476"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2824772"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3292068"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759365"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226662"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693958"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5161254"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5628551"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6095848"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6563144"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7030440"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7497737"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7965034"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8432330" y="4224338"/>
              <a:ext cx="403574" cy="382334"/>
            </a:xfrm>
            <a:prstGeom prst="roundRect">
              <a:avLst>
                <a:gd name="adj" fmla="val 8333"/>
              </a:avLst>
            </a:prstGeom>
            <a:solidFill>
              <a:srgbClr val="DCEBF9"/>
            </a:solidFill>
            <a:ln w="1062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546982"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98" name="TextBox 97"/>
            <p:cNvSpPr txBox="1"/>
            <p:nvPr/>
          </p:nvSpPr>
          <p:spPr>
            <a:xfrm>
              <a:off x="2014278"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99" name="TextBox 98"/>
            <p:cNvSpPr txBox="1"/>
            <p:nvPr/>
          </p:nvSpPr>
          <p:spPr>
            <a:xfrm>
              <a:off x="2481575"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0" name="TextBox 99"/>
            <p:cNvSpPr txBox="1"/>
            <p:nvPr/>
          </p:nvSpPr>
          <p:spPr>
            <a:xfrm>
              <a:off x="2948871"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1" name="TextBox 100"/>
            <p:cNvSpPr txBox="1"/>
            <p:nvPr/>
          </p:nvSpPr>
          <p:spPr>
            <a:xfrm>
              <a:off x="3416168"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2" name="TextBox 101"/>
            <p:cNvSpPr txBox="1"/>
            <p:nvPr/>
          </p:nvSpPr>
          <p:spPr>
            <a:xfrm>
              <a:off x="3883464"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3" name="TextBox 102"/>
            <p:cNvSpPr txBox="1"/>
            <p:nvPr/>
          </p:nvSpPr>
          <p:spPr>
            <a:xfrm>
              <a:off x="4350761"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4" name="TextBox 103"/>
            <p:cNvSpPr txBox="1"/>
            <p:nvPr/>
          </p:nvSpPr>
          <p:spPr>
            <a:xfrm>
              <a:off x="4818057"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5" name="TextBox 104"/>
            <p:cNvSpPr txBox="1"/>
            <p:nvPr/>
          </p:nvSpPr>
          <p:spPr>
            <a:xfrm>
              <a:off x="5285354"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6" name="TextBox 105"/>
            <p:cNvSpPr txBox="1"/>
            <p:nvPr/>
          </p:nvSpPr>
          <p:spPr>
            <a:xfrm>
              <a:off x="5752650"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7" name="TextBox 106"/>
            <p:cNvSpPr txBox="1"/>
            <p:nvPr/>
          </p:nvSpPr>
          <p:spPr>
            <a:xfrm>
              <a:off x="6219947"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8" name="TextBox 107"/>
            <p:cNvSpPr txBox="1"/>
            <p:nvPr/>
          </p:nvSpPr>
          <p:spPr>
            <a:xfrm>
              <a:off x="6687243"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09" name="TextBox 108"/>
            <p:cNvSpPr txBox="1"/>
            <p:nvPr/>
          </p:nvSpPr>
          <p:spPr>
            <a:xfrm>
              <a:off x="7154540"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10" name="TextBox 109"/>
            <p:cNvSpPr txBox="1"/>
            <p:nvPr/>
          </p:nvSpPr>
          <p:spPr>
            <a:xfrm>
              <a:off x="7621836"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11" name="TextBox 110"/>
            <p:cNvSpPr txBox="1"/>
            <p:nvPr/>
          </p:nvSpPr>
          <p:spPr>
            <a:xfrm>
              <a:off x="8089133"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12" name="TextBox 111"/>
            <p:cNvSpPr txBox="1"/>
            <p:nvPr/>
          </p:nvSpPr>
          <p:spPr>
            <a:xfrm>
              <a:off x="8556429" y="4351570"/>
              <a:ext cx="155376" cy="146094"/>
            </a:xfrm>
            <a:prstGeom prst="rect">
              <a:avLst/>
            </a:prstGeom>
            <a:noFill/>
          </p:spPr>
          <p:txBody>
            <a:bodyPr wrap="none" anchor="ctr" lIns="0" rIns="0" tIns="0" bIns="0">
              <a:noAutofit/>
            </a:bodyPr>
            <a:lstStyle/>
            <a:p>
              <a:pPr algn="ctr"/>
              <a:r>
                <a:rPr sz="790" b="1">
                  <a:solidFill>
                    <a:srgbClr val="083F80"/>
                  </a:solidFill>
                  <a:latin typeface="맑은 고딕"/>
                  <a:ea typeface="맑은 고딕"/>
                  <a:cs typeface="맑은 고딕"/>
                </a:rPr>
                <a:t>16</a:t>
              </a:r>
            </a:p>
          </p:txBody>
        </p:sp>
        <p:sp>
          <p:nvSpPr>
            <p:cNvPr id="113" name="TextBox 112"/>
            <p:cNvSpPr txBox="1"/>
            <p:nvPr/>
          </p:nvSpPr>
          <p:spPr>
            <a:xfrm>
              <a:off x="1471449" y="4686961"/>
              <a:ext cx="306440" cy="138405"/>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slice 0</a:t>
              </a:r>
            </a:p>
          </p:txBody>
        </p:sp>
        <p:sp>
          <p:nvSpPr>
            <p:cNvPr id="114" name="TextBox 113"/>
            <p:cNvSpPr txBox="1"/>
            <p:nvPr/>
          </p:nvSpPr>
          <p:spPr>
            <a:xfrm>
              <a:off x="8454373" y="4686961"/>
              <a:ext cx="359489" cy="138405"/>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slice 15</a:t>
              </a:r>
            </a:p>
          </p:txBody>
        </p:sp>
        <p:sp>
          <p:nvSpPr>
            <p:cNvPr id="115" name="TextBox 114"/>
            <p:cNvSpPr txBox="1"/>
            <p:nvPr/>
          </p:nvSpPr>
          <p:spPr>
            <a:xfrm>
              <a:off x="4417584" y="4686961"/>
              <a:ext cx="1423619" cy="138405"/>
            </a:xfrm>
            <a:prstGeom prst="rect">
              <a:avLst/>
            </a:prstGeom>
            <a:noFill/>
          </p:spPr>
          <p:txBody>
            <a:bodyPr wrap="none" anchor="ctr" lIns="0" rIns="0" tIns="0" bIns="0">
              <a:noAutofit/>
            </a:bodyPr>
            <a:lstStyle/>
            <a:p>
              <a:pPr algn="ctr"/>
              <a:r>
                <a:rPr sz="750" b="0">
                  <a:solidFill>
                    <a:srgbClr val="5B6B7B"/>
                  </a:solidFill>
                  <a:latin typeface="맑은 고딕"/>
                  <a:ea typeface="맑은 고딕"/>
                  <a:cs typeface="맑은 고딕"/>
                </a:rPr>
                <a:t>칸 안의 수 = 그 slice 에서 쓰인 횟수</a:t>
              </a:r>
            </a:p>
          </p:txBody>
        </p:sp>
        <p:sp>
          <p:nvSpPr>
            <p:cNvPr id="116" name="Rounded Rectangle 115"/>
            <p:cNvSpPr/>
            <p:nvPr/>
          </p:nvSpPr>
          <p:spPr>
            <a:xfrm>
              <a:off x="9494368" y="3842004"/>
              <a:ext cx="1486852" cy="1062038"/>
            </a:xfrm>
            <a:prstGeom prst="roundRect">
              <a:avLst>
                <a:gd name="adj" fmla="val 8000"/>
              </a:avLst>
            </a:prstGeom>
            <a:solidFill>
              <a:srgbClr val="FDEBD3"/>
            </a:solidFill>
            <a:ln w="2124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866771" y="4045915"/>
              <a:ext cx="742046" cy="461349"/>
            </a:xfrm>
            <a:prstGeom prst="rect">
              <a:avLst/>
            </a:prstGeom>
            <a:noFill/>
          </p:spPr>
          <p:txBody>
            <a:bodyPr wrap="none" anchor="ctr" lIns="0" rIns="0" tIns="0" bIns="0">
              <a:noAutofit/>
            </a:bodyPr>
            <a:lstStyle/>
            <a:p>
              <a:pPr algn="ctr"/>
              <a:r>
                <a:rPr sz="2510" b="1">
                  <a:solidFill>
                    <a:srgbClr val="B45409"/>
                  </a:solidFill>
                  <a:latin typeface="맑은 고딕"/>
                  <a:ea typeface="맑은 고딕"/>
                  <a:cs typeface="맑은 고딕"/>
                </a:rPr>
                <a:t>x 16</a:t>
              </a:r>
            </a:p>
          </p:txBody>
        </p:sp>
        <p:sp>
          <p:nvSpPr>
            <p:cNvPr id="118" name="TextBox 117"/>
            <p:cNvSpPr txBox="1"/>
            <p:nvPr/>
          </p:nvSpPr>
          <p:spPr>
            <a:xfrm>
              <a:off x="9889711" y="4568438"/>
              <a:ext cx="696166" cy="153783"/>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slice 간 재사용</a:t>
              </a:r>
            </a:p>
          </p:txBody>
        </p:sp>
        <p:sp>
          <p:nvSpPr>
            <p:cNvPr id="119" name="Rounded Rectangle 118"/>
            <p:cNvSpPr/>
            <p:nvPr/>
          </p:nvSpPr>
          <p:spPr>
            <a:xfrm>
              <a:off x="1210475" y="5073968"/>
              <a:ext cx="9770745" cy="467296"/>
            </a:xfrm>
            <a:prstGeom prst="roundRect">
              <a:avLst>
                <a:gd name="adj" fmla="val 18181"/>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595811" y="5146186"/>
              <a:ext cx="5000073" cy="307566"/>
            </a:xfrm>
            <a:prstGeom prst="rect">
              <a:avLst/>
            </a:prstGeom>
            <a:noFill/>
          </p:spPr>
          <p:txBody>
            <a:bodyPr wrap="none" anchor="ctr" lIns="0" rIns="0" tIns="0" bIns="0">
              <a:noAutofit/>
            </a:bodyPr>
            <a:lstStyle/>
            <a:p>
              <a:pPr algn="ctr"/>
              <a:r>
                <a:rPr sz="1520" b="1">
                  <a:solidFill>
                    <a:srgbClr val="E6EDF3"/>
                  </a:solidFill>
                  <a:latin typeface="Consolas"/>
                  <a:ea typeface="Consolas"/>
                  <a:cs typeface="Consolas"/>
                </a:rPr>
                <a:t>8 (DPE) x 2 (feed) x 16 (slice) = 256 회 재사용</a:t>
              </a:r>
            </a:p>
          </p:txBody>
        </p:sp>
      </p:grpSp>
      <p:sp>
        <p:nvSpPr>
          <p:cNvPr id="121" name="Rectangle 12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DM 에서 한 번 fetch 한 query 벡터가 공간·시간·슬라이스 세 방향으로 곱해져 256번 쓰인다.</a:t>
            </a:r>
          </a:p>
        </p:txBody>
      </p:sp>
      <p:sp>
        <p:nvSpPr>
          <p:cNvPr id="122" name="Rectangle 12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10 (b) — 재사용 256회는 세 층위의 곱이다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8 (DPE) × 2 (feed) × 16 (slice)</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195</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논문 본문: DM 슬라이스에서 fetch 한 query 벡터는 최대한 재사용해야 하며, 그래서 모든 슬라이스로 멀티캐스트한다</a:t>
            </a:r>
          </a:p>
          <a:p>
            <a:pPr algn="l">
              <a:lnSpc>
                <a:spcPct val="118000"/>
              </a:lnSpc>
              <a:spcBef>
                <a:spcPts val="600"/>
              </a:spcBef>
              <a:spcAft>
                <a:spcPts val="200"/>
              </a:spcAft>
            </a:pPr>
            <a:r>
              <a:rPr sz="1900" b="0" i="0">
                <a:solidFill>
                  <a:srgbClr val="16202C"/>
                </a:solidFill>
                <a:latin typeface="Segoe UI"/>
                <a:ea typeface="맑은 고딕"/>
                <a:cs typeface="맑은 고딕"/>
              </a:rPr>
              <a:t>▪  슬라이스당 16회는 그 슬라이스가 가진 key 벡터 수와 같다. Fig. 10 (a) 의 출력 블록에 붙은 #DPE x #Feed = 8 × 2 = 16 이 이 값이다</a:t>
            </a:r>
          </a:p>
          <a:p>
            <a:pPr algn="l">
              <a:lnSpc>
                <a:spcPct val="118000"/>
              </a:lnSpc>
              <a:spcBef>
                <a:spcPts val="600"/>
              </a:spcBef>
              <a:spcAft>
                <a:spcPts val="200"/>
              </a:spcAft>
            </a:pPr>
            <a:r>
              <a:rPr sz="1900" b="0" i="0">
                <a:solidFill>
                  <a:srgbClr val="16202C"/>
                </a:solidFill>
                <a:latin typeface="Segoe UI"/>
                <a:ea typeface="맑은 고딕"/>
                <a:cs typeface="맑은 고딕"/>
              </a:rPr>
              <a:t>▪  8 은 DPE 개수, 2 는 feed unit 반복 횟수, 16 은 헤드당 슬라이스 수다. 세 값 모두 하드웨어 구성과 매핑에서 나온다</a:t>
            </a:r>
          </a:p>
          <a:p>
            <a:pPr algn="l">
              <a:lnSpc>
                <a:spcPct val="118000"/>
              </a:lnSpc>
              <a:spcBef>
                <a:spcPts val="600"/>
              </a:spcBef>
              <a:spcAft>
                <a:spcPts val="200"/>
              </a:spcAft>
            </a:pPr>
            <a:r>
              <a:rPr sz="1900" b="1" i="0">
                <a:solidFill>
                  <a:srgbClr val="083F80"/>
                </a:solidFill>
                <a:latin typeface="Segoe UI"/>
                <a:ea typeface="맑은 고딕"/>
                <a:cs typeface="맑은 고딕"/>
              </a:rPr>
              <a:t>▪  HBM 에서 한 번 가져온 데이터를 이렇게 재사용해야 연산 이용률과 HBM 대역폭 효율을 함께 낼 수 있다는 것이 논문의 주장이다</a:t>
            </a:r>
          </a:p>
          <a:p>
            <a:pPr algn="l">
              <a:lnSpc>
                <a:spcPct val="118000"/>
              </a:lnSpc>
              <a:spcBef>
                <a:spcPts val="600"/>
              </a:spcBef>
              <a:spcAft>
                <a:spcPts val="200"/>
              </a:spcAft>
            </a:pPr>
            <a:r>
              <a:rPr sz="1900" b="0" i="0">
                <a:solidFill>
                  <a:srgbClr val="16202C"/>
                </a:solidFill>
                <a:latin typeface="Segoe UI"/>
                <a:ea typeface="맑은 고딕"/>
                <a:cs typeface="맑은 고딕"/>
              </a:rPr>
              <a:t>▪  같은 attention 층이라도 score × V 축약의 재사용 배수는 128 이다. 연산마다 최적 재사용 구조가 다르다</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10 (c) — QK^T 의 lowered shape 과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196</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Fig. 10 (c), D 는 per-head hidden dimension, l 은 시퀀스 길이</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E6EDF3"/>
                </a:solidFill>
                <a:latin typeface="Consolas"/>
                <a:ea typeface="Consolas"/>
                <a:cs typeface="Consolas"/>
              </a:rPr>
              <a:t>in0    : H^1[4] Q^(l/16)[16] | Q^1[l/16] D[128]</a:t>
            </a:r>
          </a:p>
          <a:p>
            <a:pPr algn="l">
              <a:lnSpc>
                <a:spcPct val="124000"/>
              </a:lnSpc>
              <a:spcAft>
                <a:spcPts val="0"/>
              </a:spcAft>
            </a:pPr>
            <a:r>
              <a:rPr sz="1500" b="0" i="0">
                <a:solidFill>
                  <a:srgbClr val="E6EDF3"/>
                </a:solidFill>
                <a:latin typeface="Consolas"/>
                <a:ea typeface="Consolas"/>
                <a:cs typeface="Consolas"/>
              </a:rPr>
              <a:t>in1    : H^1[4] K^(l/16)[16] | K^1[l/16] D[128]</a:t>
            </a:r>
          </a:p>
          <a:p>
            <a:pPr algn="l">
              <a:lnSpc>
                <a:spcPct val="124000"/>
              </a:lnSpc>
              <a:spcAft>
                <a:spcPts val="0"/>
              </a:spcAft>
            </a:pPr>
            <a:r>
              <a:rPr sz="1500" b="0" i="0">
                <a:solidFill>
                  <a:srgbClr val="E6EDF3"/>
                </a:solidFill>
                <a:latin typeface="Consolas"/>
                <a:ea typeface="Consolas"/>
                <a:cs typeface="Consolas"/>
              </a:rPr>
              <a:t>out    : H^1[4] K^(l/16)[16] | Q^1[l]    K^1[l/16]</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E6EDF3"/>
                </a:solidFill>
                <a:latin typeface="Consolas"/>
                <a:ea typeface="Consolas"/>
                <a:cs typeface="Consolas"/>
              </a:rPr>
              <a:t>tactic : H^1[4] K^(l/16)[16] | Q^1[l/16] Q^(l/16)[16] K^8[l/128] K^1[8] D[128]</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in0(Q) 과 in1(K) 모두 헤드 축 H 를 4개 그룹, K/Q 축을 16개 슬라이스로 분할한다</a:t>
            </a:r>
          </a:p>
          <a:p>
            <a:pPr algn="l">
              <a:lnSpc>
                <a:spcPct val="118000"/>
              </a:lnSpc>
              <a:spcBef>
                <a:spcPts val="600"/>
              </a:spcBef>
              <a:spcAft>
                <a:spcPts val="200"/>
              </a:spcAft>
            </a:pPr>
            <a:r>
              <a:rPr sz="1600" b="0" i="0">
                <a:solidFill>
                  <a:srgbClr val="16202C"/>
                </a:solidFill>
                <a:latin typeface="Segoe UI"/>
                <a:ea typeface="맑은 고딕"/>
                <a:cs typeface="맑은 고딕"/>
              </a:rPr>
              <a:t>▪  출력 QK 행렬도 슬라이스에 분산되어 있다는 점이 중요하다. 각 슬라이스는 전체 l 개의 query 행 × l/16 개의 key 열을 갖는다</a:t>
            </a:r>
          </a:p>
          <a:p>
            <a:pPr algn="l">
              <a:lnSpc>
                <a:spcPct val="118000"/>
              </a:lnSpc>
              <a:spcBef>
                <a:spcPts val="600"/>
              </a:spcBef>
              <a:spcAft>
                <a:spcPts val="200"/>
              </a:spcAft>
            </a:pPr>
            <a:r>
              <a:rPr sz="1600" b="0" i="0">
                <a:solidFill>
                  <a:srgbClr val="16202C"/>
                </a:solidFill>
                <a:latin typeface="Segoe UI"/>
                <a:ea typeface="맑은 고딕"/>
                <a:cs typeface="맑은 고딕"/>
              </a:rPr>
              <a:t>▪  tactic 은 바깥 루프부터 안쪽 루프까지의 계산 축 순서를 적은 것이며, 맨 마지막 항이 contraction(축약) 축이다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논문에 적힌 저수준 einsum 표현 그대로다.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10 (c) — tactic 항별 해석</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197</a:t>
            </a:r>
          </a:p>
        </p:txBody>
      </p:sp>
      <p:graphicFrame>
        <p:nvGraphicFramePr>
          <p:cNvPr id="8" name="Table 7"/>
          <p:cNvGraphicFramePr>
            <a:graphicFrameLocks noGrp="1"/>
          </p:cNvGraphicFramePr>
          <p:nvPr/>
        </p:nvGraphicFramePr>
        <p:xfrm>
          <a:off x="566928" y="1517904"/>
          <a:ext cx="11057839" cy="3072384"/>
        </p:xfrm>
        <a:graphic>
          <a:graphicData uri="http://schemas.openxmlformats.org/drawingml/2006/table">
            <a:tbl>
              <a:tblPr firstRow="1" bandRow="1">
                <a:tableStyleId>{5C22544A-7EE6-4342-B048-85BDC9FD1C3A}</a:tableStyleId>
              </a:tblPr>
              <a:tblGrid>
                <a:gridCol w="1105784"/>
                <a:gridCol w="2303716"/>
                <a:gridCol w="7648339"/>
              </a:tblGrid>
              <a:tr h="384048">
                <a:tc>
                  <a:txBody>
                    <a:bodyPr wrap="square"/>
                    <a:lstStyle/>
                    <a:p>
                      <a:r>
                        <a:rPr sz="900" b="1" i="0">
                          <a:solidFill>
                            <a:srgbClr val="FFFFFF"/>
                          </a:solidFill>
                          <a:latin typeface="Segoe UI"/>
                          <a:ea typeface="맑은 고딕"/>
                          <a:cs typeface="맑은 고딕"/>
                        </a:rPr>
                        <a:t>tactic 항</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위치</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의미</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H^1[4]</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inter-slice (슬라이스 간)</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헤드 축을 보폭 1로 4개 그룹에 병렬 배치. 4개 헤드가 동시에 돈다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K^(l/16)[16]</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inter-slice (슬라이스 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K 축을 보폭 l/16 으로 16개 슬라이스에 분할. 4 × 16 = 64 슬라이스 전체를 사용</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Q^1[l/16]</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slice tactic 최외곽</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슬라이스가 자기 DM 에 가진 l/16 개 query 에 대한 루프</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Q^(l/16)[16]</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slice tactic</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fetch network 를 통해 16개 슬라이스분의 query 블록을 순회. 멀티캐스트에 대응</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K^8[l/128]</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slice tactic</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RF 의 key 를 8개씩 묶어 l/128 그룹 순회. L=256 예시에서는 2회 = feed unit 반복 횟수</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K^1[8]</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slice tactic</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8개 DPE 에 key 벡터 8개를 각각 공급. 공간 방향 병렬</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D[128]</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slice tactic 최내곽</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contraction 축. per-head hidden dimension 128 차원 벡터 간 내적</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바깥에서 안쪽으로: 헤드 병렬 → 슬라이스 병렬 → query 루프 → 멀티캐스트 순회 → key 그룹 → DPE 병렬 → 내적.</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softmax — 분산된 QK 위의 4단계</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지역 max → 전역 max → exp·부분합 → 전역 sum</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198</a:t>
            </a:r>
          </a:p>
        </p:txBody>
      </p:sp>
      <p:grpSp>
        <p:nvGrpSpPr>
          <p:cNvPr id="9" name="도해 A7#13"/>
          <p:cNvGrpSpPr/>
          <p:nvPr/>
        </p:nvGrpSpPr>
        <p:grpSpPr>
          <a:xfrm>
            <a:off x="810744" y="1463040"/>
            <a:ext cx="10570207" cy="4078224"/>
            <a:chOff x="810744" y="1463040"/>
            <a:chExt cx="10570207" cy="4078224"/>
          </a:xfrm>
        </p:grpSpPr>
        <p:sp>
          <p:nvSpPr>
            <p:cNvPr id="10" name="TextBox 9"/>
            <p:cNvSpPr txBox="1"/>
            <p:nvPr/>
          </p:nvSpPr>
          <p:spPr>
            <a:xfrm>
              <a:off x="810744" y="1463040"/>
              <a:ext cx="3882321" cy="207057"/>
            </a:xfrm>
            <a:prstGeom prst="rect">
              <a:avLst/>
            </a:prstGeom>
            <a:noFill/>
          </p:spPr>
          <p:txBody>
            <a:bodyPr wrap="none" anchor="ctr" lIns="0" rIns="0" tIns="0" bIns="0">
              <a:noAutofit/>
            </a:bodyPr>
            <a:lstStyle/>
            <a:p>
              <a:pPr algn="l"/>
              <a:r>
                <a:rPr sz="1130" b="1">
                  <a:solidFill>
                    <a:srgbClr val="083F80"/>
                  </a:solidFill>
                  <a:latin typeface="맑은 고딕"/>
                  <a:ea typeface="맑은 고딕"/>
                  <a:cs typeface="맑은 고딕"/>
                </a:rPr>
                <a:t>출력 QK 행렬의 한 행 — 256개 원소가 16개 slice 에 흩어져 있다</a:t>
              </a:r>
            </a:p>
          </p:txBody>
        </p:sp>
        <p:sp>
          <p:nvSpPr>
            <p:cNvPr id="11" name="Rectangle 10"/>
            <p:cNvSpPr/>
            <p:nvPr/>
          </p:nvSpPr>
          <p:spPr>
            <a:xfrm>
              <a:off x="810744"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68522"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26300"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84078"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856"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99634"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7412"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15190"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72968"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30746"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88524"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302"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04081"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61859"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019637" y="1743311"/>
              <a:ext cx="657778" cy="297430"/>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677415" y="1743311"/>
              <a:ext cx="657778" cy="297430"/>
            </a:xfrm>
            <a:prstGeom prst="rect">
              <a:avLst/>
            </a:prstGeom>
            <a:solidFill>
              <a:srgbClr val="CBE0F7"/>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913"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0</a:t>
              </a:r>
            </a:p>
          </p:txBody>
        </p:sp>
        <p:sp>
          <p:nvSpPr>
            <p:cNvPr id="28" name="TextBox 27"/>
            <p:cNvSpPr txBox="1"/>
            <p:nvPr/>
          </p:nvSpPr>
          <p:spPr>
            <a:xfrm>
              <a:off x="1747691"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a:t>
              </a:r>
            </a:p>
          </p:txBody>
        </p:sp>
        <p:sp>
          <p:nvSpPr>
            <p:cNvPr id="29" name="TextBox 28"/>
            <p:cNvSpPr txBox="1"/>
            <p:nvPr/>
          </p:nvSpPr>
          <p:spPr>
            <a:xfrm>
              <a:off x="2405469"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2</a:t>
              </a:r>
            </a:p>
          </p:txBody>
        </p:sp>
        <p:sp>
          <p:nvSpPr>
            <p:cNvPr id="30" name="TextBox 29"/>
            <p:cNvSpPr txBox="1"/>
            <p:nvPr/>
          </p:nvSpPr>
          <p:spPr>
            <a:xfrm>
              <a:off x="3063248"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3</a:t>
              </a:r>
            </a:p>
          </p:txBody>
        </p:sp>
        <p:sp>
          <p:nvSpPr>
            <p:cNvPr id="31" name="TextBox 30"/>
            <p:cNvSpPr txBox="1"/>
            <p:nvPr/>
          </p:nvSpPr>
          <p:spPr>
            <a:xfrm>
              <a:off x="3721026"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4</a:t>
              </a:r>
            </a:p>
          </p:txBody>
        </p:sp>
        <p:sp>
          <p:nvSpPr>
            <p:cNvPr id="32" name="TextBox 31"/>
            <p:cNvSpPr txBox="1"/>
            <p:nvPr/>
          </p:nvSpPr>
          <p:spPr>
            <a:xfrm>
              <a:off x="4378804"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5</a:t>
              </a:r>
            </a:p>
          </p:txBody>
        </p:sp>
        <p:sp>
          <p:nvSpPr>
            <p:cNvPr id="33" name="TextBox 32"/>
            <p:cNvSpPr txBox="1"/>
            <p:nvPr/>
          </p:nvSpPr>
          <p:spPr>
            <a:xfrm>
              <a:off x="5036582"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6</a:t>
              </a:r>
            </a:p>
          </p:txBody>
        </p:sp>
        <p:sp>
          <p:nvSpPr>
            <p:cNvPr id="34" name="TextBox 33"/>
            <p:cNvSpPr txBox="1"/>
            <p:nvPr/>
          </p:nvSpPr>
          <p:spPr>
            <a:xfrm>
              <a:off x="5694360"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7</a:t>
              </a:r>
            </a:p>
          </p:txBody>
        </p:sp>
        <p:sp>
          <p:nvSpPr>
            <p:cNvPr id="35" name="TextBox 34"/>
            <p:cNvSpPr txBox="1"/>
            <p:nvPr/>
          </p:nvSpPr>
          <p:spPr>
            <a:xfrm>
              <a:off x="6352138"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8</a:t>
              </a:r>
            </a:p>
          </p:txBody>
        </p:sp>
        <p:sp>
          <p:nvSpPr>
            <p:cNvPr id="36" name="TextBox 35"/>
            <p:cNvSpPr txBox="1"/>
            <p:nvPr/>
          </p:nvSpPr>
          <p:spPr>
            <a:xfrm>
              <a:off x="7009916" y="1823159"/>
              <a:ext cx="99439"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9</a:t>
              </a:r>
            </a:p>
          </p:txBody>
        </p:sp>
        <p:sp>
          <p:nvSpPr>
            <p:cNvPr id="37" name="TextBox 36"/>
            <p:cNvSpPr txBox="1"/>
            <p:nvPr/>
          </p:nvSpPr>
          <p:spPr>
            <a:xfrm>
              <a:off x="7637536"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10</a:t>
              </a:r>
            </a:p>
          </p:txBody>
        </p:sp>
        <p:sp>
          <p:nvSpPr>
            <p:cNvPr id="38" name="TextBox 37"/>
            <p:cNvSpPr txBox="1"/>
            <p:nvPr/>
          </p:nvSpPr>
          <p:spPr>
            <a:xfrm>
              <a:off x="8295314"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11</a:t>
              </a:r>
            </a:p>
          </p:txBody>
        </p:sp>
        <p:sp>
          <p:nvSpPr>
            <p:cNvPr id="39" name="TextBox 38"/>
            <p:cNvSpPr txBox="1"/>
            <p:nvPr/>
          </p:nvSpPr>
          <p:spPr>
            <a:xfrm>
              <a:off x="8953092"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12</a:t>
              </a:r>
            </a:p>
          </p:txBody>
        </p:sp>
        <p:sp>
          <p:nvSpPr>
            <p:cNvPr id="40" name="TextBox 39"/>
            <p:cNvSpPr txBox="1"/>
            <p:nvPr/>
          </p:nvSpPr>
          <p:spPr>
            <a:xfrm>
              <a:off x="9610870"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13</a:t>
              </a:r>
            </a:p>
          </p:txBody>
        </p:sp>
        <p:sp>
          <p:nvSpPr>
            <p:cNvPr id="41" name="TextBox 40"/>
            <p:cNvSpPr txBox="1"/>
            <p:nvPr/>
          </p:nvSpPr>
          <p:spPr>
            <a:xfrm>
              <a:off x="10268649"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14</a:t>
              </a:r>
            </a:p>
          </p:txBody>
        </p:sp>
        <p:sp>
          <p:nvSpPr>
            <p:cNvPr id="42" name="TextBox 41"/>
            <p:cNvSpPr txBox="1"/>
            <p:nvPr/>
          </p:nvSpPr>
          <p:spPr>
            <a:xfrm>
              <a:off x="10926427" y="1823159"/>
              <a:ext cx="159754" cy="157363"/>
            </a:xfrm>
            <a:prstGeom prst="rect">
              <a:avLst/>
            </a:prstGeom>
            <a:noFill/>
          </p:spPr>
          <p:txBody>
            <a:bodyPr wrap="none" anchor="ctr" lIns="0" rIns="0" tIns="0" bIns="0">
              <a:noAutofit/>
            </a:bodyPr>
            <a:lstStyle/>
            <a:p>
              <a:pPr algn="ctr"/>
              <a:r>
                <a:rPr sz="860" b="0">
                  <a:solidFill>
                    <a:srgbClr val="083F80"/>
                  </a:solidFill>
                  <a:latin typeface="맑은 고딕"/>
                  <a:ea typeface="맑은 고딕"/>
                  <a:cs typeface="맑은 고딕"/>
                </a:rPr>
                <a:t>15</a:t>
              </a:r>
            </a:p>
          </p:txBody>
        </p:sp>
        <p:sp>
          <p:nvSpPr>
            <p:cNvPr id="43" name="TextBox 42"/>
            <p:cNvSpPr txBox="1"/>
            <p:nvPr/>
          </p:nvSpPr>
          <p:spPr>
            <a:xfrm>
              <a:off x="810744" y="2081466"/>
              <a:ext cx="4283817" cy="149081"/>
            </a:xfrm>
            <a:prstGeom prst="rect">
              <a:avLst/>
            </a:prstGeom>
            <a:noFill/>
          </p:spPr>
          <p:txBody>
            <a:bodyPr wrap="none" anchor="ctr" lIns="0" rIns="0" tIns="0" bIns="0">
              <a:noAutofit/>
            </a:bodyPr>
            <a:lstStyle/>
            <a:p>
              <a:pPr algn="l"/>
              <a:r>
                <a:rPr sz="810" b="0">
                  <a:solidFill>
                    <a:srgbClr val="5B6B7B"/>
                  </a:solidFill>
                  <a:latin typeface="맑은 고딕"/>
                  <a:ea typeface="맑은 고딕"/>
                  <a:cs typeface="맑은 고딕"/>
                </a:rPr>
                <a:t>칸 안의 숫자 = slice 번호. 한 행이 16조각으로 흩어져 있으므로 softmax 가 slice 간 협력 연산이 된다</a:t>
              </a:r>
            </a:p>
          </p:txBody>
        </p:sp>
        <p:sp>
          <p:nvSpPr>
            <p:cNvPr id="44" name="Rounded Rectangle 43"/>
            <p:cNvSpPr/>
            <p:nvPr/>
          </p:nvSpPr>
          <p:spPr>
            <a:xfrm>
              <a:off x="810744" y="2338171"/>
              <a:ext cx="2539595" cy="2379441"/>
            </a:xfrm>
            <a:prstGeom prst="roundRect">
              <a:avLst>
                <a:gd name="adj" fmla="val 3846"/>
              </a:avLst>
            </a:prstGeom>
            <a:solidFill>
              <a:srgbClr val="F7FAFD"/>
            </a:solidFill>
            <a:ln w="160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10744" y="2338171"/>
              <a:ext cx="2539595" cy="343189"/>
            </a:xfrm>
            <a:prstGeom prst="roundRect">
              <a:avLst>
                <a:gd name="adj" fmla="val 26666"/>
              </a:avLst>
            </a:prstGeom>
            <a:solidFill>
              <a:srgbClr val="DCE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8019" y="2414359"/>
              <a:ext cx="1433956" cy="190493"/>
            </a:xfrm>
            <a:prstGeom prst="rect">
              <a:avLst/>
            </a:prstGeom>
            <a:noFill/>
          </p:spPr>
          <p:txBody>
            <a:bodyPr wrap="none" anchor="ctr" lIns="0" rIns="0" tIns="0" bIns="0">
              <a:noAutofit/>
            </a:bodyPr>
            <a:lstStyle/>
            <a:p>
              <a:pPr algn="l"/>
              <a:r>
                <a:rPr sz="1040" b="1">
                  <a:solidFill>
                    <a:srgbClr val="083F80"/>
                  </a:solidFill>
                  <a:latin typeface="맑은 고딕"/>
                  <a:ea typeface="맑은 고딕"/>
                  <a:cs typeface="맑은 고딕"/>
                </a:rPr>
                <a:t>① slice 내부 지역 최대값</a:t>
              </a:r>
            </a:p>
          </p:txBody>
        </p:sp>
        <p:sp>
          <p:nvSpPr>
            <p:cNvPr id="47" name="TextBox 46"/>
            <p:cNvSpPr txBox="1"/>
            <p:nvPr/>
          </p:nvSpPr>
          <p:spPr>
            <a:xfrm>
              <a:off x="1139879" y="2761208"/>
              <a:ext cx="348416" cy="157363"/>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slice 0</a:t>
              </a:r>
            </a:p>
          </p:txBody>
        </p:sp>
        <p:sp>
          <p:nvSpPr>
            <p:cNvPr id="48" name="Rectangle 47"/>
            <p:cNvSpPr/>
            <p:nvPr/>
          </p:nvSpPr>
          <p:spPr>
            <a:xfrm>
              <a:off x="948019"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1053"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314087"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497121"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23686" y="2761208"/>
              <a:ext cx="348416" cy="157363"/>
            </a:xfrm>
            <a:prstGeom prst="rect">
              <a:avLst/>
            </a:prstGeom>
            <a:noFill/>
          </p:spPr>
          <p:txBody>
            <a:bodyPr wrap="none" anchor="ctr" lIns="0" rIns="0" tIns="0" bIns="0">
              <a:noAutofit/>
            </a:bodyPr>
            <a:lstStyle/>
            <a:p>
              <a:pPr algn="ctr"/>
              <a:r>
                <a:rPr sz="860" b="0">
                  <a:solidFill>
                    <a:srgbClr val="5B6B7B"/>
                  </a:solidFill>
                  <a:latin typeface="맑은 고딕"/>
                  <a:ea typeface="맑은 고딕"/>
                  <a:cs typeface="맑은 고딕"/>
                </a:rPr>
                <a:t>slice 1</a:t>
              </a:r>
            </a:p>
          </p:txBody>
        </p:sp>
        <p:sp>
          <p:nvSpPr>
            <p:cNvPr id="53" name="Rectangle 52"/>
            <p:cNvSpPr/>
            <p:nvPr/>
          </p:nvSpPr>
          <p:spPr>
            <a:xfrm>
              <a:off x="1931826"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14860"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297894"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480928" y="2955910"/>
              <a:ext cx="183034" cy="251672"/>
            </a:xfrm>
            <a:prstGeom prst="rect">
              <a:avLst/>
            </a:prstGeom>
            <a:solidFill>
              <a:srgbClr val="DCEBF9"/>
            </a:solidFill>
            <a:ln w="915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797794" y="2998923"/>
              <a:ext cx="327196" cy="231904"/>
            </a:xfrm>
            <a:prstGeom prst="rect">
              <a:avLst/>
            </a:prstGeom>
            <a:noFill/>
          </p:spPr>
          <p:txBody>
            <a:bodyPr wrap="none" anchor="ctr" lIns="0" rIns="0" tIns="0" bIns="0">
              <a:noAutofit/>
            </a:bodyPr>
            <a:lstStyle/>
            <a:p>
              <a:pPr algn="ctr"/>
              <a:r>
                <a:rPr sz="1260" b="0">
                  <a:solidFill>
                    <a:srgbClr val="5B6B7B"/>
                  </a:solidFill>
                  <a:latin typeface="맑은 고딕"/>
                  <a:ea typeface="맑은 고딕"/>
                  <a:cs typeface="맑은 고딕"/>
                </a:rPr>
                <a:t>···</a:t>
              </a:r>
            </a:p>
          </p:txBody>
        </p:sp>
        <p:cxnSp>
          <p:nvCxnSpPr>
            <p:cNvPr id="58" name="Connector 57"/>
            <p:cNvCxnSpPr/>
            <p:nvPr/>
          </p:nvCxnSpPr>
          <p:spPr>
            <a:xfrm>
              <a:off x="1314087" y="3230461"/>
              <a:ext cx="0" cy="183034"/>
            </a:xfrm>
            <a:prstGeom prst="line">
              <a:avLst/>
            </a:prstGeom>
            <a:ln w="18303">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297894" y="3230461"/>
              <a:ext cx="0" cy="183034"/>
            </a:xfrm>
            <a:prstGeom prst="line">
              <a:avLst/>
            </a:prstGeom>
            <a:ln w="18303">
              <a:solidFill>
                <a:srgbClr val="B45409"/>
              </a:solidFill>
            </a:ln>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1268328" y="3390616"/>
              <a:ext cx="91517" cy="91517"/>
            </a:xfrm>
            <a:custGeom>
              <a:avLst/>
              <a:gdLst/>
              <a:ahLst/>
              <a:cxnLst/>
              <a:rect l="l" t="t" r="r" b="b"/>
              <a:pathLst>
                <a:path w="91517" h="91517">
                  <a:moveTo>
                    <a:pt x="0" y="0"/>
                  </a:moveTo>
                  <a:lnTo>
                    <a:pt x="91517" y="0"/>
                  </a:lnTo>
                  <a:lnTo>
                    <a:pt x="45759" y="91517"/>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252136" y="3390616"/>
              <a:ext cx="91517" cy="91517"/>
            </a:xfrm>
            <a:custGeom>
              <a:avLst/>
              <a:gdLst/>
              <a:ahLst/>
              <a:cxnLst/>
              <a:rect l="l" t="t" r="r" b="b"/>
              <a:pathLst>
                <a:path w="91517" h="91517">
                  <a:moveTo>
                    <a:pt x="0" y="0"/>
                  </a:moveTo>
                  <a:lnTo>
                    <a:pt x="91517" y="0"/>
                  </a:lnTo>
                  <a:lnTo>
                    <a:pt x="45758" y="91517"/>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108174" y="3505012"/>
              <a:ext cx="411826" cy="274551"/>
            </a:xfrm>
            <a:prstGeom prst="roundRect">
              <a:avLst>
                <a:gd name="adj" fmla="val 16666"/>
              </a:avLst>
            </a:prstGeom>
            <a:solidFill>
              <a:srgbClr val="FDEBD3"/>
            </a:solidFill>
            <a:ln w="1601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79491" y="3561981"/>
              <a:ext cx="269191" cy="157363"/>
            </a:xfrm>
            <a:prstGeom prst="rect">
              <a:avLst/>
            </a:prstGeom>
            <a:noFill/>
          </p:spPr>
          <p:txBody>
            <a:bodyPr wrap="none" anchor="ctr" lIns="0" rIns="0" tIns="0" bIns="0">
              <a:noAutofit/>
            </a:bodyPr>
            <a:lstStyle/>
            <a:p>
              <a:pPr algn="ctr"/>
              <a:r>
                <a:rPr sz="860" b="1">
                  <a:solidFill>
                    <a:srgbClr val="B45409"/>
                  </a:solidFill>
                  <a:latin typeface="맑은 고딕"/>
                  <a:ea typeface="맑은 고딕"/>
                  <a:cs typeface="맑은 고딕"/>
                </a:rPr>
                <a:t>max</a:t>
              </a:r>
            </a:p>
          </p:txBody>
        </p:sp>
        <p:sp>
          <p:nvSpPr>
            <p:cNvPr id="64" name="Rounded Rectangle 63"/>
            <p:cNvSpPr/>
            <p:nvPr/>
          </p:nvSpPr>
          <p:spPr>
            <a:xfrm>
              <a:off x="2091981" y="3505012"/>
              <a:ext cx="411826" cy="274551"/>
            </a:xfrm>
            <a:prstGeom prst="roundRect">
              <a:avLst>
                <a:gd name="adj" fmla="val 16666"/>
              </a:avLst>
            </a:prstGeom>
            <a:solidFill>
              <a:srgbClr val="FDEBD3"/>
            </a:solidFill>
            <a:ln w="1601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63298" y="3561981"/>
              <a:ext cx="269191" cy="157363"/>
            </a:xfrm>
            <a:prstGeom prst="rect">
              <a:avLst/>
            </a:prstGeom>
            <a:noFill/>
          </p:spPr>
          <p:txBody>
            <a:bodyPr wrap="none" anchor="ctr" lIns="0" rIns="0" tIns="0" bIns="0">
              <a:noAutofit/>
            </a:bodyPr>
            <a:lstStyle/>
            <a:p>
              <a:pPr algn="ctr"/>
              <a:r>
                <a:rPr sz="860" b="1">
                  <a:solidFill>
                    <a:srgbClr val="B45409"/>
                  </a:solidFill>
                  <a:latin typeface="맑은 고딕"/>
                  <a:ea typeface="맑은 고딕"/>
                  <a:cs typeface="맑은 고딕"/>
                </a:rPr>
                <a:t>max</a:t>
              </a:r>
            </a:p>
          </p:txBody>
        </p:sp>
        <p:sp>
          <p:nvSpPr>
            <p:cNvPr id="66" name="TextBox 65"/>
            <p:cNvSpPr txBox="1"/>
            <p:nvPr/>
          </p:nvSpPr>
          <p:spPr>
            <a:xfrm>
              <a:off x="948019" y="4012931"/>
              <a:ext cx="1164210" cy="165646"/>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각 slice 가 자기 몫 16개</a:t>
              </a:r>
            </a:p>
          </p:txBody>
        </p:sp>
        <p:sp>
          <p:nvSpPr>
            <p:cNvPr id="67" name="TextBox 66"/>
            <p:cNvSpPr txBox="1"/>
            <p:nvPr/>
          </p:nvSpPr>
          <p:spPr>
            <a:xfrm>
              <a:off x="948019" y="4195965"/>
              <a:ext cx="1380991" cy="165646"/>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원소의 지역 최댓값을 구한다</a:t>
              </a:r>
            </a:p>
          </p:txBody>
        </p:sp>
        <p:sp>
          <p:nvSpPr>
            <p:cNvPr id="68" name="Rounded Rectangle 67"/>
            <p:cNvSpPr/>
            <p:nvPr/>
          </p:nvSpPr>
          <p:spPr>
            <a:xfrm>
              <a:off x="3487614" y="2338171"/>
              <a:ext cx="2539595" cy="2379441"/>
            </a:xfrm>
            <a:prstGeom prst="roundRect">
              <a:avLst>
                <a:gd name="adj" fmla="val 3846"/>
              </a:avLst>
            </a:prstGeom>
            <a:solidFill>
              <a:srgbClr val="F7FAFD"/>
            </a:solidFill>
            <a:ln w="160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487614" y="2338171"/>
              <a:ext cx="2539595" cy="343189"/>
            </a:xfrm>
            <a:prstGeom prst="roundRect">
              <a:avLst>
                <a:gd name="adj" fmla="val 26666"/>
              </a:avLst>
            </a:prstGeom>
            <a:solidFill>
              <a:srgbClr val="DCE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24890" y="2414359"/>
              <a:ext cx="1445138" cy="190493"/>
            </a:xfrm>
            <a:prstGeom prst="rect">
              <a:avLst/>
            </a:prstGeom>
            <a:noFill/>
          </p:spPr>
          <p:txBody>
            <a:bodyPr wrap="none" anchor="ctr" lIns="0" rIns="0" tIns="0" bIns="0">
              <a:noAutofit/>
            </a:bodyPr>
            <a:lstStyle/>
            <a:p>
              <a:pPr algn="l"/>
              <a:r>
                <a:rPr sz="1040" b="1">
                  <a:solidFill>
                    <a:srgbClr val="083F80"/>
                  </a:solidFill>
                  <a:latin typeface="맑은 고딕"/>
                  <a:ea typeface="맑은 고딕"/>
                  <a:cs typeface="맑은 고딕"/>
                </a:rPr>
                <a:t>② slice 간 max-reduce</a:t>
              </a:r>
            </a:p>
          </p:txBody>
        </p:sp>
        <p:sp>
          <p:nvSpPr>
            <p:cNvPr id="71" name="Rounded Rectangle 70"/>
            <p:cNvSpPr/>
            <p:nvPr/>
          </p:nvSpPr>
          <p:spPr>
            <a:xfrm>
              <a:off x="3670648" y="2887273"/>
              <a:ext cx="388947" cy="251672"/>
            </a:xfrm>
            <a:prstGeom prst="roundRect">
              <a:avLst>
                <a:gd name="adj" fmla="val 13636"/>
              </a:avLst>
            </a:prstGeom>
            <a:solidFill>
              <a:srgbClr val="FDEBD3"/>
            </a:solidFill>
            <a:ln w="137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4196871" y="2887273"/>
              <a:ext cx="388947" cy="251672"/>
            </a:xfrm>
            <a:prstGeom prst="roundRect">
              <a:avLst>
                <a:gd name="adj" fmla="val 13636"/>
              </a:avLst>
            </a:prstGeom>
            <a:solidFill>
              <a:srgbClr val="FDEBD3"/>
            </a:solidFill>
            <a:ln w="137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4723093" y="2887273"/>
              <a:ext cx="388947" cy="251672"/>
            </a:xfrm>
            <a:prstGeom prst="roundRect">
              <a:avLst>
                <a:gd name="adj" fmla="val 13636"/>
              </a:avLst>
            </a:prstGeom>
            <a:solidFill>
              <a:srgbClr val="FDEBD3"/>
            </a:solidFill>
            <a:ln w="137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249316" y="2887273"/>
              <a:ext cx="388947" cy="251672"/>
            </a:xfrm>
            <a:prstGeom prst="roundRect">
              <a:avLst>
                <a:gd name="adj" fmla="val 13636"/>
              </a:avLst>
            </a:prstGeom>
            <a:solidFill>
              <a:srgbClr val="FDEBD3"/>
            </a:solidFill>
            <a:ln w="1372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737610" y="2939437"/>
              <a:ext cx="255023" cy="149081"/>
            </a:xfrm>
            <a:prstGeom prst="rect">
              <a:avLst/>
            </a:prstGeom>
            <a:noFill/>
          </p:spPr>
          <p:txBody>
            <a:bodyPr wrap="none" anchor="ctr" lIns="0" rIns="0" tIns="0" bIns="0">
              <a:noAutofit/>
            </a:bodyPr>
            <a:lstStyle/>
            <a:p>
              <a:pPr algn="ctr"/>
              <a:r>
                <a:rPr sz="810" b="1">
                  <a:solidFill>
                    <a:srgbClr val="B45409"/>
                  </a:solidFill>
                  <a:latin typeface="맑은 고딕"/>
                  <a:ea typeface="맑은 고딕"/>
                  <a:cs typeface="맑은 고딕"/>
                </a:rPr>
                <a:t>max</a:t>
              </a:r>
            </a:p>
          </p:txBody>
        </p:sp>
        <p:sp>
          <p:nvSpPr>
            <p:cNvPr id="76" name="TextBox 75"/>
            <p:cNvSpPr txBox="1"/>
            <p:nvPr/>
          </p:nvSpPr>
          <p:spPr>
            <a:xfrm>
              <a:off x="4263833" y="2939437"/>
              <a:ext cx="255023" cy="149081"/>
            </a:xfrm>
            <a:prstGeom prst="rect">
              <a:avLst/>
            </a:prstGeom>
            <a:noFill/>
          </p:spPr>
          <p:txBody>
            <a:bodyPr wrap="none" anchor="ctr" lIns="0" rIns="0" tIns="0" bIns="0">
              <a:noAutofit/>
            </a:bodyPr>
            <a:lstStyle/>
            <a:p>
              <a:pPr algn="ctr"/>
              <a:r>
                <a:rPr sz="810" b="1">
                  <a:solidFill>
                    <a:srgbClr val="B45409"/>
                  </a:solidFill>
                  <a:latin typeface="맑은 고딕"/>
                  <a:ea typeface="맑은 고딕"/>
                  <a:cs typeface="맑은 고딕"/>
                </a:rPr>
                <a:t>max</a:t>
              </a:r>
            </a:p>
          </p:txBody>
        </p:sp>
        <p:sp>
          <p:nvSpPr>
            <p:cNvPr id="77" name="TextBox 76"/>
            <p:cNvSpPr txBox="1"/>
            <p:nvPr/>
          </p:nvSpPr>
          <p:spPr>
            <a:xfrm>
              <a:off x="4790055" y="2939437"/>
              <a:ext cx="255023" cy="149081"/>
            </a:xfrm>
            <a:prstGeom prst="rect">
              <a:avLst/>
            </a:prstGeom>
            <a:noFill/>
          </p:spPr>
          <p:txBody>
            <a:bodyPr wrap="none" anchor="ctr" lIns="0" rIns="0" tIns="0" bIns="0">
              <a:noAutofit/>
            </a:bodyPr>
            <a:lstStyle/>
            <a:p>
              <a:pPr algn="ctr"/>
              <a:r>
                <a:rPr sz="810" b="1">
                  <a:solidFill>
                    <a:srgbClr val="B45409"/>
                  </a:solidFill>
                  <a:latin typeface="맑은 고딕"/>
                  <a:ea typeface="맑은 고딕"/>
                  <a:cs typeface="맑은 고딕"/>
                </a:rPr>
                <a:t>max</a:t>
              </a:r>
            </a:p>
          </p:txBody>
        </p:sp>
        <p:sp>
          <p:nvSpPr>
            <p:cNvPr id="78" name="TextBox 77"/>
            <p:cNvSpPr txBox="1"/>
            <p:nvPr/>
          </p:nvSpPr>
          <p:spPr>
            <a:xfrm>
              <a:off x="5316278" y="2939437"/>
              <a:ext cx="255023" cy="149081"/>
            </a:xfrm>
            <a:prstGeom prst="rect">
              <a:avLst/>
            </a:prstGeom>
            <a:noFill/>
          </p:spPr>
          <p:txBody>
            <a:bodyPr wrap="none" anchor="ctr" lIns="0" rIns="0" tIns="0" bIns="0">
              <a:noAutofit/>
            </a:bodyPr>
            <a:lstStyle/>
            <a:p>
              <a:pPr algn="ctr"/>
              <a:r>
                <a:rPr sz="810" b="1">
                  <a:solidFill>
                    <a:srgbClr val="B45409"/>
                  </a:solidFill>
                  <a:latin typeface="맑은 고딕"/>
                  <a:ea typeface="맑은 고딕"/>
                  <a:cs typeface="맑은 고딕"/>
                </a:rPr>
                <a:t>max</a:t>
              </a:r>
            </a:p>
          </p:txBody>
        </p:sp>
        <p:cxnSp>
          <p:nvCxnSpPr>
            <p:cNvPr id="79" name="Connector 78"/>
            <p:cNvCxnSpPr/>
            <p:nvPr/>
          </p:nvCxnSpPr>
          <p:spPr>
            <a:xfrm>
              <a:off x="3865122" y="3138944"/>
              <a:ext cx="720696"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391344" y="3138944"/>
              <a:ext cx="217353"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4700214" y="3138944"/>
              <a:ext cx="217353"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4723093" y="3138944"/>
              <a:ext cx="720696"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3968078" y="3436374"/>
              <a:ext cx="1372754" cy="343189"/>
            </a:xfrm>
            <a:prstGeom prst="roundRect">
              <a:avLst>
                <a:gd name="adj" fmla="val 16666"/>
              </a:avLst>
            </a:prstGeom>
            <a:solidFill>
              <a:srgbClr val="FDE8E8"/>
            </a:solidFill>
            <a:ln w="18303">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0916" y="3519197"/>
              <a:ext cx="727079" cy="182210"/>
            </a:xfrm>
            <a:prstGeom prst="rect">
              <a:avLst/>
            </a:prstGeom>
            <a:noFill/>
          </p:spPr>
          <p:txBody>
            <a:bodyPr wrap="none" anchor="ctr" lIns="0" rIns="0" tIns="0" bIns="0">
              <a:noAutofit/>
            </a:bodyPr>
            <a:lstStyle/>
            <a:p>
              <a:pPr algn="ctr"/>
              <a:r>
                <a:rPr sz="990" b="1">
                  <a:solidFill>
                    <a:srgbClr val="B4222A"/>
                  </a:solidFill>
                  <a:latin typeface="맑은 고딕"/>
                  <a:ea typeface="맑은 고딕"/>
                  <a:cs typeface="맑은 고딕"/>
                </a:rPr>
                <a:t>global max</a:t>
              </a:r>
            </a:p>
          </p:txBody>
        </p:sp>
        <p:cxnSp>
          <p:nvCxnSpPr>
            <p:cNvPr id="85" name="Connector 84"/>
            <p:cNvCxnSpPr/>
            <p:nvPr/>
          </p:nvCxnSpPr>
          <p:spPr>
            <a:xfrm flipH="1">
              <a:off x="3865122" y="3779563"/>
              <a:ext cx="720696" cy="251671"/>
            </a:xfrm>
            <a:prstGeom prst="line">
              <a:avLst/>
            </a:prstGeom>
            <a:ln w="16015">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4391344" y="3779563"/>
              <a:ext cx="217353" cy="251671"/>
            </a:xfrm>
            <a:prstGeom prst="line">
              <a:avLst/>
            </a:prstGeom>
            <a:ln w="16015">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700214" y="3779563"/>
              <a:ext cx="217353" cy="251671"/>
            </a:xfrm>
            <a:prstGeom prst="line">
              <a:avLst/>
            </a:prstGeom>
            <a:ln w="16015">
              <a:solidFill>
                <a:srgbClr val="1A7F3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723093" y="3779563"/>
              <a:ext cx="720696" cy="251671"/>
            </a:xfrm>
            <a:prstGeom prst="line">
              <a:avLst/>
            </a:prstGeom>
            <a:ln w="16015">
              <a:solidFill>
                <a:srgbClr val="1A7F37"/>
              </a:solidFill>
            </a:ln>
          </p:spPr>
          <p:style>
            <a:lnRef idx="2">
              <a:schemeClr val="accent1"/>
            </a:lnRef>
            <a:fillRef idx="0">
              <a:schemeClr val="accent1"/>
            </a:fillRef>
            <a:effectRef idx="1">
              <a:schemeClr val="accent1"/>
            </a:effectRef>
            <a:fontRef idx="minor">
              <a:schemeClr val="tx1"/>
            </a:fontRef>
          </p:style>
        </p:cxnSp>
        <p:sp>
          <p:nvSpPr>
            <p:cNvPr id="89" name="Rounded Rectangle 88"/>
            <p:cNvSpPr/>
            <p:nvPr/>
          </p:nvSpPr>
          <p:spPr>
            <a:xfrm>
              <a:off x="3670648" y="4031234"/>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4196871" y="4031234"/>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4723093" y="4031234"/>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5249316" y="4031234"/>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781367" y="4083399"/>
              <a:ext cx="167510" cy="149081"/>
            </a:xfrm>
            <a:prstGeom prst="rect">
              <a:avLst/>
            </a:prstGeom>
            <a:noFill/>
          </p:spPr>
          <p:txBody>
            <a:bodyPr wrap="none" anchor="ctr" lIns="0" rIns="0" tIns="0" bIns="0">
              <a:noAutofit/>
            </a:bodyPr>
            <a:lstStyle/>
            <a:p>
              <a:pPr algn="ctr"/>
              <a:r>
                <a:rPr sz="810" b="1">
                  <a:solidFill>
                    <a:srgbClr val="1A7F37"/>
                  </a:solidFill>
                  <a:latin typeface="맑은 고딕"/>
                  <a:ea typeface="맑은 고딕"/>
                  <a:cs typeface="맑은 고딕"/>
                </a:rPr>
                <a:t>RF</a:t>
              </a:r>
            </a:p>
          </p:txBody>
        </p:sp>
        <p:sp>
          <p:nvSpPr>
            <p:cNvPr id="94" name="TextBox 93"/>
            <p:cNvSpPr txBox="1"/>
            <p:nvPr/>
          </p:nvSpPr>
          <p:spPr>
            <a:xfrm>
              <a:off x="4307589" y="4083399"/>
              <a:ext cx="167510" cy="149081"/>
            </a:xfrm>
            <a:prstGeom prst="rect">
              <a:avLst/>
            </a:prstGeom>
            <a:noFill/>
          </p:spPr>
          <p:txBody>
            <a:bodyPr wrap="none" anchor="ctr" lIns="0" rIns="0" tIns="0" bIns="0">
              <a:noAutofit/>
            </a:bodyPr>
            <a:lstStyle/>
            <a:p>
              <a:pPr algn="ctr"/>
              <a:r>
                <a:rPr sz="810" b="1">
                  <a:solidFill>
                    <a:srgbClr val="1A7F37"/>
                  </a:solidFill>
                  <a:latin typeface="맑은 고딕"/>
                  <a:ea typeface="맑은 고딕"/>
                  <a:cs typeface="맑은 고딕"/>
                </a:rPr>
                <a:t>RF</a:t>
              </a:r>
            </a:p>
          </p:txBody>
        </p:sp>
        <p:sp>
          <p:nvSpPr>
            <p:cNvPr id="95" name="TextBox 94"/>
            <p:cNvSpPr txBox="1"/>
            <p:nvPr/>
          </p:nvSpPr>
          <p:spPr>
            <a:xfrm>
              <a:off x="4833812" y="4083399"/>
              <a:ext cx="167510" cy="149081"/>
            </a:xfrm>
            <a:prstGeom prst="rect">
              <a:avLst/>
            </a:prstGeom>
            <a:noFill/>
          </p:spPr>
          <p:txBody>
            <a:bodyPr wrap="none" anchor="ctr" lIns="0" rIns="0" tIns="0" bIns="0">
              <a:noAutofit/>
            </a:bodyPr>
            <a:lstStyle/>
            <a:p>
              <a:pPr algn="ctr"/>
              <a:r>
                <a:rPr sz="810" b="1">
                  <a:solidFill>
                    <a:srgbClr val="1A7F37"/>
                  </a:solidFill>
                  <a:latin typeface="맑은 고딕"/>
                  <a:ea typeface="맑은 고딕"/>
                  <a:cs typeface="맑은 고딕"/>
                </a:rPr>
                <a:t>RF</a:t>
              </a:r>
            </a:p>
          </p:txBody>
        </p:sp>
        <p:sp>
          <p:nvSpPr>
            <p:cNvPr id="96" name="TextBox 95"/>
            <p:cNvSpPr txBox="1"/>
            <p:nvPr/>
          </p:nvSpPr>
          <p:spPr>
            <a:xfrm>
              <a:off x="5360034" y="4083399"/>
              <a:ext cx="167510" cy="149081"/>
            </a:xfrm>
            <a:prstGeom prst="rect">
              <a:avLst/>
            </a:prstGeom>
            <a:noFill/>
          </p:spPr>
          <p:txBody>
            <a:bodyPr wrap="none" anchor="ctr" lIns="0" rIns="0" tIns="0" bIns="0">
              <a:noAutofit/>
            </a:bodyPr>
            <a:lstStyle/>
            <a:p>
              <a:pPr algn="ctr"/>
              <a:r>
                <a:rPr sz="810" b="1">
                  <a:solidFill>
                    <a:srgbClr val="1A7F37"/>
                  </a:solidFill>
                  <a:latin typeface="맑은 고딕"/>
                  <a:ea typeface="맑은 고딕"/>
                  <a:cs typeface="맑은 고딕"/>
                </a:rPr>
                <a:t>RF</a:t>
              </a:r>
            </a:p>
          </p:txBody>
        </p:sp>
        <p:sp>
          <p:nvSpPr>
            <p:cNvPr id="97" name="TextBox 96"/>
            <p:cNvSpPr txBox="1"/>
            <p:nvPr/>
          </p:nvSpPr>
          <p:spPr>
            <a:xfrm>
              <a:off x="3624890" y="4362755"/>
              <a:ext cx="1438658" cy="157363"/>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전역 최댓값을 각 slice 의 RF 로</a:t>
              </a:r>
            </a:p>
          </p:txBody>
        </p:sp>
        <p:sp>
          <p:nvSpPr>
            <p:cNvPr id="98" name="TextBox 97"/>
            <p:cNvSpPr txBox="1"/>
            <p:nvPr/>
          </p:nvSpPr>
          <p:spPr>
            <a:xfrm>
              <a:off x="3624890" y="4522909"/>
              <a:ext cx="769103" cy="157363"/>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broadcast 한다</a:t>
              </a:r>
            </a:p>
          </p:txBody>
        </p:sp>
        <p:sp>
          <p:nvSpPr>
            <p:cNvPr id="99" name="Rounded Rectangle 98"/>
            <p:cNvSpPr/>
            <p:nvPr/>
          </p:nvSpPr>
          <p:spPr>
            <a:xfrm>
              <a:off x="6164485" y="2338171"/>
              <a:ext cx="2539595" cy="2379441"/>
            </a:xfrm>
            <a:prstGeom prst="roundRect">
              <a:avLst>
                <a:gd name="adj" fmla="val 3846"/>
              </a:avLst>
            </a:prstGeom>
            <a:solidFill>
              <a:srgbClr val="F7FAFD"/>
            </a:solidFill>
            <a:ln w="160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6164485" y="2338171"/>
              <a:ext cx="2539595" cy="343189"/>
            </a:xfrm>
            <a:prstGeom prst="roundRect">
              <a:avLst>
                <a:gd name="adj" fmla="val 26666"/>
              </a:avLst>
            </a:prstGeom>
            <a:solidFill>
              <a:srgbClr val="DCE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301761" y="2414359"/>
              <a:ext cx="1177817" cy="190493"/>
            </a:xfrm>
            <a:prstGeom prst="rect">
              <a:avLst/>
            </a:prstGeom>
            <a:noFill/>
          </p:spPr>
          <p:txBody>
            <a:bodyPr wrap="none" anchor="ctr" lIns="0" rIns="0" tIns="0" bIns="0">
              <a:noAutofit/>
            </a:bodyPr>
            <a:lstStyle/>
            <a:p>
              <a:pPr algn="l"/>
              <a:r>
                <a:rPr sz="1040" b="1">
                  <a:solidFill>
                    <a:srgbClr val="083F80"/>
                  </a:solidFill>
                  <a:latin typeface="맑은 고딕"/>
                  <a:ea typeface="맑은 고딕"/>
                  <a:cs typeface="맑은 고딕"/>
                </a:rPr>
                <a:t>③ VE 에서 exp 계산</a:t>
              </a:r>
            </a:p>
          </p:txBody>
        </p:sp>
        <p:sp>
          <p:nvSpPr>
            <p:cNvPr id="102" name="Rounded Rectangle 101"/>
            <p:cNvSpPr/>
            <p:nvPr/>
          </p:nvSpPr>
          <p:spPr>
            <a:xfrm>
              <a:off x="6301761" y="2841514"/>
              <a:ext cx="2265044" cy="503343"/>
            </a:xfrm>
            <a:prstGeom prst="roundRect">
              <a:avLst>
                <a:gd name="adj" fmla="val 13636"/>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725384" y="2995949"/>
              <a:ext cx="1417798" cy="207057"/>
            </a:xfrm>
            <a:prstGeom prst="rect">
              <a:avLst/>
            </a:prstGeom>
            <a:noFill/>
          </p:spPr>
          <p:txBody>
            <a:bodyPr wrap="none" anchor="ctr" lIns="0" rIns="0" tIns="0" bIns="0">
              <a:noAutofit/>
            </a:bodyPr>
            <a:lstStyle/>
            <a:p>
              <a:pPr algn="ctr"/>
              <a:r>
                <a:rPr sz="1019" b="0">
                  <a:solidFill>
                    <a:srgbClr val="E6EDF3"/>
                  </a:solidFill>
                  <a:latin typeface="Consolas"/>
                  <a:ea typeface="Consolas"/>
                  <a:cs typeface="Consolas"/>
                </a:rPr>
                <a:t>exp(x − global.max)</a:t>
              </a:r>
            </a:p>
          </p:txBody>
        </p:sp>
        <p:cxnSp>
          <p:nvCxnSpPr>
            <p:cNvPr id="104" name="Connector 103"/>
            <p:cNvCxnSpPr/>
            <p:nvPr/>
          </p:nvCxnSpPr>
          <p:spPr>
            <a:xfrm>
              <a:off x="7434283" y="3344857"/>
              <a:ext cx="0" cy="228793"/>
            </a:xfrm>
            <a:prstGeom prst="line">
              <a:avLst/>
            </a:prstGeom>
            <a:ln w="20591">
              <a:solidFill>
                <a:srgbClr val="1A7F37"/>
              </a:solidFill>
            </a:ln>
          </p:spPr>
          <p:style>
            <a:lnRef idx="2">
              <a:schemeClr val="accent1"/>
            </a:lnRef>
            <a:fillRef idx="0">
              <a:schemeClr val="accent1"/>
            </a:fillRef>
            <a:effectRef idx="1">
              <a:schemeClr val="accent1"/>
            </a:effectRef>
            <a:fontRef idx="minor">
              <a:schemeClr val="tx1"/>
            </a:fontRef>
          </p:style>
        </p:cxnSp>
        <p:sp>
          <p:nvSpPr>
            <p:cNvPr id="105" name="Freeform 104"/>
            <p:cNvSpPr/>
            <p:nvPr/>
          </p:nvSpPr>
          <p:spPr>
            <a:xfrm>
              <a:off x="7377085" y="3550770"/>
              <a:ext cx="114396" cy="91517"/>
            </a:xfrm>
            <a:custGeom>
              <a:avLst/>
              <a:gdLst/>
              <a:ahLst/>
              <a:cxnLst/>
              <a:rect l="l" t="t" r="r" b="b"/>
              <a:pathLst>
                <a:path w="114396" h="91517">
                  <a:moveTo>
                    <a:pt x="0" y="0"/>
                  </a:moveTo>
                  <a:lnTo>
                    <a:pt x="114396" y="0"/>
                  </a:lnTo>
                  <a:lnTo>
                    <a:pt x="57198" y="91517"/>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6530553" y="3665167"/>
              <a:ext cx="1807460" cy="388947"/>
            </a:xfrm>
            <a:prstGeom prst="roundRect">
              <a:avLst>
                <a:gd name="adj" fmla="val 17647"/>
              </a:avLst>
            </a:prstGeom>
            <a:solidFill>
              <a:srgbClr val="E2F4E8"/>
            </a:solidFill>
            <a:ln w="1601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955729" y="3770869"/>
              <a:ext cx="957107" cy="182210"/>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slice 부분합 누적</a:t>
              </a:r>
            </a:p>
          </p:txBody>
        </p:sp>
        <p:sp>
          <p:nvSpPr>
            <p:cNvPr id="108" name="TextBox 107"/>
            <p:cNvSpPr txBox="1"/>
            <p:nvPr/>
          </p:nvSpPr>
          <p:spPr>
            <a:xfrm>
              <a:off x="6301761" y="4225479"/>
              <a:ext cx="1241519" cy="157363"/>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각 원소에 exp 를 적용한 뒤</a:t>
              </a:r>
            </a:p>
          </p:txBody>
        </p:sp>
        <p:sp>
          <p:nvSpPr>
            <p:cNvPr id="109" name="TextBox 108"/>
            <p:cNvSpPr txBox="1"/>
            <p:nvPr/>
          </p:nvSpPr>
          <p:spPr>
            <a:xfrm>
              <a:off x="6301761" y="4408513"/>
              <a:ext cx="1411923" cy="157363"/>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그 자리에서 부분합을 누적한다</a:t>
              </a:r>
            </a:p>
          </p:txBody>
        </p:sp>
        <p:sp>
          <p:nvSpPr>
            <p:cNvPr id="110" name="Rounded Rectangle 109"/>
            <p:cNvSpPr/>
            <p:nvPr/>
          </p:nvSpPr>
          <p:spPr>
            <a:xfrm>
              <a:off x="8841356" y="2338171"/>
              <a:ext cx="2539595" cy="2379441"/>
            </a:xfrm>
            <a:prstGeom prst="roundRect">
              <a:avLst>
                <a:gd name="adj" fmla="val 3846"/>
              </a:avLst>
            </a:prstGeom>
            <a:solidFill>
              <a:srgbClr val="F7FAFD"/>
            </a:solidFill>
            <a:ln w="160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8841356" y="2338171"/>
              <a:ext cx="2539595" cy="343189"/>
            </a:xfrm>
            <a:prstGeom prst="roundRect">
              <a:avLst>
                <a:gd name="adj" fmla="val 26666"/>
              </a:avLst>
            </a:prstGeom>
            <a:solidFill>
              <a:srgbClr val="DCE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978631" y="2414359"/>
              <a:ext cx="1416328" cy="190493"/>
            </a:xfrm>
            <a:prstGeom prst="rect">
              <a:avLst/>
            </a:prstGeom>
            <a:noFill/>
          </p:spPr>
          <p:txBody>
            <a:bodyPr wrap="none" anchor="ctr" lIns="0" rIns="0" tIns="0" bIns="0">
              <a:noAutofit/>
            </a:bodyPr>
            <a:lstStyle/>
            <a:p>
              <a:pPr algn="l"/>
              <a:r>
                <a:rPr sz="1040" b="1">
                  <a:solidFill>
                    <a:srgbClr val="083F80"/>
                  </a:solidFill>
                  <a:latin typeface="맑은 고딕"/>
                  <a:ea typeface="맑은 고딕"/>
                  <a:cs typeface="맑은 고딕"/>
                </a:rPr>
                <a:t>④ slice 간 add-reduce</a:t>
              </a:r>
            </a:p>
          </p:txBody>
        </p:sp>
        <p:sp>
          <p:nvSpPr>
            <p:cNvPr id="113" name="Rounded Rectangle 112"/>
            <p:cNvSpPr/>
            <p:nvPr/>
          </p:nvSpPr>
          <p:spPr>
            <a:xfrm>
              <a:off x="9024390" y="2887273"/>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9550612" y="2887273"/>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10076835" y="2887273"/>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10603057" y="2887273"/>
              <a:ext cx="388947" cy="251672"/>
            </a:xfrm>
            <a:prstGeom prst="roundRect">
              <a:avLst>
                <a:gd name="adj" fmla="val 13636"/>
              </a:avLst>
            </a:prstGeom>
            <a:solidFill>
              <a:srgbClr val="E2F4E8"/>
            </a:solidFill>
            <a:ln w="1372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099457" y="2946072"/>
              <a:ext cx="238813" cy="140799"/>
            </a:xfrm>
            <a:prstGeom prst="rect">
              <a:avLst/>
            </a:prstGeom>
            <a:noFill/>
          </p:spPr>
          <p:txBody>
            <a:bodyPr wrap="none" anchor="ctr" lIns="0" rIns="0" tIns="0" bIns="0">
              <a:noAutofit/>
            </a:bodyPr>
            <a:lstStyle/>
            <a:p>
              <a:pPr algn="ctr"/>
              <a:r>
                <a:rPr sz="770" b="1">
                  <a:solidFill>
                    <a:srgbClr val="1A7F37"/>
                  </a:solidFill>
                  <a:latin typeface="맑은 고딕"/>
                  <a:ea typeface="맑은 고딕"/>
                  <a:cs typeface="맑은 고딕"/>
                </a:rPr>
                <a:t>sum</a:t>
              </a:r>
            </a:p>
          </p:txBody>
        </p:sp>
        <p:sp>
          <p:nvSpPr>
            <p:cNvPr id="118" name="TextBox 117"/>
            <p:cNvSpPr txBox="1"/>
            <p:nvPr/>
          </p:nvSpPr>
          <p:spPr>
            <a:xfrm>
              <a:off x="9625679" y="2946072"/>
              <a:ext cx="238813" cy="140799"/>
            </a:xfrm>
            <a:prstGeom prst="rect">
              <a:avLst/>
            </a:prstGeom>
            <a:noFill/>
          </p:spPr>
          <p:txBody>
            <a:bodyPr wrap="none" anchor="ctr" lIns="0" rIns="0" tIns="0" bIns="0">
              <a:noAutofit/>
            </a:bodyPr>
            <a:lstStyle/>
            <a:p>
              <a:pPr algn="ctr"/>
              <a:r>
                <a:rPr sz="770" b="1">
                  <a:solidFill>
                    <a:srgbClr val="1A7F37"/>
                  </a:solidFill>
                  <a:latin typeface="맑은 고딕"/>
                  <a:ea typeface="맑은 고딕"/>
                  <a:cs typeface="맑은 고딕"/>
                </a:rPr>
                <a:t>sum</a:t>
              </a:r>
            </a:p>
          </p:txBody>
        </p:sp>
        <p:sp>
          <p:nvSpPr>
            <p:cNvPr id="119" name="TextBox 118"/>
            <p:cNvSpPr txBox="1"/>
            <p:nvPr/>
          </p:nvSpPr>
          <p:spPr>
            <a:xfrm>
              <a:off x="10151902" y="2946072"/>
              <a:ext cx="238813" cy="140799"/>
            </a:xfrm>
            <a:prstGeom prst="rect">
              <a:avLst/>
            </a:prstGeom>
            <a:noFill/>
          </p:spPr>
          <p:txBody>
            <a:bodyPr wrap="none" anchor="ctr" lIns="0" rIns="0" tIns="0" bIns="0">
              <a:noAutofit/>
            </a:bodyPr>
            <a:lstStyle/>
            <a:p>
              <a:pPr algn="ctr"/>
              <a:r>
                <a:rPr sz="770" b="1">
                  <a:solidFill>
                    <a:srgbClr val="1A7F37"/>
                  </a:solidFill>
                  <a:latin typeface="맑은 고딕"/>
                  <a:ea typeface="맑은 고딕"/>
                  <a:cs typeface="맑은 고딕"/>
                </a:rPr>
                <a:t>sum</a:t>
              </a:r>
            </a:p>
          </p:txBody>
        </p:sp>
        <p:sp>
          <p:nvSpPr>
            <p:cNvPr id="120" name="TextBox 119"/>
            <p:cNvSpPr txBox="1"/>
            <p:nvPr/>
          </p:nvSpPr>
          <p:spPr>
            <a:xfrm>
              <a:off x="10678124" y="2946072"/>
              <a:ext cx="238813" cy="140799"/>
            </a:xfrm>
            <a:prstGeom prst="rect">
              <a:avLst/>
            </a:prstGeom>
            <a:noFill/>
          </p:spPr>
          <p:txBody>
            <a:bodyPr wrap="none" anchor="ctr" lIns="0" rIns="0" tIns="0" bIns="0">
              <a:noAutofit/>
            </a:bodyPr>
            <a:lstStyle/>
            <a:p>
              <a:pPr algn="ctr"/>
              <a:r>
                <a:rPr sz="770" b="1">
                  <a:solidFill>
                    <a:srgbClr val="1A7F37"/>
                  </a:solidFill>
                  <a:latin typeface="맑은 고딕"/>
                  <a:ea typeface="맑은 고딕"/>
                  <a:cs typeface="맑은 고딕"/>
                </a:rPr>
                <a:t>sum</a:t>
              </a:r>
            </a:p>
          </p:txBody>
        </p:sp>
        <p:cxnSp>
          <p:nvCxnSpPr>
            <p:cNvPr id="121" name="Connector 120"/>
            <p:cNvCxnSpPr/>
            <p:nvPr/>
          </p:nvCxnSpPr>
          <p:spPr>
            <a:xfrm>
              <a:off x="9218863" y="3138944"/>
              <a:ext cx="720696"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9745086" y="3138944"/>
              <a:ext cx="217353"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10053956" y="3138944"/>
              <a:ext cx="217352"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10076835" y="3138944"/>
              <a:ext cx="720696" cy="274551"/>
            </a:xfrm>
            <a:prstGeom prst="line">
              <a:avLst/>
            </a:prstGeom>
            <a:ln w="16015">
              <a:solidFill>
                <a:srgbClr val="B4222A"/>
              </a:solidFill>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9321820" y="3436374"/>
              <a:ext cx="1372754" cy="343189"/>
            </a:xfrm>
            <a:prstGeom prst="roundRect">
              <a:avLst>
                <a:gd name="adj" fmla="val 16666"/>
              </a:avLst>
            </a:prstGeom>
            <a:solidFill>
              <a:srgbClr val="FDE8E8"/>
            </a:solidFill>
            <a:ln w="18303">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645979" y="3519197"/>
              <a:ext cx="724437" cy="182210"/>
            </a:xfrm>
            <a:prstGeom prst="rect">
              <a:avLst/>
            </a:prstGeom>
            <a:noFill/>
          </p:spPr>
          <p:txBody>
            <a:bodyPr wrap="none" anchor="ctr" lIns="0" rIns="0" tIns="0" bIns="0">
              <a:noAutofit/>
            </a:bodyPr>
            <a:lstStyle/>
            <a:p>
              <a:pPr algn="ctr"/>
              <a:r>
                <a:rPr sz="990" b="1">
                  <a:solidFill>
                    <a:srgbClr val="B4222A"/>
                  </a:solidFill>
                  <a:latin typeface="맑은 고딕"/>
                  <a:ea typeface="맑은 고딕"/>
                  <a:cs typeface="맑은 고딕"/>
                </a:rPr>
                <a:t>global sum</a:t>
              </a:r>
            </a:p>
          </p:txBody>
        </p:sp>
        <p:cxnSp>
          <p:nvCxnSpPr>
            <p:cNvPr id="127" name="Connector 126"/>
            <p:cNvCxnSpPr/>
            <p:nvPr/>
          </p:nvCxnSpPr>
          <p:spPr>
            <a:xfrm>
              <a:off x="10008197" y="3779563"/>
              <a:ext cx="0" cy="183034"/>
            </a:xfrm>
            <a:prstGeom prst="line">
              <a:avLst/>
            </a:prstGeom>
            <a:ln w="20591">
              <a:solidFill>
                <a:srgbClr val="0B5FC0"/>
              </a:solidFill>
            </a:ln>
          </p:spPr>
          <p:style>
            <a:lnRef idx="2">
              <a:schemeClr val="accent1"/>
            </a:lnRef>
            <a:fillRef idx="0">
              <a:schemeClr val="accent1"/>
            </a:fillRef>
            <a:effectRef idx="1">
              <a:schemeClr val="accent1"/>
            </a:effectRef>
            <a:fontRef idx="minor">
              <a:schemeClr val="tx1"/>
            </a:fontRef>
          </p:style>
        </p:cxnSp>
        <p:sp>
          <p:nvSpPr>
            <p:cNvPr id="128" name="Freeform 127"/>
            <p:cNvSpPr/>
            <p:nvPr/>
          </p:nvSpPr>
          <p:spPr>
            <a:xfrm>
              <a:off x="9950999" y="3939717"/>
              <a:ext cx="114396" cy="91517"/>
            </a:xfrm>
            <a:custGeom>
              <a:avLst/>
              <a:gdLst/>
              <a:ahLst/>
              <a:cxnLst/>
              <a:rect l="l" t="t" r="r" b="b"/>
              <a:pathLst>
                <a:path w="114396" h="91517">
                  <a:moveTo>
                    <a:pt x="0" y="0"/>
                  </a:moveTo>
                  <a:lnTo>
                    <a:pt x="114396" y="0"/>
                  </a:lnTo>
                  <a:lnTo>
                    <a:pt x="57198" y="91517"/>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9024390" y="4054114"/>
              <a:ext cx="2196407" cy="388947"/>
            </a:xfrm>
            <a:prstGeom prst="roundRect">
              <a:avLst>
                <a:gd name="adj" fmla="val 17647"/>
              </a:avLst>
            </a:prstGeom>
            <a:solidFill>
              <a:srgbClr val="DCEBF9"/>
            </a:solidFill>
            <a:ln w="160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15031" y="4173086"/>
              <a:ext cx="1815124" cy="165646"/>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score → 각 slice 의 DM 에 commit</a:t>
              </a:r>
            </a:p>
          </p:txBody>
        </p:sp>
        <p:sp>
          <p:nvSpPr>
            <p:cNvPr id="131" name="TextBox 130"/>
            <p:cNvSpPr txBox="1"/>
            <p:nvPr/>
          </p:nvSpPr>
          <p:spPr>
            <a:xfrm>
              <a:off x="8978631" y="4500030"/>
              <a:ext cx="1495387" cy="157363"/>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전역 합도 RF 로 broadcast 된다</a:t>
              </a:r>
            </a:p>
          </p:txBody>
        </p:sp>
        <p:sp>
          <p:nvSpPr>
            <p:cNvPr id="132" name="Rounded Rectangle 131"/>
            <p:cNvSpPr/>
            <p:nvPr/>
          </p:nvSpPr>
          <p:spPr>
            <a:xfrm>
              <a:off x="810744" y="4900645"/>
              <a:ext cx="10524449" cy="640619"/>
            </a:xfrm>
            <a:prstGeom prst="roundRect">
              <a:avLst>
                <a:gd name="adj" fmla="val 14285"/>
              </a:avLst>
            </a:prstGeom>
            <a:solidFill>
              <a:srgbClr val="FFF7E6"/>
            </a:solidFill>
            <a:ln w="1830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039536" y="5022592"/>
              <a:ext cx="4429741" cy="190493"/>
            </a:xfrm>
            <a:prstGeom prst="rect">
              <a:avLst/>
            </a:prstGeom>
            <a:noFill/>
          </p:spPr>
          <p:txBody>
            <a:bodyPr wrap="none" anchor="ctr" lIns="0" rIns="0" tIns="0" bIns="0">
              <a:noAutofit/>
            </a:bodyPr>
            <a:lstStyle/>
            <a:p>
              <a:pPr algn="l"/>
              <a:r>
                <a:rPr sz="1040" b="1">
                  <a:solidFill>
                    <a:srgbClr val="B45409"/>
                  </a:solidFill>
                  <a:latin typeface="맑은 고딕"/>
                  <a:ea typeface="맑은 고딕"/>
                  <a:cs typeface="맑은 고딕"/>
                </a:rPr>
                <a:t>출력이 slice 에 흩어져 있으므로 max 와 sum 모두 slice 간 reduce 가 필요하다</a:t>
              </a:r>
            </a:p>
          </p:txBody>
        </p:sp>
        <p:sp>
          <p:nvSpPr>
            <p:cNvPr id="134" name="TextBox 133"/>
            <p:cNvSpPr txBox="1"/>
            <p:nvPr/>
          </p:nvSpPr>
          <p:spPr>
            <a:xfrm>
              <a:off x="1039536" y="5271289"/>
              <a:ext cx="4148692" cy="165646"/>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reduce 결과는 다시 각 slice 의 RF 로 broadcast 되어, 이후 계산은 slice 안에서 끝난다</a:t>
              </a:r>
            </a:p>
          </p:txBody>
        </p:sp>
      </p:grpSp>
      <p:sp>
        <p:nvSpPr>
          <p:cNvPr id="135" name="Rectangle 134"/>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출력이 슬라이스에 흩어져 있으므로 max 와 sum 모두 슬라이스 간 reduce 가 필요하다.</a:t>
            </a:r>
          </a:p>
        </p:txBody>
      </p:sp>
      <p:sp>
        <p:nvSpPr>
          <p:cNvPr id="136" name="Rectangle 135"/>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softmax — 분산된 QK 위의 4단계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지역 max → 전역 max → exp·부분합 → 전역 sum</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IV-D 절의 VE 는 슬라이스 내부 reduction 과 슬라이스 간 reduction 을 모두 지원하고 exp 를 하드웨어로 계산한다. 그 기능이 여기서 그대로 쓰인다</a:t>
            </a:r>
          </a:p>
          <a:p>
            <a:pPr algn="l">
              <a:lnSpc>
                <a:spcPct val="118000"/>
              </a:lnSpc>
              <a:spcBef>
                <a:spcPts val="600"/>
              </a:spcBef>
              <a:spcAft>
                <a:spcPts val="200"/>
              </a:spcAft>
            </a:pPr>
            <a:r>
              <a:rPr sz="1900" b="0" i="0">
                <a:solidFill>
                  <a:srgbClr val="16202C"/>
                </a:solidFill>
                <a:latin typeface="Segoe UI"/>
                <a:ea typeface="맑은 고딕"/>
                <a:cs typeface="맑은 고딕"/>
              </a:rPr>
              <a:t>▪  max 를 빼는 것은 수치 안정성을 위한 표준 softmax 기법이다. TCP 고유 설계가 아니다</a:t>
            </a:r>
          </a:p>
          <a:p>
            <a:pPr algn="l">
              <a:lnSpc>
                <a:spcPct val="118000"/>
              </a:lnSpc>
              <a:spcBef>
                <a:spcPts val="600"/>
              </a:spcBef>
              <a:spcAft>
                <a:spcPts val="200"/>
              </a:spcAft>
            </a:pPr>
            <a:r>
              <a:rPr sz="1900" b="1" i="0">
                <a:solidFill>
                  <a:srgbClr val="083F80"/>
                </a:solidFill>
                <a:latin typeface="Segoe UI"/>
                <a:ea typeface="맑은 고딕"/>
                <a:cs typeface="맑은 고딕"/>
              </a:rPr>
              <a:t>▪  출력 QK 가 슬라이스에 흩어진 것은 Fig. 10 (c) 의 lowered shape 이 그렇게 정했기 때문이다. 형상 선택이 뒤따르는 연산의 통신량을 결정한다</a:t>
            </a:r>
          </a:p>
          <a:p>
            <a:pPr algn="l">
              <a:lnSpc>
                <a:spcPct val="118000"/>
              </a:lnSpc>
              <a:spcBef>
                <a:spcPts val="600"/>
              </a:spcBef>
              <a:spcAft>
                <a:spcPts val="200"/>
              </a:spcAft>
            </a:pPr>
            <a:r>
              <a:rPr sz="1900" b="0" i="0">
                <a:solidFill>
                  <a:srgbClr val="16202C"/>
                </a:solidFill>
                <a:latin typeface="Segoe UI"/>
                <a:ea typeface="맑은 고딕"/>
                <a:cs typeface="맑은 고딕"/>
              </a:rPr>
              <a:t>▪  예시 구성에서 reduce 는 헤드 하나가 쓰는 16개 슬라이스 사이에서 일어난다</a:t>
            </a:r>
          </a:p>
          <a:p>
            <a:pPr algn="l">
              <a:lnSpc>
                <a:spcPct val="118000"/>
              </a:lnSpc>
              <a:spcBef>
                <a:spcPts val="600"/>
              </a:spcBef>
              <a:spcAft>
                <a:spcPts val="200"/>
              </a:spcAft>
            </a:pPr>
            <a:r>
              <a:rPr sz="1900" b="0" i="0">
                <a:solidFill>
                  <a:srgbClr val="16202C"/>
                </a:solidFill>
                <a:latin typeface="Segoe UI"/>
                <a:ea typeface="맑은 고딕"/>
                <a:cs typeface="맑은 고딕"/>
              </a:rPr>
              <a:t>▪  최종 결과는 각 슬라이스의 DM 으로 commit 되어 이어지는 score × V 축약의 입력이 된다</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B. Attention Layer — score × V 축약의 lowered shape 과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200</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attention 계산 직전 V 적재와, 논문이 제시한 가능한 tactic 하나</a:t>
            </a:r>
          </a:p>
        </p:txBody>
      </p:sp>
      <p:sp>
        <p:nvSpPr>
          <p:cNvPr id="9" name="Rectangle 8"/>
          <p:cNvSpPr/>
          <p:nvPr/>
        </p:nvSpPr>
        <p:spPr>
          <a:xfrm>
            <a:off x="566928" y="1810512"/>
            <a:ext cx="11057839" cy="2213214"/>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7D91A8"/>
                </a:solidFill>
                <a:latin typeface="Consolas"/>
                <a:ea typeface="Consolas"/>
                <a:cs typeface="Consolas"/>
              </a:rPr>
              <a:t># attention 계산 전, V 텐서를 RF 에 적재한다</a:t>
            </a:r>
          </a:p>
          <a:p>
            <a:pPr algn="l">
              <a:lnSpc>
                <a:spcPct val="124000"/>
              </a:lnSpc>
              <a:spcAft>
                <a:spcPts val="0"/>
              </a:spcAft>
            </a:pPr>
            <a:r>
              <a:rPr sz="1500" b="0" i="0">
                <a:solidFill>
                  <a:srgbClr val="E6EDF3"/>
                </a:solidFill>
                <a:latin typeface="Consolas"/>
                <a:ea typeface="Consolas"/>
                <a:cs typeface="Consolas"/>
              </a:rPr>
              <a:t>V         : H^1[4] V^(l/16)[16] | D^1[128] V^1[l/16]</a:t>
            </a:r>
          </a:p>
          <a:p>
            <a:pPr algn="l">
              <a:lnSpc>
                <a:spcPct val="124000"/>
              </a:lnSpc>
              <a:spcAft>
                <a:spcPts val="0"/>
              </a:spcAft>
            </a:pPr>
            <a:r>
              <a:rPr sz="1500" b="0" i="0">
                <a:solidFill>
                  <a:srgbClr val="E6EDF3"/>
                </a:solidFill>
                <a:latin typeface="Consolas"/>
                <a:ea typeface="Consolas"/>
                <a:cs typeface="Consolas"/>
              </a:rPr>
              <a:t>softmax 결과 : H^1[4] K^(l/16)[16] | Q^1[l]   K^1[l/16]</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attention 은 V 와 softmax 의 K 사이의 contraction 이다</a:t>
            </a:r>
          </a:p>
          <a:p>
            <a:pPr algn="l">
              <a:lnSpc>
                <a:spcPct val="124000"/>
              </a:lnSpc>
              <a:spcAft>
                <a:spcPts val="0"/>
              </a:spcAft>
            </a:pPr>
            <a:r>
              <a:rPr sz="1500" b="0" i="0">
                <a:solidFill>
                  <a:srgbClr val="E6EDF3"/>
                </a:solidFill>
                <a:latin typeface="Consolas"/>
                <a:ea typeface="Consolas"/>
                <a:cs typeface="Consolas"/>
              </a:rPr>
              <a:t>tactic    : H^1[4] V^(l/16)[16] | Q^1[l] D^8[16] D^1[8] V^1[l/16]</a:t>
            </a:r>
          </a:p>
        </p:txBody>
      </p:sp>
      <p:sp>
        <p:nvSpPr>
          <p:cNvPr id="10" name="TextBox 9"/>
          <p:cNvSpPr txBox="1"/>
          <p:nvPr/>
        </p:nvSpPr>
        <p:spPr>
          <a:xfrm>
            <a:off x="566928" y="4188318"/>
            <a:ext cx="11057839" cy="160897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V 는 벡터 인덱스 축을 뜻하며, 각 DPE 가 V^1[l/16] 을 축약한다 (최내곽 항)</a:t>
            </a:r>
          </a:p>
          <a:p>
            <a:pPr algn="l">
              <a:lnSpc>
                <a:spcPct val="118000"/>
              </a:lnSpc>
              <a:spcBef>
                <a:spcPts val="600"/>
              </a:spcBef>
              <a:spcAft>
                <a:spcPts val="200"/>
              </a:spcAft>
            </a:pPr>
            <a:r>
              <a:rPr sz="1400" b="0" i="0">
                <a:solidFill>
                  <a:srgbClr val="16202C"/>
                </a:solidFill>
                <a:latin typeface="Segoe UI"/>
                <a:ea typeface="맑은 고딕"/>
                <a:cs typeface="맑은 고딕"/>
              </a:rPr>
              <a:t>▪  D^8[16] 과 D^1[8]: 입력 데이터 한 덩어리가 8개 DPE 에 동일하게 16번 공급된다</a:t>
            </a:r>
          </a:p>
          <a:p>
            <a:pPr algn="l">
              <a:lnSpc>
                <a:spcPct val="118000"/>
              </a:lnSpc>
              <a:spcBef>
                <a:spcPts val="600"/>
              </a:spcBef>
              <a:spcAft>
                <a:spcPts val="200"/>
              </a:spcAft>
            </a:pPr>
            <a:r>
              <a:rPr sz="1400" b="0" i="0">
                <a:solidFill>
                  <a:srgbClr val="16202C"/>
                </a:solidFill>
                <a:latin typeface="Segoe UI"/>
                <a:ea typeface="맑은 고딕"/>
                <a:cs typeface="맑은 고딕"/>
              </a:rPr>
              <a:t>▪  그 결과 총 128회의 입력 재사용(input reuse)이 발생한다 (8 × 16 = 128)</a:t>
            </a:r>
          </a:p>
          <a:p>
            <a:pPr algn="l">
              <a:lnSpc>
                <a:spcPct val="118000"/>
              </a:lnSpc>
              <a:spcBef>
                <a:spcPts val="600"/>
              </a:spcBef>
              <a:spcAft>
                <a:spcPts val="200"/>
              </a:spcAft>
            </a:pPr>
            <a:r>
              <a:rPr sz="1400" b="0" i="0">
                <a:solidFill>
                  <a:srgbClr val="16202C"/>
                </a:solidFill>
                <a:latin typeface="Segoe UI"/>
                <a:ea typeface="맑은 고딕"/>
                <a:cs typeface="맑은 고딕"/>
              </a:rPr>
              <a:t>▪  CE(Contraction Engine, 축약 엔진)의 출력은 VE 로 전달되고, 출력의 lowered shape 에 따라 슬라이스 간에 reduce 된다</a:t>
            </a:r>
          </a:p>
          <a:p>
            <a:pPr algn="l">
              <a:lnSpc>
                <a:spcPct val="118000"/>
              </a:lnSpc>
              <a:spcBef>
                <a:spcPts val="600"/>
              </a:spcBef>
              <a:spcAft>
                <a:spcPts val="200"/>
              </a:spcAft>
            </a:pPr>
            <a:r>
              <a:rPr sz="1400" b="0" i="0">
                <a:solidFill>
                  <a:srgbClr val="16202C"/>
                </a:solidFill>
                <a:latin typeface="Segoe UI"/>
                <a:ea typeface="맑은 고딕"/>
                <a:cs typeface="맑은 고딕"/>
              </a:rPr>
              <a:t>▪  논문은 이것을 "a possible tactic"(가능한 tactic 중 하나)이라고 명시한다. 유일한 최적해가 아니다</a:t>
            </a:r>
          </a:p>
        </p:txBody>
      </p:sp>
      <p:sp>
        <p:nvSpPr>
          <p:cNvPr id="11" name="Rectangle 1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입력 한 덩어리가 8개 DPE 에 16번 동일 공급되어 총 128회 재사용된다.</a:t>
            </a:r>
          </a:p>
        </p:txBody>
      </p:sp>
      <p:sp>
        <p:nvSpPr>
          <p:cNvPr id="12" name="Rectangle 1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201</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각주 1 — Q, K, V 축 표기에 대한 주의</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Q, K, V 는 사실 모두 같은 벡터 인덱스이며, 원래는 L 처럼 하나의 축으로 표기해야 한다. 이 예시에서는 가독성을 위해 Q, K, V 를 따로 썼다.</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C. Feed Forward — FFN 이 어려운 이유</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FFN(Feed Forward Network, 순방향 신경망) 층은 본질적으로 행렬 곱들로 구성된다</a:t>
            </a:r>
          </a:p>
          <a:p>
            <a:pPr algn="l">
              <a:lnSpc>
                <a:spcPct val="118000"/>
              </a:lnSpc>
              <a:spcBef>
                <a:spcPts val="600"/>
              </a:spcBef>
              <a:spcAft>
                <a:spcPts val="200"/>
              </a:spcAft>
            </a:pPr>
            <a:r>
              <a:rPr sz="1900" b="1" i="0">
                <a:solidFill>
                  <a:srgbClr val="083F80"/>
                </a:solidFill>
                <a:latin typeface="Segoe UI"/>
                <a:ea typeface="맑은 고딕"/>
                <a:cs typeface="맑은 고딕"/>
              </a:rPr>
              <a:t>▪  문제 1 — 가중치 양</a:t>
            </a:r>
          </a:p>
          <a:p>
            <a:pPr algn="l">
              <a:lnSpc>
                <a:spcPct val="118000"/>
              </a:lnSpc>
              <a:spcBef>
                <a:spcPts val="200"/>
              </a:spcBef>
              <a:spcAft>
                <a:spcPts val="100"/>
              </a:spcAft>
            </a:pPr>
            <a:r>
              <a:rPr sz="1780" b="0" i="0">
                <a:solidFill>
                  <a:srgbClr val="2C3A4B"/>
                </a:solidFill>
                <a:latin typeface="Segoe UI"/>
                <a:ea typeface="맑은 고딕"/>
                <a:cs typeface="맑은 고딕"/>
              </a:rPr>
              <a:t>–  중간 차원 F 는 attention 출력의 차원보다 2.7배 크다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큰 MLP 가중치 집합이 필요하고, 이것이 상당한 양의 HBM read traffic(읽기 트래픽)을 유발한다</a:t>
            </a:r>
          </a:p>
          <a:p>
            <a:pPr algn="l">
              <a:lnSpc>
                <a:spcPct val="118000"/>
              </a:lnSpc>
              <a:spcBef>
                <a:spcPts val="600"/>
              </a:spcBef>
              <a:spcAft>
                <a:spcPts val="200"/>
              </a:spcAft>
            </a:pPr>
            <a:r>
              <a:rPr sz="1900" b="1" i="0">
                <a:solidFill>
                  <a:srgbClr val="083F80"/>
                </a:solidFill>
                <a:latin typeface="Segoe UI"/>
                <a:ea typeface="맑은 고딕"/>
                <a:cs typeface="맑은 고딕"/>
              </a:rPr>
              <a:t>▪  문제 2 — 정렬(alignment)</a:t>
            </a:r>
          </a:p>
          <a:p>
            <a:pPr algn="l">
              <a:lnSpc>
                <a:spcPct val="118000"/>
              </a:lnSpc>
              <a:spcBef>
                <a:spcPts val="200"/>
              </a:spcBef>
              <a:spcAft>
                <a:spcPts val="100"/>
              </a:spcAft>
            </a:pPr>
            <a:r>
              <a:rPr sz="1780" b="0" i="0">
                <a:solidFill>
                  <a:srgbClr val="2C3A4B"/>
                </a:solidFill>
                <a:latin typeface="Segoe UI"/>
                <a:ea typeface="맑은 고딕"/>
                <a:cs typeface="맑은 고딕"/>
              </a:rPr>
              <a:t>–  F 는 2의 거듭제곱이 아니다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중간 벡터에 padding(패딩)을 넣어야 하고, 그만큼 하드웨어 이용률이 떨어진다</a:t>
            </a:r>
          </a:p>
          <a:p>
            <a:pPr algn="l">
              <a:lnSpc>
                <a:spcPct val="118000"/>
              </a:lnSpc>
              <a:spcBef>
                <a:spcPts val="200"/>
              </a:spcBef>
              <a:spcAft>
                <a:spcPts val="100"/>
              </a:spcAft>
            </a:pPr>
            <a:r>
              <a:rPr sz="1780" b="0" i="0">
                <a:solidFill>
                  <a:srgbClr val="2C3A4B"/>
                </a:solidFill>
                <a:latin typeface="Segoe UI"/>
                <a:ea typeface="맑은 고딕"/>
                <a:cs typeface="맑은 고딕"/>
              </a:rPr>
              <a:t>–  V-B 절에서 설명한 대로, 슬라이스 내부 마지막 차원이 DPE 폭과 맞지 않으면 이용률이 그만큼 낮아진다</a:t>
            </a:r>
          </a:p>
          <a:p>
            <a:pPr algn="l">
              <a:lnSpc>
                <a:spcPct val="118000"/>
              </a:lnSpc>
              <a:spcBef>
                <a:spcPts val="600"/>
              </a:spcBef>
              <a:spcAft>
                <a:spcPts val="200"/>
              </a:spcAft>
            </a:pPr>
            <a:r>
              <a:rPr sz="1900" b="0" i="0">
                <a:solidFill>
                  <a:srgbClr val="16202C"/>
                </a:solidFill>
                <a:latin typeface="Segoe UI"/>
                <a:ea typeface="맑은 고딕"/>
                <a:cs typeface="맑은 고딕"/>
              </a:rPr>
              <a:t>▪  논문은 2.7배라는 비율만 밝히고 E, F 의 절대값은 적지 않았다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F 가 attention 출력의 2.7배이고 2의 거듭제곱도 아니다. 대역폭과 이용률 양쪽에서 불리하다.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FFN — 3등분 prefetch 와 SiLU 체인 융합</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전송을 계산 뒤로 숨기고, 중간 텐서의 DM 왕복을 없앤다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203</a:t>
            </a:r>
          </a:p>
        </p:txBody>
      </p:sp>
      <p:grpSp>
        <p:nvGrpSpPr>
          <p:cNvPr id="9" name="도해 A7#17"/>
          <p:cNvGrpSpPr/>
          <p:nvPr/>
        </p:nvGrpSpPr>
        <p:grpSpPr>
          <a:xfrm>
            <a:off x="985291" y="1463040"/>
            <a:ext cx="10221113" cy="4078224"/>
            <a:chOff x="985291" y="1463040"/>
            <a:chExt cx="10221113" cy="4078224"/>
          </a:xfrm>
        </p:grpSpPr>
        <p:sp>
          <p:nvSpPr>
            <p:cNvPr id="10" name="TextBox 9"/>
            <p:cNvSpPr txBox="1"/>
            <p:nvPr/>
          </p:nvSpPr>
          <p:spPr>
            <a:xfrm>
              <a:off x="985291" y="1463040"/>
              <a:ext cx="3558147" cy="209133"/>
            </a:xfrm>
            <a:prstGeom prst="rect">
              <a:avLst/>
            </a:prstGeom>
            <a:noFill/>
          </p:spPr>
          <p:txBody>
            <a:bodyPr wrap="none" anchor="ctr" lIns="0" rIns="0" tIns="0" bIns="0">
              <a:noAutofit/>
            </a:bodyPr>
            <a:lstStyle/>
            <a:p>
              <a:pPr algn="l"/>
              <a:r>
                <a:rPr sz="1140" b="1">
                  <a:solidFill>
                    <a:srgbClr val="083F80"/>
                  </a:solidFill>
                  <a:latin typeface="맑은 고딕"/>
                  <a:ea typeface="맑은 고딕"/>
                  <a:cs typeface="맑은 고딕"/>
                </a:rPr>
                <a:t>① MLP 가중치를 E x F/3 로 3등분해 계산과 전송을 겹친다</a:t>
              </a:r>
            </a:p>
          </p:txBody>
        </p:sp>
        <p:sp>
          <p:nvSpPr>
            <p:cNvPr id="11" name="TextBox 10"/>
            <p:cNvSpPr txBox="1"/>
            <p:nvPr/>
          </p:nvSpPr>
          <p:spPr>
            <a:xfrm>
              <a:off x="1029731" y="1784116"/>
              <a:ext cx="917717" cy="168915"/>
            </a:xfrm>
            <a:prstGeom prst="rect">
              <a:avLst/>
            </a:prstGeom>
            <a:noFill/>
          </p:spPr>
          <p:txBody>
            <a:bodyPr wrap="none" anchor="ctr" lIns="0" rIns="0" tIns="0" bIns="0">
              <a:noAutofit/>
            </a:bodyPr>
            <a:lstStyle/>
            <a:p>
              <a:pPr algn="l"/>
              <a:r>
                <a:rPr sz="919" b="0">
                  <a:solidFill>
                    <a:srgbClr val="5B6B7B"/>
                  </a:solidFill>
                  <a:latin typeface="맑은 고딕"/>
                  <a:ea typeface="맑은 고딕"/>
                  <a:cs typeface="맑은 고딕"/>
                </a:rPr>
                <a:t>MLP 가중치  E x F</a:t>
              </a:r>
            </a:p>
          </p:txBody>
        </p:sp>
        <p:sp>
          <p:nvSpPr>
            <p:cNvPr id="12" name="Rectangle 11"/>
            <p:cNvSpPr/>
            <p:nvPr/>
          </p:nvSpPr>
          <p:spPr>
            <a:xfrm>
              <a:off x="1029731" y="2008314"/>
              <a:ext cx="622155" cy="1110991"/>
            </a:xfrm>
            <a:prstGeom prst="rect">
              <a:avLst/>
            </a:prstGeom>
            <a:solidFill>
              <a:srgbClr val="CBE0F7"/>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2204" y="2462931"/>
              <a:ext cx="137207" cy="209133"/>
            </a:xfrm>
            <a:prstGeom prst="rect">
              <a:avLst/>
            </a:prstGeom>
            <a:noFill/>
          </p:spPr>
          <p:txBody>
            <a:bodyPr wrap="none" anchor="ctr" lIns="0" rIns="0" tIns="0" bIns="0">
              <a:noAutofit/>
            </a:bodyPr>
            <a:lstStyle/>
            <a:p>
              <a:pPr algn="ctr"/>
              <a:r>
                <a:rPr sz="1140" b="1">
                  <a:solidFill>
                    <a:srgbClr val="083F80"/>
                  </a:solidFill>
                  <a:latin typeface="맑은 고딕"/>
                  <a:ea typeface="맑은 고딕"/>
                  <a:cs typeface="맑은 고딕"/>
                </a:rPr>
                <a:t>1</a:t>
              </a:r>
            </a:p>
          </p:txBody>
        </p:sp>
        <p:sp>
          <p:nvSpPr>
            <p:cNvPr id="14" name="Rectangle 13"/>
            <p:cNvSpPr/>
            <p:nvPr/>
          </p:nvSpPr>
          <p:spPr>
            <a:xfrm>
              <a:off x="1651885" y="2008314"/>
              <a:ext cx="622155" cy="1110991"/>
            </a:xfrm>
            <a:prstGeom prst="rect">
              <a:avLst/>
            </a:prstGeom>
            <a:solidFill>
              <a:srgbClr val="DCEBF9"/>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94359" y="2462931"/>
              <a:ext cx="137207" cy="209133"/>
            </a:xfrm>
            <a:prstGeom prst="rect">
              <a:avLst/>
            </a:prstGeom>
            <a:noFill/>
          </p:spPr>
          <p:txBody>
            <a:bodyPr wrap="none" anchor="ctr" lIns="0" rIns="0" tIns="0" bIns="0">
              <a:noAutofit/>
            </a:bodyPr>
            <a:lstStyle/>
            <a:p>
              <a:pPr algn="ctr"/>
              <a:r>
                <a:rPr sz="1140" b="1">
                  <a:solidFill>
                    <a:srgbClr val="083F80"/>
                  </a:solidFill>
                  <a:latin typeface="맑은 고딕"/>
                  <a:ea typeface="맑은 고딕"/>
                  <a:cs typeface="맑은 고딕"/>
                </a:rPr>
                <a:t>2</a:t>
              </a:r>
            </a:p>
          </p:txBody>
        </p:sp>
        <p:sp>
          <p:nvSpPr>
            <p:cNvPr id="16" name="Rectangle 15"/>
            <p:cNvSpPr/>
            <p:nvPr/>
          </p:nvSpPr>
          <p:spPr>
            <a:xfrm>
              <a:off x="2274040" y="2008314"/>
              <a:ext cx="622155" cy="1110991"/>
            </a:xfrm>
            <a:prstGeom prst="rect">
              <a:avLst/>
            </a:prstGeom>
            <a:solidFill>
              <a:srgbClr val="B8D4F3"/>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6514" y="2462931"/>
              <a:ext cx="137207" cy="209133"/>
            </a:xfrm>
            <a:prstGeom prst="rect">
              <a:avLst/>
            </a:prstGeom>
            <a:noFill/>
          </p:spPr>
          <p:txBody>
            <a:bodyPr wrap="none" anchor="ctr" lIns="0" rIns="0" tIns="0" bIns="0">
              <a:noAutofit/>
            </a:bodyPr>
            <a:lstStyle/>
            <a:p>
              <a:pPr algn="ctr"/>
              <a:r>
                <a:rPr sz="1140" b="1">
                  <a:solidFill>
                    <a:srgbClr val="083F80"/>
                  </a:solidFill>
                  <a:latin typeface="맑은 고딕"/>
                  <a:ea typeface="맑은 고딕"/>
                  <a:cs typeface="맑은 고딕"/>
                </a:rPr>
                <a:t>3</a:t>
              </a:r>
            </a:p>
          </p:txBody>
        </p:sp>
        <p:sp>
          <p:nvSpPr>
            <p:cNvPr id="18" name="TextBox 17"/>
            <p:cNvSpPr txBox="1"/>
            <p:nvPr/>
          </p:nvSpPr>
          <p:spPr>
            <a:xfrm>
              <a:off x="1557285" y="3190408"/>
              <a:ext cx="811356" cy="160871"/>
            </a:xfrm>
            <a:prstGeom prst="rect">
              <a:avLst/>
            </a:prstGeom>
            <a:noFill/>
          </p:spPr>
          <p:txBody>
            <a:bodyPr wrap="none" anchor="ctr" lIns="0" rIns="0" tIns="0" bIns="0">
              <a:noAutofit/>
            </a:bodyPr>
            <a:lstStyle/>
            <a:p>
              <a:pPr algn="ctr"/>
              <a:r>
                <a:rPr sz="869" b="0">
                  <a:solidFill>
                    <a:srgbClr val="5B6B7B"/>
                  </a:solidFill>
                  <a:latin typeface="맑은 고딕"/>
                  <a:ea typeface="맑은 고딕"/>
                  <a:cs typeface="맑은 고딕"/>
                </a:rPr>
                <a:t>각 조각 = E x F/3</a:t>
              </a:r>
            </a:p>
          </p:txBody>
        </p:sp>
        <p:cxnSp>
          <p:nvCxnSpPr>
            <p:cNvPr id="19" name="Connector 18"/>
            <p:cNvCxnSpPr/>
            <p:nvPr/>
          </p:nvCxnSpPr>
          <p:spPr>
            <a:xfrm>
              <a:off x="3140613" y="1808336"/>
              <a:ext cx="0" cy="1599826"/>
            </a:xfrm>
            <a:prstGeom prst="line">
              <a:avLst/>
            </a:prstGeom>
            <a:ln w="15553">
              <a:solidFill>
                <a:srgbClr val="D6DE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12511" y="2206293"/>
              <a:ext cx="372476" cy="168915"/>
            </a:xfrm>
            <a:prstGeom prst="rect">
              <a:avLst/>
            </a:prstGeom>
            <a:noFill/>
          </p:spPr>
          <p:txBody>
            <a:bodyPr wrap="none" anchor="ctr" lIns="0" rIns="0" tIns="0" bIns="0">
              <a:noAutofit/>
            </a:bodyPr>
            <a:lstStyle/>
            <a:p>
              <a:pPr algn="r"/>
              <a:r>
                <a:rPr sz="919" b="1">
                  <a:solidFill>
                    <a:srgbClr val="B45409"/>
                  </a:solidFill>
                  <a:latin typeface="맑은 고딕"/>
                  <a:ea typeface="맑은 고딕"/>
                  <a:cs typeface="맑은 고딕"/>
                </a:rPr>
                <a:t>TDMA</a:t>
              </a:r>
            </a:p>
          </p:txBody>
        </p:sp>
        <p:sp>
          <p:nvSpPr>
            <p:cNvPr id="21" name="TextBox 20"/>
            <p:cNvSpPr txBox="1"/>
            <p:nvPr/>
          </p:nvSpPr>
          <p:spPr>
            <a:xfrm>
              <a:off x="3266643" y="2381163"/>
              <a:ext cx="518344" cy="144784"/>
            </a:xfrm>
            <a:prstGeom prst="rect">
              <a:avLst/>
            </a:prstGeom>
            <a:noFill/>
          </p:spPr>
          <p:txBody>
            <a:bodyPr wrap="none" anchor="ctr" lIns="0" rIns="0" tIns="0" bIns="0">
              <a:noAutofit/>
            </a:bodyPr>
            <a:lstStyle/>
            <a:p>
              <a:pPr algn="r"/>
              <a:r>
                <a:rPr sz="790" b="0">
                  <a:solidFill>
                    <a:srgbClr val="5B6B7B"/>
                  </a:solidFill>
                  <a:latin typeface="맑은 고딕"/>
                  <a:ea typeface="맑은 고딕"/>
                  <a:cs typeface="맑은 고딕"/>
                </a:rPr>
                <a:t>가중치 전송</a:t>
              </a:r>
            </a:p>
          </p:txBody>
        </p:sp>
        <p:sp>
          <p:nvSpPr>
            <p:cNvPr id="22" name="TextBox 21"/>
            <p:cNvSpPr txBox="1"/>
            <p:nvPr/>
          </p:nvSpPr>
          <p:spPr>
            <a:xfrm>
              <a:off x="3582826" y="2806228"/>
              <a:ext cx="202161" cy="168915"/>
            </a:xfrm>
            <a:prstGeom prst="rect">
              <a:avLst/>
            </a:prstGeom>
            <a:noFill/>
          </p:spPr>
          <p:txBody>
            <a:bodyPr wrap="none" anchor="ctr" lIns="0" rIns="0" tIns="0" bIns="0">
              <a:noAutofit/>
            </a:bodyPr>
            <a:lstStyle/>
            <a:p>
              <a:pPr algn="r"/>
              <a:r>
                <a:rPr sz="919" b="1">
                  <a:solidFill>
                    <a:srgbClr val="0B5FC0"/>
                  </a:solidFill>
                  <a:latin typeface="맑은 고딕"/>
                  <a:ea typeface="맑은 고딕"/>
                  <a:cs typeface="맑은 고딕"/>
                </a:rPr>
                <a:t>TU</a:t>
              </a:r>
            </a:p>
          </p:txBody>
        </p:sp>
        <p:sp>
          <p:nvSpPr>
            <p:cNvPr id="23" name="TextBox 22"/>
            <p:cNvSpPr txBox="1"/>
            <p:nvPr/>
          </p:nvSpPr>
          <p:spPr>
            <a:xfrm>
              <a:off x="3565011" y="2981097"/>
              <a:ext cx="219976" cy="144784"/>
            </a:xfrm>
            <a:prstGeom prst="rect">
              <a:avLst/>
            </a:prstGeom>
            <a:noFill/>
          </p:spPr>
          <p:txBody>
            <a:bodyPr wrap="none" anchor="ctr" lIns="0" rIns="0" tIns="0" bIns="0">
              <a:noAutofit/>
            </a:bodyPr>
            <a:lstStyle/>
            <a:p>
              <a:pPr algn="r"/>
              <a:r>
                <a:rPr sz="790" b="0">
                  <a:solidFill>
                    <a:srgbClr val="5B6B7B"/>
                  </a:solidFill>
                  <a:latin typeface="맑은 고딕"/>
                  <a:ea typeface="맑은 고딕"/>
                  <a:cs typeface="맑은 고딕"/>
                </a:rPr>
                <a:t>연산</a:t>
              </a:r>
            </a:p>
          </p:txBody>
        </p:sp>
        <p:sp>
          <p:nvSpPr>
            <p:cNvPr id="24" name="Rounded Rectangle 23"/>
            <p:cNvSpPr/>
            <p:nvPr/>
          </p:nvSpPr>
          <p:spPr>
            <a:xfrm>
              <a:off x="3896086" y="2141633"/>
              <a:ext cx="1422068" cy="377737"/>
            </a:xfrm>
            <a:prstGeom prst="roundRect">
              <a:avLst>
                <a:gd name="adj" fmla="val 14705"/>
              </a:avLst>
            </a:prstGeom>
            <a:solidFill>
              <a:srgbClr val="FDEBD3"/>
            </a:solidFill>
            <a:ln w="1555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234" y="2250732"/>
              <a:ext cx="399773" cy="168915"/>
            </a:xfrm>
            <a:prstGeom prst="rect">
              <a:avLst/>
            </a:prstGeom>
            <a:noFill/>
          </p:spPr>
          <p:txBody>
            <a:bodyPr wrap="none" anchor="ctr" lIns="0" rIns="0" tIns="0" bIns="0">
              <a:noAutofit/>
            </a:bodyPr>
            <a:lstStyle/>
            <a:p>
              <a:pPr algn="ctr"/>
              <a:r>
                <a:rPr sz="919" b="1">
                  <a:solidFill>
                    <a:srgbClr val="B45409"/>
                  </a:solidFill>
                  <a:latin typeface="맑은 고딕"/>
                  <a:ea typeface="맑은 고딕"/>
                  <a:cs typeface="맑은 고딕"/>
                </a:rPr>
                <a:t>① 전송</a:t>
              </a:r>
            </a:p>
          </p:txBody>
        </p:sp>
        <p:sp>
          <p:nvSpPr>
            <p:cNvPr id="26" name="Rounded Rectangle 25"/>
            <p:cNvSpPr/>
            <p:nvPr/>
          </p:nvSpPr>
          <p:spPr>
            <a:xfrm>
              <a:off x="5362594" y="2141633"/>
              <a:ext cx="1422068" cy="377737"/>
            </a:xfrm>
            <a:prstGeom prst="roundRect">
              <a:avLst>
                <a:gd name="adj" fmla="val 14705"/>
              </a:avLst>
            </a:prstGeom>
            <a:solidFill>
              <a:srgbClr val="FDEBD3"/>
            </a:solidFill>
            <a:ln w="1555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39472" y="2250732"/>
              <a:ext cx="668311" cy="168915"/>
            </a:xfrm>
            <a:prstGeom prst="rect">
              <a:avLst/>
            </a:prstGeom>
            <a:noFill/>
          </p:spPr>
          <p:txBody>
            <a:bodyPr wrap="none" anchor="ctr" lIns="0" rIns="0" tIns="0" bIns="0">
              <a:noAutofit/>
            </a:bodyPr>
            <a:lstStyle/>
            <a:p>
              <a:pPr algn="ctr"/>
              <a:r>
                <a:rPr sz="919" b="1">
                  <a:solidFill>
                    <a:srgbClr val="B45409"/>
                  </a:solidFill>
                  <a:latin typeface="맑은 고딕"/>
                  <a:ea typeface="맑은 고딕"/>
                  <a:cs typeface="맑은 고딕"/>
                </a:rPr>
                <a:t>② prefetch</a:t>
              </a:r>
            </a:p>
          </p:txBody>
        </p:sp>
        <p:sp>
          <p:nvSpPr>
            <p:cNvPr id="28" name="Rounded Rectangle 27"/>
            <p:cNvSpPr/>
            <p:nvPr/>
          </p:nvSpPr>
          <p:spPr>
            <a:xfrm>
              <a:off x="6829101" y="2141633"/>
              <a:ext cx="1422068" cy="377737"/>
            </a:xfrm>
            <a:prstGeom prst="roundRect">
              <a:avLst>
                <a:gd name="adj" fmla="val 14705"/>
              </a:avLst>
            </a:prstGeom>
            <a:solidFill>
              <a:srgbClr val="FDEBD3"/>
            </a:solidFill>
            <a:ln w="1555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05980" y="2250732"/>
              <a:ext cx="668311" cy="168915"/>
            </a:xfrm>
            <a:prstGeom prst="rect">
              <a:avLst/>
            </a:prstGeom>
            <a:noFill/>
          </p:spPr>
          <p:txBody>
            <a:bodyPr wrap="none" anchor="ctr" lIns="0" rIns="0" tIns="0" bIns="0">
              <a:noAutofit/>
            </a:bodyPr>
            <a:lstStyle/>
            <a:p>
              <a:pPr algn="ctr"/>
              <a:r>
                <a:rPr sz="919" b="1">
                  <a:solidFill>
                    <a:srgbClr val="B45409"/>
                  </a:solidFill>
                  <a:latin typeface="맑은 고딕"/>
                  <a:ea typeface="맑은 고딕"/>
                  <a:cs typeface="맑은 고딕"/>
                </a:rPr>
                <a:t>③ prefetch</a:t>
              </a:r>
            </a:p>
          </p:txBody>
        </p:sp>
        <p:sp>
          <p:nvSpPr>
            <p:cNvPr id="30" name="Rounded Rectangle 29"/>
            <p:cNvSpPr/>
            <p:nvPr/>
          </p:nvSpPr>
          <p:spPr>
            <a:xfrm>
              <a:off x="5362594" y="2741568"/>
              <a:ext cx="1422068" cy="377737"/>
            </a:xfrm>
            <a:prstGeom prst="roundRect">
              <a:avLst>
                <a:gd name="adj" fmla="val 14705"/>
              </a:avLst>
            </a:prstGeom>
            <a:solidFill>
              <a:srgbClr val="CBE0F7"/>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73741" y="2850667"/>
              <a:ext cx="399773" cy="168915"/>
            </a:xfrm>
            <a:prstGeom prst="rect">
              <a:avLst/>
            </a:prstGeom>
            <a:noFill/>
          </p:spPr>
          <p:txBody>
            <a:bodyPr wrap="none" anchor="ctr" lIns="0" rIns="0" tIns="0" bIns="0">
              <a:noAutofit/>
            </a:bodyPr>
            <a:lstStyle/>
            <a:p>
              <a:pPr algn="ctr"/>
              <a:r>
                <a:rPr sz="919" b="1">
                  <a:solidFill>
                    <a:srgbClr val="083F80"/>
                  </a:solidFill>
                  <a:latin typeface="맑은 고딕"/>
                  <a:ea typeface="맑은 고딕"/>
                  <a:cs typeface="맑은 고딕"/>
                </a:rPr>
                <a:t>① 계산</a:t>
              </a:r>
            </a:p>
          </p:txBody>
        </p:sp>
        <p:sp>
          <p:nvSpPr>
            <p:cNvPr id="32" name="Rounded Rectangle 31"/>
            <p:cNvSpPr/>
            <p:nvPr/>
          </p:nvSpPr>
          <p:spPr>
            <a:xfrm>
              <a:off x="6829101" y="2741568"/>
              <a:ext cx="1422068" cy="377737"/>
            </a:xfrm>
            <a:prstGeom prst="roundRect">
              <a:avLst>
                <a:gd name="adj" fmla="val 14705"/>
              </a:avLst>
            </a:prstGeom>
            <a:solidFill>
              <a:srgbClr val="CBE0F7"/>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40249" y="2850667"/>
              <a:ext cx="399773" cy="168915"/>
            </a:xfrm>
            <a:prstGeom prst="rect">
              <a:avLst/>
            </a:prstGeom>
            <a:noFill/>
          </p:spPr>
          <p:txBody>
            <a:bodyPr wrap="none" anchor="ctr" lIns="0" rIns="0" tIns="0" bIns="0">
              <a:noAutofit/>
            </a:bodyPr>
            <a:lstStyle/>
            <a:p>
              <a:pPr algn="ctr"/>
              <a:r>
                <a:rPr sz="919" b="1">
                  <a:solidFill>
                    <a:srgbClr val="083F80"/>
                  </a:solidFill>
                  <a:latin typeface="맑은 고딕"/>
                  <a:ea typeface="맑은 고딕"/>
                  <a:cs typeface="맑은 고딕"/>
                </a:rPr>
                <a:t>② 계산</a:t>
              </a:r>
            </a:p>
          </p:txBody>
        </p:sp>
        <p:sp>
          <p:nvSpPr>
            <p:cNvPr id="34" name="Rounded Rectangle 33"/>
            <p:cNvSpPr/>
            <p:nvPr/>
          </p:nvSpPr>
          <p:spPr>
            <a:xfrm>
              <a:off x="8295609" y="2741568"/>
              <a:ext cx="1422068" cy="377737"/>
            </a:xfrm>
            <a:prstGeom prst="roundRect">
              <a:avLst>
                <a:gd name="adj" fmla="val 14705"/>
              </a:avLst>
            </a:prstGeom>
            <a:solidFill>
              <a:srgbClr val="CBE0F7"/>
            </a:solidFill>
            <a:ln w="1555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06756" y="2850667"/>
              <a:ext cx="399773" cy="168915"/>
            </a:xfrm>
            <a:prstGeom prst="rect">
              <a:avLst/>
            </a:prstGeom>
            <a:noFill/>
          </p:spPr>
          <p:txBody>
            <a:bodyPr wrap="none" anchor="ctr" lIns="0" rIns="0" tIns="0" bIns="0">
              <a:noAutofit/>
            </a:bodyPr>
            <a:lstStyle/>
            <a:p>
              <a:pPr algn="ctr"/>
              <a:r>
                <a:rPr sz="919" b="1">
                  <a:solidFill>
                    <a:srgbClr val="083F80"/>
                  </a:solidFill>
                  <a:latin typeface="맑은 고딕"/>
                  <a:ea typeface="맑은 고딕"/>
                  <a:cs typeface="맑은 고딕"/>
                </a:rPr>
                <a:t>③ 계산</a:t>
              </a:r>
            </a:p>
          </p:txBody>
        </p:sp>
        <p:sp>
          <p:nvSpPr>
            <p:cNvPr id="36" name="Rounded Rectangle 35"/>
            <p:cNvSpPr/>
            <p:nvPr/>
          </p:nvSpPr>
          <p:spPr>
            <a:xfrm>
              <a:off x="5318154" y="2097193"/>
              <a:ext cx="1510947" cy="1066551"/>
            </a:xfrm>
            <a:prstGeom prst="roundRect">
              <a:avLst>
                <a:gd name="adj" fmla="val 6250"/>
              </a:avLst>
            </a:prstGeom>
            <a:noFill/>
            <a:ln w="22219">
              <a:solidFill>
                <a:srgbClr val="1A7F3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00313" y="3234848"/>
              <a:ext cx="346629" cy="160871"/>
            </a:xfrm>
            <a:prstGeom prst="rect">
              <a:avLst/>
            </a:prstGeom>
            <a:noFill/>
          </p:spPr>
          <p:txBody>
            <a:bodyPr wrap="none" anchor="ctr" lIns="0" rIns="0" tIns="0" bIns="0">
              <a:noAutofit/>
            </a:bodyPr>
            <a:lstStyle/>
            <a:p>
              <a:pPr algn="ctr"/>
              <a:r>
                <a:rPr sz="869" b="1">
                  <a:solidFill>
                    <a:srgbClr val="1A7F37"/>
                  </a:solidFill>
                  <a:latin typeface="맑은 고딕"/>
                  <a:ea typeface="맑은 고딕"/>
                  <a:cs typeface="맑은 고딕"/>
                </a:rPr>
                <a:t>겹친다</a:t>
              </a:r>
            </a:p>
          </p:txBody>
        </p:sp>
        <p:cxnSp>
          <p:nvCxnSpPr>
            <p:cNvPr id="38" name="Connector 37"/>
            <p:cNvCxnSpPr/>
            <p:nvPr/>
          </p:nvCxnSpPr>
          <p:spPr>
            <a:xfrm>
              <a:off x="3896086" y="3474822"/>
              <a:ext cx="6643724" cy="0"/>
            </a:xfrm>
            <a:prstGeom prst="line">
              <a:avLst/>
            </a:prstGeom>
            <a:ln w="15553">
              <a:solidFill>
                <a:srgbClr val="5B6B7B"/>
              </a:solidFill>
            </a:ln>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10517590" y="3419272"/>
              <a:ext cx="155538" cy="111099"/>
            </a:xfrm>
            <a:custGeom>
              <a:avLst/>
              <a:gdLst/>
              <a:ahLst/>
              <a:cxnLst/>
              <a:rect l="l" t="t" r="r" b="b"/>
              <a:pathLst>
                <a:path w="155538" h="111099">
                  <a:moveTo>
                    <a:pt x="0" y="0"/>
                  </a:moveTo>
                  <a:lnTo>
                    <a:pt x="155538" y="55550"/>
                  </a:lnTo>
                  <a:lnTo>
                    <a:pt x="0" y="111099"/>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62008" y="3390386"/>
              <a:ext cx="244418" cy="160871"/>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시간</a:t>
              </a:r>
            </a:p>
          </p:txBody>
        </p:sp>
        <p:cxnSp>
          <p:nvCxnSpPr>
            <p:cNvPr id="41" name="Connector 40"/>
            <p:cNvCxnSpPr/>
            <p:nvPr/>
          </p:nvCxnSpPr>
          <p:spPr>
            <a:xfrm>
              <a:off x="985291" y="3719240"/>
              <a:ext cx="10221113" cy="0"/>
            </a:xfrm>
            <a:prstGeom prst="line">
              <a:avLst/>
            </a:prstGeom>
            <a:ln w="15553">
              <a:solidFill>
                <a:srgbClr val="D6DE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85291" y="3840560"/>
              <a:ext cx="4170814" cy="209133"/>
            </a:xfrm>
            <a:prstGeom prst="rect">
              <a:avLst/>
            </a:prstGeom>
            <a:noFill/>
          </p:spPr>
          <p:txBody>
            <a:bodyPr wrap="none" anchor="ctr" lIns="0" rIns="0" tIns="0" bIns="0">
              <a:noAutofit/>
            </a:bodyPr>
            <a:lstStyle/>
            <a:p>
              <a:pPr algn="l"/>
              <a:r>
                <a:rPr sz="1140" b="1">
                  <a:solidFill>
                    <a:srgbClr val="083F80"/>
                  </a:solidFill>
                  <a:latin typeface="맑은 고딕"/>
                  <a:ea typeface="맑은 고딕"/>
                  <a:cs typeface="맑은 고딕"/>
                </a:rPr>
                <a:t>② SiLU 는 직전 축약에 체인으로 붙여 vector engine 에서 처리한다</a:t>
              </a:r>
            </a:p>
          </p:txBody>
        </p:sp>
        <p:sp>
          <p:nvSpPr>
            <p:cNvPr id="43" name="Rounded Rectangle 42"/>
            <p:cNvSpPr/>
            <p:nvPr/>
          </p:nvSpPr>
          <p:spPr>
            <a:xfrm>
              <a:off x="985291" y="4141416"/>
              <a:ext cx="4999457" cy="1399848"/>
            </a:xfrm>
            <a:prstGeom prst="roundRect">
              <a:avLst>
                <a:gd name="adj" fmla="val 6349"/>
              </a:avLst>
            </a:prstGeom>
            <a:solidFill>
              <a:srgbClr val="FDEBD3"/>
            </a:solidFill>
            <a:ln w="1999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65620" y="4282067"/>
              <a:ext cx="1238799" cy="185002"/>
            </a:xfrm>
            <a:prstGeom prst="rect">
              <a:avLst/>
            </a:prstGeom>
            <a:noFill/>
          </p:spPr>
          <p:txBody>
            <a:bodyPr wrap="none" anchor="ctr" lIns="0" rIns="0" tIns="0" bIns="0">
              <a:noAutofit/>
            </a:bodyPr>
            <a:lstStyle/>
            <a:p>
              <a:pPr algn="ctr"/>
              <a:r>
                <a:rPr sz="1010" b="1">
                  <a:solidFill>
                    <a:srgbClr val="B45409"/>
                  </a:solidFill>
                  <a:latin typeface="맑은 고딕"/>
                  <a:ea typeface="맑은 고딕"/>
                  <a:cs typeface="맑은 고딕"/>
                </a:rPr>
                <a:t>별도 커널로 SiLU 실행</a:t>
              </a:r>
            </a:p>
          </p:txBody>
        </p:sp>
        <p:sp>
          <p:nvSpPr>
            <p:cNvPr id="45" name="Rounded Rectangle 44"/>
            <p:cNvSpPr/>
            <p:nvPr/>
          </p:nvSpPr>
          <p:spPr>
            <a:xfrm>
              <a:off x="1196379" y="4585812"/>
              <a:ext cx="844353" cy="377737"/>
            </a:xfrm>
            <a:prstGeom prst="roundRect">
              <a:avLst>
                <a:gd name="adj" fmla="val 11764"/>
              </a:avLst>
            </a:prstGeom>
            <a:solidFill>
              <a:srgbClr val="FFFFFF"/>
            </a:solidFill>
            <a:ln w="133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129611" y="4585812"/>
              <a:ext cx="844353" cy="377737"/>
            </a:xfrm>
            <a:prstGeom prst="roundRect">
              <a:avLst>
                <a:gd name="adj" fmla="val 11764"/>
              </a:avLst>
            </a:prstGeom>
            <a:solidFill>
              <a:srgbClr val="FFFFFF"/>
            </a:solidFill>
            <a:ln w="133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062843" y="4585812"/>
              <a:ext cx="844353" cy="377737"/>
            </a:xfrm>
            <a:prstGeom prst="roundRect">
              <a:avLst>
                <a:gd name="adj" fmla="val 11764"/>
              </a:avLst>
            </a:prstGeom>
            <a:solidFill>
              <a:srgbClr val="FFFFFF"/>
            </a:solidFill>
            <a:ln w="133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996075" y="4585812"/>
              <a:ext cx="844353" cy="377737"/>
            </a:xfrm>
            <a:prstGeom prst="roundRect">
              <a:avLst>
                <a:gd name="adj" fmla="val 11764"/>
              </a:avLst>
            </a:prstGeom>
            <a:solidFill>
              <a:srgbClr val="FFFFFF"/>
            </a:solidFill>
            <a:ln w="133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929307" y="4585812"/>
              <a:ext cx="844353" cy="377737"/>
            </a:xfrm>
            <a:prstGeom prst="roundRect">
              <a:avLst>
                <a:gd name="adj" fmla="val 11764"/>
              </a:avLst>
            </a:prstGeom>
            <a:solidFill>
              <a:srgbClr val="FFFFFF"/>
            </a:solidFill>
            <a:ln w="133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23405" y="4696689"/>
              <a:ext cx="390302"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CE 축약</a:t>
              </a:r>
            </a:p>
          </p:txBody>
        </p:sp>
        <p:sp>
          <p:nvSpPr>
            <p:cNvPr id="51" name="TextBox 50"/>
            <p:cNvSpPr txBox="1"/>
            <p:nvPr/>
          </p:nvSpPr>
          <p:spPr>
            <a:xfrm>
              <a:off x="2341016" y="4696689"/>
              <a:ext cx="421543"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DM 쓰기</a:t>
              </a:r>
            </a:p>
          </p:txBody>
        </p:sp>
        <p:sp>
          <p:nvSpPr>
            <p:cNvPr id="52" name="TextBox 51"/>
            <p:cNvSpPr txBox="1"/>
            <p:nvPr/>
          </p:nvSpPr>
          <p:spPr>
            <a:xfrm>
              <a:off x="3274248" y="4696689"/>
              <a:ext cx="421543"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DM 읽기</a:t>
              </a:r>
            </a:p>
          </p:txBody>
        </p:sp>
        <p:sp>
          <p:nvSpPr>
            <p:cNvPr id="53" name="TextBox 52"/>
            <p:cNvSpPr txBox="1"/>
            <p:nvPr/>
          </p:nvSpPr>
          <p:spPr>
            <a:xfrm>
              <a:off x="4205264" y="4696689"/>
              <a:ext cx="425976"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VE SiLU</a:t>
              </a:r>
            </a:p>
          </p:txBody>
        </p:sp>
        <p:sp>
          <p:nvSpPr>
            <p:cNvPr id="54" name="TextBox 53"/>
            <p:cNvSpPr txBox="1"/>
            <p:nvPr/>
          </p:nvSpPr>
          <p:spPr>
            <a:xfrm>
              <a:off x="5140712" y="4696689"/>
              <a:ext cx="421543"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DM 쓰기</a:t>
              </a:r>
            </a:p>
          </p:txBody>
        </p:sp>
        <p:sp>
          <p:nvSpPr>
            <p:cNvPr id="55" name="Freeform 54"/>
            <p:cNvSpPr/>
            <p:nvPr/>
          </p:nvSpPr>
          <p:spPr>
            <a:xfrm>
              <a:off x="2040732" y="4708021"/>
              <a:ext cx="88879" cy="133319"/>
            </a:xfrm>
            <a:custGeom>
              <a:avLst/>
              <a:gdLst/>
              <a:ahLst/>
              <a:cxnLst/>
              <a:rect l="l" t="t" r="r" b="b"/>
              <a:pathLst>
                <a:path w="88879" h="133319">
                  <a:moveTo>
                    <a:pt x="0" y="0"/>
                  </a:moveTo>
                  <a:lnTo>
                    <a:pt x="88879" y="66660"/>
                  </a:lnTo>
                  <a:lnTo>
                    <a:pt x="0" y="133319"/>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2973964" y="4708021"/>
              <a:ext cx="88879" cy="133319"/>
            </a:xfrm>
            <a:custGeom>
              <a:avLst/>
              <a:gdLst/>
              <a:ahLst/>
              <a:cxnLst/>
              <a:rect l="l" t="t" r="r" b="b"/>
              <a:pathLst>
                <a:path w="88879" h="133319">
                  <a:moveTo>
                    <a:pt x="0" y="0"/>
                  </a:moveTo>
                  <a:lnTo>
                    <a:pt x="88879" y="66660"/>
                  </a:lnTo>
                  <a:lnTo>
                    <a:pt x="0" y="133319"/>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3907196" y="4708021"/>
              <a:ext cx="88879" cy="133319"/>
            </a:xfrm>
            <a:custGeom>
              <a:avLst/>
              <a:gdLst/>
              <a:ahLst/>
              <a:cxnLst/>
              <a:rect l="l" t="t" r="r" b="b"/>
              <a:pathLst>
                <a:path w="88879" h="133319">
                  <a:moveTo>
                    <a:pt x="0" y="0"/>
                  </a:moveTo>
                  <a:lnTo>
                    <a:pt x="88879" y="66660"/>
                  </a:lnTo>
                  <a:lnTo>
                    <a:pt x="0" y="133319"/>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4840428" y="4708021"/>
              <a:ext cx="88879" cy="133319"/>
            </a:xfrm>
            <a:custGeom>
              <a:avLst/>
              <a:gdLst/>
              <a:ahLst/>
              <a:cxnLst/>
              <a:rect l="l" t="t" r="r" b="b"/>
              <a:pathLst>
                <a:path w="88879" h="133319">
                  <a:moveTo>
                    <a:pt x="0" y="0"/>
                  </a:moveTo>
                  <a:lnTo>
                    <a:pt x="88879" y="66660"/>
                  </a:lnTo>
                  <a:lnTo>
                    <a:pt x="0" y="133319"/>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93772" y="5145751"/>
              <a:ext cx="1582495" cy="160871"/>
            </a:xfrm>
            <a:prstGeom prst="rect">
              <a:avLst/>
            </a:prstGeom>
            <a:noFill/>
          </p:spPr>
          <p:txBody>
            <a:bodyPr wrap="none" anchor="ctr" lIns="0" rIns="0" tIns="0" bIns="0">
              <a:noAutofit/>
            </a:bodyPr>
            <a:lstStyle/>
            <a:p>
              <a:pPr algn="ctr"/>
              <a:r>
                <a:rPr sz="869" b="0">
                  <a:solidFill>
                    <a:srgbClr val="B4222A"/>
                  </a:solidFill>
                  <a:latin typeface="맑은 고딕"/>
                  <a:ea typeface="맑은 고딕"/>
                  <a:cs typeface="맑은 고딕"/>
                </a:rPr>
                <a:t>중간 텐서가 DM 을 두 번 왕복한다</a:t>
              </a:r>
            </a:p>
          </p:txBody>
        </p:sp>
        <p:sp>
          <p:nvSpPr>
            <p:cNvPr id="60" name="Rounded Rectangle 59"/>
            <p:cNvSpPr/>
            <p:nvPr/>
          </p:nvSpPr>
          <p:spPr>
            <a:xfrm>
              <a:off x="6206947" y="4141416"/>
              <a:ext cx="4999457" cy="1399848"/>
            </a:xfrm>
            <a:prstGeom prst="roundRect">
              <a:avLst>
                <a:gd name="adj" fmla="val 6349"/>
              </a:avLst>
            </a:prstGeom>
            <a:solidFill>
              <a:srgbClr val="E2F4E8"/>
            </a:solidFill>
            <a:ln w="1999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46249" y="4282067"/>
              <a:ext cx="1720852" cy="185002"/>
            </a:xfrm>
            <a:prstGeom prst="rect">
              <a:avLst/>
            </a:prstGeom>
            <a:noFill/>
          </p:spPr>
          <p:txBody>
            <a:bodyPr wrap="none" anchor="ctr" lIns="0" rIns="0" tIns="0" bIns="0">
              <a:noAutofit/>
            </a:bodyPr>
            <a:lstStyle/>
            <a:p>
              <a:pPr algn="ctr"/>
              <a:r>
                <a:rPr sz="1010" b="1">
                  <a:solidFill>
                    <a:srgbClr val="1A7F37"/>
                  </a:solidFill>
                  <a:latin typeface="맑은 고딕"/>
                  <a:ea typeface="맑은 고딕"/>
                  <a:cs typeface="맑은 고딕"/>
                </a:rPr>
                <a:t>chained operation 으로 융합</a:t>
              </a:r>
            </a:p>
          </p:txBody>
        </p:sp>
        <p:sp>
          <p:nvSpPr>
            <p:cNvPr id="62" name="Rounded Rectangle 61"/>
            <p:cNvSpPr/>
            <p:nvPr/>
          </p:nvSpPr>
          <p:spPr>
            <a:xfrm>
              <a:off x="6473584" y="4585812"/>
              <a:ext cx="1310969" cy="377737"/>
            </a:xfrm>
            <a:prstGeom prst="roundRect">
              <a:avLst>
                <a:gd name="adj" fmla="val 11764"/>
              </a:avLst>
            </a:prstGeom>
            <a:solidFill>
              <a:srgbClr val="FFFFFF"/>
            </a:solidFill>
            <a:ln w="1333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051191" y="4585812"/>
              <a:ext cx="1310969" cy="377737"/>
            </a:xfrm>
            <a:prstGeom prst="roundRect">
              <a:avLst>
                <a:gd name="adj" fmla="val 11764"/>
              </a:avLst>
            </a:prstGeom>
            <a:solidFill>
              <a:srgbClr val="FFFFFF"/>
            </a:solidFill>
            <a:ln w="1333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628797" y="4585812"/>
              <a:ext cx="1310969" cy="377737"/>
            </a:xfrm>
            <a:prstGeom prst="roundRect">
              <a:avLst>
                <a:gd name="adj" fmla="val 11764"/>
              </a:avLst>
            </a:prstGeom>
            <a:solidFill>
              <a:srgbClr val="FFFFFF"/>
            </a:solidFill>
            <a:ln w="1333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933918" y="4696689"/>
              <a:ext cx="390302"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CE 축약</a:t>
              </a:r>
            </a:p>
          </p:txBody>
        </p:sp>
        <p:sp>
          <p:nvSpPr>
            <p:cNvPr id="66" name="TextBox 65"/>
            <p:cNvSpPr txBox="1"/>
            <p:nvPr/>
          </p:nvSpPr>
          <p:spPr>
            <a:xfrm>
              <a:off x="8344712" y="4696689"/>
              <a:ext cx="723927"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VE SiLU (융합)</a:t>
              </a:r>
            </a:p>
          </p:txBody>
        </p:sp>
        <p:sp>
          <p:nvSpPr>
            <p:cNvPr id="67" name="TextBox 66"/>
            <p:cNvSpPr txBox="1"/>
            <p:nvPr/>
          </p:nvSpPr>
          <p:spPr>
            <a:xfrm>
              <a:off x="10073510" y="4696689"/>
              <a:ext cx="421543" cy="152828"/>
            </a:xfrm>
            <a:prstGeom prst="rect">
              <a:avLst/>
            </a:prstGeom>
            <a:noFill/>
          </p:spPr>
          <p:txBody>
            <a:bodyPr wrap="none" anchor="ctr" lIns="0" rIns="0" tIns="0" bIns="0">
              <a:noAutofit/>
            </a:bodyPr>
            <a:lstStyle/>
            <a:p>
              <a:pPr algn="ctr"/>
              <a:r>
                <a:rPr sz="830" b="1">
                  <a:solidFill>
                    <a:srgbClr val="16202C"/>
                  </a:solidFill>
                  <a:latin typeface="맑은 고딕"/>
                  <a:ea typeface="맑은 고딕"/>
                  <a:cs typeface="맑은 고딕"/>
                </a:rPr>
                <a:t>DM 쓰기</a:t>
              </a:r>
            </a:p>
          </p:txBody>
        </p:sp>
        <p:sp>
          <p:nvSpPr>
            <p:cNvPr id="68" name="Freeform 67"/>
            <p:cNvSpPr/>
            <p:nvPr/>
          </p:nvSpPr>
          <p:spPr>
            <a:xfrm>
              <a:off x="7806773" y="4708021"/>
              <a:ext cx="155539" cy="133319"/>
            </a:xfrm>
            <a:custGeom>
              <a:avLst/>
              <a:gdLst/>
              <a:ahLst/>
              <a:cxnLst/>
              <a:rect l="l" t="t" r="r" b="b"/>
              <a:pathLst>
                <a:path w="155539" h="133319">
                  <a:moveTo>
                    <a:pt x="0" y="0"/>
                  </a:moveTo>
                  <a:lnTo>
                    <a:pt x="155539" y="66660"/>
                  </a:lnTo>
                  <a:lnTo>
                    <a:pt x="0" y="133319"/>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9384379" y="4708021"/>
              <a:ext cx="155539" cy="133319"/>
            </a:xfrm>
            <a:custGeom>
              <a:avLst/>
              <a:gdLst/>
              <a:ahLst/>
              <a:cxnLst/>
              <a:rect l="l" t="t" r="r" b="b"/>
              <a:pathLst>
                <a:path w="155539" h="133319">
                  <a:moveTo>
                    <a:pt x="0" y="0"/>
                  </a:moveTo>
                  <a:lnTo>
                    <a:pt x="155539" y="66660"/>
                  </a:lnTo>
                  <a:lnTo>
                    <a:pt x="0" y="133319"/>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630181" y="5145751"/>
              <a:ext cx="2152989" cy="160871"/>
            </a:xfrm>
            <a:prstGeom prst="rect">
              <a:avLst/>
            </a:prstGeom>
            <a:noFill/>
          </p:spPr>
          <p:txBody>
            <a:bodyPr wrap="none" anchor="ctr" lIns="0" rIns="0" tIns="0" bIns="0">
              <a:noAutofit/>
            </a:bodyPr>
            <a:lstStyle/>
            <a:p>
              <a:pPr algn="ctr"/>
              <a:r>
                <a:rPr sz="869" b="0">
                  <a:solidFill>
                    <a:srgbClr val="1A7F37"/>
                  </a:solidFill>
                  <a:latin typeface="맑은 고딕"/>
                  <a:ea typeface="맑은 고딕"/>
                  <a:cs typeface="맑은 고딕"/>
                </a:rPr>
                <a:t>DM 왕복이 사라진다 — 성능·에너지 함께 개선</a:t>
              </a:r>
            </a:p>
          </p:txBody>
        </p:sp>
      </p:grpSp>
      <p:sp>
        <p:nvSpPr>
          <p:cNvPr id="71" name="Rectangle 7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가중치를 3등분해 계산과 전송을 겹치고, SiLU 는 직전 축약에 체인으로 붙인다.</a:t>
            </a:r>
          </a:p>
        </p:txBody>
      </p:sp>
      <p:sp>
        <p:nvSpPr>
          <p:cNvPr id="72" name="Rectangle 7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FFN — 3등분 prefetch 와 SiLU 체인 융합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전송을 계산 뒤로 숨기고, 중간 텐서의 DM 왕복을 없앤다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TDMA 가 TU 연산과 비동기로 돌기 때문에 계산과 전송을 겹칠 수 있다 (III-A)</a:t>
            </a:r>
          </a:p>
          <a:p>
            <a:pPr algn="l">
              <a:lnSpc>
                <a:spcPct val="118000"/>
              </a:lnSpc>
              <a:spcBef>
                <a:spcPts val="600"/>
              </a:spcBef>
              <a:spcAft>
                <a:spcPts val="200"/>
              </a:spcAft>
            </a:pPr>
            <a:r>
              <a:rPr sz="1900" b="0" i="0">
                <a:solidFill>
                  <a:srgbClr val="16202C"/>
                </a:solidFill>
                <a:latin typeface="Segoe UI"/>
                <a:ea typeface="맑은 고딕"/>
                <a:cs typeface="맑은 고딕"/>
              </a:rPr>
              <a:t>▪  F 가 attention 출력 차원의 2.7배라 MLP 가중치 읽기가 큰 HBM 트래픽을 만든다. 이 분할은 그 지연을 숨기는 장치다</a:t>
            </a:r>
          </a:p>
          <a:p>
            <a:pPr algn="l">
              <a:lnSpc>
                <a:spcPct val="118000"/>
              </a:lnSpc>
              <a:spcBef>
                <a:spcPts val="600"/>
              </a:spcBef>
              <a:spcAft>
                <a:spcPts val="200"/>
              </a:spcAft>
            </a:pPr>
            <a:r>
              <a:rPr sz="1900" b="0" i="0">
                <a:solidFill>
                  <a:srgbClr val="16202C"/>
                </a:solidFill>
                <a:latin typeface="Segoe UI"/>
                <a:ea typeface="맑은 고딕"/>
                <a:cs typeface="맑은 고딕"/>
              </a:rPr>
              <a:t>▪  IV-D 절: expand 연산과 SiLU 같은 활성 함수를 융합하면 성능과 에너지 효율이 함께 개선된다</a:t>
            </a:r>
          </a:p>
          <a:p>
            <a:pPr algn="l">
              <a:lnSpc>
                <a:spcPct val="118000"/>
              </a:lnSpc>
              <a:spcBef>
                <a:spcPts val="600"/>
              </a:spcBef>
              <a:spcAft>
                <a:spcPts val="200"/>
              </a:spcAft>
            </a:pPr>
            <a:r>
              <a:rPr sz="1900" b="0" i="0">
                <a:solidFill>
                  <a:srgbClr val="16202C"/>
                </a:solidFill>
                <a:latin typeface="Segoe UI"/>
                <a:ea typeface="맑은 고딕"/>
                <a:cs typeface="맑은 고딕"/>
              </a:rPr>
              <a:t>▪  논문은 왜 하필 3등분인지에 대한 근거 수치를 밝히지 않았다</a:t>
            </a:r>
          </a:p>
          <a:p>
            <a:pPr algn="l">
              <a:lnSpc>
                <a:spcPct val="118000"/>
              </a:lnSpc>
              <a:spcBef>
                <a:spcPts val="600"/>
              </a:spcBef>
              <a:spcAft>
                <a:spcPts val="200"/>
              </a:spcAft>
            </a:pPr>
            <a:r>
              <a:rPr sz="1900" b="0" i="0">
                <a:solidFill>
                  <a:srgbClr val="16202C"/>
                </a:solidFill>
                <a:latin typeface="Segoe UI"/>
                <a:ea typeface="맑은 고딕"/>
                <a:cs typeface="맑은 고딕"/>
              </a:rPr>
              <a:t>▪  Fig. 13 트레이스에 FFN0 / FFN1 / FFN2 세 조각이 나타나는 것이 이 분할의 흔적이다 (A8 에서 다룬다)</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 LLaMA-2 7B 지연시간·처리량 비교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205</a:t>
            </a:r>
          </a:p>
        </p:txBody>
      </p:sp>
      <p:pic>
        <p:nvPicPr>
          <p:cNvPr id="8" name="Picture 7" descr="isca_tableII.png"/>
          <p:cNvPicPr>
            <a:picLocks noChangeAspect="1"/>
          </p:cNvPicPr>
          <p:nvPr/>
        </p:nvPicPr>
        <p:blipFill>
          <a:blip r:embed="rId2"/>
          <a:stretch>
            <a:fillRect/>
          </a:stretch>
        </p:blipFill>
        <p:spPr>
          <a:xfrm>
            <a:off x="566928" y="1517904"/>
            <a:ext cx="4213810" cy="3822192"/>
          </a:xfrm>
          <a:prstGeom prst="rect">
            <a:avLst/>
          </a:prstGeom>
        </p:spPr>
      </p:pic>
      <p:sp>
        <p:nvSpPr>
          <p:cNvPr id="9" name="Rectangle 8"/>
          <p:cNvSpPr/>
          <p:nvPr/>
        </p:nvSpPr>
        <p:spPr>
          <a:xfrm>
            <a:off x="566928" y="1517904"/>
            <a:ext cx="4213810" cy="3822192"/>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5367528"/>
            <a:ext cx="4213810"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TABLE II — TCP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200" b="1" i="0">
                <a:solidFill>
                  <a:srgbClr val="083F80"/>
                </a:solidFill>
                <a:latin typeface="Segoe UI"/>
                <a:ea typeface="맑은 고딕"/>
                <a:cs typeface="맑은 고딕"/>
              </a:rPr>
              <a:t>▪  표의 구성</a:t>
            </a:r>
          </a:p>
          <a:p>
            <a:pPr algn="l">
              <a:lnSpc>
                <a:spcPct val="118000"/>
              </a:lnSpc>
              <a:spcBef>
                <a:spcPts val="200"/>
              </a:spcBef>
              <a:spcAft>
                <a:spcPts val="100"/>
              </a:spcAft>
            </a:pPr>
            <a:r>
              <a:rPr sz="1080" b="0" i="0">
                <a:solidFill>
                  <a:srgbClr val="2C3A4B"/>
                </a:solidFill>
                <a:latin typeface="Segoe UI"/>
                <a:ea typeface="맑은 고딕"/>
                <a:cs typeface="맑은 고딕"/>
              </a:rPr>
              <a:t>–  상단 7행은 칩 스펙: Technology, BF16/FP8, INT8/INT4, Memory Capacity, Memory Bandwidth, Host I/F, TDP</a:t>
            </a:r>
          </a:p>
          <a:p>
            <a:pPr algn="l">
              <a:lnSpc>
                <a:spcPct val="118000"/>
              </a:lnSpc>
              <a:spcBef>
                <a:spcPts val="200"/>
              </a:spcBef>
              <a:spcAft>
                <a:spcPts val="100"/>
              </a:spcAft>
            </a:pPr>
            <a:r>
              <a:rPr sz="1080" b="0" i="0">
                <a:solidFill>
                  <a:srgbClr val="2C3A4B"/>
                </a:solidFill>
                <a:latin typeface="Segoe UI"/>
                <a:ea typeface="맑은 고딕"/>
                <a:cs typeface="맑은 고딕"/>
              </a:rPr>
              <a:t>–  하단은 LLaMA-2 7B 측정치: Latency 2행, Throughput 2행, Perf/Watt 2행</a:t>
            </a:r>
          </a:p>
          <a:p>
            <a:pPr algn="l">
              <a:lnSpc>
                <a:spcPct val="118000"/>
              </a:lnSpc>
              <a:spcBef>
                <a:spcPts val="600"/>
              </a:spcBef>
              <a:spcAft>
                <a:spcPts val="200"/>
              </a:spcAft>
            </a:pPr>
            <a:r>
              <a:rPr sz="1200" b="1" i="0">
                <a:solidFill>
                  <a:srgbClr val="083F80"/>
                </a:solidFill>
                <a:latin typeface="Segoe UI"/>
                <a:ea typeface="맑은 고딕"/>
                <a:cs typeface="맑은 고딕"/>
              </a:rPr>
              <a:t>▪  표기 규약</a:t>
            </a:r>
          </a:p>
          <a:p>
            <a:pPr algn="l">
              <a:lnSpc>
                <a:spcPct val="118000"/>
              </a:lnSpc>
              <a:spcBef>
                <a:spcPts val="200"/>
              </a:spcBef>
              <a:spcAft>
                <a:spcPts val="100"/>
              </a:spcAft>
            </a:pPr>
            <a:r>
              <a:rPr sz="1080" b="0" i="0">
                <a:solidFill>
                  <a:srgbClr val="2C3A4B"/>
                </a:solidFill>
                <a:latin typeface="Segoe UI"/>
                <a:ea typeface="맑은 고딕"/>
                <a:cs typeface="맑은 고딕"/>
              </a:rPr>
              <a:t>–  B = batch size(배치 크기), IL = input sequence length(입력 시퀀스 길이), OL = output sequence length(출력 시퀀스 길이)</a:t>
            </a:r>
          </a:p>
          <a:p>
            <a:pPr algn="l">
              <a:lnSpc>
                <a:spcPct val="118000"/>
              </a:lnSpc>
              <a:spcBef>
                <a:spcPts val="200"/>
              </a:spcBef>
              <a:spcAft>
                <a:spcPts val="100"/>
              </a:spcAft>
            </a:pPr>
            <a:r>
              <a:rPr sz="1080" b="0" i="0">
                <a:solidFill>
                  <a:srgbClr val="2C3A4B"/>
                </a:solidFill>
                <a:latin typeface="Segoe UI"/>
                <a:ea typeface="맑은 고딕"/>
                <a:cs typeface="맑은 고딕"/>
              </a:rPr>
              <a:t>–  연산 성능 항목의 별표(*)는 sparsity(희소성)를 쓰지 않은 값이라는 뜻이다</a:t>
            </a:r>
          </a:p>
          <a:p>
            <a:pPr algn="l">
              <a:lnSpc>
                <a:spcPct val="118000"/>
              </a:lnSpc>
              <a:spcBef>
                <a:spcPts val="200"/>
              </a:spcBef>
              <a:spcAft>
                <a:spcPts val="100"/>
              </a:spcAft>
            </a:pPr>
            <a:r>
              <a:rPr sz="1080" b="0" i="0">
                <a:solidFill>
                  <a:srgbClr val="2C3A4B"/>
                </a:solidFill>
                <a:latin typeface="Segoe UI"/>
                <a:ea typeface="맑은 고딕"/>
                <a:cs typeface="맑은 고딕"/>
              </a:rPr>
              <a:t>–  GPU 수치는 NVIDIA 공개 자료 [13] 를 인용한 것이다</a:t>
            </a:r>
          </a:p>
          <a:p>
            <a:pPr algn="l">
              <a:lnSpc>
                <a:spcPct val="118000"/>
              </a:lnSpc>
              <a:spcBef>
                <a:spcPts val="600"/>
              </a:spcBef>
              <a:spcAft>
                <a:spcPts val="200"/>
              </a:spcAft>
            </a:pPr>
            <a:r>
              <a:rPr sz="1200" b="1" i="0">
                <a:solidFill>
                  <a:srgbClr val="083F80"/>
                </a:solidFill>
                <a:latin typeface="Segoe UI"/>
                <a:ea typeface="맑은 고딕"/>
                <a:cs typeface="맑은 고딕"/>
              </a:rPr>
              <a:t>▪  공란 주의</a:t>
            </a:r>
          </a:p>
          <a:p>
            <a:pPr algn="l">
              <a:lnSpc>
                <a:spcPct val="118000"/>
              </a:lnSpc>
              <a:spcBef>
                <a:spcPts val="200"/>
              </a:spcBef>
              <a:spcAft>
                <a:spcPts val="100"/>
              </a:spcAft>
            </a:pPr>
            <a:r>
              <a:rPr sz="1080" b="0" i="0">
                <a:solidFill>
                  <a:srgbClr val="2C3A4B"/>
                </a:solidFill>
                <a:latin typeface="Segoe UI"/>
                <a:ea typeface="맑은 고딕"/>
                <a:cs typeface="맑은 고딕"/>
              </a:rPr>
              <a:t>–  L40s 는 B=16 조건만, H100 은 B=32 조건만 값이 있다. 나머지 칸은 표에 비어 있다</a:t>
            </a:r>
          </a:p>
          <a:p>
            <a:pPr algn="l">
              <a:lnSpc>
                <a:spcPct val="118000"/>
              </a:lnSpc>
              <a:spcBef>
                <a:spcPts val="200"/>
              </a:spcBef>
              <a:spcAft>
                <a:spcPts val="100"/>
              </a:spcAft>
            </a:pPr>
            <a:r>
              <a:rPr sz="1080" b="0" i="0">
                <a:solidFill>
                  <a:srgbClr val="2C3A4B"/>
                </a:solidFill>
                <a:latin typeface="Segoe UI"/>
                <a:ea typeface="맑은 고딕"/>
                <a:cs typeface="맑은 고딕"/>
              </a:rPr>
              <a:t>–  TCP 는 B=16 과 B=32 양쪽 모두 값이 있어 두 GPU 각각과 짝지어 비교된다</a:t>
            </a:r>
          </a:p>
          <a:p>
            <a:pPr algn="l">
              <a:lnSpc>
                <a:spcPct val="118000"/>
              </a:lnSpc>
              <a:spcBef>
                <a:spcPts val="200"/>
              </a:spcBef>
              <a:spcAft>
                <a:spcPts val="100"/>
              </a:spcAft>
            </a:pPr>
            <a:r>
              <a:rPr sz="1080" b="0" i="0">
                <a:solidFill>
                  <a:srgbClr val="2C3A4B"/>
                </a:solidFill>
                <a:latin typeface="Segoe UI"/>
                <a:ea typeface="맑은 고딕"/>
                <a:cs typeface="맑은 고딕"/>
              </a:rPr>
              <a:t>–  H100 의 INT4 는 "-" 로 표기되어 값이 없다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L40s / H100 / TCP 세 칩의 스펙과 LLaMA-2 7B 실측을 한 표에 모았다.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(1/2) — 칩 스펙 비교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206</a:t>
            </a:r>
          </a:p>
        </p:txBody>
      </p:sp>
      <p:graphicFrame>
        <p:nvGraphicFramePr>
          <p:cNvPr id="8" name="Table 7"/>
          <p:cNvGraphicFramePr>
            <a:graphicFrameLocks noGrp="1"/>
          </p:cNvGraphicFramePr>
          <p:nvPr/>
        </p:nvGraphicFramePr>
        <p:xfrm>
          <a:off x="566928" y="1517904"/>
          <a:ext cx="11057839" cy="3072384"/>
        </p:xfrm>
        <a:graphic>
          <a:graphicData uri="http://schemas.openxmlformats.org/drawingml/2006/table">
            <a:tbl>
              <a:tblPr firstRow="1" bandRow="1">
                <a:tableStyleId>{5C22544A-7EE6-4342-B048-85BDC9FD1C3A}</a:tableStyleId>
              </a:tblPr>
              <a:tblGrid>
                <a:gridCol w="4102102"/>
                <a:gridCol w="2318579"/>
                <a:gridCol w="2318579"/>
                <a:gridCol w="2318579"/>
              </a:tblGrid>
              <a:tr h="384048">
                <a:tc>
                  <a:txBody>
                    <a:bodyPr wrap="square"/>
                    <a:lstStyle/>
                    <a:p>
                      <a:r>
                        <a:rPr sz="13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L40s</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H100</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TCP</a:t>
                      </a:r>
                    </a:p>
                  </a:txBody>
                  <a:tcPr marL="73152" marR="73152" marT="27432" marB="27432">
                    <a:solidFill>
                      <a:srgbClr val="0B5FC0"/>
                    </a:solidFill>
                  </a:tcPr>
                </a:tc>
              </a:tr>
              <a:tr h="384048">
                <a:tc>
                  <a:txBody>
                    <a:bodyPr wrap="square"/>
                    <a:lstStyle/>
                    <a:p>
                      <a:r>
                        <a:rPr sz="1300" b="0" i="0">
                          <a:solidFill>
                            <a:srgbClr val="16202C"/>
                          </a:solidFill>
                          <a:latin typeface="Segoe UI"/>
                          <a:ea typeface="맑은 고딕"/>
                          <a:cs typeface="맑은 고딕"/>
                        </a:rPr>
                        <a:t>Technology</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TSMC 5nm</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TSMC 4nm</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TSMC 5nm</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BF16/FP8 (TFLOPS)*</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362/733</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989/1979</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256/512</a:t>
                      </a:r>
                    </a:p>
                  </a:txBody>
                  <a:tcPr marL="73152" marR="73152" marT="27432" marB="27432">
                    <a:solidFill>
                      <a:srgbClr val="F6F9FC"/>
                    </a:solidFill>
                  </a:tcPr>
                </a:tc>
              </a:tr>
              <a:tr h="384048">
                <a:tc>
                  <a:txBody>
                    <a:bodyPr wrap="square"/>
                    <a:lstStyle/>
                    <a:p>
                      <a:r>
                        <a:rPr sz="1300" b="0" i="0">
                          <a:solidFill>
                            <a:srgbClr val="16202C"/>
                          </a:solidFill>
                          <a:latin typeface="Segoe UI"/>
                          <a:ea typeface="맑은 고딕"/>
                          <a:cs typeface="맑은 고딕"/>
                        </a:rPr>
                        <a:t>INT8/INT4 (TOPS)*</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733/733</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1979/-</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512/1024</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Memory Capacity (GB)</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48</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80</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48</a:t>
                      </a:r>
                    </a:p>
                  </a:txBody>
                  <a:tcPr marL="73152" marR="73152" marT="27432" marB="27432">
                    <a:solidFill>
                      <a:srgbClr val="F6F9FC"/>
                    </a:solidFill>
                  </a:tcPr>
                </a:tc>
              </a:tr>
              <a:tr h="384048">
                <a:tc>
                  <a:txBody>
                    <a:bodyPr wrap="square"/>
                    <a:lstStyle/>
                    <a:p>
                      <a:r>
                        <a:rPr sz="1300" b="0" i="0">
                          <a:solidFill>
                            <a:srgbClr val="16202C"/>
                          </a:solidFill>
                          <a:latin typeface="Segoe UI"/>
                          <a:ea typeface="맑은 고딕"/>
                          <a:cs typeface="맑은 고딕"/>
                        </a:rPr>
                        <a:t>Memory Bandwidth (TB/s)</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0.86</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3.35</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1.5</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Host I/F</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PCIe Gen4 x16</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PCIe Gen5 x16</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PCIe Gen5 x16</a:t>
                      </a:r>
                    </a:p>
                  </a:txBody>
                  <a:tcPr marL="73152" marR="73152" marT="27432" marB="27432">
                    <a:solidFill>
                      <a:srgbClr val="F6F9FC"/>
                    </a:solidFill>
                  </a:tcPr>
                </a:tc>
              </a:tr>
              <a:tr h="384048">
                <a:tc>
                  <a:txBody>
                    <a:bodyPr wrap="square"/>
                    <a:lstStyle/>
                    <a:p>
                      <a:r>
                        <a:rPr sz="1300" b="0" i="0">
                          <a:solidFill>
                            <a:srgbClr val="16202C"/>
                          </a:solidFill>
                          <a:latin typeface="Segoe UI"/>
                          <a:ea typeface="맑은 고딕"/>
                          <a:cs typeface="맑은 고딕"/>
                        </a:rPr>
                        <a:t>TDP (W)</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350</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700</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150</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TCP 는 TOPS 도 대역폭도 H100 에 못 미치지만 TDP 가 150W 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(2/2) — LLaMA-2 7B 측정치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207</a:t>
            </a:r>
          </a:p>
        </p:txBody>
      </p:sp>
      <p:graphicFrame>
        <p:nvGraphicFramePr>
          <p:cNvPr id="8" name="Table 7"/>
          <p:cNvGraphicFramePr>
            <a:graphicFrameLocks noGrp="1"/>
          </p:cNvGraphicFramePr>
          <p:nvPr/>
        </p:nvGraphicFramePr>
        <p:xfrm>
          <a:off x="566928" y="1517904"/>
          <a:ext cx="11057839" cy="2688336"/>
        </p:xfrm>
        <a:graphic>
          <a:graphicData uri="http://schemas.openxmlformats.org/drawingml/2006/table">
            <a:tbl>
              <a:tblPr firstRow="1" bandRow="1">
                <a:tableStyleId>{5C22544A-7EE6-4342-B048-85BDC9FD1C3A}</a:tableStyleId>
              </a:tblPr>
              <a:tblGrid>
                <a:gridCol w="3419950"/>
                <a:gridCol w="2564963"/>
                <a:gridCol w="1994971"/>
                <a:gridCol w="1994971"/>
                <a:gridCol w="1082984"/>
              </a:tblGrid>
              <a:tr h="384048">
                <a:tc>
                  <a:txBody>
                    <a:bodyPr wrap="square"/>
                    <a:lstStyle/>
                    <a:p>
                      <a:r>
                        <a:rPr sz="1300" b="1" i="0">
                          <a:solidFill>
                            <a:srgbClr val="FFFFFF"/>
                          </a:solidFill>
                          <a:latin typeface="Segoe UI"/>
                          <a:ea typeface="맑은 고딕"/>
                          <a:cs typeface="맑은 고딕"/>
                        </a:rPr>
                        <a:t>측정 항목</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조건</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L40s</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H100</a:t>
                      </a:r>
                    </a:p>
                  </a:txBody>
                  <a:tcPr marL="73152" marR="73152" marT="27432" marB="27432">
                    <a:solidFill>
                      <a:srgbClr val="0B5FC0"/>
                    </a:solidFill>
                  </a:tcPr>
                </a:tc>
                <a:tc>
                  <a:txBody>
                    <a:bodyPr wrap="square"/>
                    <a:lstStyle/>
                    <a:p>
                      <a:r>
                        <a:rPr sz="1300" b="1" i="0">
                          <a:solidFill>
                            <a:srgbClr val="FFFFFF"/>
                          </a:solidFill>
                          <a:latin typeface="Segoe UI"/>
                          <a:ea typeface="맑은 고딕"/>
                          <a:cs typeface="맑은 고딕"/>
                        </a:rPr>
                        <a:t>TCP</a:t>
                      </a:r>
                    </a:p>
                  </a:txBody>
                  <a:tcPr marL="73152" marR="73152" marT="27432" marB="27432">
                    <a:solidFill>
                      <a:srgbClr val="0B5FC0"/>
                    </a:solidFill>
                  </a:tcPr>
                </a:tc>
              </a:tr>
              <a:tr h="384048">
                <a:tc>
                  <a:txBody>
                    <a:bodyPr wrap="square"/>
                    <a:lstStyle/>
                    <a:p>
                      <a:r>
                        <a:rPr sz="1300" b="0" i="0">
                          <a:solidFill>
                            <a:srgbClr val="16202C"/>
                          </a:solidFill>
                          <a:latin typeface="Segoe UI"/>
                          <a:ea typeface="맑은 고딕"/>
                          <a:cs typeface="맑은 고딕"/>
                        </a:rPr>
                        <a:t>Latency (msec)</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B=1, L=128</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14</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7</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8</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Latency (msec)</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B=1, L=2K</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73</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36</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65</a:t>
                      </a:r>
                    </a:p>
                  </a:txBody>
                  <a:tcPr marL="73152" marR="73152" marT="27432" marB="27432">
                    <a:solidFill>
                      <a:srgbClr val="F6F9FC"/>
                    </a:solidFill>
                  </a:tcPr>
                </a:tc>
              </a:tr>
              <a:tr h="384048">
                <a:tc>
                  <a:txBody>
                    <a:bodyPr wrap="square"/>
                    <a:lstStyle/>
                    <a:p>
                      <a:r>
                        <a:rPr sz="1300" b="0" i="0">
                          <a:solidFill>
                            <a:srgbClr val="16202C"/>
                          </a:solidFill>
                          <a:latin typeface="Segoe UI"/>
                          <a:ea typeface="맑은 고딕"/>
                          <a:cs typeface="맑은 고딕"/>
                        </a:rPr>
                        <a:t>Throughput (tokens/sec)</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B=16, IL=2K, OL=2K</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531</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(표에 값 없음)</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935</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Throughput (tokens/sec)</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B=32, IL=2K, OL=2K</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(표에 값 없음)</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2230</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1293</a:t>
                      </a:r>
                    </a:p>
                  </a:txBody>
                  <a:tcPr marL="73152" marR="73152" marT="27432" marB="27432">
                    <a:solidFill>
                      <a:srgbClr val="F6F9FC"/>
                    </a:solidFill>
                  </a:tcPr>
                </a:tc>
              </a:tr>
              <a:tr h="384048">
                <a:tc>
                  <a:txBody>
                    <a:bodyPr wrap="square"/>
                    <a:lstStyle/>
                    <a:p>
                      <a:r>
                        <a:rPr sz="1300" b="0" i="0">
                          <a:solidFill>
                            <a:srgbClr val="16202C"/>
                          </a:solidFill>
                          <a:latin typeface="Segoe UI"/>
                          <a:ea typeface="맑은 고딕"/>
                          <a:cs typeface="맑은 고딕"/>
                        </a:rPr>
                        <a:t>Perf/Watt (tokens/sec/W)</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B=16, IL=2K, OL=2K</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1.52</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(표에 값 없음)</a:t>
                      </a:r>
                    </a:p>
                  </a:txBody>
                  <a:tcPr marL="73152" marR="73152" marT="27432" marB="27432">
                    <a:solidFill>
                      <a:srgbClr val="FFFFFF"/>
                    </a:solidFill>
                  </a:tcPr>
                </a:tc>
                <a:tc>
                  <a:txBody>
                    <a:bodyPr wrap="square"/>
                    <a:lstStyle/>
                    <a:p>
                      <a:r>
                        <a:rPr sz="1300" b="0" i="0">
                          <a:solidFill>
                            <a:srgbClr val="16202C"/>
                          </a:solidFill>
                          <a:latin typeface="Segoe UI"/>
                          <a:ea typeface="맑은 고딕"/>
                          <a:cs typeface="맑은 고딕"/>
                        </a:rPr>
                        <a:t>6.24</a:t>
                      </a:r>
                    </a:p>
                  </a:txBody>
                  <a:tcPr marL="73152" marR="73152" marT="27432" marB="27432">
                    <a:solidFill>
                      <a:srgbClr val="FFFFFF"/>
                    </a:solidFill>
                  </a:tcPr>
                </a:tc>
              </a:tr>
              <a:tr h="384048">
                <a:tc>
                  <a:txBody>
                    <a:bodyPr wrap="square"/>
                    <a:lstStyle/>
                    <a:p>
                      <a:r>
                        <a:rPr sz="1300" b="0" i="0">
                          <a:solidFill>
                            <a:srgbClr val="16202C"/>
                          </a:solidFill>
                          <a:latin typeface="Segoe UI"/>
                          <a:ea typeface="맑은 고딕"/>
                          <a:cs typeface="맑은 고딕"/>
                        </a:rPr>
                        <a:t>Perf/Watt (tokens/sec/W)</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B=32, IL=2K, OL=2K</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(표에 값 없음)</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3.19</a:t>
                      </a:r>
                    </a:p>
                  </a:txBody>
                  <a:tcPr marL="73152" marR="73152" marT="27432" marB="27432">
                    <a:solidFill>
                      <a:srgbClr val="F6F9FC"/>
                    </a:solidFill>
                  </a:tcPr>
                </a:tc>
                <a:tc>
                  <a:txBody>
                    <a:bodyPr wrap="square"/>
                    <a:lstStyle/>
                    <a:p>
                      <a:r>
                        <a:rPr sz="1300" b="0" i="0">
                          <a:solidFill>
                            <a:srgbClr val="16202C"/>
                          </a:solidFill>
                          <a:latin typeface="Segoe UI"/>
                          <a:ea typeface="맑은 고딕"/>
                          <a:cs typeface="맑은 고딕"/>
                        </a:rPr>
                        <a:t>8.62</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perf/watt 에서 TCP 가 B=16 은 6.24, B=32 는 8.62 로 두 GPU 를 모두 앞선다.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D. 성능 분석 (1) — 전력당 성능 결론</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핵심 주장</a:t>
            </a:r>
          </a:p>
          <a:p>
            <a:pPr algn="l">
              <a:lnSpc>
                <a:spcPct val="118000"/>
              </a:lnSpc>
              <a:spcBef>
                <a:spcPts val="200"/>
              </a:spcBef>
              <a:spcAft>
                <a:spcPts val="100"/>
              </a:spcAft>
            </a:pPr>
            <a:r>
              <a:rPr sz="1780" b="0" i="0">
                <a:solidFill>
                  <a:srgbClr val="2C3A4B"/>
                </a:solidFill>
                <a:latin typeface="Segoe UI"/>
                <a:ea typeface="맑은 고딕"/>
                <a:cs typeface="맑은 고딕"/>
              </a:rPr>
              <a:t>–  TCP 는 주목할 만한 performance per watt(전력당 성능)를 제공한다</a:t>
            </a:r>
          </a:p>
          <a:p>
            <a:pPr algn="l">
              <a:lnSpc>
                <a:spcPct val="118000"/>
              </a:lnSpc>
              <a:spcBef>
                <a:spcPts val="200"/>
              </a:spcBef>
              <a:spcAft>
                <a:spcPts val="100"/>
              </a:spcAft>
            </a:pPr>
            <a:r>
              <a:rPr sz="1780" b="0" i="0">
                <a:solidFill>
                  <a:srgbClr val="2C3A4B"/>
                </a:solidFill>
                <a:latin typeface="Segoe UI"/>
                <a:ea typeface="맑은 고딕"/>
                <a:cs typeface="맑은 고딕"/>
              </a:rPr>
              <a:t>–  H100 보다 2.7배, L40s 보다 4.1배 낫다</a:t>
            </a:r>
          </a:p>
          <a:p>
            <a:pPr algn="l">
              <a:lnSpc>
                <a:spcPct val="118000"/>
              </a:lnSpc>
              <a:spcBef>
                <a:spcPts val="600"/>
              </a:spcBef>
              <a:spcAft>
                <a:spcPts val="200"/>
              </a:spcAft>
            </a:pPr>
            <a:r>
              <a:rPr sz="1900" b="1" i="0">
                <a:solidFill>
                  <a:srgbClr val="083F80"/>
                </a:solidFill>
                <a:latin typeface="Segoe UI"/>
                <a:ea typeface="맑은 고딕"/>
                <a:cs typeface="맑은 고딕"/>
              </a:rPr>
              <a:t>▪  처리량(throughput) 관점</a:t>
            </a:r>
          </a:p>
          <a:p>
            <a:pPr algn="l">
              <a:lnSpc>
                <a:spcPct val="118000"/>
              </a:lnSpc>
              <a:spcBef>
                <a:spcPts val="200"/>
              </a:spcBef>
              <a:spcAft>
                <a:spcPts val="100"/>
              </a:spcAft>
            </a:pPr>
            <a:r>
              <a:rPr sz="1780" b="0" i="0">
                <a:solidFill>
                  <a:srgbClr val="2C3A4B"/>
                </a:solidFill>
                <a:latin typeface="Segoe UI"/>
                <a:ea typeface="맑은 고딕"/>
                <a:cs typeface="맑은 고딕"/>
              </a:rPr>
              <a:t>–  각 칩이 자신의 peak(최대 성능)에 가까운 성능에 도달한다</a:t>
            </a:r>
          </a:p>
          <a:p>
            <a:pPr algn="l">
              <a:lnSpc>
                <a:spcPct val="118000"/>
              </a:lnSpc>
              <a:spcBef>
                <a:spcPts val="200"/>
              </a:spcBef>
              <a:spcAft>
                <a:spcPts val="100"/>
              </a:spcAft>
            </a:pPr>
            <a:r>
              <a:rPr sz="1780" b="0" i="0">
                <a:solidFill>
                  <a:srgbClr val="2C3A4B"/>
                </a:solidFill>
                <a:latin typeface="Segoe UI"/>
                <a:ea typeface="맑은 고딕"/>
                <a:cs typeface="맑은 고딕"/>
              </a:rPr>
              <a:t>–  칩 간 차이는 대부분 peak memory bandwidth(최대 메모리 대역폭) 차이에서 온다</a:t>
            </a:r>
          </a:p>
          <a:p>
            <a:pPr algn="l">
              <a:lnSpc>
                <a:spcPct val="118000"/>
              </a:lnSpc>
              <a:spcBef>
                <a:spcPts val="200"/>
              </a:spcBef>
              <a:spcAft>
                <a:spcPts val="100"/>
              </a:spcAft>
            </a:pPr>
            <a:r>
              <a:rPr sz="1780" b="0" i="0">
                <a:solidFill>
                  <a:srgbClr val="2C3A4B"/>
                </a:solidFill>
                <a:latin typeface="Segoe UI"/>
                <a:ea typeface="맑은 고딕"/>
                <a:cs typeface="맑은 고딕"/>
              </a:rPr>
              <a:t>–  즉 이 워크로드에서는 연산 성능보다 메모리 대역폭이 지배적이다</a:t>
            </a:r>
          </a:p>
          <a:p>
            <a:pPr algn="l">
              <a:lnSpc>
                <a:spcPct val="118000"/>
              </a:lnSpc>
              <a:spcBef>
                <a:spcPts val="600"/>
              </a:spcBef>
              <a:spcAft>
                <a:spcPts val="200"/>
              </a:spcAft>
            </a:pPr>
            <a:r>
              <a:rPr sz="1900" b="1" i="0">
                <a:solidFill>
                  <a:srgbClr val="083F80"/>
                </a:solidFill>
                <a:latin typeface="Segoe UI"/>
                <a:ea typeface="맑은 고딕"/>
                <a:cs typeface="맑은 고딕"/>
              </a:rPr>
              <a:t>▪  종합</a:t>
            </a:r>
          </a:p>
          <a:p>
            <a:pPr algn="l">
              <a:lnSpc>
                <a:spcPct val="118000"/>
              </a:lnSpc>
              <a:spcBef>
                <a:spcPts val="200"/>
              </a:spcBef>
              <a:spcAft>
                <a:spcPts val="100"/>
              </a:spcAft>
            </a:pPr>
            <a:r>
              <a:rPr sz="1780" b="0" i="0">
                <a:solidFill>
                  <a:srgbClr val="2C3A4B"/>
                </a:solidFill>
                <a:latin typeface="Segoe UI"/>
                <a:ea typeface="맑은 고딕"/>
                <a:cs typeface="맑은 고딕"/>
              </a:rPr>
              <a:t>–  TCP 는 전력 소비 대비 메모리 대역폭이 높기 때문에, 전력 대비 처리량이 더 높게 나온다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TCP 는 H100 대비 2.7배, L40s 대비 4.1배 나은 전력당 성능을 보인다.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대역폭 비율이 곧 처리량 비율이다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TCP vs L40s (B=16) | TCP vs H100 (B=32)</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209</a:t>
            </a:r>
          </a:p>
        </p:txBody>
      </p:sp>
      <p:grpSp>
        <p:nvGrpSpPr>
          <p:cNvPr id="9" name="도해 A7#22"/>
          <p:cNvGrpSpPr/>
          <p:nvPr/>
        </p:nvGrpSpPr>
        <p:grpSpPr>
          <a:xfrm>
            <a:off x="1285635" y="1463040"/>
            <a:ext cx="9620426" cy="4078224"/>
            <a:chOff x="1285635" y="1463040"/>
            <a:chExt cx="9620426" cy="4078224"/>
          </a:xfrm>
        </p:grpSpPr>
        <p:sp>
          <p:nvSpPr>
            <p:cNvPr id="10" name="Rounded Rectangle 9"/>
            <p:cNvSpPr/>
            <p:nvPr/>
          </p:nvSpPr>
          <p:spPr>
            <a:xfrm>
              <a:off x="1285635" y="1463040"/>
              <a:ext cx="4705643" cy="3597203"/>
            </a:xfrm>
            <a:prstGeom prst="roundRect">
              <a:avLst>
                <a:gd name="adj" fmla="val 2906"/>
              </a:avLst>
            </a:prstGeom>
            <a:solidFill>
              <a:srgbClr val="F7FAFD"/>
            </a:solidFill>
            <a:ln w="1882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94774" y="1598144"/>
              <a:ext cx="2315752" cy="196842"/>
            </a:xfrm>
            <a:prstGeom prst="rect">
              <a:avLst/>
            </a:prstGeom>
            <a:noFill/>
          </p:spPr>
          <p:txBody>
            <a:bodyPr wrap="none" anchor="ctr" lIns="0" rIns="0" tIns="0" bIns="0">
              <a:noAutofit/>
            </a:bodyPr>
            <a:lstStyle/>
            <a:p>
              <a:pPr algn="l"/>
              <a:r>
                <a:rPr sz="1070" b="1">
                  <a:solidFill>
                    <a:srgbClr val="083F80"/>
                  </a:solidFill>
                  <a:latin typeface="맑은 고딕"/>
                  <a:ea typeface="맑은 고딕"/>
                  <a:cs typeface="맑은 고딕"/>
                </a:rPr>
                <a:t>TCP vs L40s   (B=16, IL=2K, OL=2K)</a:t>
              </a:r>
            </a:p>
          </p:txBody>
        </p:sp>
        <p:sp>
          <p:nvSpPr>
            <p:cNvPr id="12" name="TextBox 11"/>
            <p:cNvSpPr txBox="1"/>
            <p:nvPr/>
          </p:nvSpPr>
          <p:spPr>
            <a:xfrm>
              <a:off x="1452946" y="1957028"/>
              <a:ext cx="1067219"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메모리 대역폭 (TB/s)</a:t>
              </a:r>
            </a:p>
          </p:txBody>
        </p:sp>
        <p:sp>
          <p:nvSpPr>
            <p:cNvPr id="13" name="TextBox 12"/>
            <p:cNvSpPr txBox="1"/>
            <p:nvPr/>
          </p:nvSpPr>
          <p:spPr>
            <a:xfrm>
              <a:off x="4887302" y="1957028"/>
              <a:ext cx="936663" cy="166559"/>
            </a:xfrm>
            <a:prstGeom prst="rect">
              <a:avLst/>
            </a:prstGeom>
            <a:noFill/>
          </p:spPr>
          <p:txBody>
            <a:bodyPr wrap="none" anchor="ctr" lIns="0" rIns="0" tIns="0" bIns="0">
              <a:noAutofit/>
            </a:bodyPr>
            <a:lstStyle/>
            <a:p>
              <a:pPr algn="r"/>
              <a:r>
                <a:rPr sz="910" b="1">
                  <a:solidFill>
                    <a:srgbClr val="0B5FC0"/>
                  </a:solidFill>
                  <a:latin typeface="맑은 고딕"/>
                  <a:ea typeface="맑은 고딕"/>
                  <a:cs typeface="맑은 고딕"/>
                </a:rPr>
                <a:t>TCP 가 1.7배 넓음</a:t>
              </a:r>
            </a:p>
          </p:txBody>
        </p:sp>
        <p:sp>
          <p:nvSpPr>
            <p:cNvPr id="14" name="Rounded Rectangle 13"/>
            <p:cNvSpPr/>
            <p:nvPr/>
          </p:nvSpPr>
          <p:spPr>
            <a:xfrm>
              <a:off x="2435903" y="2174115"/>
              <a:ext cx="1558091"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86258" y="2214061"/>
              <a:ext cx="286903"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L40s</a:t>
              </a:r>
            </a:p>
          </p:txBody>
        </p:sp>
        <p:sp>
          <p:nvSpPr>
            <p:cNvPr id="16" name="TextBox 15"/>
            <p:cNvSpPr txBox="1"/>
            <p:nvPr/>
          </p:nvSpPr>
          <p:spPr>
            <a:xfrm>
              <a:off x="4077649" y="2214061"/>
              <a:ext cx="269555"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0.86</a:t>
              </a:r>
            </a:p>
          </p:txBody>
        </p:sp>
        <p:sp>
          <p:nvSpPr>
            <p:cNvPr id="17" name="Rounded Rectangle 16"/>
            <p:cNvSpPr/>
            <p:nvPr/>
          </p:nvSpPr>
          <p:spPr>
            <a:xfrm>
              <a:off x="2435903" y="2466911"/>
              <a:ext cx="2718816"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23150" y="2506856"/>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19" name="TextBox 18"/>
            <p:cNvSpPr txBox="1"/>
            <p:nvPr/>
          </p:nvSpPr>
          <p:spPr>
            <a:xfrm>
              <a:off x="5238375" y="2506856"/>
              <a:ext cx="204774"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1.5</a:t>
              </a:r>
            </a:p>
          </p:txBody>
        </p:sp>
        <p:sp>
          <p:nvSpPr>
            <p:cNvPr id="20" name="TextBox 19"/>
            <p:cNvSpPr txBox="1"/>
            <p:nvPr/>
          </p:nvSpPr>
          <p:spPr>
            <a:xfrm>
              <a:off x="1452946" y="2835415"/>
              <a:ext cx="1082748"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처리량 (tokens/sec)</a:t>
              </a:r>
            </a:p>
          </p:txBody>
        </p:sp>
        <p:sp>
          <p:nvSpPr>
            <p:cNvPr id="21" name="TextBox 20"/>
            <p:cNvSpPr txBox="1"/>
            <p:nvPr/>
          </p:nvSpPr>
          <p:spPr>
            <a:xfrm>
              <a:off x="4819437" y="2835415"/>
              <a:ext cx="1004529" cy="166559"/>
            </a:xfrm>
            <a:prstGeom prst="rect">
              <a:avLst/>
            </a:prstGeom>
            <a:noFill/>
          </p:spPr>
          <p:txBody>
            <a:bodyPr wrap="none" anchor="ctr" lIns="0" rIns="0" tIns="0" bIns="0">
              <a:noAutofit/>
            </a:bodyPr>
            <a:lstStyle/>
            <a:p>
              <a:pPr algn="r"/>
              <a:r>
                <a:rPr sz="910" b="1">
                  <a:solidFill>
                    <a:srgbClr val="0B5FC0"/>
                  </a:solidFill>
                  <a:latin typeface="맑은 고딕"/>
                  <a:ea typeface="맑은 고딕"/>
                  <a:cs typeface="맑은 고딕"/>
                </a:rPr>
                <a:t>TCP 가 1.76배 빠름</a:t>
              </a:r>
            </a:p>
          </p:txBody>
        </p:sp>
        <p:sp>
          <p:nvSpPr>
            <p:cNvPr id="22" name="Rounded Rectangle 21"/>
            <p:cNvSpPr/>
            <p:nvPr/>
          </p:nvSpPr>
          <p:spPr>
            <a:xfrm>
              <a:off x="2435903" y="3052502"/>
              <a:ext cx="1547634"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86258" y="3092447"/>
              <a:ext cx="286903"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L40s</a:t>
              </a:r>
            </a:p>
          </p:txBody>
        </p:sp>
        <p:sp>
          <p:nvSpPr>
            <p:cNvPr id="24" name="TextBox 23"/>
            <p:cNvSpPr txBox="1"/>
            <p:nvPr/>
          </p:nvSpPr>
          <p:spPr>
            <a:xfrm>
              <a:off x="4067192" y="3092447"/>
              <a:ext cx="233870"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531</a:t>
              </a:r>
            </a:p>
          </p:txBody>
        </p:sp>
        <p:sp>
          <p:nvSpPr>
            <p:cNvPr id="25" name="Rounded Rectangle 24"/>
            <p:cNvSpPr/>
            <p:nvPr/>
          </p:nvSpPr>
          <p:spPr>
            <a:xfrm>
              <a:off x="2435903" y="3345297"/>
              <a:ext cx="2718816"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23150" y="3385243"/>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27" name="TextBox 26"/>
            <p:cNvSpPr txBox="1"/>
            <p:nvPr/>
          </p:nvSpPr>
          <p:spPr>
            <a:xfrm>
              <a:off x="5238375" y="3385243"/>
              <a:ext cx="233870"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935</a:t>
              </a:r>
            </a:p>
          </p:txBody>
        </p:sp>
        <p:sp>
          <p:nvSpPr>
            <p:cNvPr id="28" name="TextBox 27"/>
            <p:cNvSpPr txBox="1"/>
            <p:nvPr/>
          </p:nvSpPr>
          <p:spPr>
            <a:xfrm>
              <a:off x="1452946" y="3713801"/>
              <a:ext cx="490474"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TDP (W)</a:t>
              </a:r>
            </a:p>
          </p:txBody>
        </p:sp>
        <p:sp>
          <p:nvSpPr>
            <p:cNvPr id="29" name="TextBox 28"/>
            <p:cNvSpPr txBox="1"/>
            <p:nvPr/>
          </p:nvSpPr>
          <p:spPr>
            <a:xfrm>
              <a:off x="4919740" y="3713801"/>
              <a:ext cx="904226" cy="166559"/>
            </a:xfrm>
            <a:prstGeom prst="rect">
              <a:avLst/>
            </a:prstGeom>
            <a:noFill/>
          </p:spPr>
          <p:txBody>
            <a:bodyPr wrap="none" anchor="ctr" lIns="0" rIns="0" tIns="0" bIns="0">
              <a:noAutofit/>
            </a:bodyPr>
            <a:lstStyle/>
            <a:p>
              <a:pPr algn="r"/>
              <a:r>
                <a:rPr sz="910" b="1">
                  <a:solidFill>
                    <a:srgbClr val="0B5FC0"/>
                  </a:solidFill>
                  <a:latin typeface="맑은 고딕"/>
                  <a:ea typeface="맑은 고딕"/>
                  <a:cs typeface="맑은 고딕"/>
                </a:rPr>
                <a:t>TCP 가 57% 낮음</a:t>
              </a:r>
            </a:p>
          </p:txBody>
        </p:sp>
        <p:sp>
          <p:nvSpPr>
            <p:cNvPr id="30" name="Rounded Rectangle 29"/>
            <p:cNvSpPr/>
            <p:nvPr/>
          </p:nvSpPr>
          <p:spPr>
            <a:xfrm>
              <a:off x="2435903" y="3930888"/>
              <a:ext cx="2718816"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86258" y="3970834"/>
              <a:ext cx="286903"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L40s</a:t>
              </a:r>
            </a:p>
          </p:txBody>
        </p:sp>
        <p:sp>
          <p:nvSpPr>
            <p:cNvPr id="32" name="TextBox 31"/>
            <p:cNvSpPr txBox="1"/>
            <p:nvPr/>
          </p:nvSpPr>
          <p:spPr>
            <a:xfrm>
              <a:off x="5238375" y="3970834"/>
              <a:ext cx="233870"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350</a:t>
              </a:r>
            </a:p>
          </p:txBody>
        </p:sp>
        <p:sp>
          <p:nvSpPr>
            <p:cNvPr id="33" name="Rounded Rectangle 32"/>
            <p:cNvSpPr/>
            <p:nvPr/>
          </p:nvSpPr>
          <p:spPr>
            <a:xfrm>
              <a:off x="2435903" y="4223684"/>
              <a:ext cx="1160725"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23150" y="4263630"/>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35" name="TextBox 34"/>
            <p:cNvSpPr txBox="1"/>
            <p:nvPr/>
          </p:nvSpPr>
          <p:spPr>
            <a:xfrm>
              <a:off x="3680284" y="4263630"/>
              <a:ext cx="233870"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150</a:t>
              </a:r>
            </a:p>
          </p:txBody>
        </p:sp>
        <p:sp>
          <p:nvSpPr>
            <p:cNvPr id="36" name="Rounded Rectangle 35"/>
            <p:cNvSpPr/>
            <p:nvPr/>
          </p:nvSpPr>
          <p:spPr>
            <a:xfrm>
              <a:off x="1452946" y="4495566"/>
              <a:ext cx="4371020" cy="460107"/>
            </a:xfrm>
            <a:prstGeom prst="roundRect">
              <a:avLst>
                <a:gd name="adj" fmla="val 13636"/>
              </a:avLst>
            </a:prstGeom>
            <a:solidFill>
              <a:srgbClr val="E2F4E8"/>
            </a:solidFill>
            <a:ln w="1463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99344" y="4577339"/>
              <a:ext cx="1874807" cy="158988"/>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대역폭 1.7배 우위 → 처리량 1.76배 우위</a:t>
              </a:r>
            </a:p>
          </p:txBody>
        </p:sp>
        <p:sp>
          <p:nvSpPr>
            <p:cNvPr id="38" name="TextBox 37"/>
            <p:cNvSpPr txBox="1"/>
            <p:nvPr/>
          </p:nvSpPr>
          <p:spPr>
            <a:xfrm>
              <a:off x="1599344" y="4744651"/>
              <a:ext cx="1971868" cy="158988"/>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게다가 TDP 는 절반 이하 (150W vs 350W)</a:t>
              </a:r>
            </a:p>
          </p:txBody>
        </p:sp>
        <p:sp>
          <p:nvSpPr>
            <p:cNvPr id="39" name="Rounded Rectangle 38"/>
            <p:cNvSpPr/>
            <p:nvPr/>
          </p:nvSpPr>
          <p:spPr>
            <a:xfrm>
              <a:off x="6200417" y="1463040"/>
              <a:ext cx="4705643" cy="3597203"/>
            </a:xfrm>
            <a:prstGeom prst="roundRect">
              <a:avLst>
                <a:gd name="adj" fmla="val 2906"/>
              </a:avLst>
            </a:prstGeom>
            <a:solidFill>
              <a:srgbClr val="F7FAFD"/>
            </a:solidFill>
            <a:ln w="1882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557" y="1598144"/>
              <a:ext cx="2352999" cy="196842"/>
            </a:xfrm>
            <a:prstGeom prst="rect">
              <a:avLst/>
            </a:prstGeom>
            <a:noFill/>
          </p:spPr>
          <p:txBody>
            <a:bodyPr wrap="none" anchor="ctr" lIns="0" rIns="0" tIns="0" bIns="0">
              <a:noAutofit/>
            </a:bodyPr>
            <a:lstStyle/>
            <a:p>
              <a:pPr algn="l"/>
              <a:r>
                <a:rPr sz="1070" b="1">
                  <a:solidFill>
                    <a:srgbClr val="083F80"/>
                  </a:solidFill>
                  <a:latin typeface="맑은 고딕"/>
                  <a:ea typeface="맑은 고딕"/>
                  <a:cs typeface="맑은 고딕"/>
                </a:rPr>
                <a:t>TCP vs H100   (B=32, IL=2K, OL=2K)</a:t>
              </a:r>
            </a:p>
          </p:txBody>
        </p:sp>
        <p:sp>
          <p:nvSpPr>
            <p:cNvPr id="41" name="TextBox 40"/>
            <p:cNvSpPr txBox="1"/>
            <p:nvPr/>
          </p:nvSpPr>
          <p:spPr>
            <a:xfrm>
              <a:off x="6367729" y="1957028"/>
              <a:ext cx="1067219"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메모리 대역폭 (TB/s)</a:t>
              </a:r>
            </a:p>
          </p:txBody>
        </p:sp>
        <p:sp>
          <p:nvSpPr>
            <p:cNvPr id="42" name="TextBox 41"/>
            <p:cNvSpPr txBox="1"/>
            <p:nvPr/>
          </p:nvSpPr>
          <p:spPr>
            <a:xfrm>
              <a:off x="9731919" y="1957028"/>
              <a:ext cx="1006830" cy="166559"/>
            </a:xfrm>
            <a:prstGeom prst="rect">
              <a:avLst/>
            </a:prstGeom>
            <a:noFill/>
          </p:spPr>
          <p:txBody>
            <a:bodyPr wrap="none" anchor="ctr" lIns="0" rIns="0" tIns="0" bIns="0">
              <a:noAutofit/>
            </a:bodyPr>
            <a:lstStyle/>
            <a:p>
              <a:pPr algn="r"/>
              <a:r>
                <a:rPr sz="910" b="1">
                  <a:solidFill>
                    <a:srgbClr val="B45409"/>
                  </a:solidFill>
                  <a:latin typeface="맑은 고딕"/>
                  <a:ea typeface="맑은 고딕"/>
                  <a:cs typeface="맑은 고딕"/>
                </a:rPr>
                <a:t>H100 이 2.2배 넓음</a:t>
              </a:r>
            </a:p>
          </p:txBody>
        </p:sp>
        <p:sp>
          <p:nvSpPr>
            <p:cNvPr id="43" name="Rounded Rectangle 42"/>
            <p:cNvSpPr/>
            <p:nvPr/>
          </p:nvSpPr>
          <p:spPr>
            <a:xfrm>
              <a:off x="7350686" y="2174115"/>
              <a:ext cx="2718816"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70956" y="2214061"/>
              <a:ext cx="316988"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H100</a:t>
              </a:r>
            </a:p>
          </p:txBody>
        </p:sp>
        <p:sp>
          <p:nvSpPr>
            <p:cNvPr id="45" name="TextBox 44"/>
            <p:cNvSpPr txBox="1"/>
            <p:nvPr/>
          </p:nvSpPr>
          <p:spPr>
            <a:xfrm>
              <a:off x="10153158" y="2214061"/>
              <a:ext cx="269555"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3.35</a:t>
              </a:r>
            </a:p>
          </p:txBody>
        </p:sp>
        <p:sp>
          <p:nvSpPr>
            <p:cNvPr id="46" name="Rounded Rectangle 45"/>
            <p:cNvSpPr/>
            <p:nvPr/>
          </p:nvSpPr>
          <p:spPr>
            <a:xfrm>
              <a:off x="7350686" y="2466911"/>
              <a:ext cx="1213010"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37933" y="2506856"/>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48" name="TextBox 47"/>
            <p:cNvSpPr txBox="1"/>
            <p:nvPr/>
          </p:nvSpPr>
          <p:spPr>
            <a:xfrm>
              <a:off x="8647352" y="2506856"/>
              <a:ext cx="204774"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1.5</a:t>
              </a:r>
            </a:p>
          </p:txBody>
        </p:sp>
        <p:sp>
          <p:nvSpPr>
            <p:cNvPr id="49" name="TextBox 48"/>
            <p:cNvSpPr txBox="1"/>
            <p:nvPr/>
          </p:nvSpPr>
          <p:spPr>
            <a:xfrm>
              <a:off x="6367729" y="2835415"/>
              <a:ext cx="1082748"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처리량 (tokens/sec)</a:t>
              </a:r>
            </a:p>
          </p:txBody>
        </p:sp>
        <p:sp>
          <p:nvSpPr>
            <p:cNvPr id="50" name="TextBox 49"/>
            <p:cNvSpPr txBox="1"/>
            <p:nvPr/>
          </p:nvSpPr>
          <p:spPr>
            <a:xfrm>
              <a:off x="9664053" y="2835415"/>
              <a:ext cx="1074696" cy="166559"/>
            </a:xfrm>
            <a:prstGeom prst="rect">
              <a:avLst/>
            </a:prstGeom>
            <a:noFill/>
          </p:spPr>
          <p:txBody>
            <a:bodyPr wrap="none" anchor="ctr" lIns="0" rIns="0" tIns="0" bIns="0">
              <a:noAutofit/>
            </a:bodyPr>
            <a:lstStyle/>
            <a:p>
              <a:pPr algn="r"/>
              <a:r>
                <a:rPr sz="910" b="1">
                  <a:solidFill>
                    <a:srgbClr val="B45409"/>
                  </a:solidFill>
                  <a:latin typeface="맑은 고딕"/>
                  <a:ea typeface="맑은 고딕"/>
                  <a:cs typeface="맑은 고딕"/>
                </a:rPr>
                <a:t>H100 이 1.72배 빠름</a:t>
              </a:r>
            </a:p>
          </p:txBody>
        </p:sp>
        <p:sp>
          <p:nvSpPr>
            <p:cNvPr id="51" name="Rounded Rectangle 50"/>
            <p:cNvSpPr/>
            <p:nvPr/>
          </p:nvSpPr>
          <p:spPr>
            <a:xfrm>
              <a:off x="7350686" y="3052502"/>
              <a:ext cx="2718816"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70956" y="3092447"/>
              <a:ext cx="316988"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H100</a:t>
              </a:r>
            </a:p>
          </p:txBody>
        </p:sp>
        <p:sp>
          <p:nvSpPr>
            <p:cNvPr id="53" name="TextBox 52"/>
            <p:cNvSpPr txBox="1"/>
            <p:nvPr/>
          </p:nvSpPr>
          <p:spPr>
            <a:xfrm>
              <a:off x="10153158" y="3092447"/>
              <a:ext cx="298651"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2230</a:t>
              </a:r>
            </a:p>
          </p:txBody>
        </p:sp>
        <p:sp>
          <p:nvSpPr>
            <p:cNvPr id="54" name="Rounded Rectangle 53"/>
            <p:cNvSpPr/>
            <p:nvPr/>
          </p:nvSpPr>
          <p:spPr>
            <a:xfrm>
              <a:off x="7350686" y="3345297"/>
              <a:ext cx="1579005"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37933" y="3385243"/>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56" name="TextBox 55"/>
            <p:cNvSpPr txBox="1"/>
            <p:nvPr/>
          </p:nvSpPr>
          <p:spPr>
            <a:xfrm>
              <a:off x="9013346" y="3385243"/>
              <a:ext cx="298651"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1293</a:t>
              </a:r>
            </a:p>
          </p:txBody>
        </p:sp>
        <p:sp>
          <p:nvSpPr>
            <p:cNvPr id="57" name="TextBox 56"/>
            <p:cNvSpPr txBox="1"/>
            <p:nvPr/>
          </p:nvSpPr>
          <p:spPr>
            <a:xfrm>
              <a:off x="6367729" y="3713801"/>
              <a:ext cx="490474" cy="166559"/>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TDP (W)</a:t>
              </a:r>
            </a:p>
          </p:txBody>
        </p:sp>
        <p:sp>
          <p:nvSpPr>
            <p:cNvPr id="58" name="TextBox 57"/>
            <p:cNvSpPr txBox="1"/>
            <p:nvPr/>
          </p:nvSpPr>
          <p:spPr>
            <a:xfrm>
              <a:off x="9731919" y="3713801"/>
              <a:ext cx="1006830" cy="166559"/>
            </a:xfrm>
            <a:prstGeom prst="rect">
              <a:avLst/>
            </a:prstGeom>
            <a:noFill/>
          </p:spPr>
          <p:txBody>
            <a:bodyPr wrap="none" anchor="ctr" lIns="0" rIns="0" tIns="0" bIns="0">
              <a:noAutofit/>
            </a:bodyPr>
            <a:lstStyle/>
            <a:p>
              <a:pPr algn="r"/>
              <a:r>
                <a:rPr sz="910" b="1">
                  <a:solidFill>
                    <a:srgbClr val="B45409"/>
                  </a:solidFill>
                  <a:latin typeface="맑은 고딕"/>
                  <a:ea typeface="맑은 고딕"/>
                  <a:cs typeface="맑은 고딕"/>
                </a:rPr>
                <a:t>H100 이 4.7배 높음</a:t>
              </a:r>
            </a:p>
          </p:txBody>
        </p:sp>
        <p:sp>
          <p:nvSpPr>
            <p:cNvPr id="59" name="Rounded Rectangle 58"/>
            <p:cNvSpPr/>
            <p:nvPr/>
          </p:nvSpPr>
          <p:spPr>
            <a:xfrm>
              <a:off x="7350686" y="3930888"/>
              <a:ext cx="2718816" cy="230054"/>
            </a:xfrm>
            <a:prstGeom prst="roundRect">
              <a:avLst>
                <a:gd name="adj" fmla="val 13636"/>
              </a:avLst>
            </a:prstGeom>
            <a:solidFill>
              <a:srgbClr val="FDEBD3"/>
            </a:solidFill>
            <a:ln w="135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70956" y="3970834"/>
              <a:ext cx="316988" cy="158988"/>
            </a:xfrm>
            <a:prstGeom prst="rect">
              <a:avLst/>
            </a:prstGeom>
            <a:noFill/>
          </p:spPr>
          <p:txBody>
            <a:bodyPr wrap="none" anchor="ctr" lIns="0" rIns="0" tIns="0" bIns="0">
              <a:noAutofit/>
            </a:bodyPr>
            <a:lstStyle/>
            <a:p>
              <a:pPr algn="r"/>
              <a:r>
                <a:rPr sz="860" b="1">
                  <a:solidFill>
                    <a:srgbClr val="B45409"/>
                  </a:solidFill>
                  <a:latin typeface="맑은 고딕"/>
                  <a:ea typeface="맑은 고딕"/>
                  <a:cs typeface="맑은 고딕"/>
                </a:rPr>
                <a:t>H100</a:t>
              </a:r>
            </a:p>
          </p:txBody>
        </p:sp>
        <p:sp>
          <p:nvSpPr>
            <p:cNvPr id="61" name="TextBox 60"/>
            <p:cNvSpPr txBox="1"/>
            <p:nvPr/>
          </p:nvSpPr>
          <p:spPr>
            <a:xfrm>
              <a:off x="10153158" y="3970834"/>
              <a:ext cx="233870" cy="158988"/>
            </a:xfrm>
            <a:prstGeom prst="rect">
              <a:avLst/>
            </a:prstGeom>
            <a:noFill/>
          </p:spPr>
          <p:txBody>
            <a:bodyPr wrap="none" anchor="ctr" lIns="0" rIns="0" tIns="0" bIns="0">
              <a:noAutofit/>
            </a:bodyPr>
            <a:lstStyle/>
            <a:p>
              <a:pPr algn="l"/>
              <a:r>
                <a:rPr sz="860" b="1">
                  <a:solidFill>
                    <a:srgbClr val="B45409"/>
                  </a:solidFill>
                  <a:latin typeface="맑은 고딕"/>
                  <a:ea typeface="맑은 고딕"/>
                  <a:cs typeface="맑은 고딕"/>
                </a:rPr>
                <a:t>700</a:t>
              </a:r>
            </a:p>
          </p:txBody>
        </p:sp>
        <p:sp>
          <p:nvSpPr>
            <p:cNvPr id="62" name="Rounded Rectangle 61"/>
            <p:cNvSpPr/>
            <p:nvPr/>
          </p:nvSpPr>
          <p:spPr>
            <a:xfrm>
              <a:off x="7350686" y="4223684"/>
              <a:ext cx="585591" cy="230054"/>
            </a:xfrm>
            <a:prstGeom prst="roundRect">
              <a:avLst>
                <a:gd name="adj" fmla="val 13636"/>
              </a:avLst>
            </a:prstGeom>
            <a:solidFill>
              <a:srgbClr val="CBE0F7"/>
            </a:solidFill>
            <a:ln w="167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037933" y="4263630"/>
              <a:ext cx="250011" cy="158988"/>
            </a:xfrm>
            <a:prstGeom prst="rect">
              <a:avLst/>
            </a:prstGeom>
            <a:noFill/>
          </p:spPr>
          <p:txBody>
            <a:bodyPr wrap="none" anchor="ctr" lIns="0" rIns="0" tIns="0" bIns="0">
              <a:noAutofit/>
            </a:bodyPr>
            <a:lstStyle/>
            <a:p>
              <a:pPr algn="r"/>
              <a:r>
                <a:rPr sz="860" b="1">
                  <a:solidFill>
                    <a:srgbClr val="083F80"/>
                  </a:solidFill>
                  <a:latin typeface="맑은 고딕"/>
                  <a:ea typeface="맑은 고딕"/>
                  <a:cs typeface="맑은 고딕"/>
                </a:rPr>
                <a:t>TCP</a:t>
              </a:r>
            </a:p>
          </p:txBody>
        </p:sp>
        <p:sp>
          <p:nvSpPr>
            <p:cNvPr id="64" name="TextBox 63"/>
            <p:cNvSpPr txBox="1"/>
            <p:nvPr/>
          </p:nvSpPr>
          <p:spPr>
            <a:xfrm>
              <a:off x="8019933" y="4263630"/>
              <a:ext cx="233870" cy="158988"/>
            </a:xfrm>
            <a:prstGeom prst="rect">
              <a:avLst/>
            </a:prstGeom>
            <a:noFill/>
          </p:spPr>
          <p:txBody>
            <a:bodyPr wrap="none" anchor="ctr" lIns="0" rIns="0" tIns="0" bIns="0">
              <a:noAutofit/>
            </a:bodyPr>
            <a:lstStyle/>
            <a:p>
              <a:pPr algn="l"/>
              <a:r>
                <a:rPr sz="860" b="1">
                  <a:solidFill>
                    <a:srgbClr val="083F80"/>
                  </a:solidFill>
                  <a:latin typeface="맑은 고딕"/>
                  <a:ea typeface="맑은 고딕"/>
                  <a:cs typeface="맑은 고딕"/>
                </a:rPr>
                <a:t>150</a:t>
              </a:r>
            </a:p>
          </p:txBody>
        </p:sp>
        <p:sp>
          <p:nvSpPr>
            <p:cNvPr id="65" name="Rounded Rectangle 64"/>
            <p:cNvSpPr/>
            <p:nvPr/>
          </p:nvSpPr>
          <p:spPr>
            <a:xfrm>
              <a:off x="6367729" y="4495566"/>
              <a:ext cx="4371020" cy="460107"/>
            </a:xfrm>
            <a:prstGeom prst="roundRect">
              <a:avLst>
                <a:gd name="adj" fmla="val 13636"/>
              </a:avLst>
            </a:prstGeom>
            <a:solidFill>
              <a:srgbClr val="FDEBD3"/>
            </a:solidFill>
            <a:ln w="1463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14127" y="4577339"/>
              <a:ext cx="1749746" cy="158988"/>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절대 처리량은 H100 이 1.72배 앞선다</a:t>
              </a:r>
            </a:p>
          </p:txBody>
        </p:sp>
        <p:sp>
          <p:nvSpPr>
            <p:cNvPr id="67" name="TextBox 66"/>
            <p:cNvSpPr txBox="1"/>
            <p:nvPr/>
          </p:nvSpPr>
          <p:spPr>
            <a:xfrm>
              <a:off x="6514127" y="4744651"/>
              <a:ext cx="1796630" cy="158988"/>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그러나 TDP 는 4.7배 (700W vs 150W)</a:t>
              </a:r>
            </a:p>
          </p:txBody>
        </p:sp>
        <p:sp>
          <p:nvSpPr>
            <p:cNvPr id="68" name="Rounded Rectangle 67"/>
            <p:cNvSpPr/>
            <p:nvPr/>
          </p:nvSpPr>
          <p:spPr>
            <a:xfrm>
              <a:off x="1285635" y="5185727"/>
              <a:ext cx="9620426" cy="355537"/>
            </a:xfrm>
            <a:prstGeom prst="roundRect">
              <a:avLst>
                <a:gd name="adj" fmla="val 23529"/>
              </a:avLst>
            </a:prstGeom>
            <a:solidFill>
              <a:srgbClr val="FFF7E6"/>
            </a:solidFill>
            <a:ln w="16731">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494774" y="5282349"/>
              <a:ext cx="4650765" cy="166559"/>
            </a:xfrm>
            <a:prstGeom prst="rect">
              <a:avLst/>
            </a:prstGeom>
            <a:noFill/>
          </p:spPr>
          <p:txBody>
            <a:bodyPr wrap="none" anchor="ctr" lIns="0" rIns="0" tIns="0" bIns="0">
              <a:noAutofit/>
            </a:bodyPr>
            <a:lstStyle/>
            <a:p>
              <a:pPr algn="l"/>
              <a:r>
                <a:rPr sz="910" b="0">
                  <a:solidFill>
                    <a:srgbClr val="16202C"/>
                  </a:solidFill>
                  <a:latin typeface="맑은 고딕"/>
                  <a:ea typeface="맑은 고딕"/>
                  <a:cs typeface="맑은 고딕"/>
                </a:rPr>
                <a:t>Table II 에서 L40s 는 B=16, H100 은 B=32 조건에만 값이 있다. 두 GPU 를 직접 비교할 수는 없다</a:t>
              </a:r>
            </a:p>
          </p:txBody>
        </p:sp>
      </p:grpSp>
      <p:sp>
        <p:nvSpPr>
          <p:cNvPr id="70" name="Rectangle 6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두 GPU 모두 대역폭 비율과 처리량 비율이 거의 정확히 맞아떨어진다. 갈리는 것은 전력이다.</a:t>
            </a:r>
          </a:p>
        </p:txBody>
      </p:sp>
      <p:sp>
        <p:nvSpPr>
          <p:cNvPr id="71" name="Rectangle 7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대역폭 비율이 곧 처리량 비율이다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TCP vs L40s (B=16) | TCP vs H100 (B=32)</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210</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논문의 결론: 칩 간 처리량 차이는 대부분 peak memory bandwidth 차이에서 온다. 이 워크로드에서는 연산 성능보다 메모리 대역폭이 지배적이다</a:t>
            </a:r>
          </a:p>
          <a:p>
            <a:pPr algn="l">
              <a:lnSpc>
                <a:spcPct val="118000"/>
              </a:lnSpc>
              <a:spcBef>
                <a:spcPts val="600"/>
              </a:spcBef>
              <a:spcAft>
                <a:spcPts val="200"/>
              </a:spcAft>
            </a:pPr>
            <a:r>
              <a:rPr sz="1900" b="0" i="0">
                <a:solidFill>
                  <a:srgbClr val="16202C"/>
                </a:solidFill>
                <a:latin typeface="Segoe UI"/>
                <a:ea typeface="맑은 고딕"/>
                <a:cs typeface="맑은 고딕"/>
              </a:rPr>
              <a:t>▪  perf/watt 로 환산하면 TCP 6.24 대 L40s 1.52 로 4.1배, TCP 8.62 대 H100 3.19 로 2.7배다</a:t>
            </a:r>
          </a:p>
          <a:p>
            <a:pPr algn="l">
              <a:lnSpc>
                <a:spcPct val="118000"/>
              </a:lnSpc>
              <a:spcBef>
                <a:spcPts val="600"/>
              </a:spcBef>
              <a:spcAft>
                <a:spcPts val="200"/>
              </a:spcAft>
            </a:pPr>
            <a:r>
              <a:rPr sz="1900" b="0" i="0">
                <a:solidFill>
                  <a:srgbClr val="16202C"/>
                </a:solidFill>
                <a:latin typeface="Segoe UI"/>
                <a:ea typeface="맑은 고딕"/>
                <a:cs typeface="맑은 고딕"/>
              </a:rPr>
              <a:t>▪  이 perf/watt 는 실측 전력이 아니라 TDP 로 나눈 값이다 (각주 2). 실측 전력 효율로 읽으면 안 된다</a:t>
            </a:r>
          </a:p>
          <a:p>
            <a:pPr algn="l">
              <a:lnSpc>
                <a:spcPct val="118000"/>
              </a:lnSpc>
              <a:spcBef>
                <a:spcPts val="600"/>
              </a:spcBef>
              <a:spcAft>
                <a:spcPts val="200"/>
              </a:spcAft>
            </a:pPr>
            <a:r>
              <a:rPr sz="1900" b="0" i="0">
                <a:solidFill>
                  <a:srgbClr val="16202C"/>
                </a:solidFill>
                <a:latin typeface="Segoe UI"/>
                <a:ea typeface="맑은 고딕"/>
                <a:cs typeface="맑은 고딕"/>
              </a:rPr>
              <a:t>▪  GPU 수치는 NVIDIA 공개 자료 [13] 인용값이고 데이터 타입도 다르다. NVIDIA 는 FP8, TCP 는 INT8 이다</a:t>
            </a:r>
          </a:p>
          <a:p>
            <a:pPr algn="l">
              <a:lnSpc>
                <a:spcPct val="118000"/>
              </a:lnSpc>
              <a:spcBef>
                <a:spcPts val="600"/>
              </a:spcBef>
              <a:spcAft>
                <a:spcPts val="200"/>
              </a:spcAft>
            </a:pPr>
            <a:r>
              <a:rPr sz="1900" b="0" i="0">
                <a:solidFill>
                  <a:srgbClr val="16202C"/>
                </a:solidFill>
                <a:latin typeface="Segoe UI"/>
                <a:ea typeface="맑은 고딕"/>
                <a:cs typeface="맑은 고딕"/>
              </a:rPr>
              <a:t>▪  TCP 는 FP8 과 INT8 에서 같은 성능을 내므로 이 차이가 결과를 왜곡하지 않는다는 것이 저자의 논거다</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D. 성능 분석 (3) — 첫 토큰 지연시간 해석</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B=1 의 의미</a:t>
            </a:r>
          </a:p>
          <a:p>
            <a:pPr algn="l">
              <a:lnSpc>
                <a:spcPct val="118000"/>
              </a:lnSpc>
              <a:spcBef>
                <a:spcPts val="200"/>
              </a:spcBef>
              <a:spcAft>
                <a:spcPts val="100"/>
              </a:spcAft>
            </a:pPr>
            <a:r>
              <a:rPr sz="1580" b="0" i="0">
                <a:solidFill>
                  <a:srgbClr val="2C3A4B"/>
                </a:solidFill>
                <a:latin typeface="Segoe UI"/>
                <a:ea typeface="맑은 고딕"/>
                <a:cs typeface="맑은 고딕"/>
              </a:rPr>
              <a:t>–  단일 배치 첫 토큰 지연시간(B=1)은 prefill phase(프리필 단계)의 연산·메모리 특성을 대표한다</a:t>
            </a:r>
          </a:p>
          <a:p>
            <a:pPr algn="l">
              <a:lnSpc>
                <a:spcPct val="118000"/>
              </a:lnSpc>
              <a:spcBef>
                <a:spcPts val="200"/>
              </a:spcBef>
              <a:spcAft>
                <a:spcPts val="100"/>
              </a:spcAft>
            </a:pPr>
            <a:r>
              <a:rPr sz="1580" b="0" i="0">
                <a:solidFill>
                  <a:srgbClr val="2C3A4B"/>
                </a:solidFill>
                <a:latin typeface="Segoe UI"/>
                <a:ea typeface="맑은 고딕"/>
                <a:cs typeface="맑은 고딕"/>
              </a:rPr>
              <a:t>–  시퀀스 길이가 작을 때(L=128)는 상대적으로 메모리 집약적인 경향을 보인다</a:t>
            </a:r>
          </a:p>
          <a:p>
            <a:pPr algn="l">
              <a:lnSpc>
                <a:spcPct val="118000"/>
              </a:lnSpc>
              <a:spcBef>
                <a:spcPts val="200"/>
              </a:spcBef>
              <a:spcAft>
                <a:spcPts val="100"/>
              </a:spcAft>
            </a:pPr>
            <a:r>
              <a:rPr sz="1580" b="0" i="0">
                <a:solidFill>
                  <a:srgbClr val="2C3A4B"/>
                </a:solidFill>
                <a:latin typeface="Segoe UI"/>
                <a:ea typeface="맑은 고딕"/>
                <a:cs typeface="맑은 고딕"/>
              </a:rPr>
              <a:t>–  시퀀스 길이가 클 때(L=2k)는 연산 집약적으로 바뀐다</a:t>
            </a:r>
          </a:p>
          <a:p>
            <a:pPr algn="l">
              <a:lnSpc>
                <a:spcPct val="118000"/>
              </a:lnSpc>
              <a:spcBef>
                <a:spcPts val="600"/>
              </a:spcBef>
              <a:spcAft>
                <a:spcPts val="200"/>
              </a:spcAft>
            </a:pPr>
            <a:r>
              <a:rPr sz="1700" b="1" i="0">
                <a:solidFill>
                  <a:srgbClr val="083F80"/>
                </a:solidFill>
                <a:latin typeface="Segoe UI"/>
                <a:ea typeface="맑은 고딕"/>
                <a:cs typeface="맑은 고딕"/>
              </a:rPr>
              <a:t>▪  L40s 와의 비교</a:t>
            </a:r>
          </a:p>
          <a:p>
            <a:pPr algn="l">
              <a:lnSpc>
                <a:spcPct val="118000"/>
              </a:lnSpc>
              <a:spcBef>
                <a:spcPts val="200"/>
              </a:spcBef>
              <a:spcAft>
                <a:spcPts val="100"/>
              </a:spcAft>
            </a:pPr>
            <a:r>
              <a:rPr sz="1580" b="0" i="0">
                <a:solidFill>
                  <a:srgbClr val="2C3A4B"/>
                </a:solidFill>
                <a:latin typeface="Segoe UI"/>
                <a:ea typeface="맑은 고딕"/>
                <a:cs typeface="맑은 고딕"/>
              </a:rPr>
              <a:t>–  TCP 는 L40s 보다 TOPS 도 TDP 도 훨씬 낮다</a:t>
            </a:r>
          </a:p>
          <a:p>
            <a:pPr algn="l">
              <a:lnSpc>
                <a:spcPct val="118000"/>
              </a:lnSpc>
              <a:spcBef>
                <a:spcPts val="200"/>
              </a:spcBef>
              <a:spcAft>
                <a:spcPts val="100"/>
              </a:spcAft>
            </a:pPr>
            <a:r>
              <a:rPr sz="1580" b="0" i="0">
                <a:solidFill>
                  <a:srgbClr val="2C3A4B"/>
                </a:solidFill>
                <a:latin typeface="Segoe UI"/>
                <a:ea typeface="맑은 고딕"/>
                <a:cs typeface="맑은 고딕"/>
              </a:rPr>
              <a:t>–  그럼에도 L=128 에서 41% 낮은 지연시간을 보인다 (14 → 8 msec)</a:t>
            </a:r>
          </a:p>
          <a:p>
            <a:pPr algn="l">
              <a:lnSpc>
                <a:spcPct val="118000"/>
              </a:lnSpc>
              <a:spcBef>
                <a:spcPts val="200"/>
              </a:spcBef>
              <a:spcAft>
                <a:spcPts val="100"/>
              </a:spcAft>
            </a:pPr>
            <a:r>
              <a:rPr sz="1580" b="0" i="0">
                <a:solidFill>
                  <a:srgbClr val="2C3A4B"/>
                </a:solidFill>
                <a:latin typeface="Segoe UI"/>
                <a:ea typeface="맑은 고딕"/>
                <a:cs typeface="맑은 고딕"/>
              </a:rPr>
              <a:t>–  L=2048 에서는 11% 낮은 지연시간을 보인다 (73 → 65 msec)</a:t>
            </a:r>
          </a:p>
          <a:p>
            <a:pPr algn="l">
              <a:lnSpc>
                <a:spcPct val="118000"/>
              </a:lnSpc>
              <a:spcBef>
                <a:spcPts val="600"/>
              </a:spcBef>
              <a:spcAft>
                <a:spcPts val="200"/>
              </a:spcAft>
            </a:pPr>
            <a:r>
              <a:rPr sz="1700" b="1" i="0">
                <a:solidFill>
                  <a:srgbClr val="083F80"/>
                </a:solidFill>
                <a:latin typeface="Segoe UI"/>
                <a:ea typeface="맑은 고딕"/>
                <a:cs typeface="맑은 고딕"/>
              </a:rPr>
              <a:t>▪  저자의 해석</a:t>
            </a:r>
          </a:p>
          <a:p>
            <a:pPr algn="l">
              <a:lnSpc>
                <a:spcPct val="118000"/>
              </a:lnSpc>
              <a:spcBef>
                <a:spcPts val="200"/>
              </a:spcBef>
              <a:spcAft>
                <a:spcPts val="100"/>
              </a:spcAft>
            </a:pPr>
            <a:r>
              <a:rPr sz="1580" b="0" i="0">
                <a:solidFill>
                  <a:srgbClr val="2C3A4B"/>
                </a:solidFill>
                <a:latin typeface="Segoe UI"/>
                <a:ea typeface="맑은 고딕"/>
                <a:cs typeface="맑은 고딕"/>
              </a:rPr>
              <a:t>–  긴 시퀀스(L=2k)에서 더 좋은 성능이 나온다는 것은, TCP 가 더 높은 이용률을 달성한다는 증거다</a:t>
            </a:r>
          </a:p>
          <a:p>
            <a:pPr algn="l">
              <a:lnSpc>
                <a:spcPct val="118000"/>
              </a:lnSpc>
              <a:spcBef>
                <a:spcPts val="200"/>
              </a:spcBef>
              <a:spcAft>
                <a:spcPts val="100"/>
              </a:spcAft>
            </a:pPr>
            <a:r>
              <a:rPr sz="1580" b="0" i="0">
                <a:solidFill>
                  <a:srgbClr val="2C3A4B"/>
                </a:solidFill>
                <a:latin typeface="Segoe UI"/>
                <a:ea typeface="맑은 고딕"/>
                <a:cs typeface="맑은 고딕"/>
              </a:rPr>
              <a:t>–  그 근거는 tensor contraction 에 내재한 병렬성과 data reuse 를 더 잘 활용하는 TCP 의 아키텍처다</a:t>
            </a:r>
          </a:p>
          <a:p>
            <a:pPr algn="l">
              <a:lnSpc>
                <a:spcPct val="118000"/>
              </a:lnSpc>
              <a:spcBef>
                <a:spcPts val="600"/>
              </a:spcBef>
              <a:spcAft>
                <a:spcPts val="200"/>
              </a:spcAft>
            </a:pPr>
            <a:r>
              <a:rPr sz="1700" b="0" i="0">
                <a:solidFill>
                  <a:srgbClr val="16202C"/>
                </a:solidFill>
                <a:latin typeface="Segoe UI"/>
                <a:ea typeface="맑은 고딕"/>
                <a:cs typeface="맑은 고딕"/>
              </a:rPr>
              <a:t>▪  H100 은 L=128 에서 7 msec, L=2K 에서 36 msec 으로 TCP(8, 65)보다 빠르다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긴 시퀀스에서 격차가 줄어드는 것이 tensor contraction 아키텍처의 이용률 증거다.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각주 2 — 비교 방법론의 한계를 저자 스스로 밝힌 부분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1. 인용 출처와 모델</a:t>
            </a:r>
          </a:p>
          <a:p>
            <a:pPr algn="l">
              <a:lnSpc>
                <a:spcPct val="118000"/>
              </a:lnSpc>
              <a:spcBef>
                <a:spcPts val="200"/>
              </a:spcBef>
              <a:spcAft>
                <a:spcPts val="100"/>
              </a:spcAft>
            </a:pPr>
            <a:r>
              <a:rPr sz="1480" b="0" i="0">
                <a:solidFill>
                  <a:srgbClr val="2C3A4B"/>
                </a:solidFill>
                <a:latin typeface="Segoe UI"/>
                <a:ea typeface="맑은 고딕"/>
                <a:cs typeface="맑은 고딕"/>
              </a:rPr>
              <a:t>–  NVIDIA 의 공개 LLaMA 결과를 참조했다 [13]</a:t>
            </a:r>
          </a:p>
          <a:p>
            <a:pPr algn="l">
              <a:lnSpc>
                <a:spcPct val="118000"/>
              </a:lnSpc>
              <a:spcBef>
                <a:spcPts val="200"/>
              </a:spcBef>
              <a:spcAft>
                <a:spcPts val="100"/>
              </a:spcAft>
            </a:pPr>
            <a:r>
              <a:rPr sz="1480" b="0" i="0">
                <a:solidFill>
                  <a:srgbClr val="2C3A4B"/>
                </a:solidFill>
                <a:latin typeface="Segoe UI"/>
                <a:ea typeface="맑은 고딕"/>
                <a:cs typeface="맑은 고딕"/>
              </a:rPr>
              <a:t>–  LLaMA 와 LLaMA-2 의 7B 모델은 계산 관점에서 동일하다</a:t>
            </a:r>
          </a:p>
          <a:p>
            <a:pPr algn="l">
              <a:lnSpc>
                <a:spcPct val="118000"/>
              </a:lnSpc>
              <a:spcBef>
                <a:spcPts val="600"/>
              </a:spcBef>
              <a:spcAft>
                <a:spcPts val="200"/>
              </a:spcAft>
            </a:pPr>
            <a:r>
              <a:rPr sz="1600" b="1" i="0">
                <a:solidFill>
                  <a:srgbClr val="083F80"/>
                </a:solidFill>
                <a:latin typeface="Segoe UI"/>
                <a:ea typeface="맑은 고딕"/>
                <a:cs typeface="맑은 고딕"/>
              </a:rPr>
              <a:t>▪  2. 데이터 타입</a:t>
            </a:r>
          </a:p>
          <a:p>
            <a:pPr algn="l">
              <a:lnSpc>
                <a:spcPct val="118000"/>
              </a:lnSpc>
              <a:spcBef>
                <a:spcPts val="200"/>
              </a:spcBef>
              <a:spcAft>
                <a:spcPts val="100"/>
              </a:spcAft>
            </a:pPr>
            <a:r>
              <a:rPr sz="1480" b="0" i="0">
                <a:solidFill>
                  <a:srgbClr val="2C3A4B"/>
                </a:solidFill>
                <a:latin typeface="Segoe UI"/>
                <a:ea typeface="맑은 고딕"/>
                <a:cs typeface="맑은 고딕"/>
              </a:rPr>
              <a:t>–  NVIDIA 결과는 FP8 이고, TCP 는 INT8 이다</a:t>
            </a:r>
          </a:p>
          <a:p>
            <a:pPr algn="l">
              <a:lnSpc>
                <a:spcPct val="118000"/>
              </a:lnSpc>
              <a:spcBef>
                <a:spcPts val="200"/>
              </a:spcBef>
              <a:spcAft>
                <a:spcPts val="100"/>
              </a:spcAft>
            </a:pPr>
            <a:r>
              <a:rPr sz="1480" b="0" i="0">
                <a:solidFill>
                  <a:srgbClr val="2C3A4B"/>
                </a:solidFill>
                <a:latin typeface="Segoe UI"/>
                <a:ea typeface="맑은 고딕"/>
                <a:cs typeface="맑은 고딕"/>
              </a:rPr>
              <a:t>–  이유: LLaMA-2 용 FP8 모델을 아직 확보하지 못했기 때문이다</a:t>
            </a:r>
          </a:p>
          <a:p>
            <a:pPr algn="l">
              <a:lnSpc>
                <a:spcPct val="118000"/>
              </a:lnSpc>
              <a:spcBef>
                <a:spcPts val="200"/>
              </a:spcBef>
              <a:spcAft>
                <a:spcPts val="100"/>
              </a:spcAft>
            </a:pPr>
            <a:r>
              <a:rPr sz="1480" b="0" i="0">
                <a:solidFill>
                  <a:srgbClr val="2C3A4B"/>
                </a:solidFill>
                <a:latin typeface="Segoe UI"/>
                <a:ea typeface="맑은 고딕"/>
                <a:cs typeface="맑은 고딕"/>
              </a:rPr>
              <a:t>–  TCP 는 FP8 과 INT8 에서 동일한 성능을 제공하므로, 이 차이가 결과를 왜곡하지 않는다는 것이 저자의 논거다</a:t>
            </a:r>
          </a:p>
          <a:p>
            <a:pPr algn="l">
              <a:lnSpc>
                <a:spcPct val="118000"/>
              </a:lnSpc>
              <a:spcBef>
                <a:spcPts val="600"/>
              </a:spcBef>
              <a:spcAft>
                <a:spcPts val="200"/>
              </a:spcAft>
            </a:pPr>
            <a:r>
              <a:rPr sz="1600" b="1" i="0">
                <a:solidFill>
                  <a:srgbClr val="083F80"/>
                </a:solidFill>
                <a:latin typeface="Segoe UI"/>
                <a:ea typeface="맑은 고딕"/>
                <a:cs typeface="맑은 고딕"/>
              </a:rPr>
              <a:t>▪  3. 전력 비교</a:t>
            </a:r>
          </a:p>
          <a:p>
            <a:pPr algn="l">
              <a:lnSpc>
                <a:spcPct val="118000"/>
              </a:lnSpc>
              <a:spcBef>
                <a:spcPts val="200"/>
              </a:spcBef>
              <a:spcAft>
                <a:spcPts val="100"/>
              </a:spcAft>
            </a:pPr>
            <a:r>
              <a:rPr sz="1480" b="0" i="0">
                <a:solidFill>
                  <a:srgbClr val="2C3A4B"/>
                </a:solidFill>
                <a:latin typeface="Segoe UI"/>
                <a:ea typeface="맑은 고딕"/>
                <a:cs typeface="맑은 고딕"/>
              </a:rPr>
              <a:t>–  전력 소비는 TDP 기준으로 비교했다</a:t>
            </a:r>
          </a:p>
          <a:p>
            <a:pPr algn="l">
              <a:lnSpc>
                <a:spcPct val="118000"/>
              </a:lnSpc>
              <a:spcBef>
                <a:spcPts val="200"/>
              </a:spcBef>
              <a:spcAft>
                <a:spcPts val="100"/>
              </a:spcAft>
            </a:pPr>
            <a:r>
              <a:rPr sz="1480" b="0" i="0">
                <a:solidFill>
                  <a:srgbClr val="2C3A4B"/>
                </a:solidFill>
                <a:latin typeface="Segoe UI"/>
                <a:ea typeface="맑은 고딕"/>
                <a:cs typeface="맑은 고딕"/>
              </a:rPr>
              <a:t>–  실제 전력 소비를 쓰는 편이 더 설득력 있겠지만, 비교 대상 GPU 의 정확한 전력 측정이 어려웠다</a:t>
            </a:r>
          </a:p>
          <a:p>
            <a:pPr algn="l">
              <a:lnSpc>
                <a:spcPct val="118000"/>
              </a:lnSpc>
              <a:spcBef>
                <a:spcPts val="200"/>
              </a:spcBef>
              <a:spcAft>
                <a:spcPts val="100"/>
              </a:spcAft>
            </a:pPr>
            <a:r>
              <a:rPr sz="1480" b="0" i="0">
                <a:solidFill>
                  <a:srgbClr val="2C3A4B"/>
                </a:solidFill>
                <a:latin typeface="Segoe UI"/>
                <a:ea typeface="맑은 고딕"/>
                <a:cs typeface="맑은 고딕"/>
              </a:rPr>
              <a:t>–  따라서 양쪽 모두 TDP 를 사용했다. TDP 는 정확하지 않지만 실제 전력 소비의 합리적 근사치로 본다</a:t>
            </a:r>
          </a:p>
          <a:p>
            <a:pPr algn="l">
              <a:lnSpc>
                <a:spcPct val="118000"/>
              </a:lnSpc>
              <a:spcBef>
                <a:spcPts val="600"/>
              </a:spcBef>
              <a:spcAft>
                <a:spcPts val="200"/>
              </a:spcAft>
            </a:pPr>
            <a:r>
              <a:rPr sz="1600" b="1" i="0">
                <a:solidFill>
                  <a:srgbClr val="083F80"/>
                </a:solidFill>
                <a:latin typeface="Segoe UI"/>
                <a:ea typeface="맑은 고딕"/>
                <a:cs typeface="맑은 고딕"/>
              </a:rPr>
              <a:t>▪  발표 시 유의: perf/watt 수치는 실측 전력이 아닌 TDP 기반 추정치다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수치 인용, 데이터 타입, 전력 측정 세 가지 모두에 단서가 붙어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7부 · CASE STUDY (1)</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정리 — 이 부에서 확인한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매핑</a:t>
            </a:r>
          </a:p>
          <a:p>
            <a:pPr algn="l">
              <a:lnSpc>
                <a:spcPct val="118000"/>
              </a:lnSpc>
              <a:spcBef>
                <a:spcPts val="200"/>
              </a:spcBef>
              <a:spcAft>
                <a:spcPts val="100"/>
              </a:spcAft>
            </a:pPr>
            <a:r>
              <a:rPr sz="1380" b="0" i="0">
                <a:solidFill>
                  <a:srgbClr val="2C3A4B"/>
                </a:solidFill>
                <a:latin typeface="Segoe UI"/>
                <a:ea typeface="맑은 고딕"/>
                <a:cs typeface="맑은 고딕"/>
              </a:rPr>
              <a:t>–  Embedding 은 prefill 에서는 분할 방식이 무의미하고(all-gather 때문), decode 에서는 각 PE 가 중복 조회하는 편이 낫다</a:t>
            </a:r>
          </a:p>
          <a:p>
            <a:pPr algn="l">
              <a:lnSpc>
                <a:spcPct val="118000"/>
              </a:lnSpc>
              <a:spcBef>
                <a:spcPts val="200"/>
              </a:spcBef>
              <a:spcAft>
                <a:spcPts val="100"/>
              </a:spcAft>
            </a:pPr>
            <a:r>
              <a:rPr sz="1380" b="0" i="0">
                <a:solidFill>
                  <a:srgbClr val="2C3A4B"/>
                </a:solidFill>
                <a:latin typeface="Segoe UI"/>
                <a:ea typeface="맑은 고딕"/>
                <a:cs typeface="맑은 고딕"/>
              </a:rPr>
              <a:t>–  Attention 의 QK^T 는 헤드당 16 슬라이스 구성에서 query 벡터를 256회 재사용한다 (16 슬라이스 × 8 DPE × 2 feed)</a:t>
            </a:r>
          </a:p>
          <a:p>
            <a:pPr algn="l">
              <a:lnSpc>
                <a:spcPct val="118000"/>
              </a:lnSpc>
              <a:spcBef>
                <a:spcPts val="200"/>
              </a:spcBef>
              <a:spcAft>
                <a:spcPts val="100"/>
              </a:spcAft>
            </a:pPr>
            <a:r>
              <a:rPr sz="1380" b="0" i="0">
                <a:solidFill>
                  <a:srgbClr val="2C3A4B"/>
                </a:solidFill>
                <a:latin typeface="Segoe UI"/>
                <a:ea typeface="맑은 고딕"/>
                <a:cs typeface="맑은 고딕"/>
              </a:rPr>
              <a:t>–  softmax 는 max-reduce → exp → add-reduce 로 슬라이스 간 협력 처리한다</a:t>
            </a:r>
          </a:p>
          <a:p>
            <a:pPr algn="l">
              <a:lnSpc>
                <a:spcPct val="118000"/>
              </a:lnSpc>
              <a:spcBef>
                <a:spcPts val="200"/>
              </a:spcBef>
              <a:spcAft>
                <a:spcPts val="100"/>
              </a:spcAft>
            </a:pPr>
            <a:r>
              <a:rPr sz="1380" b="0" i="0">
                <a:solidFill>
                  <a:srgbClr val="2C3A4B"/>
                </a:solidFill>
                <a:latin typeface="Segoe UI"/>
                <a:ea typeface="맑은 고딕"/>
                <a:cs typeface="맑은 고딕"/>
              </a:rPr>
              <a:t>–  score × V 축약은 tactic 에 따라 128회 입력 재사용을 얻는다 (8 DPE × 16회)</a:t>
            </a:r>
          </a:p>
          <a:p>
            <a:pPr algn="l">
              <a:lnSpc>
                <a:spcPct val="118000"/>
              </a:lnSpc>
              <a:spcBef>
                <a:spcPts val="200"/>
              </a:spcBef>
              <a:spcAft>
                <a:spcPts val="100"/>
              </a:spcAft>
            </a:pPr>
            <a:r>
              <a:rPr sz="1380" b="0" i="0">
                <a:solidFill>
                  <a:srgbClr val="2C3A4B"/>
                </a:solidFill>
                <a:latin typeface="Segoe UI"/>
                <a:ea typeface="맑은 고딕"/>
                <a:cs typeface="맑은 고딕"/>
              </a:rPr>
              <a:t>–  FFN 은 F 가 2.7배 크고 2의 거듭제곱이 아니라는 두 부담을, E × F/3 분할 + prefetch + SiLU 융합으로 완화한다</a:t>
            </a:r>
          </a:p>
          <a:p>
            <a:pPr algn="l">
              <a:lnSpc>
                <a:spcPct val="118000"/>
              </a:lnSpc>
              <a:spcBef>
                <a:spcPts val="600"/>
              </a:spcBef>
              <a:spcAft>
                <a:spcPts val="200"/>
              </a:spcAft>
            </a:pPr>
            <a:r>
              <a:rPr sz="1500" b="1" i="0">
                <a:solidFill>
                  <a:srgbClr val="083F80"/>
                </a:solidFill>
                <a:latin typeface="Segoe UI"/>
                <a:ea typeface="맑은 고딕"/>
                <a:cs typeface="맑은 고딕"/>
              </a:rPr>
              <a:t>▪  성능</a:t>
            </a:r>
          </a:p>
          <a:p>
            <a:pPr algn="l">
              <a:lnSpc>
                <a:spcPct val="118000"/>
              </a:lnSpc>
              <a:spcBef>
                <a:spcPts val="200"/>
              </a:spcBef>
              <a:spcAft>
                <a:spcPts val="100"/>
              </a:spcAft>
            </a:pPr>
            <a:r>
              <a:rPr sz="1380" b="0" i="0">
                <a:solidFill>
                  <a:srgbClr val="2C3A4B"/>
                </a:solidFill>
                <a:latin typeface="Segoe UI"/>
                <a:ea typeface="맑은 고딕"/>
                <a:cs typeface="맑은 고딕"/>
              </a:rPr>
              <a:t>–  perf/watt 에서 H100 대비 2.7배, L40s 대비 4.1배</a:t>
            </a:r>
          </a:p>
          <a:p>
            <a:pPr algn="l">
              <a:lnSpc>
                <a:spcPct val="118000"/>
              </a:lnSpc>
              <a:spcBef>
                <a:spcPts val="200"/>
              </a:spcBef>
              <a:spcAft>
                <a:spcPts val="100"/>
              </a:spcAft>
            </a:pPr>
            <a:r>
              <a:rPr sz="1380" b="0" i="0">
                <a:solidFill>
                  <a:srgbClr val="2C3A4B"/>
                </a:solidFill>
                <a:latin typeface="Segoe UI"/>
                <a:ea typeface="맑은 고딕"/>
                <a:cs typeface="맑은 고딕"/>
              </a:rPr>
              <a:t>–  절대 처리량은 H100 이 1.72배 앞서지만 TDP 는 4.7배 크다</a:t>
            </a:r>
          </a:p>
          <a:p>
            <a:pPr algn="l">
              <a:lnSpc>
                <a:spcPct val="118000"/>
              </a:lnSpc>
              <a:spcBef>
                <a:spcPts val="200"/>
              </a:spcBef>
              <a:spcAft>
                <a:spcPts val="100"/>
              </a:spcAft>
            </a:pPr>
            <a:r>
              <a:rPr sz="1380" b="0" i="0">
                <a:solidFill>
                  <a:srgbClr val="2C3A4B"/>
                </a:solidFill>
                <a:latin typeface="Segoe UI"/>
                <a:ea typeface="맑은 고딕"/>
                <a:cs typeface="맑은 고딕"/>
              </a:rPr>
              <a:t>–  prefill 지연시간은 L40s 대비 L=128 에서 41%, L=2048 에서 11% 낮다</a:t>
            </a:r>
          </a:p>
          <a:p>
            <a:pPr algn="l">
              <a:lnSpc>
                <a:spcPct val="118000"/>
              </a:lnSpc>
              <a:spcBef>
                <a:spcPts val="600"/>
              </a:spcBef>
              <a:spcAft>
                <a:spcPts val="200"/>
              </a:spcAft>
            </a:pPr>
            <a:r>
              <a:rPr sz="1500" b="1" i="0">
                <a:solidFill>
                  <a:srgbClr val="083F80"/>
                </a:solidFill>
                <a:latin typeface="Segoe UI"/>
                <a:ea typeface="맑은 고딕"/>
                <a:cs typeface="맑은 고딕"/>
              </a:rPr>
              <a:t>▪  다음 부(A8)</a:t>
            </a:r>
          </a:p>
          <a:p>
            <a:pPr algn="l">
              <a:lnSpc>
                <a:spcPct val="118000"/>
              </a:lnSpc>
              <a:spcBef>
                <a:spcPts val="200"/>
              </a:spcBef>
              <a:spcAft>
                <a:spcPts val="100"/>
              </a:spcAft>
            </a:pPr>
            <a:r>
              <a:rPr sz="1380" b="0" i="0">
                <a:solidFill>
                  <a:srgbClr val="2C3A4B"/>
                </a:solidFill>
                <a:latin typeface="Segoe UI"/>
                <a:ea typeface="맑은 고딕"/>
                <a:cs typeface="맑은 고딕"/>
              </a:rPr>
              <a:t>–  Fig. 11~15 — prefill/decode 의 지연시간과 이용률, TU/TDMA 트레이스, tactic 별 성능·전력 트레이드오프</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매핑 설계(재사용 곱셈 구조)가 곧 전력당 성능으로 이어진다는 것이 VI절 전반부의 결론이다.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8</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CASE STUDY (2)</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성능·전력 분석 그래프 5종</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부의 흐름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214</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Table II — L40s / H100 / TCP 3자 비교표. 성능 대 전력의 출발점이다.</a:t>
            </a:r>
          </a:p>
          <a:p>
            <a:pPr algn="l">
              <a:lnSpc>
                <a:spcPct val="118000"/>
              </a:lnSpc>
              <a:spcBef>
                <a:spcPts val="600"/>
              </a:spcBef>
              <a:spcAft>
                <a:spcPts val="200"/>
              </a:spcAft>
            </a:pPr>
            <a:r>
              <a:rPr sz="1900" b="1" i="0">
                <a:solidFill>
                  <a:srgbClr val="083F80"/>
                </a:solidFill>
                <a:latin typeface="Segoe UI"/>
                <a:ea typeface="맑은 고딕"/>
                <a:cs typeface="맑은 고딕"/>
              </a:rPr>
              <a:t>▪  Fig. 11 — prefill(프리필, 첫 토큰 생성) 단계의 지연과 활용률. 시퀀스 길이를 128~4096으로 스윕한다.</a:t>
            </a:r>
          </a:p>
          <a:p>
            <a:pPr algn="l">
              <a:lnSpc>
                <a:spcPct val="118000"/>
              </a:lnSpc>
              <a:spcBef>
                <a:spcPts val="600"/>
              </a:spcBef>
              <a:spcAft>
                <a:spcPts val="200"/>
              </a:spcAft>
            </a:pPr>
            <a:r>
              <a:rPr sz="1900" b="1" i="0">
                <a:solidFill>
                  <a:srgbClr val="083F80"/>
                </a:solidFill>
                <a:latin typeface="Segoe UI"/>
                <a:ea typeface="맑은 고딕"/>
                <a:cs typeface="맑은 고딕"/>
              </a:rPr>
              <a:t>▪  Fig. 12 — decode(디코드, 다음 토큰 생성) 단계의 지연과 활용률 4종. 시퀀스 길이와 배치 크기를 각각 스윕한다.</a:t>
            </a:r>
          </a:p>
          <a:p>
            <a:pPr algn="l">
              <a:lnSpc>
                <a:spcPct val="118000"/>
              </a:lnSpc>
              <a:spcBef>
                <a:spcPts val="600"/>
              </a:spcBef>
              <a:spcAft>
                <a:spcPts val="200"/>
              </a:spcAft>
            </a:pPr>
            <a:r>
              <a:rPr sz="1900" b="1" i="0">
                <a:solidFill>
                  <a:srgbClr val="083F80"/>
                </a:solidFill>
                <a:latin typeface="Segoe UI"/>
                <a:ea typeface="맑은 고딕"/>
                <a:cs typeface="맑은 고딕"/>
              </a:rPr>
              <a:t>▪  Fig. 13 — TU(Tensor Unit, 텐서 유닛)와 TDMA(Tensor DMA, 텐서 DMA 엔진)의 실행 트레이스. L=128과 L=2048 두 경우다.</a:t>
            </a:r>
          </a:p>
          <a:p>
            <a:pPr algn="l">
              <a:lnSpc>
                <a:spcPct val="118000"/>
              </a:lnSpc>
              <a:spcBef>
                <a:spcPts val="600"/>
              </a:spcBef>
              <a:spcAft>
                <a:spcPts val="200"/>
              </a:spcAft>
            </a:pPr>
            <a:r>
              <a:rPr sz="1900" b="1" i="0">
                <a:solidFill>
                  <a:srgbClr val="083F80"/>
                </a:solidFill>
                <a:latin typeface="Segoe UI"/>
                <a:ea typeface="맑은 고딕"/>
                <a:cs typeface="맑은 고딕"/>
              </a:rPr>
              <a:t>▪  Fig. 14 — 여러 tactic(택틱, 축 계산 순서)에 대한 실행시간 대 슬라이스 전력 산점도.</a:t>
            </a:r>
          </a:p>
          <a:p>
            <a:pPr algn="l">
              <a:lnSpc>
                <a:spcPct val="118000"/>
              </a:lnSpc>
              <a:spcBef>
                <a:spcPts val="600"/>
              </a:spcBef>
              <a:spcAft>
                <a:spcPts val="200"/>
              </a:spcAft>
            </a:pPr>
            <a:r>
              <a:rPr sz="1900" b="1" i="0">
                <a:solidFill>
                  <a:srgbClr val="083F80"/>
                </a:solidFill>
                <a:latin typeface="Segoe UI"/>
                <a:ea typeface="맑은 고딕"/>
                <a:cs typeface="맑은 고딕"/>
              </a:rPr>
              <a:t>▪  Fig. 15 — 그중 여섯 점(Opt. 1~3 / Ineff. 1~3)의 슬라이스 전력 분해.</a:t>
            </a:r>
          </a:p>
          <a:p>
            <a:pPr algn="l">
              <a:lnSpc>
                <a:spcPct val="118000"/>
              </a:lnSpc>
              <a:spcBef>
                <a:spcPts val="200"/>
              </a:spcBef>
              <a:spcAft>
                <a:spcPts val="100"/>
              </a:spcAft>
            </a:pPr>
            <a:r>
              <a:rPr sz="1780" b="0" i="0">
                <a:solidFill>
                  <a:srgbClr val="2C3A4B"/>
                </a:solidFill>
                <a:latin typeface="Segoe UI"/>
                <a:ea typeface="맑은 고딕"/>
                <a:cs typeface="맑은 고딕"/>
              </a:rPr>
              <a:t>–  앞의 세 그림은 "칩 전체가 모델을 돌릴 때"의 거시적 성능이고, 뒤의 두 그림은 "한 슬라이스 안에서 tactic 하나를 고를 때"의 미시적 성능·전력 트레이드오프다.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거시(모델 단위 지연·활용률) → 미시(tactic 단위 전력) 순으로 내려간다.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 LLaMA-2 7B 지연·처리량 비교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215</a:t>
            </a:r>
          </a:p>
        </p:txBody>
      </p:sp>
      <p:graphicFrame>
        <p:nvGraphicFramePr>
          <p:cNvPr id="8" name="Table 7"/>
          <p:cNvGraphicFramePr>
            <a:graphicFrameLocks noGrp="1"/>
          </p:cNvGraphicFramePr>
          <p:nvPr/>
        </p:nvGraphicFramePr>
        <p:xfrm>
          <a:off x="566928" y="1517904"/>
          <a:ext cx="11057838" cy="4041648"/>
        </p:xfrm>
        <a:graphic>
          <a:graphicData uri="http://schemas.openxmlformats.org/drawingml/2006/table">
            <a:tbl>
              <a:tblPr firstRow="1" bandRow="1">
                <a:tableStyleId>{5C22544A-7EE6-4342-B048-85BDC9FD1C3A}</a:tableStyleId>
              </a:tblPr>
              <a:tblGrid>
                <a:gridCol w="5383422"/>
                <a:gridCol w="1891472"/>
                <a:gridCol w="1891472"/>
                <a:gridCol w="1891472"/>
              </a:tblGrid>
              <a:tr h="288689">
                <a:tc>
                  <a:txBody>
                    <a:bodyPr wrap="square"/>
                    <a:lstStyle/>
                    <a:p>
                      <a:r>
                        <a:rPr sz="10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L40s</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H100</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TCP</a:t>
                      </a:r>
                    </a:p>
                  </a:txBody>
                  <a:tcPr marL="73152" marR="73152" marT="27432" marB="27432">
                    <a:solidFill>
                      <a:srgbClr val="0B5FC0"/>
                    </a:solidFill>
                  </a:tcPr>
                </a:tc>
              </a:tr>
              <a:tr h="288689">
                <a:tc>
                  <a:txBody>
                    <a:bodyPr wrap="square"/>
                    <a:lstStyle/>
                    <a:p>
                      <a:r>
                        <a:rPr sz="1000" b="0" i="0">
                          <a:solidFill>
                            <a:srgbClr val="16202C"/>
                          </a:solidFill>
                          <a:latin typeface="Segoe UI"/>
                          <a:ea typeface="맑은 고딕"/>
                          <a:cs typeface="맑은 고딕"/>
                        </a:rPr>
                        <a:t>Technology</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TSMC 5nm</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TSMC 4nm</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TSMC 5nm</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BF16/FP8 (TFLOPS)*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362/733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989/1979</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256/512</a:t>
                      </a:r>
                    </a:p>
                  </a:txBody>
                  <a:tcPr marL="73152" marR="73152" marT="27432" marB="27432">
                    <a:solidFill>
                      <a:srgbClr val="F6F9FC"/>
                    </a:solidFill>
                  </a:tcPr>
                </a:tc>
              </a:tr>
              <a:tr h="288689">
                <a:tc>
                  <a:txBody>
                    <a:bodyPr wrap="square"/>
                    <a:lstStyle/>
                    <a:p>
                      <a:r>
                        <a:rPr sz="1000" b="0" i="0">
                          <a:solidFill>
                            <a:srgbClr val="16202C"/>
                          </a:solidFill>
                          <a:latin typeface="Segoe UI"/>
                          <a:ea typeface="맑은 고딕"/>
                          <a:cs typeface="맑은 고딕"/>
                        </a:rPr>
                        <a:t>INT8/INT4 (TOPS)*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733/733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1979/-</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512/1024</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Memory Capacity (GB)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48</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80</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48</a:t>
                      </a:r>
                    </a:p>
                  </a:txBody>
                  <a:tcPr marL="73152" marR="73152" marT="27432" marB="27432">
                    <a:solidFill>
                      <a:srgbClr val="F6F9FC"/>
                    </a:solidFill>
                  </a:tcPr>
                </a:tc>
              </a:tr>
              <a:tr h="288689">
                <a:tc>
                  <a:txBody>
                    <a:bodyPr wrap="square"/>
                    <a:lstStyle/>
                    <a:p>
                      <a:r>
                        <a:rPr sz="1000" b="0" i="0">
                          <a:solidFill>
                            <a:srgbClr val="16202C"/>
                          </a:solidFill>
                          <a:latin typeface="Segoe UI"/>
                          <a:ea typeface="맑은 고딕"/>
                          <a:cs typeface="맑은 고딕"/>
                        </a:rPr>
                        <a:t>Memory Bandwidth (TB/s)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0.86</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3.35</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1.5</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Host I/F</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PCIe Gen4 x16</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PCIe Gen5 x16</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PCIe Gen5 x16</a:t>
                      </a:r>
                    </a:p>
                  </a:txBody>
                  <a:tcPr marL="73152" marR="73152" marT="27432" marB="27432">
                    <a:solidFill>
                      <a:srgbClr val="F6F9FC"/>
                    </a:solidFill>
                  </a:tcPr>
                </a:tc>
              </a:tr>
              <a:tr h="288689">
                <a:tc>
                  <a:txBody>
                    <a:bodyPr wrap="square"/>
                    <a:lstStyle/>
                    <a:p>
                      <a:r>
                        <a:rPr sz="1000" b="0" i="0">
                          <a:solidFill>
                            <a:srgbClr val="16202C"/>
                          </a:solidFill>
                          <a:latin typeface="Segoe UI"/>
                          <a:ea typeface="맑은 고딕"/>
                          <a:cs typeface="맑은 고딕"/>
                        </a:rPr>
                        <a:t>TDP (W)</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350</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700</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150</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Latency B=1, L=128 (msec)</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7</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8</a:t>
                      </a:r>
                    </a:p>
                  </a:txBody>
                  <a:tcPr marL="73152" marR="73152" marT="27432" marB="27432">
                    <a:solidFill>
                      <a:srgbClr val="F6F9FC"/>
                    </a:solidFill>
                  </a:tcPr>
                </a:tc>
              </a:tr>
              <a:tr h="288689">
                <a:tc>
                  <a:txBody>
                    <a:bodyPr wrap="square"/>
                    <a:lstStyle/>
                    <a:p>
                      <a:r>
                        <a:rPr sz="1000" b="0" i="0">
                          <a:solidFill>
                            <a:srgbClr val="16202C"/>
                          </a:solidFill>
                          <a:latin typeface="Segoe UI"/>
                          <a:ea typeface="맑은 고딕"/>
                          <a:cs typeface="맑은 고딕"/>
                        </a:rPr>
                        <a:t>Latency B=1, L=2K (msec)</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73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36</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65</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Throughput B=16, IL=2K, OL=2K (tok/s)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531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(표에 없음)</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935</a:t>
                      </a:r>
                    </a:p>
                  </a:txBody>
                  <a:tcPr marL="73152" marR="73152" marT="27432" marB="27432">
                    <a:solidFill>
                      <a:srgbClr val="F6F9FC"/>
                    </a:solidFill>
                  </a:tcPr>
                </a:tc>
              </a:tr>
              <a:tr h="288689">
                <a:tc>
                  <a:txBody>
                    <a:bodyPr wrap="square"/>
                    <a:lstStyle/>
                    <a:p>
                      <a:r>
                        <a:rPr sz="1000" b="0" i="0">
                          <a:solidFill>
                            <a:srgbClr val="16202C"/>
                          </a:solidFill>
                          <a:latin typeface="Segoe UI"/>
                          <a:ea typeface="맑은 고딕"/>
                          <a:cs typeface="맑은 고딕"/>
                        </a:rPr>
                        <a:t>Throughput B=32, IL=2K, OL=2K (tok/s)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(표에 없음)</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2230</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1293</a:t>
                      </a:r>
                    </a:p>
                  </a:txBody>
                  <a:tcPr marL="73152" marR="73152" marT="27432" marB="27432">
                    <a:solidFill>
                      <a:srgbClr val="FFFFFF"/>
                    </a:solidFill>
                  </a:tcPr>
                </a:tc>
              </a:tr>
              <a:tr h="288689">
                <a:tc>
                  <a:txBody>
                    <a:bodyPr wrap="square"/>
                    <a:lstStyle/>
                    <a:p>
                      <a:r>
                        <a:rPr sz="1000" b="0" i="0">
                          <a:solidFill>
                            <a:srgbClr val="16202C"/>
                          </a:solidFill>
                          <a:latin typeface="Segoe UI"/>
                          <a:ea typeface="맑은 고딕"/>
                          <a:cs typeface="맑은 고딕"/>
                        </a:rPr>
                        <a:t>Perf/Watt B=16 (tok/s/W)</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1.52</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(표에 없음)</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6.24</a:t>
                      </a:r>
                    </a:p>
                  </a:txBody>
                  <a:tcPr marL="73152" marR="73152" marT="27432" marB="27432">
                    <a:solidFill>
                      <a:srgbClr val="F6F9FC"/>
                    </a:solidFill>
                  </a:tcPr>
                </a:tc>
              </a:tr>
              <a:tr h="288691">
                <a:tc>
                  <a:txBody>
                    <a:bodyPr wrap="square"/>
                    <a:lstStyle/>
                    <a:p>
                      <a:r>
                        <a:rPr sz="1000" b="0" i="0">
                          <a:solidFill>
                            <a:srgbClr val="16202C"/>
                          </a:solidFill>
                          <a:latin typeface="Segoe UI"/>
                          <a:ea typeface="맑은 고딕"/>
                          <a:cs typeface="맑은 고딕"/>
                        </a:rPr>
                        <a:t>Perf/Watt B=32 (tok/s/W)</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(표에 없음)</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3.19</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8.62</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TCP는 절대 성능에서 1등이 아니다. 표의 핵심은 마지막 두 줄, Perf/Watt다.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해석 (1) — 와트당 성능</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TCP의 성능 대 전력(performance per watt)은 H100 대비 2.7배, L40s 대비 4.1배 좋다.</a:t>
            </a:r>
          </a:p>
          <a:p>
            <a:pPr algn="l">
              <a:lnSpc>
                <a:spcPct val="118000"/>
              </a:lnSpc>
              <a:spcBef>
                <a:spcPts val="200"/>
              </a:spcBef>
              <a:spcAft>
                <a:spcPts val="100"/>
              </a:spcAft>
            </a:pPr>
            <a:r>
              <a:rPr sz="1780" b="0" i="0">
                <a:solidFill>
                  <a:srgbClr val="2C3A4B"/>
                </a:solidFill>
                <a:latin typeface="Segoe UI"/>
                <a:ea typeface="맑은 고딕"/>
                <a:cs typeface="맑은 고딕"/>
              </a:rPr>
              <a:t>–  H100 대비: 8.62 ÷ 3.19 ≈ 2.7 (B=32, IL=2K, OL=2K 기준)</a:t>
            </a:r>
          </a:p>
          <a:p>
            <a:pPr algn="l">
              <a:lnSpc>
                <a:spcPct val="118000"/>
              </a:lnSpc>
              <a:spcBef>
                <a:spcPts val="200"/>
              </a:spcBef>
              <a:spcAft>
                <a:spcPts val="100"/>
              </a:spcAft>
            </a:pPr>
            <a:r>
              <a:rPr sz="1780" b="0" i="0">
                <a:solidFill>
                  <a:srgbClr val="2C3A4B"/>
                </a:solidFill>
                <a:latin typeface="Segoe UI"/>
                <a:ea typeface="맑은 고딕"/>
                <a:cs typeface="맑은 고딕"/>
              </a:rPr>
              <a:t>–  L40s 대비: 6.24 ÷ 1.52 ≈ 4.1 (B=16, IL=2K, OL=2K 기준)</a:t>
            </a:r>
          </a:p>
          <a:p>
            <a:pPr algn="l">
              <a:lnSpc>
                <a:spcPct val="118000"/>
              </a:lnSpc>
              <a:spcBef>
                <a:spcPts val="600"/>
              </a:spcBef>
              <a:spcAft>
                <a:spcPts val="200"/>
              </a:spcAft>
            </a:pPr>
            <a:r>
              <a:rPr sz="1900" b="1" i="0">
                <a:solidFill>
                  <a:srgbClr val="083F80"/>
                </a:solidFill>
                <a:latin typeface="Segoe UI"/>
                <a:ea typeface="맑은 고딕"/>
                <a:cs typeface="맑은 고딕"/>
              </a:rPr>
              <a:t>▪  처리량 자체는 각 칩이 자기 피크에 가까운 값을 낸다. 칩 간 차이는 대부분 피크 메모리 대역폭 차이에서 온다는 것이 논문의 설명이다.</a:t>
            </a:r>
          </a:p>
          <a:p>
            <a:pPr algn="l">
              <a:lnSpc>
                <a:spcPct val="118000"/>
              </a:lnSpc>
              <a:spcBef>
                <a:spcPts val="600"/>
              </a:spcBef>
              <a:spcAft>
                <a:spcPts val="200"/>
              </a:spcAft>
            </a:pPr>
            <a:r>
              <a:rPr sz="1900" b="0" i="0">
                <a:solidFill>
                  <a:srgbClr val="16202C"/>
                </a:solidFill>
                <a:latin typeface="Segoe UI"/>
                <a:ea typeface="맑은 고딕"/>
                <a:cs typeface="맑은 고딕"/>
              </a:rPr>
              <a:t>▪  논문의 논리: TCP는 TDP 대비 메모리 대역폭이 높고, 따라서 소비 전력 대비 처리량이 높다.</a:t>
            </a:r>
          </a:p>
          <a:p>
            <a:pPr algn="l">
              <a:lnSpc>
                <a:spcPct val="118000"/>
              </a:lnSpc>
              <a:spcBef>
                <a:spcPts val="200"/>
              </a:spcBef>
              <a:spcAft>
                <a:spcPts val="100"/>
              </a:spcAft>
            </a:pPr>
            <a:r>
              <a:rPr sz="1780" b="0" i="0">
                <a:solidFill>
                  <a:srgbClr val="2C3A4B"/>
                </a:solidFill>
                <a:latin typeface="Segoe UI"/>
                <a:ea typeface="맑은 고딕"/>
                <a:cs typeface="맑은 고딕"/>
              </a:rPr>
              <a:t>–  TDP 150 W에 1.5 TB/s → W당 10 GB/s</a:t>
            </a:r>
          </a:p>
          <a:p>
            <a:pPr algn="l">
              <a:lnSpc>
                <a:spcPct val="118000"/>
              </a:lnSpc>
              <a:spcBef>
                <a:spcPts val="200"/>
              </a:spcBef>
              <a:spcAft>
                <a:spcPts val="100"/>
              </a:spcAft>
            </a:pPr>
            <a:r>
              <a:rPr sz="1780" b="0" i="0">
                <a:solidFill>
                  <a:srgbClr val="2C3A4B"/>
                </a:solidFill>
                <a:latin typeface="Segoe UI"/>
                <a:ea typeface="맑은 고딕"/>
                <a:cs typeface="맑은 고딕"/>
              </a:rPr>
              <a:t>–  H100은 700 W에 3.35 TB/s, L40s는 350 W에 0.86 TB/s (같은 방식으로 계산하면 TCP가 유리하다는 것이 표에서 읽히는 관계다)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TCP의 주장은 "제일 빠르다"가 아니라 "같은 전력으로 제일 많이 뽑는다"다.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Table II 해석 (2) — 대역폭이 처리량을 결정한다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TCP vs L40s (B=16) · TCP vs H100 (B=32) — 대역폭 · 처리량 · TDP</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217</a:t>
            </a:r>
          </a:p>
        </p:txBody>
      </p:sp>
      <p:grpSp>
        <p:nvGrpSpPr>
          <p:cNvPr id="9" name="도해 A8#04"/>
          <p:cNvGrpSpPr/>
          <p:nvPr/>
        </p:nvGrpSpPr>
        <p:grpSpPr>
          <a:xfrm>
            <a:off x="1197774" y="1463040"/>
            <a:ext cx="9796146" cy="4078224"/>
            <a:chOff x="1197774" y="1463040"/>
            <a:chExt cx="9796146" cy="4078224"/>
          </a:xfrm>
        </p:grpSpPr>
        <p:sp>
          <p:nvSpPr>
            <p:cNvPr id="10" name="Rounded Rectangle 9"/>
            <p:cNvSpPr/>
            <p:nvPr/>
          </p:nvSpPr>
          <p:spPr>
            <a:xfrm>
              <a:off x="1197774" y="1463040"/>
              <a:ext cx="4792964" cy="3174288"/>
            </a:xfrm>
            <a:prstGeom prst="roundRect">
              <a:avLst>
                <a:gd name="adj" fmla="val 3311"/>
              </a:avLst>
            </a:prstGeom>
            <a:solidFill>
              <a:srgbClr val="F4F8FD"/>
            </a:solidFill>
            <a:ln w="2102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86970" y="1586648"/>
              <a:ext cx="891008" cy="213077"/>
            </a:xfrm>
            <a:prstGeom prst="rect">
              <a:avLst/>
            </a:prstGeom>
            <a:noFill/>
          </p:spPr>
          <p:txBody>
            <a:bodyPr wrap="none" anchor="ctr" lIns="0" rIns="0" tIns="0" bIns="0">
              <a:noAutofit/>
            </a:bodyPr>
            <a:lstStyle/>
            <a:p>
              <a:pPr algn="l"/>
              <a:r>
                <a:rPr sz="1160" b="1">
                  <a:solidFill>
                    <a:srgbClr val="083F80"/>
                  </a:solidFill>
                  <a:latin typeface="맑은 고딕"/>
                  <a:ea typeface="맑은 고딕"/>
                  <a:cs typeface="맑은 고딕"/>
                </a:rPr>
                <a:t>TCP vs L40s</a:t>
              </a:r>
            </a:p>
          </p:txBody>
        </p:sp>
        <p:sp>
          <p:nvSpPr>
            <p:cNvPr id="12" name="TextBox 11"/>
            <p:cNvSpPr txBox="1"/>
            <p:nvPr/>
          </p:nvSpPr>
          <p:spPr>
            <a:xfrm>
              <a:off x="1386970" y="1818518"/>
              <a:ext cx="1687139" cy="159808"/>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처리량은 B=16, IL=2K, OL=2K 기준</a:t>
              </a:r>
            </a:p>
          </p:txBody>
        </p:sp>
        <p:sp>
          <p:nvSpPr>
            <p:cNvPr id="13" name="TextBox 12"/>
            <p:cNvSpPr txBox="1"/>
            <p:nvPr/>
          </p:nvSpPr>
          <p:spPr>
            <a:xfrm>
              <a:off x="1365949" y="2016543"/>
              <a:ext cx="1121480"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메모리 대역폭 (TB/s)</a:t>
              </a:r>
            </a:p>
          </p:txBody>
        </p:sp>
        <p:sp>
          <p:nvSpPr>
            <p:cNvPr id="14" name="Rounded Rectangle 13"/>
            <p:cNvSpPr/>
            <p:nvPr/>
          </p:nvSpPr>
          <p:spPr>
            <a:xfrm>
              <a:off x="1933536" y="2240846"/>
              <a:ext cx="2417504"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65949" y="2253879"/>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16" name="TextBox 15"/>
            <p:cNvSpPr txBox="1"/>
            <p:nvPr/>
          </p:nvSpPr>
          <p:spPr>
            <a:xfrm>
              <a:off x="4435127" y="2253879"/>
              <a:ext cx="215631"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1.5</a:t>
              </a:r>
            </a:p>
          </p:txBody>
        </p:sp>
        <p:sp>
          <p:nvSpPr>
            <p:cNvPr id="17" name="Rounded Rectangle 16"/>
            <p:cNvSpPr/>
            <p:nvPr/>
          </p:nvSpPr>
          <p:spPr>
            <a:xfrm>
              <a:off x="1933536" y="2493107"/>
              <a:ext cx="1387437"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5949" y="2506140"/>
              <a:ext cx="30211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L40s</a:t>
              </a:r>
            </a:p>
          </p:txBody>
        </p:sp>
        <p:sp>
          <p:nvSpPr>
            <p:cNvPr id="19" name="TextBox 18"/>
            <p:cNvSpPr txBox="1"/>
            <p:nvPr/>
          </p:nvSpPr>
          <p:spPr>
            <a:xfrm>
              <a:off x="3405061" y="2506140"/>
              <a:ext cx="283846"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0.86</a:t>
              </a:r>
            </a:p>
          </p:txBody>
        </p:sp>
        <p:sp>
          <p:nvSpPr>
            <p:cNvPr id="20" name="Rounded Rectangle 19"/>
            <p:cNvSpPr/>
            <p:nvPr/>
          </p:nvSpPr>
          <p:spPr>
            <a:xfrm>
              <a:off x="4792498" y="2282889"/>
              <a:ext cx="1051089" cy="378392"/>
            </a:xfrm>
            <a:prstGeom prst="roundRect">
              <a:avLst>
                <a:gd name="adj" fmla="val 16666"/>
              </a:avLst>
            </a:prstGeom>
            <a:solidFill>
              <a:srgbClr val="E3EEFB"/>
            </a:solidFill>
            <a:ln w="147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6049" y="2323041"/>
              <a:ext cx="543986" cy="159808"/>
            </a:xfrm>
            <a:prstGeom prst="rect">
              <a:avLst/>
            </a:prstGeom>
            <a:noFill/>
          </p:spPr>
          <p:txBody>
            <a:bodyPr wrap="none" anchor="ctr" lIns="0" rIns="0" tIns="0" bIns="0">
              <a:noAutofit/>
            </a:bodyPr>
            <a:lstStyle/>
            <a:p>
              <a:pPr algn="ctr"/>
              <a:r>
                <a:rPr sz="869" b="1">
                  <a:solidFill>
                    <a:srgbClr val="0B5FC0"/>
                  </a:solidFill>
                  <a:latin typeface="맑은 고딕"/>
                  <a:ea typeface="맑은 고딕"/>
                  <a:cs typeface="맑은 고딕"/>
                </a:rPr>
                <a:t>TCP 1.7배</a:t>
              </a:r>
            </a:p>
          </p:txBody>
        </p:sp>
        <p:sp>
          <p:nvSpPr>
            <p:cNvPr id="22" name="TextBox 21"/>
            <p:cNvSpPr txBox="1"/>
            <p:nvPr/>
          </p:nvSpPr>
          <p:spPr>
            <a:xfrm>
              <a:off x="5133513" y="2470193"/>
              <a:ext cx="369058"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높다</a:t>
              </a:r>
            </a:p>
          </p:txBody>
        </p:sp>
        <p:sp>
          <p:nvSpPr>
            <p:cNvPr id="23" name="TextBox 22"/>
            <p:cNvSpPr txBox="1"/>
            <p:nvPr/>
          </p:nvSpPr>
          <p:spPr>
            <a:xfrm>
              <a:off x="1365949" y="2815371"/>
              <a:ext cx="1137798"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처리량 (tokens/sec)</a:t>
              </a:r>
            </a:p>
          </p:txBody>
        </p:sp>
        <p:sp>
          <p:nvSpPr>
            <p:cNvPr id="24" name="Rounded Rectangle 23"/>
            <p:cNvSpPr/>
            <p:nvPr/>
          </p:nvSpPr>
          <p:spPr>
            <a:xfrm>
              <a:off x="1933536" y="3039673"/>
              <a:ext cx="2417504"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5949" y="3052706"/>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26" name="TextBox 25"/>
            <p:cNvSpPr txBox="1"/>
            <p:nvPr/>
          </p:nvSpPr>
          <p:spPr>
            <a:xfrm>
              <a:off x="4435127" y="3052706"/>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935</a:t>
              </a:r>
            </a:p>
          </p:txBody>
        </p:sp>
        <p:sp>
          <p:nvSpPr>
            <p:cNvPr id="27" name="Rounded Rectangle 26"/>
            <p:cNvSpPr/>
            <p:nvPr/>
          </p:nvSpPr>
          <p:spPr>
            <a:xfrm>
              <a:off x="1933536" y="3291934"/>
              <a:ext cx="1376926"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5949" y="3304968"/>
              <a:ext cx="30211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L40s</a:t>
              </a:r>
            </a:p>
          </p:txBody>
        </p:sp>
        <p:sp>
          <p:nvSpPr>
            <p:cNvPr id="29" name="TextBox 28"/>
            <p:cNvSpPr txBox="1"/>
            <p:nvPr/>
          </p:nvSpPr>
          <p:spPr>
            <a:xfrm>
              <a:off x="3394550" y="3304968"/>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531</a:t>
              </a:r>
            </a:p>
          </p:txBody>
        </p:sp>
        <p:sp>
          <p:nvSpPr>
            <p:cNvPr id="30" name="Rounded Rectangle 29"/>
            <p:cNvSpPr/>
            <p:nvPr/>
          </p:nvSpPr>
          <p:spPr>
            <a:xfrm>
              <a:off x="4792498" y="3081717"/>
              <a:ext cx="1051089" cy="378392"/>
            </a:xfrm>
            <a:prstGeom prst="roundRect">
              <a:avLst>
                <a:gd name="adj" fmla="val 16666"/>
              </a:avLst>
            </a:prstGeom>
            <a:solidFill>
              <a:srgbClr val="E3EEFB"/>
            </a:solidFill>
            <a:ln w="147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13492" y="3121868"/>
              <a:ext cx="609101" cy="159808"/>
            </a:xfrm>
            <a:prstGeom prst="rect">
              <a:avLst/>
            </a:prstGeom>
            <a:noFill/>
          </p:spPr>
          <p:txBody>
            <a:bodyPr wrap="none" anchor="ctr" lIns="0" rIns="0" tIns="0" bIns="0">
              <a:noAutofit/>
            </a:bodyPr>
            <a:lstStyle/>
            <a:p>
              <a:pPr algn="ctr"/>
              <a:r>
                <a:rPr sz="869" b="1">
                  <a:solidFill>
                    <a:srgbClr val="0B5FC0"/>
                  </a:solidFill>
                  <a:latin typeface="맑은 고딕"/>
                  <a:ea typeface="맑은 고딕"/>
                  <a:cs typeface="맑은 고딕"/>
                </a:rPr>
                <a:t>TCP 1.76배</a:t>
              </a:r>
            </a:p>
          </p:txBody>
        </p:sp>
        <p:sp>
          <p:nvSpPr>
            <p:cNvPr id="32" name="TextBox 31"/>
            <p:cNvSpPr txBox="1"/>
            <p:nvPr/>
          </p:nvSpPr>
          <p:spPr>
            <a:xfrm>
              <a:off x="5082745" y="3269021"/>
              <a:ext cx="470593"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빠르다</a:t>
              </a:r>
            </a:p>
          </p:txBody>
        </p:sp>
        <p:sp>
          <p:nvSpPr>
            <p:cNvPr id="33" name="TextBox 32"/>
            <p:cNvSpPr txBox="1"/>
            <p:nvPr/>
          </p:nvSpPr>
          <p:spPr>
            <a:xfrm>
              <a:off x="1365949" y="3614198"/>
              <a:ext cx="515412"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TDP (W)</a:t>
              </a:r>
            </a:p>
          </p:txBody>
        </p:sp>
        <p:sp>
          <p:nvSpPr>
            <p:cNvPr id="34" name="Rounded Rectangle 33"/>
            <p:cNvSpPr/>
            <p:nvPr/>
          </p:nvSpPr>
          <p:spPr>
            <a:xfrm>
              <a:off x="1933536" y="3838500"/>
              <a:ext cx="1040578"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5949" y="3851534"/>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36" name="TextBox 35"/>
            <p:cNvSpPr txBox="1"/>
            <p:nvPr/>
          </p:nvSpPr>
          <p:spPr>
            <a:xfrm>
              <a:off x="3058201" y="3851534"/>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150</a:t>
              </a:r>
            </a:p>
          </p:txBody>
        </p:sp>
        <p:sp>
          <p:nvSpPr>
            <p:cNvPr id="37" name="Rounded Rectangle 36"/>
            <p:cNvSpPr/>
            <p:nvPr/>
          </p:nvSpPr>
          <p:spPr>
            <a:xfrm>
              <a:off x="1933536" y="4090762"/>
              <a:ext cx="2417504"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65949" y="4103795"/>
              <a:ext cx="30211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L40s</a:t>
              </a:r>
            </a:p>
          </p:txBody>
        </p:sp>
        <p:sp>
          <p:nvSpPr>
            <p:cNvPr id="39" name="TextBox 38"/>
            <p:cNvSpPr txBox="1"/>
            <p:nvPr/>
          </p:nvSpPr>
          <p:spPr>
            <a:xfrm>
              <a:off x="4435127" y="4103795"/>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350</a:t>
              </a:r>
            </a:p>
          </p:txBody>
        </p:sp>
        <p:sp>
          <p:nvSpPr>
            <p:cNvPr id="40" name="Rounded Rectangle 39"/>
            <p:cNvSpPr/>
            <p:nvPr/>
          </p:nvSpPr>
          <p:spPr>
            <a:xfrm>
              <a:off x="4792498" y="3880544"/>
              <a:ext cx="1051089" cy="378392"/>
            </a:xfrm>
            <a:prstGeom prst="roundRect">
              <a:avLst>
                <a:gd name="adj" fmla="val 16666"/>
              </a:avLst>
            </a:prstGeom>
            <a:solidFill>
              <a:srgbClr val="E3EEFB"/>
            </a:solidFill>
            <a:ln w="147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8389" y="3920696"/>
              <a:ext cx="759306" cy="159808"/>
            </a:xfrm>
            <a:prstGeom prst="rect">
              <a:avLst/>
            </a:prstGeom>
            <a:noFill/>
          </p:spPr>
          <p:txBody>
            <a:bodyPr wrap="none" anchor="ctr" lIns="0" rIns="0" tIns="0" bIns="0">
              <a:noAutofit/>
            </a:bodyPr>
            <a:lstStyle/>
            <a:p>
              <a:pPr algn="ctr"/>
              <a:r>
                <a:rPr sz="869" b="1">
                  <a:solidFill>
                    <a:srgbClr val="0B5FC0"/>
                  </a:solidFill>
                  <a:latin typeface="맑은 고딕"/>
                  <a:ea typeface="맑은 고딕"/>
                  <a:cs typeface="맑은 고딕"/>
                </a:rPr>
                <a:t>TCP TDP 57%</a:t>
              </a:r>
            </a:p>
          </p:txBody>
        </p:sp>
        <p:sp>
          <p:nvSpPr>
            <p:cNvPr id="42" name="TextBox 41"/>
            <p:cNvSpPr txBox="1"/>
            <p:nvPr/>
          </p:nvSpPr>
          <p:spPr>
            <a:xfrm>
              <a:off x="5133513" y="4067848"/>
              <a:ext cx="369058"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낮다</a:t>
              </a:r>
            </a:p>
          </p:txBody>
        </p:sp>
        <p:sp>
          <p:nvSpPr>
            <p:cNvPr id="43" name="TextBox 42"/>
            <p:cNvSpPr txBox="1"/>
            <p:nvPr/>
          </p:nvSpPr>
          <p:spPr>
            <a:xfrm>
              <a:off x="1386970" y="4383175"/>
              <a:ext cx="2226600" cy="159808"/>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빈 칸 주의 — L40s 의 B=32 값은 논문 표에 없다.</a:t>
              </a:r>
            </a:p>
          </p:txBody>
        </p:sp>
        <p:sp>
          <p:nvSpPr>
            <p:cNvPr id="44" name="Rounded Rectangle 43"/>
            <p:cNvSpPr/>
            <p:nvPr/>
          </p:nvSpPr>
          <p:spPr>
            <a:xfrm>
              <a:off x="6200956" y="1463040"/>
              <a:ext cx="4792964" cy="3174288"/>
            </a:xfrm>
            <a:prstGeom prst="roundRect">
              <a:avLst>
                <a:gd name="adj" fmla="val 3311"/>
              </a:avLst>
            </a:prstGeom>
            <a:solidFill>
              <a:srgbClr val="F4F8FD"/>
            </a:solidFill>
            <a:ln w="2102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90152" y="1586648"/>
              <a:ext cx="931328" cy="213077"/>
            </a:xfrm>
            <a:prstGeom prst="rect">
              <a:avLst/>
            </a:prstGeom>
            <a:noFill/>
          </p:spPr>
          <p:txBody>
            <a:bodyPr wrap="none" anchor="ctr" lIns="0" rIns="0" tIns="0" bIns="0">
              <a:noAutofit/>
            </a:bodyPr>
            <a:lstStyle/>
            <a:p>
              <a:pPr algn="l"/>
              <a:r>
                <a:rPr sz="1160" b="1">
                  <a:solidFill>
                    <a:srgbClr val="083F80"/>
                  </a:solidFill>
                  <a:latin typeface="맑은 고딕"/>
                  <a:ea typeface="맑은 고딕"/>
                  <a:cs typeface="맑은 고딕"/>
                </a:rPr>
                <a:t>TCP vs H100</a:t>
              </a:r>
            </a:p>
          </p:txBody>
        </p:sp>
        <p:sp>
          <p:nvSpPr>
            <p:cNvPr id="46" name="TextBox 45"/>
            <p:cNvSpPr txBox="1"/>
            <p:nvPr/>
          </p:nvSpPr>
          <p:spPr>
            <a:xfrm>
              <a:off x="6390152" y="1818518"/>
              <a:ext cx="1687139" cy="159808"/>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처리량은 B=32, IL=2K, OL=2K 기준</a:t>
              </a:r>
            </a:p>
          </p:txBody>
        </p:sp>
        <p:sp>
          <p:nvSpPr>
            <p:cNvPr id="47" name="TextBox 46"/>
            <p:cNvSpPr txBox="1"/>
            <p:nvPr/>
          </p:nvSpPr>
          <p:spPr>
            <a:xfrm>
              <a:off x="6369131" y="2016543"/>
              <a:ext cx="1121480"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메모리 대역폭 (TB/s)</a:t>
              </a:r>
            </a:p>
          </p:txBody>
        </p:sp>
        <p:sp>
          <p:nvSpPr>
            <p:cNvPr id="48" name="Rounded Rectangle 47"/>
            <p:cNvSpPr/>
            <p:nvPr/>
          </p:nvSpPr>
          <p:spPr>
            <a:xfrm>
              <a:off x="6936718" y="2240846"/>
              <a:ext cx="1082621"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69131" y="2253879"/>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50" name="TextBox 49"/>
            <p:cNvSpPr txBox="1"/>
            <p:nvPr/>
          </p:nvSpPr>
          <p:spPr>
            <a:xfrm>
              <a:off x="8103427" y="2253879"/>
              <a:ext cx="215631"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1.5</a:t>
              </a:r>
            </a:p>
          </p:txBody>
        </p:sp>
        <p:sp>
          <p:nvSpPr>
            <p:cNvPr id="51" name="Rounded Rectangle 50"/>
            <p:cNvSpPr/>
            <p:nvPr/>
          </p:nvSpPr>
          <p:spPr>
            <a:xfrm>
              <a:off x="6936718" y="2493107"/>
              <a:ext cx="2417504"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69131" y="2506140"/>
              <a:ext cx="33379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H100</a:t>
              </a:r>
            </a:p>
          </p:txBody>
        </p:sp>
        <p:sp>
          <p:nvSpPr>
            <p:cNvPr id="53" name="TextBox 52"/>
            <p:cNvSpPr txBox="1"/>
            <p:nvPr/>
          </p:nvSpPr>
          <p:spPr>
            <a:xfrm>
              <a:off x="9438309" y="2506140"/>
              <a:ext cx="283846"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3.35</a:t>
              </a:r>
            </a:p>
          </p:txBody>
        </p:sp>
        <p:sp>
          <p:nvSpPr>
            <p:cNvPr id="54" name="Rounded Rectangle 53"/>
            <p:cNvSpPr/>
            <p:nvPr/>
          </p:nvSpPr>
          <p:spPr>
            <a:xfrm>
              <a:off x="9795680" y="2282889"/>
              <a:ext cx="1051089" cy="378392"/>
            </a:xfrm>
            <a:prstGeom prst="roundRect">
              <a:avLst>
                <a:gd name="adj" fmla="val 16666"/>
              </a:avLst>
            </a:prstGeom>
            <a:solidFill>
              <a:srgbClr val="FDEBD3"/>
            </a:solidFill>
            <a:ln w="1471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15570" y="2323041"/>
              <a:ext cx="611308" cy="159808"/>
            </a:xfrm>
            <a:prstGeom prst="rect">
              <a:avLst/>
            </a:prstGeom>
            <a:noFill/>
          </p:spPr>
          <p:txBody>
            <a:bodyPr wrap="none" anchor="ctr" lIns="0" rIns="0" tIns="0" bIns="0">
              <a:noAutofit/>
            </a:bodyPr>
            <a:lstStyle/>
            <a:p>
              <a:pPr algn="ctr"/>
              <a:r>
                <a:rPr sz="869" b="1">
                  <a:solidFill>
                    <a:srgbClr val="B45409"/>
                  </a:solidFill>
                  <a:latin typeface="맑은 고딕"/>
                  <a:ea typeface="맑은 고딕"/>
                  <a:cs typeface="맑은 고딕"/>
                </a:rPr>
                <a:t>H100 2.2배</a:t>
              </a:r>
            </a:p>
          </p:txBody>
        </p:sp>
        <p:sp>
          <p:nvSpPr>
            <p:cNvPr id="56" name="TextBox 55"/>
            <p:cNvSpPr txBox="1"/>
            <p:nvPr/>
          </p:nvSpPr>
          <p:spPr>
            <a:xfrm>
              <a:off x="10136695" y="2470193"/>
              <a:ext cx="369058"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높다</a:t>
              </a:r>
            </a:p>
          </p:txBody>
        </p:sp>
        <p:sp>
          <p:nvSpPr>
            <p:cNvPr id="57" name="TextBox 56"/>
            <p:cNvSpPr txBox="1"/>
            <p:nvPr/>
          </p:nvSpPr>
          <p:spPr>
            <a:xfrm>
              <a:off x="6369131" y="2815371"/>
              <a:ext cx="1137798"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처리량 (tokens/sec)</a:t>
              </a:r>
            </a:p>
          </p:txBody>
        </p:sp>
        <p:sp>
          <p:nvSpPr>
            <p:cNvPr id="58" name="Rounded Rectangle 57"/>
            <p:cNvSpPr/>
            <p:nvPr/>
          </p:nvSpPr>
          <p:spPr>
            <a:xfrm>
              <a:off x="6936718" y="3039673"/>
              <a:ext cx="1397948"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69131" y="3052706"/>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60" name="TextBox 59"/>
            <p:cNvSpPr txBox="1"/>
            <p:nvPr/>
          </p:nvSpPr>
          <p:spPr>
            <a:xfrm>
              <a:off x="8418753" y="3052706"/>
              <a:ext cx="314486"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1293</a:t>
              </a:r>
            </a:p>
          </p:txBody>
        </p:sp>
        <p:sp>
          <p:nvSpPr>
            <p:cNvPr id="61" name="Rounded Rectangle 60"/>
            <p:cNvSpPr/>
            <p:nvPr/>
          </p:nvSpPr>
          <p:spPr>
            <a:xfrm>
              <a:off x="6936718" y="3291934"/>
              <a:ext cx="2417504"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9131" y="3304968"/>
              <a:ext cx="33379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H100</a:t>
              </a:r>
            </a:p>
          </p:txBody>
        </p:sp>
        <p:sp>
          <p:nvSpPr>
            <p:cNvPr id="63" name="TextBox 62"/>
            <p:cNvSpPr txBox="1"/>
            <p:nvPr/>
          </p:nvSpPr>
          <p:spPr>
            <a:xfrm>
              <a:off x="9438309" y="3304968"/>
              <a:ext cx="314486"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2230</a:t>
              </a:r>
            </a:p>
          </p:txBody>
        </p:sp>
        <p:sp>
          <p:nvSpPr>
            <p:cNvPr id="64" name="Rounded Rectangle 63"/>
            <p:cNvSpPr/>
            <p:nvPr/>
          </p:nvSpPr>
          <p:spPr>
            <a:xfrm>
              <a:off x="9795680" y="3081717"/>
              <a:ext cx="1051089" cy="378392"/>
            </a:xfrm>
            <a:prstGeom prst="roundRect">
              <a:avLst>
                <a:gd name="adj" fmla="val 16666"/>
              </a:avLst>
            </a:prstGeom>
            <a:solidFill>
              <a:srgbClr val="FDEBD3"/>
            </a:solidFill>
            <a:ln w="1471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83012" y="3121868"/>
              <a:ext cx="676423" cy="159808"/>
            </a:xfrm>
            <a:prstGeom prst="rect">
              <a:avLst/>
            </a:prstGeom>
            <a:noFill/>
          </p:spPr>
          <p:txBody>
            <a:bodyPr wrap="none" anchor="ctr" lIns="0" rIns="0" tIns="0" bIns="0">
              <a:noAutofit/>
            </a:bodyPr>
            <a:lstStyle/>
            <a:p>
              <a:pPr algn="ctr"/>
              <a:r>
                <a:rPr sz="869" b="1">
                  <a:solidFill>
                    <a:srgbClr val="B45409"/>
                  </a:solidFill>
                  <a:latin typeface="맑은 고딕"/>
                  <a:ea typeface="맑은 고딕"/>
                  <a:cs typeface="맑은 고딕"/>
                </a:rPr>
                <a:t>H100 1.72배</a:t>
              </a:r>
            </a:p>
          </p:txBody>
        </p:sp>
        <p:sp>
          <p:nvSpPr>
            <p:cNvPr id="66" name="TextBox 65"/>
            <p:cNvSpPr txBox="1"/>
            <p:nvPr/>
          </p:nvSpPr>
          <p:spPr>
            <a:xfrm>
              <a:off x="10085927" y="3269021"/>
              <a:ext cx="470593"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빠르다</a:t>
              </a:r>
            </a:p>
          </p:txBody>
        </p:sp>
        <p:sp>
          <p:nvSpPr>
            <p:cNvPr id="67" name="TextBox 66"/>
            <p:cNvSpPr txBox="1"/>
            <p:nvPr/>
          </p:nvSpPr>
          <p:spPr>
            <a:xfrm>
              <a:off x="6369131" y="3614198"/>
              <a:ext cx="515412" cy="175027"/>
            </a:xfrm>
            <a:prstGeom prst="rect">
              <a:avLst/>
            </a:prstGeom>
            <a:noFill/>
          </p:spPr>
          <p:txBody>
            <a:bodyPr wrap="none" anchor="ctr" lIns="0" rIns="0" tIns="0" bIns="0">
              <a:noAutofit/>
            </a:bodyPr>
            <a:lstStyle/>
            <a:p>
              <a:pPr algn="l"/>
              <a:r>
                <a:rPr sz="950" b="1">
                  <a:solidFill>
                    <a:srgbClr val="16202C"/>
                  </a:solidFill>
                  <a:latin typeface="맑은 고딕"/>
                  <a:ea typeface="맑은 고딕"/>
                  <a:cs typeface="맑은 고딕"/>
                </a:rPr>
                <a:t>TDP (W)</a:t>
              </a:r>
            </a:p>
          </p:txBody>
        </p:sp>
        <p:sp>
          <p:nvSpPr>
            <p:cNvPr id="68" name="Rounded Rectangle 67"/>
            <p:cNvSpPr/>
            <p:nvPr/>
          </p:nvSpPr>
          <p:spPr>
            <a:xfrm>
              <a:off x="6936718" y="3838500"/>
              <a:ext cx="515033" cy="210218"/>
            </a:xfrm>
            <a:prstGeom prst="roundRect">
              <a:avLst>
                <a:gd name="adj" fmla="val 150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69131" y="3851534"/>
              <a:ext cx="263266" cy="167417"/>
            </a:xfrm>
            <a:prstGeom prst="rect">
              <a:avLst/>
            </a:prstGeom>
            <a:noFill/>
          </p:spPr>
          <p:txBody>
            <a:bodyPr wrap="none" anchor="ctr" lIns="0" rIns="0" tIns="0" bIns="0">
              <a:noAutofit/>
            </a:bodyPr>
            <a:lstStyle/>
            <a:p>
              <a:pPr algn="l"/>
              <a:r>
                <a:rPr sz="910" b="1">
                  <a:solidFill>
                    <a:srgbClr val="0B5FC0"/>
                  </a:solidFill>
                  <a:latin typeface="맑은 고딕"/>
                  <a:ea typeface="맑은 고딕"/>
                  <a:cs typeface="맑은 고딕"/>
                </a:rPr>
                <a:t>TCP</a:t>
              </a:r>
            </a:p>
          </p:txBody>
        </p:sp>
        <p:sp>
          <p:nvSpPr>
            <p:cNvPr id="70" name="TextBox 69"/>
            <p:cNvSpPr txBox="1"/>
            <p:nvPr/>
          </p:nvSpPr>
          <p:spPr>
            <a:xfrm>
              <a:off x="7535839" y="3851534"/>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150</a:t>
              </a:r>
            </a:p>
          </p:txBody>
        </p:sp>
        <p:sp>
          <p:nvSpPr>
            <p:cNvPr id="71" name="Rounded Rectangle 70"/>
            <p:cNvSpPr/>
            <p:nvPr/>
          </p:nvSpPr>
          <p:spPr>
            <a:xfrm>
              <a:off x="6936718" y="4090762"/>
              <a:ext cx="2417504" cy="210218"/>
            </a:xfrm>
            <a:prstGeom prst="roundRect">
              <a:avLst>
                <a:gd name="adj" fmla="val 15000"/>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69131" y="4103795"/>
              <a:ext cx="333794" cy="167417"/>
            </a:xfrm>
            <a:prstGeom prst="rect">
              <a:avLst/>
            </a:prstGeom>
            <a:noFill/>
          </p:spPr>
          <p:txBody>
            <a:bodyPr wrap="none" anchor="ctr" lIns="0" rIns="0" tIns="0" bIns="0">
              <a:noAutofit/>
            </a:bodyPr>
            <a:lstStyle/>
            <a:p>
              <a:pPr algn="l"/>
              <a:r>
                <a:rPr sz="910" b="1">
                  <a:solidFill>
                    <a:srgbClr val="B45409"/>
                  </a:solidFill>
                  <a:latin typeface="맑은 고딕"/>
                  <a:ea typeface="맑은 고딕"/>
                  <a:cs typeface="맑은 고딕"/>
                </a:rPr>
                <a:t>H100</a:t>
              </a:r>
            </a:p>
          </p:txBody>
        </p:sp>
        <p:sp>
          <p:nvSpPr>
            <p:cNvPr id="73" name="TextBox 72"/>
            <p:cNvSpPr txBox="1"/>
            <p:nvPr/>
          </p:nvSpPr>
          <p:spPr>
            <a:xfrm>
              <a:off x="9438309" y="4103795"/>
              <a:ext cx="246270" cy="167417"/>
            </a:xfrm>
            <a:prstGeom prst="rect">
              <a:avLst/>
            </a:prstGeom>
            <a:noFill/>
          </p:spPr>
          <p:txBody>
            <a:bodyPr wrap="none" anchor="ctr" lIns="0" rIns="0" tIns="0" bIns="0">
              <a:noAutofit/>
            </a:bodyPr>
            <a:lstStyle/>
            <a:p>
              <a:pPr algn="l"/>
              <a:r>
                <a:rPr sz="910" b="1">
                  <a:solidFill>
                    <a:srgbClr val="16202C"/>
                  </a:solidFill>
                  <a:latin typeface="맑은 고딕"/>
                  <a:ea typeface="맑은 고딕"/>
                  <a:cs typeface="맑은 고딕"/>
                </a:rPr>
                <a:t>700</a:t>
              </a:r>
            </a:p>
          </p:txBody>
        </p:sp>
        <p:sp>
          <p:nvSpPr>
            <p:cNvPr id="74" name="Rounded Rectangle 73"/>
            <p:cNvSpPr/>
            <p:nvPr/>
          </p:nvSpPr>
          <p:spPr>
            <a:xfrm>
              <a:off x="9795680" y="3880544"/>
              <a:ext cx="1051089" cy="378392"/>
            </a:xfrm>
            <a:prstGeom prst="roundRect">
              <a:avLst>
                <a:gd name="adj" fmla="val 16666"/>
              </a:avLst>
            </a:prstGeom>
            <a:solidFill>
              <a:srgbClr val="E3EEFB"/>
            </a:solidFill>
            <a:ln w="147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15570" y="3920696"/>
              <a:ext cx="611308" cy="159808"/>
            </a:xfrm>
            <a:prstGeom prst="rect">
              <a:avLst/>
            </a:prstGeom>
            <a:noFill/>
          </p:spPr>
          <p:txBody>
            <a:bodyPr wrap="none" anchor="ctr" lIns="0" rIns="0" tIns="0" bIns="0">
              <a:noAutofit/>
            </a:bodyPr>
            <a:lstStyle/>
            <a:p>
              <a:pPr algn="ctr"/>
              <a:r>
                <a:rPr sz="869" b="1">
                  <a:solidFill>
                    <a:srgbClr val="0B5FC0"/>
                  </a:solidFill>
                  <a:latin typeface="맑은 고딕"/>
                  <a:ea typeface="맑은 고딕"/>
                  <a:cs typeface="맑은 고딕"/>
                </a:rPr>
                <a:t>H100 4.7배</a:t>
              </a:r>
            </a:p>
          </p:txBody>
        </p:sp>
        <p:sp>
          <p:nvSpPr>
            <p:cNvPr id="76" name="TextBox 75"/>
            <p:cNvSpPr txBox="1"/>
            <p:nvPr/>
          </p:nvSpPr>
          <p:spPr>
            <a:xfrm>
              <a:off x="10085927" y="4067848"/>
              <a:ext cx="470593" cy="159808"/>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더 먹는다</a:t>
              </a:r>
            </a:p>
          </p:txBody>
        </p:sp>
        <p:sp>
          <p:nvSpPr>
            <p:cNvPr id="77" name="TextBox 76"/>
            <p:cNvSpPr txBox="1"/>
            <p:nvPr/>
          </p:nvSpPr>
          <p:spPr>
            <a:xfrm>
              <a:off x="6390152" y="4383175"/>
              <a:ext cx="2256619" cy="159808"/>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빈 칸 주의 — H100 의 B=16 값은 논문 표에 없다.</a:t>
              </a:r>
            </a:p>
          </p:txBody>
        </p:sp>
        <p:sp>
          <p:nvSpPr>
            <p:cNvPr id="78" name="Rounded Rectangle 77"/>
            <p:cNvSpPr/>
            <p:nvPr/>
          </p:nvSpPr>
          <p:spPr>
            <a:xfrm>
              <a:off x="1197774" y="4742437"/>
              <a:ext cx="9796146" cy="798827"/>
            </a:xfrm>
            <a:prstGeom prst="roundRect">
              <a:avLst>
                <a:gd name="adj" fmla="val 13157"/>
              </a:avLst>
            </a:prstGeom>
            <a:solidFill>
              <a:srgbClr val="E2F4E8"/>
            </a:solidFill>
            <a:ln w="2102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407992" y="4851119"/>
              <a:ext cx="4287843" cy="205467"/>
            </a:xfrm>
            <a:prstGeom prst="rect">
              <a:avLst/>
            </a:prstGeom>
            <a:noFill/>
          </p:spPr>
          <p:txBody>
            <a:bodyPr wrap="none" anchor="ctr" lIns="0" rIns="0" tIns="0" bIns="0">
              <a:noAutofit/>
            </a:bodyPr>
            <a:lstStyle/>
            <a:p>
              <a:pPr algn="l"/>
              <a:r>
                <a:rPr sz="1120" b="1">
                  <a:solidFill>
                    <a:srgbClr val="1A7F37"/>
                  </a:solidFill>
                  <a:latin typeface="맑은 고딕"/>
                  <a:ea typeface="맑은 고딕"/>
                  <a:cs typeface="맑은 고딕"/>
                </a:rPr>
                <a:t>대역폭 비율이 그대로 처리량 비율이 된다 — 논문이 직접 지목한 원인이다</a:t>
              </a:r>
            </a:p>
          </p:txBody>
        </p:sp>
        <p:sp>
          <p:nvSpPr>
            <p:cNvPr id="80" name="TextBox 79"/>
            <p:cNvSpPr txBox="1"/>
            <p:nvPr/>
          </p:nvSpPr>
          <p:spPr>
            <a:xfrm>
              <a:off x="1407992" y="5178638"/>
              <a:ext cx="1578472" cy="190247"/>
            </a:xfrm>
            <a:prstGeom prst="rect">
              <a:avLst/>
            </a:prstGeom>
            <a:noFill/>
          </p:spPr>
          <p:txBody>
            <a:bodyPr wrap="none" anchor="ctr" lIns="0" rIns="0" tIns="0" bIns="0">
              <a:noAutofit/>
            </a:bodyPr>
            <a:lstStyle/>
            <a:p>
              <a:pPr algn="l"/>
              <a:r>
                <a:rPr sz="1030" b="0">
                  <a:solidFill>
                    <a:srgbClr val="16202C"/>
                  </a:solidFill>
                  <a:latin typeface="맑은 고딕"/>
                  <a:ea typeface="맑은 고딕"/>
                  <a:cs typeface="맑은 고딕"/>
                </a:rPr>
                <a:t>TCP ÷ L40s :  대역폭 1.7배</a:t>
              </a:r>
            </a:p>
          </p:txBody>
        </p:sp>
        <p:cxnSp>
          <p:nvCxnSpPr>
            <p:cNvPr id="81" name="Connector 80"/>
            <p:cNvCxnSpPr/>
            <p:nvPr/>
          </p:nvCxnSpPr>
          <p:spPr>
            <a:xfrm>
              <a:off x="3152799" y="5289003"/>
              <a:ext cx="294305" cy="0"/>
            </a:xfrm>
            <a:prstGeom prst="line">
              <a:avLst/>
            </a:prstGeom>
            <a:ln w="25226">
              <a:solidFill>
                <a:srgbClr val="1A7F37"/>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3405061" y="5225937"/>
              <a:ext cx="168174" cy="126131"/>
            </a:xfrm>
            <a:custGeom>
              <a:avLst/>
              <a:gdLst/>
              <a:ahLst/>
              <a:cxnLst/>
              <a:rect l="l" t="t" r="r" b="b"/>
              <a:pathLst>
                <a:path w="168174" h="126131">
                  <a:moveTo>
                    <a:pt x="0" y="0"/>
                  </a:moveTo>
                  <a:lnTo>
                    <a:pt x="168174" y="63066"/>
                  </a:lnTo>
                  <a:lnTo>
                    <a:pt x="0" y="126131"/>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678344" y="5178638"/>
              <a:ext cx="835878" cy="190247"/>
            </a:xfrm>
            <a:prstGeom prst="rect">
              <a:avLst/>
            </a:prstGeom>
            <a:noFill/>
          </p:spPr>
          <p:txBody>
            <a:bodyPr wrap="none" anchor="ctr" lIns="0" rIns="0" tIns="0" bIns="0">
              <a:noAutofit/>
            </a:bodyPr>
            <a:lstStyle/>
            <a:p>
              <a:pPr algn="l"/>
              <a:r>
                <a:rPr sz="1030" b="1">
                  <a:solidFill>
                    <a:srgbClr val="1A7F37"/>
                  </a:solidFill>
                  <a:latin typeface="맑은 고딕"/>
                  <a:ea typeface="맑은 고딕"/>
                  <a:cs typeface="맑은 고딕"/>
                </a:rPr>
                <a:t>처리량 1.76배</a:t>
              </a:r>
            </a:p>
          </p:txBody>
        </p:sp>
        <p:sp>
          <p:nvSpPr>
            <p:cNvPr id="84" name="TextBox 83"/>
            <p:cNvSpPr txBox="1"/>
            <p:nvPr/>
          </p:nvSpPr>
          <p:spPr>
            <a:xfrm>
              <a:off x="6306065" y="5178638"/>
              <a:ext cx="1614209" cy="190247"/>
            </a:xfrm>
            <a:prstGeom prst="rect">
              <a:avLst/>
            </a:prstGeom>
            <a:noFill/>
          </p:spPr>
          <p:txBody>
            <a:bodyPr wrap="none" anchor="ctr" lIns="0" rIns="0" tIns="0" bIns="0">
              <a:noAutofit/>
            </a:bodyPr>
            <a:lstStyle/>
            <a:p>
              <a:pPr algn="l"/>
              <a:r>
                <a:rPr sz="1030" b="0">
                  <a:solidFill>
                    <a:srgbClr val="16202C"/>
                  </a:solidFill>
                  <a:latin typeface="맑은 고딕"/>
                  <a:ea typeface="맑은 고딕"/>
                  <a:cs typeface="맑은 고딕"/>
                </a:rPr>
                <a:t>H100 ÷ TCP :  대역폭 2.2배</a:t>
              </a:r>
            </a:p>
          </p:txBody>
        </p:sp>
        <p:cxnSp>
          <p:nvCxnSpPr>
            <p:cNvPr id="85" name="Connector 84"/>
            <p:cNvCxnSpPr/>
            <p:nvPr/>
          </p:nvCxnSpPr>
          <p:spPr>
            <a:xfrm>
              <a:off x="8113938" y="5289003"/>
              <a:ext cx="294305" cy="0"/>
            </a:xfrm>
            <a:prstGeom prst="line">
              <a:avLst/>
            </a:prstGeom>
            <a:ln w="25226">
              <a:solidFill>
                <a:srgbClr val="1A7F37"/>
              </a:solidFill>
            </a:ln>
          </p:spPr>
          <p:style>
            <a:lnRef idx="2">
              <a:schemeClr val="accent1"/>
            </a:lnRef>
            <a:fillRef idx="0">
              <a:schemeClr val="accent1"/>
            </a:fillRef>
            <a:effectRef idx="1">
              <a:schemeClr val="accent1"/>
            </a:effectRef>
            <a:fontRef idx="minor">
              <a:schemeClr val="tx1"/>
            </a:fontRef>
          </p:style>
        </p:cxnSp>
        <p:sp>
          <p:nvSpPr>
            <p:cNvPr id="86" name="Freeform 85"/>
            <p:cNvSpPr/>
            <p:nvPr/>
          </p:nvSpPr>
          <p:spPr>
            <a:xfrm>
              <a:off x="8366199" y="5225937"/>
              <a:ext cx="168174" cy="126131"/>
            </a:xfrm>
            <a:custGeom>
              <a:avLst/>
              <a:gdLst/>
              <a:ahLst/>
              <a:cxnLst/>
              <a:rect l="l" t="t" r="r" b="b"/>
              <a:pathLst>
                <a:path w="168174" h="126131">
                  <a:moveTo>
                    <a:pt x="0" y="0"/>
                  </a:moveTo>
                  <a:lnTo>
                    <a:pt x="168174" y="63066"/>
                  </a:lnTo>
                  <a:lnTo>
                    <a:pt x="0" y="126131"/>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639482" y="5178638"/>
              <a:ext cx="835878" cy="190247"/>
            </a:xfrm>
            <a:prstGeom prst="rect">
              <a:avLst/>
            </a:prstGeom>
            <a:noFill/>
          </p:spPr>
          <p:txBody>
            <a:bodyPr wrap="none" anchor="ctr" lIns="0" rIns="0" tIns="0" bIns="0">
              <a:noAutofit/>
            </a:bodyPr>
            <a:lstStyle/>
            <a:p>
              <a:pPr algn="l"/>
              <a:r>
                <a:rPr sz="1030" b="1">
                  <a:solidFill>
                    <a:srgbClr val="1A7F37"/>
                  </a:solidFill>
                  <a:latin typeface="맑은 고딕"/>
                  <a:ea typeface="맑은 고딕"/>
                  <a:cs typeface="맑은 고딕"/>
                </a:rPr>
                <a:t>처리량 1.72배</a:t>
              </a:r>
            </a:p>
          </p:txBody>
        </p:sp>
      </p:grpSp>
      <p:sp>
        <p:nvSpPr>
          <p:cNvPr id="88" name="Rectangle 8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TCP 의 주장은 "제일 빠르다"가 아니라 "같은 전력으로 제일 많이 뽑는다"다.</a:t>
            </a:r>
          </a:p>
        </p:txBody>
      </p:sp>
      <p:sp>
        <p:nvSpPr>
          <p:cNvPr id="89" name="Rectangle 8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Table II 해석 (2) — 대역폭이 처리량을 결정한다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TCP vs L40s (B=16) · TCP vs H100 (B=32) — 대역폭 · 처리량 · TDP</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218</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원문: "each chip reaches performance close to its peak, with differences between chips mostly due to peak memory bandwidth." 대역폭이 원인이라는 것은 논문이 직접 지목한 것이다.</a:t>
            </a:r>
          </a:p>
          <a:p>
            <a:pPr algn="l">
              <a:lnSpc>
                <a:spcPct val="118000"/>
              </a:lnSpc>
              <a:spcBef>
                <a:spcPts val="600"/>
              </a:spcBef>
              <a:spcAft>
                <a:spcPts val="200"/>
              </a:spcAft>
            </a:pPr>
            <a:r>
              <a:rPr sz="1900" b="0" i="0">
                <a:solidFill>
                  <a:srgbClr val="16202C"/>
                </a:solidFill>
                <a:latin typeface="Segoe UI"/>
                <a:ea typeface="맑은 고딕"/>
                <a:cs typeface="맑은 고딕"/>
              </a:rPr>
              <a:t>▪  두 비교의 조건이 서로 다르다. L40s 비교는 B=16, H100 비교는 B=32 기준이다. 논문 표가 나머지 칸을 비워 두어 같은 배치로 맞출 수 없다.</a:t>
            </a:r>
          </a:p>
          <a:p>
            <a:pPr algn="l">
              <a:lnSpc>
                <a:spcPct val="118000"/>
              </a:lnSpc>
              <a:spcBef>
                <a:spcPts val="600"/>
              </a:spcBef>
              <a:spcAft>
                <a:spcPts val="200"/>
              </a:spcAft>
            </a:pPr>
            <a:r>
              <a:rPr sz="1900" b="0" i="0">
                <a:solidFill>
                  <a:srgbClr val="16202C"/>
                </a:solidFill>
                <a:latin typeface="Segoe UI"/>
                <a:ea typeface="맑은 고딕"/>
                <a:cs typeface="맑은 고딕"/>
              </a:rPr>
              <a:t>▪  전력은 실측이 아니라 양쪽 모두 TDP다. 논문 각주가 "GPU 의 정확한 소비 전력 측정이 어려웠다, TDP 는 정확하지 않지만 합리적 근사"라고 밝힌다.</a:t>
            </a:r>
          </a:p>
          <a:p>
            <a:pPr algn="l">
              <a:lnSpc>
                <a:spcPct val="118000"/>
              </a:lnSpc>
              <a:spcBef>
                <a:spcPts val="600"/>
              </a:spcBef>
              <a:spcAft>
                <a:spcPts val="200"/>
              </a:spcAft>
            </a:pPr>
            <a:r>
              <a:rPr sz="1900" b="0" i="0">
                <a:solidFill>
                  <a:srgbClr val="16202C"/>
                </a:solidFill>
                <a:latin typeface="Segoe UI"/>
                <a:ea typeface="맑은 고딕"/>
                <a:cs typeface="맑은 고딕"/>
              </a:rPr>
              <a:t>▪  NVIDIA 수치는 FP8, TCP 수치는 INT8이다. LLaMA-2 용 FP8 모델이 아직 없었기 때문이며, TCP 는 FP8 과 INT8 성능이 같다.</a:t>
            </a:r>
          </a:p>
          <a:p>
            <a:pPr algn="l">
              <a:lnSpc>
                <a:spcPct val="118000"/>
              </a:lnSpc>
              <a:spcBef>
                <a:spcPts val="600"/>
              </a:spcBef>
              <a:spcAft>
                <a:spcPts val="200"/>
              </a:spcAft>
            </a:pPr>
            <a:r>
              <a:rPr sz="1900" b="1" i="0">
                <a:solidFill>
                  <a:srgbClr val="083F80"/>
                </a:solidFill>
                <a:latin typeface="Segoe UI"/>
                <a:ea typeface="맑은 고딕"/>
                <a:cs typeface="맑은 고딕"/>
              </a:rPr>
              <a:t>▪  H100 은 대역폭이 2.2배인데 처리량은 1.72배만 낸다. TCP 가 대역폭을 더 알뜰히 쓴다고 볼 여지가 있으나 논문이 그렇게 단정하지는 않는다.</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Table II 해석 (3) — prefill 지연과 비교 조건</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B=1의 첫 토큰 지연은 prefill 단계의 연산·메모리 특성을 대표한다.</a:t>
            </a:r>
          </a:p>
          <a:p>
            <a:pPr algn="l">
              <a:lnSpc>
                <a:spcPct val="118000"/>
              </a:lnSpc>
              <a:spcBef>
                <a:spcPts val="200"/>
              </a:spcBef>
              <a:spcAft>
                <a:spcPts val="100"/>
              </a:spcAft>
            </a:pPr>
            <a:r>
              <a:rPr sz="1380" b="0" i="0">
                <a:solidFill>
                  <a:srgbClr val="2C3A4B"/>
                </a:solidFill>
                <a:latin typeface="Segoe UI"/>
                <a:ea typeface="맑은 고딕"/>
                <a:cs typeface="맑은 고딕"/>
              </a:rPr>
              <a:t>–  시퀀스 길이가 짧으면(L=128) 상대적으로 메모리 집약적(memory intensive)이다.</a:t>
            </a:r>
          </a:p>
          <a:p>
            <a:pPr algn="l">
              <a:lnSpc>
                <a:spcPct val="118000"/>
              </a:lnSpc>
              <a:spcBef>
                <a:spcPts val="200"/>
              </a:spcBef>
              <a:spcAft>
                <a:spcPts val="100"/>
              </a:spcAft>
            </a:pPr>
            <a:r>
              <a:rPr sz="1380" b="0" i="0">
                <a:solidFill>
                  <a:srgbClr val="2C3A4B"/>
                </a:solidFill>
                <a:latin typeface="Segoe UI"/>
                <a:ea typeface="맑은 고딕"/>
                <a:cs typeface="맑은 고딕"/>
              </a:rPr>
              <a:t>–  시퀀스 길이가 길면(L=2k) 연산 집약적(compute intensive)으로 바뀐다.</a:t>
            </a:r>
          </a:p>
          <a:p>
            <a:pPr algn="l">
              <a:lnSpc>
                <a:spcPct val="118000"/>
              </a:lnSpc>
              <a:spcBef>
                <a:spcPts val="600"/>
              </a:spcBef>
              <a:spcAft>
                <a:spcPts val="200"/>
              </a:spcAft>
            </a:pPr>
            <a:r>
              <a:rPr sz="1500" b="1" i="0">
                <a:solidFill>
                  <a:srgbClr val="083F80"/>
                </a:solidFill>
                <a:latin typeface="Segoe UI"/>
                <a:ea typeface="맑은 고딕"/>
                <a:cs typeface="맑은 고딕"/>
              </a:rPr>
              <a:t>▪  L40s 대비 TCP는 TOPS도 TDP도 훨씬 낮은데도 지연이 낮다.</a:t>
            </a:r>
          </a:p>
          <a:p>
            <a:pPr algn="l">
              <a:lnSpc>
                <a:spcPct val="118000"/>
              </a:lnSpc>
              <a:spcBef>
                <a:spcPts val="200"/>
              </a:spcBef>
              <a:spcAft>
                <a:spcPts val="100"/>
              </a:spcAft>
            </a:pPr>
            <a:r>
              <a:rPr sz="1380" b="0" i="0">
                <a:solidFill>
                  <a:srgbClr val="2C3A4B"/>
                </a:solidFill>
                <a:latin typeface="Segoe UI"/>
                <a:ea typeface="맑은 고딕"/>
                <a:cs typeface="맑은 고딕"/>
              </a:rPr>
              <a:t>–  L=128에서 41% 낮은 지연 (14 msec → 8 msec)</a:t>
            </a:r>
          </a:p>
          <a:p>
            <a:pPr algn="l">
              <a:lnSpc>
                <a:spcPct val="118000"/>
              </a:lnSpc>
              <a:spcBef>
                <a:spcPts val="200"/>
              </a:spcBef>
              <a:spcAft>
                <a:spcPts val="100"/>
              </a:spcAft>
            </a:pPr>
            <a:r>
              <a:rPr sz="1380" b="0" i="0">
                <a:solidFill>
                  <a:srgbClr val="2C3A4B"/>
                </a:solidFill>
                <a:latin typeface="Segoe UI"/>
                <a:ea typeface="맑은 고딕"/>
                <a:cs typeface="맑은 고딕"/>
              </a:rPr>
              <a:t>–  L=2048에서 11% 낮은 지연 (73 msec → 65 msec)</a:t>
            </a:r>
          </a:p>
          <a:p>
            <a:pPr algn="l">
              <a:lnSpc>
                <a:spcPct val="118000"/>
              </a:lnSpc>
              <a:spcBef>
                <a:spcPts val="600"/>
              </a:spcBef>
              <a:spcAft>
                <a:spcPts val="200"/>
              </a:spcAft>
            </a:pPr>
            <a:r>
              <a:rPr sz="1500" b="1" i="0">
                <a:solidFill>
                  <a:srgbClr val="083F80"/>
                </a:solidFill>
                <a:latin typeface="Segoe UI"/>
                <a:ea typeface="맑은 고딕"/>
                <a:cs typeface="맑은 고딕"/>
              </a:rPr>
              <a:t>▪  긴 시퀀스(L=2k)에서도 이기는 것이 논문이 강조하는 대목이다. 텐서 컨트랙션에 내재한 병렬성과 데이터 재사용을 더 잘 쓰기 때문에 활용률이 높다는 주장이다.</a:t>
            </a:r>
          </a:p>
          <a:p>
            <a:pPr algn="l">
              <a:lnSpc>
                <a:spcPct val="118000"/>
              </a:lnSpc>
              <a:spcBef>
                <a:spcPts val="600"/>
              </a:spcBef>
              <a:spcAft>
                <a:spcPts val="200"/>
              </a:spcAft>
            </a:pPr>
            <a:r>
              <a:rPr sz="1500" b="1" i="0">
                <a:solidFill>
                  <a:srgbClr val="083F80"/>
                </a:solidFill>
                <a:latin typeface="Segoe UI"/>
                <a:ea typeface="맑은 고딕"/>
                <a:cs typeface="맑은 고딕"/>
              </a:rPr>
              <a:t>▪  비교 조건에 붙은 단서 (논문 각주)</a:t>
            </a:r>
          </a:p>
          <a:p>
            <a:pPr algn="l">
              <a:lnSpc>
                <a:spcPct val="118000"/>
              </a:lnSpc>
              <a:spcBef>
                <a:spcPts val="200"/>
              </a:spcBef>
              <a:spcAft>
                <a:spcPts val="100"/>
              </a:spcAft>
            </a:pPr>
            <a:r>
              <a:rPr sz="1380" b="0" i="0">
                <a:solidFill>
                  <a:srgbClr val="2C3A4B"/>
                </a:solidFill>
                <a:latin typeface="Segoe UI"/>
                <a:ea typeface="맑은 고딕"/>
                <a:cs typeface="맑은 고딕"/>
              </a:rPr>
              <a:t>–  NVIDIA 수치는 공개된 LLaMA 결과를 인용했다. LLaMA와 LLaMA-2의 7B는 연산상 동일하다.</a:t>
            </a:r>
          </a:p>
          <a:p>
            <a:pPr algn="l">
              <a:lnSpc>
                <a:spcPct val="118000"/>
              </a:lnSpc>
              <a:spcBef>
                <a:spcPts val="200"/>
              </a:spcBef>
              <a:spcAft>
                <a:spcPts val="100"/>
              </a:spcAft>
            </a:pPr>
            <a:r>
              <a:rPr sz="1380" b="0" i="0">
                <a:solidFill>
                  <a:srgbClr val="2C3A4B"/>
                </a:solidFill>
                <a:latin typeface="Segoe UI"/>
                <a:ea typeface="맑은 고딕"/>
                <a:cs typeface="맑은 고딕"/>
              </a:rPr>
              <a:t>–  NVIDIA는 FP8, TCP는 INT8 결과다. LLaMA-2용 FP8 모델이 아직 없기 때문이고, TCP는 FP8과 INT8 성능이 동일하다.</a:t>
            </a:r>
          </a:p>
          <a:p>
            <a:pPr algn="l">
              <a:lnSpc>
                <a:spcPct val="118000"/>
              </a:lnSpc>
              <a:spcBef>
                <a:spcPts val="200"/>
              </a:spcBef>
              <a:spcAft>
                <a:spcPts val="100"/>
              </a:spcAft>
            </a:pPr>
            <a:r>
              <a:rPr sz="1380" b="0" i="0">
                <a:solidFill>
                  <a:srgbClr val="2C3A4B"/>
                </a:solidFill>
                <a:latin typeface="Segoe UI"/>
                <a:ea typeface="맑은 고딕"/>
                <a:cs typeface="맑은 고딕"/>
              </a:rPr>
              <a:t>–  전력은 실측이 아니라 양쪽 모두 TDP로 비교했다. GPU의 정확한 소비 전력 측정이 어려웠기 때문이며, 논문 스스로 "TDP는 정확하지 않지만 합리적 근사"라고 인정한다.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41%·11% 두 숫자가 "작은 칩이 큰 칩을 이긴다"의 근거이고, 그 근거의 전제는 각주에 다 적혀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11 — Prefill 단계의 지연과 활용률</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220</a:t>
            </a:r>
          </a:p>
        </p:txBody>
      </p:sp>
      <p:pic>
        <p:nvPicPr>
          <p:cNvPr id="8" name="Picture 7" descr="isca_fig11.png"/>
          <p:cNvPicPr>
            <a:picLocks noChangeAspect="1"/>
          </p:cNvPicPr>
          <p:nvPr/>
        </p:nvPicPr>
        <p:blipFill>
          <a:blip r:embed="rId2"/>
          <a:stretch>
            <a:fillRect/>
          </a:stretch>
        </p:blipFill>
        <p:spPr>
          <a:xfrm>
            <a:off x="3054868" y="1517904"/>
            <a:ext cx="6081958" cy="2286366"/>
          </a:xfrm>
          <a:prstGeom prst="rect">
            <a:avLst/>
          </a:prstGeom>
        </p:spPr>
      </p:pic>
      <p:sp>
        <p:nvSpPr>
          <p:cNvPr id="9" name="Rectangle 8"/>
          <p:cNvSpPr/>
          <p:nvPr/>
        </p:nvSpPr>
        <p:spPr>
          <a:xfrm>
            <a:off x="3054868" y="1517904"/>
            <a:ext cx="6081958" cy="2286366"/>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3831702"/>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11 — TCP: A Tensor Contraction Processor for AI Workloads (ISCA 2024)</a:t>
            </a:r>
          </a:p>
        </p:txBody>
      </p:sp>
      <p:sp>
        <p:nvSpPr>
          <p:cNvPr id="11" name="TextBox 10"/>
          <p:cNvSpPr txBox="1"/>
          <p:nvPr/>
        </p:nvSpPr>
        <p:spPr>
          <a:xfrm>
            <a:off x="566928" y="4151742"/>
            <a:ext cx="11057839" cy="1407810"/>
          </a:xfrm>
          <a:prstGeom prst="rect">
            <a:avLst/>
          </a:prstGeom>
          <a:noFill/>
        </p:spPr>
        <p:txBody>
          <a:bodyPr wrap="square" anchor="t" lIns="0" rIns="0" tIns="0" bIns="0">
            <a:spAutoFit/>
          </a:bodyPr>
          <a:lstStyle/>
          <a:p>
            <a:pPr algn="l">
              <a:lnSpc>
                <a:spcPct val="118000"/>
              </a:lnSpc>
              <a:spcBef>
                <a:spcPts val="200"/>
              </a:spcBef>
              <a:spcAft>
                <a:spcPts val="200"/>
              </a:spcAft>
            </a:pPr>
            <a:r>
              <a:rPr sz="1000" b="1" i="0">
                <a:solidFill>
                  <a:srgbClr val="083F80"/>
                </a:solidFill>
                <a:latin typeface="Segoe UI"/>
                <a:ea typeface="맑은 고딕"/>
                <a:cs typeface="맑은 고딕"/>
              </a:rPr>
              <a:t>▪  (a) 왼쪽 막대그래프: x축은 입력 시퀀스 길이(128, 256, 512, 1024, 2048, 4096), y축은 첫 토큰 지연(First token latency, msec)이다.</a:t>
            </a:r>
          </a:p>
          <a:p>
            <a:pPr algn="l">
              <a:lnSpc>
                <a:spcPct val="118000"/>
              </a:lnSpc>
              <a:spcBef>
                <a:spcPts val="200"/>
              </a:spcBef>
              <a:spcAft>
                <a:spcPts val="100"/>
              </a:spcAft>
            </a:pPr>
            <a:r>
              <a:rPr sz="880" b="0" i="0">
                <a:solidFill>
                  <a:srgbClr val="2C3A4B"/>
                </a:solidFill>
                <a:latin typeface="Segoe UI"/>
                <a:ea typeface="맑은 고딕"/>
                <a:cs typeface="맑은 고딕"/>
              </a:rPr>
              <a:t>–  막대는 하나뿐이고 TCP의 값이다. L=128에서 8 msec, L=2048에서 65 msec로 Table II의 B=1 행과 일치한다.</a:t>
            </a:r>
          </a:p>
          <a:p>
            <a:pPr algn="l">
              <a:lnSpc>
                <a:spcPct val="118000"/>
              </a:lnSpc>
              <a:spcBef>
                <a:spcPts val="200"/>
              </a:spcBef>
              <a:spcAft>
                <a:spcPts val="100"/>
              </a:spcAft>
            </a:pPr>
            <a:r>
              <a:rPr sz="880" b="0" i="0">
                <a:solidFill>
                  <a:srgbClr val="2C3A4B"/>
                </a:solidFill>
                <a:latin typeface="Segoe UI"/>
                <a:ea typeface="맑은 고딕"/>
                <a:cs typeface="맑은 고딕"/>
              </a:rPr>
              <a:t>–  L=4096 막대만 240 눈금 근처까지 치솟는다. 정확한 수치는 논문 본문에 없다.</a:t>
            </a:r>
          </a:p>
          <a:p>
            <a:pPr algn="l">
              <a:lnSpc>
                <a:spcPct val="118000"/>
              </a:lnSpc>
              <a:spcBef>
                <a:spcPts val="600"/>
              </a:spcBef>
              <a:spcAft>
                <a:spcPts val="200"/>
              </a:spcAft>
            </a:pPr>
            <a:r>
              <a:rPr sz="1000" b="1" i="0">
                <a:solidFill>
                  <a:srgbClr val="083F80"/>
                </a:solidFill>
                <a:latin typeface="Segoe UI"/>
                <a:ea typeface="맑은 고딕"/>
                <a:cs typeface="맑은 고딕"/>
              </a:rPr>
              <a:t>▪  (b) 오른쪽 막대그래프: x축은 동일하게 입력 시퀀스 길이, y축은 활용률(Utilization, 0~0.8)이다. 파란 막대가 Mem. BW Util(메모리 대역폭 활용률), 주황 막대가 MAC Util(MAC 활용률)이다.</a:t>
            </a:r>
          </a:p>
          <a:p>
            <a:pPr algn="l">
              <a:lnSpc>
                <a:spcPct val="118000"/>
              </a:lnSpc>
              <a:spcBef>
                <a:spcPts val="200"/>
              </a:spcBef>
              <a:spcAft>
                <a:spcPts val="100"/>
              </a:spcAft>
            </a:pPr>
            <a:r>
              <a:rPr sz="880" b="0" i="0">
                <a:solidFill>
                  <a:srgbClr val="2C3A4B"/>
                </a:solidFill>
                <a:latin typeface="Segoe UI"/>
                <a:ea typeface="맑은 고딕"/>
                <a:cs typeface="맑은 고딕"/>
              </a:rPr>
              <a:t>–  파란 막대는 L이 커질수록 단조 감소하고, 주황 막대는 중간 구간에서 최대가 된 뒤 다시 내려온다. 두 막대가 X자로 교차하는 모양이다.</a:t>
            </a:r>
          </a:p>
          <a:p>
            <a:pPr algn="l">
              <a:lnSpc>
                <a:spcPct val="118000"/>
              </a:lnSpc>
              <a:spcBef>
                <a:spcPts val="200"/>
              </a:spcBef>
              <a:spcAft>
                <a:spcPts val="100"/>
              </a:spcAft>
            </a:pPr>
            <a:r>
              <a:rPr sz="880" b="0" i="0">
                <a:solidFill>
                  <a:srgbClr val="2C3A4B"/>
                </a:solidFill>
                <a:latin typeface="Segoe UI"/>
                <a:ea typeface="맑은 고딕"/>
                <a:cs typeface="맑은 고딕"/>
              </a:rPr>
              <a:t>–  막대별 정확한 수치는 논문 본문에 없다. 축 눈금으로 읽는 수밖에 없다.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왼쪽은 "얼마나 걸리나", 오른쪽은 "왜 그만큼 걸리나"다. 두 장을 짝지어 읽어야 한다.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11 (a) — 지연 곡선의 세 구간</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구간 1: L &lt; 256 — 지연이 시퀀스 길이에 거의 선형 비례한다.</a:t>
            </a:r>
          </a:p>
          <a:p>
            <a:pPr algn="l">
              <a:lnSpc>
                <a:spcPct val="118000"/>
              </a:lnSpc>
              <a:spcBef>
                <a:spcPts val="200"/>
              </a:spcBef>
              <a:spcAft>
                <a:spcPts val="100"/>
              </a:spcAft>
            </a:pPr>
            <a:r>
              <a:rPr sz="1680" b="0" i="0">
                <a:solidFill>
                  <a:srgbClr val="2C3A4B"/>
                </a:solidFill>
                <a:latin typeface="Segoe UI"/>
                <a:ea typeface="맑은 고딕"/>
                <a:cs typeface="맑은 고딕"/>
              </a:rPr>
              <a:t>–  attention의 연산량은 보통 시퀀스 길이의 제곱에 비례하지만, 이 구간에서는 그 몫이 아직 작기 때문이다.</a:t>
            </a:r>
          </a:p>
          <a:p>
            <a:pPr algn="l">
              <a:lnSpc>
                <a:spcPct val="118000"/>
              </a:lnSpc>
              <a:spcBef>
                <a:spcPts val="200"/>
              </a:spcBef>
              <a:spcAft>
                <a:spcPts val="100"/>
              </a:spcAft>
            </a:pPr>
            <a:r>
              <a:rPr sz="1680" b="0" i="0">
                <a:solidFill>
                  <a:srgbClr val="2C3A4B"/>
                </a:solidFill>
                <a:latin typeface="Segoe UI"/>
                <a:ea typeface="맑은 고딕"/>
                <a:cs typeface="맑은 고딕"/>
              </a:rPr>
              <a:t>–  즉 전체 시간은 시퀀스 길이에 1차로 비례하는 부분(FFN, 프로젝션 등)이 지배한다.</a:t>
            </a:r>
          </a:p>
          <a:p>
            <a:pPr algn="l">
              <a:lnSpc>
                <a:spcPct val="118000"/>
              </a:lnSpc>
              <a:spcBef>
                <a:spcPts val="600"/>
              </a:spcBef>
              <a:spcAft>
                <a:spcPts val="200"/>
              </a:spcAft>
            </a:pPr>
            <a:r>
              <a:rPr sz="1800" b="0" i="0">
                <a:solidFill>
                  <a:srgbClr val="16202C"/>
                </a:solidFill>
                <a:latin typeface="Segoe UI"/>
                <a:ea typeface="맑은 고딕"/>
                <a:cs typeface="맑은 고딕"/>
              </a:rPr>
              <a:t>▪  구간 2: 중간 길이 — 여전히 대체로 선형에 가깝게 증가한다.</a:t>
            </a:r>
          </a:p>
          <a:p>
            <a:pPr algn="l">
              <a:lnSpc>
                <a:spcPct val="118000"/>
              </a:lnSpc>
              <a:spcBef>
                <a:spcPts val="600"/>
              </a:spcBef>
              <a:spcAft>
                <a:spcPts val="200"/>
              </a:spcAft>
            </a:pPr>
            <a:r>
              <a:rPr sz="1800" b="1" i="0">
                <a:solidFill>
                  <a:srgbClr val="083F80"/>
                </a:solidFill>
                <a:latin typeface="Segoe UI"/>
                <a:ea typeface="맑은 고딕"/>
                <a:cs typeface="맑은 고딕"/>
              </a:rPr>
              <a:t>▪  구간 3: L &gt; 2k — attention의 연산 비용이 지배하기 시작해 실행 시간이 초선형(super linear)으로 증가한다.</a:t>
            </a:r>
          </a:p>
          <a:p>
            <a:pPr algn="l">
              <a:lnSpc>
                <a:spcPct val="118000"/>
              </a:lnSpc>
              <a:spcBef>
                <a:spcPts val="200"/>
              </a:spcBef>
              <a:spcAft>
                <a:spcPts val="100"/>
              </a:spcAft>
            </a:pPr>
            <a:r>
              <a:rPr sz="1680" b="0" i="0">
                <a:solidFill>
                  <a:srgbClr val="2C3A4B"/>
                </a:solidFill>
                <a:latin typeface="Segoe UI"/>
                <a:ea typeface="맑은 고딕"/>
                <a:cs typeface="맑은 고딕"/>
              </a:rPr>
              <a:t>–  L=4096 막대가 유독 튀는 이유가 이것이다.</a:t>
            </a:r>
          </a:p>
          <a:p>
            <a:pPr algn="l">
              <a:lnSpc>
                <a:spcPct val="118000"/>
              </a:lnSpc>
              <a:spcBef>
                <a:spcPts val="600"/>
              </a:spcBef>
              <a:spcAft>
                <a:spcPts val="200"/>
              </a:spcAft>
            </a:pPr>
            <a:r>
              <a:rPr sz="1800" b="1" i="0">
                <a:solidFill>
                  <a:srgbClr val="083F80"/>
                </a:solidFill>
                <a:latin typeface="Segoe UI"/>
                <a:ea typeface="맑은 고딕"/>
                <a:cs typeface="맑은 고딕"/>
              </a:rPr>
              <a:t>▪  중요한 관찰: 이 구간에서는 QK^T의 크기가 SRAM 용량을 초과한다. 그런데도 TCP는 텐서 전송 지연을 연산 안에 숨길 수 있어서, 총 지연이 "연산량에 비례해" 선형으로 늘어난다.</a:t>
            </a:r>
          </a:p>
          <a:p>
            <a:pPr algn="l">
              <a:lnSpc>
                <a:spcPct val="118000"/>
              </a:lnSpc>
              <a:spcBef>
                <a:spcPts val="200"/>
              </a:spcBef>
              <a:spcAft>
                <a:spcPts val="100"/>
              </a:spcAft>
            </a:pPr>
            <a:r>
              <a:rPr sz="1680" b="0" i="0">
                <a:solidFill>
                  <a:srgbClr val="2C3A4B"/>
                </a:solidFill>
                <a:latin typeface="Segoe UI"/>
                <a:ea typeface="맑은 고딕"/>
                <a:cs typeface="맑은 고딕"/>
              </a:rPr>
              <a:t>–  다시 말해 초선형으로 늘어나는 것은 연산량이지, 연산량 대비 오버헤드가 아니다. 전송이 노출되었다면 연산량 증가보다 더 가파르게 나빠졌을 것이다.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SRAM을 넘어서는 QK^T조차 전송을 계산 뒤로 숨긴다. 지연 증가분은 순수한 연산량 증가분이다.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11 (b) — 활용률을 어떻게 계산했나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1" i="0">
                <a:solidFill>
                  <a:srgbClr val="083F80"/>
                </a:solidFill>
                <a:latin typeface="Segoe UI"/>
                <a:ea typeface="맑은 고딕"/>
                <a:cs typeface="맑은 고딕"/>
              </a:rPr>
              <a:t>▪  MAC 활용률의 정의</a:t>
            </a:r>
          </a:p>
          <a:p>
            <a:pPr algn="l">
              <a:lnSpc>
                <a:spcPct val="118000"/>
              </a:lnSpc>
              <a:spcBef>
                <a:spcPts val="200"/>
              </a:spcBef>
              <a:spcAft>
                <a:spcPts val="100"/>
              </a:spcAft>
            </a:pPr>
            <a:r>
              <a:rPr sz="1680" b="0" i="0">
                <a:solidFill>
                  <a:srgbClr val="2C3A4B"/>
                </a:solidFill>
                <a:latin typeface="Segoe UI"/>
                <a:ea typeface="맑은 고딕"/>
                <a:cs typeface="맑은 고딕"/>
              </a:rPr>
              <a:t>–  컨트랙션(contraction) 횟수를 지연으로 나눈 값이다.</a:t>
            </a:r>
          </a:p>
          <a:p>
            <a:pPr algn="l">
              <a:lnSpc>
                <a:spcPct val="118000"/>
              </a:lnSpc>
              <a:spcBef>
                <a:spcPts val="200"/>
              </a:spcBef>
              <a:spcAft>
                <a:spcPts val="100"/>
              </a:spcAft>
            </a:pPr>
            <a:r>
              <a:rPr sz="1680" b="0" i="0">
                <a:solidFill>
                  <a:srgbClr val="2C3A4B"/>
                </a:solidFill>
                <a:latin typeface="Segoe UI"/>
                <a:ea typeface="맑은 고딕"/>
                <a:cs typeface="맑은 고딕"/>
              </a:rPr>
              <a:t>–  softmax, RMSNorm, add, mul 같은 element-wise 연산은 포함하지 않는다.</a:t>
            </a:r>
          </a:p>
          <a:p>
            <a:pPr algn="l">
              <a:lnSpc>
                <a:spcPct val="118000"/>
              </a:lnSpc>
              <a:spcBef>
                <a:spcPts val="200"/>
              </a:spcBef>
              <a:spcAft>
                <a:spcPts val="100"/>
              </a:spcAft>
            </a:pPr>
            <a:r>
              <a:rPr sz="1680" b="0" i="0">
                <a:solidFill>
                  <a:srgbClr val="2C3A4B"/>
                </a:solidFill>
                <a:latin typeface="Segoe UI"/>
                <a:ea typeface="맑은 고딕"/>
                <a:cs typeface="맑은 고딕"/>
              </a:rPr>
              <a:t>–  따라서 이 수치는 "MAC 어레이가 컨트랙션으로 얼마나 채워졌나"만 본다. 실제 하드웨어가 노는 시간은 아니다.</a:t>
            </a:r>
          </a:p>
          <a:p>
            <a:pPr algn="l">
              <a:lnSpc>
                <a:spcPct val="118000"/>
              </a:lnSpc>
              <a:spcBef>
                <a:spcPts val="600"/>
              </a:spcBef>
              <a:spcAft>
                <a:spcPts val="200"/>
              </a:spcAft>
            </a:pPr>
            <a:r>
              <a:rPr sz="1800" b="1" i="0">
                <a:solidFill>
                  <a:srgbClr val="083F80"/>
                </a:solidFill>
                <a:latin typeface="Segoe UI"/>
                <a:ea typeface="맑은 고딕"/>
                <a:cs typeface="맑은 고딕"/>
              </a:rPr>
              <a:t>▪  메모리 대역폭 활용률의 정의</a:t>
            </a:r>
          </a:p>
          <a:p>
            <a:pPr algn="l">
              <a:lnSpc>
                <a:spcPct val="118000"/>
              </a:lnSpc>
              <a:spcBef>
                <a:spcPts val="200"/>
              </a:spcBef>
              <a:spcAft>
                <a:spcPts val="100"/>
              </a:spcAft>
            </a:pPr>
            <a:r>
              <a:rPr sz="1680" b="0" i="0">
                <a:solidFill>
                  <a:srgbClr val="2C3A4B"/>
                </a:solidFill>
                <a:latin typeface="Segoe UI"/>
                <a:ea typeface="맑은 고딕"/>
                <a:cs typeface="맑은 고딕"/>
              </a:rPr>
              <a:t>–  가중치(weights)와 KV cache(KV 캐시)의 크기를 HBM 대역폭 1.5 TB/s로 나눈 값이다.</a:t>
            </a:r>
          </a:p>
          <a:p>
            <a:pPr algn="l">
              <a:lnSpc>
                <a:spcPct val="118000"/>
              </a:lnSpc>
              <a:spcBef>
                <a:spcPts val="200"/>
              </a:spcBef>
              <a:spcAft>
                <a:spcPts val="100"/>
              </a:spcAft>
            </a:pPr>
            <a:r>
              <a:rPr sz="1680" b="0" i="0">
                <a:solidFill>
                  <a:srgbClr val="2C3A4B"/>
                </a:solidFill>
                <a:latin typeface="Segoe UI"/>
                <a:ea typeface="맑은 고딕"/>
                <a:cs typeface="맑은 고딕"/>
              </a:rPr>
              <a:t>–  즉 모델 자체가 유발하는 필수 트래픽만 센 값이다.</a:t>
            </a:r>
          </a:p>
          <a:p>
            <a:pPr algn="l">
              <a:lnSpc>
                <a:spcPct val="118000"/>
              </a:lnSpc>
              <a:spcBef>
                <a:spcPts val="600"/>
              </a:spcBef>
              <a:spcAft>
                <a:spcPts val="200"/>
              </a:spcAft>
            </a:pPr>
            <a:r>
              <a:rPr sz="1800" b="1" i="0">
                <a:solidFill>
                  <a:srgbClr val="083F80"/>
                </a:solidFill>
                <a:latin typeface="Segoe UI"/>
                <a:ea typeface="맑은 고딕"/>
                <a:cs typeface="맑은 고딕"/>
              </a:rPr>
              <a:t>▪  명시된 한계: Fig. 11 (b)는 모델 자체의 메모리 활용률만 보여 준다. softmax 때문에 늘어나는 메모리 트래픽은 반영되어 있지 않다.</a:t>
            </a:r>
          </a:p>
          <a:p>
            <a:pPr algn="l">
              <a:lnSpc>
                <a:spcPct val="118000"/>
              </a:lnSpc>
              <a:spcBef>
                <a:spcPts val="200"/>
              </a:spcBef>
              <a:spcAft>
                <a:spcPts val="100"/>
              </a:spcAft>
            </a:pPr>
            <a:r>
              <a:rPr sz="1680" b="0" i="0">
                <a:solidFill>
                  <a:srgbClr val="2C3A4B"/>
                </a:solidFill>
                <a:latin typeface="Segoe UI"/>
                <a:ea typeface="맑은 고딕"/>
                <a:cs typeface="맑은 고딕"/>
              </a:rPr>
              <a:t>–  그래서 실제 메모리 압박은 이 그래프의 파란 막대보다 크다. 뒤에 나올 "L&gt;2k에서 MAC 활용률이 떨어지는 이유"를 이 그래프만으로는 볼 수 없다는 뜻이다.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두 활용률 모두 "이론상 필요한 양 ÷ 실제 걸린 시간"이다. 정의를 모르면 그래프를 오독한다.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11 (b) — 메모리 바운드에서 컴퓨트 바운드로, 다시 메모리 바운드로</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prefill 의 두 활용률 곡선이 X 자로 교차한다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223</a:t>
            </a:r>
          </a:p>
        </p:txBody>
      </p:sp>
      <p:grpSp>
        <p:nvGrpSpPr>
          <p:cNvPr id="9" name="도해 A8#09"/>
          <p:cNvGrpSpPr/>
          <p:nvPr/>
        </p:nvGrpSpPr>
        <p:grpSpPr>
          <a:xfrm>
            <a:off x="1279979" y="1463040"/>
            <a:ext cx="9631738" cy="4078224"/>
            <a:chOff x="1279979" y="1463040"/>
            <a:chExt cx="9631738" cy="4078224"/>
          </a:xfrm>
        </p:grpSpPr>
        <p:sp>
          <p:nvSpPr>
            <p:cNvPr id="10" name="TextBox 9"/>
            <p:cNvSpPr txBox="1"/>
            <p:nvPr/>
          </p:nvSpPr>
          <p:spPr>
            <a:xfrm>
              <a:off x="1279979" y="1463040"/>
              <a:ext cx="2526987" cy="194570"/>
            </a:xfrm>
            <a:prstGeom prst="rect">
              <a:avLst/>
            </a:prstGeom>
            <a:noFill/>
          </p:spPr>
          <p:txBody>
            <a:bodyPr wrap="none" anchor="ctr" lIns="0" rIns="0" tIns="0" bIns="0">
              <a:noAutofit/>
            </a:bodyPr>
            <a:lstStyle/>
            <a:p>
              <a:pPr algn="l"/>
              <a:r>
                <a:rPr sz="1060" b="1">
                  <a:solidFill>
                    <a:srgbClr val="16202C"/>
                  </a:solidFill>
                  <a:latin typeface="맑은 고딕"/>
                  <a:ea typeface="맑은 고딕"/>
                  <a:cs typeface="맑은 고딕"/>
                </a:rPr>
                <a:t>활용률 (Utilization) — 세로축 범위 0 ~ 0.8</a:t>
              </a:r>
            </a:p>
          </p:txBody>
        </p:sp>
        <p:sp>
          <p:nvSpPr>
            <p:cNvPr id="11" name="Rectangle 10"/>
            <p:cNvSpPr/>
            <p:nvPr/>
          </p:nvSpPr>
          <p:spPr>
            <a:xfrm>
              <a:off x="1817464" y="1790906"/>
              <a:ext cx="1881199" cy="2751925"/>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98663" y="1790906"/>
              <a:ext cx="1934947" cy="2751925"/>
            </a:xfrm>
            <a:prstGeom prst="rect">
              <a:avLst/>
            </a:prstGeom>
            <a:solidFill>
              <a:srgbClr val="E2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33610" y="1790906"/>
              <a:ext cx="1601706" cy="2751925"/>
            </a:xfrm>
            <a:prstGeom prst="rect">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9368" y="1841000"/>
              <a:ext cx="906641" cy="179004"/>
            </a:xfrm>
            <a:prstGeom prst="rect">
              <a:avLst/>
            </a:prstGeom>
            <a:noFill/>
          </p:spPr>
          <p:txBody>
            <a:bodyPr wrap="none" anchor="ctr" lIns="0" rIns="0" tIns="0" bIns="0">
              <a:noAutofit/>
            </a:bodyPr>
            <a:lstStyle/>
            <a:p>
              <a:pPr algn="ctr"/>
              <a:r>
                <a:rPr sz="969" b="1">
                  <a:solidFill>
                    <a:srgbClr val="B4222A"/>
                  </a:solidFill>
                  <a:latin typeface="맑은 고딕"/>
                  <a:ea typeface="맑은 고딕"/>
                  <a:cs typeface="맑은 고딕"/>
                </a:rPr>
                <a:t>① 메모리 바운드</a:t>
              </a:r>
            </a:p>
          </p:txBody>
        </p:sp>
        <p:sp>
          <p:nvSpPr>
            <p:cNvPr id="15" name="TextBox 14"/>
            <p:cNvSpPr txBox="1"/>
            <p:nvPr/>
          </p:nvSpPr>
          <p:spPr>
            <a:xfrm>
              <a:off x="4212816" y="1841000"/>
              <a:ext cx="906641" cy="179004"/>
            </a:xfrm>
            <a:prstGeom prst="rect">
              <a:avLst/>
            </a:prstGeom>
            <a:noFill/>
          </p:spPr>
          <p:txBody>
            <a:bodyPr wrap="none" anchor="ctr" lIns="0" rIns="0" tIns="0" bIns="0">
              <a:noAutofit/>
            </a:bodyPr>
            <a:lstStyle/>
            <a:p>
              <a:pPr algn="ctr"/>
              <a:r>
                <a:rPr sz="969" b="1">
                  <a:solidFill>
                    <a:srgbClr val="1A7F37"/>
                  </a:solidFill>
                  <a:latin typeface="맑은 고딕"/>
                  <a:ea typeface="맑은 고딕"/>
                  <a:cs typeface="맑은 고딕"/>
                </a:rPr>
                <a:t>② 컴퓨트 쪽으로</a:t>
              </a:r>
            </a:p>
          </p:txBody>
        </p:sp>
        <p:sp>
          <p:nvSpPr>
            <p:cNvPr id="16" name="TextBox 15"/>
            <p:cNvSpPr txBox="1"/>
            <p:nvPr/>
          </p:nvSpPr>
          <p:spPr>
            <a:xfrm>
              <a:off x="5961737" y="1841000"/>
              <a:ext cx="934703" cy="179004"/>
            </a:xfrm>
            <a:prstGeom prst="rect">
              <a:avLst/>
            </a:prstGeom>
            <a:noFill/>
          </p:spPr>
          <p:txBody>
            <a:bodyPr wrap="none" anchor="ctr" lIns="0" rIns="0" tIns="0" bIns="0">
              <a:noAutofit/>
            </a:bodyPr>
            <a:lstStyle/>
            <a:p>
              <a:pPr algn="ctr"/>
              <a:r>
                <a:rPr sz="969" b="1">
                  <a:solidFill>
                    <a:srgbClr val="B45409"/>
                  </a:solidFill>
                  <a:latin typeface="맑은 고딕"/>
                  <a:ea typeface="맑은 고딕"/>
                  <a:cs typeface="맑은 고딕"/>
                </a:rPr>
                <a:t>③ 다시 메모리 쪽</a:t>
              </a:r>
            </a:p>
          </p:txBody>
        </p:sp>
        <p:cxnSp>
          <p:nvCxnSpPr>
            <p:cNvPr id="17" name="Connector 16"/>
            <p:cNvCxnSpPr/>
            <p:nvPr/>
          </p:nvCxnSpPr>
          <p:spPr>
            <a:xfrm>
              <a:off x="1924961" y="3790352"/>
              <a:ext cx="5310355" cy="0"/>
            </a:xfrm>
            <a:prstGeom prst="line">
              <a:avLst/>
            </a:prstGeom>
            <a:ln w="10749">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24961" y="3037872"/>
              <a:ext cx="5310355" cy="0"/>
            </a:xfrm>
            <a:prstGeom prst="line">
              <a:avLst/>
            </a:prstGeom>
            <a:ln w="10749">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924961" y="2285393"/>
              <a:ext cx="5310355" cy="0"/>
            </a:xfrm>
            <a:prstGeom prst="line">
              <a:avLst/>
            </a:prstGeom>
            <a:ln w="10749">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74465" y="1747907"/>
              <a:ext cx="0" cy="2794924"/>
            </a:xfrm>
            <a:prstGeom prst="line">
              <a:avLst/>
            </a:prstGeom>
            <a:ln w="1719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74465" y="4542831"/>
              <a:ext cx="5525350" cy="0"/>
            </a:xfrm>
            <a:prstGeom prst="line">
              <a:avLst/>
            </a:prstGeom>
            <a:ln w="17199">
              <a:solidFill>
                <a:srgbClr val="16202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473473" y="1773707"/>
              <a:ext cx="236494" cy="155656"/>
            </a:xfrm>
            <a:prstGeom prst="rect">
              <a:avLst/>
            </a:prstGeom>
            <a:noFill/>
          </p:spPr>
          <p:txBody>
            <a:bodyPr wrap="none" anchor="ctr" lIns="0" rIns="0" tIns="0" bIns="0">
              <a:noAutofit/>
            </a:bodyPr>
            <a:lstStyle/>
            <a:p>
              <a:pPr algn="r"/>
              <a:r>
                <a:rPr sz="850" b="0">
                  <a:solidFill>
                    <a:srgbClr val="5B6B7B"/>
                  </a:solidFill>
                  <a:latin typeface="맑은 고딕"/>
                  <a:ea typeface="맑은 고딕"/>
                  <a:cs typeface="맑은 고딕"/>
                </a:rPr>
                <a:t>높음</a:t>
              </a:r>
            </a:p>
          </p:txBody>
        </p:sp>
        <p:sp>
          <p:nvSpPr>
            <p:cNvPr id="23" name="TextBox 22"/>
            <p:cNvSpPr txBox="1"/>
            <p:nvPr/>
          </p:nvSpPr>
          <p:spPr>
            <a:xfrm>
              <a:off x="1473473" y="4396635"/>
              <a:ext cx="236494" cy="155656"/>
            </a:xfrm>
            <a:prstGeom prst="rect">
              <a:avLst/>
            </a:prstGeom>
            <a:noFill/>
          </p:spPr>
          <p:txBody>
            <a:bodyPr wrap="none" anchor="ctr" lIns="0" rIns="0" tIns="0" bIns="0">
              <a:noAutofit/>
            </a:bodyPr>
            <a:lstStyle/>
            <a:p>
              <a:pPr algn="r"/>
              <a:r>
                <a:rPr sz="850" b="0">
                  <a:solidFill>
                    <a:srgbClr val="5B6B7B"/>
                  </a:solidFill>
                  <a:latin typeface="맑은 고딕"/>
                  <a:ea typeface="맑은 고딕"/>
                  <a:cs typeface="맑은 고딕"/>
                </a:rPr>
                <a:t>낮음</a:t>
              </a:r>
            </a:p>
          </p:txBody>
        </p:sp>
        <p:cxnSp>
          <p:nvCxnSpPr>
            <p:cNvPr id="24" name="Connector 23"/>
            <p:cNvCxnSpPr/>
            <p:nvPr/>
          </p:nvCxnSpPr>
          <p:spPr>
            <a:xfrm>
              <a:off x="2247452"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14926"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82400"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49873"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17347"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84821" y="4542831"/>
              <a:ext cx="0" cy="64498"/>
            </a:xfrm>
            <a:prstGeom prst="line">
              <a:avLst/>
            </a:prstGeom>
            <a:ln w="15049">
              <a:solidFill>
                <a:srgbClr val="16202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127727" y="4620659"/>
              <a:ext cx="239450"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128</a:t>
              </a:r>
            </a:p>
          </p:txBody>
        </p:sp>
        <p:sp>
          <p:nvSpPr>
            <p:cNvPr id="31" name="TextBox 30"/>
            <p:cNvSpPr txBox="1"/>
            <p:nvPr/>
          </p:nvSpPr>
          <p:spPr>
            <a:xfrm>
              <a:off x="3095201" y="4620659"/>
              <a:ext cx="239450"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256</a:t>
              </a:r>
            </a:p>
          </p:txBody>
        </p:sp>
        <p:sp>
          <p:nvSpPr>
            <p:cNvPr id="32" name="TextBox 31"/>
            <p:cNvSpPr txBox="1"/>
            <p:nvPr/>
          </p:nvSpPr>
          <p:spPr>
            <a:xfrm>
              <a:off x="4062675" y="4620659"/>
              <a:ext cx="239450"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512</a:t>
              </a:r>
            </a:p>
          </p:txBody>
        </p:sp>
        <p:sp>
          <p:nvSpPr>
            <p:cNvPr id="33" name="TextBox 32"/>
            <p:cNvSpPr txBox="1"/>
            <p:nvPr/>
          </p:nvSpPr>
          <p:spPr>
            <a:xfrm>
              <a:off x="4997335" y="4620659"/>
              <a:ext cx="305077"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1024</a:t>
              </a:r>
            </a:p>
          </p:txBody>
        </p:sp>
        <p:sp>
          <p:nvSpPr>
            <p:cNvPr id="34" name="TextBox 33"/>
            <p:cNvSpPr txBox="1"/>
            <p:nvPr/>
          </p:nvSpPr>
          <p:spPr>
            <a:xfrm>
              <a:off x="5964809" y="4620659"/>
              <a:ext cx="305077"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2048</a:t>
              </a:r>
            </a:p>
          </p:txBody>
        </p:sp>
        <p:sp>
          <p:nvSpPr>
            <p:cNvPr id="35" name="TextBox 34"/>
            <p:cNvSpPr txBox="1"/>
            <p:nvPr/>
          </p:nvSpPr>
          <p:spPr>
            <a:xfrm>
              <a:off x="6932282" y="4620659"/>
              <a:ext cx="305077" cy="171221"/>
            </a:xfrm>
            <a:prstGeom prst="rect">
              <a:avLst/>
            </a:prstGeom>
            <a:noFill/>
          </p:spPr>
          <p:txBody>
            <a:bodyPr wrap="none" anchor="ctr" lIns="0" rIns="0" tIns="0" bIns="0">
              <a:noAutofit/>
            </a:bodyPr>
            <a:lstStyle/>
            <a:p>
              <a:pPr algn="ctr"/>
              <a:r>
                <a:rPr sz="930" b="0">
                  <a:solidFill>
                    <a:srgbClr val="16202C"/>
                  </a:solidFill>
                  <a:latin typeface="맑은 고딕"/>
                  <a:ea typeface="맑은 고딕"/>
                  <a:cs typeface="맑은 고딕"/>
                </a:rPr>
                <a:t>4096</a:t>
              </a:r>
            </a:p>
          </p:txBody>
        </p:sp>
        <p:sp>
          <p:nvSpPr>
            <p:cNvPr id="36" name="TextBox 35"/>
            <p:cNvSpPr txBox="1"/>
            <p:nvPr/>
          </p:nvSpPr>
          <p:spPr>
            <a:xfrm>
              <a:off x="3818033" y="4850918"/>
              <a:ext cx="1438214" cy="179004"/>
            </a:xfrm>
            <a:prstGeom prst="rect">
              <a:avLst/>
            </a:prstGeom>
            <a:noFill/>
          </p:spPr>
          <p:txBody>
            <a:bodyPr wrap="none" anchor="ctr" lIns="0" rIns="0" tIns="0" bIns="0">
              <a:noAutofit/>
            </a:bodyPr>
            <a:lstStyle/>
            <a:p>
              <a:pPr algn="ctr"/>
              <a:r>
                <a:rPr sz="969" b="0">
                  <a:solidFill>
                    <a:srgbClr val="16202C"/>
                  </a:solidFill>
                  <a:latin typeface="맑은 고딕"/>
                  <a:ea typeface="맑은 고딕"/>
                  <a:cs typeface="맑은 고딕"/>
                </a:rPr>
                <a:t>입력 시퀀스 길이 L (prefill)</a:t>
              </a:r>
            </a:p>
          </p:txBody>
        </p:sp>
        <p:sp>
          <p:nvSpPr>
            <p:cNvPr id="37" name="Freeform 36"/>
            <p:cNvSpPr/>
            <p:nvPr/>
          </p:nvSpPr>
          <p:spPr>
            <a:xfrm>
              <a:off x="2247452" y="2672382"/>
              <a:ext cx="4837369" cy="1171718"/>
            </a:xfrm>
            <a:custGeom>
              <a:avLst/>
              <a:gdLst/>
              <a:ahLst/>
              <a:cxnLst/>
              <a:rect l="l" t="t" r="r" b="b"/>
              <a:pathLst>
                <a:path w="4837369" h="1171718">
                  <a:moveTo>
                    <a:pt x="0" y="0"/>
                  </a:moveTo>
                  <a:lnTo>
                    <a:pt x="967474" y="204245"/>
                  </a:lnTo>
                  <a:lnTo>
                    <a:pt x="1934948" y="505236"/>
                  </a:lnTo>
                  <a:lnTo>
                    <a:pt x="2902421" y="763229"/>
                  </a:lnTo>
                  <a:lnTo>
                    <a:pt x="3869895" y="1021222"/>
                  </a:lnTo>
                  <a:lnTo>
                    <a:pt x="4837369" y="1171718"/>
                  </a:lnTo>
                </a:path>
              </a:pathLst>
            </a:custGeom>
            <a:noFill/>
            <a:ln w="27949">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247452" y="2876627"/>
              <a:ext cx="4837369" cy="1193217"/>
            </a:xfrm>
            <a:custGeom>
              <a:avLst/>
              <a:gdLst/>
              <a:ahLst/>
              <a:cxnLst/>
              <a:rect l="l" t="t" r="r" b="b"/>
              <a:pathLst>
                <a:path w="4837369" h="1193217">
                  <a:moveTo>
                    <a:pt x="0" y="1193217"/>
                  </a:moveTo>
                  <a:lnTo>
                    <a:pt x="967474" y="859976"/>
                  </a:lnTo>
                  <a:lnTo>
                    <a:pt x="1934948" y="505236"/>
                  </a:lnTo>
                  <a:lnTo>
                    <a:pt x="2902421" y="171995"/>
                  </a:lnTo>
                  <a:lnTo>
                    <a:pt x="3869895" y="0"/>
                  </a:lnTo>
                  <a:lnTo>
                    <a:pt x="4837369" y="150495"/>
                  </a:lnTo>
                </a:path>
              </a:pathLst>
            </a:custGeom>
            <a:noFill/>
            <a:ln w="2794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199079" y="2624008"/>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166552" y="2828253"/>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34026" y="3129245"/>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01500" y="3387238"/>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068973" y="3645231"/>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36447" y="3795727"/>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199079" y="4021470"/>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166552" y="3688229"/>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134026" y="3333489"/>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101500" y="3000248"/>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068973" y="2828253"/>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036447" y="2978749"/>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1267" y="2605949"/>
              <a:ext cx="352160" cy="163439"/>
            </a:xfrm>
            <a:prstGeom prst="rect">
              <a:avLst/>
            </a:prstGeom>
            <a:noFill/>
          </p:spPr>
          <p:txBody>
            <a:bodyPr wrap="none" anchor="ctr" lIns="0" rIns="0" tIns="0" bIns="0">
              <a:noAutofit/>
            </a:bodyPr>
            <a:lstStyle/>
            <a:p>
              <a:pPr algn="ctr"/>
              <a:r>
                <a:rPr sz="890" b="1">
                  <a:solidFill>
                    <a:srgbClr val="B45409"/>
                  </a:solidFill>
                  <a:latin typeface="맑은 고딕"/>
                  <a:ea typeface="맑은 고딕"/>
                  <a:cs typeface="맑은 고딕"/>
                </a:rPr>
                <a:t>최대점</a:t>
              </a:r>
            </a:p>
          </p:txBody>
        </p:sp>
        <p:cxnSp>
          <p:nvCxnSpPr>
            <p:cNvPr id="52" name="Connector 51"/>
            <p:cNvCxnSpPr/>
            <p:nvPr/>
          </p:nvCxnSpPr>
          <p:spPr>
            <a:xfrm>
              <a:off x="1387476" y="5209313"/>
              <a:ext cx="322491" cy="0"/>
            </a:xfrm>
            <a:prstGeom prst="line">
              <a:avLst/>
            </a:prstGeom>
            <a:ln w="27949">
              <a:solidFill>
                <a:srgbClr val="0B5FC0"/>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1500348" y="5160939"/>
              <a:ext cx="96747" cy="96747"/>
            </a:xfrm>
            <a:prstGeom prst="ellipse">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95965" y="5115146"/>
              <a:ext cx="1967153"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Mem. BW Util — 메모리 대역폭 활용률</a:t>
              </a:r>
            </a:p>
          </p:txBody>
        </p:sp>
        <p:cxnSp>
          <p:nvCxnSpPr>
            <p:cNvPr id="55" name="Connector 54"/>
            <p:cNvCxnSpPr/>
            <p:nvPr/>
          </p:nvCxnSpPr>
          <p:spPr>
            <a:xfrm>
              <a:off x="4182400" y="5209313"/>
              <a:ext cx="322491" cy="0"/>
            </a:xfrm>
            <a:prstGeom prst="line">
              <a:avLst/>
            </a:prstGeom>
            <a:ln w="27949">
              <a:solidFill>
                <a:srgbClr val="B45409"/>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295272" y="5160939"/>
              <a:ext cx="96747" cy="96747"/>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90888" y="5115146"/>
              <a:ext cx="1260629"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MAC Util — MAC 활용률</a:t>
              </a:r>
            </a:p>
          </p:txBody>
        </p:sp>
        <p:sp>
          <p:nvSpPr>
            <p:cNvPr id="58" name="TextBox 57"/>
            <p:cNvSpPr txBox="1"/>
            <p:nvPr/>
          </p:nvSpPr>
          <p:spPr>
            <a:xfrm>
              <a:off x="1387476" y="5385608"/>
              <a:ext cx="3282208" cy="155656"/>
            </a:xfrm>
            <a:prstGeom prst="rect">
              <a:avLst/>
            </a:prstGeom>
            <a:noFill/>
          </p:spPr>
          <p:txBody>
            <a:bodyPr wrap="none" anchor="ctr" lIns="0" rIns="0" tIns="0" bIns="0">
              <a:noAutofit/>
            </a:bodyPr>
            <a:lstStyle/>
            <a:p>
              <a:pPr algn="l"/>
              <a:r>
                <a:rPr sz="850" b="0">
                  <a:solidFill>
                    <a:srgbClr val="5B6B7B"/>
                  </a:solidFill>
                  <a:latin typeface="맑은 고딕"/>
                  <a:ea typeface="맑은 고딕"/>
                  <a:cs typeface="맑은 고딕"/>
                </a:rPr>
                <a:t>※ 곡선은 Fig. 11 (b) 막대의 개형이다. 막대별 정확한 수치는 논문에 없다.</a:t>
              </a:r>
            </a:p>
          </p:txBody>
        </p:sp>
        <p:sp>
          <p:nvSpPr>
            <p:cNvPr id="59" name="Rounded Rectangle 58"/>
            <p:cNvSpPr/>
            <p:nvPr/>
          </p:nvSpPr>
          <p:spPr>
            <a:xfrm>
              <a:off x="7450311" y="1575912"/>
              <a:ext cx="3461406" cy="1182468"/>
            </a:xfrm>
            <a:prstGeom prst="roundRect">
              <a:avLst>
                <a:gd name="adj" fmla="val 8181"/>
              </a:avLst>
            </a:prstGeom>
            <a:solidFill>
              <a:srgbClr val="FDE8E8"/>
            </a:solidFill>
            <a:ln w="19349">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65305" y="1699534"/>
              <a:ext cx="1679373" cy="194570"/>
            </a:xfrm>
            <a:prstGeom prst="rect">
              <a:avLst/>
            </a:prstGeom>
            <a:noFill/>
          </p:spPr>
          <p:txBody>
            <a:bodyPr wrap="none" anchor="ctr" lIns="0" rIns="0" tIns="0" bIns="0">
              <a:noAutofit/>
            </a:bodyPr>
            <a:lstStyle/>
            <a:p>
              <a:pPr algn="l"/>
              <a:r>
                <a:rPr sz="1060" b="1">
                  <a:solidFill>
                    <a:srgbClr val="B4222A"/>
                  </a:solidFill>
                  <a:latin typeface="맑은 고딕"/>
                  <a:ea typeface="맑은 고딕"/>
                  <a:cs typeface="맑은 고딕"/>
                </a:rPr>
                <a:t>① L ≤ 256 — 메모리 바운드</a:t>
              </a:r>
            </a:p>
          </p:txBody>
        </p:sp>
        <p:sp>
          <p:nvSpPr>
            <p:cNvPr id="61" name="TextBox 60"/>
            <p:cNvSpPr txBox="1"/>
            <p:nvPr/>
          </p:nvSpPr>
          <p:spPr>
            <a:xfrm>
              <a:off x="7665305" y="1976231"/>
              <a:ext cx="1460348"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가중치 읽기 시간이 지배한다.</a:t>
              </a:r>
            </a:p>
          </p:txBody>
        </p:sp>
        <p:sp>
          <p:nvSpPr>
            <p:cNvPr id="62" name="TextBox 61"/>
            <p:cNvSpPr txBox="1"/>
            <p:nvPr/>
          </p:nvSpPr>
          <p:spPr>
            <a:xfrm>
              <a:off x="7665305" y="2191225"/>
              <a:ext cx="1948470"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토큰이 적어 읽은 바이트당 연산이 적다.</a:t>
              </a:r>
            </a:p>
          </p:txBody>
        </p:sp>
        <p:sp>
          <p:nvSpPr>
            <p:cNvPr id="63" name="TextBox 62"/>
            <p:cNvSpPr txBox="1"/>
            <p:nvPr/>
          </p:nvSpPr>
          <p:spPr>
            <a:xfrm>
              <a:off x="7665305" y="2427719"/>
              <a:ext cx="1038088" cy="171221"/>
            </a:xfrm>
            <a:prstGeom prst="rect">
              <a:avLst/>
            </a:prstGeom>
            <a:noFill/>
          </p:spPr>
          <p:txBody>
            <a:bodyPr wrap="none" anchor="ctr" lIns="0" rIns="0" tIns="0" bIns="0">
              <a:noAutofit/>
            </a:bodyPr>
            <a:lstStyle/>
            <a:p>
              <a:pPr algn="l"/>
              <a:r>
                <a:rPr sz="930" b="1">
                  <a:solidFill>
                    <a:srgbClr val="B4222A"/>
                  </a:solidFill>
                  <a:latin typeface="맑은 고딕"/>
                  <a:ea typeface="맑은 고딕"/>
                  <a:cs typeface="맑은 고딕"/>
                </a:rPr>
                <a:t>→ MAC 활용률 최저</a:t>
              </a:r>
            </a:p>
          </p:txBody>
        </p:sp>
        <p:sp>
          <p:nvSpPr>
            <p:cNvPr id="64" name="Rounded Rectangle 63"/>
            <p:cNvSpPr/>
            <p:nvPr/>
          </p:nvSpPr>
          <p:spPr>
            <a:xfrm>
              <a:off x="7450311" y="2887376"/>
              <a:ext cx="3461406" cy="1182468"/>
            </a:xfrm>
            <a:prstGeom prst="roundRect">
              <a:avLst>
                <a:gd name="adj" fmla="val 8181"/>
              </a:avLst>
            </a:prstGeom>
            <a:solidFill>
              <a:srgbClr val="E2F4E8"/>
            </a:solidFill>
            <a:ln w="19349">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65305" y="3010998"/>
              <a:ext cx="1723984" cy="194570"/>
            </a:xfrm>
            <a:prstGeom prst="rect">
              <a:avLst/>
            </a:prstGeom>
            <a:noFill/>
          </p:spPr>
          <p:txBody>
            <a:bodyPr wrap="none" anchor="ctr" lIns="0" rIns="0" tIns="0" bIns="0">
              <a:noAutofit/>
            </a:bodyPr>
            <a:lstStyle/>
            <a:p>
              <a:pPr algn="l"/>
              <a:r>
                <a:rPr sz="1060" b="1">
                  <a:solidFill>
                    <a:srgbClr val="1A7F37"/>
                  </a:solidFill>
                  <a:latin typeface="맑은 고딕"/>
                  <a:ea typeface="맑은 고딕"/>
                  <a:cs typeface="맑은 고딕"/>
                </a:rPr>
                <a:t>② 중간 구간 — 연산 강도 상승</a:t>
              </a:r>
            </a:p>
          </p:txBody>
        </p:sp>
        <p:sp>
          <p:nvSpPr>
            <p:cNvPr id="66" name="TextBox 65"/>
            <p:cNvSpPr txBox="1"/>
            <p:nvPr/>
          </p:nvSpPr>
          <p:spPr>
            <a:xfrm>
              <a:off x="7665305" y="3287695"/>
              <a:ext cx="2057258"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같은 가중치를 더 많은 토큰이 재사용한다.</a:t>
              </a:r>
            </a:p>
          </p:txBody>
        </p:sp>
        <p:sp>
          <p:nvSpPr>
            <p:cNvPr id="67" name="TextBox 66"/>
            <p:cNvSpPr txBox="1"/>
            <p:nvPr/>
          </p:nvSpPr>
          <p:spPr>
            <a:xfrm>
              <a:off x="7665305" y="3502689"/>
              <a:ext cx="1677922"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읽은 바이트당 연산량이 늘어난다.</a:t>
              </a:r>
            </a:p>
          </p:txBody>
        </p:sp>
        <p:sp>
          <p:nvSpPr>
            <p:cNvPr id="68" name="TextBox 67"/>
            <p:cNvSpPr txBox="1"/>
            <p:nvPr/>
          </p:nvSpPr>
          <p:spPr>
            <a:xfrm>
              <a:off x="7665305" y="3739183"/>
              <a:ext cx="1146876" cy="171221"/>
            </a:xfrm>
            <a:prstGeom prst="rect">
              <a:avLst/>
            </a:prstGeom>
            <a:noFill/>
          </p:spPr>
          <p:txBody>
            <a:bodyPr wrap="none" anchor="ctr" lIns="0" rIns="0" tIns="0" bIns="0">
              <a:noAutofit/>
            </a:bodyPr>
            <a:lstStyle/>
            <a:p>
              <a:pPr algn="l"/>
              <a:r>
                <a:rPr sz="930" b="1">
                  <a:solidFill>
                    <a:srgbClr val="1A7F37"/>
                  </a:solidFill>
                  <a:latin typeface="맑은 고딕"/>
                  <a:ea typeface="맑은 고딕"/>
                  <a:cs typeface="맑은 고딕"/>
                </a:rPr>
                <a:t>→ MAC 활용률 최대점</a:t>
              </a:r>
            </a:p>
          </p:txBody>
        </p:sp>
        <p:sp>
          <p:nvSpPr>
            <p:cNvPr id="69" name="Rounded Rectangle 68"/>
            <p:cNvSpPr/>
            <p:nvPr/>
          </p:nvSpPr>
          <p:spPr>
            <a:xfrm>
              <a:off x="7450311" y="4198841"/>
              <a:ext cx="3461406" cy="1203967"/>
            </a:xfrm>
            <a:prstGeom prst="roundRect">
              <a:avLst>
                <a:gd name="adj" fmla="val 8035"/>
              </a:avLst>
            </a:prstGeom>
            <a:solidFill>
              <a:srgbClr val="FDEBD3"/>
            </a:solidFill>
            <a:ln w="19349">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665305" y="4322462"/>
              <a:ext cx="1577385" cy="194570"/>
            </a:xfrm>
            <a:prstGeom prst="rect">
              <a:avLst/>
            </a:prstGeom>
            <a:noFill/>
          </p:spPr>
          <p:txBody>
            <a:bodyPr wrap="none" anchor="ctr" lIns="0" rIns="0" tIns="0" bIns="0">
              <a:noAutofit/>
            </a:bodyPr>
            <a:lstStyle/>
            <a:p>
              <a:pPr algn="l"/>
              <a:r>
                <a:rPr sz="1060" b="1">
                  <a:solidFill>
                    <a:srgbClr val="B45409"/>
                  </a:solidFill>
                  <a:latin typeface="맑은 고딕"/>
                  <a:ea typeface="맑은 고딕"/>
                  <a:cs typeface="맑은 고딕"/>
                </a:rPr>
                <a:t>③ L &gt; 2k — 다시 메모리 쪽</a:t>
              </a:r>
            </a:p>
          </p:txBody>
        </p:sp>
        <p:sp>
          <p:nvSpPr>
            <p:cNvPr id="71" name="TextBox 70"/>
            <p:cNvSpPr txBox="1"/>
            <p:nvPr/>
          </p:nvSpPr>
          <p:spPr>
            <a:xfrm>
              <a:off x="7665305" y="4599160"/>
              <a:ext cx="2111533"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attention score 가 SRAM 에 안 들어간다.</a:t>
              </a:r>
            </a:p>
          </p:txBody>
        </p:sp>
        <p:sp>
          <p:nvSpPr>
            <p:cNvPr id="72" name="TextBox 71"/>
            <p:cNvSpPr txBox="1"/>
            <p:nvPr/>
          </p:nvSpPr>
          <p:spPr>
            <a:xfrm>
              <a:off x="7665305" y="4814154"/>
              <a:ext cx="2041294" cy="171221"/>
            </a:xfrm>
            <a:prstGeom prst="rect">
              <a:avLst/>
            </a:prstGeom>
            <a:noFill/>
          </p:spPr>
          <p:txBody>
            <a:bodyPr wrap="none" anchor="ctr" lIns="0" rIns="0" tIns="0" bIns="0">
              <a:noAutofit/>
            </a:bodyPr>
            <a:lstStyle/>
            <a:p>
              <a:pPr algn="l"/>
              <a:r>
                <a:rPr sz="930" b="0">
                  <a:solidFill>
                    <a:srgbClr val="16202C"/>
                  </a:solidFill>
                  <a:latin typeface="맑은 고딕"/>
                  <a:ea typeface="맑은 고딕"/>
                  <a:cs typeface="맑은 고딕"/>
                </a:rPr>
                <a:t>쪼갠 QK^T 를 softmax 위해 주고받는다.</a:t>
              </a:r>
            </a:p>
          </p:txBody>
        </p:sp>
        <p:sp>
          <p:nvSpPr>
            <p:cNvPr id="73" name="TextBox 72"/>
            <p:cNvSpPr txBox="1"/>
            <p:nvPr/>
          </p:nvSpPr>
          <p:spPr>
            <a:xfrm>
              <a:off x="7665305" y="5050647"/>
              <a:ext cx="1282505" cy="171221"/>
            </a:xfrm>
            <a:prstGeom prst="rect">
              <a:avLst/>
            </a:prstGeom>
            <a:noFill/>
          </p:spPr>
          <p:txBody>
            <a:bodyPr wrap="none" anchor="ctr" lIns="0" rIns="0" tIns="0" bIns="0">
              <a:noAutofit/>
            </a:bodyPr>
            <a:lstStyle/>
            <a:p>
              <a:pPr algn="l"/>
              <a:r>
                <a:rPr sz="930" b="1">
                  <a:solidFill>
                    <a:srgbClr val="B45409"/>
                  </a:solidFill>
                  <a:latin typeface="맑은 고딕"/>
                  <a:ea typeface="맑은 고딕"/>
                  <a:cs typeface="맑은 고딕"/>
                </a:rPr>
                <a:t>→ MAC 활용률 소폭 하락</a:t>
              </a:r>
            </a:p>
          </p:txBody>
        </p:sp>
      </p:grpSp>
      <p:sp>
        <p:nvSpPr>
          <p:cNvPr id="74" name="Rectangle 7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짧으면 가중치가, 길면 softmax 가 병목이다. 그 사이에 MAC 활용률의 최대점이 있다.</a:t>
            </a:r>
          </a:p>
        </p:txBody>
      </p:sp>
      <p:sp>
        <p:nvSpPr>
          <p:cNvPr id="75" name="Rectangle 7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200" b="1" i="0">
                <a:solidFill>
                  <a:srgbClr val="16202C"/>
                </a:solidFill>
                <a:latin typeface="Segoe UI"/>
                <a:ea typeface="맑은 고딕"/>
                <a:cs typeface="맑은 고딕"/>
              </a:rPr>
              <a:t>Fig. 11 (b) — 메모리 바운드에서 컴퓨트 바운드로, 다시 메모리 바운드로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prefill 의 두 활용률 곡선이 X 자로 교차한다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MAC 활용률의 정의는 컨트랙션 횟수 ÷ 지연이다. softmax·RMSNorm·add·mul 같은 element-wise 연산은 세지 않는다.</a:t>
            </a:r>
          </a:p>
          <a:p>
            <a:pPr algn="l">
              <a:lnSpc>
                <a:spcPct val="118000"/>
              </a:lnSpc>
              <a:spcBef>
                <a:spcPts val="600"/>
              </a:spcBef>
              <a:spcAft>
                <a:spcPts val="200"/>
              </a:spcAft>
            </a:pPr>
            <a:r>
              <a:rPr sz="1900" b="1" i="0">
                <a:solidFill>
                  <a:srgbClr val="083F80"/>
                </a:solidFill>
                <a:latin typeface="Segoe UI"/>
                <a:ea typeface="맑은 고딕"/>
                <a:cs typeface="맑은 고딕"/>
              </a:rPr>
              <a:t>▪  메모리 대역폭 활용률의 정의는 (가중치 + KV cache 크기) ÷ HBM 대역폭 1.5 TB/s 다. 모델 자체가 유발하는 필수 트래픽만 센 값이다.</a:t>
            </a:r>
          </a:p>
          <a:p>
            <a:pPr algn="l">
              <a:lnSpc>
                <a:spcPct val="118000"/>
              </a:lnSpc>
              <a:spcBef>
                <a:spcPts val="600"/>
              </a:spcBef>
              <a:spcAft>
                <a:spcPts val="200"/>
              </a:spcAft>
            </a:pPr>
            <a:r>
              <a:rPr sz="1900" b="0" i="0">
                <a:solidFill>
                  <a:srgbClr val="16202C"/>
                </a:solidFill>
                <a:latin typeface="Segoe UI"/>
                <a:ea typeface="맑은 고딕"/>
                <a:cs typeface="맑은 고딕"/>
              </a:rPr>
              <a:t>▪  그래서 파란 곡선에는 softmax 로 늘어난 트래픽이 빠져 있다. 논문이 직접 단서로 달아 둔 한계이며, L &gt; 2k 의 실제 메모리 압박은 그림보다 크다.</a:t>
            </a:r>
          </a:p>
          <a:p>
            <a:pPr algn="l">
              <a:lnSpc>
                <a:spcPct val="118000"/>
              </a:lnSpc>
              <a:spcBef>
                <a:spcPts val="600"/>
              </a:spcBef>
              <a:spcAft>
                <a:spcPts val="200"/>
              </a:spcAft>
            </a:pPr>
            <a:r>
              <a:rPr sz="1900" b="0" i="0">
                <a:solidFill>
                  <a:srgbClr val="16202C"/>
                </a:solidFill>
                <a:latin typeface="Segoe UI"/>
                <a:ea typeface="맑은 고딕"/>
                <a:cs typeface="맑은 고딕"/>
              </a:rPr>
              <a:t>▪  논문이 말한 것은 세 문장뿐이다. L=128 에서 메모리 바운드, L 이 커지면 MAC 활용률 상승, L &gt; 2k 에서 소폭 감소. "위로 볼록"이라는 정리는 발표자의 표현이다.</a:t>
            </a:r>
          </a:p>
          <a:p>
            <a:pPr algn="l">
              <a:lnSpc>
                <a:spcPct val="118000"/>
              </a:lnSpc>
              <a:spcBef>
                <a:spcPts val="600"/>
              </a:spcBef>
              <a:spcAft>
                <a:spcPts val="200"/>
              </a:spcAft>
            </a:pPr>
            <a:r>
              <a:rPr sz="1900" b="0" i="0">
                <a:solidFill>
                  <a:srgbClr val="16202C"/>
                </a:solidFill>
                <a:latin typeface="Segoe UI"/>
                <a:ea typeface="맑은 고딕"/>
                <a:cs typeface="맑은 고딕"/>
              </a:rPr>
              <a:t>▪  막대별 수치는 논문 본문에 없다. 세로축 범위가 0~0.8 이라는 것만 그림에서 읽을 수 있다.</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12 — Decode 단계의 지연과 활용률 4종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225</a:t>
            </a:r>
          </a:p>
        </p:txBody>
      </p:sp>
      <p:pic>
        <p:nvPicPr>
          <p:cNvPr id="8" name="Picture 7" descr="isca_fig12.png"/>
          <p:cNvPicPr>
            <a:picLocks noChangeAspect="1"/>
          </p:cNvPicPr>
          <p:nvPr/>
        </p:nvPicPr>
        <p:blipFill>
          <a:blip r:embed="rId2"/>
          <a:stretch>
            <a:fillRect/>
          </a:stretch>
        </p:blipFill>
        <p:spPr>
          <a:xfrm>
            <a:off x="566928" y="1517904"/>
            <a:ext cx="11057839" cy="2149571"/>
          </a:xfrm>
          <a:prstGeom prst="rect">
            <a:avLst/>
          </a:prstGeom>
        </p:spPr>
      </p:pic>
      <p:sp>
        <p:nvSpPr>
          <p:cNvPr id="9" name="Rectangle 8"/>
          <p:cNvSpPr/>
          <p:nvPr/>
        </p:nvSpPr>
        <p:spPr>
          <a:xfrm>
            <a:off x="566928" y="1517904"/>
            <a:ext cx="11057839" cy="2149571"/>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3694907"/>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12 — TCP: A Tensor Contraction Processor for AI Workloads (ISCA 2024)</a:t>
            </a:r>
          </a:p>
        </p:txBody>
      </p:sp>
      <p:sp>
        <p:nvSpPr>
          <p:cNvPr id="11" name="TextBox 10"/>
          <p:cNvSpPr txBox="1"/>
          <p:nvPr/>
        </p:nvSpPr>
        <p:spPr>
          <a:xfrm>
            <a:off x="566928" y="4014947"/>
            <a:ext cx="11057839" cy="2257837"/>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네 개의 패널이 두 축을 각각 스윕한다. 왼쪽 둘은 지연, 오른쪽 둘은 활용률이다.</a:t>
            </a:r>
          </a:p>
          <a:p>
            <a:pPr algn="l">
              <a:lnSpc>
                <a:spcPct val="118000"/>
              </a:lnSpc>
              <a:spcBef>
                <a:spcPts val="600"/>
              </a:spcBef>
              <a:spcAft>
                <a:spcPts val="200"/>
              </a:spcAft>
            </a:pPr>
            <a:r>
              <a:rPr sz="1400" b="0" i="0">
                <a:solidFill>
                  <a:srgbClr val="16202C"/>
                </a:solidFill>
                <a:latin typeface="Segoe UI"/>
                <a:ea typeface="맑은 고딕"/>
                <a:cs typeface="맑은 고딕"/>
              </a:rPr>
              <a:t>▪  (a) 다음 토큰 지연 (B=8 고정): x축 입력 시퀀스 길이 128~4096, y축 Next token latency (msec)</a:t>
            </a:r>
          </a:p>
          <a:p>
            <a:pPr algn="l">
              <a:lnSpc>
                <a:spcPct val="118000"/>
              </a:lnSpc>
              <a:spcBef>
                <a:spcPts val="600"/>
              </a:spcBef>
              <a:spcAft>
                <a:spcPts val="200"/>
              </a:spcAft>
            </a:pPr>
            <a:r>
              <a:rPr sz="1400" b="0" i="0">
                <a:solidFill>
                  <a:srgbClr val="16202C"/>
                </a:solidFill>
                <a:latin typeface="Segoe UI"/>
                <a:ea typeface="맑은 고딕"/>
                <a:cs typeface="맑은 고딕"/>
              </a:rPr>
              <a:t>▪  (b) 다음 토큰 지연 (L=256 고정): x축 배치 크기 8, 16, 32, 64, y축 Next token latency (msec)</a:t>
            </a:r>
          </a:p>
          <a:p>
            <a:pPr algn="l">
              <a:lnSpc>
                <a:spcPct val="118000"/>
              </a:lnSpc>
              <a:spcBef>
                <a:spcPts val="600"/>
              </a:spcBef>
              <a:spcAft>
                <a:spcPts val="200"/>
              </a:spcAft>
            </a:pPr>
            <a:r>
              <a:rPr sz="1400" b="0" i="0">
                <a:solidFill>
                  <a:srgbClr val="16202C"/>
                </a:solidFill>
                <a:latin typeface="Segoe UI"/>
                <a:ea typeface="맑은 고딕"/>
                <a:cs typeface="맑은 고딕"/>
              </a:rPr>
              <a:t>▪  (c) 활용률 (B=8 고정): x축 입력 시퀀스 길이, 파란 막대 Mem. BW Util, 주황 막대 MAC Util</a:t>
            </a:r>
          </a:p>
          <a:p>
            <a:pPr algn="l">
              <a:lnSpc>
                <a:spcPct val="118000"/>
              </a:lnSpc>
              <a:spcBef>
                <a:spcPts val="600"/>
              </a:spcBef>
              <a:spcAft>
                <a:spcPts val="200"/>
              </a:spcAft>
            </a:pPr>
            <a:r>
              <a:rPr sz="1400" b="0" i="0">
                <a:solidFill>
                  <a:srgbClr val="16202C"/>
                </a:solidFill>
                <a:latin typeface="Segoe UI"/>
                <a:ea typeface="맑은 고딕"/>
                <a:cs typeface="맑은 고딕"/>
              </a:rPr>
              <a:t>▪  (d) 활용률 (L=256 고정): x축 배치 크기, 막대 구성은 (c)와 동일</a:t>
            </a:r>
          </a:p>
          <a:p>
            <a:pPr algn="l">
              <a:lnSpc>
                <a:spcPct val="118000"/>
              </a:lnSpc>
              <a:spcBef>
                <a:spcPts val="600"/>
              </a:spcBef>
              <a:spcAft>
                <a:spcPts val="200"/>
              </a:spcAft>
            </a:pPr>
            <a:r>
              <a:rPr sz="1400" b="1" i="0">
                <a:solidFill>
                  <a:srgbClr val="083F80"/>
                </a:solidFill>
                <a:latin typeface="Segoe UI"/>
                <a:ea typeface="맑은 고딕"/>
                <a:cs typeface="맑은 고딕"/>
              </a:rPr>
              <a:t>▪  Fig. 11과 결정적으로 다른 점: (c)(d)에서 주황 막대(MAC 활용률)가 바닥에 붙어 있다. 파란 막대(메모리 대역폭)만 0.7 근처에서 높다.</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12 — Decode 단계의 지연과 활용률 4종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100"/>
              </a:spcAft>
            </a:pPr>
            <a:r>
              <a:rPr sz="1780" b="0" i="0">
                <a:solidFill>
                  <a:srgbClr val="2C3A4B"/>
                </a:solidFill>
                <a:latin typeface="Segoe UI"/>
                <a:ea typeface="맑은 고딕"/>
                <a:cs typeface="맑은 고딕"/>
              </a:rPr>
              <a:t>–  막대별 정확한 수치는 논문 본문에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decode는 처음부터 끝까지 메모리 대역폭 게임이다. MAC은 거의 놀고 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12 (a)(b) — 다음 토큰 지연이 언제 오르기 시작하나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decode 단계는 기본적으로 메모리 대역폭에 병목이 걸린다. 가중치를 읽어 오는 트래픽 때문이다.</a:t>
            </a:r>
          </a:p>
          <a:p>
            <a:pPr algn="l">
              <a:lnSpc>
                <a:spcPct val="118000"/>
              </a:lnSpc>
              <a:spcBef>
                <a:spcPts val="200"/>
              </a:spcBef>
              <a:spcAft>
                <a:spcPts val="100"/>
              </a:spcAft>
            </a:pPr>
            <a:r>
              <a:rPr sz="1480" b="0" i="0">
                <a:solidFill>
                  <a:srgbClr val="2C3A4B"/>
                </a:solidFill>
                <a:latin typeface="Segoe UI"/>
                <a:ea typeface="맑은 고딕"/>
                <a:cs typeface="맑은 고딕"/>
              </a:rPr>
              <a:t>–  토큰 하나를 만드는 데도 모델 가중치를 전부 한 번 읽어야 한다. 연산량은 작은데 읽을 양은 그대로다.</a:t>
            </a:r>
          </a:p>
          <a:p>
            <a:pPr algn="l">
              <a:lnSpc>
                <a:spcPct val="118000"/>
              </a:lnSpc>
              <a:spcBef>
                <a:spcPts val="600"/>
              </a:spcBef>
              <a:spcAft>
                <a:spcPts val="200"/>
              </a:spcAft>
            </a:pPr>
            <a:r>
              <a:rPr sz="1600" b="1" i="0">
                <a:solidFill>
                  <a:srgbClr val="083F80"/>
                </a:solidFill>
                <a:latin typeface="Segoe UI"/>
                <a:ea typeface="맑은 고딕"/>
                <a:cs typeface="맑은 고딕"/>
              </a:rPr>
              <a:t>▪  (a) 시퀀스 길이 스윕 (B=8): 시퀀스 길이가 작을 동안은 다음 토큰 지연이 눈에 띄게 늘지 않는다.</a:t>
            </a:r>
          </a:p>
          <a:p>
            <a:pPr algn="l">
              <a:lnSpc>
                <a:spcPct val="118000"/>
              </a:lnSpc>
              <a:spcBef>
                <a:spcPts val="200"/>
              </a:spcBef>
              <a:spcAft>
                <a:spcPts val="100"/>
              </a:spcAft>
            </a:pPr>
            <a:r>
              <a:rPr sz="1480" b="0" i="0">
                <a:solidFill>
                  <a:srgbClr val="2C3A4B"/>
                </a:solidFill>
                <a:latin typeface="Segoe UI"/>
                <a:ea typeface="맑은 고딕"/>
                <a:cs typeface="맑은 고딕"/>
              </a:rPr>
              <a:t>–  L이 128이든 512든 가중치 읽기 시간이 지배하므로 거의 평평하다.</a:t>
            </a:r>
          </a:p>
          <a:p>
            <a:pPr algn="l">
              <a:lnSpc>
                <a:spcPct val="118000"/>
              </a:lnSpc>
              <a:spcBef>
                <a:spcPts val="200"/>
              </a:spcBef>
              <a:spcAft>
                <a:spcPts val="100"/>
              </a:spcAft>
            </a:pPr>
            <a:r>
              <a:rPr sz="1480" b="0" i="0">
                <a:solidFill>
                  <a:srgbClr val="2C3A4B"/>
                </a:solidFill>
                <a:latin typeface="Segoe UI"/>
                <a:ea typeface="맑은 고딕"/>
                <a:cs typeface="맑은 고딕"/>
              </a:rPr>
              <a:t>–  그러나 어느 수준을 넘어서면 지연이 오르기 시작한다. L=2048, 4096 막대가 확실히 높다.</a:t>
            </a:r>
          </a:p>
          <a:p>
            <a:pPr algn="l">
              <a:lnSpc>
                <a:spcPct val="118000"/>
              </a:lnSpc>
              <a:spcBef>
                <a:spcPts val="600"/>
              </a:spcBef>
              <a:spcAft>
                <a:spcPts val="200"/>
              </a:spcAft>
            </a:pPr>
            <a:r>
              <a:rPr sz="1600" b="1" i="0">
                <a:solidFill>
                  <a:srgbClr val="083F80"/>
                </a:solidFill>
                <a:latin typeface="Segoe UI"/>
                <a:ea typeface="맑은 고딕"/>
                <a:cs typeface="맑은 고딕"/>
              </a:rPr>
              <a:t>▪  (b) 배치 크기 스윕 (L=256): 배치 크기가 작을 동안도 마찬가지로 평평하다.</a:t>
            </a:r>
          </a:p>
          <a:p>
            <a:pPr algn="l">
              <a:lnSpc>
                <a:spcPct val="118000"/>
              </a:lnSpc>
              <a:spcBef>
                <a:spcPts val="200"/>
              </a:spcBef>
              <a:spcAft>
                <a:spcPts val="100"/>
              </a:spcAft>
            </a:pPr>
            <a:r>
              <a:rPr sz="1480" b="0" i="0">
                <a:solidFill>
                  <a:srgbClr val="2C3A4B"/>
                </a:solidFill>
                <a:latin typeface="Segoe UI"/>
                <a:ea typeface="맑은 고딕"/>
                <a:cs typeface="맑은 고딕"/>
              </a:rPr>
              <a:t>–  B=8과 B=16이 거의 같고, B=32부터 오르며 B=64에서 확실히 커진다.</a:t>
            </a:r>
          </a:p>
          <a:p>
            <a:pPr algn="l">
              <a:lnSpc>
                <a:spcPct val="118000"/>
              </a:lnSpc>
              <a:spcBef>
                <a:spcPts val="200"/>
              </a:spcBef>
              <a:spcAft>
                <a:spcPts val="100"/>
              </a:spcAft>
            </a:pPr>
            <a:r>
              <a:rPr sz="1480" b="0" i="0">
                <a:solidFill>
                  <a:srgbClr val="2C3A4B"/>
                </a:solidFill>
                <a:latin typeface="Segoe UI"/>
                <a:ea typeface="맑은 고딕"/>
                <a:cs typeface="맑은 고딕"/>
              </a:rPr>
              <a:t>–  배치를 키워도 지연이 그대로라는 것은 곧 처리량이 배로 는다는 뜻이다. 서빙 관점에서 중요한 성질이다.</a:t>
            </a:r>
          </a:p>
          <a:p>
            <a:pPr algn="l">
              <a:lnSpc>
                <a:spcPct val="118000"/>
              </a:lnSpc>
              <a:spcBef>
                <a:spcPts val="600"/>
              </a:spcBef>
              <a:spcAft>
                <a:spcPts val="200"/>
              </a:spcAft>
            </a:pPr>
            <a:r>
              <a:rPr sz="1600" b="1" i="0">
                <a:solidFill>
                  <a:srgbClr val="083F80"/>
                </a:solidFill>
                <a:latin typeface="Segoe UI"/>
                <a:ea typeface="맑은 고딕"/>
                <a:cs typeface="맑은 고딕"/>
              </a:rPr>
              <a:t>▪  공통 원인: KV cache가 커지면서 추가 HBM 트래픽이 발생한다.</a:t>
            </a:r>
          </a:p>
          <a:p>
            <a:pPr algn="l">
              <a:lnSpc>
                <a:spcPct val="118000"/>
              </a:lnSpc>
              <a:spcBef>
                <a:spcPts val="200"/>
              </a:spcBef>
              <a:spcAft>
                <a:spcPts val="100"/>
              </a:spcAft>
            </a:pPr>
            <a:r>
              <a:rPr sz="1480" b="0" i="0">
                <a:solidFill>
                  <a:srgbClr val="2C3A4B"/>
                </a:solidFill>
                <a:latin typeface="Segoe UI"/>
                <a:ea typeface="맑은 고딕"/>
                <a:cs typeface="맑은 고딕"/>
              </a:rPr>
              <a:t>–  L과 B가 커지면 연산량만 느는 것이 아니라 KV cache를 적재하는 시간이 늘어난다.</a:t>
            </a:r>
          </a:p>
          <a:p>
            <a:pPr algn="l">
              <a:lnSpc>
                <a:spcPct val="118000"/>
              </a:lnSpc>
              <a:spcBef>
                <a:spcPts val="200"/>
              </a:spcBef>
              <a:spcAft>
                <a:spcPts val="100"/>
              </a:spcAft>
            </a:pPr>
            <a:r>
              <a:rPr sz="1480" b="0" i="0">
                <a:solidFill>
                  <a:srgbClr val="2C3A4B"/>
                </a:solidFill>
                <a:latin typeface="Segoe UI"/>
                <a:ea typeface="맑은 고딕"/>
                <a:cs typeface="맑은 고딕"/>
              </a:rPr>
              <a:t>–  그 결과 메모리 바운드가 심해지고 지연이 따라 오른다.</a:t>
            </a:r>
          </a:p>
          <a:p>
            <a:pPr algn="l">
              <a:lnSpc>
                <a:spcPct val="118000"/>
              </a:lnSpc>
              <a:spcBef>
                <a:spcPts val="200"/>
              </a:spcBef>
              <a:spcAft>
                <a:spcPts val="100"/>
              </a:spcAft>
            </a:pPr>
            <a:r>
              <a:rPr sz="1480" b="0" i="0">
                <a:solidFill>
                  <a:srgbClr val="2C3A4B"/>
                </a:solidFill>
                <a:latin typeface="Segoe UI"/>
                <a:ea typeface="맑은 고딕"/>
                <a:cs typeface="맑은 고딕"/>
              </a:rPr>
              <a:t>–  KV cache 크기는 대략 B × L에 비례하므로, 두 축 어느 쪽을 키우든 같은 벽에 부딪힌다.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250" b="1" i="0">
                <a:solidFill>
                  <a:srgbClr val="B45409"/>
                </a:solidFill>
                <a:latin typeface="Segoe UI"/>
                <a:ea typeface="맑은 고딕"/>
                <a:cs typeface="맑은 고딕"/>
              </a:rPr>
              <a:t>핵심   decode 지연의 평평한 구간은 "가중치 읽기가 지배하는 구간"이고, 꺾이는 지점은 "KV cache가 가중치만큼 커지는 지점"이다.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12 (c)(d) — 활용률로 본 decode의 성격</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(c) B=8, 시퀀스 길이 스윕</a:t>
            </a:r>
          </a:p>
          <a:p>
            <a:pPr algn="l">
              <a:lnSpc>
                <a:spcPct val="118000"/>
              </a:lnSpc>
              <a:spcBef>
                <a:spcPts val="200"/>
              </a:spcBef>
              <a:spcAft>
                <a:spcPts val="100"/>
              </a:spcAft>
            </a:pPr>
            <a:r>
              <a:rPr sz="1580" b="0" i="0">
                <a:solidFill>
                  <a:srgbClr val="2C3A4B"/>
                </a:solidFill>
                <a:latin typeface="Segoe UI"/>
                <a:ea typeface="맑은 고딕"/>
                <a:cs typeface="맑은 고딕"/>
              </a:rPr>
              <a:t>–  메모리 대역폭 활용률이 0.7 근처의 높은 값을 유지한다. HBM을 거의 다 쓰고 있다는 뜻이다.</a:t>
            </a:r>
          </a:p>
          <a:p>
            <a:pPr algn="l">
              <a:lnSpc>
                <a:spcPct val="118000"/>
              </a:lnSpc>
              <a:spcBef>
                <a:spcPts val="200"/>
              </a:spcBef>
              <a:spcAft>
                <a:spcPts val="100"/>
              </a:spcAft>
            </a:pPr>
            <a:r>
              <a:rPr sz="1580" b="0" i="0">
                <a:solidFill>
                  <a:srgbClr val="2C3A4B"/>
                </a:solidFill>
                <a:latin typeface="Segoe UI"/>
                <a:ea typeface="맑은 고딕"/>
                <a:cs typeface="맑은 고딕"/>
              </a:rPr>
              <a:t>–  MAC 활용률은 바닥에 가깝다. decode는 토큰 하나당 행렬-벡터 곱이라 컨트랙션 양 자체가 적다.</a:t>
            </a:r>
          </a:p>
          <a:p>
            <a:pPr algn="l">
              <a:lnSpc>
                <a:spcPct val="118000"/>
              </a:lnSpc>
              <a:spcBef>
                <a:spcPts val="200"/>
              </a:spcBef>
              <a:spcAft>
                <a:spcPts val="100"/>
              </a:spcAft>
            </a:pPr>
            <a:r>
              <a:rPr sz="1580" b="0" i="0">
                <a:solidFill>
                  <a:srgbClr val="2C3A4B"/>
                </a:solidFill>
                <a:latin typeface="Segoe UI"/>
                <a:ea typeface="맑은 고딕"/>
                <a:cs typeface="맑은 고딕"/>
              </a:rPr>
              <a:t>–  L이 매우 커지면 softmax와 KV cache 때문에 메모리 바운드가 나타난다. 이는 Fig. 11 (b)에서도 이미 보고된 현상이다.</a:t>
            </a:r>
          </a:p>
          <a:p>
            <a:pPr algn="l">
              <a:lnSpc>
                <a:spcPct val="118000"/>
              </a:lnSpc>
              <a:spcBef>
                <a:spcPts val="600"/>
              </a:spcBef>
              <a:spcAft>
                <a:spcPts val="200"/>
              </a:spcAft>
            </a:pPr>
            <a:r>
              <a:rPr sz="1700" b="1" i="0">
                <a:solidFill>
                  <a:srgbClr val="083F80"/>
                </a:solidFill>
                <a:latin typeface="Segoe UI"/>
                <a:ea typeface="맑은 고딕"/>
                <a:cs typeface="맑은 고딕"/>
              </a:rPr>
              <a:t>▪  (d) L=256, 배치 크기 스윕</a:t>
            </a:r>
          </a:p>
          <a:p>
            <a:pPr algn="l">
              <a:lnSpc>
                <a:spcPct val="118000"/>
              </a:lnSpc>
              <a:spcBef>
                <a:spcPts val="200"/>
              </a:spcBef>
              <a:spcAft>
                <a:spcPts val="100"/>
              </a:spcAft>
            </a:pPr>
            <a:r>
              <a:rPr sz="1580" b="0" i="0">
                <a:solidFill>
                  <a:srgbClr val="2C3A4B"/>
                </a:solidFill>
                <a:latin typeface="Segoe UI"/>
                <a:ea typeface="맑은 고딕"/>
                <a:cs typeface="맑은 고딕"/>
              </a:rPr>
              <a:t>–  메모리 대역폭 활용률은 여전히 높고 배치 크기에 크게 좌우되지 않는다.</a:t>
            </a:r>
          </a:p>
          <a:p>
            <a:pPr algn="l">
              <a:lnSpc>
                <a:spcPct val="118000"/>
              </a:lnSpc>
              <a:spcBef>
                <a:spcPts val="200"/>
              </a:spcBef>
              <a:spcAft>
                <a:spcPts val="100"/>
              </a:spcAft>
            </a:pPr>
            <a:r>
              <a:rPr sz="1580" b="0" i="0">
                <a:solidFill>
                  <a:srgbClr val="2C3A4B"/>
                </a:solidFill>
                <a:latin typeface="Segoe UI"/>
                <a:ea typeface="맑은 고딕"/>
                <a:cs typeface="맑은 고딕"/>
              </a:rPr>
              <a:t>–  MAC 활용률은 배치 크기가 커질수록 조금씩 올라간다. 같은 가중치를 여러 시퀀스가 나눠 쓰기 때문이다.</a:t>
            </a:r>
          </a:p>
          <a:p>
            <a:pPr algn="l">
              <a:lnSpc>
                <a:spcPct val="118000"/>
              </a:lnSpc>
              <a:spcBef>
                <a:spcPts val="200"/>
              </a:spcBef>
              <a:spcAft>
                <a:spcPts val="100"/>
              </a:spcAft>
            </a:pPr>
            <a:r>
              <a:rPr sz="1580" b="0" i="0">
                <a:solidFill>
                  <a:srgbClr val="2C3A4B"/>
                </a:solidFill>
                <a:latin typeface="Segoe UI"/>
                <a:ea typeface="맑은 고딕"/>
                <a:cs typeface="맑은 고딕"/>
              </a:rPr>
              <a:t>–  그래도 절대값은 여전히 낮다. 배치를 64까지 키워도 MAC은 여유가 많다.</a:t>
            </a:r>
          </a:p>
          <a:p>
            <a:pPr algn="l">
              <a:lnSpc>
                <a:spcPct val="118000"/>
              </a:lnSpc>
              <a:spcBef>
                <a:spcPts val="600"/>
              </a:spcBef>
              <a:spcAft>
                <a:spcPts val="200"/>
              </a:spcAft>
            </a:pPr>
            <a:r>
              <a:rPr sz="1700" b="1" i="0">
                <a:solidFill>
                  <a:srgbClr val="083F80"/>
                </a:solidFill>
                <a:latin typeface="Segoe UI"/>
                <a:ea typeface="맑은 고딕"/>
                <a:cs typeface="맑은 고딕"/>
              </a:rPr>
              <a:t>▪  실무적 함의: decode 단계에서 TCP의 MAC 어레이는 남아돈다. 성능을 좌우하는 것은 오직 HBM 대역폭을 얼마나 알뜰히 쓰느냐다.</a:t>
            </a:r>
          </a:p>
          <a:p>
            <a:pPr algn="l">
              <a:lnSpc>
                <a:spcPct val="118000"/>
              </a:lnSpc>
              <a:spcBef>
                <a:spcPts val="200"/>
              </a:spcBef>
              <a:spcAft>
                <a:spcPts val="100"/>
              </a:spcAft>
            </a:pPr>
            <a:r>
              <a:rPr sz="1580" b="0" i="0">
                <a:solidFill>
                  <a:srgbClr val="2C3A4B"/>
                </a:solidFill>
                <a:latin typeface="Segoe UI"/>
                <a:ea typeface="맑은 고딕"/>
                <a:cs typeface="맑은 고딕"/>
              </a:rPr>
              <a:t>–  이것이 Table II에서 "처리량 비율 ≈ 대역폭 비율"이 성립한 이유이기도 하다.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decode의 MAC 활용률이 낮은 것은 설계 실패가 아니라 워크로드의 본질이다. TCP는 그 대신 W당 대역폭으로 이긴다.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Prefill과 Decode를 나란히</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229</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Prefill (첫 토큰) — Fig. 11</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입력 토큰 L개를 한꺼번에 처리한다.</a:t>
            </a:r>
          </a:p>
          <a:p>
            <a:pPr algn="l">
              <a:lnSpc>
                <a:spcPct val="118000"/>
              </a:lnSpc>
              <a:spcBef>
                <a:spcPts val="600"/>
              </a:spcBef>
              <a:spcAft>
                <a:spcPts val="200"/>
              </a:spcAft>
            </a:pPr>
            <a:r>
              <a:rPr sz="1600" b="0" i="0">
                <a:solidFill>
                  <a:srgbClr val="16202C"/>
                </a:solidFill>
                <a:latin typeface="Segoe UI"/>
                <a:ea typeface="맑은 고딕"/>
                <a:cs typeface="맑은 고딕"/>
              </a:rPr>
              <a:t>▪  연산은 행렬-행렬 곱 성격이다.</a:t>
            </a:r>
          </a:p>
          <a:p>
            <a:pPr algn="l">
              <a:lnSpc>
                <a:spcPct val="118000"/>
              </a:lnSpc>
              <a:spcBef>
                <a:spcPts val="600"/>
              </a:spcBef>
              <a:spcAft>
                <a:spcPts val="200"/>
              </a:spcAft>
            </a:pPr>
            <a:r>
              <a:rPr sz="1600" b="1" i="0">
                <a:solidFill>
                  <a:srgbClr val="083F80"/>
                </a:solidFill>
                <a:latin typeface="Segoe UI"/>
                <a:ea typeface="맑은 고딕"/>
                <a:cs typeface="맑은 고딕"/>
              </a:rPr>
              <a:t>▪  L이 작으면 메모리 바운드, 크면 컴퓨트 바운드로 바뀐다.</a:t>
            </a:r>
          </a:p>
          <a:p>
            <a:pPr algn="l">
              <a:lnSpc>
                <a:spcPct val="118000"/>
              </a:lnSpc>
              <a:spcBef>
                <a:spcPts val="600"/>
              </a:spcBef>
              <a:spcAft>
                <a:spcPts val="200"/>
              </a:spcAft>
            </a:pPr>
            <a:r>
              <a:rPr sz="1600" b="0" i="0">
                <a:solidFill>
                  <a:srgbClr val="16202C"/>
                </a:solidFill>
                <a:latin typeface="Segoe UI"/>
                <a:ea typeface="맑은 고딕"/>
                <a:cs typeface="맑은 고딕"/>
              </a:rPr>
              <a:t>▪  MAC 활용률이 0.7 근처까지 오른다 (그래프 눈금 기준, 본문에 수치는 없다).</a:t>
            </a:r>
          </a:p>
          <a:p>
            <a:pPr algn="l">
              <a:lnSpc>
                <a:spcPct val="118000"/>
              </a:lnSpc>
              <a:spcBef>
                <a:spcPts val="600"/>
              </a:spcBef>
              <a:spcAft>
                <a:spcPts val="200"/>
              </a:spcAft>
            </a:pPr>
            <a:r>
              <a:rPr sz="1600" b="0" i="0">
                <a:solidFill>
                  <a:srgbClr val="16202C"/>
                </a:solidFill>
                <a:latin typeface="Segoe UI"/>
                <a:ea typeface="맑은 고딕"/>
                <a:cs typeface="맑은 고딕"/>
              </a:rPr>
              <a:t>▪  L&gt;2k에서 QK^T가 SRAM을 넘겨 softmax 트래픽이 생긴다.</a:t>
            </a:r>
          </a:p>
          <a:p>
            <a:pPr algn="l">
              <a:lnSpc>
                <a:spcPct val="118000"/>
              </a:lnSpc>
              <a:spcBef>
                <a:spcPts val="600"/>
              </a:spcBef>
              <a:spcAft>
                <a:spcPts val="200"/>
              </a:spcAft>
            </a:pPr>
            <a:r>
              <a:rPr sz="1600" b="0" i="0">
                <a:solidFill>
                  <a:srgbClr val="16202C"/>
                </a:solidFill>
                <a:latin typeface="Segoe UI"/>
                <a:ea typeface="맑은 고딕"/>
                <a:cs typeface="맑은 고딕"/>
              </a:rPr>
              <a:t>▪  지연은 L에 대해 선형 → 초선형으로 증가한다.</a:t>
            </a:r>
          </a:p>
          <a:p>
            <a:pPr algn="l">
              <a:lnSpc>
                <a:spcPct val="118000"/>
              </a:lnSpc>
              <a:spcBef>
                <a:spcPts val="600"/>
              </a:spcBef>
              <a:spcAft>
                <a:spcPts val="200"/>
              </a:spcAft>
            </a:pPr>
            <a:r>
              <a:rPr sz="1600" b="1" i="0">
                <a:solidFill>
                  <a:srgbClr val="083F80"/>
                </a:solidFill>
                <a:latin typeface="Segoe UI"/>
                <a:ea typeface="맑은 고딕"/>
                <a:cs typeface="맑은 고딕"/>
              </a:rPr>
              <a:t>▪  병목: 짧으면 가중치, 길면 attention 중간 텐서</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Decode (다음 토큰) — Fig. 12</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매 스텝 토큰 1개(배치당)를 처리한다.</a:t>
            </a:r>
          </a:p>
          <a:p>
            <a:pPr algn="l">
              <a:lnSpc>
                <a:spcPct val="118000"/>
              </a:lnSpc>
              <a:spcBef>
                <a:spcPts val="600"/>
              </a:spcBef>
              <a:spcAft>
                <a:spcPts val="200"/>
              </a:spcAft>
            </a:pPr>
            <a:r>
              <a:rPr sz="1800" b="0" i="0">
                <a:solidFill>
                  <a:srgbClr val="16202C"/>
                </a:solidFill>
                <a:latin typeface="Segoe UI"/>
                <a:ea typeface="맑은 고딕"/>
                <a:cs typeface="맑은 고딕"/>
              </a:rPr>
              <a:t>▪  연산은 행렬-벡터 곱 성격이다.</a:t>
            </a:r>
          </a:p>
          <a:p>
            <a:pPr algn="l">
              <a:lnSpc>
                <a:spcPct val="118000"/>
              </a:lnSpc>
              <a:spcBef>
                <a:spcPts val="600"/>
              </a:spcBef>
              <a:spcAft>
                <a:spcPts val="200"/>
              </a:spcAft>
            </a:pPr>
            <a:r>
              <a:rPr sz="1800" b="1" i="0">
                <a:solidFill>
                  <a:srgbClr val="083F80"/>
                </a:solidFill>
                <a:latin typeface="Segoe UI"/>
                <a:ea typeface="맑은 고딕"/>
                <a:cs typeface="맑은 고딕"/>
              </a:rPr>
              <a:t>▪  L·B 전 구간에서 메모리 바운드다.</a:t>
            </a:r>
          </a:p>
          <a:p>
            <a:pPr algn="l">
              <a:lnSpc>
                <a:spcPct val="118000"/>
              </a:lnSpc>
              <a:spcBef>
                <a:spcPts val="600"/>
              </a:spcBef>
              <a:spcAft>
                <a:spcPts val="200"/>
              </a:spcAft>
            </a:pPr>
            <a:r>
              <a:rPr sz="1800" b="0" i="0">
                <a:solidFill>
                  <a:srgbClr val="16202C"/>
                </a:solidFill>
                <a:latin typeface="Segoe UI"/>
                <a:ea typeface="맑은 고딕"/>
                <a:cs typeface="맑은 고딕"/>
              </a:rPr>
              <a:t>▪  MAC 활용률은 바닥에 가깝다. 배치를 키우면 조금 오른다.</a:t>
            </a:r>
          </a:p>
          <a:p>
            <a:pPr algn="l">
              <a:lnSpc>
                <a:spcPct val="118000"/>
              </a:lnSpc>
              <a:spcBef>
                <a:spcPts val="600"/>
              </a:spcBef>
              <a:spcAft>
                <a:spcPts val="200"/>
              </a:spcAft>
            </a:pPr>
            <a:r>
              <a:rPr sz="1800" b="0" i="0">
                <a:solidFill>
                  <a:srgbClr val="16202C"/>
                </a:solidFill>
                <a:latin typeface="Segoe UI"/>
                <a:ea typeface="맑은 고딕"/>
                <a:cs typeface="맑은 고딕"/>
              </a:rPr>
              <a:t>▪  메모리 대역폭 활용률은 0.7 근처를 유지한다.</a:t>
            </a:r>
          </a:p>
          <a:p>
            <a:pPr algn="l">
              <a:lnSpc>
                <a:spcPct val="118000"/>
              </a:lnSpc>
              <a:spcBef>
                <a:spcPts val="600"/>
              </a:spcBef>
              <a:spcAft>
                <a:spcPts val="200"/>
              </a:spcAft>
            </a:pPr>
            <a:r>
              <a:rPr sz="1800" b="0" i="0">
                <a:solidFill>
                  <a:srgbClr val="16202C"/>
                </a:solidFill>
                <a:latin typeface="Segoe UI"/>
                <a:ea typeface="맑은 고딕"/>
                <a:cs typeface="맑은 고딕"/>
              </a:rPr>
              <a:t>▪  지연은 KV cache가 커지기 전까지 평평하다.</a:t>
            </a:r>
          </a:p>
          <a:p>
            <a:pPr algn="l">
              <a:lnSpc>
                <a:spcPct val="118000"/>
              </a:lnSpc>
              <a:spcBef>
                <a:spcPts val="600"/>
              </a:spcBef>
              <a:spcAft>
                <a:spcPts val="200"/>
              </a:spcAft>
            </a:pPr>
            <a:r>
              <a:rPr sz="1800" b="1" i="0">
                <a:solidFill>
                  <a:srgbClr val="083F80"/>
                </a:solidFill>
                <a:latin typeface="Segoe UI"/>
                <a:ea typeface="맑은 고딕"/>
                <a:cs typeface="맑은 고딕"/>
              </a:rPr>
              <a:t>▪  병목: 가중치 읽기, 그다음 KV cache</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칩, 같은 모델인데 두 단계의 병목이 정반대다. 그래서 tactic도 단계마다 달라야 한다.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13 — TU와 TDMA 실행 트레이스 (L=128 대 L=2048)</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230</a:t>
            </a:r>
          </a:p>
        </p:txBody>
      </p:sp>
      <p:pic>
        <p:nvPicPr>
          <p:cNvPr id="8" name="Picture 7" descr="isca_fig13.png"/>
          <p:cNvPicPr>
            <a:picLocks noChangeAspect="1"/>
          </p:cNvPicPr>
          <p:nvPr/>
        </p:nvPicPr>
        <p:blipFill>
          <a:blip r:embed="rId2"/>
          <a:stretch>
            <a:fillRect/>
          </a:stretch>
        </p:blipFill>
        <p:spPr>
          <a:xfrm>
            <a:off x="566928" y="1517904"/>
            <a:ext cx="11057839" cy="2200388"/>
          </a:xfrm>
          <a:prstGeom prst="rect">
            <a:avLst/>
          </a:prstGeom>
        </p:spPr>
      </p:pic>
      <p:sp>
        <p:nvSpPr>
          <p:cNvPr id="9" name="Rectangle 8"/>
          <p:cNvSpPr/>
          <p:nvPr/>
        </p:nvSpPr>
        <p:spPr>
          <a:xfrm>
            <a:off x="566928" y="1517904"/>
            <a:ext cx="11057839" cy="2200388"/>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3745724"/>
            <a:ext cx="11057839" cy="219456"/>
          </a:xfrm>
          <a:prstGeom prst="rect">
            <a:avLst/>
          </a:prstGeom>
          <a:noFill/>
        </p:spPr>
        <p:txBody>
          <a:bodyPr wrap="square" anchor="t" lIns="0" rIns="0" tIns="0" bIns="0">
            <a:spAutoFit/>
          </a:bodyPr>
          <a:lstStyle/>
          <a:p>
            <a:pPr algn="ctr">
              <a:lnSpc>
                <a:spcPct val="118000"/>
              </a:lnSpc>
              <a:spcBef>
                <a:spcPts val="0"/>
              </a:spcBef>
              <a:spcAft>
                <a:spcPts val="0"/>
              </a:spcAft>
            </a:pPr>
            <a:r>
              <a:rPr sz="1000" b="0" i="0">
                <a:solidFill>
                  <a:srgbClr val="5B6B7B"/>
                </a:solidFill>
                <a:latin typeface="Segoe UI"/>
                <a:ea typeface="맑은 고딕"/>
                <a:cs typeface="맑은 고딕"/>
              </a:rPr>
              <a:t>출처: Fig. 13 — TCP: A Tensor Contraction Processor for AI Workloads (ISCA 2024)</a:t>
            </a:r>
          </a:p>
        </p:txBody>
      </p:sp>
      <p:sp>
        <p:nvSpPr>
          <p:cNvPr id="11" name="TextBox 10"/>
          <p:cNvSpPr txBox="1"/>
          <p:nvPr/>
        </p:nvSpPr>
        <p:spPr>
          <a:xfrm>
            <a:off x="566928" y="4065764"/>
            <a:ext cx="11057839" cy="2207020"/>
          </a:xfrm>
          <a:prstGeom prst="rect">
            <a:avLst/>
          </a:prstGeom>
          <a:noFill/>
        </p:spPr>
        <p:txBody>
          <a:bodyPr wrap="square" anchor="t" lIns="0" rIns="0" tIns="0" bIns="0">
            <a:spAutoFit/>
          </a:bodyPr>
          <a:lstStyle/>
          <a:p>
            <a:pPr algn="l">
              <a:lnSpc>
                <a:spcPct val="118000"/>
              </a:lnSpc>
              <a:spcBef>
                <a:spcPts val="200"/>
              </a:spcBef>
              <a:spcAft>
                <a:spcPts val="200"/>
              </a:spcAft>
            </a:pPr>
            <a:r>
              <a:rPr sz="1300" b="1" i="0">
                <a:solidFill>
                  <a:srgbClr val="083F80"/>
                </a:solidFill>
                <a:latin typeface="Segoe UI"/>
                <a:ea typeface="맑은 고딕"/>
                <a:cs typeface="맑은 고딕"/>
              </a:rPr>
              <a:t>▪  가로축은 시간이다. (a)는 0 / 100 µs / 200 µs 눈금, (b)는 0 / 1 ms / 2 ms 눈금이다. 두 패널의 시간 스케일이 약 10배 다르다는 점에 주의한다.</a:t>
            </a:r>
          </a:p>
          <a:p>
            <a:pPr algn="l">
              <a:lnSpc>
                <a:spcPct val="118000"/>
              </a:lnSpc>
              <a:spcBef>
                <a:spcPts val="600"/>
              </a:spcBef>
              <a:spcAft>
                <a:spcPts val="200"/>
              </a:spcAft>
            </a:pPr>
            <a:r>
              <a:rPr sz="1300" b="1" i="0">
                <a:solidFill>
                  <a:srgbClr val="083F80"/>
                </a:solidFill>
                <a:latin typeface="Segoe UI"/>
                <a:ea typeface="맑은 고딕"/>
                <a:cs typeface="맑은 고딕"/>
              </a:rPr>
              <a:t>▪  세로로 두 행이 있다. 위쪽 TDMA 행은 텐서 DMA 전송 활동, 아래쪽 TU 행은 Tensor Unit의 연산 활동이다.</a:t>
            </a:r>
          </a:p>
          <a:p>
            <a:pPr algn="l">
              <a:lnSpc>
                <a:spcPct val="118000"/>
              </a:lnSpc>
              <a:spcBef>
                <a:spcPts val="600"/>
              </a:spcBef>
              <a:spcAft>
                <a:spcPts val="200"/>
              </a:spcAft>
            </a:pPr>
            <a:r>
              <a:rPr sz="1300" b="0" i="0">
                <a:solidFill>
                  <a:srgbClr val="16202C"/>
                </a:solidFill>
                <a:latin typeface="Segoe UI"/>
                <a:ea typeface="맑은 고딕"/>
                <a:cs typeface="맑은 고딕"/>
              </a:rPr>
              <a:t>▪  블록에 붙은 이름이 무엇을 하는 구간인지 알려 준다: Input(입력 적재), Load W(가중치 적재), V/Q/K(어텐션 입력 텐서), RoPE(회전 위치 임베딩), QK(쿼리·키 곱), Att./Attention(어텐션), MM(행렬곱, 어텐션 출력 프로젝션), FFN0/FFN1/FFN2(피드포워드 3단), SiLU(활성화 함수), mul(원소별 곱), Add Norm(잔차 덧셈과 정규화).</a:t>
            </a:r>
          </a:p>
          <a:p>
            <a:pPr algn="l">
              <a:lnSpc>
                <a:spcPct val="118000"/>
              </a:lnSpc>
              <a:spcBef>
                <a:spcPts val="600"/>
              </a:spcBef>
              <a:spcAft>
                <a:spcPts val="200"/>
              </a:spcAft>
            </a:pPr>
            <a:r>
              <a:rPr sz="1300" b="1" i="0">
                <a:solidFill>
                  <a:srgbClr val="083F80"/>
                </a:solidFill>
                <a:latin typeface="Segoe UI"/>
                <a:ea typeface="맑은 고딕"/>
                <a:cs typeface="맑은 고딕"/>
              </a:rPr>
              <a:t>▪  (a) B=1, L=128: TU 행에 빈 구간이 여기저기 있다. TDMA 행은 거의 꽉 차 있다.</a:t>
            </a:r>
          </a:p>
          <a:p>
            <a:pPr algn="l">
              <a:lnSpc>
                <a:spcPct val="118000"/>
              </a:lnSpc>
              <a:spcBef>
                <a:spcPts val="600"/>
              </a:spcBef>
              <a:spcAft>
                <a:spcPts val="200"/>
              </a:spcAft>
            </a:pPr>
            <a:r>
              <a:rPr sz="1300" b="1" i="0">
                <a:solidFill>
                  <a:srgbClr val="083F80"/>
                </a:solidFill>
                <a:latin typeface="Segoe UI"/>
                <a:ea typeface="맑은 고딕"/>
                <a:cs typeface="맑은 고딕"/>
              </a:rPr>
              <a:t>▪  (b) B=1, L=2048: TU 행이 거의 끊김 없이 차 있다. TDMA 행은 듬성듬성하다.</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13 — TU와 TDMA 실행 트레이스 (L=128 대 L=2048) — 설명</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논문은 이 트레이스를 prefill 단계의 트레이스라고 본문에서 설명한다. 다만 본문은 "encoder block", 캡션은 "decoder block"이라 표기가 엇갈린다. LLaMA-2는 디코더 전용 모델이므로 캡션 쪽이 맞다고 보는 것이 자연스럽다.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두 행 중 어느 쪽이 꽉 찼는지만 봐도 그 구간의 병목이 보인다.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13 (a) — L=128: 연산이 가중치 전송 뒤에 숨는다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시퀀스 길이가 아주 짧을 때는 계산 시간이 가중치 전송 시간 뒤로 숨는다.</a:t>
            </a:r>
          </a:p>
          <a:p>
            <a:pPr algn="l">
              <a:lnSpc>
                <a:spcPct val="118000"/>
              </a:lnSpc>
              <a:spcBef>
                <a:spcPts val="200"/>
              </a:spcBef>
              <a:spcAft>
                <a:spcPts val="100"/>
              </a:spcAft>
            </a:pPr>
            <a:r>
              <a:rPr sz="1580" b="0" i="0">
                <a:solidFill>
                  <a:srgbClr val="2C3A4B"/>
                </a:solidFill>
                <a:latin typeface="Segoe UI"/>
                <a:ea typeface="맑은 고딕"/>
                <a:cs typeface="맑은 고딕"/>
              </a:rPr>
              <a:t>–  TDMA 행이 V, Q, K를 실어 오고 이어서 FFN0, FFN1, FFN2 가중치를 계속 실어 나른다. 거의 쉬지 않는다.</a:t>
            </a:r>
          </a:p>
          <a:p>
            <a:pPr algn="l">
              <a:lnSpc>
                <a:spcPct val="118000"/>
              </a:lnSpc>
              <a:spcBef>
                <a:spcPts val="200"/>
              </a:spcBef>
              <a:spcAft>
                <a:spcPts val="100"/>
              </a:spcAft>
            </a:pPr>
            <a:r>
              <a:rPr sz="1580" b="0" i="0">
                <a:solidFill>
                  <a:srgbClr val="2C3A4B"/>
                </a:solidFill>
                <a:latin typeface="Segoe UI"/>
                <a:ea typeface="맑은 고딕"/>
                <a:cs typeface="맑은 고딕"/>
              </a:rPr>
              <a:t>–  TU 행은 그 사이사이 짧게 일하고 기다린다. 블록 사이의 흰 공백이 대기 구간이다.</a:t>
            </a:r>
          </a:p>
          <a:p>
            <a:pPr algn="l">
              <a:lnSpc>
                <a:spcPct val="118000"/>
              </a:lnSpc>
              <a:spcBef>
                <a:spcPts val="600"/>
              </a:spcBef>
              <a:spcAft>
                <a:spcPts val="200"/>
              </a:spcAft>
            </a:pPr>
            <a:r>
              <a:rPr sz="1700" b="1" i="0">
                <a:solidFill>
                  <a:srgbClr val="083F80"/>
                </a:solidFill>
                <a:latin typeface="Segoe UI"/>
                <a:ea typeface="맑은 고딕"/>
                <a:cs typeface="맑은 고딕"/>
              </a:rPr>
              <a:t>▪  짧은 시퀀스에서는 토큰이 적어 연산이 금방 끝나지만, 읽어야 할 가중치 양은 시퀀스 길이와 무관하게 그대로이기 때문이다.</a:t>
            </a:r>
          </a:p>
          <a:p>
            <a:pPr algn="l">
              <a:lnSpc>
                <a:spcPct val="118000"/>
              </a:lnSpc>
              <a:spcBef>
                <a:spcPts val="200"/>
              </a:spcBef>
              <a:spcAft>
                <a:spcPts val="100"/>
              </a:spcAft>
            </a:pPr>
            <a:r>
              <a:rPr sz="1580" b="0" i="0">
                <a:solidFill>
                  <a:srgbClr val="2C3A4B"/>
                </a:solidFill>
                <a:latin typeface="Segoe UI"/>
                <a:ea typeface="맑은 고딕"/>
                <a:cs typeface="맑은 고딕"/>
              </a:rPr>
              <a:t>–  이것이 Fig. 11 (b)에서 L=128일 때 MAC 활용률이 낮았던 이유를 시간축에서 직접 보여 주는 그림이다.</a:t>
            </a:r>
          </a:p>
          <a:p>
            <a:pPr algn="l">
              <a:lnSpc>
                <a:spcPct val="118000"/>
              </a:lnSpc>
              <a:spcBef>
                <a:spcPts val="600"/>
              </a:spcBef>
              <a:spcAft>
                <a:spcPts val="200"/>
              </a:spcAft>
            </a:pPr>
            <a:r>
              <a:rPr sz="1700" b="0" i="0">
                <a:solidFill>
                  <a:srgbClr val="16202C"/>
                </a:solidFill>
                <a:latin typeface="Segoe UI"/>
                <a:ea typeface="맑은 고딕"/>
                <a:cs typeface="맑은 고딕"/>
              </a:rPr>
              <a:t>▪  트레이스에서 읽히는 실행 순서: Input → (Load W) → V, Q, K 생성 → RoPE → Att. → MM → Add Norm → FFN0 → SiLU → FFN1 → mul → FFN2 → Add Norm</a:t>
            </a:r>
          </a:p>
          <a:p>
            <a:pPr algn="l">
              <a:lnSpc>
                <a:spcPct val="118000"/>
              </a:lnSpc>
              <a:spcBef>
                <a:spcPts val="200"/>
              </a:spcBef>
              <a:spcAft>
                <a:spcPts val="100"/>
              </a:spcAft>
            </a:pPr>
            <a:r>
              <a:rPr sz="1580" b="0" i="0">
                <a:solidFill>
                  <a:srgbClr val="2C3A4B"/>
                </a:solidFill>
                <a:latin typeface="Segoe UI"/>
                <a:ea typeface="맑은 고딕"/>
                <a:cs typeface="맑은 고딕"/>
              </a:rPr>
              <a:t>–  SiLU와 mul이 FFN 사이에 끼어 있는 것은 LLaMA 계열의 gated FFN 구조 때문이다. 앞선 컨트랙션에 체인으로 이어 붙여 벡터 엔진에서 처리한다고 논문이 앞 절에서 밝혔다.</a:t>
            </a:r>
          </a:p>
          <a:p>
            <a:pPr algn="l">
              <a:lnSpc>
                <a:spcPct val="118000"/>
              </a:lnSpc>
              <a:spcBef>
                <a:spcPts val="200"/>
              </a:spcBef>
              <a:spcAft>
                <a:spcPts val="100"/>
              </a:spcAft>
            </a:pPr>
            <a:r>
              <a:rPr sz="1580" b="0" i="0">
                <a:solidFill>
                  <a:srgbClr val="2C3A4B"/>
                </a:solidFill>
                <a:latin typeface="Segoe UI"/>
                <a:ea typeface="맑은 고딕"/>
                <a:cs typeface="맑은 고딕"/>
              </a:rPr>
              <a:t>–  FFN2가 TDMA에서 유난히 긴 블록으로 두 번 나타난다. FFN 가중치가 그만큼 크다는 뜻이다.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짧은 시퀀스의 prefill은 사실상 "가중치를 읽는 시간"이다. TU는 그 그늘에서 일한다.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13 (b) — L=2048: 가중치 전송이 연산 뒤에 숨는다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233</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시퀀스 길이가 길어 연산이 지배할 때는 반대로 가중치 전송 시간이 계산 시간 뒤로 숨는다.</a:t>
            </a:r>
          </a:p>
          <a:p>
            <a:pPr algn="l">
              <a:lnSpc>
                <a:spcPct val="118000"/>
              </a:lnSpc>
              <a:spcBef>
                <a:spcPts val="200"/>
              </a:spcBef>
              <a:spcAft>
                <a:spcPts val="100"/>
              </a:spcAft>
            </a:pPr>
            <a:r>
              <a:rPr sz="1380" b="0" i="0">
                <a:solidFill>
                  <a:srgbClr val="2C3A4B"/>
                </a:solidFill>
                <a:latin typeface="Segoe UI"/>
                <a:ea typeface="맑은 고딕"/>
                <a:cs typeface="맑은 고딕"/>
              </a:rPr>
              <a:t>–  TU 행이 V Q K → QK → Attention → V Q K → QK → Attention → MM → FFN0 → SiLU → FFN1 → mul → FFN2 → Add Norm으로 거의 빈틈없이 이어진다.</a:t>
            </a:r>
          </a:p>
          <a:p>
            <a:pPr algn="l">
              <a:lnSpc>
                <a:spcPct val="118000"/>
              </a:lnSpc>
              <a:spcBef>
                <a:spcPts val="200"/>
              </a:spcBef>
              <a:spcAft>
                <a:spcPts val="100"/>
              </a:spcAft>
            </a:pPr>
            <a:r>
              <a:rPr sz="1380" b="0" i="0">
                <a:solidFill>
                  <a:srgbClr val="2C3A4B"/>
                </a:solidFill>
                <a:latin typeface="Segoe UI"/>
                <a:ea typeface="맑은 고딕"/>
                <a:cs typeface="맑은 고딕"/>
              </a:rPr>
              <a:t>–  TDMA 행은 짧은 블록들이 띄엄띄엄 놓여 있다. 전송할 것이 없어서가 아니라, 연산 시간이 훨씬 길어 그 안에 다 들어가기 때문이다.</a:t>
            </a:r>
          </a:p>
          <a:p>
            <a:pPr algn="l">
              <a:lnSpc>
                <a:spcPct val="118000"/>
              </a:lnSpc>
              <a:spcBef>
                <a:spcPts val="600"/>
              </a:spcBef>
              <a:spcAft>
                <a:spcPts val="200"/>
              </a:spcAft>
            </a:pPr>
            <a:r>
              <a:rPr sz="1500" b="1" i="0">
                <a:solidFill>
                  <a:srgbClr val="083F80"/>
                </a:solidFill>
                <a:latin typeface="Segoe UI"/>
                <a:ea typeface="맑은 고딕"/>
                <a:cs typeface="맑은 고딕"/>
              </a:rPr>
              <a:t>▪  주목할 라벨: "QK, V prefetch"</a:t>
            </a:r>
          </a:p>
          <a:p>
            <a:pPr algn="l">
              <a:lnSpc>
                <a:spcPct val="118000"/>
              </a:lnSpc>
              <a:spcBef>
                <a:spcPts val="200"/>
              </a:spcBef>
              <a:spcAft>
                <a:spcPts val="100"/>
              </a:spcAft>
            </a:pPr>
            <a:r>
              <a:rPr sz="1380" b="0" i="0">
                <a:solidFill>
                  <a:srgbClr val="2C3A4B"/>
                </a:solidFill>
                <a:latin typeface="Segoe UI"/>
                <a:ea typeface="맑은 고딕"/>
                <a:cs typeface="맑은 고딕"/>
              </a:rPr>
              <a:t>–  어텐션을 계산하는 동안 다음에 쓸 QK 조각과 V를 미리 가져온다(prefetch, 선반입).</a:t>
            </a:r>
          </a:p>
          <a:p>
            <a:pPr algn="l">
              <a:lnSpc>
                <a:spcPct val="118000"/>
              </a:lnSpc>
              <a:spcBef>
                <a:spcPts val="200"/>
              </a:spcBef>
              <a:spcAft>
                <a:spcPts val="100"/>
              </a:spcAft>
            </a:pPr>
            <a:r>
              <a:rPr sz="1380" b="0" i="0">
                <a:solidFill>
                  <a:srgbClr val="2C3A4B"/>
                </a:solidFill>
                <a:latin typeface="Segoe UI"/>
                <a:ea typeface="맑은 고딕"/>
                <a:cs typeface="맑은 고딕"/>
              </a:rPr>
              <a:t>–  L=2048에서는 QK^T가 SRAM에 다 들어가지 않으므로 쪼개서 주고받아야 한다. 그 왕복을 계산 뒤로 숨긴 것이 이 블록들이다.</a:t>
            </a:r>
          </a:p>
          <a:p>
            <a:pPr algn="l">
              <a:lnSpc>
                <a:spcPct val="118000"/>
              </a:lnSpc>
              <a:spcBef>
                <a:spcPts val="200"/>
              </a:spcBef>
              <a:spcAft>
                <a:spcPts val="100"/>
              </a:spcAft>
            </a:pPr>
            <a:r>
              <a:rPr sz="1380" b="0" i="0">
                <a:solidFill>
                  <a:srgbClr val="2C3A4B"/>
                </a:solidFill>
                <a:latin typeface="Segoe UI"/>
                <a:ea typeface="맑은 고딕"/>
                <a:cs typeface="맑은 고딕"/>
              </a:rPr>
              <a:t>–  Fig. 11 (a)에서 "SRAM을 초과해도 전송을 계산 안에 숨겨 지연이 연산량에 선형으로 늘어난다"고 한 주장의 시각적 증거가 바로 이 부분이다.</a:t>
            </a:r>
          </a:p>
          <a:p>
            <a:pPr algn="l">
              <a:lnSpc>
                <a:spcPct val="118000"/>
              </a:lnSpc>
              <a:spcBef>
                <a:spcPts val="600"/>
              </a:spcBef>
              <a:spcAft>
                <a:spcPts val="200"/>
              </a:spcAft>
            </a:pPr>
            <a:r>
              <a:rPr sz="1500" b="0" i="0">
                <a:solidFill>
                  <a:srgbClr val="16202C"/>
                </a:solidFill>
                <a:latin typeface="Segoe UI"/>
                <a:ea typeface="맑은 고딕"/>
                <a:cs typeface="맑은 고딕"/>
              </a:rPr>
              <a:t>▪  Attention 블록이 두 번 반복되는 것은 시퀀스를 쪼개 처리하기 때문이다. 그 사이에 V Q K와 QK가 다시 등장한다.</a:t>
            </a:r>
          </a:p>
          <a:p>
            <a:pPr algn="l">
              <a:lnSpc>
                <a:spcPct val="118000"/>
              </a:lnSpc>
              <a:spcBef>
                <a:spcPts val="600"/>
              </a:spcBef>
              <a:spcAft>
                <a:spcPts val="200"/>
              </a:spcAft>
            </a:pPr>
            <a:r>
              <a:rPr sz="1500" b="0" i="0">
                <a:solidFill>
                  <a:srgbClr val="16202C"/>
                </a:solidFill>
                <a:latin typeface="Segoe UI"/>
                <a:ea typeface="맑은 고딕"/>
                <a:cs typeface="맑은 고딕"/>
              </a:rPr>
              <a:t>▪  FFN 구간은 (a)와 마찬가지로 FFN0 → SiLU → FFN1 → mul → FFN2 → Add Norm 순서지만, 여기서는 각 블록이 훨씬 길다. 토큰 수가 16배이기 때문이다.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긴 시퀀스의 prefill은 "계산하는 시간"이다. TDMA가 그 그늘로 들어간다.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13이 증명하는 것 — 숨는 쪽이 뒤바뀐다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L=128 은 전송이, L=2048 은 연산이 임계 경로다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234</a:t>
            </a:r>
          </a:p>
        </p:txBody>
      </p:sp>
      <p:grpSp>
        <p:nvGrpSpPr>
          <p:cNvPr id="9" name="도해 A8#17"/>
          <p:cNvGrpSpPr/>
          <p:nvPr/>
        </p:nvGrpSpPr>
        <p:grpSpPr>
          <a:xfrm>
            <a:off x="1634692" y="1463040"/>
            <a:ext cx="8922311" cy="4078224"/>
            <a:chOff x="1634692" y="1463040"/>
            <a:chExt cx="8922311" cy="4078224"/>
          </a:xfrm>
        </p:grpSpPr>
        <p:sp>
          <p:nvSpPr>
            <p:cNvPr id="10" name="Rounded Rectangle 9"/>
            <p:cNvSpPr/>
            <p:nvPr/>
          </p:nvSpPr>
          <p:spPr>
            <a:xfrm>
              <a:off x="1634692" y="1463040"/>
              <a:ext cx="4365423" cy="1914659"/>
            </a:xfrm>
            <a:prstGeom prst="roundRect">
              <a:avLst>
                <a:gd name="adj" fmla="val 5000"/>
              </a:avLst>
            </a:prstGeom>
            <a:solidFill>
              <a:srgbClr val="F4F8FD"/>
            </a:solidFill>
            <a:ln w="1914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07011" y="1567580"/>
              <a:ext cx="906639" cy="180208"/>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(a) B=1, L=128</a:t>
              </a:r>
            </a:p>
          </p:txBody>
        </p:sp>
        <p:sp>
          <p:nvSpPr>
            <p:cNvPr id="12" name="TextBox 11"/>
            <p:cNvSpPr txBox="1"/>
            <p:nvPr/>
          </p:nvSpPr>
          <p:spPr>
            <a:xfrm>
              <a:off x="1807011" y="1767662"/>
              <a:ext cx="1309871" cy="145552"/>
            </a:xfrm>
            <a:prstGeom prst="rect">
              <a:avLst/>
            </a:prstGeom>
            <a:noFill/>
          </p:spPr>
          <p:txBody>
            <a:bodyPr wrap="none" anchor="ctr" lIns="0" rIns="0" tIns="0" bIns="0">
              <a:noAutofit/>
            </a:bodyPr>
            <a:lstStyle/>
            <a:p>
              <a:pPr algn="l"/>
              <a:r>
                <a:rPr sz="790" b="0">
                  <a:solidFill>
                    <a:srgbClr val="5B6B7B"/>
                  </a:solidFill>
                  <a:latin typeface="맑은 고딕"/>
                  <a:ea typeface="맑은 고딕"/>
                  <a:cs typeface="맑은 고딕"/>
                </a:rPr>
                <a:t>가로 눈금 0 · 100 µs · 200 µs</a:t>
              </a:r>
            </a:p>
          </p:txBody>
        </p:sp>
        <p:sp>
          <p:nvSpPr>
            <p:cNvPr id="13" name="TextBox 12"/>
            <p:cNvSpPr txBox="1"/>
            <p:nvPr/>
          </p:nvSpPr>
          <p:spPr>
            <a:xfrm>
              <a:off x="1807011" y="2097175"/>
              <a:ext cx="336243" cy="152483"/>
            </a:xfrm>
            <a:prstGeom prst="rect">
              <a:avLst/>
            </a:prstGeom>
            <a:noFill/>
          </p:spPr>
          <p:txBody>
            <a:bodyPr wrap="none" anchor="ctr" lIns="0" rIns="0" tIns="0" bIns="0">
              <a:noAutofit/>
            </a:bodyPr>
            <a:lstStyle/>
            <a:p>
              <a:pPr algn="l"/>
              <a:r>
                <a:rPr sz="830" b="1">
                  <a:solidFill>
                    <a:srgbClr val="B45409"/>
                  </a:solidFill>
                  <a:latin typeface="맑은 고딕"/>
                  <a:ea typeface="맑은 고딕"/>
                  <a:cs typeface="맑은 고딕"/>
                </a:rPr>
                <a:t>TDMA</a:t>
              </a:r>
            </a:p>
          </p:txBody>
        </p:sp>
        <p:sp>
          <p:nvSpPr>
            <p:cNvPr id="14" name="Rounded Rectangle 13"/>
            <p:cNvSpPr/>
            <p:nvPr/>
          </p:nvSpPr>
          <p:spPr>
            <a:xfrm>
              <a:off x="2247383" y="2056584"/>
              <a:ext cx="3561266" cy="248906"/>
            </a:xfrm>
            <a:prstGeom prst="roundRect">
              <a:avLst>
                <a:gd name="adj" fmla="val 11538"/>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47383" y="2075731"/>
              <a:ext cx="421225"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687754" y="2075731"/>
              <a:ext cx="497811"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204712" y="2075731"/>
              <a:ext cx="555251"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79110" y="2075731"/>
              <a:ext cx="593544"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91801" y="2075731"/>
              <a:ext cx="689277"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00225" y="2075731"/>
              <a:ext cx="708424"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27624" y="2113833"/>
              <a:ext cx="260743"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Input</a:t>
              </a:r>
            </a:p>
          </p:txBody>
        </p:sp>
        <p:sp>
          <p:nvSpPr>
            <p:cNvPr id="22" name="TextBox 21"/>
            <p:cNvSpPr txBox="1"/>
            <p:nvPr/>
          </p:nvSpPr>
          <p:spPr>
            <a:xfrm>
              <a:off x="2810654" y="2113833"/>
              <a:ext cx="252012"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V Q K</a:t>
              </a:r>
            </a:p>
          </p:txBody>
        </p:sp>
        <p:sp>
          <p:nvSpPr>
            <p:cNvPr id="23" name="TextBox 22"/>
            <p:cNvSpPr txBox="1"/>
            <p:nvPr/>
          </p:nvSpPr>
          <p:spPr>
            <a:xfrm>
              <a:off x="3357650" y="2113833"/>
              <a:ext cx="249375"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FFN0</a:t>
              </a:r>
            </a:p>
          </p:txBody>
        </p:sp>
        <p:sp>
          <p:nvSpPr>
            <p:cNvPr id="24" name="TextBox 23"/>
            <p:cNvSpPr txBox="1"/>
            <p:nvPr/>
          </p:nvSpPr>
          <p:spPr>
            <a:xfrm>
              <a:off x="3951195" y="2113833"/>
              <a:ext cx="249375"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FFN1</a:t>
              </a:r>
            </a:p>
          </p:txBody>
        </p:sp>
        <p:sp>
          <p:nvSpPr>
            <p:cNvPr id="25" name="TextBox 24"/>
            <p:cNvSpPr txBox="1"/>
            <p:nvPr/>
          </p:nvSpPr>
          <p:spPr>
            <a:xfrm>
              <a:off x="4611752" y="2113833"/>
              <a:ext cx="249375"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FFN2</a:t>
              </a:r>
            </a:p>
          </p:txBody>
        </p:sp>
        <p:sp>
          <p:nvSpPr>
            <p:cNvPr id="26" name="TextBox 25"/>
            <p:cNvSpPr txBox="1"/>
            <p:nvPr/>
          </p:nvSpPr>
          <p:spPr>
            <a:xfrm>
              <a:off x="5329749" y="2113833"/>
              <a:ext cx="249375"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FFN2</a:t>
              </a:r>
            </a:p>
          </p:txBody>
        </p:sp>
        <p:sp>
          <p:nvSpPr>
            <p:cNvPr id="27" name="TextBox 26"/>
            <p:cNvSpPr txBox="1"/>
            <p:nvPr/>
          </p:nvSpPr>
          <p:spPr>
            <a:xfrm>
              <a:off x="1807011" y="2480107"/>
              <a:ext cx="182496" cy="152483"/>
            </a:xfrm>
            <a:prstGeom prst="rect">
              <a:avLst/>
            </a:prstGeom>
            <a:noFill/>
          </p:spPr>
          <p:txBody>
            <a:bodyPr wrap="none" anchor="ctr" lIns="0" rIns="0" tIns="0" bIns="0">
              <a:noAutofit/>
            </a:bodyPr>
            <a:lstStyle/>
            <a:p>
              <a:pPr algn="l"/>
              <a:r>
                <a:rPr sz="830" b="1">
                  <a:solidFill>
                    <a:srgbClr val="0B5FC0"/>
                  </a:solidFill>
                  <a:latin typeface="맑은 고딕"/>
                  <a:ea typeface="맑은 고딕"/>
                  <a:cs typeface="맑은 고딕"/>
                </a:rPr>
                <a:t>TU</a:t>
              </a:r>
            </a:p>
          </p:txBody>
        </p:sp>
        <p:sp>
          <p:nvSpPr>
            <p:cNvPr id="28" name="Rounded Rectangle 27"/>
            <p:cNvSpPr/>
            <p:nvPr/>
          </p:nvSpPr>
          <p:spPr>
            <a:xfrm>
              <a:off x="2247383" y="2439516"/>
              <a:ext cx="3561266" cy="248906"/>
            </a:xfrm>
            <a:prstGeom prst="roundRect">
              <a:avLst>
                <a:gd name="adj" fmla="val 11538"/>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419702" y="2458663"/>
              <a:ext cx="325492"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98367" y="2458663"/>
              <a:ext cx="287199"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319592" y="2458663"/>
              <a:ext cx="268052"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759963" y="2458663"/>
              <a:ext cx="344639"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276921" y="2458663"/>
              <a:ext cx="287199"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17293" y="2458663"/>
              <a:ext cx="325492"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95958" y="2458663"/>
              <a:ext cx="382932"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54577" y="2496764"/>
              <a:ext cx="255741"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RoPE</a:t>
              </a:r>
            </a:p>
          </p:txBody>
        </p:sp>
        <p:sp>
          <p:nvSpPr>
            <p:cNvPr id="37" name="TextBox 36"/>
            <p:cNvSpPr txBox="1"/>
            <p:nvPr/>
          </p:nvSpPr>
          <p:spPr>
            <a:xfrm>
              <a:off x="2952384" y="2496764"/>
              <a:ext cx="179164"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Att.</a:t>
              </a:r>
            </a:p>
          </p:txBody>
        </p:sp>
        <p:sp>
          <p:nvSpPr>
            <p:cNvPr id="38" name="TextBox 37"/>
            <p:cNvSpPr txBox="1"/>
            <p:nvPr/>
          </p:nvSpPr>
          <p:spPr>
            <a:xfrm>
              <a:off x="3363399" y="2496764"/>
              <a:ext cx="180437"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MM</a:t>
              </a:r>
            </a:p>
          </p:txBody>
        </p:sp>
        <p:sp>
          <p:nvSpPr>
            <p:cNvPr id="39" name="TextBox 38"/>
            <p:cNvSpPr txBox="1"/>
            <p:nvPr/>
          </p:nvSpPr>
          <p:spPr>
            <a:xfrm>
              <a:off x="3807595" y="2496764"/>
              <a:ext cx="249375"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FFN0</a:t>
              </a:r>
            </a:p>
          </p:txBody>
        </p:sp>
        <p:sp>
          <p:nvSpPr>
            <p:cNvPr id="40" name="TextBox 39"/>
            <p:cNvSpPr txBox="1"/>
            <p:nvPr/>
          </p:nvSpPr>
          <p:spPr>
            <a:xfrm>
              <a:off x="4308520" y="2496764"/>
              <a:ext cx="224001"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SiLU</a:t>
              </a:r>
            </a:p>
          </p:txBody>
        </p:sp>
        <p:sp>
          <p:nvSpPr>
            <p:cNvPr id="41" name="TextBox 40"/>
            <p:cNvSpPr txBox="1"/>
            <p:nvPr/>
          </p:nvSpPr>
          <p:spPr>
            <a:xfrm>
              <a:off x="4755352" y="2496764"/>
              <a:ext cx="249375"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FFN1</a:t>
              </a:r>
            </a:p>
          </p:txBody>
        </p:sp>
        <p:sp>
          <p:nvSpPr>
            <p:cNvPr id="42" name="TextBox 41"/>
            <p:cNvSpPr txBox="1"/>
            <p:nvPr/>
          </p:nvSpPr>
          <p:spPr>
            <a:xfrm>
              <a:off x="5262736" y="2496764"/>
              <a:ext cx="249375"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FFN2</a:t>
              </a:r>
            </a:p>
          </p:txBody>
        </p:sp>
        <p:cxnSp>
          <p:nvCxnSpPr>
            <p:cNvPr id="43" name="Connector 42"/>
            <p:cNvCxnSpPr/>
            <p:nvPr/>
          </p:nvCxnSpPr>
          <p:spPr>
            <a:xfrm>
              <a:off x="2247383" y="2803301"/>
              <a:ext cx="3561266" cy="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247383"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028016"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808649"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247383" y="2870123"/>
              <a:ext cx="83216" cy="131690"/>
            </a:xfrm>
            <a:prstGeom prst="rect">
              <a:avLst/>
            </a:prstGeom>
            <a:noFill/>
          </p:spPr>
          <p:txBody>
            <a:bodyPr wrap="none" anchor="ctr" lIns="0" rIns="0" tIns="0" bIns="0">
              <a:noAutofit/>
            </a:bodyPr>
            <a:lstStyle/>
            <a:p>
              <a:pPr algn="l"/>
              <a:r>
                <a:rPr sz="720" b="0">
                  <a:solidFill>
                    <a:srgbClr val="5B6B7B"/>
                  </a:solidFill>
                  <a:latin typeface="맑은 고딕"/>
                  <a:ea typeface="맑은 고딕"/>
                  <a:cs typeface="맑은 고딕"/>
                </a:rPr>
                <a:t>0</a:t>
              </a:r>
            </a:p>
          </p:txBody>
        </p:sp>
        <p:sp>
          <p:nvSpPr>
            <p:cNvPr id="48" name="TextBox 47"/>
            <p:cNvSpPr txBox="1"/>
            <p:nvPr/>
          </p:nvSpPr>
          <p:spPr>
            <a:xfrm>
              <a:off x="3875908" y="2870123"/>
              <a:ext cx="304215" cy="131690"/>
            </a:xfrm>
            <a:prstGeom prst="rect">
              <a:avLst/>
            </a:prstGeom>
            <a:noFill/>
          </p:spPr>
          <p:txBody>
            <a:bodyPr wrap="none" anchor="ctr" lIns="0" rIns="0" tIns="0" bIns="0">
              <a:noAutofit/>
            </a:bodyPr>
            <a:lstStyle/>
            <a:p>
              <a:pPr algn="ctr"/>
              <a:r>
                <a:rPr sz="720" b="0">
                  <a:solidFill>
                    <a:srgbClr val="5B6B7B"/>
                  </a:solidFill>
                  <a:latin typeface="맑은 고딕"/>
                  <a:ea typeface="맑은 고딕"/>
                  <a:cs typeface="맑은 고딕"/>
                </a:rPr>
                <a:t>100 µs</a:t>
              </a:r>
            </a:p>
          </p:txBody>
        </p:sp>
        <p:sp>
          <p:nvSpPr>
            <p:cNvPr id="49" name="TextBox 48"/>
            <p:cNvSpPr txBox="1"/>
            <p:nvPr/>
          </p:nvSpPr>
          <p:spPr>
            <a:xfrm>
              <a:off x="5504433" y="2870123"/>
              <a:ext cx="304215" cy="131690"/>
            </a:xfrm>
            <a:prstGeom prst="rect">
              <a:avLst/>
            </a:prstGeom>
            <a:noFill/>
          </p:spPr>
          <p:txBody>
            <a:bodyPr wrap="none" anchor="ctr" lIns="0" rIns="0" tIns="0" bIns="0">
              <a:noAutofit/>
            </a:bodyPr>
            <a:lstStyle/>
            <a:p>
              <a:pPr algn="r"/>
              <a:r>
                <a:rPr sz="720" b="0">
                  <a:solidFill>
                    <a:srgbClr val="5B6B7B"/>
                  </a:solidFill>
                  <a:latin typeface="맑은 고딕"/>
                  <a:ea typeface="맑은 고딕"/>
                  <a:cs typeface="맑은 고딕"/>
                </a:rPr>
                <a:t>200 µs</a:t>
              </a:r>
            </a:p>
          </p:txBody>
        </p:sp>
        <p:sp>
          <p:nvSpPr>
            <p:cNvPr id="50" name="Rounded Rectangle 49"/>
            <p:cNvSpPr/>
            <p:nvPr/>
          </p:nvSpPr>
          <p:spPr>
            <a:xfrm>
              <a:off x="1807011" y="3033061"/>
              <a:ext cx="3886758" cy="287199"/>
            </a:xfrm>
            <a:prstGeom prst="roundRect">
              <a:avLst>
                <a:gd name="adj" fmla="val 20000"/>
              </a:avLst>
            </a:prstGeom>
            <a:solidFill>
              <a:srgbClr val="FDEBD3"/>
            </a:solidFill>
            <a:ln w="153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36001" y="3091266"/>
              <a:ext cx="2228778" cy="166346"/>
            </a:xfrm>
            <a:prstGeom prst="rect">
              <a:avLst/>
            </a:prstGeom>
            <a:noFill/>
          </p:spPr>
          <p:txBody>
            <a:bodyPr wrap="none" anchor="ctr" lIns="0" rIns="0" tIns="0" bIns="0">
              <a:noAutofit/>
            </a:bodyPr>
            <a:lstStyle/>
            <a:p>
              <a:pPr algn="ctr"/>
              <a:r>
                <a:rPr sz="900" b="1">
                  <a:solidFill>
                    <a:srgbClr val="B45409"/>
                  </a:solidFill>
                  <a:latin typeface="맑은 고딕"/>
                  <a:ea typeface="맑은 고딕"/>
                  <a:cs typeface="맑은 고딕"/>
                </a:rPr>
                <a:t>연산이 전송 뒤로 숨는다 · TDMA 가 임계 경로</a:t>
              </a:r>
            </a:p>
          </p:txBody>
        </p:sp>
        <p:sp>
          <p:nvSpPr>
            <p:cNvPr id="52" name="Rounded Rectangle 51"/>
            <p:cNvSpPr/>
            <p:nvPr/>
          </p:nvSpPr>
          <p:spPr>
            <a:xfrm>
              <a:off x="6191580" y="1463040"/>
              <a:ext cx="4365423" cy="1914659"/>
            </a:xfrm>
            <a:prstGeom prst="roundRect">
              <a:avLst>
                <a:gd name="adj" fmla="val 5000"/>
              </a:avLst>
            </a:prstGeom>
            <a:solidFill>
              <a:srgbClr val="F4F8FD"/>
            </a:solidFill>
            <a:ln w="1914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63900" y="1567580"/>
              <a:ext cx="986662" cy="180208"/>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(b) B=1, L=2048</a:t>
              </a:r>
            </a:p>
          </p:txBody>
        </p:sp>
        <p:sp>
          <p:nvSpPr>
            <p:cNvPr id="54" name="TextBox 53"/>
            <p:cNvSpPr txBox="1"/>
            <p:nvPr/>
          </p:nvSpPr>
          <p:spPr>
            <a:xfrm>
              <a:off x="6363900" y="1767662"/>
              <a:ext cx="2086083" cy="145552"/>
            </a:xfrm>
            <a:prstGeom prst="rect">
              <a:avLst/>
            </a:prstGeom>
            <a:noFill/>
          </p:spPr>
          <p:txBody>
            <a:bodyPr wrap="none" anchor="ctr" lIns="0" rIns="0" tIns="0" bIns="0">
              <a:noAutofit/>
            </a:bodyPr>
            <a:lstStyle/>
            <a:p>
              <a:pPr algn="l"/>
              <a:r>
                <a:rPr sz="790" b="0">
                  <a:solidFill>
                    <a:srgbClr val="5B6B7B"/>
                  </a:solidFill>
                  <a:latin typeface="맑은 고딕"/>
                  <a:ea typeface="맑은 고딕"/>
                  <a:cs typeface="맑은 고딕"/>
                </a:rPr>
                <a:t>가로 눈금 0 · 1 ms · 2 ms  (시간 스케일 약 10배)</a:t>
              </a:r>
            </a:p>
          </p:txBody>
        </p:sp>
        <p:sp>
          <p:nvSpPr>
            <p:cNvPr id="55" name="TextBox 54"/>
            <p:cNvSpPr txBox="1"/>
            <p:nvPr/>
          </p:nvSpPr>
          <p:spPr>
            <a:xfrm>
              <a:off x="6363900" y="2097175"/>
              <a:ext cx="336243" cy="152483"/>
            </a:xfrm>
            <a:prstGeom prst="rect">
              <a:avLst/>
            </a:prstGeom>
            <a:noFill/>
          </p:spPr>
          <p:txBody>
            <a:bodyPr wrap="none" anchor="ctr" lIns="0" rIns="0" tIns="0" bIns="0">
              <a:noAutofit/>
            </a:bodyPr>
            <a:lstStyle/>
            <a:p>
              <a:pPr algn="l"/>
              <a:r>
                <a:rPr sz="830" b="1">
                  <a:solidFill>
                    <a:srgbClr val="B45409"/>
                  </a:solidFill>
                  <a:latin typeface="맑은 고딕"/>
                  <a:ea typeface="맑은 고딕"/>
                  <a:cs typeface="맑은 고딕"/>
                </a:rPr>
                <a:t>TDMA</a:t>
              </a:r>
            </a:p>
          </p:txBody>
        </p:sp>
        <p:sp>
          <p:nvSpPr>
            <p:cNvPr id="56" name="Rounded Rectangle 55"/>
            <p:cNvSpPr/>
            <p:nvPr/>
          </p:nvSpPr>
          <p:spPr>
            <a:xfrm>
              <a:off x="6804271" y="2056584"/>
              <a:ext cx="3561266" cy="248906"/>
            </a:xfrm>
            <a:prstGeom prst="roundRect">
              <a:avLst>
                <a:gd name="adj" fmla="val 11538"/>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880858" y="2075731"/>
              <a:ext cx="287199"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7493549" y="2075731"/>
              <a:ext cx="421225"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278559" y="2075731"/>
              <a:ext cx="459518"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121009" y="2075731"/>
              <a:ext cx="325492"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848579" y="2075731"/>
              <a:ext cx="421225" cy="210613"/>
            </a:xfrm>
            <a:prstGeom prst="roundRect">
              <a:avLst>
                <a:gd name="adj" fmla="val 13636"/>
              </a:avLst>
            </a:prstGeom>
            <a:solidFill>
              <a:srgbClr val="FDEBD3"/>
            </a:solidFill>
            <a:ln w="1148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968161" y="2113833"/>
              <a:ext cx="112592"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W</a:t>
              </a:r>
            </a:p>
          </p:txBody>
        </p:sp>
        <p:sp>
          <p:nvSpPr>
            <p:cNvPr id="63" name="TextBox 62"/>
            <p:cNvSpPr txBox="1"/>
            <p:nvPr/>
          </p:nvSpPr>
          <p:spPr>
            <a:xfrm>
              <a:off x="7556055" y="2113833"/>
              <a:ext cx="296212"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V pref.</a:t>
              </a:r>
            </a:p>
          </p:txBody>
        </p:sp>
        <p:sp>
          <p:nvSpPr>
            <p:cNvPr id="64" name="TextBox 63"/>
            <p:cNvSpPr txBox="1"/>
            <p:nvPr/>
          </p:nvSpPr>
          <p:spPr>
            <a:xfrm>
              <a:off x="8323242" y="2113833"/>
              <a:ext cx="370151"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QK pref.</a:t>
              </a:r>
            </a:p>
          </p:txBody>
        </p:sp>
        <p:sp>
          <p:nvSpPr>
            <p:cNvPr id="65" name="TextBox 64"/>
            <p:cNvSpPr txBox="1"/>
            <p:nvPr/>
          </p:nvSpPr>
          <p:spPr>
            <a:xfrm>
              <a:off x="9227459" y="2113833"/>
              <a:ext cx="112592"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W</a:t>
              </a:r>
            </a:p>
          </p:txBody>
        </p:sp>
        <p:sp>
          <p:nvSpPr>
            <p:cNvPr id="66" name="TextBox 65"/>
            <p:cNvSpPr txBox="1"/>
            <p:nvPr/>
          </p:nvSpPr>
          <p:spPr>
            <a:xfrm>
              <a:off x="9909631" y="2113833"/>
              <a:ext cx="299122" cy="131690"/>
            </a:xfrm>
            <a:prstGeom prst="rect">
              <a:avLst/>
            </a:prstGeom>
            <a:noFill/>
          </p:spPr>
          <p:txBody>
            <a:bodyPr wrap="none" anchor="ctr" lIns="0" rIns="0" tIns="0" bIns="0">
              <a:noAutofit/>
            </a:bodyPr>
            <a:lstStyle/>
            <a:p>
              <a:pPr algn="ctr"/>
              <a:r>
                <a:rPr sz="720" b="0">
                  <a:solidFill>
                    <a:srgbClr val="B45409"/>
                  </a:solidFill>
                  <a:latin typeface="맑은 고딕"/>
                  <a:ea typeface="맑은 고딕"/>
                  <a:cs typeface="맑은 고딕"/>
                </a:rPr>
                <a:t>FFN W</a:t>
              </a:r>
            </a:p>
          </p:txBody>
        </p:sp>
        <p:sp>
          <p:nvSpPr>
            <p:cNvPr id="67" name="TextBox 66"/>
            <p:cNvSpPr txBox="1"/>
            <p:nvPr/>
          </p:nvSpPr>
          <p:spPr>
            <a:xfrm>
              <a:off x="6363900" y="2480107"/>
              <a:ext cx="182496" cy="152483"/>
            </a:xfrm>
            <a:prstGeom prst="rect">
              <a:avLst/>
            </a:prstGeom>
            <a:noFill/>
          </p:spPr>
          <p:txBody>
            <a:bodyPr wrap="none" anchor="ctr" lIns="0" rIns="0" tIns="0" bIns="0">
              <a:noAutofit/>
            </a:bodyPr>
            <a:lstStyle/>
            <a:p>
              <a:pPr algn="l"/>
              <a:r>
                <a:rPr sz="830" b="1">
                  <a:solidFill>
                    <a:srgbClr val="0B5FC0"/>
                  </a:solidFill>
                  <a:latin typeface="맑은 고딕"/>
                  <a:ea typeface="맑은 고딕"/>
                  <a:cs typeface="맑은 고딕"/>
                </a:rPr>
                <a:t>TU</a:t>
              </a:r>
            </a:p>
          </p:txBody>
        </p:sp>
        <p:sp>
          <p:nvSpPr>
            <p:cNvPr id="68" name="Rounded Rectangle 67"/>
            <p:cNvSpPr/>
            <p:nvPr/>
          </p:nvSpPr>
          <p:spPr>
            <a:xfrm>
              <a:off x="6804271" y="2439516"/>
              <a:ext cx="3561266" cy="248906"/>
            </a:xfrm>
            <a:prstGeom prst="roundRect">
              <a:avLst>
                <a:gd name="adj" fmla="val 11538"/>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804271" y="2458663"/>
              <a:ext cx="516958"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340376" y="2458663"/>
              <a:ext cx="459518"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819041" y="2458663"/>
              <a:ext cx="612691"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450878" y="2458663"/>
              <a:ext cx="421225"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891250" y="2458663"/>
              <a:ext cx="555251"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465648" y="2458663"/>
              <a:ext cx="382932"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9867726" y="2458663"/>
              <a:ext cx="497811" cy="210613"/>
            </a:xfrm>
            <a:prstGeom prst="roundRect">
              <a:avLst>
                <a:gd name="adj" fmla="val 13636"/>
              </a:avLst>
            </a:prstGeom>
            <a:solidFill>
              <a:srgbClr val="DCEBF9"/>
            </a:solidFill>
            <a:ln w="1148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36744" y="2496764"/>
              <a:ext cx="252012"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V Q K</a:t>
              </a:r>
            </a:p>
          </p:txBody>
        </p:sp>
        <p:sp>
          <p:nvSpPr>
            <p:cNvPr id="77" name="TextBox 76"/>
            <p:cNvSpPr txBox="1"/>
            <p:nvPr/>
          </p:nvSpPr>
          <p:spPr>
            <a:xfrm>
              <a:off x="7490648" y="2496764"/>
              <a:ext cx="158974"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QK</a:t>
              </a:r>
            </a:p>
          </p:txBody>
        </p:sp>
        <p:sp>
          <p:nvSpPr>
            <p:cNvPr id="78" name="TextBox 77"/>
            <p:cNvSpPr txBox="1"/>
            <p:nvPr/>
          </p:nvSpPr>
          <p:spPr>
            <a:xfrm>
              <a:off x="7911571" y="2496764"/>
              <a:ext cx="427630"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Attention</a:t>
              </a:r>
            </a:p>
          </p:txBody>
        </p:sp>
        <p:sp>
          <p:nvSpPr>
            <p:cNvPr id="79" name="TextBox 78"/>
            <p:cNvSpPr txBox="1"/>
            <p:nvPr/>
          </p:nvSpPr>
          <p:spPr>
            <a:xfrm>
              <a:off x="8582004" y="2496764"/>
              <a:ext cx="158974"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QK</a:t>
              </a:r>
            </a:p>
          </p:txBody>
        </p:sp>
        <p:sp>
          <p:nvSpPr>
            <p:cNvPr id="80" name="TextBox 79"/>
            <p:cNvSpPr txBox="1"/>
            <p:nvPr/>
          </p:nvSpPr>
          <p:spPr>
            <a:xfrm>
              <a:off x="8955061" y="2496764"/>
              <a:ext cx="427630"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Attention</a:t>
              </a:r>
            </a:p>
          </p:txBody>
        </p:sp>
        <p:sp>
          <p:nvSpPr>
            <p:cNvPr id="81" name="TextBox 80"/>
            <p:cNvSpPr txBox="1"/>
            <p:nvPr/>
          </p:nvSpPr>
          <p:spPr>
            <a:xfrm>
              <a:off x="9566895" y="2496764"/>
              <a:ext cx="180437"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MM</a:t>
              </a:r>
            </a:p>
          </p:txBody>
        </p:sp>
        <p:sp>
          <p:nvSpPr>
            <p:cNvPr id="82" name="TextBox 81"/>
            <p:cNvSpPr txBox="1"/>
            <p:nvPr/>
          </p:nvSpPr>
          <p:spPr>
            <a:xfrm>
              <a:off x="10017182" y="2496764"/>
              <a:ext cx="198900" cy="131690"/>
            </a:xfrm>
            <a:prstGeom prst="rect">
              <a:avLst/>
            </a:prstGeom>
            <a:noFill/>
          </p:spPr>
          <p:txBody>
            <a:bodyPr wrap="none" anchor="ctr" lIns="0" rIns="0" tIns="0" bIns="0">
              <a:noAutofit/>
            </a:bodyPr>
            <a:lstStyle/>
            <a:p>
              <a:pPr algn="ctr"/>
              <a:r>
                <a:rPr sz="720" b="0">
                  <a:solidFill>
                    <a:srgbClr val="083F80"/>
                  </a:solidFill>
                  <a:latin typeface="맑은 고딕"/>
                  <a:ea typeface="맑은 고딕"/>
                  <a:cs typeface="맑은 고딕"/>
                </a:rPr>
                <a:t>FFN</a:t>
              </a:r>
            </a:p>
          </p:txBody>
        </p:sp>
        <p:cxnSp>
          <p:nvCxnSpPr>
            <p:cNvPr id="83" name="Connector 82"/>
            <p:cNvCxnSpPr/>
            <p:nvPr/>
          </p:nvCxnSpPr>
          <p:spPr>
            <a:xfrm>
              <a:off x="6804271" y="2803301"/>
              <a:ext cx="3561266" cy="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804271"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584904"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65537" y="2803301"/>
              <a:ext cx="0" cy="57440"/>
            </a:xfrm>
            <a:prstGeom prst="line">
              <a:avLst/>
            </a:prstGeom>
            <a:ln w="11487">
              <a:solidFill>
                <a:srgbClr val="5B6B7B"/>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804271" y="2870123"/>
              <a:ext cx="83216" cy="131690"/>
            </a:xfrm>
            <a:prstGeom prst="rect">
              <a:avLst/>
            </a:prstGeom>
            <a:noFill/>
          </p:spPr>
          <p:txBody>
            <a:bodyPr wrap="none" anchor="ctr" lIns="0" rIns="0" tIns="0" bIns="0">
              <a:noAutofit/>
            </a:bodyPr>
            <a:lstStyle/>
            <a:p>
              <a:pPr algn="l"/>
              <a:r>
                <a:rPr sz="720" b="0">
                  <a:solidFill>
                    <a:srgbClr val="5B6B7B"/>
                  </a:solidFill>
                  <a:latin typeface="맑은 고딕"/>
                  <a:ea typeface="맑은 고딕"/>
                  <a:cs typeface="맑은 고딕"/>
                </a:rPr>
                <a:t>0</a:t>
              </a:r>
            </a:p>
          </p:txBody>
        </p:sp>
        <p:sp>
          <p:nvSpPr>
            <p:cNvPr id="88" name="TextBox 87"/>
            <p:cNvSpPr txBox="1"/>
            <p:nvPr/>
          </p:nvSpPr>
          <p:spPr>
            <a:xfrm>
              <a:off x="8469721" y="2870123"/>
              <a:ext cx="230367" cy="131690"/>
            </a:xfrm>
            <a:prstGeom prst="rect">
              <a:avLst/>
            </a:prstGeom>
            <a:noFill/>
          </p:spPr>
          <p:txBody>
            <a:bodyPr wrap="none" anchor="ctr" lIns="0" rIns="0" tIns="0" bIns="0">
              <a:noAutofit/>
            </a:bodyPr>
            <a:lstStyle/>
            <a:p>
              <a:pPr algn="ctr"/>
              <a:r>
                <a:rPr sz="720" b="0">
                  <a:solidFill>
                    <a:srgbClr val="5B6B7B"/>
                  </a:solidFill>
                  <a:latin typeface="맑은 고딕"/>
                  <a:ea typeface="맑은 고딕"/>
                  <a:cs typeface="맑은 고딕"/>
                </a:rPr>
                <a:t>1 ms</a:t>
              </a:r>
            </a:p>
          </p:txBody>
        </p:sp>
        <p:sp>
          <p:nvSpPr>
            <p:cNvPr id="89" name="TextBox 88"/>
            <p:cNvSpPr txBox="1"/>
            <p:nvPr/>
          </p:nvSpPr>
          <p:spPr>
            <a:xfrm>
              <a:off x="10135170" y="2870123"/>
              <a:ext cx="230367" cy="131690"/>
            </a:xfrm>
            <a:prstGeom prst="rect">
              <a:avLst/>
            </a:prstGeom>
            <a:noFill/>
          </p:spPr>
          <p:txBody>
            <a:bodyPr wrap="none" anchor="ctr" lIns="0" rIns="0" tIns="0" bIns="0">
              <a:noAutofit/>
            </a:bodyPr>
            <a:lstStyle/>
            <a:p>
              <a:pPr algn="r"/>
              <a:r>
                <a:rPr sz="720" b="0">
                  <a:solidFill>
                    <a:srgbClr val="5B6B7B"/>
                  </a:solidFill>
                  <a:latin typeface="맑은 고딕"/>
                  <a:ea typeface="맑은 고딕"/>
                  <a:cs typeface="맑은 고딕"/>
                </a:rPr>
                <a:t>2 ms</a:t>
              </a:r>
            </a:p>
          </p:txBody>
        </p:sp>
        <p:sp>
          <p:nvSpPr>
            <p:cNvPr id="90" name="Rounded Rectangle 89"/>
            <p:cNvSpPr/>
            <p:nvPr/>
          </p:nvSpPr>
          <p:spPr>
            <a:xfrm>
              <a:off x="6363900" y="3033061"/>
              <a:ext cx="3886758" cy="287199"/>
            </a:xfrm>
            <a:prstGeom prst="roundRect">
              <a:avLst>
                <a:gd name="adj" fmla="val 20000"/>
              </a:avLst>
            </a:prstGeom>
            <a:solidFill>
              <a:srgbClr val="E3EEFB"/>
            </a:solidFill>
            <a:ln w="153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276752" y="3091266"/>
              <a:ext cx="2061054" cy="166346"/>
            </a:xfrm>
            <a:prstGeom prst="rect">
              <a:avLst/>
            </a:prstGeom>
            <a:noFill/>
          </p:spPr>
          <p:txBody>
            <a:bodyPr wrap="none" anchor="ctr" lIns="0" rIns="0" tIns="0" bIns="0">
              <a:noAutofit/>
            </a:bodyPr>
            <a:lstStyle/>
            <a:p>
              <a:pPr algn="ctr"/>
              <a:r>
                <a:rPr sz="900" b="1">
                  <a:solidFill>
                    <a:srgbClr val="0B5FC0"/>
                  </a:solidFill>
                  <a:latin typeface="맑은 고딕"/>
                  <a:ea typeface="맑은 고딕"/>
                  <a:cs typeface="맑은 고딕"/>
                </a:rPr>
                <a:t>전송이 연산 뒤로 숨는다 · TU 가 임계 경로</a:t>
              </a:r>
            </a:p>
          </p:txBody>
        </p:sp>
        <p:sp>
          <p:nvSpPr>
            <p:cNvPr id="92" name="TextBox 91"/>
            <p:cNvSpPr txBox="1"/>
            <p:nvPr/>
          </p:nvSpPr>
          <p:spPr>
            <a:xfrm>
              <a:off x="1634692" y="3520533"/>
              <a:ext cx="1302772" cy="180208"/>
            </a:xfrm>
            <a:prstGeom prst="rect">
              <a:avLst/>
            </a:prstGeom>
            <a:noFill/>
          </p:spPr>
          <p:txBody>
            <a:bodyPr wrap="none" anchor="ctr" lIns="0" rIns="0" tIns="0" bIns="0">
              <a:noAutofit/>
            </a:bodyPr>
            <a:lstStyle/>
            <a:p>
              <a:pPr algn="l"/>
              <a:r>
                <a:rPr sz="980" b="1">
                  <a:solidFill>
                    <a:srgbClr val="16202C"/>
                  </a:solidFill>
                  <a:latin typeface="맑은 고딕"/>
                  <a:ea typeface="맑은 고딕"/>
                  <a:cs typeface="맑은 고딕"/>
                </a:rPr>
                <a:t>이 겹침을 만드는 세 가지</a:t>
              </a:r>
            </a:p>
          </p:txBody>
        </p:sp>
        <p:sp>
          <p:nvSpPr>
            <p:cNvPr id="93" name="Rounded Rectangle 92"/>
            <p:cNvSpPr/>
            <p:nvPr/>
          </p:nvSpPr>
          <p:spPr>
            <a:xfrm>
              <a:off x="1634692" y="3779778"/>
              <a:ext cx="2833696" cy="880743"/>
            </a:xfrm>
            <a:prstGeom prst="roundRect">
              <a:avLst>
                <a:gd name="adj" fmla="val 9782"/>
              </a:avLst>
            </a:prstGeom>
            <a:solidFill>
              <a:srgbClr val="E2F4E8"/>
            </a:solidFill>
            <a:ln w="1723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807011" y="3865746"/>
              <a:ext cx="451094" cy="131690"/>
            </a:xfrm>
            <a:prstGeom prst="rect">
              <a:avLst/>
            </a:prstGeom>
            <a:noFill/>
          </p:spPr>
          <p:txBody>
            <a:bodyPr wrap="none" anchor="ctr" lIns="0" rIns="0" tIns="0" bIns="0">
              <a:noAutofit/>
            </a:bodyPr>
            <a:lstStyle/>
            <a:p>
              <a:pPr algn="l"/>
              <a:r>
                <a:rPr sz="720" b="1">
                  <a:solidFill>
                    <a:srgbClr val="1A7F37"/>
                  </a:solidFill>
                  <a:latin typeface="맑은 고딕"/>
                  <a:ea typeface="맑은 고딕"/>
                  <a:cs typeface="맑은 고딕"/>
                </a:rPr>
                <a:t>소프트웨어</a:t>
              </a:r>
            </a:p>
          </p:txBody>
        </p:sp>
        <p:sp>
          <p:nvSpPr>
            <p:cNvPr id="95" name="TextBox 94"/>
            <p:cNvSpPr txBox="1"/>
            <p:nvPr/>
          </p:nvSpPr>
          <p:spPr>
            <a:xfrm>
              <a:off x="1807011" y="4029449"/>
              <a:ext cx="807259" cy="166346"/>
            </a:xfrm>
            <a:prstGeom prst="rect">
              <a:avLst/>
            </a:prstGeom>
            <a:noFill/>
          </p:spPr>
          <p:txBody>
            <a:bodyPr wrap="none" anchor="ctr" lIns="0" rIns="0" tIns="0" bIns="0">
              <a:noAutofit/>
            </a:bodyPr>
            <a:lstStyle/>
            <a:p>
              <a:pPr algn="l"/>
              <a:r>
                <a:rPr sz="900" b="1">
                  <a:solidFill>
                    <a:srgbClr val="16202C"/>
                  </a:solidFill>
                  <a:latin typeface="맑은 고딕"/>
                  <a:ea typeface="맑은 고딕"/>
                  <a:cs typeface="맑은 고딕"/>
                </a:rPr>
                <a:t>컴파일러 스케줄</a:t>
              </a:r>
            </a:p>
          </p:txBody>
        </p:sp>
        <p:sp>
          <p:nvSpPr>
            <p:cNvPr id="96" name="TextBox 95"/>
            <p:cNvSpPr txBox="1"/>
            <p:nvPr/>
          </p:nvSpPr>
          <p:spPr>
            <a:xfrm>
              <a:off x="1807011" y="4237573"/>
              <a:ext cx="1213473"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메모리 접근과 연산의 겹침이</a:t>
              </a:r>
            </a:p>
          </p:txBody>
        </p:sp>
        <p:sp>
          <p:nvSpPr>
            <p:cNvPr id="97" name="TextBox 96"/>
            <p:cNvSpPr txBox="1"/>
            <p:nvPr/>
          </p:nvSpPr>
          <p:spPr>
            <a:xfrm>
              <a:off x="1807011" y="4409892"/>
              <a:ext cx="1190956"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최대가 되도록 스케줄링한다</a:t>
              </a:r>
            </a:p>
          </p:txBody>
        </p:sp>
        <p:sp>
          <p:nvSpPr>
            <p:cNvPr id="98" name="Rounded Rectangle 97"/>
            <p:cNvSpPr/>
            <p:nvPr/>
          </p:nvSpPr>
          <p:spPr>
            <a:xfrm>
              <a:off x="4621560" y="3779778"/>
              <a:ext cx="2833696" cy="880743"/>
            </a:xfrm>
            <a:prstGeom prst="roundRect">
              <a:avLst>
                <a:gd name="adj" fmla="val 9782"/>
              </a:avLst>
            </a:prstGeom>
            <a:solidFill>
              <a:srgbClr val="E3EEFB"/>
            </a:solidFill>
            <a:ln w="172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793879" y="3865746"/>
              <a:ext cx="367423" cy="131690"/>
            </a:xfrm>
            <a:prstGeom prst="rect">
              <a:avLst/>
            </a:prstGeom>
            <a:noFill/>
          </p:spPr>
          <p:txBody>
            <a:bodyPr wrap="none" anchor="ctr" lIns="0" rIns="0" tIns="0" bIns="0">
              <a:noAutofit/>
            </a:bodyPr>
            <a:lstStyle/>
            <a:p>
              <a:pPr algn="l"/>
              <a:r>
                <a:rPr sz="720" b="1">
                  <a:solidFill>
                    <a:srgbClr val="0B5FC0"/>
                  </a:solidFill>
                  <a:latin typeface="맑은 고딕"/>
                  <a:ea typeface="맑은 고딕"/>
                  <a:cs typeface="맑은 고딕"/>
                </a:rPr>
                <a:t>하드웨어</a:t>
              </a:r>
            </a:p>
          </p:txBody>
        </p:sp>
        <p:sp>
          <p:nvSpPr>
            <p:cNvPr id="100" name="TextBox 99"/>
            <p:cNvSpPr txBox="1"/>
            <p:nvPr/>
          </p:nvSpPr>
          <p:spPr>
            <a:xfrm>
              <a:off x="4793879" y="4029449"/>
              <a:ext cx="1081821" cy="166346"/>
            </a:xfrm>
            <a:prstGeom prst="rect">
              <a:avLst/>
            </a:prstGeom>
            <a:noFill/>
          </p:spPr>
          <p:txBody>
            <a:bodyPr wrap="none" anchor="ctr" lIns="0" rIns="0" tIns="0" bIns="0">
              <a:noAutofit/>
            </a:bodyPr>
            <a:lstStyle/>
            <a:p>
              <a:pPr algn="l"/>
              <a:r>
                <a:rPr sz="900" b="1">
                  <a:solidFill>
                    <a:srgbClr val="16202C"/>
                  </a:solidFill>
                  <a:latin typeface="맑은 고딕"/>
                  <a:ea typeface="맑은 고딕"/>
                  <a:cs typeface="맑은 고딕"/>
                </a:rPr>
                <a:t>커맨드 큐 (64 엔트리)</a:t>
              </a:r>
            </a:p>
          </p:txBody>
        </p:sp>
        <p:sp>
          <p:nvSpPr>
            <p:cNvPr id="101" name="TextBox 100"/>
            <p:cNvSpPr txBox="1"/>
            <p:nvPr/>
          </p:nvSpPr>
          <p:spPr>
            <a:xfrm>
              <a:off x="4793879" y="4237573"/>
              <a:ext cx="1143511"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이전 텐서 연산이 도는 동안</a:t>
              </a:r>
            </a:p>
          </p:txBody>
        </p:sp>
        <p:sp>
          <p:nvSpPr>
            <p:cNvPr id="102" name="TextBox 101"/>
            <p:cNvSpPr txBox="1"/>
            <p:nvPr/>
          </p:nvSpPr>
          <p:spPr>
            <a:xfrm>
              <a:off x="4793879" y="4409892"/>
              <a:ext cx="1235989"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다음 명령을 큐에 미리 넣는다</a:t>
              </a:r>
            </a:p>
          </p:txBody>
        </p:sp>
        <p:sp>
          <p:nvSpPr>
            <p:cNvPr id="103" name="Rounded Rectangle 102"/>
            <p:cNvSpPr/>
            <p:nvPr/>
          </p:nvSpPr>
          <p:spPr>
            <a:xfrm>
              <a:off x="7608428" y="3779778"/>
              <a:ext cx="2948575" cy="880743"/>
            </a:xfrm>
            <a:prstGeom prst="roundRect">
              <a:avLst>
                <a:gd name="adj" fmla="val 9782"/>
              </a:avLst>
            </a:prstGeom>
            <a:solidFill>
              <a:srgbClr val="E3EEFB"/>
            </a:solidFill>
            <a:ln w="1723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780748" y="3865746"/>
              <a:ext cx="367423" cy="131690"/>
            </a:xfrm>
            <a:prstGeom prst="rect">
              <a:avLst/>
            </a:prstGeom>
            <a:noFill/>
          </p:spPr>
          <p:txBody>
            <a:bodyPr wrap="none" anchor="ctr" lIns="0" rIns="0" tIns="0" bIns="0">
              <a:noAutofit/>
            </a:bodyPr>
            <a:lstStyle/>
            <a:p>
              <a:pPr algn="l"/>
              <a:r>
                <a:rPr sz="720" b="1">
                  <a:solidFill>
                    <a:srgbClr val="0B5FC0"/>
                  </a:solidFill>
                  <a:latin typeface="맑은 고딕"/>
                  <a:ea typeface="맑은 고딕"/>
                  <a:cs typeface="맑은 고딕"/>
                </a:rPr>
                <a:t>하드웨어</a:t>
              </a:r>
            </a:p>
          </p:txBody>
        </p:sp>
        <p:sp>
          <p:nvSpPr>
            <p:cNvPr id="105" name="TextBox 104"/>
            <p:cNvSpPr txBox="1"/>
            <p:nvPr/>
          </p:nvSpPr>
          <p:spPr>
            <a:xfrm>
              <a:off x="7780748" y="4029449"/>
              <a:ext cx="939025" cy="166346"/>
            </a:xfrm>
            <a:prstGeom prst="rect">
              <a:avLst/>
            </a:prstGeom>
            <a:noFill/>
          </p:spPr>
          <p:txBody>
            <a:bodyPr wrap="none" anchor="ctr" lIns="0" rIns="0" tIns="0" bIns="0">
              <a:noAutofit/>
            </a:bodyPr>
            <a:lstStyle/>
            <a:p>
              <a:pPr algn="l"/>
              <a:r>
                <a:rPr sz="900" b="1">
                  <a:solidFill>
                    <a:srgbClr val="16202C"/>
                  </a:solidFill>
                  <a:latin typeface="맑은 고딕"/>
                  <a:ea typeface="맑은 고딕"/>
                  <a:cs typeface="맑은 고딕"/>
                </a:rPr>
                <a:t>이중 실행 컨텍스트</a:t>
              </a:r>
            </a:p>
          </p:txBody>
        </p:sp>
        <p:sp>
          <p:nvSpPr>
            <p:cNvPr id="106" name="TextBox 105"/>
            <p:cNvSpPr txBox="1"/>
            <p:nvPr/>
          </p:nvSpPr>
          <p:spPr>
            <a:xfrm>
              <a:off x="7780748" y="4237573"/>
              <a:ext cx="1171757"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main / sub — 텐서 연산 중</a:t>
              </a:r>
            </a:p>
          </p:txBody>
        </p:sp>
        <p:sp>
          <p:nvSpPr>
            <p:cNvPr id="107" name="TextBox 106"/>
            <p:cNvSpPr txBox="1"/>
            <p:nvPr/>
          </p:nvSpPr>
          <p:spPr>
            <a:xfrm>
              <a:off x="7780748" y="4409892"/>
              <a:ext cx="1247348"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벡터·메모리 연산을 병행한다</a:t>
              </a:r>
            </a:p>
          </p:txBody>
        </p:sp>
        <p:cxnSp>
          <p:nvCxnSpPr>
            <p:cNvPr id="108" name="Connector 107"/>
            <p:cNvCxnSpPr/>
            <p:nvPr/>
          </p:nvCxnSpPr>
          <p:spPr>
            <a:xfrm>
              <a:off x="6095848" y="4717961"/>
              <a:ext cx="0" cy="153172"/>
            </a:xfrm>
            <a:prstGeom prst="line">
              <a:avLst/>
            </a:prstGeom>
            <a:ln w="22975">
              <a:solidFill>
                <a:srgbClr val="1A7F37"/>
              </a:solidFill>
            </a:ln>
          </p:spPr>
          <p:style>
            <a:lnRef idx="2">
              <a:schemeClr val="accent1"/>
            </a:lnRef>
            <a:fillRef idx="0">
              <a:schemeClr val="accent1"/>
            </a:fillRef>
            <a:effectRef idx="1">
              <a:schemeClr val="accent1"/>
            </a:effectRef>
            <a:fontRef idx="minor">
              <a:schemeClr val="tx1"/>
            </a:fontRef>
          </p:style>
        </p:cxnSp>
        <p:sp>
          <p:nvSpPr>
            <p:cNvPr id="109" name="Freeform 108"/>
            <p:cNvSpPr/>
            <p:nvPr/>
          </p:nvSpPr>
          <p:spPr>
            <a:xfrm>
              <a:off x="6009688" y="4832840"/>
              <a:ext cx="172319" cy="134026"/>
            </a:xfrm>
            <a:custGeom>
              <a:avLst/>
              <a:gdLst/>
              <a:ahLst/>
              <a:cxnLst/>
              <a:rect l="l" t="t" r="r" b="b"/>
              <a:pathLst>
                <a:path w="172319" h="134026">
                  <a:moveTo>
                    <a:pt x="0" y="0"/>
                  </a:moveTo>
                  <a:lnTo>
                    <a:pt x="86160" y="134026"/>
                  </a:lnTo>
                  <a:lnTo>
                    <a:pt x="172319" y="0"/>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2649461" y="4986013"/>
              <a:ext cx="6892773" cy="555251"/>
            </a:xfrm>
            <a:prstGeom prst="roundRect">
              <a:avLst>
                <a:gd name="adj" fmla="val 17241"/>
              </a:avLst>
            </a:prstGeom>
            <a:solidFill>
              <a:srgbClr val="E2F4E8"/>
            </a:solidFill>
            <a:ln w="1914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350856" y="5085001"/>
              <a:ext cx="3489983" cy="187139"/>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어느 쪽이 숨는지는 시퀀스 길이가 정한다 — 하드웨어는 그대로다</a:t>
              </a:r>
            </a:p>
          </p:txBody>
        </p:sp>
        <p:sp>
          <p:nvSpPr>
            <p:cNvPr id="112" name="TextBox 111"/>
            <p:cNvSpPr txBox="1"/>
            <p:nvPr/>
          </p:nvSpPr>
          <p:spPr>
            <a:xfrm>
              <a:off x="4721393" y="5317823"/>
              <a:ext cx="2748910" cy="159415"/>
            </a:xfrm>
            <a:prstGeom prst="rect">
              <a:avLst/>
            </a:prstGeom>
            <a:noFill/>
          </p:spPr>
          <p:txBody>
            <a:bodyPr wrap="none" anchor="ctr" lIns="0" rIns="0" tIns="0" bIns="0">
              <a:noAutofit/>
            </a:bodyPr>
            <a:lstStyle/>
            <a:p>
              <a:pPr algn="ctr"/>
              <a:r>
                <a:rPr sz="869" b="0">
                  <a:solidFill>
                    <a:srgbClr val="16202C"/>
                  </a:solidFill>
                  <a:latin typeface="맑은 고딕"/>
                  <a:ea typeface="맑은 고딕"/>
                  <a:cs typeface="맑은 고딕"/>
                </a:rPr>
                <a:t>그래서 배치 크기와 시퀀스 길이가 최적 tactic 선택을 바꾼다</a:t>
              </a:r>
            </a:p>
          </p:txBody>
        </p:sp>
      </p:grpSp>
      <p:sp>
        <p:nvSpPr>
          <p:cNvPr id="113" name="Rectangle 112"/>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오버랩은 우연이 아니라 컴파일러 스케줄 + 커맨드 큐 + 이중 컨텍스트가 함께 만든 결과다.</a:t>
            </a:r>
          </a:p>
        </p:txBody>
      </p:sp>
      <p:sp>
        <p:nvSpPr>
          <p:cNvPr id="114" name="Rectangle 113"/>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13이 증명하는 것 — 숨는 쪽이 뒤바뀐다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L=128 은 전송이, L=2048 은 연산이 임계 경로다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235</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본문은 이 트레이스를 prefill 단계의 것으로 설명한다. 본문은 "encoder block", 캡션은 "decoder block"이라 표기가 엇갈리는데, LLaMA-2 는 디코더 전용 모델이므로 캡션 쪽이 맞다.</a:t>
            </a:r>
          </a:p>
          <a:p>
            <a:pPr algn="l">
              <a:lnSpc>
                <a:spcPct val="118000"/>
              </a:lnSpc>
              <a:spcBef>
                <a:spcPts val="600"/>
              </a:spcBef>
              <a:spcAft>
                <a:spcPts val="200"/>
              </a:spcAft>
            </a:pPr>
            <a:r>
              <a:rPr sz="1900" b="1" i="0">
                <a:solidFill>
                  <a:srgbClr val="083F80"/>
                </a:solidFill>
                <a:latin typeface="Segoe UI"/>
                <a:ea typeface="맑은 고딕"/>
                <a:cs typeface="맑은 고딕"/>
              </a:rPr>
              <a:t>▪  시뮬레이션이나 추정이 아니라 실행 활동 트레이스다. 컴파일러가 짠 스케줄이 실제로 겹쳐 돌아간다는 증거로 제시된다.</a:t>
            </a:r>
          </a:p>
          <a:p>
            <a:pPr algn="l">
              <a:lnSpc>
                <a:spcPct val="118000"/>
              </a:lnSpc>
              <a:spcBef>
                <a:spcPts val="600"/>
              </a:spcBef>
              <a:spcAft>
                <a:spcPts val="200"/>
              </a:spcAft>
            </a:pPr>
            <a:r>
              <a:rPr sz="1900" b="0" i="0">
                <a:solidFill>
                  <a:srgbClr val="16202C"/>
                </a:solidFill>
                <a:latin typeface="Segoe UI"/>
                <a:ea typeface="맑은 고딕"/>
                <a:cs typeface="맑은 고딕"/>
              </a:rPr>
              <a:t>▪  두 패널의 시간 스케일이 약 10배 다르다. 나란히 놓고 블록 길이를 직접 비교하면 안 된다.</a:t>
            </a:r>
          </a:p>
          <a:p>
            <a:pPr algn="l">
              <a:lnSpc>
                <a:spcPct val="118000"/>
              </a:lnSpc>
              <a:spcBef>
                <a:spcPts val="600"/>
              </a:spcBef>
              <a:spcAft>
                <a:spcPts val="200"/>
              </a:spcAft>
            </a:pPr>
            <a:r>
              <a:rPr sz="1900" b="0" i="0">
                <a:solidFill>
                  <a:srgbClr val="16202C"/>
                </a:solidFill>
                <a:latin typeface="Segoe UI"/>
                <a:ea typeface="맑은 고딕"/>
                <a:cs typeface="맑은 고딕"/>
              </a:rPr>
              <a:t>▪  블록 이름은 Fig. 13 라벨을 줄여 그린 것이다. 실제 라벨에는 Input, Load W, RoPE, SiLU, mul, Add Norm 등이 더 있다.</a:t>
            </a:r>
          </a:p>
          <a:p>
            <a:pPr algn="l">
              <a:lnSpc>
                <a:spcPct val="118000"/>
              </a:lnSpc>
              <a:spcBef>
                <a:spcPts val="600"/>
              </a:spcBef>
              <a:spcAft>
                <a:spcPts val="200"/>
              </a:spcAft>
            </a:pPr>
            <a:r>
              <a:rPr sz="1900" b="0" i="0">
                <a:solidFill>
                  <a:srgbClr val="16202C"/>
                </a:solidFill>
                <a:latin typeface="Segoe UI"/>
                <a:ea typeface="맑은 고딕"/>
                <a:cs typeface="맑은 고딕"/>
              </a:rPr>
              <a:t>▪  커맨드 큐 64 엔트리는 논문 V 절에 적힌 값이다. CPU 코어의 가장 중요한 역할이 이 큐를 계속 채워 TU 를 놀리지 않는 것이라고 논문이 밝힌다.</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14 — 성능 대 전력: tactic마다 다른 점을 찍는다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236</a:t>
            </a:r>
          </a:p>
        </p:txBody>
      </p:sp>
      <p:pic>
        <p:nvPicPr>
          <p:cNvPr id="8" name="Picture 7" descr="isca_fig14.png"/>
          <p:cNvPicPr>
            <a:picLocks noChangeAspect="1"/>
          </p:cNvPicPr>
          <p:nvPr/>
        </p:nvPicPr>
        <p:blipFill>
          <a:blip r:embed="rId2"/>
          <a:stretch>
            <a:fillRect/>
          </a:stretch>
        </p:blipFill>
        <p:spPr>
          <a:xfrm>
            <a:off x="566928" y="1517904"/>
            <a:ext cx="5971233" cy="2488014"/>
          </a:xfrm>
          <a:prstGeom prst="rect">
            <a:avLst/>
          </a:prstGeom>
        </p:spPr>
      </p:pic>
      <p:sp>
        <p:nvSpPr>
          <p:cNvPr id="9" name="Rectangle 8"/>
          <p:cNvSpPr/>
          <p:nvPr/>
        </p:nvSpPr>
        <p:spPr>
          <a:xfrm>
            <a:off x="566928" y="1517904"/>
            <a:ext cx="5971233" cy="2488014"/>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033350"/>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14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100" b="1" i="0">
                <a:solidFill>
                  <a:srgbClr val="083F80"/>
                </a:solidFill>
                <a:latin typeface="Segoe UI"/>
                <a:ea typeface="맑은 고딕"/>
                <a:cs typeface="맑은 고딕"/>
              </a:rPr>
              <a:t>▪  이 그림은 attention 레이어 하나를 여러 tactic으로 실행했을 때의 결과다. 모델 전체가 아니다.</a:t>
            </a:r>
          </a:p>
          <a:p>
            <a:pPr algn="l">
              <a:lnSpc>
                <a:spcPct val="118000"/>
              </a:lnSpc>
              <a:spcBef>
                <a:spcPts val="600"/>
              </a:spcBef>
              <a:spcAft>
                <a:spcPts val="200"/>
              </a:spcAft>
            </a:pPr>
            <a:r>
              <a:rPr sz="1100" b="1" i="0">
                <a:solidFill>
                  <a:srgbClr val="083F80"/>
                </a:solidFill>
                <a:latin typeface="Segoe UI"/>
                <a:ea typeface="맑은 고딕"/>
                <a:cs typeface="맑은 고딕"/>
              </a:rPr>
              <a:t>▪  x축은 실행 시간(Execution Time, µs)으로 0에서 300까지다. 왼쪽일수록 빠르다.</a:t>
            </a:r>
          </a:p>
          <a:p>
            <a:pPr algn="l">
              <a:lnSpc>
                <a:spcPct val="118000"/>
              </a:lnSpc>
              <a:spcBef>
                <a:spcPts val="600"/>
              </a:spcBef>
              <a:spcAft>
                <a:spcPts val="200"/>
              </a:spcAft>
            </a:pPr>
            <a:r>
              <a:rPr sz="1100" b="1" i="0">
                <a:solidFill>
                  <a:srgbClr val="083F80"/>
                </a:solidFill>
                <a:latin typeface="Segoe UI"/>
                <a:ea typeface="맑은 고딕"/>
                <a:cs typeface="맑은 고딕"/>
              </a:rPr>
              <a:t>▪  y축은 슬라이스 전력(Slice Power, mW)으로 0에서 180까지다. 아래쪽일수록 전력이 낮다.</a:t>
            </a:r>
          </a:p>
          <a:p>
            <a:pPr algn="l">
              <a:lnSpc>
                <a:spcPct val="118000"/>
              </a:lnSpc>
              <a:spcBef>
                <a:spcPts val="600"/>
              </a:spcBef>
              <a:spcAft>
                <a:spcPts val="200"/>
              </a:spcAft>
            </a:pPr>
            <a:r>
              <a:rPr sz="1100" b="1" i="0">
                <a:solidFill>
                  <a:srgbClr val="083F80"/>
                </a:solidFill>
                <a:latin typeface="Segoe UI"/>
                <a:ea typeface="맑은 고딕"/>
                <a:cs typeface="맑은 고딕"/>
              </a:rPr>
              <a:t>▪  점 하나가 tactic 하나다. 정확히는 입력·출력 텐서의 lowered shape(로워드 셰이프, 슬라이스에 내려앉힌 형상)과 tactic 조합 하나다.</a:t>
            </a:r>
          </a:p>
          <a:p>
            <a:pPr algn="l">
              <a:lnSpc>
                <a:spcPct val="118000"/>
              </a:lnSpc>
              <a:spcBef>
                <a:spcPts val="600"/>
              </a:spcBef>
              <a:spcAft>
                <a:spcPts val="200"/>
              </a:spcAft>
            </a:pPr>
            <a:r>
              <a:rPr sz="1100" b="0" i="0">
                <a:solidFill>
                  <a:srgbClr val="16202C"/>
                </a:solidFill>
                <a:latin typeface="Segoe UI"/>
                <a:ea typeface="맑은 고딕"/>
                <a:cs typeface="맑은 고딕"/>
              </a:rPr>
              <a:t>▪  라벨이 붙은 여섯 점: Opt. 1, Opt. 2, Opt. 3 (파란 글씨)과 Ineff. 1, Ineff. 2, Ineff. 3 (빨간 글씨)이다.</a:t>
            </a:r>
          </a:p>
          <a:p>
            <a:pPr algn="l">
              <a:lnSpc>
                <a:spcPct val="118000"/>
              </a:lnSpc>
              <a:spcBef>
                <a:spcPts val="200"/>
              </a:spcBef>
              <a:spcAft>
                <a:spcPts val="100"/>
              </a:spcAft>
            </a:pPr>
            <a:r>
              <a:rPr sz="980" b="0" i="0">
                <a:solidFill>
                  <a:srgbClr val="2C3A4B"/>
                </a:solidFill>
                <a:latin typeface="Segoe UI"/>
                <a:ea typeface="맑은 고딕"/>
                <a:cs typeface="맑은 고딕"/>
              </a:rPr>
              <a:t>–  Opt.은 각 성능 구간에서 가장 전력 효율이 좋은 tactic, Ineff.는 가장 나쁜 tactic이다.</a:t>
            </a:r>
          </a:p>
          <a:p>
            <a:pPr algn="l">
              <a:lnSpc>
                <a:spcPct val="118000"/>
              </a:lnSpc>
              <a:spcBef>
                <a:spcPts val="600"/>
              </a:spcBef>
              <a:spcAft>
                <a:spcPts val="200"/>
              </a:spcAft>
            </a:pPr>
            <a:r>
              <a:rPr sz="1100" b="1" i="0">
                <a:solidFill>
                  <a:srgbClr val="083F80"/>
                </a:solidFill>
                <a:latin typeface="Segoe UI"/>
                <a:ea typeface="맑은 고딕"/>
                <a:cs typeface="맑은 고딕"/>
              </a:rPr>
              <a:t>▪  전력 수치는 실측이 아니라 Synopsys SpyGlass와 TSMC 라이브러리를 이용한 추정값이다.</a:t>
            </a:r>
          </a:p>
          <a:p>
            <a:pPr algn="l">
              <a:lnSpc>
                <a:spcPct val="118000"/>
              </a:lnSpc>
              <a:spcBef>
                <a:spcPts val="200"/>
              </a:spcBef>
              <a:spcAft>
                <a:spcPts val="100"/>
              </a:spcAft>
            </a:pPr>
            <a:r>
              <a:rPr sz="980" b="0" i="0">
                <a:solidFill>
                  <a:srgbClr val="2C3A4B"/>
                </a:solidFill>
                <a:latin typeface="Segoe UI"/>
                <a:ea typeface="맑은 고딕"/>
                <a:cs typeface="맑은 고딕"/>
              </a:rPr>
              <a:t>–  각 점의 정확한 좌표는 논문 본문에 없다. 축 눈금으로 읽으면 Opt. 1은 20 µs대·160 mW 부근, Ineff. 3은 260 µs 부근·130 mW대다.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연산, 같은 하드웨어인데 tactic만 바꿔서 실행 시간이 10배 넘게 벌어진다.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14 — 점의 위치가 뜻하는 것</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같은 연산, 같은 하드웨어. tactic 만 바꾼 결과다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237</a:t>
            </a:r>
          </a:p>
        </p:txBody>
      </p:sp>
      <p:grpSp>
        <p:nvGrpSpPr>
          <p:cNvPr id="9" name="도해 A8#19"/>
          <p:cNvGrpSpPr/>
          <p:nvPr/>
        </p:nvGrpSpPr>
        <p:grpSpPr>
          <a:xfrm>
            <a:off x="1213001" y="1463040"/>
            <a:ext cx="9765693" cy="4078224"/>
            <a:chOff x="1213001" y="1463040"/>
            <a:chExt cx="9765693" cy="4078224"/>
          </a:xfrm>
        </p:grpSpPr>
        <p:sp>
          <p:nvSpPr>
            <p:cNvPr id="10" name="TextBox 9"/>
            <p:cNvSpPr txBox="1"/>
            <p:nvPr/>
          </p:nvSpPr>
          <p:spPr>
            <a:xfrm>
              <a:off x="1213001" y="1492359"/>
              <a:ext cx="1136871" cy="183542"/>
            </a:xfrm>
            <a:prstGeom prst="rect">
              <a:avLst/>
            </a:prstGeom>
            <a:noFill/>
          </p:spPr>
          <p:txBody>
            <a:bodyPr wrap="none" anchor="ctr" lIns="0" rIns="0" tIns="0" bIns="0">
              <a:noAutofit/>
            </a:bodyPr>
            <a:lstStyle/>
            <a:p>
              <a:pPr algn="l"/>
              <a:r>
                <a:rPr sz="1000" b="1">
                  <a:solidFill>
                    <a:srgbClr val="16202C"/>
                  </a:solidFill>
                  <a:latin typeface="맑은 고딕"/>
                  <a:ea typeface="맑은 고딕"/>
                  <a:cs typeface="맑은 고딕"/>
                </a:rPr>
                <a:t>슬라이스 전력 (mW)</a:t>
              </a:r>
            </a:p>
          </p:txBody>
        </p:sp>
        <p:cxnSp>
          <p:nvCxnSpPr>
            <p:cNvPr id="11" name="Connector 10"/>
            <p:cNvCxnSpPr/>
            <p:nvPr/>
          </p:nvCxnSpPr>
          <p:spPr>
            <a:xfrm>
              <a:off x="1764112" y="3733619"/>
              <a:ext cx="5400892" cy="0"/>
            </a:xfrm>
            <a:prstGeom prst="line">
              <a:avLst/>
            </a:prstGeom>
            <a:ln w="11022">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764112" y="2741618"/>
              <a:ext cx="5400892" cy="0"/>
            </a:xfrm>
            <a:prstGeom prst="line">
              <a:avLst/>
            </a:prstGeom>
            <a:ln w="11022">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64112" y="1749618"/>
              <a:ext cx="5400892" cy="0"/>
            </a:xfrm>
            <a:prstGeom prst="line">
              <a:avLst/>
            </a:prstGeom>
            <a:ln w="11022">
              <a:solidFill>
                <a:srgbClr val="D6DEE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764112" y="1727573"/>
              <a:ext cx="0" cy="2998046"/>
            </a:xfrm>
            <a:prstGeom prst="line">
              <a:avLst/>
            </a:prstGeom>
            <a:ln w="17635">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64112" y="4725619"/>
              <a:ext cx="5400892" cy="0"/>
            </a:xfrm>
            <a:prstGeom prst="line">
              <a:avLst/>
            </a:prstGeom>
            <a:ln w="17635">
              <a:solidFill>
                <a:srgbClr val="1620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547994" y="4635457"/>
              <a:ext cx="105896" cy="167582"/>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0</a:t>
              </a:r>
            </a:p>
          </p:txBody>
        </p:sp>
        <p:sp>
          <p:nvSpPr>
            <p:cNvPr id="17" name="TextBox 16"/>
            <p:cNvSpPr txBox="1"/>
            <p:nvPr/>
          </p:nvSpPr>
          <p:spPr>
            <a:xfrm>
              <a:off x="1483762" y="3643457"/>
              <a:ext cx="170128" cy="167582"/>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60</a:t>
              </a:r>
            </a:p>
          </p:txBody>
        </p:sp>
        <p:sp>
          <p:nvSpPr>
            <p:cNvPr id="18" name="TextBox 17"/>
            <p:cNvSpPr txBox="1"/>
            <p:nvPr/>
          </p:nvSpPr>
          <p:spPr>
            <a:xfrm>
              <a:off x="1419530" y="2651457"/>
              <a:ext cx="234360" cy="167582"/>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120</a:t>
              </a:r>
            </a:p>
          </p:txBody>
        </p:sp>
        <p:sp>
          <p:nvSpPr>
            <p:cNvPr id="19" name="TextBox 18"/>
            <p:cNvSpPr txBox="1"/>
            <p:nvPr/>
          </p:nvSpPr>
          <p:spPr>
            <a:xfrm>
              <a:off x="1419530" y="1659456"/>
              <a:ext cx="234360" cy="167582"/>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180</a:t>
              </a:r>
            </a:p>
          </p:txBody>
        </p:sp>
        <p:cxnSp>
          <p:nvCxnSpPr>
            <p:cNvPr id="20" name="Connector 19"/>
            <p:cNvCxnSpPr/>
            <p:nvPr/>
          </p:nvCxnSpPr>
          <p:spPr>
            <a:xfrm>
              <a:off x="1764112" y="4725619"/>
              <a:ext cx="0" cy="66134"/>
            </a:xfrm>
            <a:prstGeom prst="line">
              <a:avLst/>
            </a:prstGeom>
            <a:ln w="15431">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549713" y="4725619"/>
              <a:ext cx="0" cy="66134"/>
            </a:xfrm>
            <a:prstGeom prst="line">
              <a:avLst/>
            </a:prstGeom>
            <a:ln w="15431">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35314" y="4725619"/>
              <a:ext cx="0" cy="66134"/>
            </a:xfrm>
            <a:prstGeom prst="line">
              <a:avLst/>
            </a:prstGeom>
            <a:ln w="15431">
              <a:solidFill>
                <a:srgbClr val="16202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20915" y="4725619"/>
              <a:ext cx="0" cy="66134"/>
            </a:xfrm>
            <a:prstGeom prst="line">
              <a:avLst/>
            </a:prstGeom>
            <a:ln w="15431">
              <a:solidFill>
                <a:srgbClr val="16202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1164" y="4811813"/>
              <a:ext cx="105896" cy="16758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0</a:t>
              </a:r>
            </a:p>
          </p:txBody>
        </p:sp>
        <p:sp>
          <p:nvSpPr>
            <p:cNvPr id="25" name="TextBox 24"/>
            <p:cNvSpPr txBox="1"/>
            <p:nvPr/>
          </p:nvSpPr>
          <p:spPr>
            <a:xfrm>
              <a:off x="3432533" y="4811813"/>
              <a:ext cx="234360" cy="16758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100</a:t>
              </a:r>
            </a:p>
          </p:txBody>
        </p:sp>
        <p:sp>
          <p:nvSpPr>
            <p:cNvPr id="26" name="TextBox 25"/>
            <p:cNvSpPr txBox="1"/>
            <p:nvPr/>
          </p:nvSpPr>
          <p:spPr>
            <a:xfrm>
              <a:off x="5218134" y="4811813"/>
              <a:ext cx="234360" cy="16758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200</a:t>
              </a:r>
            </a:p>
          </p:txBody>
        </p:sp>
        <p:sp>
          <p:nvSpPr>
            <p:cNvPr id="27" name="TextBox 26"/>
            <p:cNvSpPr txBox="1"/>
            <p:nvPr/>
          </p:nvSpPr>
          <p:spPr>
            <a:xfrm>
              <a:off x="7003735" y="4811813"/>
              <a:ext cx="234360" cy="16758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300</a:t>
              </a:r>
            </a:p>
          </p:txBody>
        </p:sp>
        <p:sp>
          <p:nvSpPr>
            <p:cNvPr id="28" name="TextBox 27"/>
            <p:cNvSpPr txBox="1"/>
            <p:nvPr/>
          </p:nvSpPr>
          <p:spPr>
            <a:xfrm>
              <a:off x="3502103" y="5041516"/>
              <a:ext cx="1924911" cy="183542"/>
            </a:xfrm>
            <a:prstGeom prst="rect">
              <a:avLst/>
            </a:prstGeom>
            <a:noFill/>
          </p:spPr>
          <p:txBody>
            <a:bodyPr wrap="none" anchor="ctr" lIns="0" rIns="0" tIns="0" bIns="0">
              <a:noAutofit/>
            </a:bodyPr>
            <a:lstStyle/>
            <a:p>
              <a:pPr algn="ctr"/>
              <a:r>
                <a:rPr sz="1000" b="0">
                  <a:solidFill>
                    <a:srgbClr val="16202C"/>
                  </a:solidFill>
                  <a:latin typeface="맑은 고딕"/>
                  <a:ea typeface="맑은 고딕"/>
                  <a:cs typeface="맑은 고딕"/>
                </a:rPr>
                <a:t>실행 시간 (µs) — 왼쪽일수록 빠르다</a:t>
              </a:r>
            </a:p>
          </p:txBody>
        </p:sp>
        <p:sp>
          <p:nvSpPr>
            <p:cNvPr id="29" name="TextBox 28"/>
            <p:cNvSpPr txBox="1"/>
            <p:nvPr/>
          </p:nvSpPr>
          <p:spPr>
            <a:xfrm>
              <a:off x="1874335" y="4437057"/>
              <a:ext cx="502746" cy="167582"/>
            </a:xfrm>
            <a:prstGeom prst="rect">
              <a:avLst/>
            </a:prstGeom>
            <a:noFill/>
          </p:spPr>
          <p:txBody>
            <a:bodyPr wrap="none" anchor="ctr" lIns="0" rIns="0" tIns="0" bIns="0">
              <a:noAutofit/>
            </a:bodyPr>
            <a:lstStyle/>
            <a:p>
              <a:pPr algn="l"/>
              <a:r>
                <a:rPr sz="910" b="0">
                  <a:solidFill>
                    <a:srgbClr val="5B6B7B"/>
                  </a:solidFill>
                  <a:latin typeface="맑은 고딕"/>
                  <a:ea typeface="맑은 고딕"/>
                  <a:cs typeface="맑은 고딕"/>
                </a:rPr>
                <a:t>빠르다 ←</a:t>
              </a:r>
            </a:p>
          </p:txBody>
        </p:sp>
        <p:sp>
          <p:nvSpPr>
            <p:cNvPr id="30" name="TextBox 29"/>
            <p:cNvSpPr txBox="1"/>
            <p:nvPr/>
          </p:nvSpPr>
          <p:spPr>
            <a:xfrm>
              <a:off x="6574080" y="4437057"/>
              <a:ext cx="502746" cy="167582"/>
            </a:xfrm>
            <a:prstGeom prst="rect">
              <a:avLst/>
            </a:prstGeom>
            <a:noFill/>
          </p:spPr>
          <p:txBody>
            <a:bodyPr wrap="none" anchor="ctr" lIns="0" rIns="0" tIns="0" bIns="0">
              <a:noAutofit/>
            </a:bodyPr>
            <a:lstStyle/>
            <a:p>
              <a:pPr algn="r"/>
              <a:r>
                <a:rPr sz="910" b="0">
                  <a:solidFill>
                    <a:srgbClr val="5B6B7B"/>
                  </a:solidFill>
                  <a:latin typeface="맑은 고딕"/>
                  <a:ea typeface="맑은 고딕"/>
                  <a:cs typeface="맑은 고딕"/>
                </a:rPr>
                <a:t>→ 느리다</a:t>
              </a:r>
            </a:p>
          </p:txBody>
        </p:sp>
        <p:sp>
          <p:nvSpPr>
            <p:cNvPr id="31" name="Oval 30"/>
            <p:cNvSpPr/>
            <p:nvPr/>
          </p:nvSpPr>
          <p:spPr>
            <a:xfrm>
              <a:off x="2155401" y="2196018"/>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155401" y="2361352"/>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55401" y="2493618"/>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19135" y="2162951"/>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519135" y="2306240"/>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519135" y="2427485"/>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60024" y="2229085"/>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60024" y="2394418"/>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60024" y="2559752"/>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216558" y="2196018"/>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16558" y="2438507"/>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216558" y="2658952"/>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682514" y="2328285"/>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682514" y="2526685"/>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54870" y="2692018"/>
              <a:ext cx="99200" cy="99200"/>
            </a:xfrm>
            <a:prstGeom prst="ellipse">
              <a:avLst/>
            </a:prstGeom>
            <a:solidFill>
              <a:srgbClr val="B0B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3549713" y="2223574"/>
              <a:ext cx="0" cy="330666"/>
            </a:xfrm>
            <a:prstGeom prst="line">
              <a:avLst/>
            </a:prstGeom>
            <a:ln w="37475">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461535" y="2223574"/>
              <a:ext cx="176356" cy="0"/>
            </a:xfrm>
            <a:prstGeom prst="line">
              <a:avLst/>
            </a:prstGeom>
            <a:ln w="17635">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461535" y="2554240"/>
              <a:ext cx="176356" cy="0"/>
            </a:xfrm>
            <a:prstGeom prst="line">
              <a:avLst/>
            </a:prstGeom>
            <a:ln w="17635">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58958" y="2388907"/>
              <a:ext cx="0" cy="429867"/>
            </a:xfrm>
            <a:prstGeom prst="line">
              <a:avLst/>
            </a:prstGeom>
            <a:ln w="37475">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070780" y="2388907"/>
              <a:ext cx="176356" cy="0"/>
            </a:xfrm>
            <a:prstGeom prst="line">
              <a:avLst/>
            </a:prstGeom>
            <a:ln w="17635">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70780" y="2818774"/>
              <a:ext cx="176356" cy="0"/>
            </a:xfrm>
            <a:prstGeom prst="line">
              <a:avLst/>
            </a:prstGeom>
            <a:ln w="17635">
              <a:solidFill>
                <a:srgbClr val="B45409"/>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2133357" y="2008640"/>
              <a:ext cx="143289" cy="143289"/>
            </a:xfrm>
            <a:prstGeom prst="ellipse">
              <a:avLst/>
            </a:prstGeom>
            <a:solidFill>
              <a:srgbClr val="0B5FC0"/>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478069" y="2537707"/>
              <a:ext cx="143289" cy="143289"/>
            </a:xfrm>
            <a:prstGeom prst="ellipse">
              <a:avLst/>
            </a:prstGeom>
            <a:solidFill>
              <a:srgbClr val="0B5FC0"/>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87314" y="2802241"/>
              <a:ext cx="143289" cy="143289"/>
            </a:xfrm>
            <a:prstGeom prst="ellipse">
              <a:avLst/>
            </a:prstGeom>
            <a:solidFill>
              <a:srgbClr val="0B5FC0"/>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78069" y="2085796"/>
              <a:ext cx="143289" cy="143289"/>
            </a:xfrm>
            <a:prstGeom prst="ellipse">
              <a:avLst/>
            </a:prstGeom>
            <a:solidFill>
              <a:srgbClr val="B4222A"/>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087314" y="2251129"/>
              <a:ext cx="143289" cy="143289"/>
            </a:xfrm>
            <a:prstGeom prst="ellipse">
              <a:avLst/>
            </a:prstGeom>
            <a:solidFill>
              <a:srgbClr val="B4222A"/>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32825" y="2471574"/>
              <a:ext cx="143289" cy="143289"/>
            </a:xfrm>
            <a:prstGeom prst="ellipse">
              <a:avLst/>
            </a:prstGeom>
            <a:solidFill>
              <a:srgbClr val="B4222A"/>
            </a:solidFill>
            <a:ln w="1653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337268" y="1889159"/>
              <a:ext cx="418420" cy="183542"/>
            </a:xfrm>
            <a:prstGeom prst="rect">
              <a:avLst/>
            </a:prstGeom>
            <a:noFill/>
          </p:spPr>
          <p:txBody>
            <a:bodyPr wrap="none" anchor="ctr" lIns="0" rIns="0" tIns="0" bIns="0">
              <a:noAutofit/>
            </a:bodyPr>
            <a:lstStyle/>
            <a:p>
              <a:pPr algn="l"/>
              <a:r>
                <a:rPr sz="1000" b="1">
                  <a:solidFill>
                    <a:srgbClr val="0B5FC0"/>
                  </a:solidFill>
                  <a:latin typeface="맑은 고딕"/>
                  <a:ea typeface="맑은 고딕"/>
                  <a:cs typeface="맑은 고딕"/>
                </a:rPr>
                <a:t>Opt. 1</a:t>
              </a:r>
            </a:p>
          </p:txBody>
        </p:sp>
        <p:sp>
          <p:nvSpPr>
            <p:cNvPr id="59" name="TextBox 58"/>
            <p:cNvSpPr txBox="1"/>
            <p:nvPr/>
          </p:nvSpPr>
          <p:spPr>
            <a:xfrm>
              <a:off x="3681980" y="1966315"/>
              <a:ext cx="468996" cy="183542"/>
            </a:xfrm>
            <a:prstGeom prst="rect">
              <a:avLst/>
            </a:prstGeom>
            <a:noFill/>
          </p:spPr>
          <p:txBody>
            <a:bodyPr wrap="none" anchor="ctr" lIns="0" rIns="0" tIns="0" bIns="0">
              <a:noAutofit/>
            </a:bodyPr>
            <a:lstStyle/>
            <a:p>
              <a:pPr algn="l"/>
              <a:r>
                <a:rPr sz="1000" b="1">
                  <a:solidFill>
                    <a:srgbClr val="B4222A"/>
                  </a:solidFill>
                  <a:latin typeface="맑은 고딕"/>
                  <a:ea typeface="맑은 고딕"/>
                  <a:cs typeface="맑은 고딕"/>
                </a:rPr>
                <a:t>Ineff. 1</a:t>
              </a:r>
            </a:p>
          </p:txBody>
        </p:sp>
        <p:sp>
          <p:nvSpPr>
            <p:cNvPr id="60" name="TextBox 59"/>
            <p:cNvSpPr txBox="1"/>
            <p:nvPr/>
          </p:nvSpPr>
          <p:spPr>
            <a:xfrm>
              <a:off x="3681980" y="2594582"/>
              <a:ext cx="418420" cy="183542"/>
            </a:xfrm>
            <a:prstGeom prst="rect">
              <a:avLst/>
            </a:prstGeom>
            <a:noFill/>
          </p:spPr>
          <p:txBody>
            <a:bodyPr wrap="none" anchor="ctr" lIns="0" rIns="0" tIns="0" bIns="0">
              <a:noAutofit/>
            </a:bodyPr>
            <a:lstStyle/>
            <a:p>
              <a:pPr algn="l"/>
              <a:r>
                <a:rPr sz="1000" b="1">
                  <a:solidFill>
                    <a:srgbClr val="0B5FC0"/>
                  </a:solidFill>
                  <a:latin typeface="맑은 고딕"/>
                  <a:ea typeface="맑은 고딕"/>
                  <a:cs typeface="맑은 고딕"/>
                </a:rPr>
                <a:t>Opt. 2</a:t>
              </a:r>
            </a:p>
          </p:txBody>
        </p:sp>
        <p:sp>
          <p:nvSpPr>
            <p:cNvPr id="61" name="TextBox 60"/>
            <p:cNvSpPr txBox="1"/>
            <p:nvPr/>
          </p:nvSpPr>
          <p:spPr>
            <a:xfrm>
              <a:off x="5291225" y="2131648"/>
              <a:ext cx="468996" cy="183542"/>
            </a:xfrm>
            <a:prstGeom prst="rect">
              <a:avLst/>
            </a:prstGeom>
            <a:noFill/>
          </p:spPr>
          <p:txBody>
            <a:bodyPr wrap="none" anchor="ctr" lIns="0" rIns="0" tIns="0" bIns="0">
              <a:noAutofit/>
            </a:bodyPr>
            <a:lstStyle/>
            <a:p>
              <a:pPr algn="l"/>
              <a:r>
                <a:rPr sz="1000" b="1">
                  <a:solidFill>
                    <a:srgbClr val="B4222A"/>
                  </a:solidFill>
                  <a:latin typeface="맑은 고딕"/>
                  <a:ea typeface="맑은 고딕"/>
                  <a:cs typeface="맑은 고딕"/>
                </a:rPr>
                <a:t>Ineff. 2</a:t>
              </a:r>
            </a:p>
          </p:txBody>
        </p:sp>
        <p:sp>
          <p:nvSpPr>
            <p:cNvPr id="62" name="TextBox 61"/>
            <p:cNvSpPr txBox="1"/>
            <p:nvPr/>
          </p:nvSpPr>
          <p:spPr>
            <a:xfrm>
              <a:off x="5291225" y="2859115"/>
              <a:ext cx="418420" cy="183542"/>
            </a:xfrm>
            <a:prstGeom prst="rect">
              <a:avLst/>
            </a:prstGeom>
            <a:noFill/>
          </p:spPr>
          <p:txBody>
            <a:bodyPr wrap="none" anchor="ctr" lIns="0" rIns="0" tIns="0" bIns="0">
              <a:noAutofit/>
            </a:bodyPr>
            <a:lstStyle/>
            <a:p>
              <a:pPr algn="l"/>
              <a:r>
                <a:rPr sz="1000" b="1">
                  <a:solidFill>
                    <a:srgbClr val="0B5FC0"/>
                  </a:solidFill>
                  <a:latin typeface="맑은 고딕"/>
                  <a:ea typeface="맑은 고딕"/>
                  <a:cs typeface="맑은 고딕"/>
                </a:rPr>
                <a:t>Opt. 3</a:t>
              </a:r>
            </a:p>
          </p:txBody>
        </p:sp>
        <p:sp>
          <p:nvSpPr>
            <p:cNvPr id="63" name="TextBox 62"/>
            <p:cNvSpPr txBox="1"/>
            <p:nvPr/>
          </p:nvSpPr>
          <p:spPr>
            <a:xfrm>
              <a:off x="6547759" y="2352093"/>
              <a:ext cx="468996" cy="183542"/>
            </a:xfrm>
            <a:prstGeom prst="rect">
              <a:avLst/>
            </a:prstGeom>
            <a:noFill/>
          </p:spPr>
          <p:txBody>
            <a:bodyPr wrap="none" anchor="ctr" lIns="0" rIns="0" tIns="0" bIns="0">
              <a:noAutofit/>
            </a:bodyPr>
            <a:lstStyle/>
            <a:p>
              <a:pPr algn="l"/>
              <a:r>
                <a:rPr sz="1000" b="1">
                  <a:solidFill>
                    <a:srgbClr val="B4222A"/>
                  </a:solidFill>
                  <a:latin typeface="맑은 고딕"/>
                  <a:ea typeface="맑은 고딕"/>
                  <a:cs typeface="맑은 고딕"/>
                </a:rPr>
                <a:t>Ineff. 3</a:t>
              </a:r>
            </a:p>
          </p:txBody>
        </p:sp>
        <p:sp>
          <p:nvSpPr>
            <p:cNvPr id="64" name="Rounded Rectangle 63"/>
            <p:cNvSpPr/>
            <p:nvPr/>
          </p:nvSpPr>
          <p:spPr>
            <a:xfrm>
              <a:off x="1940468" y="3248641"/>
              <a:ext cx="2777601" cy="881778"/>
            </a:xfrm>
            <a:prstGeom prst="roundRect">
              <a:avLst>
                <a:gd name="adj" fmla="val 10000"/>
              </a:avLst>
            </a:prstGeom>
            <a:solidFill>
              <a:srgbClr val="FFF7E6"/>
            </a:solidFill>
            <a:ln w="176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11218" y="3366138"/>
              <a:ext cx="1036100" cy="183542"/>
            </a:xfrm>
            <a:prstGeom prst="rect">
              <a:avLst/>
            </a:prstGeom>
            <a:noFill/>
          </p:spPr>
          <p:txBody>
            <a:bodyPr wrap="none" anchor="ctr" lIns="0" rIns="0" tIns="0" bIns="0">
              <a:noAutofit/>
            </a:bodyPr>
            <a:lstStyle/>
            <a:p>
              <a:pPr algn="ctr"/>
              <a:r>
                <a:rPr sz="1000" b="1">
                  <a:solidFill>
                    <a:srgbClr val="B45409"/>
                  </a:solidFill>
                  <a:latin typeface="맑은 고딕"/>
                  <a:ea typeface="맑은 고딕"/>
                  <a:cs typeface="맑은 고딕"/>
                </a:rPr>
                <a:t>세로로 벌어진 간격</a:t>
              </a:r>
            </a:p>
          </p:txBody>
        </p:sp>
        <p:sp>
          <p:nvSpPr>
            <p:cNvPr id="66" name="TextBox 65"/>
            <p:cNvSpPr txBox="1"/>
            <p:nvPr/>
          </p:nvSpPr>
          <p:spPr>
            <a:xfrm>
              <a:off x="2648178" y="3615020"/>
              <a:ext cx="1362182" cy="175562"/>
            </a:xfrm>
            <a:prstGeom prst="rect">
              <a:avLst/>
            </a:prstGeom>
            <a:noFill/>
          </p:spPr>
          <p:txBody>
            <a:bodyPr wrap="none" anchor="ctr" lIns="0" rIns="0" tIns="0" bIns="0">
              <a:noAutofit/>
            </a:bodyPr>
            <a:lstStyle/>
            <a:p>
              <a:pPr algn="ctr"/>
              <a:r>
                <a:rPr sz="950" b="0">
                  <a:solidFill>
                    <a:srgbClr val="16202C"/>
                  </a:solidFill>
                  <a:latin typeface="맑은 고딕"/>
                  <a:ea typeface="맑은 고딕"/>
                  <a:cs typeface="맑은 고딕"/>
                </a:rPr>
                <a:t>= 같은 시간에 더 태운 전력</a:t>
              </a:r>
            </a:p>
          </p:txBody>
        </p:sp>
        <p:sp>
          <p:nvSpPr>
            <p:cNvPr id="67" name="TextBox 66"/>
            <p:cNvSpPr txBox="1"/>
            <p:nvPr/>
          </p:nvSpPr>
          <p:spPr>
            <a:xfrm>
              <a:off x="2453225" y="3841857"/>
              <a:ext cx="1752088" cy="167582"/>
            </a:xfrm>
            <a:prstGeom prst="rect">
              <a:avLst/>
            </a:prstGeom>
            <a:noFill/>
          </p:spPr>
          <p:txBody>
            <a:bodyPr wrap="none" anchor="ctr" lIns="0" rIns="0" tIns="0" bIns="0">
              <a:noAutofit/>
            </a:bodyPr>
            <a:lstStyle/>
            <a:p>
              <a:pPr algn="ctr"/>
              <a:r>
                <a:rPr sz="910" b="0">
                  <a:solidFill>
                    <a:srgbClr val="5B6B7B"/>
                  </a:solidFill>
                  <a:latin typeface="맑은 고딕"/>
                  <a:ea typeface="맑은 고딕"/>
                  <a:cs typeface="맑은 고딕"/>
                </a:rPr>
                <a:t>Ineff.1 ↔ Opt.2 · Ineff.2 ↔ Opt.3</a:t>
              </a:r>
            </a:p>
          </p:txBody>
        </p:sp>
        <p:cxnSp>
          <p:nvCxnSpPr>
            <p:cNvPr id="68" name="Connector 67"/>
            <p:cNvCxnSpPr/>
            <p:nvPr/>
          </p:nvCxnSpPr>
          <p:spPr>
            <a:xfrm flipV="1">
              <a:off x="3549713" y="2873885"/>
              <a:ext cx="0" cy="374756"/>
            </a:xfrm>
            <a:prstGeom prst="line">
              <a:avLst/>
            </a:prstGeom>
            <a:ln w="17635">
              <a:solidFill>
                <a:srgbClr val="B45409"/>
              </a:solidFill>
            </a:ln>
          </p:spPr>
          <p:style>
            <a:lnRef idx="2">
              <a:schemeClr val="accent1"/>
            </a:lnRef>
            <a:fillRef idx="0">
              <a:schemeClr val="accent1"/>
            </a:fillRef>
            <a:effectRef idx="1">
              <a:schemeClr val="accent1"/>
            </a:effectRef>
            <a:fontRef idx="minor">
              <a:schemeClr val="tx1"/>
            </a:fontRef>
          </p:style>
        </p:cxnSp>
        <p:sp>
          <p:nvSpPr>
            <p:cNvPr id="69" name="Freeform 68"/>
            <p:cNvSpPr/>
            <p:nvPr/>
          </p:nvSpPr>
          <p:spPr>
            <a:xfrm>
              <a:off x="3494602" y="2774685"/>
              <a:ext cx="110222" cy="121245"/>
            </a:xfrm>
            <a:custGeom>
              <a:avLst/>
              <a:gdLst/>
              <a:ahLst/>
              <a:cxnLst/>
              <a:rect l="l" t="t" r="r" b="b"/>
              <a:pathLst>
                <a:path w="110222" h="121245">
                  <a:moveTo>
                    <a:pt x="0" y="121245"/>
                  </a:moveTo>
                  <a:lnTo>
                    <a:pt x="55111" y="0"/>
                  </a:lnTo>
                  <a:lnTo>
                    <a:pt x="110222" y="121245"/>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13001" y="5325228"/>
              <a:ext cx="2664293" cy="159602"/>
            </a:xfrm>
            <a:prstGeom prst="rect">
              <a:avLst/>
            </a:prstGeom>
            <a:noFill/>
          </p:spPr>
          <p:txBody>
            <a:bodyPr wrap="none" anchor="ctr" lIns="0" rIns="0" tIns="0" bIns="0">
              <a:noAutofit/>
            </a:bodyPr>
            <a:lstStyle/>
            <a:p>
              <a:pPr algn="l"/>
              <a:r>
                <a:rPr sz="869" b="0">
                  <a:solidFill>
                    <a:srgbClr val="5B6B7B"/>
                  </a:solidFill>
                  <a:latin typeface="맑은 고딕"/>
                  <a:ea typeface="맑은 고딕"/>
                  <a:cs typeface="맑은 고딕"/>
                </a:rPr>
                <a:t>※ 점 위치는 개형이다. 각 점의 정확한 좌표는 논문에 없다.</a:t>
              </a:r>
            </a:p>
          </p:txBody>
        </p:sp>
        <p:sp>
          <p:nvSpPr>
            <p:cNvPr id="71" name="Rounded Rectangle 70"/>
            <p:cNvSpPr/>
            <p:nvPr/>
          </p:nvSpPr>
          <p:spPr>
            <a:xfrm>
              <a:off x="7385448" y="1463040"/>
              <a:ext cx="3593246" cy="1234489"/>
            </a:xfrm>
            <a:prstGeom prst="roundRect">
              <a:avLst>
                <a:gd name="adj" fmla="val 8035"/>
              </a:avLst>
            </a:prstGeom>
            <a:solidFill>
              <a:srgbClr val="E3EEFB"/>
            </a:solidFill>
            <a:ln w="1984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605893" y="1589796"/>
              <a:ext cx="1628121" cy="199502"/>
            </a:xfrm>
            <a:prstGeom prst="rect">
              <a:avLst/>
            </a:prstGeom>
            <a:noFill/>
          </p:spPr>
          <p:txBody>
            <a:bodyPr wrap="none" anchor="ctr" lIns="0" rIns="0" tIns="0" bIns="0">
              <a:noAutofit/>
            </a:bodyPr>
            <a:lstStyle/>
            <a:p>
              <a:pPr algn="l"/>
              <a:r>
                <a:rPr sz="1080" b="1">
                  <a:solidFill>
                    <a:srgbClr val="083F80"/>
                  </a:solidFill>
                  <a:latin typeface="맑은 고딕"/>
                  <a:ea typeface="맑은 고딕"/>
                  <a:cs typeface="맑은 고딕"/>
                </a:rPr>
                <a:t>Opt. 1~3 — 각 구간의 최선</a:t>
              </a:r>
            </a:p>
          </p:txBody>
        </p:sp>
        <p:sp>
          <p:nvSpPr>
            <p:cNvPr id="73" name="TextBox 72"/>
            <p:cNvSpPr txBox="1"/>
            <p:nvPr/>
          </p:nvSpPr>
          <p:spPr>
            <a:xfrm>
              <a:off x="7605893" y="1873508"/>
              <a:ext cx="1554597"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왼쪽 위 Opt. 1 이 가장 빠르다.</a:t>
              </a:r>
            </a:p>
          </p:txBody>
        </p:sp>
        <p:sp>
          <p:nvSpPr>
            <p:cNvPr id="74" name="TextBox 73"/>
            <p:cNvSpPr txBox="1"/>
            <p:nvPr/>
          </p:nvSpPr>
          <p:spPr>
            <a:xfrm>
              <a:off x="7605893" y="2093952"/>
              <a:ext cx="1686753"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오른쪽 아래로 갈수록 느려지지만</a:t>
              </a:r>
            </a:p>
          </p:txBody>
        </p:sp>
        <p:sp>
          <p:nvSpPr>
            <p:cNvPr id="75" name="TextBox 74"/>
            <p:cNvSpPr txBox="1"/>
            <p:nvPr/>
          </p:nvSpPr>
          <p:spPr>
            <a:xfrm>
              <a:off x="7605893" y="2314397"/>
              <a:ext cx="1845099"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전력이 낮아진다 (Opt. 2 → Opt. 3).</a:t>
              </a:r>
            </a:p>
          </p:txBody>
        </p:sp>
        <p:sp>
          <p:nvSpPr>
            <p:cNvPr id="76" name="Rounded Rectangle 75"/>
            <p:cNvSpPr/>
            <p:nvPr/>
          </p:nvSpPr>
          <p:spPr>
            <a:xfrm>
              <a:off x="7385448" y="2851841"/>
              <a:ext cx="3593246" cy="1234489"/>
            </a:xfrm>
            <a:prstGeom prst="roundRect">
              <a:avLst>
                <a:gd name="adj" fmla="val 8035"/>
              </a:avLst>
            </a:prstGeom>
            <a:solidFill>
              <a:srgbClr val="FDE8E8"/>
            </a:solidFill>
            <a:ln w="1984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605893" y="2978596"/>
              <a:ext cx="1525063" cy="199502"/>
            </a:xfrm>
            <a:prstGeom prst="rect">
              <a:avLst/>
            </a:prstGeom>
            <a:noFill/>
          </p:spPr>
          <p:txBody>
            <a:bodyPr wrap="none" anchor="ctr" lIns="0" rIns="0" tIns="0" bIns="0">
              <a:noAutofit/>
            </a:bodyPr>
            <a:lstStyle/>
            <a:p>
              <a:pPr algn="l"/>
              <a:r>
                <a:rPr sz="1080" b="1">
                  <a:solidFill>
                    <a:srgbClr val="B4222A"/>
                  </a:solidFill>
                  <a:latin typeface="맑은 고딕"/>
                  <a:ea typeface="맑은 고딕"/>
                  <a:cs typeface="맑은 고딕"/>
                </a:rPr>
                <a:t>Ineff. 1~3 — 파레토 열등</a:t>
              </a:r>
            </a:p>
          </p:txBody>
        </p:sp>
        <p:sp>
          <p:nvSpPr>
            <p:cNvPr id="78" name="TextBox 77"/>
            <p:cNvSpPr txBox="1"/>
            <p:nvPr/>
          </p:nvSpPr>
          <p:spPr>
            <a:xfrm>
              <a:off x="7605893" y="3262308"/>
              <a:ext cx="1024031"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느린데 전력도 높다.</a:t>
              </a:r>
            </a:p>
          </p:txBody>
        </p:sp>
        <p:sp>
          <p:nvSpPr>
            <p:cNvPr id="79" name="TextBox 78"/>
            <p:cNvSpPr txBox="1"/>
            <p:nvPr/>
          </p:nvSpPr>
          <p:spPr>
            <a:xfrm>
              <a:off x="7605893" y="3482753"/>
              <a:ext cx="1240574"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같은 실행 시간을 쓰면서</a:t>
              </a:r>
            </a:p>
          </p:txBody>
        </p:sp>
        <p:sp>
          <p:nvSpPr>
            <p:cNvPr id="80" name="TextBox 79"/>
            <p:cNvSpPr txBox="1"/>
            <p:nvPr/>
          </p:nvSpPr>
          <p:spPr>
            <a:xfrm>
              <a:off x="7605893" y="3703197"/>
              <a:ext cx="1274280"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전력만 더 태운 점들이다.</a:t>
              </a:r>
            </a:p>
          </p:txBody>
        </p:sp>
        <p:sp>
          <p:nvSpPr>
            <p:cNvPr id="81" name="Rounded Rectangle 80"/>
            <p:cNvSpPr/>
            <p:nvPr/>
          </p:nvSpPr>
          <p:spPr>
            <a:xfrm>
              <a:off x="7385448" y="4240641"/>
              <a:ext cx="3593246" cy="1300623"/>
            </a:xfrm>
            <a:prstGeom prst="roundRect">
              <a:avLst>
                <a:gd name="adj" fmla="val 7627"/>
              </a:avLst>
            </a:prstGeom>
            <a:solidFill>
              <a:srgbClr val="EEF2F7"/>
            </a:solidFill>
            <a:ln w="19840">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605893" y="4345352"/>
              <a:ext cx="1537738" cy="199502"/>
            </a:xfrm>
            <a:prstGeom prst="rect">
              <a:avLst/>
            </a:prstGeom>
            <a:noFill/>
          </p:spPr>
          <p:txBody>
            <a:bodyPr wrap="none" anchor="ctr" lIns="0" rIns="0" tIns="0" bIns="0">
              <a:noAutofit/>
            </a:bodyPr>
            <a:lstStyle/>
            <a:p>
              <a:pPr algn="l"/>
              <a:r>
                <a:rPr sz="1080" b="1">
                  <a:solidFill>
                    <a:srgbClr val="16202C"/>
                  </a:solidFill>
                  <a:latin typeface="맑은 고딕"/>
                  <a:ea typeface="맑은 고딕"/>
                  <a:cs typeface="맑은 고딕"/>
                </a:rPr>
                <a:t>점을 옮기는 것은 무엇인가</a:t>
              </a:r>
            </a:p>
          </p:txBody>
        </p:sp>
        <p:sp>
          <p:nvSpPr>
            <p:cNvPr id="83" name="TextBox 82"/>
            <p:cNvSpPr txBox="1"/>
            <p:nvPr/>
          </p:nvSpPr>
          <p:spPr>
            <a:xfrm>
              <a:off x="7605893" y="4629064"/>
              <a:ext cx="1528772"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tactic 이 다르면 fetch 순서와</a:t>
              </a:r>
            </a:p>
          </p:txBody>
        </p:sp>
        <p:sp>
          <p:nvSpPr>
            <p:cNvPr id="84" name="TextBox 83"/>
            <p:cNvSpPr txBox="1"/>
            <p:nvPr/>
          </p:nvSpPr>
          <p:spPr>
            <a:xfrm>
              <a:off x="7605893" y="4827465"/>
              <a:ext cx="1135576"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버퍼 운용이 달라진다.</a:t>
              </a:r>
            </a:p>
          </p:txBody>
        </p:sp>
        <p:sp>
          <p:nvSpPr>
            <p:cNvPr id="85" name="TextBox 84"/>
            <p:cNvSpPr txBox="1"/>
            <p:nvPr/>
          </p:nvSpPr>
          <p:spPr>
            <a:xfrm>
              <a:off x="7605893" y="5047909"/>
              <a:ext cx="1920270"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weight / input / output stationary</a:t>
              </a:r>
            </a:p>
          </p:txBody>
        </p:sp>
        <p:sp>
          <p:nvSpPr>
            <p:cNvPr id="86" name="TextBox 85"/>
            <p:cNvSpPr txBox="1"/>
            <p:nvPr/>
          </p:nvSpPr>
          <p:spPr>
            <a:xfrm>
              <a:off x="7605893" y="5246309"/>
              <a:ext cx="1747618" cy="175562"/>
            </a:xfrm>
            <a:prstGeom prst="rect">
              <a:avLst/>
            </a:prstGeom>
            <a:noFill/>
          </p:spPr>
          <p:txBody>
            <a:bodyPr wrap="none" anchor="ctr" lIns="0" rIns="0" tIns="0" bIns="0">
              <a:noAutofit/>
            </a:bodyPr>
            <a:lstStyle/>
            <a:p>
              <a:pPr algn="l"/>
              <a:r>
                <a:rPr sz="950" b="0">
                  <a:solidFill>
                    <a:srgbClr val="16202C"/>
                  </a:solidFill>
                  <a:latin typeface="맑은 고딕"/>
                  <a:ea typeface="맑은 고딕"/>
                  <a:cs typeface="맑은 고딕"/>
                </a:rPr>
                <a:t>중 어느 재사용을 쓰는지가 갈린다.</a:t>
              </a:r>
            </a:p>
          </p:txBody>
        </p:sp>
      </p:grpSp>
      <p:sp>
        <p:nvSpPr>
          <p:cNvPr id="87" name="Rectangle 86"/>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열등한 tactic 은 느리기만 한 것이 아니라, 같은 시간을 쓰면서 전력을 더 태운다.</a:t>
            </a:r>
          </a:p>
        </p:txBody>
      </p:sp>
      <p:sp>
        <p:nvSpPr>
          <p:cNvPr id="88" name="Rectangle 87"/>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14 — 점의 위치가 뜻하는 것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연산, 같은 하드웨어. tactic 만 바꾼 결과다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238</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이 그림은 attention 레이어 하나를 여러 tactic 으로 실행한 결과다. 모델 전체가 아니다.</a:t>
            </a:r>
          </a:p>
          <a:p>
            <a:pPr algn="l">
              <a:lnSpc>
                <a:spcPct val="118000"/>
              </a:lnSpc>
              <a:spcBef>
                <a:spcPts val="600"/>
              </a:spcBef>
              <a:spcAft>
                <a:spcPts val="200"/>
              </a:spcAft>
            </a:pPr>
            <a:r>
              <a:rPr sz="1900" b="1" i="0">
                <a:solidFill>
                  <a:srgbClr val="083F80"/>
                </a:solidFill>
                <a:latin typeface="Segoe UI"/>
                <a:ea typeface="맑은 고딕"/>
                <a:cs typeface="맑은 고딕"/>
              </a:rPr>
              <a:t>▪  전력은 실측이 아니라 Synopsys SpyGlass 와 TSMC 라이브러리를 이용한 추정값이다.</a:t>
            </a:r>
          </a:p>
          <a:p>
            <a:pPr algn="l">
              <a:lnSpc>
                <a:spcPct val="118000"/>
              </a:lnSpc>
              <a:spcBef>
                <a:spcPts val="600"/>
              </a:spcBef>
              <a:spcAft>
                <a:spcPts val="200"/>
              </a:spcAft>
            </a:pPr>
            <a:r>
              <a:rPr sz="1900" b="0" i="0">
                <a:solidFill>
                  <a:srgbClr val="16202C"/>
                </a:solidFill>
                <a:latin typeface="Segoe UI"/>
                <a:ea typeface="맑은 고딕"/>
                <a:cs typeface="맑은 고딕"/>
              </a:rPr>
              <a:t>▪  점 하나는 tactic 하나가 아니라 입력·출력 텐서의 lowered shape 과 tactic 의 조합 하나다.</a:t>
            </a:r>
          </a:p>
          <a:p>
            <a:pPr algn="l">
              <a:lnSpc>
                <a:spcPct val="118000"/>
              </a:lnSpc>
              <a:spcBef>
                <a:spcPts val="600"/>
              </a:spcBef>
              <a:spcAft>
                <a:spcPts val="200"/>
              </a:spcAft>
            </a:pPr>
            <a:r>
              <a:rPr sz="1900" b="0" i="0">
                <a:solidFill>
                  <a:srgbClr val="16202C"/>
                </a:solidFill>
                <a:latin typeface="Segoe UI"/>
                <a:ea typeface="맑은 고딕"/>
                <a:cs typeface="맑은 고딕"/>
              </a:rPr>
              <a:t>▪  각 점의 정확한 좌표는 논문에 없다. 축 눈금으로 읽으면 Opt. 1 은 20 µs대·160 mW 부근, Ineff. 3 은 260 µs 부근·130 mW대다.</a:t>
            </a:r>
          </a:p>
          <a:p>
            <a:pPr algn="l">
              <a:lnSpc>
                <a:spcPct val="118000"/>
              </a:lnSpc>
              <a:spcBef>
                <a:spcPts val="600"/>
              </a:spcBef>
              <a:spcAft>
                <a:spcPts val="200"/>
              </a:spcAft>
            </a:pPr>
            <a:r>
              <a:rPr sz="1900" b="1" i="0">
                <a:solidFill>
                  <a:srgbClr val="083F80"/>
                </a:solidFill>
                <a:latin typeface="Segoe UI"/>
                <a:ea typeface="맑은 고딕"/>
                <a:cs typeface="맑은 고딕"/>
              </a:rPr>
              <a:t>▪  컴파일러의 목표 함수는 하나가 아니다. 성능이 중요하면 Opt. 1, 피크 전력 제약이 빡빡하면 Opt. 2·3 을 고른다. TDP 150 W 공랭 설계라 후자가 실제로 필요하다.</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14 — 컴파일러는 어느 점을 고르나</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성능이 중요한 시스템: 컴파일러는 가장 성능이 높은 tactic, 즉 그림의 왼쪽 위 점인 Opt. 1을 고른다.</a:t>
            </a:r>
          </a:p>
          <a:p>
            <a:pPr algn="l">
              <a:lnSpc>
                <a:spcPct val="118000"/>
              </a:lnSpc>
              <a:spcBef>
                <a:spcPts val="600"/>
              </a:spcBef>
              <a:spcAft>
                <a:spcPts val="200"/>
              </a:spcAft>
            </a:pPr>
            <a:r>
              <a:rPr sz="1700" b="1" i="0">
                <a:solidFill>
                  <a:srgbClr val="083F80"/>
                </a:solidFill>
                <a:latin typeface="Segoe UI"/>
                <a:ea typeface="맑은 고딕"/>
                <a:cs typeface="맑은 고딕"/>
              </a:rPr>
              <a:t>▪  피크 전력 제약이 빡빡한 시스템: 더 낮은 전력의 tactic이 필요할 수 있다. 예를 들어 Opt. 2나 Opt. 3이다.</a:t>
            </a:r>
          </a:p>
          <a:p>
            <a:pPr algn="l">
              <a:lnSpc>
                <a:spcPct val="118000"/>
              </a:lnSpc>
              <a:spcBef>
                <a:spcPts val="200"/>
              </a:spcBef>
              <a:spcAft>
                <a:spcPts val="100"/>
              </a:spcAft>
            </a:pPr>
            <a:r>
              <a:rPr sz="1580" b="0" i="0">
                <a:solidFill>
                  <a:srgbClr val="2C3A4B"/>
                </a:solidFill>
                <a:latin typeface="Segoe UI"/>
                <a:ea typeface="맑은 고딕"/>
                <a:cs typeface="맑은 고딕"/>
              </a:rPr>
              <a:t>–  TCP는 TDP 150 W로 설계된 칩이다. 공랭 환경에서 밀집 배치하려면 피크 전력을 지키는 것이 절대 조건이다.</a:t>
            </a:r>
          </a:p>
          <a:p>
            <a:pPr algn="l">
              <a:lnSpc>
                <a:spcPct val="118000"/>
              </a:lnSpc>
              <a:spcBef>
                <a:spcPts val="600"/>
              </a:spcBef>
              <a:spcAft>
                <a:spcPts val="200"/>
              </a:spcAft>
            </a:pPr>
            <a:r>
              <a:rPr sz="1700" b="1" i="0">
                <a:solidFill>
                  <a:srgbClr val="083F80"/>
                </a:solidFill>
                <a:latin typeface="Segoe UI"/>
                <a:ea typeface="맑은 고딕"/>
                <a:cs typeface="맑은 고딕"/>
              </a:rPr>
              <a:t>▪  즉 컴파일러의 목표 함수는 하나가 아니다. 시스템의 제약에 따라 같은 연산에도 다른 점을 선택한다.</a:t>
            </a:r>
          </a:p>
          <a:p>
            <a:pPr algn="l">
              <a:lnSpc>
                <a:spcPct val="118000"/>
              </a:lnSpc>
              <a:spcBef>
                <a:spcPts val="600"/>
              </a:spcBef>
              <a:spcAft>
                <a:spcPts val="200"/>
              </a:spcAft>
            </a:pPr>
            <a:r>
              <a:rPr sz="1700" b="1" i="0">
                <a:solidFill>
                  <a:srgbClr val="083F80"/>
                </a:solidFill>
                <a:latin typeface="Segoe UI"/>
                <a:ea typeface="맑은 고딕"/>
                <a:cs typeface="맑은 고딕"/>
              </a:rPr>
              <a:t>▪  이것이 논문이 반복해서 강조하는 "정확한 비용 모델(cost model)"의 존재 이유다. 연산 유닛이 소프트웨어가 정한 대로 결정론적으로 동작하기 때문에 성능과 에너지를 미리 예측할 수 있다.</a:t>
            </a:r>
          </a:p>
          <a:p>
            <a:pPr algn="l">
              <a:lnSpc>
                <a:spcPct val="118000"/>
              </a:lnSpc>
              <a:spcBef>
                <a:spcPts val="600"/>
              </a:spcBef>
              <a:spcAft>
                <a:spcPts val="200"/>
              </a:spcAft>
            </a:pPr>
            <a:r>
              <a:rPr sz="1700" b="0" i="0">
                <a:solidFill>
                  <a:srgbClr val="16202C"/>
                </a:solidFill>
                <a:latin typeface="Segoe UI"/>
                <a:ea typeface="맑은 고딕"/>
                <a:cs typeface="맑은 고딕"/>
              </a:rPr>
              <a:t>▪  이 그림 자체가 탐색 공간이 얼마나 넓은지에 대한 증거이기도 하다. 라벨 없는 점들까지 세면 수십 개의 후보가 한 연산에 존재한다.</a:t>
            </a:r>
          </a:p>
          <a:p>
            <a:pPr algn="l">
              <a:lnSpc>
                <a:spcPct val="118000"/>
              </a:lnSpc>
              <a:spcBef>
                <a:spcPts val="200"/>
              </a:spcBef>
              <a:spcAft>
                <a:spcPts val="100"/>
              </a:spcAft>
            </a:pPr>
            <a:r>
              <a:rPr sz="1580" b="0" i="0">
                <a:solidFill>
                  <a:srgbClr val="2C3A4B"/>
                </a:solidFill>
                <a:latin typeface="Segoe UI"/>
                <a:ea typeface="맑은 고딕"/>
                <a:cs typeface="맑은 고딕"/>
              </a:rPr>
              <a:t>–  논문은 VII절에서 "Fig. 14에서 보인 것처럼 수많은 tactic을 탐색할 때 성능 추정기가 의미 있는 tactic으로 범위를 좁히는 데 실질적으로 기여한다"고 밝힌다.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결정론적 하드웨어 → 정확한 비용 모델 → 제약에 맞는 tactic 자동 선택. 이 사슬이 TCP 소프트웨어의 뼈대다.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15 — 슬라이스 전력 분해: 좋은 tactic과 나쁜 tactic</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240</a:t>
            </a:r>
          </a:p>
        </p:txBody>
      </p:sp>
      <p:pic>
        <p:nvPicPr>
          <p:cNvPr id="8" name="Picture 7" descr="isca_fig15.png"/>
          <p:cNvPicPr>
            <a:picLocks noChangeAspect="1"/>
          </p:cNvPicPr>
          <p:nvPr/>
        </p:nvPicPr>
        <p:blipFill>
          <a:blip r:embed="rId2"/>
          <a:stretch>
            <a:fillRect/>
          </a:stretch>
        </p:blipFill>
        <p:spPr>
          <a:xfrm>
            <a:off x="566928" y="1517904"/>
            <a:ext cx="5971233" cy="2631766"/>
          </a:xfrm>
          <a:prstGeom prst="rect">
            <a:avLst/>
          </a:prstGeom>
        </p:spPr>
      </p:pic>
      <p:sp>
        <p:nvSpPr>
          <p:cNvPr id="9" name="Rectangle 8"/>
          <p:cNvSpPr/>
          <p:nvPr/>
        </p:nvSpPr>
        <p:spPr>
          <a:xfrm>
            <a:off x="566928" y="1517904"/>
            <a:ext cx="5971233" cy="2631766"/>
          </a:xfrm>
          <a:prstGeom prst="rect">
            <a:avLst/>
          </a:prstGeom>
          <a:no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566928" y="4177102"/>
            <a:ext cx="5971233" cy="219456"/>
          </a:xfrm>
          <a:prstGeom prst="rect">
            <a:avLst/>
          </a:prstGeom>
          <a:noFill/>
        </p:spPr>
        <p:txBody>
          <a:bodyPr wrap="square" anchor="t" lIns="0" rIns="0" tIns="0" bIns="0">
            <a:spAutoFit/>
          </a:bodyPr>
          <a:lstStyle/>
          <a:p>
            <a:pPr algn="l">
              <a:lnSpc>
                <a:spcPct val="118000"/>
              </a:lnSpc>
              <a:spcBef>
                <a:spcPts val="0"/>
              </a:spcBef>
              <a:spcAft>
                <a:spcPts val="0"/>
              </a:spcAft>
            </a:pPr>
            <a:r>
              <a:rPr sz="1000" b="0" i="0">
                <a:solidFill>
                  <a:srgbClr val="5B6B7B"/>
                </a:solidFill>
                <a:latin typeface="Segoe UI"/>
                <a:ea typeface="맑은 고딕"/>
                <a:cs typeface="맑은 고딕"/>
              </a:rPr>
              <a:t>출처: Fig. 15 — TCP: A Tensor Contraction Processor for AI Workloads (ISCA 2024)</a:t>
            </a:r>
          </a:p>
        </p:txBody>
      </p:sp>
      <p:sp>
        <p:nvSpPr>
          <p:cNvPr id="11" name="TextBox 10"/>
          <p:cNvSpPr txBox="1"/>
          <p:nvPr/>
        </p:nvSpPr>
        <p:spPr>
          <a:xfrm>
            <a:off x="6812481" y="1517904"/>
            <a:ext cx="4812286" cy="4041648"/>
          </a:xfrm>
          <a:prstGeom prst="rect">
            <a:avLst/>
          </a:prstGeom>
          <a:noFill/>
        </p:spPr>
        <p:txBody>
          <a:bodyPr wrap="square" anchor="t" lIns="0" rIns="0" tIns="0" bIns="0">
            <a:spAutoFit/>
          </a:bodyPr>
          <a:lstStyle/>
          <a:p>
            <a:pPr algn="l">
              <a:lnSpc>
                <a:spcPct val="118000"/>
              </a:lnSpc>
              <a:spcBef>
                <a:spcPts val="200"/>
              </a:spcBef>
              <a:spcAft>
                <a:spcPts val="200"/>
              </a:spcAft>
            </a:pPr>
            <a:r>
              <a:rPr sz="1200" b="1" i="0">
                <a:solidFill>
                  <a:srgbClr val="083F80"/>
                </a:solidFill>
                <a:latin typeface="Segoe UI"/>
                <a:ea typeface="맑은 고딕"/>
                <a:cs typeface="맑은 고딕"/>
              </a:rPr>
              <a:t>▪  Fig. 14의 여섯 점을 골라 전력을 구성 요소별로 쪼갠 그림이다.</a:t>
            </a:r>
          </a:p>
          <a:p>
            <a:pPr algn="l">
              <a:lnSpc>
                <a:spcPct val="118000"/>
              </a:lnSpc>
              <a:spcBef>
                <a:spcPts val="200"/>
              </a:spcBef>
              <a:spcAft>
                <a:spcPts val="100"/>
              </a:spcAft>
            </a:pPr>
            <a:r>
              <a:rPr sz="1080" b="0" i="0">
                <a:solidFill>
                  <a:srgbClr val="2C3A4B"/>
                </a:solidFill>
                <a:latin typeface="Segoe UI"/>
                <a:ea typeface="맑은 고딕"/>
                <a:cs typeface="맑은 고딕"/>
              </a:rPr>
              <a:t>–  Opt. 1, 2, 3은 각자의 성능 구간에서 가장 전력 효율이 좋은 tactic이다.</a:t>
            </a:r>
          </a:p>
          <a:p>
            <a:pPr algn="l">
              <a:lnSpc>
                <a:spcPct val="118000"/>
              </a:lnSpc>
              <a:spcBef>
                <a:spcPts val="200"/>
              </a:spcBef>
              <a:spcAft>
                <a:spcPts val="100"/>
              </a:spcAft>
            </a:pPr>
            <a:r>
              <a:rPr sz="1080" b="0" i="0">
                <a:solidFill>
                  <a:srgbClr val="2C3A4B"/>
                </a:solidFill>
                <a:latin typeface="Segoe UI"/>
                <a:ea typeface="맑은 고딕"/>
                <a:cs typeface="맑은 고딕"/>
              </a:rPr>
              <a:t>–  Ineff. 1, 2, 3은 가장 효율이 나쁜 tactic이다.</a:t>
            </a:r>
          </a:p>
          <a:p>
            <a:pPr algn="l">
              <a:lnSpc>
                <a:spcPct val="118000"/>
              </a:lnSpc>
              <a:spcBef>
                <a:spcPts val="600"/>
              </a:spcBef>
              <a:spcAft>
                <a:spcPts val="200"/>
              </a:spcAft>
            </a:pPr>
            <a:r>
              <a:rPr sz="1200" b="1" i="0">
                <a:solidFill>
                  <a:srgbClr val="083F80"/>
                </a:solidFill>
                <a:latin typeface="Segoe UI"/>
                <a:ea typeface="맑은 고딕"/>
                <a:cs typeface="맑은 고딕"/>
              </a:rPr>
              <a:t>▪  x축의 배열 순서가 의미를 담고 있다: Opt. 1, Ineff. 1, Opt. 2, Ineff. 2, Opt. 3, Ineff. 3</a:t>
            </a:r>
          </a:p>
          <a:p>
            <a:pPr algn="l">
              <a:lnSpc>
                <a:spcPct val="118000"/>
              </a:lnSpc>
              <a:spcBef>
                <a:spcPts val="600"/>
              </a:spcBef>
              <a:spcAft>
                <a:spcPts val="200"/>
              </a:spcAft>
            </a:pPr>
            <a:r>
              <a:rPr sz="1200" b="1" i="0">
                <a:solidFill>
                  <a:srgbClr val="083F80"/>
                </a:solidFill>
                <a:latin typeface="Segoe UI"/>
                <a:ea typeface="맑은 고딕"/>
                <a:cs typeface="맑은 고딕"/>
              </a:rPr>
              <a:t>▪  왼쪽 y축은 슬라이스 전력(Slice Power, mW, 0~180)이고, 막대는 그 값을 쌓아 올린 누적 막대다.</a:t>
            </a:r>
          </a:p>
          <a:p>
            <a:pPr algn="l">
              <a:lnSpc>
                <a:spcPct val="118000"/>
              </a:lnSpc>
              <a:spcBef>
                <a:spcPts val="600"/>
              </a:spcBef>
              <a:spcAft>
                <a:spcPts val="200"/>
              </a:spcAft>
            </a:pPr>
            <a:r>
              <a:rPr sz="1200" b="1" i="0">
                <a:solidFill>
                  <a:srgbClr val="083F80"/>
                </a:solidFill>
                <a:latin typeface="Segoe UI"/>
                <a:ea typeface="맑은 고딕"/>
                <a:cs typeface="맑은 고딕"/>
              </a:rPr>
              <a:t>▪  오른쪽 y축은 실행 시간(Execution Time, µs, 0~300)이고, 검은 점선이 각 tactic의 실행 시간을 잇는다.</a:t>
            </a:r>
          </a:p>
          <a:p>
            <a:pPr algn="l">
              <a:lnSpc>
                <a:spcPct val="118000"/>
              </a:lnSpc>
              <a:spcBef>
                <a:spcPts val="600"/>
              </a:spcBef>
              <a:spcAft>
                <a:spcPts val="200"/>
              </a:spcAft>
            </a:pPr>
            <a:r>
              <a:rPr sz="1200" b="0" i="0">
                <a:solidFill>
                  <a:srgbClr val="16202C"/>
                </a:solidFill>
                <a:latin typeface="Segoe UI"/>
                <a:ea typeface="맑은 고딕"/>
                <a:cs typeface="맑은 고딕"/>
              </a:rPr>
              <a:t>▪  범례의 8개 구성 요소: Dot-Product Engine(DPE, 내적 엔진), Register File(레지스터 파일), Accumulation Unit(누산 유닛), Vector Engine(벡터 엔진), Data Memory(데이터 메모리), Feed Unit(피드 유닛), Fetch Unit(페치 유닛), Others(기타)</a:t>
            </a:r>
          </a:p>
          <a:p>
            <a:pPr algn="l">
              <a:lnSpc>
                <a:spcPct val="118000"/>
              </a:lnSpc>
              <a:spcBef>
                <a:spcPts val="600"/>
              </a:spcBef>
              <a:spcAft>
                <a:spcPts val="200"/>
              </a:spcAft>
            </a:pPr>
            <a:r>
              <a:rPr sz="1200" b="0" i="0">
                <a:solidFill>
                  <a:srgbClr val="16202C"/>
                </a:solidFill>
                <a:latin typeface="Segoe UI"/>
                <a:ea typeface="맑은 고딕"/>
                <a:cs typeface="맑은 고딕"/>
              </a:rPr>
              <a:t>▪  각 조각의 정확한 mW 값은 논문 본문에 없다. 막대 눈금으로 읽는 수밖에 없다.</a:t>
            </a:r>
          </a:p>
        </p:txBody>
      </p:sp>
      <p:sp>
        <p:nvSpPr>
          <p:cNvPr id="12" name="Rectangle 11"/>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막대 높이(전력)와 점선 높이(시간)를 같이 봐야 한다. 어느 하나만 보면 결론이 뒤집힌다.</a:t>
            </a:r>
          </a:p>
        </p:txBody>
      </p:sp>
      <p:sp>
        <p:nvSpPr>
          <p:cNvPr id="13" name="Rectangle 12"/>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Fig. 15 해석 (1) — 실행 시간이 같은 짝끼리 비교하라</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241</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논문의 첫 번째 발견: 효율적인 tactic은 실행 시간이 같은 비효율적 tactic보다 DPE 전력을 덜 쓴다.</a:t>
            </a:r>
          </a:p>
          <a:p>
            <a:pPr algn="l">
              <a:lnSpc>
                <a:spcPct val="118000"/>
              </a:lnSpc>
              <a:spcBef>
                <a:spcPts val="600"/>
              </a:spcBef>
              <a:spcAft>
                <a:spcPts val="200"/>
              </a:spcAft>
            </a:pPr>
            <a:r>
              <a:rPr sz="1700" b="1" i="0">
                <a:solidFill>
                  <a:srgbClr val="083F80"/>
                </a:solidFill>
                <a:latin typeface="Segoe UI"/>
                <a:ea typeface="맑은 고딕"/>
                <a:cs typeface="맑은 고딕"/>
              </a:rPr>
              <a:t>▪  검은 점선을 보면 짝이 보인다. Ineff. 1과 Opt. 2의 실행 시간이 같은 높이이고, Ineff. 2와 Opt. 3의 실행 시간도 같은 높이다.</a:t>
            </a:r>
          </a:p>
          <a:p>
            <a:pPr algn="l">
              <a:lnSpc>
                <a:spcPct val="118000"/>
              </a:lnSpc>
              <a:spcBef>
                <a:spcPts val="200"/>
              </a:spcBef>
              <a:spcAft>
                <a:spcPts val="100"/>
              </a:spcAft>
            </a:pPr>
            <a:r>
              <a:rPr sz="1580" b="0" i="0">
                <a:solidFill>
                  <a:srgbClr val="2C3A4B"/>
                </a:solidFill>
                <a:latin typeface="Segoe UI"/>
                <a:ea typeface="맑은 고딕"/>
                <a:cs typeface="맑은 고딕"/>
              </a:rPr>
              <a:t>–  같은 시간이 걸리는데 파란 조각(DPE)의 크기가 확연히 다르다. Ineff. 쪽이 훨씬 크다.</a:t>
            </a:r>
          </a:p>
          <a:p>
            <a:pPr algn="l">
              <a:lnSpc>
                <a:spcPct val="118000"/>
              </a:lnSpc>
              <a:spcBef>
                <a:spcPts val="200"/>
              </a:spcBef>
              <a:spcAft>
                <a:spcPts val="100"/>
              </a:spcAft>
            </a:pPr>
            <a:r>
              <a:rPr sz="1580" b="0" i="0">
                <a:solidFill>
                  <a:srgbClr val="2C3A4B"/>
                </a:solidFill>
                <a:latin typeface="Segoe UI"/>
                <a:ea typeface="맑은 고딕"/>
                <a:cs typeface="맑은 고딕"/>
              </a:rPr>
              <a:t>–  즉 비효율 tactic은 더 많은 DPE 전력을 태우고도 같은 시간을 쓴다. 태운 전력이 유용한 연산으로 이어지지 않았다는 뜻이다.</a:t>
            </a:r>
          </a:p>
          <a:p>
            <a:pPr algn="l">
              <a:lnSpc>
                <a:spcPct val="118000"/>
              </a:lnSpc>
              <a:spcBef>
                <a:spcPts val="600"/>
              </a:spcBef>
              <a:spcAft>
                <a:spcPts val="200"/>
              </a:spcAft>
            </a:pPr>
            <a:r>
              <a:rPr sz="1700" b="1" i="0">
                <a:solidFill>
                  <a:srgbClr val="083F80"/>
                </a:solidFill>
                <a:latin typeface="Segoe UI"/>
                <a:ea typeface="맑은 고딕"/>
                <a:cs typeface="맑은 고딕"/>
              </a:rPr>
              <a:t>▪  직관적 해석: DPE가 켜져 있는 것과 DPE가 유용하게 일하는 것은 다르다.</a:t>
            </a:r>
          </a:p>
          <a:p>
            <a:pPr algn="l">
              <a:lnSpc>
                <a:spcPct val="118000"/>
              </a:lnSpc>
              <a:spcBef>
                <a:spcPts val="200"/>
              </a:spcBef>
              <a:spcAft>
                <a:spcPts val="100"/>
              </a:spcAft>
            </a:pPr>
            <a:r>
              <a:rPr sz="1580" b="0" i="0">
                <a:solidFill>
                  <a:srgbClr val="2C3A4B"/>
                </a:solidFill>
                <a:latin typeface="Segoe UI"/>
                <a:ea typeface="맑은 고딕"/>
                <a:cs typeface="맑은 고딕"/>
              </a:rPr>
              <a:t>–  병렬성이 낮으면 같은 연산을 더 긴 시간에 걸쳐, 더 많은 토글을 일으키며 흘려보낸다.</a:t>
            </a:r>
          </a:p>
          <a:p>
            <a:pPr algn="l">
              <a:lnSpc>
                <a:spcPct val="118000"/>
              </a:lnSpc>
              <a:spcBef>
                <a:spcPts val="600"/>
              </a:spcBef>
              <a:spcAft>
                <a:spcPts val="200"/>
              </a:spcAft>
            </a:pPr>
            <a:r>
              <a:rPr sz="1700" b="0" i="0">
                <a:solidFill>
                  <a:srgbClr val="16202C"/>
                </a:solidFill>
                <a:latin typeface="Segoe UI"/>
                <a:ea typeface="맑은 고딕"/>
                <a:cs typeface="맑은 고딕"/>
              </a:rPr>
              <a:t>▪  극단적 대비: Ineff. 3은 실행 시간이 가장 긴데(점선 최고점) 전력도 낮지 않다. 시간과 전력 양쪽에서 최악이다.</a:t>
            </a:r>
          </a:p>
          <a:p>
            <a:pPr algn="l">
              <a:lnSpc>
                <a:spcPct val="118000"/>
              </a:lnSpc>
              <a:spcBef>
                <a:spcPts val="600"/>
              </a:spcBef>
              <a:spcAft>
                <a:spcPts val="200"/>
              </a:spcAft>
            </a:pPr>
            <a:r>
              <a:rPr sz="1700" b="0" i="0">
                <a:solidFill>
                  <a:srgbClr val="16202C"/>
                </a:solidFill>
                <a:latin typeface="Segoe UI"/>
                <a:ea typeface="맑은 고딕"/>
                <a:cs typeface="맑은 고딕"/>
              </a:rPr>
              <a:t>▪  반대로 Opt. 3은 실행 시간이 Ineff. 2와 같으면서 총 전력이 여섯 중 가장 낮다. 저전력 제약 시스템이 고를 점이다.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"DPE 전력이 높다 = 열심히 일한다"가 아니다. 시간을 고정하고 비교해야 진짜 효율이 보인다.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Fig. 15 해석 (2) — 8개 DPE 를 다 쓰느냐</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공급은 양쪽 다 충분하다. 소화하는 쪽이 다르다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242</a:t>
            </a:r>
          </a:p>
        </p:txBody>
      </p:sp>
      <p:grpSp>
        <p:nvGrpSpPr>
          <p:cNvPr id="9" name="도해 A8#23"/>
          <p:cNvGrpSpPr/>
          <p:nvPr/>
        </p:nvGrpSpPr>
        <p:grpSpPr>
          <a:xfrm>
            <a:off x="1483099" y="1463040"/>
            <a:ext cx="9225497" cy="4078224"/>
            <a:chOff x="1483099" y="1463040"/>
            <a:chExt cx="9225497" cy="4078224"/>
          </a:xfrm>
        </p:grpSpPr>
        <p:sp>
          <p:nvSpPr>
            <p:cNvPr id="10" name="Rounded Rectangle 9"/>
            <p:cNvSpPr/>
            <p:nvPr/>
          </p:nvSpPr>
          <p:spPr>
            <a:xfrm>
              <a:off x="1483099" y="1463040"/>
              <a:ext cx="9225497" cy="1484790"/>
            </a:xfrm>
            <a:prstGeom prst="roundRect">
              <a:avLst>
                <a:gd name="adj" fmla="val 6666"/>
              </a:avLst>
            </a:prstGeom>
            <a:solidFill>
              <a:srgbClr val="F4F8FD"/>
            </a:solidFill>
            <a:ln w="1979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1071" y="1565392"/>
              <a:ext cx="3440467" cy="193498"/>
            </a:xfrm>
            <a:prstGeom prst="rect">
              <a:avLst/>
            </a:prstGeom>
            <a:noFill/>
          </p:spPr>
          <p:txBody>
            <a:bodyPr wrap="none" anchor="ctr" lIns="0" rIns="0" tIns="0" bIns="0">
              <a:noAutofit/>
            </a:bodyPr>
            <a:lstStyle/>
            <a:p>
              <a:pPr algn="l"/>
              <a:r>
                <a:rPr sz="1050" b="1">
                  <a:solidFill>
                    <a:srgbClr val="083F80"/>
                  </a:solidFill>
                  <a:latin typeface="맑은 고딕"/>
                  <a:ea typeface="맑은 고딕"/>
                  <a:cs typeface="맑은 고딕"/>
                </a:rPr>
                <a:t>최적 케이스 (Opt. 1 · 2 · 3) — 8개 DPE 를 전부 병렬로 쓴다</a:t>
              </a:r>
            </a:p>
          </p:txBody>
        </p:sp>
        <p:sp>
          <p:nvSpPr>
            <p:cNvPr id="12" name="Rounded Rectangle 11"/>
            <p:cNvSpPr/>
            <p:nvPr/>
          </p:nvSpPr>
          <p:spPr>
            <a:xfrm>
              <a:off x="1681071" y="1839187"/>
              <a:ext cx="1168035" cy="970063"/>
            </a:xfrm>
            <a:prstGeom prst="roundRect">
              <a:avLst>
                <a:gd name="adj" fmla="val 7142"/>
              </a:avLst>
            </a:prstGeom>
            <a:solidFill>
              <a:srgbClr val="E2F4E8"/>
            </a:solidFill>
            <a:ln w="17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57452" y="1964503"/>
              <a:ext cx="615272" cy="164832"/>
            </a:xfrm>
            <a:prstGeom prst="rect">
              <a:avLst/>
            </a:prstGeom>
            <a:noFill/>
          </p:spPr>
          <p:txBody>
            <a:bodyPr wrap="none" anchor="ctr" lIns="0" rIns="0" tIns="0" bIns="0">
              <a:noAutofit/>
            </a:bodyPr>
            <a:lstStyle/>
            <a:p>
              <a:pPr algn="ctr"/>
              <a:r>
                <a:rPr sz="900" b="1">
                  <a:solidFill>
                    <a:srgbClr val="1A7F37"/>
                  </a:solidFill>
                  <a:latin typeface="맑은 고딕"/>
                  <a:ea typeface="맑은 고딕"/>
                  <a:cs typeface="맑은 고딕"/>
                </a:rPr>
                <a:t>Fetch Unit</a:t>
              </a:r>
            </a:p>
          </p:txBody>
        </p:sp>
        <p:sp>
          <p:nvSpPr>
            <p:cNvPr id="14" name="TextBox 13"/>
            <p:cNvSpPr txBox="1"/>
            <p:nvPr/>
          </p:nvSpPr>
          <p:spPr>
            <a:xfrm>
              <a:off x="1965359" y="2159902"/>
              <a:ext cx="599459" cy="143332"/>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 Feed Unit</a:t>
              </a:r>
            </a:p>
          </p:txBody>
        </p:sp>
        <p:sp>
          <p:nvSpPr>
            <p:cNvPr id="15" name="TextBox 14"/>
            <p:cNvSpPr txBox="1"/>
            <p:nvPr/>
          </p:nvSpPr>
          <p:spPr>
            <a:xfrm>
              <a:off x="2008517" y="2397468"/>
              <a:ext cx="513144" cy="143332"/>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데이터 공급</a:t>
              </a:r>
            </a:p>
          </p:txBody>
        </p:sp>
        <p:sp>
          <p:nvSpPr>
            <p:cNvPr id="16" name="TextBox 15"/>
            <p:cNvSpPr txBox="1"/>
            <p:nvPr/>
          </p:nvSpPr>
          <p:spPr>
            <a:xfrm>
              <a:off x="2139871" y="2578216"/>
              <a:ext cx="250435" cy="164832"/>
            </a:xfrm>
            <a:prstGeom prst="rect">
              <a:avLst/>
            </a:prstGeom>
            <a:noFill/>
          </p:spPr>
          <p:txBody>
            <a:bodyPr wrap="none" anchor="ctr" lIns="0" rIns="0" tIns="0" bIns="0">
              <a:noAutofit/>
            </a:bodyPr>
            <a:lstStyle/>
            <a:p>
              <a:pPr algn="ctr"/>
              <a:r>
                <a:rPr sz="900" b="1">
                  <a:solidFill>
                    <a:srgbClr val="1A7F37"/>
                  </a:solidFill>
                  <a:latin typeface="맑은 고딕"/>
                  <a:ea typeface="맑은 고딕"/>
                  <a:cs typeface="맑은 고딕"/>
                </a:rPr>
                <a:t>충분</a:t>
              </a:r>
            </a:p>
          </p:txBody>
        </p:sp>
        <p:cxnSp>
          <p:nvCxnSpPr>
            <p:cNvPr id="17" name="Connector 16"/>
            <p:cNvCxnSpPr/>
            <p:nvPr/>
          </p:nvCxnSpPr>
          <p:spPr>
            <a:xfrm>
              <a:off x="2888700" y="2037159"/>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3047078" y="1977767"/>
              <a:ext cx="158378" cy="118784"/>
            </a:xfrm>
            <a:custGeom>
              <a:avLst/>
              <a:gdLst/>
              <a:ahLst/>
              <a:cxnLst/>
              <a:rect l="l" t="t" r="r" b="b"/>
              <a:pathLst>
                <a:path w="158378" h="118784">
                  <a:moveTo>
                    <a:pt x="0" y="0"/>
                  </a:moveTo>
                  <a:lnTo>
                    <a:pt x="158378" y="59392"/>
                  </a:lnTo>
                  <a:lnTo>
                    <a:pt x="0" y="118784"/>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888700" y="2324218"/>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047078" y="2264827"/>
              <a:ext cx="158378" cy="118783"/>
            </a:xfrm>
            <a:custGeom>
              <a:avLst/>
              <a:gdLst/>
              <a:ahLst/>
              <a:cxnLst/>
              <a:rect l="l" t="t" r="r" b="b"/>
              <a:pathLst>
                <a:path w="158378" h="118783">
                  <a:moveTo>
                    <a:pt x="0" y="0"/>
                  </a:moveTo>
                  <a:lnTo>
                    <a:pt x="158378" y="59391"/>
                  </a:lnTo>
                  <a:lnTo>
                    <a:pt x="0" y="118783"/>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888700" y="2611278"/>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22" name="Freeform 21"/>
            <p:cNvSpPr/>
            <p:nvPr/>
          </p:nvSpPr>
          <p:spPr>
            <a:xfrm>
              <a:off x="3047078" y="2551886"/>
              <a:ext cx="158378" cy="118783"/>
            </a:xfrm>
            <a:custGeom>
              <a:avLst/>
              <a:gdLst/>
              <a:ahLst/>
              <a:cxnLst/>
              <a:rect l="l" t="t" r="r" b="b"/>
              <a:pathLst>
                <a:path w="158378" h="118783">
                  <a:moveTo>
                    <a:pt x="0" y="0"/>
                  </a:moveTo>
                  <a:lnTo>
                    <a:pt x="158378" y="59392"/>
                  </a:lnTo>
                  <a:lnTo>
                    <a:pt x="0" y="118783"/>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264847" y="1839187"/>
              <a:ext cx="7305168" cy="970063"/>
            </a:xfrm>
            <a:prstGeom prst="roundRect">
              <a:avLst>
                <a:gd name="adj" fmla="val 8163"/>
              </a:avLst>
            </a:prstGeom>
            <a:solidFill>
              <a:srgbClr val="DCEBF9"/>
            </a:solidFill>
            <a:ln w="17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53986" y="1924909"/>
              <a:ext cx="2726892" cy="164832"/>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CE — Contraction Engine (컨트랙션 엔진) · DPE 8개</a:t>
              </a:r>
            </a:p>
          </p:txBody>
        </p:sp>
        <p:sp>
          <p:nvSpPr>
            <p:cNvPr id="25" name="Rounded Rectangle 24"/>
            <p:cNvSpPr/>
            <p:nvPr/>
          </p:nvSpPr>
          <p:spPr>
            <a:xfrm>
              <a:off x="3482617"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53694"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24771"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095848"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66924"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838001"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709078"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0155" y="2175739"/>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52032"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4" name="TextBox 33"/>
            <p:cNvSpPr txBox="1"/>
            <p:nvPr/>
          </p:nvSpPr>
          <p:spPr>
            <a:xfrm>
              <a:off x="4623109"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5" name="TextBox 34"/>
            <p:cNvSpPr txBox="1"/>
            <p:nvPr/>
          </p:nvSpPr>
          <p:spPr>
            <a:xfrm>
              <a:off x="5494186"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6" name="TextBox 35"/>
            <p:cNvSpPr txBox="1"/>
            <p:nvPr/>
          </p:nvSpPr>
          <p:spPr>
            <a:xfrm>
              <a:off x="6365263"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7" name="TextBox 36"/>
            <p:cNvSpPr txBox="1"/>
            <p:nvPr/>
          </p:nvSpPr>
          <p:spPr>
            <a:xfrm>
              <a:off x="7236340"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8" name="TextBox 37"/>
            <p:cNvSpPr txBox="1"/>
            <p:nvPr/>
          </p:nvSpPr>
          <p:spPr>
            <a:xfrm>
              <a:off x="8107417"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39" name="TextBox 38"/>
            <p:cNvSpPr txBox="1"/>
            <p:nvPr/>
          </p:nvSpPr>
          <p:spPr>
            <a:xfrm>
              <a:off x="8978494"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40" name="TextBox 39"/>
            <p:cNvSpPr txBox="1"/>
            <p:nvPr/>
          </p:nvSpPr>
          <p:spPr>
            <a:xfrm>
              <a:off x="9849571" y="2264629"/>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41" name="TextBox 40"/>
            <p:cNvSpPr txBox="1"/>
            <p:nvPr/>
          </p:nvSpPr>
          <p:spPr>
            <a:xfrm>
              <a:off x="3788236"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1</a:t>
              </a:r>
            </a:p>
          </p:txBody>
        </p:sp>
        <p:sp>
          <p:nvSpPr>
            <p:cNvPr id="42" name="TextBox 41"/>
            <p:cNvSpPr txBox="1"/>
            <p:nvPr/>
          </p:nvSpPr>
          <p:spPr>
            <a:xfrm>
              <a:off x="4659313"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2</a:t>
              </a:r>
            </a:p>
          </p:txBody>
        </p:sp>
        <p:sp>
          <p:nvSpPr>
            <p:cNvPr id="43" name="TextBox 42"/>
            <p:cNvSpPr txBox="1"/>
            <p:nvPr/>
          </p:nvSpPr>
          <p:spPr>
            <a:xfrm>
              <a:off x="5530390"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3</a:t>
              </a:r>
            </a:p>
          </p:txBody>
        </p:sp>
        <p:sp>
          <p:nvSpPr>
            <p:cNvPr id="44" name="TextBox 43"/>
            <p:cNvSpPr txBox="1"/>
            <p:nvPr/>
          </p:nvSpPr>
          <p:spPr>
            <a:xfrm>
              <a:off x="6401467"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4</a:t>
              </a:r>
            </a:p>
          </p:txBody>
        </p:sp>
        <p:sp>
          <p:nvSpPr>
            <p:cNvPr id="45" name="TextBox 44"/>
            <p:cNvSpPr txBox="1"/>
            <p:nvPr/>
          </p:nvSpPr>
          <p:spPr>
            <a:xfrm>
              <a:off x="7272544"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5</a:t>
              </a:r>
            </a:p>
          </p:txBody>
        </p:sp>
        <p:sp>
          <p:nvSpPr>
            <p:cNvPr id="46" name="TextBox 45"/>
            <p:cNvSpPr txBox="1"/>
            <p:nvPr/>
          </p:nvSpPr>
          <p:spPr>
            <a:xfrm>
              <a:off x="8143621"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6</a:t>
              </a:r>
            </a:p>
          </p:txBody>
        </p:sp>
        <p:sp>
          <p:nvSpPr>
            <p:cNvPr id="47" name="TextBox 46"/>
            <p:cNvSpPr txBox="1"/>
            <p:nvPr/>
          </p:nvSpPr>
          <p:spPr>
            <a:xfrm>
              <a:off x="9014698"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7</a:t>
              </a:r>
            </a:p>
          </p:txBody>
        </p:sp>
        <p:sp>
          <p:nvSpPr>
            <p:cNvPr id="48" name="TextBox 47"/>
            <p:cNvSpPr txBox="1"/>
            <p:nvPr/>
          </p:nvSpPr>
          <p:spPr>
            <a:xfrm>
              <a:off x="9885775" y="2439042"/>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8</a:t>
              </a:r>
            </a:p>
          </p:txBody>
        </p:sp>
        <p:sp>
          <p:nvSpPr>
            <p:cNvPr id="49" name="Rounded Rectangle 48"/>
            <p:cNvSpPr/>
            <p:nvPr/>
          </p:nvSpPr>
          <p:spPr>
            <a:xfrm>
              <a:off x="1483099" y="3086411"/>
              <a:ext cx="9225497" cy="1484790"/>
            </a:xfrm>
            <a:prstGeom prst="roundRect">
              <a:avLst>
                <a:gd name="adj" fmla="val 6666"/>
              </a:avLst>
            </a:prstGeom>
            <a:solidFill>
              <a:srgbClr val="FDE8E8"/>
            </a:solidFill>
            <a:ln w="19797">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81071" y="3188762"/>
              <a:ext cx="4240917" cy="193498"/>
            </a:xfrm>
            <a:prstGeom prst="rect">
              <a:avLst/>
            </a:prstGeom>
            <a:noFill/>
          </p:spPr>
          <p:txBody>
            <a:bodyPr wrap="none" anchor="ctr" lIns="0" rIns="0" tIns="0" bIns="0">
              <a:noAutofit/>
            </a:bodyPr>
            <a:lstStyle/>
            <a:p>
              <a:pPr algn="l"/>
              <a:r>
                <a:rPr sz="1050" b="1">
                  <a:solidFill>
                    <a:srgbClr val="B4222A"/>
                  </a:solidFill>
                  <a:latin typeface="맑은 고딕"/>
                  <a:ea typeface="맑은 고딕"/>
                  <a:cs typeface="맑은 고딕"/>
                </a:rPr>
                <a:t>비효율 케이스 (Ineff. 1 · 2 · 3) — 공급은 똑같이 충분한데 8개를 다 못 쓴다</a:t>
              </a:r>
            </a:p>
          </p:txBody>
        </p:sp>
        <p:sp>
          <p:nvSpPr>
            <p:cNvPr id="51" name="Rounded Rectangle 50"/>
            <p:cNvSpPr/>
            <p:nvPr/>
          </p:nvSpPr>
          <p:spPr>
            <a:xfrm>
              <a:off x="1681071" y="3462558"/>
              <a:ext cx="1168035" cy="970063"/>
            </a:xfrm>
            <a:prstGeom prst="roundRect">
              <a:avLst>
                <a:gd name="adj" fmla="val 7142"/>
              </a:avLst>
            </a:prstGeom>
            <a:solidFill>
              <a:srgbClr val="E2F4E8"/>
            </a:solidFill>
            <a:ln w="17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957452" y="3587874"/>
              <a:ext cx="615272" cy="164832"/>
            </a:xfrm>
            <a:prstGeom prst="rect">
              <a:avLst/>
            </a:prstGeom>
            <a:noFill/>
          </p:spPr>
          <p:txBody>
            <a:bodyPr wrap="none" anchor="ctr" lIns="0" rIns="0" tIns="0" bIns="0">
              <a:noAutofit/>
            </a:bodyPr>
            <a:lstStyle/>
            <a:p>
              <a:pPr algn="ctr"/>
              <a:r>
                <a:rPr sz="900" b="1">
                  <a:solidFill>
                    <a:srgbClr val="1A7F37"/>
                  </a:solidFill>
                  <a:latin typeface="맑은 고딕"/>
                  <a:ea typeface="맑은 고딕"/>
                  <a:cs typeface="맑은 고딕"/>
                </a:rPr>
                <a:t>Fetch Unit</a:t>
              </a:r>
            </a:p>
          </p:txBody>
        </p:sp>
        <p:sp>
          <p:nvSpPr>
            <p:cNvPr id="53" name="TextBox 52"/>
            <p:cNvSpPr txBox="1"/>
            <p:nvPr/>
          </p:nvSpPr>
          <p:spPr>
            <a:xfrm>
              <a:off x="1965359" y="3783272"/>
              <a:ext cx="599459" cy="143332"/>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 Feed Unit</a:t>
              </a:r>
            </a:p>
          </p:txBody>
        </p:sp>
        <p:sp>
          <p:nvSpPr>
            <p:cNvPr id="54" name="TextBox 53"/>
            <p:cNvSpPr txBox="1"/>
            <p:nvPr/>
          </p:nvSpPr>
          <p:spPr>
            <a:xfrm>
              <a:off x="2008517" y="4020839"/>
              <a:ext cx="513144" cy="143332"/>
            </a:xfrm>
            <a:prstGeom prst="rect">
              <a:avLst/>
            </a:prstGeom>
            <a:noFill/>
          </p:spPr>
          <p:txBody>
            <a:bodyPr wrap="none" anchor="ctr" lIns="0" rIns="0" tIns="0" bIns="0">
              <a:noAutofit/>
            </a:bodyPr>
            <a:lstStyle/>
            <a:p>
              <a:pPr algn="ctr"/>
              <a:r>
                <a:rPr sz="780" b="0">
                  <a:solidFill>
                    <a:srgbClr val="16202C"/>
                  </a:solidFill>
                  <a:latin typeface="맑은 고딕"/>
                  <a:ea typeface="맑은 고딕"/>
                  <a:cs typeface="맑은 고딕"/>
                </a:rPr>
                <a:t>데이터 공급</a:t>
              </a:r>
            </a:p>
          </p:txBody>
        </p:sp>
        <p:sp>
          <p:nvSpPr>
            <p:cNvPr id="55" name="TextBox 54"/>
            <p:cNvSpPr txBox="1"/>
            <p:nvPr/>
          </p:nvSpPr>
          <p:spPr>
            <a:xfrm>
              <a:off x="2022224" y="4201587"/>
              <a:ext cx="485729" cy="164832"/>
            </a:xfrm>
            <a:prstGeom prst="rect">
              <a:avLst/>
            </a:prstGeom>
            <a:noFill/>
          </p:spPr>
          <p:txBody>
            <a:bodyPr wrap="none" anchor="ctr" lIns="0" rIns="0" tIns="0" bIns="0">
              <a:noAutofit/>
            </a:bodyPr>
            <a:lstStyle/>
            <a:p>
              <a:pPr algn="ctr"/>
              <a:r>
                <a:rPr sz="900" b="1">
                  <a:solidFill>
                    <a:srgbClr val="1A7F37"/>
                  </a:solidFill>
                  <a:latin typeface="맑은 고딕"/>
                  <a:ea typeface="맑은 고딕"/>
                  <a:cs typeface="맑은 고딕"/>
                </a:rPr>
                <a:t>역시 충분</a:t>
              </a:r>
            </a:p>
          </p:txBody>
        </p:sp>
        <p:cxnSp>
          <p:nvCxnSpPr>
            <p:cNvPr id="56" name="Connector 55"/>
            <p:cNvCxnSpPr/>
            <p:nvPr/>
          </p:nvCxnSpPr>
          <p:spPr>
            <a:xfrm>
              <a:off x="2888700" y="3660530"/>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3047078" y="3601138"/>
              <a:ext cx="158378" cy="118783"/>
            </a:xfrm>
            <a:custGeom>
              <a:avLst/>
              <a:gdLst/>
              <a:ahLst/>
              <a:cxnLst/>
              <a:rect l="l" t="t" r="r" b="b"/>
              <a:pathLst>
                <a:path w="158378" h="118783">
                  <a:moveTo>
                    <a:pt x="0" y="0"/>
                  </a:moveTo>
                  <a:lnTo>
                    <a:pt x="158378" y="59392"/>
                  </a:lnTo>
                  <a:lnTo>
                    <a:pt x="0" y="118783"/>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2888700" y="3947589"/>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3047078" y="3888197"/>
              <a:ext cx="158378" cy="118784"/>
            </a:xfrm>
            <a:custGeom>
              <a:avLst/>
              <a:gdLst/>
              <a:ahLst/>
              <a:cxnLst/>
              <a:rect l="l" t="t" r="r" b="b"/>
              <a:pathLst>
                <a:path w="158378" h="118784">
                  <a:moveTo>
                    <a:pt x="0" y="0"/>
                  </a:moveTo>
                  <a:lnTo>
                    <a:pt x="158378" y="59392"/>
                  </a:lnTo>
                  <a:lnTo>
                    <a:pt x="0" y="118784"/>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2888700" y="4234649"/>
              <a:ext cx="197973" cy="0"/>
            </a:xfrm>
            <a:prstGeom prst="line">
              <a:avLst/>
            </a:prstGeom>
            <a:ln w="23756">
              <a:solidFill>
                <a:srgbClr val="1A7F37"/>
              </a:solidFill>
            </a:ln>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3047078" y="4175257"/>
              <a:ext cx="158378" cy="118783"/>
            </a:xfrm>
            <a:custGeom>
              <a:avLst/>
              <a:gdLst/>
              <a:ahLst/>
              <a:cxnLst/>
              <a:rect l="l" t="t" r="r" b="b"/>
              <a:pathLst>
                <a:path w="158378" h="118783">
                  <a:moveTo>
                    <a:pt x="0" y="0"/>
                  </a:moveTo>
                  <a:lnTo>
                    <a:pt x="158378" y="59392"/>
                  </a:lnTo>
                  <a:lnTo>
                    <a:pt x="0" y="118783"/>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3264847" y="3462558"/>
              <a:ext cx="7305168" cy="970063"/>
            </a:xfrm>
            <a:prstGeom prst="roundRect">
              <a:avLst>
                <a:gd name="adj" fmla="val 8163"/>
              </a:avLst>
            </a:prstGeom>
            <a:solidFill>
              <a:srgbClr val="EEF2F7"/>
            </a:solidFill>
            <a:ln w="17817">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64683" y="3548279"/>
              <a:ext cx="2905497" cy="164832"/>
            </a:xfrm>
            <a:prstGeom prst="rect">
              <a:avLst/>
            </a:prstGeom>
            <a:noFill/>
          </p:spPr>
          <p:txBody>
            <a:bodyPr wrap="none" anchor="ctr" lIns="0" rIns="0" tIns="0" bIns="0">
              <a:noAutofit/>
            </a:bodyPr>
            <a:lstStyle/>
            <a:p>
              <a:pPr algn="ctr"/>
              <a:r>
                <a:rPr sz="900" b="1">
                  <a:solidFill>
                    <a:srgbClr val="B4222A"/>
                  </a:solidFill>
                  <a:latin typeface="맑은 고딕"/>
                  <a:ea typeface="맑은 고딕"/>
                  <a:cs typeface="맑은 고딕"/>
                </a:rPr>
                <a:t>CE — DPE 병렬성 활용이 제한적이다 · 그림의 3/8 은 예시다</a:t>
              </a:r>
            </a:p>
          </p:txBody>
        </p:sp>
        <p:sp>
          <p:nvSpPr>
            <p:cNvPr id="64" name="Rounded Rectangle 63"/>
            <p:cNvSpPr/>
            <p:nvPr/>
          </p:nvSpPr>
          <p:spPr>
            <a:xfrm>
              <a:off x="3482617" y="3799110"/>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353694" y="3799110"/>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224771" y="3799110"/>
              <a:ext cx="752294" cy="534525"/>
            </a:xfrm>
            <a:prstGeom prst="roundRect">
              <a:avLst>
                <a:gd name="adj" fmla="val 9259"/>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52032" y="3888000"/>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68" name="TextBox 67"/>
            <p:cNvSpPr txBox="1"/>
            <p:nvPr/>
          </p:nvSpPr>
          <p:spPr>
            <a:xfrm>
              <a:off x="4623109" y="3888000"/>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69" name="TextBox 68"/>
            <p:cNvSpPr txBox="1"/>
            <p:nvPr/>
          </p:nvSpPr>
          <p:spPr>
            <a:xfrm>
              <a:off x="5494186" y="3888000"/>
              <a:ext cx="213463" cy="136165"/>
            </a:xfrm>
            <a:prstGeom prst="rect">
              <a:avLst/>
            </a:prstGeom>
            <a:noFill/>
          </p:spPr>
          <p:txBody>
            <a:bodyPr wrap="none" anchor="ctr" lIns="0" rIns="0" tIns="0" bIns="0">
              <a:noAutofit/>
            </a:bodyPr>
            <a:lstStyle/>
            <a:p>
              <a:pPr algn="ctr"/>
              <a:r>
                <a:rPr sz="740" b="0">
                  <a:solidFill>
                    <a:srgbClr val="FFFFFF"/>
                  </a:solidFill>
                  <a:latin typeface="맑은 고딕"/>
                  <a:ea typeface="맑은 고딕"/>
                  <a:cs typeface="맑은 고딕"/>
                </a:rPr>
                <a:t>DPE</a:t>
              </a:r>
            </a:p>
          </p:txBody>
        </p:sp>
        <p:sp>
          <p:nvSpPr>
            <p:cNvPr id="70" name="TextBox 69"/>
            <p:cNvSpPr txBox="1"/>
            <p:nvPr/>
          </p:nvSpPr>
          <p:spPr>
            <a:xfrm>
              <a:off x="3788236" y="4062413"/>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1</a:t>
              </a:r>
            </a:p>
          </p:txBody>
        </p:sp>
        <p:sp>
          <p:nvSpPr>
            <p:cNvPr id="71" name="TextBox 70"/>
            <p:cNvSpPr txBox="1"/>
            <p:nvPr/>
          </p:nvSpPr>
          <p:spPr>
            <a:xfrm>
              <a:off x="4659313" y="4062413"/>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2</a:t>
              </a:r>
            </a:p>
          </p:txBody>
        </p:sp>
        <p:sp>
          <p:nvSpPr>
            <p:cNvPr id="72" name="TextBox 71"/>
            <p:cNvSpPr txBox="1"/>
            <p:nvPr/>
          </p:nvSpPr>
          <p:spPr>
            <a:xfrm>
              <a:off x="5530390" y="4062413"/>
              <a:ext cx="141055" cy="214998"/>
            </a:xfrm>
            <a:prstGeom prst="rect">
              <a:avLst/>
            </a:prstGeom>
            <a:noFill/>
          </p:spPr>
          <p:txBody>
            <a:bodyPr wrap="none" anchor="ctr" lIns="0" rIns="0" tIns="0" bIns="0">
              <a:noAutofit/>
            </a:bodyPr>
            <a:lstStyle/>
            <a:p>
              <a:pPr algn="ctr"/>
              <a:r>
                <a:rPr sz="1170" b="1">
                  <a:solidFill>
                    <a:srgbClr val="FFFFFF"/>
                  </a:solidFill>
                  <a:latin typeface="맑은 고딕"/>
                  <a:ea typeface="맑은 고딕"/>
                  <a:cs typeface="맑은 고딕"/>
                </a:rPr>
                <a:t>3</a:t>
              </a:r>
            </a:p>
          </p:txBody>
        </p:sp>
        <p:sp>
          <p:nvSpPr>
            <p:cNvPr id="73" name="Rounded Rectangle 72"/>
            <p:cNvSpPr/>
            <p:nvPr/>
          </p:nvSpPr>
          <p:spPr>
            <a:xfrm>
              <a:off x="6095848" y="3799110"/>
              <a:ext cx="752294" cy="534525"/>
            </a:xfrm>
            <a:prstGeom prst="roundRect">
              <a:avLst>
                <a:gd name="adj" fmla="val 9259"/>
              </a:avLst>
            </a:prstGeom>
            <a:solidFill>
              <a:srgbClr val="FFFFFF"/>
            </a:solidFill>
            <a:ln w="13858">
              <a:solidFill>
                <a:srgbClr val="B0BB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966924" y="3799110"/>
              <a:ext cx="752294" cy="534525"/>
            </a:xfrm>
            <a:prstGeom prst="roundRect">
              <a:avLst>
                <a:gd name="adj" fmla="val 9259"/>
              </a:avLst>
            </a:prstGeom>
            <a:solidFill>
              <a:srgbClr val="FFFFFF"/>
            </a:solidFill>
            <a:ln w="13858">
              <a:solidFill>
                <a:srgbClr val="B0BB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838001" y="3799110"/>
              <a:ext cx="752294" cy="534525"/>
            </a:xfrm>
            <a:prstGeom prst="roundRect">
              <a:avLst>
                <a:gd name="adj" fmla="val 9259"/>
              </a:avLst>
            </a:prstGeom>
            <a:solidFill>
              <a:srgbClr val="FFFFFF"/>
            </a:solidFill>
            <a:ln w="13858">
              <a:solidFill>
                <a:srgbClr val="B0BB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8709078" y="3799110"/>
              <a:ext cx="752294" cy="534525"/>
            </a:xfrm>
            <a:prstGeom prst="roundRect">
              <a:avLst>
                <a:gd name="adj" fmla="val 9259"/>
              </a:avLst>
            </a:prstGeom>
            <a:solidFill>
              <a:srgbClr val="FFFFFF"/>
            </a:solidFill>
            <a:ln w="13858">
              <a:solidFill>
                <a:srgbClr val="B0BB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9580155" y="3799110"/>
              <a:ext cx="752294" cy="534525"/>
            </a:xfrm>
            <a:prstGeom prst="roundRect">
              <a:avLst>
                <a:gd name="adj" fmla="val 9259"/>
              </a:avLst>
            </a:prstGeom>
            <a:solidFill>
              <a:srgbClr val="FFFFFF"/>
            </a:solidFill>
            <a:ln w="13858">
              <a:solidFill>
                <a:srgbClr val="B0BB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328635" y="3897898"/>
              <a:ext cx="286718" cy="136165"/>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DPE 4</a:t>
              </a:r>
            </a:p>
          </p:txBody>
        </p:sp>
        <p:sp>
          <p:nvSpPr>
            <p:cNvPr id="79" name="TextBox 78"/>
            <p:cNvSpPr txBox="1"/>
            <p:nvPr/>
          </p:nvSpPr>
          <p:spPr>
            <a:xfrm>
              <a:off x="7199712" y="3897898"/>
              <a:ext cx="286718" cy="136165"/>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DPE 5</a:t>
              </a:r>
            </a:p>
          </p:txBody>
        </p:sp>
        <p:sp>
          <p:nvSpPr>
            <p:cNvPr id="80" name="TextBox 79"/>
            <p:cNvSpPr txBox="1"/>
            <p:nvPr/>
          </p:nvSpPr>
          <p:spPr>
            <a:xfrm>
              <a:off x="8070789" y="3897898"/>
              <a:ext cx="286718" cy="136165"/>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DPE 6</a:t>
              </a:r>
            </a:p>
          </p:txBody>
        </p:sp>
        <p:sp>
          <p:nvSpPr>
            <p:cNvPr id="81" name="TextBox 80"/>
            <p:cNvSpPr txBox="1"/>
            <p:nvPr/>
          </p:nvSpPr>
          <p:spPr>
            <a:xfrm>
              <a:off x="8941866" y="3897898"/>
              <a:ext cx="286718" cy="136165"/>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DPE 7</a:t>
              </a:r>
            </a:p>
          </p:txBody>
        </p:sp>
        <p:sp>
          <p:nvSpPr>
            <p:cNvPr id="82" name="TextBox 81"/>
            <p:cNvSpPr txBox="1"/>
            <p:nvPr/>
          </p:nvSpPr>
          <p:spPr>
            <a:xfrm>
              <a:off x="9812943" y="3897898"/>
              <a:ext cx="286718" cy="136165"/>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DPE 8</a:t>
              </a:r>
            </a:p>
          </p:txBody>
        </p:sp>
        <p:sp>
          <p:nvSpPr>
            <p:cNvPr id="83" name="TextBox 82"/>
            <p:cNvSpPr txBox="1"/>
            <p:nvPr/>
          </p:nvSpPr>
          <p:spPr>
            <a:xfrm>
              <a:off x="6309855" y="4094286"/>
              <a:ext cx="324278" cy="150498"/>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미사용</a:t>
              </a:r>
            </a:p>
          </p:txBody>
        </p:sp>
        <p:sp>
          <p:nvSpPr>
            <p:cNvPr id="84" name="TextBox 83"/>
            <p:cNvSpPr txBox="1"/>
            <p:nvPr/>
          </p:nvSpPr>
          <p:spPr>
            <a:xfrm>
              <a:off x="7180932" y="4094286"/>
              <a:ext cx="324278" cy="150498"/>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미사용</a:t>
              </a:r>
            </a:p>
          </p:txBody>
        </p:sp>
        <p:sp>
          <p:nvSpPr>
            <p:cNvPr id="85" name="TextBox 84"/>
            <p:cNvSpPr txBox="1"/>
            <p:nvPr/>
          </p:nvSpPr>
          <p:spPr>
            <a:xfrm>
              <a:off x="8052009" y="4094286"/>
              <a:ext cx="324278" cy="150498"/>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미사용</a:t>
              </a:r>
            </a:p>
          </p:txBody>
        </p:sp>
        <p:sp>
          <p:nvSpPr>
            <p:cNvPr id="86" name="TextBox 85"/>
            <p:cNvSpPr txBox="1"/>
            <p:nvPr/>
          </p:nvSpPr>
          <p:spPr>
            <a:xfrm>
              <a:off x="8923086" y="4094286"/>
              <a:ext cx="324278" cy="150498"/>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미사용</a:t>
              </a:r>
            </a:p>
          </p:txBody>
        </p:sp>
        <p:sp>
          <p:nvSpPr>
            <p:cNvPr id="87" name="TextBox 86"/>
            <p:cNvSpPr txBox="1"/>
            <p:nvPr/>
          </p:nvSpPr>
          <p:spPr>
            <a:xfrm>
              <a:off x="9794163" y="4094286"/>
              <a:ext cx="324278" cy="150498"/>
            </a:xfrm>
            <a:prstGeom prst="rect">
              <a:avLst/>
            </a:prstGeom>
            <a:noFill/>
          </p:spPr>
          <p:txBody>
            <a:bodyPr wrap="none" anchor="ctr" lIns="0" rIns="0" tIns="0" bIns="0">
              <a:noAutofit/>
            </a:bodyPr>
            <a:lstStyle/>
            <a:p>
              <a:pPr algn="ctr"/>
              <a:r>
                <a:rPr sz="819" b="1">
                  <a:solidFill>
                    <a:srgbClr val="B4222A"/>
                  </a:solidFill>
                  <a:latin typeface="맑은 고딕"/>
                  <a:ea typeface="맑은 고딕"/>
                  <a:cs typeface="맑은 고딕"/>
                </a:rPr>
                <a:t>미사용</a:t>
              </a:r>
            </a:p>
          </p:txBody>
        </p:sp>
        <p:sp>
          <p:nvSpPr>
            <p:cNvPr id="88" name="Rounded Rectangle 87"/>
            <p:cNvSpPr/>
            <p:nvPr/>
          </p:nvSpPr>
          <p:spPr>
            <a:xfrm>
              <a:off x="1483099" y="4709781"/>
              <a:ext cx="4513762" cy="831483"/>
            </a:xfrm>
            <a:prstGeom prst="roundRect">
              <a:avLst>
                <a:gd name="adj" fmla="val 10714"/>
              </a:avLst>
            </a:prstGeom>
            <a:solidFill>
              <a:srgbClr val="E3EEFB"/>
            </a:solidFill>
            <a:ln w="17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681071" y="4803818"/>
              <a:ext cx="1352891" cy="179165"/>
            </a:xfrm>
            <a:prstGeom prst="rect">
              <a:avLst/>
            </a:prstGeom>
            <a:noFill/>
          </p:spPr>
          <p:txBody>
            <a:bodyPr wrap="none" anchor="ctr" lIns="0" rIns="0" tIns="0" bIns="0">
              <a:noAutofit/>
            </a:bodyPr>
            <a:lstStyle/>
            <a:p>
              <a:pPr algn="l"/>
              <a:r>
                <a:rPr sz="969" b="1">
                  <a:solidFill>
                    <a:srgbClr val="083F80"/>
                  </a:solidFill>
                  <a:latin typeface="맑은 고딕"/>
                  <a:ea typeface="맑은 고딕"/>
                  <a:cs typeface="맑은 고딕"/>
                </a:rPr>
                <a:t>최적끼리는 무엇이 다른가</a:t>
              </a:r>
            </a:p>
          </p:txBody>
        </p:sp>
        <p:sp>
          <p:nvSpPr>
            <p:cNvPr id="90" name="TextBox 89"/>
            <p:cNvSpPr txBox="1"/>
            <p:nvPr/>
          </p:nvSpPr>
          <p:spPr>
            <a:xfrm>
              <a:off x="1681071" y="5038811"/>
              <a:ext cx="1787450" cy="15766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누산 유닛(accumulation unit) 사용량</a:t>
              </a:r>
            </a:p>
          </p:txBody>
        </p:sp>
        <p:sp>
          <p:nvSpPr>
            <p:cNvPr id="91" name="TextBox 90"/>
            <p:cNvSpPr txBox="1"/>
            <p:nvPr/>
          </p:nvSpPr>
          <p:spPr>
            <a:xfrm>
              <a:off x="1681071" y="5236783"/>
              <a:ext cx="2010228" cy="15766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페치 유닛의 데이터 공급량 — 이 둘이 다르다</a:t>
              </a:r>
            </a:p>
          </p:txBody>
        </p:sp>
        <p:sp>
          <p:nvSpPr>
            <p:cNvPr id="92" name="Rounded Rectangle 91"/>
            <p:cNvSpPr/>
            <p:nvPr/>
          </p:nvSpPr>
          <p:spPr>
            <a:xfrm>
              <a:off x="6194834" y="4709781"/>
              <a:ext cx="4513762" cy="831483"/>
            </a:xfrm>
            <a:prstGeom prst="roundRect">
              <a:avLst>
                <a:gd name="adj" fmla="val 10714"/>
              </a:avLst>
            </a:prstGeom>
            <a:solidFill>
              <a:srgbClr val="FFF7E6"/>
            </a:solidFill>
            <a:ln w="17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92806" y="4803818"/>
              <a:ext cx="755635" cy="179165"/>
            </a:xfrm>
            <a:prstGeom prst="rect">
              <a:avLst/>
            </a:prstGeom>
            <a:noFill/>
          </p:spPr>
          <p:txBody>
            <a:bodyPr wrap="none" anchor="ctr" lIns="0" rIns="0" tIns="0" bIns="0">
              <a:noAutofit/>
            </a:bodyPr>
            <a:lstStyle/>
            <a:p>
              <a:pPr algn="l"/>
              <a:r>
                <a:rPr sz="969" b="1">
                  <a:solidFill>
                    <a:srgbClr val="B45409"/>
                  </a:solidFill>
                  <a:latin typeface="맑은 고딕"/>
                  <a:ea typeface="맑은 고딕"/>
                  <a:cs typeface="맑은 고딕"/>
                </a:rPr>
                <a:t>하드웨어 근거</a:t>
              </a:r>
            </a:p>
          </p:txBody>
        </p:sp>
        <p:sp>
          <p:nvSpPr>
            <p:cNvPr id="94" name="TextBox 93"/>
            <p:cNvSpPr txBox="1"/>
            <p:nvPr/>
          </p:nvSpPr>
          <p:spPr>
            <a:xfrm>
              <a:off x="6392806" y="5038811"/>
              <a:ext cx="1528740" cy="15766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CE 는 DPE 를 8개 갖는다 (Fig. 6)</a:t>
              </a:r>
            </a:p>
          </p:txBody>
        </p:sp>
        <p:sp>
          <p:nvSpPr>
            <p:cNvPr id="95" name="TextBox 94"/>
            <p:cNvSpPr txBox="1"/>
            <p:nvPr/>
          </p:nvSpPr>
          <p:spPr>
            <a:xfrm>
              <a:off x="6392806" y="5236783"/>
              <a:ext cx="2274600" cy="15766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feed unit 이 같은 입력을 8개에 브로드캐스트한다</a:t>
              </a:r>
            </a:p>
          </p:txBody>
        </p:sp>
      </p:grpSp>
      <p:sp>
        <p:nvSpPr>
          <p:cNvPr id="96" name="Rectangle 9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8개 DPE 를 다 쓰는 것이 최적의 필요조건이다. 데이터를 충분히 받고도 그러지 못하면 비효율이다.</a:t>
            </a:r>
          </a:p>
        </p:txBody>
      </p:sp>
      <p:sp>
        <p:nvSpPr>
          <p:cNvPr id="97" name="Rectangle 9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Fig. 15 해석 (2) — 8개 DPE 를 다 쓰느냐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공급은 양쪽 다 충분하다. 소화하는 쪽이 다르다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243</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 원문: "The optimal cases commonly utilize all the eight DPEs in parallel."</a:t>
            </a:r>
          </a:p>
          <a:p>
            <a:pPr algn="l">
              <a:lnSpc>
                <a:spcPct val="118000"/>
              </a:lnSpc>
              <a:spcBef>
                <a:spcPts val="600"/>
              </a:spcBef>
              <a:spcAft>
                <a:spcPts val="200"/>
              </a:spcAft>
            </a:pPr>
            <a:r>
              <a:rPr sz="1900" b="1" i="0">
                <a:solidFill>
                  <a:srgbClr val="083F80"/>
                </a:solidFill>
                <a:latin typeface="Segoe UI"/>
                <a:ea typeface="맑은 고딕"/>
                <a:cs typeface="맑은 고딕"/>
              </a:rPr>
              <a:t>▪  논문 원문: "inefficient cases are characterized by limited usage of DPE parallelism, even though the data supply from the fetch unit is sufficient."</a:t>
            </a:r>
          </a:p>
          <a:p>
            <a:pPr algn="l">
              <a:lnSpc>
                <a:spcPct val="118000"/>
              </a:lnSpc>
              <a:spcBef>
                <a:spcPts val="600"/>
              </a:spcBef>
              <a:spcAft>
                <a:spcPts val="200"/>
              </a:spcAft>
            </a:pPr>
            <a:r>
              <a:rPr sz="1900" b="0" i="0">
                <a:solidFill>
                  <a:srgbClr val="16202C"/>
                </a:solidFill>
                <a:latin typeface="Segoe UI"/>
                <a:ea typeface="맑은 고딕"/>
                <a:cs typeface="맑은 고딕"/>
              </a:rPr>
              <a:t>▪  논문은 "제한적"이라고만 적었을 뿐 몇 개를 못 쓰는지는 밝히지 않았다. 그림의 3/8 은 이해를 돕기 위해 그린 예시다.</a:t>
            </a:r>
          </a:p>
          <a:p>
            <a:pPr algn="l">
              <a:lnSpc>
                <a:spcPct val="118000"/>
              </a:lnSpc>
              <a:spcBef>
                <a:spcPts val="600"/>
              </a:spcBef>
              <a:spcAft>
                <a:spcPts val="200"/>
              </a:spcAft>
            </a:pPr>
            <a:r>
              <a:rPr sz="1900" b="0" i="0">
                <a:solidFill>
                  <a:srgbClr val="16202C"/>
                </a:solidFill>
                <a:latin typeface="Segoe UI"/>
                <a:ea typeface="맑은 고딕"/>
                <a:cs typeface="맑은 고딕"/>
              </a:rPr>
              <a:t>▪  최적끼리의 차이인 누산 유닛 사용량과 페치 공급량이 Fig. 14 에서 Opt. 1·2·3 을 서로 다른 성능·전력 구간에 놓는다.</a:t>
            </a:r>
          </a:p>
          <a:p>
            <a:pPr algn="l">
              <a:lnSpc>
                <a:spcPct val="118000"/>
              </a:lnSpc>
              <a:spcBef>
                <a:spcPts val="600"/>
              </a:spcBef>
              <a:spcAft>
                <a:spcPts val="200"/>
              </a:spcAft>
            </a:pPr>
            <a:r>
              <a:rPr sz="1900" b="0" i="0">
                <a:solidFill>
                  <a:srgbClr val="16202C"/>
                </a:solidFill>
                <a:latin typeface="Segoe UI"/>
                <a:ea typeface="맑은 고딕"/>
                <a:cs typeface="맑은 고딕"/>
              </a:rPr>
              <a:t>▪  각 조각의 정확한 mW 값은 논문에 없다. 막대 눈금으로 읽는 수밖에 없다.</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244</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3200" b="1" i="0">
                <a:solidFill>
                  <a:srgbClr val="083F80"/>
                </a:solidFill>
                <a:latin typeface="Segoe UI"/>
                <a:ea typeface="맑은 고딕"/>
                <a:cs typeface="맑은 고딕"/>
              </a:rPr>
              <a:t>페치 유닛의 데이터 공급과 DPE 병렬성의 균형</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이 균형이 높은 성능과 낮은 전력을 동시에 만든다</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8부 · CASE STUDY (2)</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부의 정리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300" b="1" i="0">
                <a:solidFill>
                  <a:srgbClr val="083F80"/>
                </a:solidFill>
                <a:latin typeface="Segoe UI"/>
                <a:ea typeface="맑은 고딕"/>
                <a:cs typeface="맑은 고딕"/>
              </a:rPr>
              <a:t>▪  Table II — TCP는 절대 성능이 아니라 와트당 성능으로 이긴다. H100 대비 2.7배, L40s 대비 4.1배다. 처리량 비율은 메모리 대역폭 비율을 따라간다.</a:t>
            </a:r>
          </a:p>
          <a:p>
            <a:pPr algn="l">
              <a:lnSpc>
                <a:spcPct val="118000"/>
              </a:lnSpc>
              <a:spcBef>
                <a:spcPts val="600"/>
              </a:spcBef>
              <a:spcAft>
                <a:spcPts val="200"/>
              </a:spcAft>
            </a:pPr>
            <a:r>
              <a:rPr sz="1300" b="1" i="0">
                <a:solidFill>
                  <a:srgbClr val="083F80"/>
                </a:solidFill>
                <a:latin typeface="Segoe UI"/>
                <a:ea typeface="맑은 고딕"/>
                <a:cs typeface="맑은 고딕"/>
              </a:rPr>
              <a:t>▪  Fig. 11 — prefill은 짧은 시퀀스에서 메모리 바운드, 중간에서 컴퓨트 바운드, 2k를 넘으면 softmax 트래픽 때문에 다시 메모리 쪽으로 기운다. QK^T가 SRAM을 넘어도 전송을 계산 안에 숨긴다.</a:t>
            </a:r>
          </a:p>
          <a:p>
            <a:pPr algn="l">
              <a:lnSpc>
                <a:spcPct val="118000"/>
              </a:lnSpc>
              <a:spcBef>
                <a:spcPts val="600"/>
              </a:spcBef>
              <a:spcAft>
                <a:spcPts val="200"/>
              </a:spcAft>
            </a:pPr>
            <a:r>
              <a:rPr sz="1300" b="1" i="0">
                <a:solidFill>
                  <a:srgbClr val="083F80"/>
                </a:solidFill>
                <a:latin typeface="Segoe UI"/>
                <a:ea typeface="맑은 고딕"/>
                <a:cs typeface="맑은 고딕"/>
              </a:rPr>
              <a:t>▪  Fig. 12 — decode는 전 구간 메모리 바운드다. 지연은 KV cache가 커지기 전까지 평평하고, MAC 활용률은 계속 낮다.</a:t>
            </a:r>
          </a:p>
          <a:p>
            <a:pPr algn="l">
              <a:lnSpc>
                <a:spcPct val="118000"/>
              </a:lnSpc>
              <a:spcBef>
                <a:spcPts val="600"/>
              </a:spcBef>
              <a:spcAft>
                <a:spcPts val="200"/>
              </a:spcAft>
            </a:pPr>
            <a:r>
              <a:rPr sz="1300" b="1" i="0">
                <a:solidFill>
                  <a:srgbClr val="083F80"/>
                </a:solidFill>
                <a:latin typeface="Segoe UI"/>
                <a:ea typeface="맑은 고딕"/>
                <a:cs typeface="맑은 고딕"/>
              </a:rPr>
              <a:t>▪  Fig. 13 — L=128은 연산이 전송 뒤로, L=2048은 전송이 연산 뒤로 숨는다. 컴파일러 스케줄·커맨드 큐·이중 컨텍스트가 이 오버랩을 만든다.</a:t>
            </a:r>
          </a:p>
          <a:p>
            <a:pPr algn="l">
              <a:lnSpc>
                <a:spcPct val="118000"/>
              </a:lnSpc>
              <a:spcBef>
                <a:spcPts val="600"/>
              </a:spcBef>
              <a:spcAft>
                <a:spcPts val="200"/>
              </a:spcAft>
            </a:pPr>
            <a:r>
              <a:rPr sz="1300" b="1" i="0">
                <a:solidFill>
                  <a:srgbClr val="083F80"/>
                </a:solidFill>
                <a:latin typeface="Segoe UI"/>
                <a:ea typeface="맑은 고딕"/>
                <a:cs typeface="맑은 고딕"/>
              </a:rPr>
              <a:t>▪  Fig. 14 — 한 연산에도 수십 개의 tactic 후보가 있고, 성능과 전력이 크게 갈린다. 컴파일러는 시스템 제약에 따라 다른 점을 고른다.</a:t>
            </a:r>
          </a:p>
          <a:p>
            <a:pPr algn="l">
              <a:lnSpc>
                <a:spcPct val="118000"/>
              </a:lnSpc>
              <a:spcBef>
                <a:spcPts val="600"/>
              </a:spcBef>
              <a:spcAft>
                <a:spcPts val="200"/>
              </a:spcAft>
            </a:pPr>
            <a:r>
              <a:rPr sz="1300" b="1" i="0">
                <a:solidFill>
                  <a:srgbClr val="083F80"/>
                </a:solidFill>
                <a:latin typeface="Segoe UI"/>
                <a:ea typeface="맑은 고딕"/>
                <a:cs typeface="맑은 고딕"/>
              </a:rPr>
              <a:t>▪  Fig. 15 — 좋은 tactic은 8개 DPE를 전부 병렬로 쓴다. 나쁜 tactic은 데이터를 충분히 받고도 병렬성을 못 살려 DPE 전력만 낭비한다.</a:t>
            </a:r>
          </a:p>
          <a:p>
            <a:pPr algn="l">
              <a:lnSpc>
                <a:spcPct val="118000"/>
              </a:lnSpc>
              <a:spcBef>
                <a:spcPts val="600"/>
              </a:spcBef>
              <a:spcAft>
                <a:spcPts val="200"/>
              </a:spcAft>
            </a:pPr>
            <a:r>
              <a:rPr sz="1300" b="0" i="0">
                <a:solidFill>
                  <a:srgbClr val="16202C"/>
                </a:solidFill>
                <a:latin typeface="Segoe UI"/>
                <a:ea typeface="맑은 고딕"/>
                <a:cs typeface="맑은 고딕"/>
              </a:rPr>
              <a:t>▪  다음 절(VII. Lessons Learned)로 이어지는 고리: Fig. 14가 보여 준 넓은 tactic 공간을 실제로 다루기 위해 성능 추정기와 비용 모델이 필요했다는 것이 논문의 회고다.</a:t>
            </a:r>
          </a:p>
          <a:p>
            <a:pPr algn="l">
              <a:lnSpc>
                <a:spcPct val="118000"/>
              </a:lnSpc>
              <a:spcBef>
                <a:spcPts val="600"/>
              </a:spcBef>
              <a:spcAft>
                <a:spcPts val="200"/>
              </a:spcAft>
            </a:pPr>
            <a:r>
              <a:rPr sz="1300" b="1" i="0">
                <a:solidFill>
                  <a:srgbClr val="083F80"/>
                </a:solidFill>
                <a:latin typeface="Segoe UI"/>
                <a:ea typeface="맑은 고딕"/>
                <a:cs typeface="맑은 고딕"/>
              </a:rPr>
              <a:t>▪  논문이 밝히지 않은 것들: Fig. 11~15의 막대·점별 정확한 수치, Fig. 11의 배치 크기, decode 지연이 꺾이는 정확한 임계점, 각 tactic의 구체적 lowered shape 표기.</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거시 성능은 메모리 대역폭이, 미시 전력은 DPE 병렬성이 결정한다. TCP의 두 가지 승부처다.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9</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LESSONS LEARNED · CONCLUSION</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칩을 만들며 배운 것</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절을 읽는 법</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제7장은 저자들이 TCP 칩을 개발하며 얻은 교훈을 소제목 5개로 정리한 절이다</a:t>
            </a:r>
          </a:p>
          <a:p>
            <a:pPr algn="l">
              <a:lnSpc>
                <a:spcPct val="118000"/>
              </a:lnSpc>
              <a:spcBef>
                <a:spcPts val="600"/>
              </a:spcBef>
              <a:spcAft>
                <a:spcPts val="200"/>
              </a:spcAft>
            </a:pPr>
            <a:r>
              <a:rPr sz="1900" b="0" i="0">
                <a:solidFill>
                  <a:srgbClr val="16202C"/>
                </a:solidFill>
                <a:latin typeface="Segoe UI"/>
                <a:ea typeface="맑은 고딕"/>
                <a:cs typeface="맑은 고딕"/>
              </a:rPr>
              <a:t>▪  제8장은 결론(Conclusion)과 감사의 글(Acknowledgements)이다</a:t>
            </a:r>
          </a:p>
          <a:p>
            <a:pPr algn="l">
              <a:lnSpc>
                <a:spcPct val="118000"/>
              </a:lnSpc>
              <a:spcBef>
                <a:spcPts val="600"/>
              </a:spcBef>
              <a:spcAft>
                <a:spcPts val="200"/>
              </a:spcAft>
            </a:pPr>
            <a:r>
              <a:rPr sz="1900" b="0" i="0">
                <a:solidFill>
                  <a:srgbClr val="16202C"/>
                </a:solidFill>
                <a:latin typeface="Segoe UI"/>
                <a:ea typeface="맑은 고딕"/>
                <a:cs typeface="맑은 고딕"/>
              </a:rPr>
              <a:t>▪  제7장에는 전용 그림·표가 없다. Fig. 14(전술별 성능-전력)만 본문에서 참조한다</a:t>
            </a:r>
          </a:p>
          <a:p>
            <a:pPr algn="l">
              <a:lnSpc>
                <a:spcPct val="118000"/>
              </a:lnSpc>
              <a:spcBef>
                <a:spcPts val="600"/>
              </a:spcBef>
              <a:spcAft>
                <a:spcPts val="200"/>
              </a:spcAft>
            </a:pPr>
            <a:r>
              <a:rPr sz="1900" b="1" i="0">
                <a:solidFill>
                  <a:srgbClr val="083F80"/>
                </a:solidFill>
                <a:latin typeface="Segoe UI"/>
                <a:ea typeface="맑은 고딕"/>
                <a:cs typeface="맑은 고딕"/>
              </a:rPr>
              <a:t>▪  중요: 제7장 본문에는 수치가 단 하나도 없다. 전부 정성적 서술이다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이 발표에서는 각 교훈의 근거 수치를 제3·5·6장에서 끌어와 보충하고, 출처를 매번 표기한다</a:t>
            </a:r>
          </a:p>
          <a:p>
            <a:pPr algn="l">
              <a:lnSpc>
                <a:spcPct val="118000"/>
              </a:lnSpc>
              <a:spcBef>
                <a:spcPts val="200"/>
              </a:spcBef>
              <a:spcAft>
                <a:spcPts val="100"/>
              </a:spcAft>
            </a:pPr>
            <a:r>
              <a:rPr sz="1780" b="0" i="0">
                <a:solidFill>
                  <a:srgbClr val="2C3A4B"/>
                </a:solidFill>
                <a:latin typeface="Segoe UI"/>
                <a:ea typeface="맑은 고딕"/>
                <a:cs typeface="맑은 고딕"/>
              </a:rPr>
              <a:t>–  보충 없이 교훈만 읽으면 '당연한 말'처럼 들리지만, 논문 앞부분의 설계 결정 하나하나가 이 다섯 문단의 결과물이다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제7장 본문 자체는 수치 0개. 정성적 교훈 다섯 문단이 전부다.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다섯 가지 교훈 — 한눈에</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1. Diversity in Data Reuse Patterns Across Operators (연산자마다 다른 데이터 재사용 패턴)</a:t>
            </a:r>
          </a:p>
          <a:p>
            <a:pPr algn="l">
              <a:lnSpc>
                <a:spcPct val="118000"/>
              </a:lnSpc>
              <a:spcBef>
                <a:spcPts val="200"/>
              </a:spcBef>
              <a:spcAft>
                <a:spcPts val="100"/>
              </a:spcAft>
            </a:pPr>
            <a:r>
              <a:rPr sz="1780" b="0" i="0">
                <a:solidFill>
                  <a:srgbClr val="2C3A4B"/>
                </a:solidFill>
                <a:latin typeface="Segoe UI"/>
                <a:ea typeface="맑은 고딕"/>
                <a:cs typeface="맑은 고딕"/>
              </a:rPr>
              <a:t>–  연산자마다 재사용 양상이 달라서, 데이터 취급에 세밀한 접근이 필요하다</a:t>
            </a:r>
          </a:p>
          <a:p>
            <a:pPr algn="l">
              <a:lnSpc>
                <a:spcPct val="118000"/>
              </a:lnSpc>
              <a:spcBef>
                <a:spcPts val="600"/>
              </a:spcBef>
              <a:spcAft>
                <a:spcPts val="200"/>
              </a:spcAft>
            </a:pPr>
            <a:r>
              <a:rPr sz="1900" b="1" i="0">
                <a:solidFill>
                  <a:srgbClr val="083F80"/>
                </a:solidFill>
                <a:latin typeface="Segoe UI"/>
                <a:ea typeface="맑은 고딕"/>
                <a:cs typeface="맑은 고딕"/>
              </a:rPr>
              <a:t>▪  2. Optimizing SRAM Locality and Tensor Movement (SRAM 지역성과 텐서 이동 최적화)</a:t>
            </a:r>
          </a:p>
          <a:p>
            <a:pPr algn="l">
              <a:lnSpc>
                <a:spcPct val="118000"/>
              </a:lnSpc>
              <a:spcBef>
                <a:spcPts val="200"/>
              </a:spcBef>
              <a:spcAft>
                <a:spcPts val="100"/>
              </a:spcAft>
            </a:pPr>
            <a:r>
              <a:rPr sz="1780" b="0" i="0">
                <a:solidFill>
                  <a:srgbClr val="2C3A4B"/>
                </a:solidFill>
                <a:latin typeface="Segoe UI"/>
                <a:ea typeface="맑은 고딕"/>
                <a:cs typeface="맑은 고딕"/>
              </a:rPr>
              <a:t>–  연속한 두 연산자 사이의 레이아웃 불일치가 비싼 변환을 부른다</a:t>
            </a:r>
          </a:p>
          <a:p>
            <a:pPr algn="l">
              <a:lnSpc>
                <a:spcPct val="118000"/>
              </a:lnSpc>
              <a:spcBef>
                <a:spcPts val="600"/>
              </a:spcBef>
              <a:spcAft>
                <a:spcPts val="200"/>
              </a:spcAft>
            </a:pPr>
            <a:r>
              <a:rPr sz="1900" b="1" i="0">
                <a:solidFill>
                  <a:srgbClr val="083F80"/>
                </a:solidFill>
                <a:latin typeface="Segoe UI"/>
                <a:ea typeface="맑은 고딕"/>
                <a:cs typeface="맑은 고딕"/>
              </a:rPr>
              <a:t>▪  3. Accurate Cost Model for End-to-End Optimization (종단간 최적화를 위한 정확한 비용 모델)</a:t>
            </a:r>
          </a:p>
          <a:p>
            <a:pPr algn="l">
              <a:lnSpc>
                <a:spcPct val="118000"/>
              </a:lnSpc>
              <a:spcBef>
                <a:spcPts val="200"/>
              </a:spcBef>
              <a:spcAft>
                <a:spcPts val="100"/>
              </a:spcAft>
            </a:pPr>
            <a:r>
              <a:rPr sz="1780" b="0" i="0">
                <a:solidFill>
                  <a:srgbClr val="2C3A4B"/>
                </a:solidFill>
                <a:latin typeface="Segoe UI"/>
                <a:ea typeface="맑은 고딕"/>
                <a:cs typeface="맑은 고딕"/>
              </a:rPr>
              <a:t>–  tactic(전술)이 성능·전력에 미치는 영향을 예측해야 설계가 효율적이 된다</a:t>
            </a:r>
          </a:p>
          <a:p>
            <a:pPr algn="l">
              <a:lnSpc>
                <a:spcPct val="118000"/>
              </a:lnSpc>
              <a:spcBef>
                <a:spcPts val="600"/>
              </a:spcBef>
              <a:spcAft>
                <a:spcPts val="200"/>
              </a:spcAft>
            </a:pPr>
            <a:r>
              <a:rPr sz="1900" b="1" i="0">
                <a:solidFill>
                  <a:srgbClr val="083F80"/>
                </a:solidFill>
                <a:latin typeface="Segoe UI"/>
                <a:ea typeface="맑은 고딕"/>
                <a:cs typeface="맑은 고딕"/>
              </a:rPr>
              <a:t>▪  4. Supporting Dynamic Shapes and Control Flow (동적 형상과 제어 흐름 지원)</a:t>
            </a:r>
          </a:p>
          <a:p>
            <a:pPr algn="l">
              <a:lnSpc>
                <a:spcPct val="118000"/>
              </a:lnSpc>
              <a:spcBef>
                <a:spcPts val="200"/>
              </a:spcBef>
              <a:spcAft>
                <a:spcPts val="100"/>
              </a:spcAft>
            </a:pPr>
            <a:r>
              <a:rPr sz="1780" b="0" i="0">
                <a:solidFill>
                  <a:srgbClr val="2C3A4B"/>
                </a:solidFill>
                <a:latin typeface="Segoe UI"/>
                <a:ea typeface="맑은 고딕"/>
                <a:cs typeface="맑은 고딕"/>
              </a:rPr>
              <a:t>–  LLM 추론은 문맥 길이와 배치 크기가 실행 중에 바뀐다</a:t>
            </a:r>
          </a:p>
          <a:p>
            <a:pPr algn="l">
              <a:lnSpc>
                <a:spcPct val="118000"/>
              </a:lnSpc>
              <a:spcBef>
                <a:spcPts val="600"/>
              </a:spcBef>
              <a:spcAft>
                <a:spcPts val="200"/>
              </a:spcAft>
            </a:pPr>
            <a:r>
              <a:rPr sz="1900" b="1" i="0">
                <a:solidFill>
                  <a:srgbClr val="083F80"/>
                </a:solidFill>
                <a:latin typeface="Segoe UI"/>
                <a:ea typeface="맑은 고딕"/>
                <a:cs typeface="맑은 고딕"/>
              </a:rPr>
              <a:t>▪  5. Complexities of Mapping (매핑의 복잡도)</a:t>
            </a:r>
          </a:p>
          <a:p>
            <a:pPr algn="l">
              <a:lnSpc>
                <a:spcPct val="118000"/>
              </a:lnSpc>
              <a:spcBef>
                <a:spcPts val="200"/>
              </a:spcBef>
              <a:spcAft>
                <a:spcPts val="100"/>
              </a:spcAft>
            </a:pPr>
            <a:r>
              <a:rPr sz="1780" b="0" i="0">
                <a:solidFill>
                  <a:srgbClr val="2C3A4B"/>
                </a:solidFill>
                <a:latin typeface="Segoe UI"/>
                <a:ea typeface="맑은 고딕"/>
                <a:cs typeface="맑은 고딕"/>
              </a:rPr>
              <a:t>–  contraction(축약)이 임의의 축에서 가능하므로 탐색 공간이 매우 크다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재사용 패턴 · SRAM 지역성 · 비용 모델 · 동적 형상 · 매핑 복잡도</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교훈 1 — 연산자마다 데이터 재사용 패턴이 다르다</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Diversity in Data Reuse Patterns Across Operators</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248</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주장 (전문 번역)</a:t>
            </a:r>
          </a:p>
          <a:p>
            <a:pPr algn="l">
              <a:lnSpc>
                <a:spcPct val="118000"/>
              </a:lnSpc>
              <a:spcBef>
                <a:spcPts val="200"/>
              </a:spcBef>
              <a:spcAft>
                <a:spcPts val="100"/>
              </a:spcAft>
            </a:pPr>
            <a:r>
              <a:rPr sz="1580" b="0" i="0">
                <a:solidFill>
                  <a:srgbClr val="2C3A4B"/>
                </a:solidFill>
                <a:latin typeface="Segoe UI"/>
                <a:ea typeface="맑은 고딕"/>
                <a:cs typeface="맑은 고딕"/>
              </a:rPr>
              <a:t>–  AI 모델의 연산자들은 서로 다양한 데이터 재사용 패턴을 보이며, 따라서 데이터 취급을 최적화하려면 세밀한(nuanced) 접근이 필요하다</a:t>
            </a:r>
          </a:p>
          <a:p>
            <a:pPr algn="l">
              <a:lnSpc>
                <a:spcPct val="118000"/>
              </a:lnSpc>
              <a:spcBef>
                <a:spcPts val="200"/>
              </a:spcBef>
              <a:spcAft>
                <a:spcPts val="100"/>
              </a:spcAft>
            </a:pPr>
            <a:r>
              <a:rPr sz="1580" b="0" i="0">
                <a:solidFill>
                  <a:srgbClr val="2C3A4B"/>
                </a:solidFill>
                <a:latin typeface="Segoe UI"/>
                <a:ea typeface="맑은 고딕"/>
                <a:cs typeface="맑은 고딕"/>
              </a:rPr>
              <a:t>–  이 패턴들을 이해하는 것이 데이터의 저장·접근·처리에 대해 근거 있는 결정을 내리는 데 필수적이다</a:t>
            </a:r>
          </a:p>
          <a:p>
            <a:pPr algn="l">
              <a:lnSpc>
                <a:spcPct val="118000"/>
              </a:lnSpc>
              <a:spcBef>
                <a:spcPts val="200"/>
              </a:spcBef>
              <a:spcAft>
                <a:spcPts val="100"/>
              </a:spcAft>
            </a:pPr>
            <a:r>
              <a:rPr sz="1580" b="0" i="0">
                <a:solidFill>
                  <a:srgbClr val="2C3A4B"/>
                </a:solidFill>
                <a:latin typeface="Segoe UI"/>
                <a:ea typeface="맑은 고딕"/>
                <a:cs typeface="맑은 고딕"/>
              </a:rPr>
              <a:t>–  그리고 그 결정이 다시 가속기 전체의 효율을 좌우한다</a:t>
            </a:r>
          </a:p>
          <a:p>
            <a:pPr algn="l">
              <a:lnSpc>
                <a:spcPct val="118000"/>
              </a:lnSpc>
              <a:spcBef>
                <a:spcPts val="600"/>
              </a:spcBef>
              <a:spcAft>
                <a:spcPts val="200"/>
              </a:spcAft>
            </a:pPr>
            <a:r>
              <a:rPr sz="1700" b="1" i="0">
                <a:solidFill>
                  <a:srgbClr val="083F80"/>
                </a:solidFill>
                <a:latin typeface="Segoe UI"/>
                <a:ea typeface="맑은 고딕"/>
                <a:cs typeface="맑은 고딕"/>
              </a:rPr>
              <a:t>▪  뒤집어 읽으면</a:t>
            </a:r>
          </a:p>
          <a:p>
            <a:pPr algn="l">
              <a:lnSpc>
                <a:spcPct val="118000"/>
              </a:lnSpc>
              <a:spcBef>
                <a:spcPts val="200"/>
              </a:spcBef>
              <a:spcAft>
                <a:spcPts val="100"/>
              </a:spcAft>
            </a:pPr>
            <a:r>
              <a:rPr sz="1580" b="0" i="0">
                <a:solidFill>
                  <a:srgbClr val="2C3A4B"/>
                </a:solidFill>
                <a:latin typeface="Segoe UI"/>
                <a:ea typeface="맑은 고딕"/>
                <a:cs typeface="맑은 고딕"/>
              </a:rPr>
              <a:t>–  '행렬곱 하나로 전부 처리한다'는 접근이 왜 안 되는지를 저자들이 개발 경험으로 재확인했다는 뜻이다</a:t>
            </a:r>
          </a:p>
          <a:p>
            <a:pPr algn="l">
              <a:lnSpc>
                <a:spcPct val="118000"/>
              </a:lnSpc>
              <a:spcBef>
                <a:spcPts val="200"/>
              </a:spcBef>
              <a:spcAft>
                <a:spcPts val="100"/>
              </a:spcAft>
            </a:pPr>
            <a:r>
              <a:rPr sz="1580" b="0" i="0">
                <a:solidFill>
                  <a:srgbClr val="2C3A4B"/>
                </a:solidFill>
                <a:latin typeface="Segoe UI"/>
                <a:ea typeface="맑은 고딕"/>
                <a:cs typeface="맑은 고딕"/>
              </a:rPr>
              <a:t>–  제1장에서 밝힌 TCP의 출발점(고정 크기 행렬곱 대신 tensor contraction을 프리미티브로 삼는다)과 정확히 같은 이야기다</a:t>
            </a:r>
          </a:p>
          <a:p>
            <a:pPr algn="l">
              <a:lnSpc>
                <a:spcPct val="118000"/>
              </a:lnSpc>
              <a:spcBef>
                <a:spcPts val="200"/>
              </a:spcBef>
              <a:spcAft>
                <a:spcPts val="100"/>
              </a:spcAft>
            </a:pPr>
            <a:r>
              <a:rPr sz="1580" b="0" i="0">
                <a:solidFill>
                  <a:srgbClr val="2C3A4B"/>
                </a:solidFill>
                <a:latin typeface="Segoe UI"/>
                <a:ea typeface="맑은 고딕"/>
                <a:cs typeface="맑은 고딕"/>
              </a:rPr>
              <a:t>–  즉 교훈 1은 아키텍처 전제의 사후 검증이다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연산자가 다르면 재사용 패턴이 다르다 — 하나의 고정된 재사용 전략으로는 안 된다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교훈 1 보강 — 논문이 실제로 마련해 둔 재사용 수단들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제3·6장에서 가져온 근거 (제7장 본문에는 수치가 없다)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249</a:t>
            </a:r>
          </a:p>
        </p:txBody>
      </p:sp>
      <p:grpSp>
        <p:nvGrpSpPr>
          <p:cNvPr id="9" name="도해 A9#04"/>
          <p:cNvGrpSpPr/>
          <p:nvPr/>
        </p:nvGrpSpPr>
        <p:grpSpPr>
          <a:xfrm>
            <a:off x="1548010" y="1463040"/>
            <a:ext cx="9095675" cy="4078224"/>
            <a:chOff x="1548010" y="1463040"/>
            <a:chExt cx="9095675" cy="4078224"/>
          </a:xfrm>
        </p:grpSpPr>
        <p:sp>
          <p:nvSpPr>
            <p:cNvPr id="10" name="TextBox 9"/>
            <p:cNvSpPr txBox="1"/>
            <p:nvPr/>
          </p:nvSpPr>
          <p:spPr>
            <a:xfrm>
              <a:off x="1548010" y="1463040"/>
              <a:ext cx="4113816" cy="178948"/>
            </a:xfrm>
            <a:prstGeom prst="rect">
              <a:avLst/>
            </a:prstGeom>
            <a:noFill/>
          </p:spPr>
          <p:txBody>
            <a:bodyPr wrap="none" anchor="ctr" lIns="0" rIns="0" tIns="0" bIns="0">
              <a:noAutofit/>
            </a:bodyPr>
            <a:lstStyle/>
            <a:p>
              <a:pPr algn="l"/>
              <a:r>
                <a:rPr sz="969" b="0">
                  <a:solidFill>
                    <a:srgbClr val="5B6B7B"/>
                  </a:solidFill>
                  <a:latin typeface="맑은 고딕"/>
                  <a:ea typeface="맑은 고딕"/>
                  <a:cs typeface="맑은 고딕"/>
                </a:rPr>
                <a:t>하드웨어가 준비한 재사용 방식 3종 — 연산자에 맞춰 소프트웨어가 고른다 (III-B)</a:t>
              </a:r>
            </a:p>
          </p:txBody>
        </p:sp>
        <p:sp>
          <p:nvSpPr>
            <p:cNvPr id="11" name="Rounded Rectangle 10"/>
            <p:cNvSpPr/>
            <p:nvPr/>
          </p:nvSpPr>
          <p:spPr>
            <a:xfrm>
              <a:off x="1548010" y="1744808"/>
              <a:ext cx="2867115" cy="1028207"/>
            </a:xfrm>
            <a:prstGeom prst="roundRect">
              <a:avLst>
                <a:gd name="adj" fmla="val 7692"/>
              </a:avLst>
            </a:prstGeom>
            <a:solidFill>
              <a:srgbClr val="E3EEFB"/>
            </a:solidFill>
            <a:ln w="1977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6358" y="1861075"/>
              <a:ext cx="1250418" cy="200421"/>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weight stationary</a:t>
              </a:r>
            </a:p>
          </p:txBody>
        </p:sp>
        <p:sp>
          <p:nvSpPr>
            <p:cNvPr id="13" name="TextBox 12"/>
            <p:cNvSpPr txBox="1"/>
            <p:nvPr/>
          </p:nvSpPr>
          <p:spPr>
            <a:xfrm>
              <a:off x="2462105" y="2098946"/>
              <a:ext cx="1038924" cy="150316"/>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가중치를 붙박이로 둔다</a:t>
              </a:r>
            </a:p>
          </p:txBody>
        </p:sp>
        <p:sp>
          <p:nvSpPr>
            <p:cNvPr id="14" name="Rounded Rectangle 13"/>
            <p:cNvSpPr/>
            <p:nvPr/>
          </p:nvSpPr>
          <p:spPr>
            <a:xfrm>
              <a:off x="1785288" y="2318231"/>
              <a:ext cx="2392558" cy="336145"/>
            </a:xfrm>
            <a:prstGeom prst="roundRect">
              <a:avLst>
                <a:gd name="adj" fmla="val 14705"/>
              </a:avLst>
            </a:prstGeom>
            <a:solidFill>
              <a:srgbClr val="CBE0F7"/>
            </a:solidFill>
            <a:ln w="1186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9662" y="2403849"/>
              <a:ext cx="983811" cy="164632"/>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Register File (RF)</a:t>
              </a:r>
            </a:p>
          </p:txBody>
        </p:sp>
        <p:sp>
          <p:nvSpPr>
            <p:cNvPr id="16" name="Rounded Rectangle 15"/>
            <p:cNvSpPr/>
            <p:nvPr/>
          </p:nvSpPr>
          <p:spPr>
            <a:xfrm>
              <a:off x="4612857" y="1744808"/>
              <a:ext cx="2867115" cy="1028207"/>
            </a:xfrm>
            <a:prstGeom prst="roundRect">
              <a:avLst>
                <a:gd name="adj" fmla="val 7692"/>
              </a:avLst>
            </a:prstGeom>
            <a:solidFill>
              <a:srgbClr val="E3EEFB"/>
            </a:solidFill>
            <a:ln w="1977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73179" y="1861075"/>
              <a:ext cx="1146470" cy="200421"/>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input stationary</a:t>
              </a:r>
            </a:p>
          </p:txBody>
        </p:sp>
        <p:sp>
          <p:nvSpPr>
            <p:cNvPr id="18" name="TextBox 17"/>
            <p:cNvSpPr txBox="1"/>
            <p:nvPr/>
          </p:nvSpPr>
          <p:spPr>
            <a:xfrm>
              <a:off x="5574705" y="2098946"/>
              <a:ext cx="943419" cy="150316"/>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입력을 붙박이로 둔다</a:t>
              </a:r>
            </a:p>
          </p:txBody>
        </p:sp>
        <p:sp>
          <p:nvSpPr>
            <p:cNvPr id="19" name="Rounded Rectangle 18"/>
            <p:cNvSpPr/>
            <p:nvPr/>
          </p:nvSpPr>
          <p:spPr>
            <a:xfrm>
              <a:off x="4850135" y="2318231"/>
              <a:ext cx="2392558" cy="336145"/>
            </a:xfrm>
            <a:prstGeom prst="roundRect">
              <a:avLst>
                <a:gd name="adj" fmla="val 14705"/>
              </a:avLst>
            </a:prstGeom>
            <a:solidFill>
              <a:srgbClr val="CBE0F7"/>
            </a:solidFill>
            <a:ln w="1186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9020" y="2403849"/>
              <a:ext cx="1114789" cy="164632"/>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CE 안의 input buffer</a:t>
              </a:r>
            </a:p>
          </p:txBody>
        </p:sp>
        <p:sp>
          <p:nvSpPr>
            <p:cNvPr id="21" name="Rounded Rectangle 20"/>
            <p:cNvSpPr/>
            <p:nvPr/>
          </p:nvSpPr>
          <p:spPr>
            <a:xfrm>
              <a:off x="7677704" y="1744808"/>
              <a:ext cx="2867115" cy="1028207"/>
            </a:xfrm>
            <a:prstGeom prst="roundRect">
              <a:avLst>
                <a:gd name="adj" fmla="val 7692"/>
              </a:avLst>
            </a:prstGeom>
            <a:solidFill>
              <a:srgbClr val="E3EEFB"/>
            </a:solidFill>
            <a:ln w="1977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86883" y="1861075"/>
              <a:ext cx="1248757" cy="200421"/>
            </a:xfrm>
            <a:prstGeom prst="rect">
              <a:avLst/>
            </a:prstGeom>
            <a:noFill/>
          </p:spPr>
          <p:txBody>
            <a:bodyPr wrap="none" anchor="ctr" lIns="0" rIns="0" tIns="0" bIns="0">
              <a:noAutofit/>
            </a:bodyPr>
            <a:lstStyle/>
            <a:p>
              <a:pPr algn="ctr"/>
              <a:r>
                <a:rPr sz="1090" b="1">
                  <a:solidFill>
                    <a:srgbClr val="083F80"/>
                  </a:solidFill>
                  <a:latin typeface="맑은 고딕"/>
                  <a:ea typeface="맑은 고딕"/>
                  <a:cs typeface="맑은 고딕"/>
                </a:rPr>
                <a:t>output stationary</a:t>
              </a:r>
            </a:p>
          </p:txBody>
        </p:sp>
        <p:sp>
          <p:nvSpPr>
            <p:cNvPr id="23" name="TextBox 22"/>
            <p:cNvSpPr txBox="1"/>
            <p:nvPr/>
          </p:nvSpPr>
          <p:spPr>
            <a:xfrm>
              <a:off x="8591800" y="2098946"/>
              <a:ext cx="1038924" cy="150316"/>
            </a:xfrm>
            <a:prstGeom prst="rect">
              <a:avLst/>
            </a:prstGeom>
            <a:noFill/>
          </p:spPr>
          <p:txBody>
            <a:bodyPr wrap="none" anchor="ctr" lIns="0" rIns="0" tIns="0" bIns="0">
              <a:noAutofit/>
            </a:bodyPr>
            <a:lstStyle/>
            <a:p>
              <a:pPr algn="ctr"/>
              <a:r>
                <a:rPr sz="819" b="0">
                  <a:solidFill>
                    <a:srgbClr val="16202C"/>
                  </a:solidFill>
                  <a:latin typeface="맑은 고딕"/>
                  <a:ea typeface="맑은 고딕"/>
                  <a:cs typeface="맑은 고딕"/>
                </a:rPr>
                <a:t>부분합을 붙박이로 둔다</a:t>
              </a:r>
            </a:p>
          </p:txBody>
        </p:sp>
        <p:sp>
          <p:nvSpPr>
            <p:cNvPr id="24" name="Rounded Rectangle 23"/>
            <p:cNvSpPr/>
            <p:nvPr/>
          </p:nvSpPr>
          <p:spPr>
            <a:xfrm>
              <a:off x="7914983" y="2318231"/>
              <a:ext cx="2392558" cy="336145"/>
            </a:xfrm>
            <a:prstGeom prst="roundRect">
              <a:avLst>
                <a:gd name="adj" fmla="val 14705"/>
              </a:avLst>
            </a:prstGeom>
            <a:solidFill>
              <a:srgbClr val="CBE0F7"/>
            </a:solidFill>
            <a:ln w="11863">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10037" y="2403849"/>
              <a:ext cx="1202448" cy="164632"/>
            </a:xfrm>
            <a:prstGeom prst="rect">
              <a:avLst/>
            </a:prstGeom>
            <a:noFill/>
          </p:spPr>
          <p:txBody>
            <a:bodyPr wrap="none" anchor="ctr" lIns="0" rIns="0" tIns="0" bIns="0">
              <a:noAutofit/>
            </a:bodyPr>
            <a:lstStyle/>
            <a:p>
              <a:pPr algn="ctr"/>
              <a:r>
                <a:rPr sz="900" b="1">
                  <a:solidFill>
                    <a:srgbClr val="083F80"/>
                  </a:solidFill>
                  <a:latin typeface="맑은 고딕"/>
                  <a:ea typeface="맑은 고딕"/>
                  <a:cs typeface="맑은 고딕"/>
                </a:rPr>
                <a:t>accumulator register</a:t>
              </a:r>
            </a:p>
          </p:txBody>
        </p:sp>
        <p:cxnSp>
          <p:nvCxnSpPr>
            <p:cNvPr id="26" name="Connector 25"/>
            <p:cNvCxnSpPr/>
            <p:nvPr/>
          </p:nvCxnSpPr>
          <p:spPr>
            <a:xfrm>
              <a:off x="1548010" y="2911427"/>
              <a:ext cx="9095675" cy="0"/>
            </a:xfrm>
            <a:prstGeom prst="line">
              <a:avLst/>
            </a:prstGeom>
            <a:ln w="13841">
              <a:solidFill>
                <a:srgbClr val="D6DEE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548010" y="3025123"/>
              <a:ext cx="3848978" cy="178948"/>
            </a:xfrm>
            <a:prstGeom prst="rect">
              <a:avLst/>
            </a:prstGeom>
            <a:noFill/>
          </p:spPr>
          <p:txBody>
            <a:bodyPr wrap="none" anchor="ctr" lIns="0" rIns="0" tIns="0" bIns="0">
              <a:noAutofit/>
            </a:bodyPr>
            <a:lstStyle/>
            <a:p>
              <a:pPr algn="l"/>
              <a:r>
                <a:rPr sz="969" b="0">
                  <a:solidFill>
                    <a:srgbClr val="5B6B7B"/>
                  </a:solidFill>
                  <a:latin typeface="맑은 고딕"/>
                  <a:ea typeface="맑은 고딕"/>
                  <a:cs typeface="맑은 고딕"/>
                </a:rPr>
                <a:t>같은 LLaMA-2 7B 안에서도 연산자별 재사용은 이만큼 다르다 (VI-B · VI-C)</a:t>
              </a:r>
            </a:p>
          </p:txBody>
        </p:sp>
        <p:sp>
          <p:nvSpPr>
            <p:cNvPr id="28" name="TextBox 27"/>
            <p:cNvSpPr txBox="1"/>
            <p:nvPr/>
          </p:nvSpPr>
          <p:spPr>
            <a:xfrm>
              <a:off x="1548010" y="3412283"/>
              <a:ext cx="1893379" cy="164632"/>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attention QK — query 벡터 1회 fetch</a:t>
              </a:r>
            </a:p>
          </p:txBody>
        </p:sp>
        <p:sp>
          <p:nvSpPr>
            <p:cNvPr id="29" name="Rounded Rectangle 28"/>
            <p:cNvSpPr/>
            <p:nvPr/>
          </p:nvSpPr>
          <p:spPr>
            <a:xfrm>
              <a:off x="3821929" y="3366211"/>
              <a:ext cx="3756909" cy="257052"/>
            </a:xfrm>
            <a:prstGeom prst="roundRect">
              <a:avLst>
                <a:gd name="adj" fmla="val 11538"/>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7477" y="3403385"/>
              <a:ext cx="422158" cy="200421"/>
            </a:xfrm>
            <a:prstGeom prst="rect">
              <a:avLst/>
            </a:prstGeom>
            <a:noFill/>
          </p:spPr>
          <p:txBody>
            <a:bodyPr wrap="none" anchor="ctr" lIns="0" rIns="0" tIns="0" bIns="0">
              <a:noAutofit/>
            </a:bodyPr>
            <a:lstStyle/>
            <a:p>
              <a:pPr algn="l"/>
              <a:r>
                <a:rPr sz="1090" b="1">
                  <a:solidFill>
                    <a:srgbClr val="083F80"/>
                  </a:solidFill>
                  <a:latin typeface="맑은 고딕"/>
                  <a:ea typeface="맑은 고딕"/>
                  <a:cs typeface="맑은 고딕"/>
                </a:rPr>
                <a:t>256회</a:t>
              </a:r>
            </a:p>
          </p:txBody>
        </p:sp>
        <p:sp>
          <p:nvSpPr>
            <p:cNvPr id="31" name="TextBox 30"/>
            <p:cNvSpPr txBox="1"/>
            <p:nvPr/>
          </p:nvSpPr>
          <p:spPr>
            <a:xfrm>
              <a:off x="8191807" y="3443524"/>
              <a:ext cx="1084808" cy="150316"/>
            </a:xfrm>
            <a:prstGeom prst="rect">
              <a:avLst/>
            </a:prstGeom>
            <a:noFill/>
          </p:spPr>
          <p:txBody>
            <a:bodyPr wrap="none" anchor="ctr" lIns="0" rIns="0" tIns="0" bIns="0">
              <a:noAutofit/>
            </a:bodyPr>
            <a:lstStyle/>
            <a:p>
              <a:pPr algn="l"/>
              <a:r>
                <a:rPr sz="819" b="0">
                  <a:solidFill>
                    <a:srgbClr val="5B6B7B"/>
                  </a:solidFill>
                  <a:latin typeface="맑은 고딕"/>
                  <a:ea typeface="맑은 고딕"/>
                  <a:cs typeface="맑은 고딕"/>
                </a:rPr>
                <a:t>16 slice × slice당 16회</a:t>
              </a:r>
            </a:p>
          </p:txBody>
        </p:sp>
        <p:sp>
          <p:nvSpPr>
            <p:cNvPr id="32" name="TextBox 31"/>
            <p:cNvSpPr txBox="1"/>
            <p:nvPr/>
          </p:nvSpPr>
          <p:spPr>
            <a:xfrm>
              <a:off x="1548010" y="3827520"/>
              <a:ext cx="1644612" cy="164632"/>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attention V 축약 — 입력 청크 1개</a:t>
              </a:r>
            </a:p>
          </p:txBody>
        </p:sp>
        <p:sp>
          <p:nvSpPr>
            <p:cNvPr id="33" name="Rounded Rectangle 32"/>
            <p:cNvSpPr/>
            <p:nvPr/>
          </p:nvSpPr>
          <p:spPr>
            <a:xfrm>
              <a:off x="3821929" y="3781449"/>
              <a:ext cx="1878455" cy="257052"/>
            </a:xfrm>
            <a:prstGeom prst="roundRect">
              <a:avLst>
                <a:gd name="adj" fmla="val 11538"/>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19023" y="3818622"/>
              <a:ext cx="422158" cy="200421"/>
            </a:xfrm>
            <a:prstGeom prst="rect">
              <a:avLst/>
            </a:prstGeom>
            <a:noFill/>
          </p:spPr>
          <p:txBody>
            <a:bodyPr wrap="none" anchor="ctr" lIns="0" rIns="0" tIns="0" bIns="0">
              <a:noAutofit/>
            </a:bodyPr>
            <a:lstStyle/>
            <a:p>
              <a:pPr algn="l"/>
              <a:r>
                <a:rPr sz="1090" b="1">
                  <a:solidFill>
                    <a:srgbClr val="083F80"/>
                  </a:solidFill>
                  <a:latin typeface="맑은 고딕"/>
                  <a:ea typeface="맑은 고딕"/>
                  <a:cs typeface="맑은 고딕"/>
                </a:rPr>
                <a:t>128회</a:t>
              </a:r>
            </a:p>
          </p:txBody>
        </p:sp>
        <p:sp>
          <p:nvSpPr>
            <p:cNvPr id="35" name="TextBox 34"/>
            <p:cNvSpPr txBox="1"/>
            <p:nvPr/>
          </p:nvSpPr>
          <p:spPr>
            <a:xfrm>
              <a:off x="6313353" y="3858762"/>
              <a:ext cx="1170035" cy="150316"/>
            </a:xfrm>
            <a:prstGeom prst="rect">
              <a:avLst/>
            </a:prstGeom>
            <a:noFill/>
          </p:spPr>
          <p:txBody>
            <a:bodyPr wrap="none" anchor="ctr" lIns="0" rIns="0" tIns="0" bIns="0">
              <a:noAutofit/>
            </a:bodyPr>
            <a:lstStyle/>
            <a:p>
              <a:pPr algn="l"/>
              <a:r>
                <a:rPr sz="819" b="0">
                  <a:solidFill>
                    <a:srgbClr val="5B6B7B"/>
                  </a:solidFill>
                  <a:latin typeface="맑은 고딕"/>
                  <a:ea typeface="맑은 고딕"/>
                  <a:cs typeface="맑은 고딕"/>
                </a:rPr>
                <a:t>DPE 8개에 16번 동일 공급</a:t>
              </a:r>
            </a:p>
          </p:txBody>
        </p:sp>
        <p:sp>
          <p:nvSpPr>
            <p:cNvPr id="36" name="TextBox 35"/>
            <p:cNvSpPr txBox="1"/>
            <p:nvPr/>
          </p:nvSpPr>
          <p:spPr>
            <a:xfrm>
              <a:off x="3821929" y="4121548"/>
              <a:ext cx="1271714" cy="143158"/>
            </a:xfrm>
            <a:prstGeom prst="rect">
              <a:avLst/>
            </a:prstGeom>
            <a:noFill/>
          </p:spPr>
          <p:txBody>
            <a:bodyPr wrap="none" anchor="ctr" lIns="0" rIns="0" tIns="0" bIns="0">
              <a:noAutofit/>
            </a:bodyPr>
            <a:lstStyle/>
            <a:p>
              <a:pPr algn="l"/>
              <a:r>
                <a:rPr sz="780" b="0">
                  <a:solidFill>
                    <a:srgbClr val="5B6B7B"/>
                  </a:solidFill>
                  <a:latin typeface="맑은 고딕"/>
                  <a:ea typeface="맑은 고딕"/>
                  <a:cs typeface="맑은 고딕"/>
                </a:rPr>
                <a:t>막대 길이 = 재사용 횟수 (VI-B)</a:t>
              </a:r>
            </a:p>
          </p:txBody>
        </p:sp>
        <p:sp>
          <p:nvSpPr>
            <p:cNvPr id="37" name="Rounded Rectangle 36"/>
            <p:cNvSpPr/>
            <p:nvPr/>
          </p:nvSpPr>
          <p:spPr>
            <a:xfrm>
              <a:off x="1548010" y="4374645"/>
              <a:ext cx="9095675" cy="1166619"/>
            </a:xfrm>
            <a:prstGeom prst="roundRect">
              <a:avLst>
                <a:gd name="adj" fmla="val 6779"/>
              </a:avLst>
            </a:prstGeom>
            <a:solidFill>
              <a:srgbClr val="FDEBD3"/>
            </a:solidFill>
            <a:ln w="19773">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85288" y="4502380"/>
              <a:ext cx="1366101" cy="186105"/>
            </a:xfrm>
            <a:prstGeom prst="rect">
              <a:avLst/>
            </a:prstGeom>
            <a:noFill/>
          </p:spPr>
          <p:txBody>
            <a:bodyPr wrap="none" anchor="ctr" lIns="0" rIns="0" tIns="0" bIns="0">
              <a:noAutofit/>
            </a:bodyPr>
            <a:lstStyle/>
            <a:p>
              <a:pPr algn="l"/>
              <a:r>
                <a:rPr sz="1010" b="1">
                  <a:solidFill>
                    <a:srgbClr val="B45409"/>
                  </a:solidFill>
                  <a:latin typeface="맑은 고딕"/>
                  <a:ea typeface="맑은 고딕"/>
                  <a:cs typeface="맑은 고딕"/>
                </a:rPr>
                <a:t>반대 극단 — FFN (MLP)</a:t>
              </a:r>
            </a:p>
          </p:txBody>
        </p:sp>
        <p:sp>
          <p:nvSpPr>
            <p:cNvPr id="39" name="TextBox 38"/>
            <p:cNvSpPr txBox="1"/>
            <p:nvPr/>
          </p:nvSpPr>
          <p:spPr>
            <a:xfrm>
              <a:off x="1785288" y="4782368"/>
              <a:ext cx="1988542" cy="157474"/>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중간 차원 F 는 attention 출력 차원의 2.7배</a:t>
              </a:r>
            </a:p>
          </p:txBody>
        </p:sp>
        <p:sp>
          <p:nvSpPr>
            <p:cNvPr id="40" name="TextBox 39"/>
            <p:cNvSpPr txBox="1"/>
            <p:nvPr/>
          </p:nvSpPr>
          <p:spPr>
            <a:xfrm>
              <a:off x="1785288" y="4999874"/>
              <a:ext cx="2174292" cy="157474"/>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 MLP 가중치가 커서 HBM 읽기 트래픽이 크다</a:t>
              </a:r>
            </a:p>
          </p:txBody>
        </p:sp>
        <p:sp>
          <p:nvSpPr>
            <p:cNvPr id="41" name="TextBox 40"/>
            <p:cNvSpPr txBox="1"/>
            <p:nvPr/>
          </p:nvSpPr>
          <p:spPr>
            <a:xfrm>
              <a:off x="1785288" y="5217379"/>
              <a:ext cx="2640840" cy="157474"/>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F 가 2의 거듭제곱이 아님 → padding 필요 → 활용률 하락</a:t>
              </a:r>
            </a:p>
          </p:txBody>
        </p:sp>
        <p:sp>
          <p:nvSpPr>
            <p:cNvPr id="42" name="TextBox 41"/>
            <p:cNvSpPr txBox="1"/>
            <p:nvPr/>
          </p:nvSpPr>
          <p:spPr>
            <a:xfrm>
              <a:off x="8448291" y="4545090"/>
              <a:ext cx="1029344" cy="157474"/>
            </a:xfrm>
            <a:prstGeom prst="rect">
              <a:avLst/>
            </a:prstGeom>
            <a:noFill/>
          </p:spPr>
          <p:txBody>
            <a:bodyPr wrap="none" anchor="ctr" lIns="0" rIns="0" tIns="0" bIns="0">
              <a:noAutofit/>
            </a:bodyPr>
            <a:lstStyle/>
            <a:p>
              <a:pPr algn="ctr"/>
              <a:r>
                <a:rPr sz="860" b="1">
                  <a:solidFill>
                    <a:srgbClr val="B45409"/>
                  </a:solidFill>
                  <a:latin typeface="맑은 고딕"/>
                  <a:ea typeface="맑은 고딕"/>
                  <a:cs typeface="맑은 고딕"/>
                </a:rPr>
                <a:t>중간 벡터의 padding</a:t>
              </a:r>
            </a:p>
          </p:txBody>
        </p:sp>
        <p:sp>
          <p:nvSpPr>
            <p:cNvPr id="43" name="Rounded Rectangle 42"/>
            <p:cNvSpPr/>
            <p:nvPr/>
          </p:nvSpPr>
          <p:spPr>
            <a:xfrm>
              <a:off x="7479972" y="4789882"/>
              <a:ext cx="2214599" cy="276825"/>
            </a:xfrm>
            <a:prstGeom prst="roundRect">
              <a:avLst>
                <a:gd name="adj" fmla="val 10714"/>
              </a:avLst>
            </a:prstGeom>
            <a:solidFill>
              <a:srgbClr val="E2F4E8"/>
            </a:solidFill>
            <a:ln w="13841">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5672" y="4857309"/>
              <a:ext cx="523199" cy="150316"/>
            </a:xfrm>
            <a:prstGeom prst="rect">
              <a:avLst/>
            </a:prstGeom>
            <a:noFill/>
          </p:spPr>
          <p:txBody>
            <a:bodyPr wrap="none" anchor="ctr" lIns="0" rIns="0" tIns="0" bIns="0">
              <a:noAutofit/>
            </a:bodyPr>
            <a:lstStyle/>
            <a:p>
              <a:pPr algn="ctr"/>
              <a:r>
                <a:rPr sz="819" b="0">
                  <a:solidFill>
                    <a:srgbClr val="1A7F37"/>
                  </a:solidFill>
                  <a:latin typeface="맑은 고딕"/>
                  <a:ea typeface="맑은 고딕"/>
                  <a:cs typeface="맑은 고딕"/>
                </a:rPr>
                <a:t>실제 F 크기</a:t>
              </a:r>
            </a:p>
          </p:txBody>
        </p:sp>
        <p:sp>
          <p:nvSpPr>
            <p:cNvPr id="45" name="Rounded Rectangle 44"/>
            <p:cNvSpPr/>
            <p:nvPr/>
          </p:nvSpPr>
          <p:spPr>
            <a:xfrm>
              <a:off x="9694571" y="4789882"/>
              <a:ext cx="751382" cy="276825"/>
            </a:xfrm>
            <a:prstGeom prst="roundRect">
              <a:avLst>
                <a:gd name="adj" fmla="val 10714"/>
              </a:avLst>
            </a:prstGeom>
            <a:solidFill>
              <a:srgbClr val="FDE8E8"/>
            </a:solidFill>
            <a:ln w="13841">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61853" y="4863043"/>
              <a:ext cx="416819" cy="143158"/>
            </a:xfrm>
            <a:prstGeom prst="rect">
              <a:avLst/>
            </a:prstGeom>
            <a:noFill/>
          </p:spPr>
          <p:txBody>
            <a:bodyPr wrap="none" anchor="ctr" lIns="0" rIns="0" tIns="0" bIns="0">
              <a:noAutofit/>
            </a:bodyPr>
            <a:lstStyle/>
            <a:p>
              <a:pPr algn="ctr"/>
              <a:r>
                <a:rPr sz="780" b="0">
                  <a:solidFill>
                    <a:srgbClr val="B4222A"/>
                  </a:solidFill>
                  <a:latin typeface="맑은 고딕"/>
                  <a:ea typeface="맑은 고딕"/>
                  <a:cs typeface="맑은 고딕"/>
                </a:rPr>
                <a:t>padding</a:t>
              </a:r>
            </a:p>
          </p:txBody>
        </p:sp>
        <p:sp>
          <p:nvSpPr>
            <p:cNvPr id="47" name="TextBox 46"/>
            <p:cNvSpPr txBox="1"/>
            <p:nvPr/>
          </p:nvSpPr>
          <p:spPr>
            <a:xfrm>
              <a:off x="8289818" y="5175262"/>
              <a:ext cx="1346288" cy="136000"/>
            </a:xfrm>
            <a:prstGeom prst="rect">
              <a:avLst/>
            </a:prstGeom>
            <a:noFill/>
          </p:spPr>
          <p:txBody>
            <a:bodyPr wrap="none" anchor="ctr" lIns="0" rIns="0" tIns="0" bIns="0">
              <a:noAutofit/>
            </a:bodyPr>
            <a:lstStyle/>
            <a:p>
              <a:pPr algn="ctr"/>
              <a:r>
                <a:rPr sz="740" b="0">
                  <a:solidFill>
                    <a:srgbClr val="5B6B7B"/>
                  </a:solidFill>
                  <a:latin typeface="맑은 고딕"/>
                  <a:ea typeface="맑은 고딕"/>
                  <a:cs typeface="맑은 고딕"/>
                </a:rPr>
                <a:t>모식도 — 실제 비율은 논문에 없다</a:t>
              </a:r>
            </a:p>
          </p:txBody>
        </p:sp>
      </p:grpSp>
      <p:sp>
        <p:nvSpPr>
          <p:cNvPr id="48" name="Rectangle 4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attention 은 256회 재사용, FFN 은 padding 손실 — 같은 모델 안에서도 이만큼 다르다</a:t>
            </a:r>
          </a:p>
        </p:txBody>
      </p:sp>
      <p:sp>
        <p:nvSpPr>
          <p:cNvPr id="49" name="Rectangle 4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교훈 1 보강 — 논문이 실제로 마련해 둔 재사용 수단들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제3·6장에서 가져온 근거 (제7장 본문에는 수치가 없다)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250</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재사용 3종은 하드웨어가 다 갖춰 두고 소프트웨어가 연산자에 맞춰 고르는 것이다. 셋을 동시에 켜는 게 아니다</a:t>
            </a:r>
          </a:p>
          <a:p>
            <a:pPr algn="l">
              <a:lnSpc>
                <a:spcPct val="118000"/>
              </a:lnSpc>
              <a:spcBef>
                <a:spcPts val="600"/>
              </a:spcBef>
              <a:spcAft>
                <a:spcPts val="200"/>
              </a:spcAft>
            </a:pPr>
            <a:r>
              <a:rPr sz="1900" b="1" i="0">
                <a:solidFill>
                  <a:srgbClr val="083F80"/>
                </a:solidFill>
                <a:latin typeface="Segoe UI"/>
                <a:ea typeface="맑은 고딕"/>
                <a:cs typeface="맑은 고딕"/>
              </a:rPr>
              <a:t>▪  256회·128회·2.7배는 모두 제6장 LLaMA-2 7B 사례의 값이다. 제7장 교훈 본문에는 수치가 하나도 없다</a:t>
            </a:r>
          </a:p>
          <a:p>
            <a:pPr algn="l">
              <a:lnSpc>
                <a:spcPct val="118000"/>
              </a:lnSpc>
              <a:spcBef>
                <a:spcPts val="600"/>
              </a:spcBef>
              <a:spcAft>
                <a:spcPts val="200"/>
              </a:spcAft>
            </a:pPr>
            <a:r>
              <a:rPr sz="1900" b="0" i="0">
                <a:solidFill>
                  <a:srgbClr val="16202C"/>
                </a:solidFill>
                <a:latin typeface="Segoe UI"/>
                <a:ea typeface="맑은 고딕"/>
                <a:cs typeface="맑은 고딕"/>
              </a:rPr>
              <a:t>▪  attention 은 재사용이 잘 드는 쪽, FFN 은 안 드는 쪽이다 — 한 모델 안에서도 성격이 정반대다</a:t>
            </a:r>
          </a:p>
          <a:p>
            <a:pPr algn="l">
              <a:lnSpc>
                <a:spcPct val="118000"/>
              </a:lnSpc>
              <a:spcBef>
                <a:spcPts val="600"/>
              </a:spcBef>
              <a:spcAft>
                <a:spcPts val="200"/>
              </a:spcAft>
            </a:pPr>
            <a:r>
              <a:rPr sz="1900" b="0" i="0">
                <a:solidFill>
                  <a:srgbClr val="16202C"/>
                </a:solidFill>
                <a:latin typeface="Segoe UI"/>
                <a:ea typeface="맑은 고딕"/>
                <a:cs typeface="맑은 고딕"/>
              </a:rPr>
              <a:t>▪  그래서 고정 크기 행렬곱 하나로는 못 덮는다. 교훈 1은 tensor contraction 을 프리미티브로 삼은 제1장 전제의 사후 검증이다</a:t>
            </a:r>
          </a:p>
          <a:p>
            <a:pPr algn="l">
              <a:lnSpc>
                <a:spcPct val="118000"/>
              </a:lnSpc>
              <a:spcBef>
                <a:spcPts val="200"/>
              </a:spcBef>
              <a:spcAft>
                <a:spcPts val="100"/>
              </a:spcAft>
            </a:pPr>
            <a:r>
              <a:rPr sz="1780" b="0" i="0">
                <a:solidFill>
                  <a:srgbClr val="2C3A4B"/>
                </a:solidFill>
                <a:latin typeface="Segoe UI"/>
                <a:ea typeface="맑은 고딕"/>
                <a:cs typeface="맑은 고딕"/>
              </a:rPr>
              <a:t>–  FFN 의 실제 재사용 횟수와 padding 비율은 논문이 밝히지 않는다</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2 — SRAM 지역성과 텐서 이동 (1/3)</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Optimizing SRAM Locality and Tensor Movement</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251</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원문 주장</a:t>
            </a:r>
          </a:p>
          <a:p>
            <a:pPr algn="l">
              <a:lnSpc>
                <a:spcPct val="118000"/>
              </a:lnSpc>
              <a:spcBef>
                <a:spcPts val="200"/>
              </a:spcBef>
              <a:spcAft>
                <a:spcPts val="100"/>
              </a:spcAft>
            </a:pPr>
            <a:r>
              <a:rPr sz="1780" b="0" i="0">
                <a:solidFill>
                  <a:srgbClr val="2C3A4B"/>
                </a:solidFill>
                <a:latin typeface="Segoe UI"/>
                <a:ea typeface="맑은 고딕"/>
                <a:cs typeface="맑은 고딕"/>
              </a:rPr>
              <a:t>–  연속한 연산자들 사이의 SRAM locality(지역성)를 최적화하는 것이 매우 중요하다</a:t>
            </a:r>
          </a:p>
          <a:p>
            <a:pPr algn="l">
              <a:lnSpc>
                <a:spcPct val="118000"/>
              </a:lnSpc>
              <a:spcBef>
                <a:spcPts val="200"/>
              </a:spcBef>
              <a:spcAft>
                <a:spcPts val="100"/>
              </a:spcAft>
            </a:pPr>
            <a:r>
              <a:rPr sz="1780" b="0" i="0">
                <a:solidFill>
                  <a:srgbClr val="2C3A4B"/>
                </a:solidFill>
                <a:latin typeface="Segoe UI"/>
                <a:ea typeface="맑은 고딕"/>
                <a:cs typeface="맑은 고딕"/>
              </a:rPr>
              <a:t>–  흔한 난관은 한 레이어의 출력 레이아웃과 다음 레이어의 입력 레이아웃이 불일치(mismatch)하는 상황이다</a:t>
            </a:r>
          </a:p>
          <a:p>
            <a:pPr algn="l">
              <a:lnSpc>
                <a:spcPct val="118000"/>
              </a:lnSpc>
              <a:spcBef>
                <a:spcPts val="200"/>
              </a:spcBef>
              <a:spcAft>
                <a:spcPts val="100"/>
              </a:spcAft>
            </a:pPr>
            <a:r>
              <a:rPr sz="1780" b="0" i="0">
                <a:solidFill>
                  <a:srgbClr val="2C3A4B"/>
                </a:solidFill>
                <a:latin typeface="Segoe UI"/>
                <a:ea typeface="맑은 고딕"/>
                <a:cs typeface="맑은 고딕"/>
              </a:rPr>
              <a:t>–  이 상황은 흔히 비싼(costly) 레이아웃 변환을 강요한다</a:t>
            </a:r>
          </a:p>
          <a:p>
            <a:pPr algn="l">
              <a:lnSpc>
                <a:spcPct val="118000"/>
              </a:lnSpc>
              <a:spcBef>
                <a:spcPts val="600"/>
              </a:spcBef>
              <a:spcAft>
                <a:spcPts val="200"/>
              </a:spcAft>
            </a:pPr>
            <a:r>
              <a:rPr sz="1900" b="1" i="0">
                <a:solidFill>
                  <a:srgbClr val="083F80"/>
                </a:solidFill>
                <a:latin typeface="Segoe UI"/>
                <a:ea typeface="맑은 고딕"/>
                <a:cs typeface="맑은 고딕"/>
              </a:rPr>
              <a:t>▪  왜 TCP에서 특히 문제인가</a:t>
            </a:r>
          </a:p>
          <a:p>
            <a:pPr algn="l">
              <a:lnSpc>
                <a:spcPct val="118000"/>
              </a:lnSpc>
              <a:spcBef>
                <a:spcPts val="200"/>
              </a:spcBef>
              <a:spcAft>
                <a:spcPts val="100"/>
              </a:spcAft>
            </a:pPr>
            <a:r>
              <a:rPr sz="1780" b="0" i="0">
                <a:solidFill>
                  <a:srgbClr val="2C3A4B"/>
                </a:solidFill>
                <a:latin typeface="Segoe UI"/>
                <a:ea typeface="맑은 고딕"/>
                <a:cs typeface="맑은 고딕"/>
              </a:rPr>
              <a:t>–  TCP는 텐서를 lowered shape(하강 형상)으로 슬라이스에 흩뿌려 저장한다 — 'inter-slice partitioning shape | intra-slice shape' (제2장 A절)</a:t>
            </a:r>
          </a:p>
          <a:p>
            <a:pPr algn="l">
              <a:lnSpc>
                <a:spcPct val="118000"/>
              </a:lnSpc>
              <a:spcBef>
                <a:spcPts val="200"/>
              </a:spcBef>
              <a:spcAft>
                <a:spcPts val="100"/>
              </a:spcAft>
            </a:pPr>
            <a:r>
              <a:rPr sz="1780" b="0" i="0">
                <a:solidFill>
                  <a:srgbClr val="2C3A4B"/>
                </a:solidFill>
                <a:latin typeface="Segoe UI"/>
                <a:ea typeface="맑은 고딕"/>
                <a:cs typeface="맑은 고딕"/>
              </a:rPr>
              <a:t>–  어떤 축을 몇 개 slice에 나눴는지가 곧 데이터의 물리적 배치다</a:t>
            </a:r>
          </a:p>
          <a:p>
            <a:pPr algn="l">
              <a:lnSpc>
                <a:spcPct val="118000"/>
              </a:lnSpc>
              <a:spcBef>
                <a:spcPts val="200"/>
              </a:spcBef>
              <a:spcAft>
                <a:spcPts val="100"/>
              </a:spcAft>
            </a:pPr>
            <a:r>
              <a:rPr sz="1780" b="0" i="0">
                <a:solidFill>
                  <a:srgbClr val="2C3A4B"/>
                </a:solidFill>
                <a:latin typeface="Segoe UI"/>
                <a:ea typeface="맑은 고딕"/>
                <a:cs typeface="맑은 고딕"/>
              </a:rPr>
              <a:t>–  따라서 앞 레이어가 고른 분할과 뒤 레이어가 원하는 분할이 다르면 실제 데이터를 옮겨야 한다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레이어 경계에서 레이아웃이 어긋나면 비싼 변환 비용을 물게 된다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교훈 2 — SRAM 지역성과 텐서 이동 (2/3)</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국소 최적화로는 부족하다 — 전역 최적화기가 필요하다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252</a:t>
            </a:r>
          </a:p>
        </p:txBody>
      </p:sp>
      <p:grpSp>
        <p:nvGrpSpPr>
          <p:cNvPr id="9" name="도해 A9#06"/>
          <p:cNvGrpSpPr/>
          <p:nvPr/>
        </p:nvGrpSpPr>
        <p:grpSpPr>
          <a:xfrm>
            <a:off x="1892068" y="1463040"/>
            <a:ext cx="8407559" cy="4078224"/>
            <a:chOff x="1892068" y="1463040"/>
            <a:chExt cx="8407559" cy="4078224"/>
          </a:xfrm>
        </p:grpSpPr>
        <p:sp>
          <p:nvSpPr>
            <p:cNvPr id="10" name="TextBox 9"/>
            <p:cNvSpPr txBox="1"/>
            <p:nvPr/>
          </p:nvSpPr>
          <p:spPr>
            <a:xfrm>
              <a:off x="1892068" y="1463040"/>
              <a:ext cx="4334682" cy="168337"/>
            </a:xfrm>
            <a:prstGeom prst="rect">
              <a:avLst/>
            </a:prstGeom>
            <a:noFill/>
          </p:spPr>
          <p:txBody>
            <a:bodyPr wrap="none" anchor="ctr" lIns="0" rIns="0" tIns="0" bIns="0">
              <a:noAutofit/>
            </a:bodyPr>
            <a:lstStyle/>
            <a:p>
              <a:pPr algn="l"/>
              <a:r>
                <a:rPr sz="919" b="0">
                  <a:solidFill>
                    <a:srgbClr val="5B6B7B"/>
                  </a:solidFill>
                  <a:latin typeface="맑은 고딕"/>
                  <a:ea typeface="맑은 고딕"/>
                  <a:cs typeface="맑은 고딕"/>
                </a:rPr>
                <a:t>레이어 경계 — 앞이 내놓은 배치와 뒤가 원하는 배치가 다르면 데이터를 실제로 옮겨야 한다</a:t>
              </a:r>
            </a:p>
          </p:txBody>
        </p:sp>
        <p:sp>
          <p:nvSpPr>
            <p:cNvPr id="11" name="Rounded Rectangle 10"/>
            <p:cNvSpPr/>
            <p:nvPr/>
          </p:nvSpPr>
          <p:spPr>
            <a:xfrm>
              <a:off x="2040874" y="1802504"/>
              <a:ext cx="2492506" cy="1636870"/>
            </a:xfrm>
            <a:prstGeom prst="roundRect">
              <a:avLst>
                <a:gd name="adj" fmla="val 5113"/>
              </a:avLst>
            </a:prstGeom>
            <a:solidFill>
              <a:srgbClr val="F4F8FD"/>
            </a:solidFill>
            <a:ln w="1860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28223" y="1917271"/>
              <a:ext cx="917810" cy="181804"/>
            </a:xfrm>
            <a:prstGeom prst="rect">
              <a:avLst/>
            </a:prstGeom>
            <a:noFill/>
          </p:spPr>
          <p:txBody>
            <a:bodyPr wrap="none" anchor="ctr" lIns="0" rIns="0" tIns="0" bIns="0">
              <a:noAutofit/>
            </a:bodyPr>
            <a:lstStyle/>
            <a:p>
              <a:pPr algn="ctr"/>
              <a:r>
                <a:rPr sz="990" b="1">
                  <a:solidFill>
                    <a:srgbClr val="083F80"/>
                  </a:solidFill>
                  <a:latin typeface="맑은 고딕"/>
                  <a:ea typeface="맑은 고딕"/>
                  <a:cs typeface="맑은 고딕"/>
                </a:rPr>
                <a:t>연산자 N 의 출력</a:t>
              </a:r>
            </a:p>
          </p:txBody>
        </p:sp>
        <p:sp>
          <p:nvSpPr>
            <p:cNvPr id="13" name="TextBox 12"/>
            <p:cNvSpPr txBox="1"/>
            <p:nvPr/>
          </p:nvSpPr>
          <p:spPr>
            <a:xfrm>
              <a:off x="2801201" y="2135645"/>
              <a:ext cx="971854" cy="141403"/>
            </a:xfrm>
            <a:prstGeom prst="rect">
              <a:avLst/>
            </a:prstGeom>
            <a:noFill/>
          </p:spPr>
          <p:txBody>
            <a:bodyPr wrap="none" anchor="ctr" lIns="0" rIns="0" tIns="0" bIns="0">
              <a:noAutofit/>
            </a:bodyPr>
            <a:lstStyle/>
            <a:p>
              <a:pPr algn="ctr"/>
              <a:r>
                <a:rPr sz="770" b="0">
                  <a:solidFill>
                    <a:srgbClr val="5B6B7B"/>
                  </a:solidFill>
                  <a:latin typeface="맑은 고딕"/>
                  <a:ea typeface="맑은 고딕"/>
                  <a:cs typeface="맑은 고딕"/>
                </a:rPr>
                <a:t>e 축을 slice 4개에 분할</a:t>
              </a:r>
            </a:p>
          </p:txBody>
        </p:sp>
        <p:sp>
          <p:nvSpPr>
            <p:cNvPr id="14" name="Rounded Rectangle 13"/>
            <p:cNvSpPr/>
            <p:nvPr/>
          </p:nvSpPr>
          <p:spPr>
            <a:xfrm>
              <a:off x="2143179" y="2379129"/>
              <a:ext cx="502221" cy="781233"/>
            </a:xfrm>
            <a:prstGeom prst="roundRect">
              <a:avLst>
                <a:gd name="adj" fmla="val 7407"/>
              </a:avLst>
            </a:prstGeom>
            <a:solidFill>
              <a:srgbClr val="CBE0F7"/>
            </a:solidFill>
            <a:ln w="1116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38404" y="2379129"/>
              <a:ext cx="502221" cy="781233"/>
            </a:xfrm>
            <a:prstGeom prst="roundRect">
              <a:avLst>
                <a:gd name="adj" fmla="val 7407"/>
              </a:avLst>
            </a:prstGeom>
            <a:solidFill>
              <a:srgbClr val="CBE0F7"/>
            </a:solidFill>
            <a:ln w="1116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33630" y="2379129"/>
              <a:ext cx="502221" cy="781233"/>
            </a:xfrm>
            <a:prstGeom prst="roundRect">
              <a:avLst>
                <a:gd name="adj" fmla="val 7407"/>
              </a:avLst>
            </a:prstGeom>
            <a:solidFill>
              <a:srgbClr val="CBE0F7"/>
            </a:solidFill>
            <a:ln w="1116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928855" y="2379129"/>
              <a:ext cx="502221" cy="781233"/>
            </a:xfrm>
            <a:prstGeom prst="roundRect">
              <a:avLst>
                <a:gd name="adj" fmla="val 7407"/>
              </a:avLst>
            </a:prstGeom>
            <a:solidFill>
              <a:srgbClr val="CBE0F7"/>
            </a:solidFill>
            <a:ln w="1116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52658"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0</a:t>
              </a:r>
            </a:p>
          </p:txBody>
        </p:sp>
        <p:sp>
          <p:nvSpPr>
            <p:cNvPr id="19" name="TextBox 18"/>
            <p:cNvSpPr txBox="1"/>
            <p:nvPr/>
          </p:nvSpPr>
          <p:spPr>
            <a:xfrm>
              <a:off x="2847884"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1</a:t>
              </a:r>
            </a:p>
          </p:txBody>
        </p:sp>
        <p:sp>
          <p:nvSpPr>
            <p:cNvPr id="20" name="TextBox 19"/>
            <p:cNvSpPr txBox="1"/>
            <p:nvPr/>
          </p:nvSpPr>
          <p:spPr>
            <a:xfrm>
              <a:off x="3443109"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2</a:t>
              </a:r>
            </a:p>
          </p:txBody>
        </p:sp>
        <p:sp>
          <p:nvSpPr>
            <p:cNvPr id="21" name="TextBox 20"/>
            <p:cNvSpPr txBox="1"/>
            <p:nvPr/>
          </p:nvSpPr>
          <p:spPr>
            <a:xfrm>
              <a:off x="4038335"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3</a:t>
              </a:r>
            </a:p>
          </p:txBody>
        </p:sp>
        <p:sp>
          <p:nvSpPr>
            <p:cNvPr id="22" name="TextBox 21"/>
            <p:cNvSpPr txBox="1"/>
            <p:nvPr/>
          </p:nvSpPr>
          <p:spPr>
            <a:xfrm>
              <a:off x="2271987" y="2757283"/>
              <a:ext cx="244605" cy="154870"/>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e[0]</a:t>
              </a:r>
            </a:p>
          </p:txBody>
        </p:sp>
        <p:sp>
          <p:nvSpPr>
            <p:cNvPr id="23" name="TextBox 22"/>
            <p:cNvSpPr txBox="1"/>
            <p:nvPr/>
          </p:nvSpPr>
          <p:spPr>
            <a:xfrm>
              <a:off x="2867212" y="2757283"/>
              <a:ext cx="244605" cy="154870"/>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e[1]</a:t>
              </a:r>
            </a:p>
          </p:txBody>
        </p:sp>
        <p:sp>
          <p:nvSpPr>
            <p:cNvPr id="24" name="TextBox 23"/>
            <p:cNvSpPr txBox="1"/>
            <p:nvPr/>
          </p:nvSpPr>
          <p:spPr>
            <a:xfrm>
              <a:off x="3462438" y="2757283"/>
              <a:ext cx="244605" cy="154870"/>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e[2]</a:t>
              </a:r>
            </a:p>
          </p:txBody>
        </p:sp>
        <p:sp>
          <p:nvSpPr>
            <p:cNvPr id="25" name="TextBox 24"/>
            <p:cNvSpPr txBox="1"/>
            <p:nvPr/>
          </p:nvSpPr>
          <p:spPr>
            <a:xfrm>
              <a:off x="4057663" y="2757283"/>
              <a:ext cx="244605" cy="154870"/>
            </a:xfrm>
            <a:prstGeom prst="rect">
              <a:avLst/>
            </a:prstGeom>
            <a:noFill/>
          </p:spPr>
          <p:txBody>
            <a:bodyPr wrap="none" anchor="ctr" lIns="0" rIns="0" tIns="0" bIns="0">
              <a:noAutofit/>
            </a:bodyPr>
            <a:lstStyle/>
            <a:p>
              <a:pPr algn="ctr"/>
              <a:r>
                <a:rPr sz="840" b="1">
                  <a:solidFill>
                    <a:srgbClr val="083F80"/>
                  </a:solidFill>
                  <a:latin typeface="맑은 고딕"/>
                  <a:ea typeface="맑은 고딕"/>
                  <a:cs typeface="맑은 고딕"/>
                </a:rPr>
                <a:t>e[3]</a:t>
              </a:r>
            </a:p>
          </p:txBody>
        </p:sp>
        <p:sp>
          <p:nvSpPr>
            <p:cNvPr id="26" name="TextBox 25"/>
            <p:cNvSpPr txBox="1"/>
            <p:nvPr/>
          </p:nvSpPr>
          <p:spPr>
            <a:xfrm>
              <a:off x="2725756" y="3201284"/>
              <a:ext cx="1122744" cy="134670"/>
            </a:xfrm>
            <a:prstGeom prst="rect">
              <a:avLst/>
            </a:prstGeom>
            <a:noFill/>
          </p:spPr>
          <p:txBody>
            <a:bodyPr wrap="none" anchor="ctr" lIns="0" rIns="0" tIns="0" bIns="0">
              <a:noAutofit/>
            </a:bodyPr>
            <a:lstStyle/>
            <a:p>
              <a:pPr algn="ctr"/>
              <a:r>
                <a:rPr sz="730" b="0">
                  <a:solidFill>
                    <a:srgbClr val="5B6B7B"/>
                  </a:solidFill>
                  <a:latin typeface="맑은 고딕"/>
                  <a:ea typeface="맑은 고딕"/>
                  <a:cs typeface="맑은 고딕"/>
                </a:rPr>
                <a:t>데이터가 이렇게 흩어져 있다</a:t>
              </a:r>
            </a:p>
          </p:txBody>
        </p:sp>
        <p:cxnSp>
          <p:nvCxnSpPr>
            <p:cNvPr id="27" name="Connector 26"/>
            <p:cNvCxnSpPr/>
            <p:nvPr/>
          </p:nvCxnSpPr>
          <p:spPr>
            <a:xfrm>
              <a:off x="4737990" y="2509335"/>
              <a:ext cx="148806" cy="148806"/>
            </a:xfrm>
            <a:prstGeom prst="line">
              <a:avLst/>
            </a:prstGeom>
            <a:ln w="24181">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737990" y="2509335"/>
              <a:ext cx="148806" cy="148806"/>
            </a:xfrm>
            <a:prstGeom prst="line">
              <a:avLst/>
            </a:prstGeom>
            <a:ln w="24181">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551982" y="2844149"/>
              <a:ext cx="390616" cy="0"/>
            </a:xfrm>
            <a:prstGeom prst="line">
              <a:avLst/>
            </a:prstGeom>
            <a:ln w="20460">
              <a:solidFill>
                <a:srgbClr val="B4222A"/>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4923998" y="2779046"/>
              <a:ext cx="167407" cy="130206"/>
            </a:xfrm>
            <a:custGeom>
              <a:avLst/>
              <a:gdLst/>
              <a:ahLst/>
              <a:cxnLst/>
              <a:rect l="l" t="t" r="r" b="b"/>
              <a:pathLst>
                <a:path w="167407" h="130206">
                  <a:moveTo>
                    <a:pt x="0" y="0"/>
                  </a:moveTo>
                  <a:lnTo>
                    <a:pt x="167407" y="65103"/>
                  </a:lnTo>
                  <a:lnTo>
                    <a:pt x="0" y="130206"/>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0052" y="3009882"/>
              <a:ext cx="304681" cy="141403"/>
            </a:xfrm>
            <a:prstGeom prst="rect">
              <a:avLst/>
            </a:prstGeom>
            <a:noFill/>
          </p:spPr>
          <p:txBody>
            <a:bodyPr wrap="none" anchor="ctr" lIns="0" rIns="0" tIns="0" bIns="0">
              <a:noAutofit/>
            </a:bodyPr>
            <a:lstStyle/>
            <a:p>
              <a:pPr algn="ctr"/>
              <a:r>
                <a:rPr sz="770" b="0">
                  <a:solidFill>
                    <a:srgbClr val="B4222A"/>
                  </a:solidFill>
                  <a:latin typeface="맑은 고딕"/>
                  <a:ea typeface="맑은 고딕"/>
                  <a:cs typeface="맑은 고딕"/>
                </a:rPr>
                <a:t>불일치</a:t>
              </a:r>
            </a:p>
          </p:txBody>
        </p:sp>
        <p:sp>
          <p:nvSpPr>
            <p:cNvPr id="32" name="Rounded Rectangle 31"/>
            <p:cNvSpPr/>
            <p:nvPr/>
          </p:nvSpPr>
          <p:spPr>
            <a:xfrm>
              <a:off x="5091405" y="1802504"/>
              <a:ext cx="2157692" cy="1636870"/>
            </a:xfrm>
            <a:prstGeom prst="roundRect">
              <a:avLst>
                <a:gd name="adj" fmla="val 5113"/>
              </a:avLst>
            </a:prstGeom>
            <a:solidFill>
              <a:srgbClr val="FDEBD3"/>
            </a:solidFill>
            <a:ln w="2046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45132" y="1911877"/>
              <a:ext cx="1050238" cy="188538"/>
            </a:xfrm>
            <a:prstGeom prst="rect">
              <a:avLst/>
            </a:prstGeom>
            <a:noFill/>
          </p:spPr>
          <p:txBody>
            <a:bodyPr wrap="none" anchor="ctr" lIns="0" rIns="0" tIns="0" bIns="0">
              <a:noAutofit/>
            </a:bodyPr>
            <a:lstStyle/>
            <a:p>
              <a:pPr algn="ctr"/>
              <a:r>
                <a:rPr sz="1030" b="1">
                  <a:solidFill>
                    <a:srgbClr val="B45409"/>
                  </a:solidFill>
                  <a:latin typeface="맑은 고딕"/>
                  <a:ea typeface="맑은 고딕"/>
                  <a:cs typeface="맑은 고딕"/>
                </a:rPr>
                <a:t>bridge operator</a:t>
              </a:r>
            </a:p>
          </p:txBody>
        </p:sp>
        <p:sp>
          <p:nvSpPr>
            <p:cNvPr id="34" name="TextBox 33"/>
            <p:cNvSpPr txBox="1"/>
            <p:nvPr/>
          </p:nvSpPr>
          <p:spPr>
            <a:xfrm>
              <a:off x="5681589" y="2135645"/>
              <a:ext cx="977323" cy="141403"/>
            </a:xfrm>
            <a:prstGeom prst="rect">
              <a:avLst/>
            </a:prstGeom>
            <a:noFill/>
          </p:spPr>
          <p:txBody>
            <a:bodyPr wrap="none" anchor="ctr" lIns="0" rIns="0" tIns="0" bIns="0">
              <a:noAutofit/>
            </a:bodyPr>
            <a:lstStyle/>
            <a:p>
              <a:pPr algn="ctr"/>
              <a:r>
                <a:rPr sz="770" b="0">
                  <a:solidFill>
                    <a:srgbClr val="5B6B7B"/>
                  </a:solidFill>
                  <a:latin typeface="맑은 고딕"/>
                  <a:ea typeface="맑은 고딕"/>
                  <a:cs typeface="맑은 고딕"/>
                </a:rPr>
                <a:t>컴파일러가 끼워 넣는다</a:t>
              </a:r>
            </a:p>
          </p:txBody>
        </p:sp>
        <p:sp>
          <p:nvSpPr>
            <p:cNvPr id="35" name="Rounded Rectangle 34"/>
            <p:cNvSpPr/>
            <p:nvPr/>
          </p:nvSpPr>
          <p:spPr>
            <a:xfrm>
              <a:off x="5398318" y="2397730"/>
              <a:ext cx="316213" cy="204609"/>
            </a:xfrm>
            <a:prstGeom prst="roundRect">
              <a:avLst>
                <a:gd name="adj" fmla="val 13636"/>
              </a:avLst>
            </a:prstGeom>
            <a:solidFill>
              <a:srgbClr val="CBE0F7"/>
            </a:solidFill>
            <a:ln w="930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07535" y="2397730"/>
              <a:ext cx="316213" cy="204609"/>
            </a:xfrm>
            <a:prstGeom prst="roundRect">
              <a:avLst>
                <a:gd name="adj" fmla="val 13636"/>
              </a:avLst>
            </a:prstGeom>
            <a:solidFill>
              <a:srgbClr val="CBE0F7"/>
            </a:solidFill>
            <a:ln w="930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16753" y="2397730"/>
              <a:ext cx="316213" cy="204609"/>
            </a:xfrm>
            <a:prstGeom prst="roundRect">
              <a:avLst>
                <a:gd name="adj" fmla="val 13636"/>
              </a:avLst>
            </a:prstGeom>
            <a:solidFill>
              <a:srgbClr val="CBE0F7"/>
            </a:solidFill>
            <a:ln w="930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625970" y="2397730"/>
              <a:ext cx="316213" cy="204609"/>
            </a:xfrm>
            <a:prstGeom prst="roundRect">
              <a:avLst>
                <a:gd name="adj" fmla="val 13636"/>
              </a:avLst>
            </a:prstGeom>
            <a:solidFill>
              <a:srgbClr val="CBE0F7"/>
            </a:solidFill>
            <a:ln w="930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5556424" y="2602339"/>
              <a:ext cx="818435" cy="223209"/>
            </a:xfrm>
            <a:prstGeom prst="line">
              <a:avLst/>
            </a:prstGeom>
            <a:ln w="10230">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556424" y="2602339"/>
              <a:ext cx="409218" cy="223209"/>
            </a:xfrm>
            <a:prstGeom prst="line">
              <a:avLst/>
            </a:prstGeom>
            <a:ln w="10230">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374859" y="2602339"/>
              <a:ext cx="409218" cy="223209"/>
            </a:xfrm>
            <a:prstGeom prst="line">
              <a:avLst/>
            </a:prstGeom>
            <a:ln w="10230">
              <a:solidFill>
                <a:srgbClr val="B4540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965642" y="2602339"/>
              <a:ext cx="818435" cy="223209"/>
            </a:xfrm>
            <a:prstGeom prst="line">
              <a:avLst/>
            </a:prstGeom>
            <a:ln w="10230">
              <a:solidFill>
                <a:srgbClr val="B45409"/>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5398318" y="2825548"/>
              <a:ext cx="316213" cy="204609"/>
            </a:xfrm>
            <a:prstGeom prst="roundRect">
              <a:avLst>
                <a:gd name="adj" fmla="val 13636"/>
              </a:avLst>
            </a:prstGeom>
            <a:solidFill>
              <a:srgbClr val="E2F4E8"/>
            </a:solidFill>
            <a:ln w="9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807535" y="2825548"/>
              <a:ext cx="316213" cy="204609"/>
            </a:xfrm>
            <a:prstGeom prst="roundRect">
              <a:avLst>
                <a:gd name="adj" fmla="val 13636"/>
              </a:avLst>
            </a:prstGeom>
            <a:solidFill>
              <a:srgbClr val="E2F4E8"/>
            </a:solidFill>
            <a:ln w="9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216753" y="2825548"/>
              <a:ext cx="316213" cy="204609"/>
            </a:xfrm>
            <a:prstGeom prst="roundRect">
              <a:avLst>
                <a:gd name="adj" fmla="val 13636"/>
              </a:avLst>
            </a:prstGeom>
            <a:solidFill>
              <a:srgbClr val="E2F4E8"/>
            </a:solidFill>
            <a:ln w="9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625970" y="2825548"/>
              <a:ext cx="316213" cy="204609"/>
            </a:xfrm>
            <a:prstGeom prst="roundRect">
              <a:avLst>
                <a:gd name="adj" fmla="val 13636"/>
              </a:avLst>
            </a:prstGeom>
            <a:solidFill>
              <a:srgbClr val="E2F4E8"/>
            </a:solidFill>
            <a:ln w="93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90975" y="3182683"/>
              <a:ext cx="1158550" cy="134670"/>
            </a:xfrm>
            <a:prstGeom prst="rect">
              <a:avLst/>
            </a:prstGeom>
            <a:noFill/>
          </p:spPr>
          <p:txBody>
            <a:bodyPr wrap="none" anchor="ctr" lIns="0" rIns="0" tIns="0" bIns="0">
              <a:noAutofit/>
            </a:bodyPr>
            <a:lstStyle/>
            <a:p>
              <a:pPr algn="ctr"/>
              <a:r>
                <a:rPr sz="730" b="0">
                  <a:solidFill>
                    <a:srgbClr val="B45409"/>
                  </a:solidFill>
                  <a:latin typeface="맑은 고딕"/>
                  <a:ea typeface="맑은 고딕"/>
                  <a:cs typeface="맑은 고딕"/>
                </a:rPr>
                <a:t>lowered shape 을 바꿔 준다</a:t>
              </a:r>
            </a:p>
          </p:txBody>
        </p:sp>
        <p:cxnSp>
          <p:nvCxnSpPr>
            <p:cNvPr id="48" name="Connector 47"/>
            <p:cNvCxnSpPr/>
            <p:nvPr/>
          </p:nvCxnSpPr>
          <p:spPr>
            <a:xfrm>
              <a:off x="7286298" y="2844149"/>
              <a:ext cx="372016" cy="0"/>
            </a:xfrm>
            <a:prstGeom prst="line">
              <a:avLst/>
            </a:prstGeom>
            <a:ln w="20460">
              <a:solidFill>
                <a:srgbClr val="1A7F37"/>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7639713" y="2779046"/>
              <a:ext cx="167408" cy="130206"/>
            </a:xfrm>
            <a:custGeom>
              <a:avLst/>
              <a:gdLst/>
              <a:ahLst/>
              <a:cxnLst/>
              <a:rect l="l" t="t" r="r" b="b"/>
              <a:pathLst>
                <a:path w="167408" h="130206">
                  <a:moveTo>
                    <a:pt x="0" y="0"/>
                  </a:moveTo>
                  <a:lnTo>
                    <a:pt x="167408" y="65103"/>
                  </a:lnTo>
                  <a:lnTo>
                    <a:pt x="0" y="130206"/>
                  </a:lnTo>
                  <a:close/>
                </a:path>
              </a:pathLst>
            </a:cu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807121" y="1802504"/>
              <a:ext cx="2492506" cy="1636870"/>
            </a:xfrm>
            <a:prstGeom prst="roundRect">
              <a:avLst>
                <a:gd name="adj" fmla="val 5113"/>
              </a:avLst>
            </a:prstGeom>
            <a:solidFill>
              <a:srgbClr val="F3FAF5"/>
            </a:solidFill>
            <a:ln w="186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20391" y="1917271"/>
              <a:ext cx="1065965" cy="181804"/>
            </a:xfrm>
            <a:prstGeom prst="rect">
              <a:avLst/>
            </a:prstGeom>
            <a:noFill/>
          </p:spPr>
          <p:txBody>
            <a:bodyPr wrap="none" anchor="ctr" lIns="0" rIns="0" tIns="0" bIns="0">
              <a:noAutofit/>
            </a:bodyPr>
            <a:lstStyle/>
            <a:p>
              <a:pPr algn="ctr"/>
              <a:r>
                <a:rPr sz="990" b="1">
                  <a:solidFill>
                    <a:srgbClr val="1A7F37"/>
                  </a:solidFill>
                  <a:latin typeface="맑은 고딕"/>
                  <a:ea typeface="맑은 고딕"/>
                  <a:cs typeface="맑은 고딕"/>
                </a:rPr>
                <a:t>연산자 N+1 의 입력</a:t>
              </a:r>
            </a:p>
          </p:txBody>
        </p:sp>
        <p:sp>
          <p:nvSpPr>
            <p:cNvPr id="52" name="TextBox 51"/>
            <p:cNvSpPr txBox="1"/>
            <p:nvPr/>
          </p:nvSpPr>
          <p:spPr>
            <a:xfrm>
              <a:off x="8564322" y="2135645"/>
              <a:ext cx="978104" cy="141403"/>
            </a:xfrm>
            <a:prstGeom prst="rect">
              <a:avLst/>
            </a:prstGeom>
            <a:noFill/>
          </p:spPr>
          <p:txBody>
            <a:bodyPr wrap="none" anchor="ctr" lIns="0" rIns="0" tIns="0" bIns="0">
              <a:noAutofit/>
            </a:bodyPr>
            <a:lstStyle/>
            <a:p>
              <a:pPr algn="ctr"/>
              <a:r>
                <a:rPr sz="770" b="0">
                  <a:solidFill>
                    <a:srgbClr val="5B6B7B"/>
                  </a:solidFill>
                  <a:latin typeface="맑은 고딕"/>
                  <a:ea typeface="맑은 고딕"/>
                  <a:cs typeface="맑은 고딕"/>
                </a:rPr>
                <a:t>b 축을 slice 4개에 분할</a:t>
              </a:r>
            </a:p>
          </p:txBody>
        </p:sp>
        <p:sp>
          <p:nvSpPr>
            <p:cNvPr id="53" name="Rounded Rectangle 52"/>
            <p:cNvSpPr/>
            <p:nvPr/>
          </p:nvSpPr>
          <p:spPr>
            <a:xfrm>
              <a:off x="7909425" y="2379129"/>
              <a:ext cx="502221" cy="781233"/>
            </a:xfrm>
            <a:prstGeom prst="roundRect">
              <a:avLst>
                <a:gd name="adj" fmla="val 7407"/>
              </a:avLst>
            </a:prstGeom>
            <a:solidFill>
              <a:srgbClr val="E2F4E8"/>
            </a:solidFill>
            <a:ln w="1116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504650" y="2379129"/>
              <a:ext cx="502221" cy="781233"/>
            </a:xfrm>
            <a:prstGeom prst="roundRect">
              <a:avLst>
                <a:gd name="adj" fmla="val 7407"/>
              </a:avLst>
            </a:prstGeom>
            <a:solidFill>
              <a:srgbClr val="E2F4E8"/>
            </a:solidFill>
            <a:ln w="1116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9099876" y="2379129"/>
              <a:ext cx="502221" cy="781233"/>
            </a:xfrm>
            <a:prstGeom prst="roundRect">
              <a:avLst>
                <a:gd name="adj" fmla="val 7407"/>
              </a:avLst>
            </a:prstGeom>
            <a:solidFill>
              <a:srgbClr val="E2F4E8"/>
            </a:solidFill>
            <a:ln w="1116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695101" y="2379129"/>
              <a:ext cx="502221" cy="781233"/>
            </a:xfrm>
            <a:prstGeom prst="roundRect">
              <a:avLst>
                <a:gd name="adj" fmla="val 7407"/>
              </a:avLst>
            </a:prstGeom>
            <a:solidFill>
              <a:srgbClr val="E2F4E8"/>
            </a:solidFill>
            <a:ln w="1116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18904"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0</a:t>
              </a:r>
            </a:p>
          </p:txBody>
        </p:sp>
        <p:sp>
          <p:nvSpPr>
            <p:cNvPr id="58" name="TextBox 57"/>
            <p:cNvSpPr txBox="1"/>
            <p:nvPr/>
          </p:nvSpPr>
          <p:spPr>
            <a:xfrm>
              <a:off x="8614130"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1</a:t>
              </a:r>
            </a:p>
          </p:txBody>
        </p:sp>
        <p:sp>
          <p:nvSpPr>
            <p:cNvPr id="59" name="TextBox 58"/>
            <p:cNvSpPr txBox="1"/>
            <p:nvPr/>
          </p:nvSpPr>
          <p:spPr>
            <a:xfrm>
              <a:off x="9209355"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2</a:t>
              </a:r>
            </a:p>
          </p:txBody>
        </p:sp>
        <p:sp>
          <p:nvSpPr>
            <p:cNvPr id="60" name="TextBox 59"/>
            <p:cNvSpPr txBox="1"/>
            <p:nvPr/>
          </p:nvSpPr>
          <p:spPr>
            <a:xfrm>
              <a:off x="9804581" y="2537050"/>
              <a:ext cx="283262" cy="127936"/>
            </a:xfrm>
            <a:prstGeom prst="rect">
              <a:avLst/>
            </a:prstGeom>
            <a:noFill/>
          </p:spPr>
          <p:txBody>
            <a:bodyPr wrap="none" anchor="ctr" lIns="0" rIns="0" tIns="0" bIns="0">
              <a:noAutofit/>
            </a:bodyPr>
            <a:lstStyle/>
            <a:p>
              <a:pPr algn="ctr"/>
              <a:r>
                <a:rPr sz="700" b="0">
                  <a:solidFill>
                    <a:srgbClr val="5B6B7B"/>
                  </a:solidFill>
                  <a:latin typeface="맑은 고딕"/>
                  <a:ea typeface="맑은 고딕"/>
                  <a:cs typeface="맑은 고딕"/>
                </a:rPr>
                <a:t>slice 3</a:t>
              </a:r>
            </a:p>
          </p:txBody>
        </p:sp>
        <p:sp>
          <p:nvSpPr>
            <p:cNvPr id="61" name="TextBox 60"/>
            <p:cNvSpPr txBox="1"/>
            <p:nvPr/>
          </p:nvSpPr>
          <p:spPr>
            <a:xfrm>
              <a:off x="8034864" y="2757283"/>
              <a:ext cx="251343" cy="154870"/>
            </a:xfrm>
            <a:prstGeom prst="rect">
              <a:avLst/>
            </a:prstGeom>
            <a:noFill/>
          </p:spPr>
          <p:txBody>
            <a:bodyPr wrap="none" anchor="ctr" lIns="0" rIns="0" tIns="0" bIns="0">
              <a:noAutofit/>
            </a:bodyPr>
            <a:lstStyle/>
            <a:p>
              <a:pPr algn="ctr"/>
              <a:r>
                <a:rPr sz="840" b="1">
                  <a:solidFill>
                    <a:srgbClr val="1A7F37"/>
                  </a:solidFill>
                  <a:latin typeface="맑은 고딕"/>
                  <a:ea typeface="맑은 고딕"/>
                  <a:cs typeface="맑은 고딕"/>
                </a:rPr>
                <a:t>b[0]</a:t>
              </a:r>
            </a:p>
          </p:txBody>
        </p:sp>
        <p:sp>
          <p:nvSpPr>
            <p:cNvPr id="62" name="TextBox 61"/>
            <p:cNvSpPr txBox="1"/>
            <p:nvPr/>
          </p:nvSpPr>
          <p:spPr>
            <a:xfrm>
              <a:off x="8630089" y="2757283"/>
              <a:ext cx="251343" cy="154870"/>
            </a:xfrm>
            <a:prstGeom prst="rect">
              <a:avLst/>
            </a:prstGeom>
            <a:noFill/>
          </p:spPr>
          <p:txBody>
            <a:bodyPr wrap="none" anchor="ctr" lIns="0" rIns="0" tIns="0" bIns="0">
              <a:noAutofit/>
            </a:bodyPr>
            <a:lstStyle/>
            <a:p>
              <a:pPr algn="ctr"/>
              <a:r>
                <a:rPr sz="840" b="1">
                  <a:solidFill>
                    <a:srgbClr val="1A7F37"/>
                  </a:solidFill>
                  <a:latin typeface="맑은 고딕"/>
                  <a:ea typeface="맑은 고딕"/>
                  <a:cs typeface="맑은 고딕"/>
                </a:rPr>
                <a:t>b[1]</a:t>
              </a:r>
            </a:p>
          </p:txBody>
        </p:sp>
        <p:sp>
          <p:nvSpPr>
            <p:cNvPr id="63" name="TextBox 62"/>
            <p:cNvSpPr txBox="1"/>
            <p:nvPr/>
          </p:nvSpPr>
          <p:spPr>
            <a:xfrm>
              <a:off x="9225315" y="2757283"/>
              <a:ext cx="251343" cy="154870"/>
            </a:xfrm>
            <a:prstGeom prst="rect">
              <a:avLst/>
            </a:prstGeom>
            <a:noFill/>
          </p:spPr>
          <p:txBody>
            <a:bodyPr wrap="none" anchor="ctr" lIns="0" rIns="0" tIns="0" bIns="0">
              <a:noAutofit/>
            </a:bodyPr>
            <a:lstStyle/>
            <a:p>
              <a:pPr algn="ctr"/>
              <a:r>
                <a:rPr sz="840" b="1">
                  <a:solidFill>
                    <a:srgbClr val="1A7F37"/>
                  </a:solidFill>
                  <a:latin typeface="맑은 고딕"/>
                  <a:ea typeface="맑은 고딕"/>
                  <a:cs typeface="맑은 고딕"/>
                </a:rPr>
                <a:t>b[2]</a:t>
              </a:r>
            </a:p>
          </p:txBody>
        </p:sp>
        <p:sp>
          <p:nvSpPr>
            <p:cNvPr id="64" name="TextBox 63"/>
            <p:cNvSpPr txBox="1"/>
            <p:nvPr/>
          </p:nvSpPr>
          <p:spPr>
            <a:xfrm>
              <a:off x="9820540" y="2757283"/>
              <a:ext cx="251343" cy="154870"/>
            </a:xfrm>
            <a:prstGeom prst="rect">
              <a:avLst/>
            </a:prstGeom>
            <a:noFill/>
          </p:spPr>
          <p:txBody>
            <a:bodyPr wrap="none" anchor="ctr" lIns="0" rIns="0" tIns="0" bIns="0">
              <a:noAutofit/>
            </a:bodyPr>
            <a:lstStyle/>
            <a:p>
              <a:pPr algn="ctr"/>
              <a:r>
                <a:rPr sz="840" b="1">
                  <a:solidFill>
                    <a:srgbClr val="1A7F37"/>
                  </a:solidFill>
                  <a:latin typeface="맑은 고딕"/>
                  <a:ea typeface="맑은 고딕"/>
                  <a:cs typeface="맑은 고딕"/>
                </a:rPr>
                <a:t>b[3]</a:t>
              </a:r>
            </a:p>
          </p:txBody>
        </p:sp>
        <p:sp>
          <p:nvSpPr>
            <p:cNvPr id="65" name="TextBox 64"/>
            <p:cNvSpPr txBox="1"/>
            <p:nvPr/>
          </p:nvSpPr>
          <p:spPr>
            <a:xfrm>
              <a:off x="8481585" y="3201284"/>
              <a:ext cx="1143577" cy="134670"/>
            </a:xfrm>
            <a:prstGeom prst="rect">
              <a:avLst/>
            </a:prstGeom>
            <a:noFill/>
          </p:spPr>
          <p:txBody>
            <a:bodyPr wrap="none" anchor="ctr" lIns="0" rIns="0" tIns="0" bIns="0">
              <a:noAutofit/>
            </a:bodyPr>
            <a:lstStyle/>
            <a:p>
              <a:pPr algn="ctr"/>
              <a:r>
                <a:rPr sz="730" b="0">
                  <a:solidFill>
                    <a:srgbClr val="5B6B7B"/>
                  </a:solidFill>
                  <a:latin typeface="맑은 고딕"/>
                  <a:ea typeface="맑은 고딕"/>
                  <a:cs typeface="맑은 고딕"/>
                </a:rPr>
                <a:t>다른 축으로 잘려 있어야 한다</a:t>
              </a:r>
            </a:p>
          </p:txBody>
        </p:sp>
        <p:sp>
          <p:nvSpPr>
            <p:cNvPr id="66" name="TextBox 65"/>
            <p:cNvSpPr txBox="1"/>
            <p:nvPr/>
          </p:nvSpPr>
          <p:spPr>
            <a:xfrm>
              <a:off x="2040874" y="3657934"/>
              <a:ext cx="4260279" cy="168337"/>
            </a:xfrm>
            <a:prstGeom prst="rect">
              <a:avLst/>
            </a:prstGeom>
            <a:noFill/>
          </p:spPr>
          <p:txBody>
            <a:bodyPr wrap="none" anchor="ctr" lIns="0" rIns="0" tIns="0" bIns="0">
              <a:noAutofit/>
            </a:bodyPr>
            <a:lstStyle/>
            <a:p>
              <a:pPr algn="l"/>
              <a:r>
                <a:rPr sz="919" b="0">
                  <a:solidFill>
                    <a:srgbClr val="5B6B7B"/>
                  </a:solidFill>
                  <a:latin typeface="맑은 고딕"/>
                  <a:ea typeface="맑은 고딕"/>
                  <a:cs typeface="맑은 고딕"/>
                </a:rPr>
                <a:t>컴파일러 3단계는 커널 후보와 bridge 를 함께 놓고 비용이 가장 낮은 조합을 고른다 (V-C)</a:t>
              </a:r>
            </a:p>
          </p:txBody>
        </p:sp>
        <p:sp>
          <p:nvSpPr>
            <p:cNvPr id="67" name="Rounded Rectangle 66"/>
            <p:cNvSpPr/>
            <p:nvPr/>
          </p:nvSpPr>
          <p:spPr>
            <a:xfrm>
              <a:off x="2040874" y="3922995"/>
              <a:ext cx="3906167" cy="1041644"/>
            </a:xfrm>
            <a:prstGeom prst="roundRect">
              <a:avLst>
                <a:gd name="adj" fmla="val 7142"/>
              </a:avLst>
            </a:prstGeom>
            <a:solidFill>
              <a:srgbClr val="FDEBD3"/>
            </a:solidFill>
            <a:ln w="1674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45483" y="4029950"/>
              <a:ext cx="1427030" cy="168337"/>
            </a:xfrm>
            <a:prstGeom prst="rect">
              <a:avLst/>
            </a:prstGeom>
            <a:noFill/>
          </p:spPr>
          <p:txBody>
            <a:bodyPr wrap="none" anchor="ctr" lIns="0" rIns="0" tIns="0" bIns="0">
              <a:noAutofit/>
            </a:bodyPr>
            <a:lstStyle/>
            <a:p>
              <a:pPr algn="l"/>
              <a:r>
                <a:rPr sz="919" b="1">
                  <a:solidFill>
                    <a:srgbClr val="B45409"/>
                  </a:solidFill>
                  <a:latin typeface="맑은 고딕"/>
                  <a:ea typeface="맑은 고딕"/>
                  <a:cs typeface="맑은 고딕"/>
                </a:rPr>
                <a:t>선택지 A — 커널 X + bridge</a:t>
              </a:r>
            </a:p>
          </p:txBody>
        </p:sp>
        <p:sp>
          <p:nvSpPr>
            <p:cNvPr id="69" name="TextBox 68"/>
            <p:cNvSpPr txBox="1"/>
            <p:nvPr/>
          </p:nvSpPr>
          <p:spPr>
            <a:xfrm>
              <a:off x="2245483" y="4287943"/>
              <a:ext cx="1446175" cy="148137"/>
            </a:xfrm>
            <a:prstGeom prst="rect">
              <a:avLst/>
            </a:prstGeom>
            <a:noFill/>
          </p:spPr>
          <p:txBody>
            <a:bodyPr wrap="none" anchor="ctr" lIns="0" rIns="0" tIns="0" bIns="0">
              <a:noAutofit/>
            </a:bodyPr>
            <a:lstStyle/>
            <a:p>
              <a:pPr algn="l"/>
              <a:r>
                <a:rPr sz="810" b="0">
                  <a:solidFill>
                    <a:srgbClr val="16202C"/>
                  </a:solidFill>
                  <a:latin typeface="맑은 고딕"/>
                  <a:ea typeface="맑은 고딕"/>
                  <a:cs typeface="맑은 고딕"/>
                </a:rPr>
                <a:t>형상은 그대로 두고 변환을 끼운다</a:t>
              </a:r>
            </a:p>
          </p:txBody>
        </p:sp>
        <p:sp>
          <p:nvSpPr>
            <p:cNvPr id="70" name="TextBox 69"/>
            <p:cNvSpPr txBox="1"/>
            <p:nvPr/>
          </p:nvSpPr>
          <p:spPr>
            <a:xfrm>
              <a:off x="2245483" y="4492551"/>
              <a:ext cx="1348167" cy="148137"/>
            </a:xfrm>
            <a:prstGeom prst="rect">
              <a:avLst/>
            </a:prstGeom>
            <a:noFill/>
          </p:spPr>
          <p:txBody>
            <a:bodyPr wrap="none" anchor="ctr" lIns="0" rIns="0" tIns="0" bIns="0">
              <a:noAutofit/>
            </a:bodyPr>
            <a:lstStyle/>
            <a:p>
              <a:pPr algn="l"/>
              <a:r>
                <a:rPr sz="810" b="0">
                  <a:solidFill>
                    <a:srgbClr val="16202C"/>
                  </a:solidFill>
                  <a:latin typeface="맑은 고딕"/>
                  <a:ea typeface="맑은 고딕"/>
                  <a:cs typeface="맑은 고딕"/>
                </a:rPr>
                <a:t>비용 = 커널 비용 + bridge 비용</a:t>
              </a:r>
            </a:p>
          </p:txBody>
        </p:sp>
        <p:sp>
          <p:nvSpPr>
            <p:cNvPr id="71" name="TextBox 70"/>
            <p:cNvSpPr txBox="1"/>
            <p:nvPr/>
          </p:nvSpPr>
          <p:spPr>
            <a:xfrm>
              <a:off x="2245483" y="4702554"/>
              <a:ext cx="797639" cy="141403"/>
            </a:xfrm>
            <a:prstGeom prst="rect">
              <a:avLst/>
            </a:prstGeom>
            <a:noFill/>
          </p:spPr>
          <p:txBody>
            <a:bodyPr wrap="none" anchor="ctr" lIns="0" rIns="0" tIns="0" bIns="0">
              <a:noAutofit/>
            </a:bodyPr>
            <a:lstStyle/>
            <a:p>
              <a:pPr algn="l"/>
              <a:r>
                <a:rPr sz="770" b="0">
                  <a:solidFill>
                    <a:srgbClr val="B45409"/>
                  </a:solidFill>
                  <a:latin typeface="맑은 고딕"/>
                  <a:ea typeface="맑은 고딕"/>
                  <a:cs typeface="맑은 고딕"/>
                </a:rPr>
                <a:t>변환이 비싸면 진다</a:t>
              </a:r>
            </a:p>
          </p:txBody>
        </p:sp>
        <p:sp>
          <p:nvSpPr>
            <p:cNvPr id="72" name="Rounded Rectangle 71"/>
            <p:cNvSpPr/>
            <p:nvPr/>
          </p:nvSpPr>
          <p:spPr>
            <a:xfrm>
              <a:off x="6393460" y="3922995"/>
              <a:ext cx="3906167" cy="1041644"/>
            </a:xfrm>
            <a:prstGeom prst="roundRect">
              <a:avLst>
                <a:gd name="adj" fmla="val 7142"/>
              </a:avLst>
            </a:prstGeom>
            <a:solidFill>
              <a:srgbClr val="E2F4E8"/>
            </a:solidFill>
            <a:ln w="1674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98069" y="4029950"/>
              <a:ext cx="1521894" cy="168337"/>
            </a:xfrm>
            <a:prstGeom prst="rect">
              <a:avLst/>
            </a:prstGeom>
            <a:noFill/>
          </p:spPr>
          <p:txBody>
            <a:bodyPr wrap="none" anchor="ctr" lIns="0" rIns="0" tIns="0" bIns="0">
              <a:noAutofit/>
            </a:bodyPr>
            <a:lstStyle/>
            <a:p>
              <a:pPr algn="l"/>
              <a:r>
                <a:rPr sz="919" b="1">
                  <a:solidFill>
                    <a:srgbClr val="1A7F37"/>
                  </a:solidFill>
                  <a:latin typeface="맑은 고딕"/>
                  <a:ea typeface="맑은 고딕"/>
                  <a:cs typeface="맑은 고딕"/>
                </a:rPr>
                <a:t>선택지 B — 형상을 맞춘 커널 Y</a:t>
              </a:r>
            </a:p>
          </p:txBody>
        </p:sp>
        <p:sp>
          <p:nvSpPr>
            <p:cNvPr id="74" name="TextBox 73"/>
            <p:cNvSpPr txBox="1"/>
            <p:nvPr/>
          </p:nvSpPr>
          <p:spPr>
            <a:xfrm>
              <a:off x="6598069" y="4287943"/>
              <a:ext cx="1563211" cy="148137"/>
            </a:xfrm>
            <a:prstGeom prst="rect">
              <a:avLst/>
            </a:prstGeom>
            <a:noFill/>
          </p:spPr>
          <p:txBody>
            <a:bodyPr wrap="none" anchor="ctr" lIns="0" rIns="0" tIns="0" bIns="0">
              <a:noAutofit/>
            </a:bodyPr>
            <a:lstStyle/>
            <a:p>
              <a:pPr algn="l"/>
              <a:r>
                <a:rPr sz="810" b="0">
                  <a:solidFill>
                    <a:srgbClr val="16202C"/>
                  </a:solidFill>
                  <a:latin typeface="맑은 고딕"/>
                  <a:ea typeface="맑은 고딕"/>
                  <a:cs typeface="맑은 고딕"/>
                </a:rPr>
                <a:t>앞 레이어가 다른 배치를 내도록 한다</a:t>
              </a:r>
            </a:p>
          </p:txBody>
        </p:sp>
        <p:sp>
          <p:nvSpPr>
            <p:cNvPr id="75" name="TextBox 74"/>
            <p:cNvSpPr txBox="1"/>
            <p:nvPr/>
          </p:nvSpPr>
          <p:spPr>
            <a:xfrm>
              <a:off x="6598069" y="4492551"/>
              <a:ext cx="1431750" cy="148137"/>
            </a:xfrm>
            <a:prstGeom prst="rect">
              <a:avLst/>
            </a:prstGeom>
            <a:noFill/>
          </p:spPr>
          <p:txBody>
            <a:bodyPr wrap="none" anchor="ctr" lIns="0" rIns="0" tIns="0" bIns="0">
              <a:noAutofit/>
            </a:bodyPr>
            <a:lstStyle/>
            <a:p>
              <a:pPr algn="l"/>
              <a:r>
                <a:rPr sz="810" b="0">
                  <a:solidFill>
                    <a:srgbClr val="16202C"/>
                  </a:solidFill>
                  <a:latin typeface="맑은 고딕"/>
                  <a:ea typeface="맑은 고딕"/>
                  <a:cs typeface="맑은 고딕"/>
                </a:rPr>
                <a:t>비용 = 커널 비용만 (bridge 없음)</a:t>
              </a:r>
            </a:p>
          </p:txBody>
        </p:sp>
        <p:sp>
          <p:nvSpPr>
            <p:cNvPr id="76" name="TextBox 75"/>
            <p:cNvSpPr txBox="1"/>
            <p:nvPr/>
          </p:nvSpPr>
          <p:spPr>
            <a:xfrm>
              <a:off x="6598069" y="4702554"/>
              <a:ext cx="999197" cy="141403"/>
            </a:xfrm>
            <a:prstGeom prst="rect">
              <a:avLst/>
            </a:prstGeom>
            <a:noFill/>
          </p:spPr>
          <p:txBody>
            <a:bodyPr wrap="none" anchor="ctr" lIns="0" rIns="0" tIns="0" bIns="0">
              <a:noAutofit/>
            </a:bodyPr>
            <a:lstStyle/>
            <a:p>
              <a:pPr algn="l"/>
              <a:r>
                <a:rPr sz="770" b="0">
                  <a:solidFill>
                    <a:srgbClr val="1A7F37"/>
                  </a:solidFill>
                  <a:latin typeface="맑은 고딕"/>
                  <a:ea typeface="맑은 고딕"/>
                  <a:cs typeface="맑은 고딕"/>
                </a:rPr>
                <a:t>커널 자체가 느리면 진다</a:t>
              </a:r>
            </a:p>
          </p:txBody>
        </p:sp>
        <p:sp>
          <p:nvSpPr>
            <p:cNvPr id="77" name="Rounded Rectangle 76"/>
            <p:cNvSpPr/>
            <p:nvPr/>
          </p:nvSpPr>
          <p:spPr>
            <a:xfrm>
              <a:off x="2040874" y="5094845"/>
              <a:ext cx="8258752" cy="446419"/>
            </a:xfrm>
            <a:prstGeom prst="roundRect">
              <a:avLst>
                <a:gd name="adj" fmla="val 16666"/>
              </a:avLst>
            </a:prstGeom>
            <a:solidFill>
              <a:srgbClr val="EEF4FC"/>
            </a:solidFill>
            <a:ln w="148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10855" y="5244395"/>
              <a:ext cx="3318791" cy="161604"/>
            </a:xfrm>
            <a:prstGeom prst="rect">
              <a:avLst/>
            </a:prstGeom>
            <a:noFill/>
          </p:spPr>
          <p:txBody>
            <a:bodyPr wrap="none" anchor="ctr" lIns="0" rIns="0" tIns="0" bIns="0">
              <a:noAutofit/>
            </a:bodyPr>
            <a:lstStyle/>
            <a:p>
              <a:pPr algn="ctr"/>
              <a:r>
                <a:rPr sz="880" b="1">
                  <a:solidFill>
                    <a:srgbClr val="083F80"/>
                  </a:solidFill>
                  <a:latin typeface="맑은 고딕"/>
                  <a:ea typeface="맑은 고딕"/>
                  <a:cs typeface="맑은 고딕"/>
                </a:rPr>
                <a:t>전역 최적화기의 목표는 bridge 를 되도록 안 내게 배치를 고르는 것이다</a:t>
              </a:r>
            </a:p>
          </p:txBody>
        </p:sp>
      </p:grpSp>
      <p:sp>
        <p:nvSpPr>
          <p:cNvPr id="79" name="Rectangle 7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레이어별 최적해를 모아도 전체 최적해가 아니다 — 그래서 bridge 와 전역 최적화기가 있다</a:t>
            </a:r>
          </a:p>
        </p:txBody>
      </p:sp>
      <p:sp>
        <p:nvSpPr>
          <p:cNvPr id="80" name="Rectangle 7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2 — SRAM 지역성과 텐서 이동 (2/3)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국소 최적화로는 부족하다 — 전역 최적화기가 필요하다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253</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그림의 e축 → b축 예시는 설명용이다. 논문은 어느 축이 어긋나는지 구체 사례를 들지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bridge operator 의 정의는 제2장 B절, 삽입 판단은 컴파일러 3단계(Low-Level Operator Generation)에 있다</a:t>
            </a:r>
          </a:p>
          <a:p>
            <a:pPr algn="l">
              <a:lnSpc>
                <a:spcPct val="118000"/>
              </a:lnSpc>
              <a:spcBef>
                <a:spcPts val="600"/>
              </a:spcBef>
              <a:spcAft>
                <a:spcPts val="200"/>
              </a:spcAft>
            </a:pPr>
            <a:r>
              <a:rPr sz="1900" b="0" i="0">
                <a:solidFill>
                  <a:srgbClr val="16202C"/>
                </a:solidFill>
                <a:latin typeface="Segoe UI"/>
                <a:ea typeface="맑은 고딕"/>
                <a:cs typeface="맑은 고딕"/>
              </a:rPr>
              <a:t>▪  비용은 커널·bridge 의 입출력 형상, lowered axis 형상, tactic 을 함께 보고 매긴다</a:t>
            </a:r>
          </a:p>
          <a:p>
            <a:pPr algn="l">
              <a:lnSpc>
                <a:spcPct val="118000"/>
              </a:lnSpc>
              <a:spcBef>
                <a:spcPts val="600"/>
              </a:spcBef>
              <a:spcAft>
                <a:spcPts val="200"/>
              </a:spcAft>
            </a:pPr>
            <a:r>
              <a:rPr sz="1900" b="1" i="0">
                <a:solidFill>
                  <a:srgbClr val="083F80"/>
                </a:solidFill>
                <a:latin typeface="Segoe UI"/>
                <a:ea typeface="맑은 고딕"/>
                <a:cs typeface="맑은 고딕"/>
              </a:rPr>
              <a:t>▪  논문은 bridge 가 실제로 얼마나 비싼지(사이클·전력)를 밝히지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국소 최적해의 합이 전역 최적해가 아니라는 것을 가속기 벤더가 '교훈'으로 못박았다는 점이 중요하다. 실제로 겪었다는 뜻이다</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교훈 2 — SRAM 지역성과 텐서 이동 (3/3)</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multiple contexts (다중 컨텍스트) 가 데이터 이동을 가려준다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254</a:t>
            </a:r>
          </a:p>
        </p:txBody>
      </p:sp>
      <p:grpSp>
        <p:nvGrpSpPr>
          <p:cNvPr id="9" name="도해 A9#07"/>
          <p:cNvGrpSpPr/>
          <p:nvPr/>
        </p:nvGrpSpPr>
        <p:grpSpPr>
          <a:xfrm>
            <a:off x="1388236" y="1463040"/>
            <a:ext cx="9415223" cy="4078224"/>
            <a:chOff x="1388236" y="1463040"/>
            <a:chExt cx="9415223" cy="4078224"/>
          </a:xfrm>
        </p:grpSpPr>
        <p:sp>
          <p:nvSpPr>
            <p:cNvPr id="10" name="TextBox 9"/>
            <p:cNvSpPr txBox="1"/>
            <p:nvPr/>
          </p:nvSpPr>
          <p:spPr>
            <a:xfrm>
              <a:off x="1388236" y="1463040"/>
              <a:ext cx="3934309" cy="185234"/>
            </a:xfrm>
            <a:prstGeom prst="rect">
              <a:avLst/>
            </a:prstGeom>
            <a:noFill/>
          </p:spPr>
          <p:txBody>
            <a:bodyPr wrap="none" anchor="ctr" lIns="0" rIns="0" tIns="0" bIns="0">
              <a:noAutofit/>
            </a:bodyPr>
            <a:lstStyle/>
            <a:p>
              <a:pPr algn="l"/>
              <a:r>
                <a:rPr sz="1010" b="0">
                  <a:solidFill>
                    <a:srgbClr val="5B6B7B"/>
                  </a:solidFill>
                  <a:latin typeface="맑은 고딕"/>
                  <a:ea typeface="맑은 고딕"/>
                  <a:cs typeface="맑은 고딕"/>
                </a:rPr>
                <a:t>slice 마다 실행 컨텍스트가 2개 — 제어 레지스터 집합으로 기술된다 (III-B)</a:t>
              </a:r>
            </a:p>
          </p:txBody>
        </p:sp>
        <p:sp>
          <p:nvSpPr>
            <p:cNvPr id="11" name="TextBox 10"/>
            <p:cNvSpPr txBox="1"/>
            <p:nvPr/>
          </p:nvSpPr>
          <p:spPr>
            <a:xfrm>
              <a:off x="9409873" y="1498654"/>
              <a:ext cx="1393586" cy="140778"/>
            </a:xfrm>
            <a:prstGeom prst="rect">
              <a:avLst/>
            </a:prstGeom>
            <a:noFill/>
          </p:spPr>
          <p:txBody>
            <a:bodyPr wrap="none" anchor="ctr" lIns="0" rIns="0" tIns="0" bIns="0">
              <a:noAutofit/>
            </a:bodyPr>
            <a:lstStyle/>
            <a:p>
              <a:pPr algn="r"/>
              <a:r>
                <a:rPr sz="770" b="0">
                  <a:solidFill>
                    <a:srgbClr val="5B6B7B"/>
                  </a:solidFill>
                  <a:latin typeface="맑은 고딕"/>
                  <a:ea typeface="맑은 고딕"/>
                  <a:cs typeface="맑은 고딕"/>
                </a:rPr>
                <a:t>개념도 — 논문에 시간 수치는 없다</a:t>
              </a:r>
            </a:p>
          </p:txBody>
        </p:sp>
        <p:sp>
          <p:nvSpPr>
            <p:cNvPr id="12" name="TextBox 11"/>
            <p:cNvSpPr txBox="1"/>
            <p:nvPr/>
          </p:nvSpPr>
          <p:spPr>
            <a:xfrm>
              <a:off x="1388236" y="1863801"/>
              <a:ext cx="1004722" cy="170416"/>
            </a:xfrm>
            <a:prstGeom prst="rect">
              <a:avLst/>
            </a:prstGeom>
            <a:noFill/>
          </p:spPr>
          <p:txBody>
            <a:bodyPr wrap="none" anchor="ctr" lIns="0" rIns="0" tIns="0" bIns="0">
              <a:noAutofit/>
            </a:bodyPr>
            <a:lstStyle/>
            <a:p>
              <a:pPr algn="l"/>
              <a:r>
                <a:rPr sz="930" b="1">
                  <a:solidFill>
                    <a:srgbClr val="B4222A"/>
                  </a:solidFill>
                  <a:latin typeface="맑은 고딕"/>
                  <a:ea typeface="맑은 고딕"/>
                  <a:cs typeface="맑은 고딕"/>
                </a:rPr>
                <a:t>컨텍스트가 1개라면</a:t>
              </a:r>
            </a:p>
          </p:txBody>
        </p:sp>
        <p:sp>
          <p:nvSpPr>
            <p:cNvPr id="13" name="TextBox 12"/>
            <p:cNvSpPr txBox="1"/>
            <p:nvPr/>
          </p:nvSpPr>
          <p:spPr>
            <a:xfrm>
              <a:off x="1388236" y="2051287"/>
              <a:ext cx="369056" cy="140778"/>
            </a:xfrm>
            <a:prstGeom prst="rect">
              <a:avLst/>
            </a:prstGeom>
            <a:noFill/>
          </p:spPr>
          <p:txBody>
            <a:bodyPr wrap="none" anchor="ctr" lIns="0" rIns="0" tIns="0" bIns="0">
              <a:noAutofit/>
            </a:bodyPr>
            <a:lstStyle/>
            <a:p>
              <a:pPr algn="l"/>
              <a:r>
                <a:rPr sz="770" b="0">
                  <a:solidFill>
                    <a:srgbClr val="5B6B7B"/>
                  </a:solidFill>
                  <a:latin typeface="맑은 고딕"/>
                  <a:ea typeface="맑은 고딕"/>
                  <a:cs typeface="맑은 고딕"/>
                </a:rPr>
                <a:t>(비교용)</a:t>
              </a:r>
            </a:p>
          </p:txBody>
        </p:sp>
        <p:sp>
          <p:nvSpPr>
            <p:cNvPr id="14" name="Rounded Rectangle 13"/>
            <p:cNvSpPr/>
            <p:nvPr/>
          </p:nvSpPr>
          <p:spPr>
            <a:xfrm>
              <a:off x="3332684" y="1816111"/>
              <a:ext cx="1125733" cy="347954"/>
            </a:xfrm>
            <a:prstGeom prst="roundRect">
              <a:avLst>
                <a:gd name="adj" fmla="val 11764"/>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74793" y="1816111"/>
              <a:ext cx="1125733" cy="347954"/>
            </a:xfrm>
            <a:prstGeom prst="roundRect">
              <a:avLst>
                <a:gd name="adj" fmla="val 11764"/>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016902" y="1816111"/>
              <a:ext cx="1125733" cy="347954"/>
            </a:xfrm>
            <a:prstGeom prst="roundRect">
              <a:avLst>
                <a:gd name="adj" fmla="val 11764"/>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59011" y="1816111"/>
              <a:ext cx="1125733" cy="347954"/>
            </a:xfrm>
            <a:prstGeom prst="roundRect">
              <a:avLst>
                <a:gd name="adj" fmla="val 11764"/>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58418" y="1816111"/>
              <a:ext cx="716376" cy="347954"/>
            </a:xfrm>
            <a:prstGeom prst="roundRect">
              <a:avLst>
                <a:gd name="adj" fmla="val 11764"/>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0526" y="1816111"/>
              <a:ext cx="716376" cy="347954"/>
            </a:xfrm>
            <a:prstGeom prst="roundRect">
              <a:avLst>
                <a:gd name="adj" fmla="val 11764"/>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42635" y="1816111"/>
              <a:ext cx="716376" cy="347954"/>
            </a:xfrm>
            <a:prstGeom prst="roundRect">
              <a:avLst>
                <a:gd name="adj" fmla="val 11764"/>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6454" y="1916608"/>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22" name="TextBox 21"/>
            <p:cNvSpPr txBox="1"/>
            <p:nvPr/>
          </p:nvSpPr>
          <p:spPr>
            <a:xfrm>
              <a:off x="5508563" y="1916608"/>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23" name="TextBox 22"/>
            <p:cNvSpPr txBox="1"/>
            <p:nvPr/>
          </p:nvSpPr>
          <p:spPr>
            <a:xfrm>
              <a:off x="7350671" y="1916608"/>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24" name="TextBox 23"/>
            <p:cNvSpPr txBox="1"/>
            <p:nvPr/>
          </p:nvSpPr>
          <p:spPr>
            <a:xfrm>
              <a:off x="9192780" y="1916608"/>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25" name="TextBox 24"/>
            <p:cNvSpPr txBox="1"/>
            <p:nvPr/>
          </p:nvSpPr>
          <p:spPr>
            <a:xfrm>
              <a:off x="4704032" y="1922544"/>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26" name="TextBox 25"/>
            <p:cNvSpPr txBox="1"/>
            <p:nvPr/>
          </p:nvSpPr>
          <p:spPr>
            <a:xfrm>
              <a:off x="6546141" y="1922544"/>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27" name="TextBox 26"/>
            <p:cNvSpPr txBox="1"/>
            <p:nvPr/>
          </p:nvSpPr>
          <p:spPr>
            <a:xfrm>
              <a:off x="8388249" y="1922544"/>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28" name="TextBox 27"/>
            <p:cNvSpPr txBox="1"/>
            <p:nvPr/>
          </p:nvSpPr>
          <p:spPr>
            <a:xfrm>
              <a:off x="3332684" y="2285030"/>
              <a:ext cx="1297213" cy="155597"/>
            </a:xfrm>
            <a:prstGeom prst="rect">
              <a:avLst/>
            </a:prstGeom>
            <a:noFill/>
          </p:spPr>
          <p:txBody>
            <a:bodyPr wrap="none" anchor="ctr" lIns="0" rIns="0" tIns="0" bIns="0">
              <a:noAutofit/>
            </a:bodyPr>
            <a:lstStyle/>
            <a:p>
              <a:pPr algn="l"/>
              <a:r>
                <a:rPr sz="850" b="0">
                  <a:solidFill>
                    <a:srgbClr val="B4222A"/>
                  </a:solidFill>
                  <a:latin typeface="맑은 고딕"/>
                  <a:ea typeface="맑은 고딕"/>
                  <a:cs typeface="맑은 고딕"/>
                </a:rPr>
                <a:t>이동하는 동안 연산기가 논다</a:t>
              </a:r>
            </a:p>
          </p:txBody>
        </p:sp>
        <p:cxnSp>
          <p:nvCxnSpPr>
            <p:cNvPr id="29" name="Connector 28"/>
            <p:cNvCxnSpPr/>
            <p:nvPr/>
          </p:nvCxnSpPr>
          <p:spPr>
            <a:xfrm>
              <a:off x="9984744" y="1754707"/>
              <a:ext cx="0" cy="2333338"/>
            </a:xfrm>
            <a:prstGeom prst="line">
              <a:avLst/>
            </a:prstGeom>
            <a:ln w="16374">
              <a:solidFill>
                <a:srgbClr val="B4222A"/>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835617" y="2982780"/>
              <a:ext cx="0" cy="1105265"/>
            </a:xfrm>
            <a:prstGeom prst="line">
              <a:avLst/>
            </a:prstGeom>
            <a:ln w="16374">
              <a:solidFill>
                <a:srgbClr val="1A7F37"/>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388236" y="2697048"/>
              <a:ext cx="1112142" cy="177825"/>
            </a:xfrm>
            <a:prstGeom prst="rect">
              <a:avLst/>
            </a:prstGeom>
            <a:noFill/>
          </p:spPr>
          <p:txBody>
            <a:bodyPr wrap="none" anchor="ctr" lIns="0" rIns="0" tIns="0" bIns="0">
              <a:noAutofit/>
            </a:bodyPr>
            <a:lstStyle/>
            <a:p>
              <a:pPr algn="l"/>
              <a:r>
                <a:rPr sz="969" b="1">
                  <a:solidFill>
                    <a:srgbClr val="1A7F37"/>
                  </a:solidFill>
                  <a:latin typeface="맑은 고딕"/>
                  <a:ea typeface="맑은 고딕"/>
                  <a:cs typeface="맑은 고딕"/>
                </a:rPr>
                <a:t>TCP — 컨텍스트 2개</a:t>
              </a:r>
            </a:p>
          </p:txBody>
        </p:sp>
        <p:sp>
          <p:nvSpPr>
            <p:cNvPr id="32" name="TextBox 31"/>
            <p:cNvSpPr txBox="1"/>
            <p:nvPr/>
          </p:nvSpPr>
          <p:spPr>
            <a:xfrm>
              <a:off x="1388236" y="3097809"/>
              <a:ext cx="722270" cy="163006"/>
            </a:xfrm>
            <a:prstGeom prst="rect">
              <a:avLst/>
            </a:prstGeom>
            <a:noFill/>
          </p:spPr>
          <p:txBody>
            <a:bodyPr wrap="none" anchor="ctr" lIns="0" rIns="0" tIns="0" bIns="0">
              <a:noAutofit/>
            </a:bodyPr>
            <a:lstStyle/>
            <a:p>
              <a:pPr algn="l"/>
              <a:r>
                <a:rPr sz="890" b="0">
                  <a:solidFill>
                    <a:srgbClr val="083F80"/>
                  </a:solidFill>
                  <a:latin typeface="맑은 고딕"/>
                  <a:ea typeface="맑은 고딕"/>
                  <a:cs typeface="맑은 고딕"/>
                </a:rPr>
                <a:t>main context</a:t>
              </a:r>
            </a:p>
          </p:txBody>
        </p:sp>
        <p:sp>
          <p:nvSpPr>
            <p:cNvPr id="33" name="TextBox 32"/>
            <p:cNvSpPr txBox="1"/>
            <p:nvPr/>
          </p:nvSpPr>
          <p:spPr>
            <a:xfrm>
              <a:off x="1388236" y="3269125"/>
              <a:ext cx="615223" cy="140778"/>
            </a:xfrm>
            <a:prstGeom prst="rect">
              <a:avLst/>
            </a:prstGeom>
            <a:noFill/>
          </p:spPr>
          <p:txBody>
            <a:bodyPr wrap="none" anchor="ctr" lIns="0" rIns="0" tIns="0" bIns="0">
              <a:noAutofit/>
            </a:bodyPr>
            <a:lstStyle/>
            <a:p>
              <a:pPr algn="l"/>
              <a:r>
                <a:rPr sz="770" b="0">
                  <a:solidFill>
                    <a:srgbClr val="5B6B7B"/>
                  </a:solidFill>
                  <a:latin typeface="맑은 고딕"/>
                  <a:ea typeface="맑은 고딕"/>
                  <a:cs typeface="맑은 고딕"/>
                </a:rPr>
                <a:t>텐서 연산 전용</a:t>
              </a:r>
            </a:p>
          </p:txBody>
        </p:sp>
        <p:sp>
          <p:nvSpPr>
            <p:cNvPr id="34" name="Rounded Rectangle 33"/>
            <p:cNvSpPr/>
            <p:nvPr/>
          </p:nvSpPr>
          <p:spPr>
            <a:xfrm>
              <a:off x="3332684" y="3085119"/>
              <a:ext cx="1125733" cy="327486"/>
            </a:xfrm>
            <a:prstGeom prst="roundRect">
              <a:avLst>
                <a:gd name="adj" fmla="val 12500"/>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58418" y="3085119"/>
              <a:ext cx="1125733" cy="327486"/>
            </a:xfrm>
            <a:prstGeom prst="roundRect">
              <a:avLst>
                <a:gd name="adj" fmla="val 12500"/>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584151" y="3085119"/>
              <a:ext cx="1125733" cy="327486"/>
            </a:xfrm>
            <a:prstGeom prst="roundRect">
              <a:avLst>
                <a:gd name="adj" fmla="val 12500"/>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709884" y="3085119"/>
              <a:ext cx="1125733" cy="327486"/>
            </a:xfrm>
            <a:prstGeom prst="roundRect">
              <a:avLst>
                <a:gd name="adj" fmla="val 12500"/>
              </a:avLst>
            </a:prstGeom>
            <a:solidFill>
              <a:srgbClr val="CBE0F7"/>
            </a:solidFill>
            <a:ln w="1228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6454" y="3175382"/>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39" name="TextBox 38"/>
            <p:cNvSpPr txBox="1"/>
            <p:nvPr/>
          </p:nvSpPr>
          <p:spPr>
            <a:xfrm>
              <a:off x="4792187" y="3175382"/>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40" name="TextBox 39"/>
            <p:cNvSpPr txBox="1"/>
            <p:nvPr/>
          </p:nvSpPr>
          <p:spPr>
            <a:xfrm>
              <a:off x="5917920" y="3175382"/>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41" name="TextBox 40"/>
            <p:cNvSpPr txBox="1"/>
            <p:nvPr/>
          </p:nvSpPr>
          <p:spPr>
            <a:xfrm>
              <a:off x="7043653" y="3175382"/>
              <a:ext cx="458194" cy="155597"/>
            </a:xfrm>
            <a:prstGeom prst="rect">
              <a:avLst/>
            </a:prstGeom>
            <a:noFill/>
          </p:spPr>
          <p:txBody>
            <a:bodyPr wrap="none" anchor="ctr" lIns="0" rIns="0" tIns="0" bIns="0">
              <a:noAutofit/>
            </a:bodyPr>
            <a:lstStyle/>
            <a:p>
              <a:pPr algn="ctr"/>
              <a:r>
                <a:rPr sz="850" b="0">
                  <a:solidFill>
                    <a:srgbClr val="083F80"/>
                  </a:solidFill>
                  <a:latin typeface="맑은 고딕"/>
                  <a:ea typeface="맑은 고딕"/>
                  <a:cs typeface="맑은 고딕"/>
                </a:rPr>
                <a:t>텐서 연산</a:t>
              </a:r>
            </a:p>
          </p:txBody>
        </p:sp>
        <p:sp>
          <p:nvSpPr>
            <p:cNvPr id="42" name="TextBox 41"/>
            <p:cNvSpPr txBox="1"/>
            <p:nvPr/>
          </p:nvSpPr>
          <p:spPr>
            <a:xfrm>
              <a:off x="1388236" y="3548102"/>
              <a:ext cx="645608" cy="163006"/>
            </a:xfrm>
            <a:prstGeom prst="rect">
              <a:avLst/>
            </a:prstGeom>
            <a:noFill/>
          </p:spPr>
          <p:txBody>
            <a:bodyPr wrap="none" anchor="ctr" lIns="0" rIns="0" tIns="0" bIns="0">
              <a:noAutofit/>
            </a:bodyPr>
            <a:lstStyle/>
            <a:p>
              <a:pPr algn="l"/>
              <a:r>
                <a:rPr sz="890" b="0">
                  <a:solidFill>
                    <a:srgbClr val="B45409"/>
                  </a:solidFill>
                  <a:latin typeface="맑은 고딕"/>
                  <a:ea typeface="맑은 고딕"/>
                  <a:cs typeface="맑은 고딕"/>
                </a:rPr>
                <a:t>sub context</a:t>
              </a:r>
            </a:p>
          </p:txBody>
        </p:sp>
        <p:sp>
          <p:nvSpPr>
            <p:cNvPr id="43" name="TextBox 42"/>
            <p:cNvSpPr txBox="1"/>
            <p:nvPr/>
          </p:nvSpPr>
          <p:spPr>
            <a:xfrm>
              <a:off x="1388236" y="3719418"/>
              <a:ext cx="737432" cy="140778"/>
            </a:xfrm>
            <a:prstGeom prst="rect">
              <a:avLst/>
            </a:prstGeom>
            <a:noFill/>
          </p:spPr>
          <p:txBody>
            <a:bodyPr wrap="none" anchor="ctr" lIns="0" rIns="0" tIns="0" bIns="0">
              <a:noAutofit/>
            </a:bodyPr>
            <a:lstStyle/>
            <a:p>
              <a:pPr algn="l"/>
              <a:r>
                <a:rPr sz="770" b="0">
                  <a:solidFill>
                    <a:srgbClr val="5B6B7B"/>
                  </a:solidFill>
                  <a:latin typeface="맑은 고딕"/>
                  <a:ea typeface="맑은 고딕"/>
                  <a:cs typeface="맑은 고딕"/>
                </a:rPr>
                <a:t>벡터·메모리 연산</a:t>
              </a:r>
            </a:p>
          </p:txBody>
        </p:sp>
        <p:sp>
          <p:nvSpPr>
            <p:cNvPr id="44" name="Rounded Rectangle 43"/>
            <p:cNvSpPr/>
            <p:nvPr/>
          </p:nvSpPr>
          <p:spPr>
            <a:xfrm>
              <a:off x="3742042" y="3535412"/>
              <a:ext cx="716376" cy="327486"/>
            </a:xfrm>
            <a:prstGeom prst="roundRect">
              <a:avLst>
                <a:gd name="adj" fmla="val 12500"/>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867775" y="3535412"/>
              <a:ext cx="716376" cy="327486"/>
            </a:xfrm>
            <a:prstGeom prst="roundRect">
              <a:avLst>
                <a:gd name="adj" fmla="val 12500"/>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993508" y="3535412"/>
              <a:ext cx="716376" cy="327486"/>
            </a:xfrm>
            <a:prstGeom prst="roundRect">
              <a:avLst>
                <a:gd name="adj" fmla="val 12500"/>
              </a:avLst>
            </a:prstGeom>
            <a:solidFill>
              <a:srgbClr val="FDE8E8"/>
            </a:solidFill>
            <a:ln w="12280">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87656" y="3631611"/>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48" name="TextBox 47"/>
            <p:cNvSpPr txBox="1"/>
            <p:nvPr/>
          </p:nvSpPr>
          <p:spPr>
            <a:xfrm>
              <a:off x="5113390" y="3631611"/>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49" name="TextBox 48"/>
            <p:cNvSpPr txBox="1"/>
            <p:nvPr/>
          </p:nvSpPr>
          <p:spPr>
            <a:xfrm>
              <a:off x="6239123" y="3631611"/>
              <a:ext cx="225147" cy="148187"/>
            </a:xfrm>
            <a:prstGeom prst="rect">
              <a:avLst/>
            </a:prstGeom>
            <a:noFill/>
          </p:spPr>
          <p:txBody>
            <a:bodyPr wrap="none" anchor="ctr" lIns="0" rIns="0" tIns="0" bIns="0">
              <a:noAutofit/>
            </a:bodyPr>
            <a:lstStyle/>
            <a:p>
              <a:pPr algn="ctr"/>
              <a:r>
                <a:rPr sz="810" b="0">
                  <a:solidFill>
                    <a:srgbClr val="B4222A"/>
                  </a:solidFill>
                  <a:latin typeface="맑은 고딕"/>
                  <a:ea typeface="맑은 고딕"/>
                  <a:cs typeface="맑은 고딕"/>
                </a:rPr>
                <a:t>이동</a:t>
              </a:r>
            </a:p>
          </p:txBody>
        </p:sp>
        <p:sp>
          <p:nvSpPr>
            <p:cNvPr id="50" name="Rounded Rectangle 49"/>
            <p:cNvSpPr/>
            <p:nvPr/>
          </p:nvSpPr>
          <p:spPr>
            <a:xfrm>
              <a:off x="7835617" y="3044183"/>
              <a:ext cx="2149127" cy="859651"/>
            </a:xfrm>
            <a:prstGeom prst="roundRect">
              <a:avLst>
                <a:gd name="adj" fmla="val 7142"/>
              </a:avLst>
            </a:prstGeom>
            <a:solidFill>
              <a:srgbClr val="E2F4E8"/>
            </a:solidFill>
            <a:ln w="16374">
              <a:solidFill>
                <a:srgbClr val="1A7F3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96675" y="3255616"/>
              <a:ext cx="827010" cy="170416"/>
            </a:xfrm>
            <a:prstGeom prst="rect">
              <a:avLst/>
            </a:prstGeom>
            <a:noFill/>
          </p:spPr>
          <p:txBody>
            <a:bodyPr wrap="none" anchor="ctr" lIns="0" rIns="0" tIns="0" bIns="0">
              <a:noAutofit/>
            </a:bodyPr>
            <a:lstStyle/>
            <a:p>
              <a:pPr algn="ctr"/>
              <a:r>
                <a:rPr sz="930" b="1">
                  <a:solidFill>
                    <a:srgbClr val="1A7F37"/>
                  </a:solidFill>
                  <a:latin typeface="맑은 고딕"/>
                  <a:ea typeface="맑은 고딕"/>
                  <a:cs typeface="맑은 고딕"/>
                </a:rPr>
                <a:t>이만큼 짧아진다</a:t>
              </a:r>
            </a:p>
          </p:txBody>
        </p:sp>
        <p:sp>
          <p:nvSpPr>
            <p:cNvPr id="52" name="TextBox 51"/>
            <p:cNvSpPr txBox="1"/>
            <p:nvPr/>
          </p:nvSpPr>
          <p:spPr>
            <a:xfrm>
              <a:off x="8412790" y="3504506"/>
              <a:ext cx="994780" cy="140778"/>
            </a:xfrm>
            <a:prstGeom prst="rect">
              <a:avLst/>
            </a:prstGeom>
            <a:noFill/>
          </p:spPr>
          <p:txBody>
            <a:bodyPr wrap="none" anchor="ctr" lIns="0" rIns="0" tIns="0" bIns="0">
              <a:noAutofit/>
            </a:bodyPr>
            <a:lstStyle/>
            <a:p>
              <a:pPr algn="ctr"/>
              <a:r>
                <a:rPr sz="770" b="0">
                  <a:solidFill>
                    <a:srgbClr val="5B6B7B"/>
                  </a:solidFill>
                  <a:latin typeface="맑은 고딕"/>
                  <a:ea typeface="맑은 고딕"/>
                  <a:cs typeface="맑은 고딕"/>
                </a:rPr>
                <a:t>이동이 연산 뒤로 숨어서</a:t>
              </a:r>
            </a:p>
          </p:txBody>
        </p:sp>
        <p:cxnSp>
          <p:nvCxnSpPr>
            <p:cNvPr id="53" name="Connector 52"/>
            <p:cNvCxnSpPr/>
            <p:nvPr/>
          </p:nvCxnSpPr>
          <p:spPr>
            <a:xfrm>
              <a:off x="3332684" y="4128981"/>
              <a:ext cx="7061417" cy="0"/>
            </a:xfrm>
            <a:prstGeom prst="line">
              <a:avLst/>
            </a:prstGeom>
            <a:ln w="16374">
              <a:solidFill>
                <a:srgbClr val="D6DEE7"/>
              </a:solidFill>
            </a:ln>
          </p:spPr>
          <p:style>
            <a:lnRef idx="2">
              <a:schemeClr val="accent1"/>
            </a:lnRef>
            <a:fillRef idx="0">
              <a:schemeClr val="accent1"/>
            </a:fillRef>
            <a:effectRef idx="1">
              <a:schemeClr val="accent1"/>
            </a:effectRef>
            <a:fontRef idx="minor">
              <a:schemeClr val="tx1"/>
            </a:fontRef>
          </p:style>
        </p:cxnSp>
        <p:sp>
          <p:nvSpPr>
            <p:cNvPr id="54" name="Freeform 53"/>
            <p:cNvSpPr/>
            <p:nvPr/>
          </p:nvSpPr>
          <p:spPr>
            <a:xfrm>
              <a:off x="10373633" y="4067577"/>
              <a:ext cx="184211" cy="122807"/>
            </a:xfrm>
            <a:custGeom>
              <a:avLst/>
              <a:gdLst/>
              <a:ahLst/>
              <a:cxnLst/>
              <a:rect l="l" t="t" r="r" b="b"/>
              <a:pathLst>
                <a:path w="184211" h="122807">
                  <a:moveTo>
                    <a:pt x="0" y="0"/>
                  </a:moveTo>
                  <a:lnTo>
                    <a:pt x="184211" y="61404"/>
                  </a:lnTo>
                  <a:lnTo>
                    <a:pt x="0" y="122807"/>
                  </a:lnTo>
                  <a:close/>
                </a:path>
              </a:pathLst>
            </a:custGeom>
            <a:solidFill>
              <a:srgbClr val="D6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19362" y="4214946"/>
              <a:ext cx="1070060" cy="148187"/>
            </a:xfrm>
            <a:prstGeom prst="rect">
              <a:avLst/>
            </a:prstGeom>
            <a:noFill/>
          </p:spPr>
          <p:txBody>
            <a:bodyPr wrap="none" anchor="ctr" lIns="0" rIns="0" tIns="0" bIns="0">
              <a:noAutofit/>
            </a:bodyPr>
            <a:lstStyle/>
            <a:p>
              <a:pPr algn="r"/>
              <a:r>
                <a:rPr sz="810" b="0">
                  <a:solidFill>
                    <a:srgbClr val="5B6B7B"/>
                  </a:solidFill>
                  <a:latin typeface="맑은 고딕"/>
                  <a:ea typeface="맑은 고딕"/>
                  <a:cs typeface="맑은 고딕"/>
                </a:rPr>
                <a:t>두 줄은 같은 시간 축이다</a:t>
              </a:r>
            </a:p>
          </p:txBody>
        </p:sp>
        <p:sp>
          <p:nvSpPr>
            <p:cNvPr id="56" name="Rounded Rectangle 55"/>
            <p:cNvSpPr/>
            <p:nvPr/>
          </p:nvSpPr>
          <p:spPr>
            <a:xfrm>
              <a:off x="1388236" y="4476935"/>
              <a:ext cx="9415222" cy="1064329"/>
            </a:xfrm>
            <a:prstGeom prst="roundRect">
              <a:avLst>
                <a:gd name="adj" fmla="val 7692"/>
              </a:avLst>
            </a:prstGeom>
            <a:solidFill>
              <a:srgbClr val="F4F8FD"/>
            </a:solidFill>
            <a:ln w="16374">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33851" y="4600560"/>
              <a:ext cx="749984" cy="177825"/>
            </a:xfrm>
            <a:prstGeom prst="rect">
              <a:avLst/>
            </a:prstGeom>
            <a:noFill/>
          </p:spPr>
          <p:txBody>
            <a:bodyPr wrap="none" anchor="ctr" lIns="0" rIns="0" tIns="0" bIns="0">
              <a:noAutofit/>
            </a:bodyPr>
            <a:lstStyle/>
            <a:p>
              <a:pPr algn="l"/>
              <a:r>
                <a:rPr sz="969" b="1">
                  <a:solidFill>
                    <a:srgbClr val="083F80"/>
                  </a:solidFill>
                  <a:latin typeface="맑은 고딕"/>
                  <a:ea typeface="맑은 고딕"/>
                  <a:cs typeface="맑은 고딕"/>
                </a:rPr>
                <a:t>어떻게 겹치나</a:t>
              </a:r>
            </a:p>
          </p:txBody>
        </p:sp>
        <p:sp>
          <p:nvSpPr>
            <p:cNvPr id="58" name="TextBox 57"/>
            <p:cNvSpPr txBox="1"/>
            <p:nvPr/>
          </p:nvSpPr>
          <p:spPr>
            <a:xfrm>
              <a:off x="1633851" y="4858046"/>
              <a:ext cx="5786043" cy="163006"/>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두 컨텍스트는 비동기로 launch 되어 병렬 실행된다 — main 에서 텐서 연산을 띄운 뒤 sub 에서 메모리 연산을 잇달아 띄운다</a:t>
              </a:r>
            </a:p>
          </p:txBody>
        </p:sp>
        <p:sp>
          <p:nvSpPr>
            <p:cNvPr id="59" name="TextBox 58"/>
            <p:cNvSpPr txBox="1"/>
            <p:nvPr/>
          </p:nvSpPr>
          <p:spPr>
            <a:xfrm>
              <a:off x="1633851" y="5103661"/>
              <a:ext cx="4149340" cy="163006"/>
            </a:xfrm>
            <a:prstGeom prst="rect">
              <a:avLst/>
            </a:prstGeom>
            <a:noFill/>
          </p:spPr>
          <p:txBody>
            <a:bodyPr wrap="none" anchor="ctr" lIns="0" rIns="0" tIns="0" bIns="0">
              <a:noAutofit/>
            </a:bodyPr>
            <a:lstStyle/>
            <a:p>
              <a:pPr algn="l"/>
              <a:r>
                <a:rPr sz="890" b="0">
                  <a:solidFill>
                    <a:srgbClr val="16202C"/>
                  </a:solidFill>
                  <a:latin typeface="맑은 고딕"/>
                  <a:ea typeface="맑은 고딕"/>
                  <a:cs typeface="맑은 고딕"/>
                </a:rPr>
                <a:t>RF 를 쪼개 일부는 현재 연산에, 나머지는 다음 레이어 텐서 로딩에 동시에 쓸 수 있다 (V-B)</a:t>
              </a:r>
            </a:p>
          </p:txBody>
        </p:sp>
      </p:grpSp>
      <p:sp>
        <p:nvSpPr>
          <p:cNvPr id="60" name="Rectangle 5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레이아웃 변환을 아예 없앨 수 없다면, 계산 뒤에 숨겨라 — 그게 다중 컨텍스트다</a:t>
            </a:r>
          </a:p>
        </p:txBody>
      </p:sp>
      <p:sp>
        <p:nvSpPr>
          <p:cNvPr id="61" name="Rectangle 6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2 — SRAM 지역성과 텐서 이동 (3/3)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multiple contexts (다중 컨텍스트) 가 데이터 이동을 가려준다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255</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논문은 다중 컨텍스트가 오버헤드를 몇 % 숨기는지 밝히지 않는다. Fig. 13 의 TU/TDMA 트레이스로 정성적으로만 보여준다</a:t>
            </a:r>
          </a:p>
          <a:p>
            <a:pPr algn="l">
              <a:lnSpc>
                <a:spcPct val="118000"/>
              </a:lnSpc>
              <a:spcBef>
                <a:spcPts val="600"/>
              </a:spcBef>
              <a:spcAft>
                <a:spcPts val="200"/>
              </a:spcAft>
            </a:pPr>
            <a:r>
              <a:rPr sz="1900" b="0" i="0">
                <a:solidFill>
                  <a:srgbClr val="16202C"/>
                </a:solidFill>
                <a:latin typeface="Segoe UI"/>
                <a:ea typeface="맑은 고딕"/>
                <a:cs typeface="맑은 고딕"/>
              </a:rPr>
              <a:t>▪  교훈 2는 두 갈래다 — 애초에 어긋나지 않게 전역 최적화하고, 그래도 남는 이동은 컨텍스트로 숨긴다. 하드웨어와 컴파일러가 같은 문제를 양쪽에서 친다</a:t>
            </a:r>
          </a:p>
          <a:p>
            <a:pPr algn="l">
              <a:lnSpc>
                <a:spcPct val="118000"/>
              </a:lnSpc>
              <a:spcBef>
                <a:spcPts val="600"/>
              </a:spcBef>
              <a:spcAft>
                <a:spcPts val="200"/>
              </a:spcAft>
            </a:pPr>
            <a:r>
              <a:rPr sz="1900" b="0" i="0">
                <a:solidFill>
                  <a:srgbClr val="16202C"/>
                </a:solidFill>
                <a:latin typeface="Segoe UI"/>
                <a:ea typeface="맑은 고딕"/>
                <a:cs typeface="맑은 고딕"/>
              </a:rPr>
              <a:t>▪  이 은닉은 slice 안에서 일어난다. 컨텍스트가 slice 마다 두 벌씩이므로 slice 수만큼 동시에 벌어진다</a:t>
            </a:r>
          </a:p>
          <a:p>
            <a:pPr algn="l">
              <a:lnSpc>
                <a:spcPct val="118000"/>
              </a:lnSpc>
              <a:spcBef>
                <a:spcPts val="200"/>
              </a:spcBef>
              <a:spcAft>
                <a:spcPts val="100"/>
              </a:spcAft>
            </a:pPr>
            <a:r>
              <a:rPr sz="1780" b="0" i="0">
                <a:solidFill>
                  <a:srgbClr val="2C3A4B"/>
                </a:solidFill>
                <a:latin typeface="Segoe UI"/>
                <a:ea typeface="맑은 고딕"/>
                <a:cs typeface="맑은 고딕"/>
              </a:rPr>
              <a:t>–  숨기려면 숨길 연산이 남아 있어야 한다. 연산량이 적은 구간에서는 은닉 효과가 줄어든다 (발표자 해석)</a:t>
            </a:r>
          </a:p>
          <a:p>
            <a:pPr algn="l">
              <a:lnSpc>
                <a:spcPct val="118000"/>
              </a:lnSpc>
              <a:spcBef>
                <a:spcPts val="600"/>
              </a:spcBef>
              <a:spcAft>
                <a:spcPts val="200"/>
              </a:spcAft>
            </a:pPr>
            <a:r>
              <a:rPr sz="1900" b="0" i="0">
                <a:solidFill>
                  <a:srgbClr val="16202C"/>
                </a:solidFill>
                <a:latin typeface="Segoe UI"/>
                <a:ea typeface="맑은 고딕"/>
                <a:cs typeface="맑은 고딕"/>
              </a:rPr>
              <a:t>▪  원문이 다중 컨텍스트를 '결정적 역할(crucial)'이라고 표현한 지점이 바로 여기다</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교훈 3 — 정확한 비용 모델이 있어야 종단간 최적화가 된다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Accurate Cost Model for End-to-End Optimization</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256</a:t>
            </a:r>
          </a:p>
        </p:txBody>
      </p:sp>
      <p:grpSp>
        <p:nvGrpSpPr>
          <p:cNvPr id="9" name="도해 A9#08"/>
          <p:cNvGrpSpPr/>
          <p:nvPr/>
        </p:nvGrpSpPr>
        <p:grpSpPr>
          <a:xfrm>
            <a:off x="566928" y="1533070"/>
            <a:ext cx="11057839" cy="3938164"/>
            <a:chOff x="566928" y="1533070"/>
            <a:chExt cx="11057839" cy="3938164"/>
          </a:xfrm>
        </p:grpSpPr>
        <p:sp>
          <p:nvSpPr>
            <p:cNvPr id="10" name="TextBox 9"/>
            <p:cNvSpPr txBox="1"/>
            <p:nvPr/>
          </p:nvSpPr>
          <p:spPr>
            <a:xfrm>
              <a:off x="566928" y="1533070"/>
              <a:ext cx="4543634" cy="215676"/>
            </a:xfrm>
            <a:prstGeom prst="rect">
              <a:avLst/>
            </a:prstGeom>
            <a:noFill/>
          </p:spPr>
          <p:txBody>
            <a:bodyPr wrap="none" anchor="ctr" lIns="0" rIns="0" tIns="0" bIns="0">
              <a:noAutofit/>
            </a:bodyPr>
            <a:lstStyle/>
            <a:p>
              <a:pPr algn="l"/>
              <a:r>
                <a:rPr sz="1170" b="0">
                  <a:solidFill>
                    <a:srgbClr val="5B6B7B"/>
                  </a:solidFill>
                  <a:latin typeface="맑은 고딕"/>
                  <a:ea typeface="맑은 고딕"/>
                  <a:cs typeface="맑은 고딕"/>
                </a:rPr>
                <a:t>교훈 3의 사슬 — 하드웨어의 결정론이 소프트웨어의 최적화 여지를 만든다</a:t>
              </a:r>
            </a:p>
          </p:txBody>
        </p:sp>
        <p:sp>
          <p:nvSpPr>
            <p:cNvPr id="11" name="Rounded Rectangle 10"/>
            <p:cNvSpPr/>
            <p:nvPr/>
          </p:nvSpPr>
          <p:spPr>
            <a:xfrm>
              <a:off x="566928" y="2134817"/>
              <a:ext cx="1811198" cy="1739703"/>
            </a:xfrm>
            <a:prstGeom prst="roundRect">
              <a:avLst>
                <a:gd name="adj" fmla="val 5479"/>
              </a:avLst>
            </a:prstGeom>
            <a:solidFill>
              <a:srgbClr val="E3EEFB"/>
            </a:solidFill>
            <a:ln w="214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6232" y="2319511"/>
              <a:ext cx="772589" cy="215676"/>
            </a:xfrm>
            <a:prstGeom prst="rect">
              <a:avLst/>
            </a:prstGeom>
            <a:noFill/>
          </p:spPr>
          <p:txBody>
            <a:bodyPr wrap="none" anchor="ctr" lIns="0" rIns="0" tIns="0" bIns="0">
              <a:noAutofit/>
            </a:bodyPr>
            <a:lstStyle/>
            <a:p>
              <a:pPr algn="ctr"/>
              <a:r>
                <a:rPr sz="1170" b="1">
                  <a:solidFill>
                    <a:srgbClr val="083F80"/>
                  </a:solidFill>
                  <a:latin typeface="맑은 고딕"/>
                  <a:ea typeface="맑은 고딕"/>
                  <a:cs typeface="맑은 고딕"/>
                </a:rPr>
                <a:t>캐시 미스가</a:t>
              </a:r>
            </a:p>
          </p:txBody>
        </p:sp>
        <p:sp>
          <p:nvSpPr>
            <p:cNvPr id="13" name="TextBox 12"/>
            <p:cNvSpPr txBox="1"/>
            <p:nvPr/>
          </p:nvSpPr>
          <p:spPr>
            <a:xfrm>
              <a:off x="1154748" y="2533995"/>
              <a:ext cx="635558" cy="215676"/>
            </a:xfrm>
            <a:prstGeom prst="rect">
              <a:avLst/>
            </a:prstGeom>
            <a:noFill/>
          </p:spPr>
          <p:txBody>
            <a:bodyPr wrap="none" anchor="ctr" lIns="0" rIns="0" tIns="0" bIns="0">
              <a:noAutofit/>
            </a:bodyPr>
            <a:lstStyle/>
            <a:p>
              <a:pPr algn="ctr"/>
              <a:r>
                <a:rPr sz="1170" b="1">
                  <a:solidFill>
                    <a:srgbClr val="083F80"/>
                  </a:solidFill>
                  <a:latin typeface="맑은 고딕"/>
                  <a:ea typeface="맑은 고딕"/>
                  <a:cs typeface="맑은 고딕"/>
                </a:rPr>
                <a:t>없는 구조</a:t>
              </a:r>
            </a:p>
          </p:txBody>
        </p:sp>
        <p:sp>
          <p:nvSpPr>
            <p:cNvPr id="14" name="TextBox 13"/>
            <p:cNvSpPr txBox="1"/>
            <p:nvPr/>
          </p:nvSpPr>
          <p:spPr>
            <a:xfrm>
              <a:off x="1157831" y="2909104"/>
              <a:ext cx="629391"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CPU 코어 옆</a:t>
              </a:r>
            </a:p>
          </p:txBody>
        </p:sp>
        <p:sp>
          <p:nvSpPr>
            <p:cNvPr id="15" name="TextBox 14"/>
            <p:cNvSpPr txBox="1"/>
            <p:nvPr/>
          </p:nvSpPr>
          <p:spPr>
            <a:xfrm>
              <a:off x="960750" y="3111672"/>
              <a:ext cx="1023553"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scratch pad 3.5 MB</a:t>
              </a:r>
            </a:p>
          </p:txBody>
        </p:sp>
        <p:sp>
          <p:nvSpPr>
            <p:cNvPr id="16" name="TextBox 15"/>
            <p:cNvSpPr txBox="1"/>
            <p:nvPr/>
          </p:nvSpPr>
          <p:spPr>
            <a:xfrm>
              <a:off x="1010219" y="3314240"/>
              <a:ext cx="924616"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모든 코드를 여기서</a:t>
              </a:r>
            </a:p>
          </p:txBody>
        </p:sp>
        <p:sp>
          <p:nvSpPr>
            <p:cNvPr id="17" name="TextBox 16"/>
            <p:cNvSpPr txBox="1"/>
            <p:nvPr/>
          </p:nvSpPr>
          <p:spPr>
            <a:xfrm>
              <a:off x="1356759" y="3607130"/>
              <a:ext cx="231535"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III장</a:t>
              </a:r>
            </a:p>
          </p:txBody>
        </p:sp>
        <p:cxnSp>
          <p:nvCxnSpPr>
            <p:cNvPr id="18" name="Connector 17"/>
            <p:cNvCxnSpPr/>
            <p:nvPr/>
          </p:nvCxnSpPr>
          <p:spPr>
            <a:xfrm>
              <a:off x="2425789" y="3004668"/>
              <a:ext cx="309810" cy="0"/>
            </a:xfrm>
            <a:prstGeom prst="line">
              <a:avLst/>
            </a:prstGeom>
            <a:ln w="26214">
              <a:solidFill>
                <a:srgbClr val="5B6B7B"/>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2711767" y="2921258"/>
              <a:ext cx="166821" cy="166821"/>
            </a:xfrm>
            <a:custGeom>
              <a:avLst/>
              <a:gdLst/>
              <a:ahLst/>
              <a:cxnLst/>
              <a:rect l="l" t="t" r="r" b="b"/>
              <a:pathLst>
                <a:path w="166821" h="166821">
                  <a:moveTo>
                    <a:pt x="0" y="0"/>
                  </a:moveTo>
                  <a:lnTo>
                    <a:pt x="166821" y="83410"/>
                  </a:lnTo>
                  <a:lnTo>
                    <a:pt x="0" y="166821"/>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878588" y="2134817"/>
              <a:ext cx="1811198" cy="1739703"/>
            </a:xfrm>
            <a:prstGeom prst="roundRect">
              <a:avLst>
                <a:gd name="adj" fmla="val 5479"/>
              </a:avLst>
            </a:prstGeom>
            <a:solidFill>
              <a:srgbClr val="CBE0F7"/>
            </a:solidFill>
            <a:ln w="21448">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83314" y="2319511"/>
              <a:ext cx="601747" cy="215676"/>
            </a:xfrm>
            <a:prstGeom prst="rect">
              <a:avLst/>
            </a:prstGeom>
            <a:noFill/>
          </p:spPr>
          <p:txBody>
            <a:bodyPr wrap="none" anchor="ctr" lIns="0" rIns="0" tIns="0" bIns="0">
              <a:noAutofit/>
            </a:bodyPr>
            <a:lstStyle/>
            <a:p>
              <a:pPr algn="ctr"/>
              <a:r>
                <a:rPr sz="1170" b="1">
                  <a:solidFill>
                    <a:srgbClr val="083F80"/>
                  </a:solidFill>
                  <a:latin typeface="맑은 고딕"/>
                  <a:ea typeface="맑은 고딕"/>
                  <a:cs typeface="맑은 고딕"/>
                </a:rPr>
                <a:t>결정론적</a:t>
              </a:r>
            </a:p>
          </p:txBody>
        </p:sp>
        <p:sp>
          <p:nvSpPr>
            <p:cNvPr id="22" name="TextBox 21"/>
            <p:cNvSpPr txBox="1"/>
            <p:nvPr/>
          </p:nvSpPr>
          <p:spPr>
            <a:xfrm>
              <a:off x="3620345" y="2533995"/>
              <a:ext cx="327684" cy="215676"/>
            </a:xfrm>
            <a:prstGeom prst="rect">
              <a:avLst/>
            </a:prstGeom>
            <a:noFill/>
          </p:spPr>
          <p:txBody>
            <a:bodyPr wrap="none" anchor="ctr" lIns="0" rIns="0" tIns="0" bIns="0">
              <a:noAutofit/>
            </a:bodyPr>
            <a:lstStyle/>
            <a:p>
              <a:pPr algn="ctr"/>
              <a:r>
                <a:rPr sz="1170" b="1">
                  <a:solidFill>
                    <a:srgbClr val="083F80"/>
                  </a:solidFill>
                  <a:latin typeface="맑은 고딕"/>
                  <a:ea typeface="맑은 고딕"/>
                  <a:cs typeface="맑은 고딕"/>
                </a:rPr>
                <a:t>실행</a:t>
              </a:r>
            </a:p>
          </p:txBody>
        </p:sp>
        <p:sp>
          <p:nvSpPr>
            <p:cNvPr id="23" name="TextBox 22"/>
            <p:cNvSpPr txBox="1"/>
            <p:nvPr/>
          </p:nvSpPr>
          <p:spPr>
            <a:xfrm>
              <a:off x="3490773" y="2909104"/>
              <a:ext cx="586828"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연산 유닛이</a:t>
              </a:r>
            </a:p>
          </p:txBody>
        </p:sp>
        <p:sp>
          <p:nvSpPr>
            <p:cNvPr id="24" name="TextBox 23"/>
            <p:cNvSpPr txBox="1"/>
            <p:nvPr/>
          </p:nvSpPr>
          <p:spPr>
            <a:xfrm>
              <a:off x="3334557" y="3111672"/>
              <a:ext cx="899260"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소프트웨어가 정한</a:t>
              </a:r>
            </a:p>
          </p:txBody>
        </p:sp>
        <p:sp>
          <p:nvSpPr>
            <p:cNvPr id="25" name="TextBox 24"/>
            <p:cNvSpPr txBox="1"/>
            <p:nvPr/>
          </p:nvSpPr>
          <p:spPr>
            <a:xfrm>
              <a:off x="3386629" y="3314240"/>
              <a:ext cx="795116"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대로만 동작한다</a:t>
              </a:r>
            </a:p>
          </p:txBody>
        </p:sp>
        <p:sp>
          <p:nvSpPr>
            <p:cNvPr id="26" name="TextBox 25"/>
            <p:cNvSpPr txBox="1"/>
            <p:nvPr/>
          </p:nvSpPr>
          <p:spPr>
            <a:xfrm>
              <a:off x="3699841" y="3607130"/>
              <a:ext cx="168692"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I장</a:t>
              </a:r>
            </a:p>
          </p:txBody>
        </p:sp>
        <p:cxnSp>
          <p:nvCxnSpPr>
            <p:cNvPr id="27" name="Connector 26"/>
            <p:cNvCxnSpPr/>
            <p:nvPr/>
          </p:nvCxnSpPr>
          <p:spPr>
            <a:xfrm>
              <a:off x="4737449" y="3004668"/>
              <a:ext cx="309810" cy="0"/>
            </a:xfrm>
            <a:prstGeom prst="line">
              <a:avLst/>
            </a:prstGeom>
            <a:ln w="26214">
              <a:solidFill>
                <a:srgbClr val="5B6B7B"/>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023428" y="2921258"/>
              <a:ext cx="166821" cy="166821"/>
            </a:xfrm>
            <a:custGeom>
              <a:avLst/>
              <a:gdLst/>
              <a:ahLst/>
              <a:cxnLst/>
              <a:rect l="l" t="t" r="r" b="b"/>
              <a:pathLst>
                <a:path w="166821" h="166821">
                  <a:moveTo>
                    <a:pt x="0" y="0"/>
                  </a:moveTo>
                  <a:lnTo>
                    <a:pt x="166821" y="83410"/>
                  </a:lnTo>
                  <a:lnTo>
                    <a:pt x="0" y="166821"/>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190249" y="2134817"/>
              <a:ext cx="1811198" cy="1739703"/>
            </a:xfrm>
            <a:prstGeom prst="roundRect">
              <a:avLst>
                <a:gd name="adj" fmla="val 5479"/>
              </a:avLst>
            </a:prstGeom>
            <a:solidFill>
              <a:srgbClr val="FDEBD3"/>
            </a:solidFill>
            <a:ln w="2859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63490" y="2319511"/>
              <a:ext cx="464715" cy="215676"/>
            </a:xfrm>
            <a:prstGeom prst="rect">
              <a:avLst/>
            </a:prstGeom>
            <a:noFill/>
          </p:spPr>
          <p:txBody>
            <a:bodyPr wrap="none" anchor="ctr" lIns="0" rIns="0" tIns="0" bIns="0">
              <a:noAutofit/>
            </a:bodyPr>
            <a:lstStyle/>
            <a:p>
              <a:pPr algn="ctr"/>
              <a:r>
                <a:rPr sz="1170" b="1">
                  <a:solidFill>
                    <a:srgbClr val="B45409"/>
                  </a:solidFill>
                  <a:latin typeface="맑은 고딕"/>
                  <a:ea typeface="맑은 고딕"/>
                  <a:cs typeface="맑은 고딕"/>
                </a:rPr>
                <a:t>정확한</a:t>
              </a:r>
            </a:p>
          </p:txBody>
        </p:sp>
        <p:sp>
          <p:nvSpPr>
            <p:cNvPr id="31" name="TextBox 30"/>
            <p:cNvSpPr txBox="1"/>
            <p:nvPr/>
          </p:nvSpPr>
          <p:spPr>
            <a:xfrm>
              <a:off x="5778069" y="2533995"/>
              <a:ext cx="635558" cy="215676"/>
            </a:xfrm>
            <a:prstGeom prst="rect">
              <a:avLst/>
            </a:prstGeom>
            <a:noFill/>
          </p:spPr>
          <p:txBody>
            <a:bodyPr wrap="none" anchor="ctr" lIns="0" rIns="0" tIns="0" bIns="0">
              <a:noAutofit/>
            </a:bodyPr>
            <a:lstStyle/>
            <a:p>
              <a:pPr algn="ctr"/>
              <a:r>
                <a:rPr sz="1170" b="1">
                  <a:solidFill>
                    <a:srgbClr val="B45409"/>
                  </a:solidFill>
                  <a:latin typeface="맑은 고딕"/>
                  <a:ea typeface="맑은 고딕"/>
                  <a:cs typeface="맑은 고딕"/>
                </a:rPr>
                <a:t>비용 모델</a:t>
              </a:r>
            </a:p>
          </p:txBody>
        </p:sp>
        <p:sp>
          <p:nvSpPr>
            <p:cNvPr id="32" name="TextBox 31"/>
            <p:cNvSpPr txBox="1"/>
            <p:nvPr/>
          </p:nvSpPr>
          <p:spPr>
            <a:xfrm>
              <a:off x="5643897" y="2909104"/>
              <a:ext cx="903901"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tactic 마다 성능과</a:t>
              </a:r>
            </a:p>
          </p:txBody>
        </p:sp>
        <p:sp>
          <p:nvSpPr>
            <p:cNvPr id="33" name="TextBox 32"/>
            <p:cNvSpPr txBox="1"/>
            <p:nvPr/>
          </p:nvSpPr>
          <p:spPr>
            <a:xfrm>
              <a:off x="5802433" y="3111672"/>
              <a:ext cx="586828"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전력을 미리</a:t>
              </a:r>
            </a:p>
          </p:txBody>
        </p:sp>
        <p:sp>
          <p:nvSpPr>
            <p:cNvPr id="34" name="TextBox 33"/>
            <p:cNvSpPr txBox="1"/>
            <p:nvPr/>
          </p:nvSpPr>
          <p:spPr>
            <a:xfrm>
              <a:off x="5802433" y="3314240"/>
              <a:ext cx="586828"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계산해 둔다</a:t>
              </a:r>
            </a:p>
          </p:txBody>
        </p:sp>
        <p:sp>
          <p:nvSpPr>
            <p:cNvPr id="35" name="TextBox 34"/>
            <p:cNvSpPr txBox="1"/>
            <p:nvPr/>
          </p:nvSpPr>
          <p:spPr>
            <a:xfrm>
              <a:off x="5842327" y="3607130"/>
              <a:ext cx="507040"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VII-C · I장</a:t>
              </a:r>
            </a:p>
          </p:txBody>
        </p:sp>
        <p:cxnSp>
          <p:nvCxnSpPr>
            <p:cNvPr id="36" name="Connector 35"/>
            <p:cNvCxnSpPr/>
            <p:nvPr/>
          </p:nvCxnSpPr>
          <p:spPr>
            <a:xfrm>
              <a:off x="7049109" y="3004668"/>
              <a:ext cx="309811" cy="0"/>
            </a:xfrm>
            <a:prstGeom prst="line">
              <a:avLst/>
            </a:prstGeom>
            <a:ln w="26214">
              <a:solidFill>
                <a:srgbClr val="5B6B7B"/>
              </a:solidFill>
            </a:ln>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7335088" y="2921258"/>
              <a:ext cx="166821" cy="166821"/>
            </a:xfrm>
            <a:custGeom>
              <a:avLst/>
              <a:gdLst/>
              <a:ahLst/>
              <a:cxnLst/>
              <a:rect l="l" t="t" r="r" b="b"/>
              <a:pathLst>
                <a:path w="166821" h="166821">
                  <a:moveTo>
                    <a:pt x="0" y="0"/>
                  </a:moveTo>
                  <a:lnTo>
                    <a:pt x="166821" y="83410"/>
                  </a:lnTo>
                  <a:lnTo>
                    <a:pt x="0" y="166821"/>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501909" y="2134817"/>
              <a:ext cx="1811198" cy="1739703"/>
            </a:xfrm>
            <a:prstGeom prst="roundRect">
              <a:avLst>
                <a:gd name="adj" fmla="val 5479"/>
              </a:avLst>
            </a:prstGeom>
            <a:solidFill>
              <a:srgbClr val="F3FAF5"/>
            </a:solidFill>
            <a:ln w="21448">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38119" y="2319511"/>
              <a:ext cx="738778" cy="215676"/>
            </a:xfrm>
            <a:prstGeom prst="rect">
              <a:avLst/>
            </a:prstGeom>
            <a:noFill/>
          </p:spPr>
          <p:txBody>
            <a:bodyPr wrap="none" anchor="ctr" lIns="0" rIns="0" tIns="0" bIns="0">
              <a:noAutofit/>
            </a:bodyPr>
            <a:lstStyle/>
            <a:p>
              <a:pPr algn="ctr"/>
              <a:r>
                <a:rPr sz="1170" b="1">
                  <a:solidFill>
                    <a:srgbClr val="1A7F37"/>
                  </a:solidFill>
                  <a:latin typeface="맑은 고딕"/>
                  <a:ea typeface="맑은 고딕"/>
                  <a:cs typeface="맑은 고딕"/>
                </a:rPr>
                <a:t>컴파일러의</a:t>
              </a:r>
            </a:p>
          </p:txBody>
        </p:sp>
        <p:sp>
          <p:nvSpPr>
            <p:cNvPr id="40" name="TextBox 39"/>
            <p:cNvSpPr txBox="1"/>
            <p:nvPr/>
          </p:nvSpPr>
          <p:spPr>
            <a:xfrm>
              <a:off x="8243666" y="2533995"/>
              <a:ext cx="327684" cy="215676"/>
            </a:xfrm>
            <a:prstGeom prst="rect">
              <a:avLst/>
            </a:prstGeom>
            <a:noFill/>
          </p:spPr>
          <p:txBody>
            <a:bodyPr wrap="none" anchor="ctr" lIns="0" rIns="0" tIns="0" bIns="0">
              <a:noAutofit/>
            </a:bodyPr>
            <a:lstStyle/>
            <a:p>
              <a:pPr algn="ctr"/>
              <a:r>
                <a:rPr sz="1170" b="1">
                  <a:solidFill>
                    <a:srgbClr val="1A7F37"/>
                  </a:solidFill>
                  <a:latin typeface="맑은 고딕"/>
                  <a:ea typeface="맑은 고딕"/>
                  <a:cs typeface="맑은 고딕"/>
                </a:rPr>
                <a:t>탐색</a:t>
              </a:r>
            </a:p>
          </p:txBody>
        </p:sp>
        <p:sp>
          <p:nvSpPr>
            <p:cNvPr id="41" name="TextBox 40"/>
            <p:cNvSpPr txBox="1"/>
            <p:nvPr/>
          </p:nvSpPr>
          <p:spPr>
            <a:xfrm>
              <a:off x="7831943" y="2909104"/>
              <a:ext cx="1151129"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lowered shape 후보와</a:t>
              </a:r>
            </a:p>
          </p:txBody>
        </p:sp>
        <p:sp>
          <p:nvSpPr>
            <p:cNvPr id="42" name="TextBox 41"/>
            <p:cNvSpPr txBox="1"/>
            <p:nvPr/>
          </p:nvSpPr>
          <p:spPr>
            <a:xfrm>
              <a:off x="8114094" y="3111672"/>
              <a:ext cx="586828"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축약 순서를</a:t>
              </a:r>
            </a:p>
          </p:txBody>
        </p:sp>
        <p:sp>
          <p:nvSpPr>
            <p:cNvPr id="43" name="TextBox 42"/>
            <p:cNvSpPr txBox="1"/>
            <p:nvPr/>
          </p:nvSpPr>
          <p:spPr>
            <a:xfrm>
              <a:off x="8062022" y="3314240"/>
              <a:ext cx="690972"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견주어 고른다</a:t>
              </a:r>
            </a:p>
          </p:txBody>
        </p:sp>
        <p:sp>
          <p:nvSpPr>
            <p:cNvPr id="44" name="TextBox 43"/>
            <p:cNvSpPr txBox="1"/>
            <p:nvPr/>
          </p:nvSpPr>
          <p:spPr>
            <a:xfrm>
              <a:off x="8188895" y="3607130"/>
              <a:ext cx="437226"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I장 · V장</a:t>
              </a:r>
            </a:p>
          </p:txBody>
        </p:sp>
        <p:cxnSp>
          <p:nvCxnSpPr>
            <p:cNvPr id="45" name="Connector 44"/>
            <p:cNvCxnSpPr/>
            <p:nvPr/>
          </p:nvCxnSpPr>
          <p:spPr>
            <a:xfrm>
              <a:off x="9360770" y="3004668"/>
              <a:ext cx="309810" cy="0"/>
            </a:xfrm>
            <a:prstGeom prst="line">
              <a:avLst/>
            </a:prstGeom>
            <a:ln w="26214">
              <a:solidFill>
                <a:srgbClr val="5B6B7B"/>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9646748" y="2921258"/>
              <a:ext cx="166821" cy="166821"/>
            </a:xfrm>
            <a:custGeom>
              <a:avLst/>
              <a:gdLst/>
              <a:ahLst/>
              <a:cxnLst/>
              <a:rect l="l" t="t" r="r" b="b"/>
              <a:pathLst>
                <a:path w="166821" h="166821">
                  <a:moveTo>
                    <a:pt x="0" y="0"/>
                  </a:moveTo>
                  <a:lnTo>
                    <a:pt x="166821" y="83410"/>
                  </a:lnTo>
                  <a:lnTo>
                    <a:pt x="0" y="166821"/>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813569" y="2134817"/>
              <a:ext cx="1811198" cy="1739703"/>
            </a:xfrm>
            <a:prstGeom prst="roundRect">
              <a:avLst>
                <a:gd name="adj" fmla="val 5479"/>
              </a:avLst>
            </a:prstGeom>
            <a:solidFill>
              <a:srgbClr val="E2F4E8"/>
            </a:solidFill>
            <a:ln w="26214">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842" y="2319511"/>
              <a:ext cx="1046652" cy="215676"/>
            </a:xfrm>
            <a:prstGeom prst="rect">
              <a:avLst/>
            </a:prstGeom>
            <a:noFill/>
          </p:spPr>
          <p:txBody>
            <a:bodyPr wrap="none" anchor="ctr" lIns="0" rIns="0" tIns="0" bIns="0">
              <a:noAutofit/>
            </a:bodyPr>
            <a:lstStyle/>
            <a:p>
              <a:pPr algn="ctr"/>
              <a:r>
                <a:rPr sz="1170" b="1">
                  <a:solidFill>
                    <a:srgbClr val="1A7F37"/>
                  </a:solidFill>
                  <a:latin typeface="맑은 고딕"/>
                  <a:ea typeface="맑은 고딕"/>
                  <a:cs typeface="맑은 고딕"/>
                </a:rPr>
                <a:t>요구를 만족하는</a:t>
              </a:r>
            </a:p>
          </p:txBody>
        </p:sp>
        <p:sp>
          <p:nvSpPr>
            <p:cNvPr id="49" name="TextBox 48"/>
            <p:cNvSpPr txBox="1"/>
            <p:nvPr/>
          </p:nvSpPr>
          <p:spPr>
            <a:xfrm>
              <a:off x="10555326" y="2533995"/>
              <a:ext cx="327684" cy="215676"/>
            </a:xfrm>
            <a:prstGeom prst="rect">
              <a:avLst/>
            </a:prstGeom>
            <a:noFill/>
          </p:spPr>
          <p:txBody>
            <a:bodyPr wrap="none" anchor="ctr" lIns="0" rIns="0" tIns="0" bIns="0">
              <a:noAutofit/>
            </a:bodyPr>
            <a:lstStyle/>
            <a:p>
              <a:pPr algn="ctr"/>
              <a:r>
                <a:rPr sz="1170" b="1">
                  <a:solidFill>
                    <a:srgbClr val="1A7F37"/>
                  </a:solidFill>
                  <a:latin typeface="맑은 고딕"/>
                  <a:ea typeface="맑은 고딕"/>
                  <a:cs typeface="맑은 고딕"/>
                </a:rPr>
                <a:t>구성</a:t>
              </a:r>
            </a:p>
          </p:txBody>
        </p:sp>
        <p:sp>
          <p:nvSpPr>
            <p:cNvPr id="50" name="TextBox 49"/>
            <p:cNvSpPr txBox="1"/>
            <p:nvPr/>
          </p:nvSpPr>
          <p:spPr>
            <a:xfrm>
              <a:off x="10289858" y="2909104"/>
              <a:ext cx="858621"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성능·전력 요구를</a:t>
              </a:r>
            </a:p>
          </p:txBody>
        </p:sp>
        <p:sp>
          <p:nvSpPr>
            <p:cNvPr id="51" name="TextBox 50"/>
            <p:cNvSpPr txBox="1"/>
            <p:nvPr/>
          </p:nvSpPr>
          <p:spPr>
            <a:xfrm>
              <a:off x="10321610" y="3111672"/>
              <a:ext cx="795116"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만족하는 구성을</a:t>
              </a:r>
            </a:p>
          </p:txBody>
        </p:sp>
        <p:sp>
          <p:nvSpPr>
            <p:cNvPr id="52" name="TextBox 51"/>
            <p:cNvSpPr txBox="1"/>
            <p:nvPr/>
          </p:nvSpPr>
          <p:spPr>
            <a:xfrm>
              <a:off x="10490504" y="3314240"/>
              <a:ext cx="457327" cy="163913"/>
            </a:xfrm>
            <a:prstGeom prst="rect">
              <a:avLst/>
            </a:prstGeom>
            <a:noFill/>
          </p:spPr>
          <p:txBody>
            <a:bodyPr wrap="none" anchor="ctr" lIns="0" rIns="0" tIns="0" bIns="0">
              <a:noAutofit/>
            </a:bodyPr>
            <a:lstStyle/>
            <a:p>
              <a:pPr algn="ctr"/>
              <a:r>
                <a:rPr sz="890" b="0">
                  <a:solidFill>
                    <a:srgbClr val="16202C"/>
                  </a:solidFill>
                  <a:latin typeface="맑은 고딕"/>
                  <a:ea typeface="맑은 고딕"/>
                  <a:cs typeface="맑은 고딕"/>
                </a:rPr>
                <a:t>내놓는다</a:t>
              </a:r>
            </a:p>
          </p:txBody>
        </p:sp>
        <p:sp>
          <p:nvSpPr>
            <p:cNvPr id="53" name="TextBox 52"/>
            <p:cNvSpPr txBox="1"/>
            <p:nvPr/>
          </p:nvSpPr>
          <p:spPr>
            <a:xfrm>
              <a:off x="10461895" y="3607130"/>
              <a:ext cx="514547"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VIII장 결론</a:t>
              </a:r>
            </a:p>
          </p:txBody>
        </p:sp>
        <p:sp>
          <p:nvSpPr>
            <p:cNvPr id="54" name="Rounded Rectangle 53"/>
            <p:cNvSpPr/>
            <p:nvPr/>
          </p:nvSpPr>
          <p:spPr>
            <a:xfrm>
              <a:off x="566928" y="4303488"/>
              <a:ext cx="11057839" cy="1167746"/>
            </a:xfrm>
            <a:prstGeom prst="roundRect">
              <a:avLst>
                <a:gd name="adj" fmla="val 9183"/>
              </a:avLst>
            </a:prstGeom>
            <a:solidFill>
              <a:srgbClr val="FDF7F0"/>
            </a:solidFill>
            <a:ln w="21448">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2907" y="4471262"/>
              <a:ext cx="3367541" cy="207049"/>
            </a:xfrm>
            <a:prstGeom prst="rect">
              <a:avLst/>
            </a:prstGeom>
            <a:noFill/>
          </p:spPr>
          <p:txBody>
            <a:bodyPr wrap="none" anchor="ctr" lIns="0" rIns="0" tIns="0" bIns="0">
              <a:noAutofit/>
            </a:bodyPr>
            <a:lstStyle/>
            <a:p>
              <a:pPr algn="l"/>
              <a:r>
                <a:rPr sz="1130" b="1">
                  <a:solidFill>
                    <a:srgbClr val="B45409"/>
                  </a:solidFill>
                  <a:latin typeface="맑은 고딕"/>
                  <a:ea typeface="맑은 고딕"/>
                  <a:cs typeface="맑은 고딕"/>
                </a:rPr>
                <a:t>사슬의 성질 — 앞 칸이 무너지면 뒤 칸은 전부 무의미하다</a:t>
              </a:r>
            </a:p>
          </p:txBody>
        </p:sp>
        <p:sp>
          <p:nvSpPr>
            <p:cNvPr id="56" name="Rounded Rectangle 55"/>
            <p:cNvSpPr/>
            <p:nvPr/>
          </p:nvSpPr>
          <p:spPr>
            <a:xfrm>
              <a:off x="852907" y="4827782"/>
              <a:ext cx="1048588" cy="381305"/>
            </a:xfrm>
            <a:prstGeom prst="roundRect">
              <a:avLst>
                <a:gd name="adj" fmla="val 15625"/>
              </a:avLst>
            </a:prstGeom>
            <a:solidFill>
              <a:srgbClr val="E3EEFB"/>
            </a:solidFill>
            <a:ln w="1191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020653" y="4827782"/>
              <a:ext cx="1048588" cy="381305"/>
            </a:xfrm>
            <a:prstGeom prst="roundRect">
              <a:avLst>
                <a:gd name="adj" fmla="val 15625"/>
              </a:avLst>
            </a:prstGeom>
            <a:solidFill>
              <a:srgbClr val="FDE8E8"/>
            </a:solidFill>
            <a:ln w="14298">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307556" y="4827782"/>
              <a:ext cx="1048588" cy="381305"/>
            </a:xfrm>
            <a:prstGeom prst="roundRect">
              <a:avLst>
                <a:gd name="adj" fmla="val 15625"/>
              </a:avLst>
            </a:prstGeom>
            <a:solidFill>
              <a:srgbClr val="EEF2F7"/>
            </a:solidFill>
            <a:ln w="1191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475302" y="4827782"/>
              <a:ext cx="1048588" cy="381305"/>
            </a:xfrm>
            <a:prstGeom prst="roundRect">
              <a:avLst>
                <a:gd name="adj" fmla="val 15625"/>
              </a:avLst>
            </a:prstGeom>
            <a:solidFill>
              <a:srgbClr val="EEF2F7"/>
            </a:solidFill>
            <a:ln w="1191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643048" y="4827782"/>
              <a:ext cx="1048588" cy="381305"/>
            </a:xfrm>
            <a:prstGeom prst="roundRect">
              <a:avLst>
                <a:gd name="adj" fmla="val 15625"/>
              </a:avLst>
            </a:prstGeom>
            <a:solidFill>
              <a:srgbClr val="EEF2F7"/>
            </a:solidFill>
            <a:ln w="1191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3116904" y="4875445"/>
              <a:ext cx="95326" cy="285979"/>
            </a:xfrm>
            <a:prstGeom prst="line">
              <a:avLst/>
            </a:prstGeom>
            <a:ln w="28597">
              <a:solidFill>
                <a:srgbClr val="B4222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88398" y="4875445"/>
              <a:ext cx="95327" cy="285979"/>
            </a:xfrm>
            <a:prstGeom prst="line">
              <a:avLst/>
            </a:prstGeom>
            <a:ln w="28597">
              <a:solidFill>
                <a:srgbClr val="B4222A"/>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37887" y="4953613"/>
              <a:ext cx="678627" cy="155286"/>
            </a:xfrm>
            <a:prstGeom prst="rect">
              <a:avLst/>
            </a:prstGeom>
            <a:noFill/>
          </p:spPr>
          <p:txBody>
            <a:bodyPr wrap="none" anchor="ctr" lIns="0" rIns="0" tIns="0" bIns="0">
              <a:noAutofit/>
            </a:bodyPr>
            <a:lstStyle/>
            <a:p>
              <a:pPr algn="ctr"/>
              <a:r>
                <a:rPr sz="840" b="0">
                  <a:solidFill>
                    <a:srgbClr val="083F80"/>
                  </a:solidFill>
                  <a:latin typeface="맑은 고딕"/>
                  <a:ea typeface="맑은 고딕"/>
                  <a:cs typeface="맑은 고딕"/>
                </a:rPr>
                <a:t>캐시 미스 없음</a:t>
              </a:r>
            </a:p>
          </p:txBody>
        </p:sp>
        <p:sp>
          <p:nvSpPr>
            <p:cNvPr id="64" name="TextBox 63"/>
            <p:cNvSpPr txBox="1"/>
            <p:nvPr/>
          </p:nvSpPr>
          <p:spPr>
            <a:xfrm>
              <a:off x="2217644" y="4953613"/>
              <a:ext cx="654605" cy="155286"/>
            </a:xfrm>
            <a:prstGeom prst="rect">
              <a:avLst/>
            </a:prstGeom>
            <a:noFill/>
          </p:spPr>
          <p:txBody>
            <a:bodyPr wrap="none" anchor="ctr" lIns="0" rIns="0" tIns="0" bIns="0">
              <a:noAutofit/>
            </a:bodyPr>
            <a:lstStyle/>
            <a:p>
              <a:pPr algn="ctr"/>
              <a:r>
                <a:rPr sz="840" b="0">
                  <a:solidFill>
                    <a:srgbClr val="B4222A"/>
                  </a:solidFill>
                  <a:latin typeface="맑은 고딕"/>
                  <a:ea typeface="맑은 고딕"/>
                  <a:cs typeface="맑은 고딕"/>
                </a:rPr>
                <a:t>결정론 무너짐</a:t>
              </a:r>
            </a:p>
          </p:txBody>
        </p:sp>
        <p:sp>
          <p:nvSpPr>
            <p:cNvPr id="65" name="TextBox 64"/>
            <p:cNvSpPr txBox="1"/>
            <p:nvPr/>
          </p:nvSpPr>
          <p:spPr>
            <a:xfrm>
              <a:off x="3603210" y="4953613"/>
              <a:ext cx="457280"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비용 모델</a:t>
              </a:r>
            </a:p>
          </p:txBody>
        </p:sp>
        <p:sp>
          <p:nvSpPr>
            <p:cNvPr id="66" name="TextBox 65"/>
            <p:cNvSpPr txBox="1"/>
            <p:nvPr/>
          </p:nvSpPr>
          <p:spPr>
            <a:xfrm>
              <a:off x="4881630" y="4953613"/>
              <a:ext cx="235932"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탐색</a:t>
              </a:r>
            </a:p>
          </p:txBody>
        </p:sp>
        <p:sp>
          <p:nvSpPr>
            <p:cNvPr id="67" name="TextBox 66"/>
            <p:cNvSpPr txBox="1"/>
            <p:nvPr/>
          </p:nvSpPr>
          <p:spPr>
            <a:xfrm>
              <a:off x="5938702" y="4953613"/>
              <a:ext cx="457280" cy="155286"/>
            </a:xfrm>
            <a:prstGeom prst="rect">
              <a:avLst/>
            </a:prstGeom>
            <a:noFill/>
          </p:spPr>
          <p:txBody>
            <a:bodyPr wrap="none" anchor="ctr" lIns="0" rIns="0" tIns="0" bIns="0">
              <a:noAutofit/>
            </a:bodyPr>
            <a:lstStyle/>
            <a:p>
              <a:pPr algn="ctr"/>
              <a:r>
                <a:rPr sz="840" b="0">
                  <a:solidFill>
                    <a:srgbClr val="5B6B7B"/>
                  </a:solidFill>
                  <a:latin typeface="맑은 고딕"/>
                  <a:ea typeface="맑은 고딕"/>
                  <a:cs typeface="맑은 고딕"/>
                </a:rPr>
                <a:t>좋은 코드</a:t>
              </a:r>
            </a:p>
          </p:txBody>
        </p:sp>
        <p:sp>
          <p:nvSpPr>
            <p:cNvPr id="68" name="TextBox 67"/>
            <p:cNvSpPr txBox="1"/>
            <p:nvPr/>
          </p:nvSpPr>
          <p:spPr>
            <a:xfrm>
              <a:off x="7001446" y="4818726"/>
              <a:ext cx="2726329" cy="189794"/>
            </a:xfrm>
            <a:prstGeom prst="rect">
              <a:avLst/>
            </a:prstGeom>
            <a:noFill/>
          </p:spPr>
          <p:txBody>
            <a:bodyPr wrap="none" anchor="ctr" lIns="0" rIns="0" tIns="0" bIns="0">
              <a:noAutofit/>
            </a:bodyPr>
            <a:lstStyle/>
            <a:p>
              <a:pPr algn="l"/>
              <a:r>
                <a:rPr sz="1030" b="0">
                  <a:solidFill>
                    <a:srgbClr val="16202C"/>
                  </a:solidFill>
                  <a:latin typeface="맑은 고딕"/>
                  <a:ea typeface="맑은 고딕"/>
                  <a:cs typeface="맑은 고딕"/>
                </a:rPr>
                <a:t>성능이 캐시 적중률이나 동적 스케줄링에 좌우되면</a:t>
              </a:r>
            </a:p>
          </p:txBody>
        </p:sp>
        <p:sp>
          <p:nvSpPr>
            <p:cNvPr id="69" name="TextBox 68"/>
            <p:cNvSpPr txBox="1"/>
            <p:nvPr/>
          </p:nvSpPr>
          <p:spPr>
            <a:xfrm>
              <a:off x="7001446" y="5080873"/>
              <a:ext cx="2664463" cy="189794"/>
            </a:xfrm>
            <a:prstGeom prst="rect">
              <a:avLst/>
            </a:prstGeom>
            <a:noFill/>
          </p:spPr>
          <p:txBody>
            <a:bodyPr wrap="none" anchor="ctr" lIns="0" rIns="0" tIns="0" bIns="0">
              <a:noAutofit/>
            </a:bodyPr>
            <a:lstStyle/>
            <a:p>
              <a:pPr algn="l"/>
              <a:r>
                <a:rPr sz="1030" b="0">
                  <a:solidFill>
                    <a:srgbClr val="16202C"/>
                  </a:solidFill>
                  <a:latin typeface="맑은 고딕"/>
                  <a:ea typeface="맑은 고딕"/>
                  <a:cs typeface="맑은 고딕"/>
                </a:rPr>
                <a:t>비용 모델을 세울 수 없고 탐색의 근거가 사라진다</a:t>
              </a:r>
            </a:p>
          </p:txBody>
        </p:sp>
        <p:sp>
          <p:nvSpPr>
            <p:cNvPr id="70" name="TextBox 69"/>
            <p:cNvSpPr txBox="1"/>
            <p:nvPr/>
          </p:nvSpPr>
          <p:spPr>
            <a:xfrm>
              <a:off x="10142826" y="5299170"/>
              <a:ext cx="1195962" cy="155286"/>
            </a:xfrm>
            <a:prstGeom prst="rect">
              <a:avLst/>
            </a:prstGeom>
            <a:noFill/>
          </p:spPr>
          <p:txBody>
            <a:bodyPr wrap="none" anchor="ctr" lIns="0" rIns="0" tIns="0" bIns="0">
              <a:noAutofit/>
            </a:bodyPr>
            <a:lstStyle/>
            <a:p>
              <a:pPr algn="r"/>
              <a:r>
                <a:rPr sz="840" b="0">
                  <a:solidFill>
                    <a:srgbClr val="5B6B7B"/>
                  </a:solidFill>
                  <a:latin typeface="맑은 고딕"/>
                  <a:ea typeface="맑은 고딕"/>
                  <a:cs typeface="맑은 고딕"/>
                </a:rPr>
                <a:t>이 대비는 발표자 해석이다</a:t>
              </a:r>
            </a:p>
          </p:txBody>
        </p:sp>
      </p:grpSp>
      <p:sp>
        <p:nvSpPr>
          <p:cNvPr id="71" name="Rectangle 70"/>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결정론적 하드웨어가 정확한 비용 모델을 낳고, 비용 모델이 컴파일러의 탐색을 가능하게 한다</a:t>
            </a:r>
          </a:p>
        </p:txBody>
      </p:sp>
      <p:sp>
        <p:nvSpPr>
          <p:cNvPr id="72" name="Rectangle 71"/>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교훈 3 — 정확한 비용 모델이 있어야 종단간 최적화가 된다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Accurate Cost Model for End-to-End Optimization</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257</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교훈 3의 원문은 두 문장뿐이다 — 정밀한 비용 모델이 결정적으로 중요하고, 그 모델이 tactic 별 성능·전력을 예측하게 해 준다</a:t>
            </a:r>
          </a:p>
          <a:p>
            <a:pPr algn="l">
              <a:lnSpc>
                <a:spcPct val="118000"/>
              </a:lnSpc>
              <a:spcBef>
                <a:spcPts val="600"/>
              </a:spcBef>
              <a:spcAft>
                <a:spcPts val="200"/>
              </a:spcAft>
            </a:pPr>
            <a:r>
              <a:rPr sz="1900" b="0" i="0">
                <a:solidFill>
                  <a:srgbClr val="16202C"/>
                </a:solidFill>
                <a:latin typeface="Segoe UI"/>
                <a:ea typeface="맑은 고딕"/>
                <a:cs typeface="맑은 고딕"/>
              </a:rPr>
              <a:t>▪  사슬의 왼쪽 두 칸은 제1·3장의 하드웨어 결정이고 오른쪽 두 칸은 제5장 컴파일러의 동작이다. 교훈 3은 그 둘을 잇는 고리다</a:t>
            </a:r>
          </a:p>
          <a:p>
            <a:pPr algn="l">
              <a:lnSpc>
                <a:spcPct val="118000"/>
              </a:lnSpc>
              <a:spcBef>
                <a:spcPts val="200"/>
              </a:spcBef>
              <a:spcAft>
                <a:spcPts val="100"/>
              </a:spcAft>
            </a:pPr>
            <a:r>
              <a:rPr sz="1780" b="0" i="0">
                <a:solidFill>
                  <a:srgbClr val="2C3A4B"/>
                </a:solidFill>
                <a:latin typeface="Segoe UI"/>
                <a:ea typeface="맑은 고딕"/>
                <a:cs typeface="맑은 고딕"/>
              </a:rPr>
              <a:t>–  3.5 MB scratch pad 에서 모든 코드를 실행하게 만든 것도 같은 사슬의 일부다. 명령 인출까지 예측 가능해진다</a:t>
            </a:r>
          </a:p>
          <a:p>
            <a:pPr algn="l">
              <a:lnSpc>
                <a:spcPct val="118000"/>
              </a:lnSpc>
              <a:spcBef>
                <a:spcPts val="600"/>
              </a:spcBef>
              <a:spcAft>
                <a:spcPts val="200"/>
              </a:spcAft>
            </a:pPr>
            <a:r>
              <a:rPr sz="1900" b="1" i="0">
                <a:solidFill>
                  <a:srgbClr val="083F80"/>
                </a:solidFill>
                <a:latin typeface="Segoe UI"/>
                <a:ea typeface="맑은 고딕"/>
                <a:cs typeface="맑은 고딕"/>
              </a:rPr>
              <a:t>▪  논문은 이 비용 모델의 예측 정확도(오차율)를 밝히지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교훈 5가 이 모델을 곧바로 회수한다 — 성능 추정기가 수많은 tactic 을 의미 있는 후보로 좁힌다</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3 근거 — Fig. 14 / Fig. 15 가 보여주는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258</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Fig. 14: tactic별 성능-전력 트레이드오프</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대상: attention 레이어를 서로 다른 tactic으로 실행</a:t>
            </a:r>
          </a:p>
          <a:p>
            <a:pPr algn="l">
              <a:lnSpc>
                <a:spcPct val="118000"/>
              </a:lnSpc>
              <a:spcBef>
                <a:spcPts val="600"/>
              </a:spcBef>
              <a:spcAft>
                <a:spcPts val="200"/>
              </a:spcAft>
            </a:pPr>
            <a:r>
              <a:rPr sz="1400" b="0" i="0">
                <a:solidFill>
                  <a:srgbClr val="16202C"/>
                </a:solidFill>
                <a:latin typeface="Segoe UI"/>
                <a:ea typeface="맑은 고딕"/>
                <a:cs typeface="맑은 고딕"/>
              </a:rPr>
              <a:t>▪  축 — x: 실행 시간(µs, 0~300), y: slice power(mW, 0~180)</a:t>
            </a:r>
          </a:p>
          <a:p>
            <a:pPr algn="l">
              <a:lnSpc>
                <a:spcPct val="118000"/>
              </a:lnSpc>
              <a:spcBef>
                <a:spcPts val="600"/>
              </a:spcBef>
              <a:spcAft>
                <a:spcPts val="200"/>
              </a:spcAft>
            </a:pPr>
            <a:r>
              <a:rPr sz="1400" b="1" i="0">
                <a:solidFill>
                  <a:srgbClr val="083F80"/>
                </a:solidFill>
                <a:latin typeface="Segoe UI"/>
                <a:ea typeface="맑은 고딕"/>
                <a:cs typeface="맑은 고딕"/>
              </a:rPr>
              <a:t>▪  전력은 Synopsys SpyGlass와 TSMC 라이브러리를 이용한 추정값이다 (실측 아님)</a:t>
            </a:r>
          </a:p>
          <a:p>
            <a:pPr algn="l">
              <a:lnSpc>
                <a:spcPct val="118000"/>
              </a:lnSpc>
              <a:spcBef>
                <a:spcPts val="600"/>
              </a:spcBef>
              <a:spcAft>
                <a:spcPts val="200"/>
              </a:spcAft>
            </a:pPr>
            <a:r>
              <a:rPr sz="1400" b="0" i="0">
                <a:solidFill>
                  <a:srgbClr val="16202C"/>
                </a:solidFill>
                <a:latin typeface="Segoe UI"/>
                <a:ea typeface="맑은 고딕"/>
                <a:cs typeface="맑은 고딕"/>
              </a:rPr>
              <a:t>▪  tactic마다 fetch 순서와 버퍼 운용이 달라 서로 다른 종류의 재사용을 쓰고, 그 결과 성능-전력 트레이드오프가 달라진다</a:t>
            </a:r>
          </a:p>
          <a:p>
            <a:pPr algn="l">
              <a:lnSpc>
                <a:spcPct val="118000"/>
              </a:lnSpc>
              <a:spcBef>
                <a:spcPts val="600"/>
              </a:spcBef>
              <a:spcAft>
                <a:spcPts val="200"/>
              </a:spcAft>
            </a:pPr>
            <a:r>
              <a:rPr sz="1400" b="0" i="0">
                <a:solidFill>
                  <a:srgbClr val="16202C"/>
                </a:solidFill>
                <a:latin typeface="Segoe UI"/>
                <a:ea typeface="맑은 고딕"/>
                <a:cs typeface="맑은 고딕"/>
              </a:rPr>
              <a:t>▪  성능이 최우선인 시스템 → 좌상단 점 Opt. 1 선택</a:t>
            </a:r>
          </a:p>
          <a:p>
            <a:pPr algn="l">
              <a:lnSpc>
                <a:spcPct val="118000"/>
              </a:lnSpc>
              <a:spcBef>
                <a:spcPts val="600"/>
              </a:spcBef>
              <a:spcAft>
                <a:spcPts val="200"/>
              </a:spcAft>
            </a:pPr>
            <a:r>
              <a:rPr sz="1400" b="0" i="0">
                <a:solidFill>
                  <a:srgbClr val="16202C"/>
                </a:solidFill>
                <a:latin typeface="Segoe UI"/>
                <a:ea typeface="맑은 고딕"/>
                <a:cs typeface="맑은 고딕"/>
              </a:rPr>
              <a:t>▪  피크 전력 제약이 빡센 시스템 → 더 낮은 전력의 Opt. 2 / Opt. 3 선택</a:t>
            </a:r>
          </a:p>
          <a:p>
            <a:pPr algn="l">
              <a:lnSpc>
                <a:spcPct val="118000"/>
              </a:lnSpc>
              <a:spcBef>
                <a:spcPts val="600"/>
              </a:spcBef>
              <a:spcAft>
                <a:spcPts val="200"/>
              </a:spcAft>
            </a:pPr>
            <a:r>
              <a:rPr sz="1400" b="0" i="0">
                <a:solidFill>
                  <a:srgbClr val="16202C"/>
                </a:solidFill>
                <a:latin typeface="Segoe UI"/>
                <a:ea typeface="맑은 고딕"/>
                <a:cs typeface="맑은 고딕"/>
              </a:rPr>
              <a:t>▪  같은 연산인데도 선택지가 이만큼 흩어진다는 게 요점이다</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Fig. 15: 슬라이스 전력 분해</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Fig. 14의 여섯 점을 분해: Opt. 1/2/3 (각 성능 구간에서 가장 전력 효율적), Ineff. 1/2/3 (가장 비효율적)</a:t>
            </a:r>
          </a:p>
          <a:p>
            <a:pPr algn="l">
              <a:lnSpc>
                <a:spcPct val="118000"/>
              </a:lnSpc>
              <a:spcBef>
                <a:spcPts val="600"/>
              </a:spcBef>
              <a:spcAft>
                <a:spcPts val="200"/>
              </a:spcAft>
            </a:pPr>
            <a:r>
              <a:rPr sz="1200" b="0" i="0">
                <a:solidFill>
                  <a:srgbClr val="16202C"/>
                </a:solidFill>
                <a:latin typeface="Segoe UI"/>
                <a:ea typeface="맑은 고딕"/>
                <a:cs typeface="맑은 고딕"/>
              </a:rPr>
              <a:t>▪  분해 항목: Dot-Product Engine, Register File, Accumulation Unit, Vector Engine, Data Memory, Feed Unit, Fetch Unit, Others (+ 실행 시간)</a:t>
            </a:r>
          </a:p>
          <a:p>
            <a:pPr algn="l">
              <a:lnSpc>
                <a:spcPct val="118000"/>
              </a:lnSpc>
              <a:spcBef>
                <a:spcPts val="600"/>
              </a:spcBef>
              <a:spcAft>
                <a:spcPts val="200"/>
              </a:spcAft>
            </a:pPr>
            <a:r>
              <a:rPr sz="1200" b="1" i="0">
                <a:solidFill>
                  <a:srgbClr val="083F80"/>
                </a:solidFill>
                <a:latin typeface="Segoe UI"/>
                <a:ea typeface="맑은 고딕"/>
                <a:cs typeface="맑은 고딕"/>
              </a:rPr>
              <a:t>▪  발견 1: 실행 시간이 같아도 효율적인 tactic이 DPE 전력을 더 적게 쓴다</a:t>
            </a:r>
          </a:p>
          <a:p>
            <a:pPr algn="l">
              <a:lnSpc>
                <a:spcPct val="118000"/>
              </a:lnSpc>
              <a:spcBef>
                <a:spcPts val="600"/>
              </a:spcBef>
              <a:spcAft>
                <a:spcPts val="200"/>
              </a:spcAft>
            </a:pPr>
            <a:r>
              <a:rPr sz="1200" b="0" i="0">
                <a:solidFill>
                  <a:srgbClr val="16202C"/>
                </a:solidFill>
                <a:latin typeface="Segoe UI"/>
                <a:ea typeface="맑은 고딕"/>
                <a:cs typeface="맑은 고딕"/>
              </a:rPr>
              <a:t>▪  발견 2: 최적 케이스들은 공통적으로 8개 DPE를 전부 병렬로 쓴다. 차이는 accumulation unit 사용법과 fetch unit의 데이터 공급 방식에 있다</a:t>
            </a:r>
          </a:p>
          <a:p>
            <a:pPr algn="l">
              <a:lnSpc>
                <a:spcPct val="118000"/>
              </a:lnSpc>
              <a:spcBef>
                <a:spcPts val="600"/>
              </a:spcBef>
              <a:spcAft>
                <a:spcPts val="200"/>
              </a:spcAft>
            </a:pPr>
            <a:r>
              <a:rPr sz="1200" b="0" i="0">
                <a:solidFill>
                  <a:srgbClr val="16202C"/>
                </a:solidFill>
                <a:latin typeface="Segoe UI"/>
                <a:ea typeface="맑은 고딕"/>
                <a:cs typeface="맑은 고딕"/>
              </a:rPr>
              <a:t>▪  발견 3: 비효율 케이스는 fetch unit의 데이터 공급은 충분한데도 DPE 병렬성 활용이 제한적이다</a:t>
            </a:r>
          </a:p>
          <a:p>
            <a:pPr algn="l">
              <a:lnSpc>
                <a:spcPct val="118000"/>
              </a:lnSpc>
              <a:spcBef>
                <a:spcPts val="600"/>
              </a:spcBef>
              <a:spcAft>
                <a:spcPts val="200"/>
              </a:spcAft>
            </a:pPr>
            <a:r>
              <a:rPr sz="1200" b="1" i="0">
                <a:solidFill>
                  <a:srgbClr val="083F80"/>
                </a:solidFill>
                <a:latin typeface="Segoe UI"/>
                <a:ea typeface="맑은 고딕"/>
                <a:cs typeface="맑은 고딕"/>
              </a:rPr>
              <a:t>▪  결론: fetch unit의 데이터 공급과 DPE 병렬성 사이의 균형이 성능과 저전력을 동시에 만든다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attention 레이어라도 tactic에 따라 성능-전력이 흩어진다 — 그래서 예측 모델이 필요하다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4 — 동적 형상과 동적 제어 흐름 (1/2)</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Supporting Dynamic Shapes and Control Flow</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259</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원문 주장</a:t>
            </a:r>
          </a:p>
          <a:p>
            <a:pPr algn="l">
              <a:lnSpc>
                <a:spcPct val="118000"/>
              </a:lnSpc>
              <a:spcBef>
                <a:spcPts val="200"/>
              </a:spcBef>
              <a:spcAft>
                <a:spcPts val="100"/>
              </a:spcAft>
            </a:pPr>
            <a:r>
              <a:rPr sz="1480" b="0" i="0">
                <a:solidFill>
                  <a:srgbClr val="2C3A4B"/>
                </a:solidFill>
                <a:latin typeface="Segoe UI"/>
                <a:ea typeface="맑은 고딕"/>
                <a:cs typeface="맑은 고딕"/>
              </a:rPr>
              <a:t>–  동적 형상(dynamic shapes)과 동적 제어 흐름(dynamic control flow)을 지원하는 것은 AI 가속기 최적화에 결정적으로 중요하다</a:t>
            </a:r>
          </a:p>
          <a:p>
            <a:pPr algn="l">
              <a:lnSpc>
                <a:spcPct val="118000"/>
              </a:lnSpc>
              <a:spcBef>
                <a:spcPts val="200"/>
              </a:spcBef>
              <a:spcAft>
                <a:spcPts val="100"/>
              </a:spcAft>
            </a:pPr>
            <a:r>
              <a:rPr sz="1480" b="0" i="0">
                <a:solidFill>
                  <a:srgbClr val="2C3A4B"/>
                </a:solidFill>
                <a:latin typeface="Segoe UI"/>
                <a:ea typeface="맑은 고딕"/>
                <a:cs typeface="맑은 고딕"/>
              </a:rPr>
              <a:t>–  특히 문맥 길이(context length)와 배치 크기(batch size)가 동적으로 변할 수 있는 LLM 추론에서 그렇다</a:t>
            </a:r>
          </a:p>
          <a:p>
            <a:pPr algn="l">
              <a:lnSpc>
                <a:spcPct val="118000"/>
              </a:lnSpc>
              <a:spcBef>
                <a:spcPts val="200"/>
              </a:spcBef>
              <a:spcAft>
                <a:spcPts val="100"/>
              </a:spcAft>
            </a:pPr>
            <a:r>
              <a:rPr sz="1480" b="0" i="0">
                <a:solidFill>
                  <a:srgbClr val="2C3A4B"/>
                </a:solidFill>
                <a:latin typeface="Segoe UI"/>
                <a:ea typeface="맑은 고딕"/>
                <a:cs typeface="맑은 고딕"/>
              </a:rPr>
              <a:t>–  TCP의 소프트웨어는 제어 레지스터(control registers)를 실행 중에(on the fly) 수정하는 방식으로 동적 형상을 지원한다</a:t>
            </a:r>
          </a:p>
          <a:p>
            <a:pPr algn="l">
              <a:lnSpc>
                <a:spcPct val="118000"/>
              </a:lnSpc>
              <a:spcBef>
                <a:spcPts val="600"/>
              </a:spcBef>
              <a:spcAft>
                <a:spcPts val="200"/>
              </a:spcAft>
            </a:pPr>
            <a:r>
              <a:rPr sz="1600" b="1" i="0">
                <a:solidFill>
                  <a:srgbClr val="083F80"/>
                </a:solidFill>
                <a:latin typeface="Segoe UI"/>
                <a:ea typeface="맑은 고딕"/>
                <a:cs typeface="맑은 고딕"/>
              </a:rPr>
              <a:t>▪  제어 레지스터가 왜 동적 형상의 열쇠인가 (제2·5장)</a:t>
            </a:r>
          </a:p>
          <a:p>
            <a:pPr algn="l">
              <a:lnSpc>
                <a:spcPct val="118000"/>
              </a:lnSpc>
              <a:spcBef>
                <a:spcPts val="200"/>
              </a:spcBef>
              <a:spcAft>
                <a:spcPts val="100"/>
              </a:spcAft>
            </a:pPr>
            <a:r>
              <a:rPr sz="1480" b="0" i="0">
                <a:solidFill>
                  <a:srgbClr val="2C3A4B"/>
                </a:solidFill>
                <a:latin typeface="Segoe UI"/>
                <a:ea typeface="맑은 고딕"/>
                <a:cs typeface="맑은 고딕"/>
              </a:rPr>
              <a:t>–  TU는 텐서의 형상과 tactic을 기술하는 제어 레지스터 집합을 갖는다. 즉 형상이 하드웨어에 하드코딩된 게 아니라 레지스터 값이다</a:t>
            </a:r>
          </a:p>
          <a:p>
            <a:pPr algn="l">
              <a:lnSpc>
                <a:spcPct val="118000"/>
              </a:lnSpc>
              <a:spcBef>
                <a:spcPts val="200"/>
              </a:spcBef>
              <a:spcAft>
                <a:spcPts val="100"/>
              </a:spcAft>
            </a:pPr>
            <a:r>
              <a:rPr sz="1480" b="0" i="0">
                <a:solidFill>
                  <a:srgbClr val="2C3A4B"/>
                </a:solidFill>
                <a:latin typeface="Segoe UI"/>
                <a:ea typeface="맑은 고딕"/>
                <a:cs typeface="맑은 고딕"/>
              </a:rPr>
              <a:t>–  slice마다 자기 제어 레지스터를 갖지만 보통은 TU 내 모든 slice를 같은 설정으로 제어하며, broadcast로 한 번에 설정할 수 있다</a:t>
            </a:r>
          </a:p>
          <a:p>
            <a:pPr algn="l">
              <a:lnSpc>
                <a:spcPct val="118000"/>
              </a:lnSpc>
              <a:spcBef>
                <a:spcPts val="200"/>
              </a:spcBef>
              <a:spcAft>
                <a:spcPts val="100"/>
              </a:spcAft>
            </a:pPr>
            <a:r>
              <a:rPr sz="1480" b="0" i="0">
                <a:solidFill>
                  <a:srgbClr val="2C3A4B"/>
                </a:solidFill>
                <a:latin typeface="Segoe UI"/>
                <a:ea typeface="맑은 고딕"/>
                <a:cs typeface="맑은 고딕"/>
              </a:rPr>
              <a:t>–  예: ble,ef→blf 에서 b(배치)와 l(시퀀스 길이) 축은 새 요청 수와 각 요청의 토큰 생성 길이에 따라 LLM 실행 시점에 동적으로 정해진다 (제2장 B절)</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형상이 레지스터 값이므로, 실행 중에 레지스터만 고치면 새 형상이 된다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4 — 동적 형상과 동적 제어 흐름 (2/2)</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CPU 코어가 있어야 동적 프로그램이 쉬워진다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260</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원문 주장 (이어지는 부분, 전문 번역)</a:t>
            </a:r>
          </a:p>
          <a:p>
            <a:pPr algn="l">
              <a:lnSpc>
                <a:spcPct val="118000"/>
              </a:lnSpc>
              <a:spcBef>
                <a:spcPts val="200"/>
              </a:spcBef>
              <a:spcAft>
                <a:spcPts val="100"/>
              </a:spcAft>
            </a:pPr>
            <a:r>
              <a:rPr sz="1380" b="0" i="0">
                <a:solidFill>
                  <a:srgbClr val="2C3A4B"/>
                </a:solidFill>
                <a:latin typeface="Segoe UI"/>
                <a:ea typeface="맑은 고딕"/>
                <a:cs typeface="맑은 고딕"/>
              </a:rPr>
              <a:t>–  덧붙여 CPU 코어가 동적 프로그램의 작성을 쉽고 효율적으로 만들어 준다</a:t>
            </a:r>
          </a:p>
          <a:p>
            <a:pPr algn="l">
              <a:lnSpc>
                <a:spcPct val="118000"/>
              </a:lnSpc>
              <a:spcBef>
                <a:spcPts val="200"/>
              </a:spcBef>
              <a:spcAft>
                <a:spcPts val="100"/>
              </a:spcAft>
            </a:pPr>
            <a:r>
              <a:rPr sz="1380" b="0" i="0">
                <a:solidFill>
                  <a:srgbClr val="2C3A4B"/>
                </a:solidFill>
                <a:latin typeface="Segoe UI"/>
                <a:ea typeface="맑은 고딕"/>
                <a:cs typeface="맑은 고딕"/>
              </a:rPr>
              <a:t>–  그 결과, 동적으로 변하는 계산·메모리·전력 소비 요구에 맞춰 더 효율적인 프로그램 생성이 가능해진다</a:t>
            </a:r>
          </a:p>
          <a:p>
            <a:pPr algn="l">
              <a:lnSpc>
                <a:spcPct val="118000"/>
              </a:lnSpc>
              <a:spcBef>
                <a:spcPts val="200"/>
              </a:spcBef>
              <a:spcAft>
                <a:spcPts val="100"/>
              </a:spcAft>
            </a:pPr>
            <a:r>
              <a:rPr sz="1380" b="0" i="0">
                <a:solidFill>
                  <a:srgbClr val="2C3A4B"/>
                </a:solidFill>
                <a:latin typeface="Segoe UI"/>
                <a:ea typeface="맑은 고딕"/>
                <a:cs typeface="맑은 고딕"/>
              </a:rPr>
              <a:t>–  이는 fetch network의 재구성(reconfiguration)을 통해 PE들을 동적으로 fuse(융합)할 수 있게 함으로써 가능해진다</a:t>
            </a:r>
          </a:p>
          <a:p>
            <a:pPr algn="l">
              <a:lnSpc>
                <a:spcPct val="118000"/>
              </a:lnSpc>
              <a:spcBef>
                <a:spcPts val="600"/>
              </a:spcBef>
              <a:spcAft>
                <a:spcPts val="200"/>
              </a:spcAft>
            </a:pPr>
            <a:r>
              <a:rPr sz="1500" b="1" i="0">
                <a:solidFill>
                  <a:srgbClr val="083F80"/>
                </a:solidFill>
                <a:latin typeface="Segoe UI"/>
                <a:ea typeface="맑은 고딕"/>
                <a:cs typeface="맑은 고딕"/>
              </a:rPr>
              <a:t>▪  근거 (제3·5장)</a:t>
            </a:r>
          </a:p>
          <a:p>
            <a:pPr algn="l">
              <a:lnSpc>
                <a:spcPct val="118000"/>
              </a:lnSpc>
              <a:spcBef>
                <a:spcPts val="200"/>
              </a:spcBef>
              <a:spcAft>
                <a:spcPts val="100"/>
              </a:spcAft>
            </a:pPr>
            <a:r>
              <a:rPr sz="1380" b="0" i="0">
                <a:solidFill>
                  <a:srgbClr val="2C3A4B"/>
                </a:solidFill>
                <a:latin typeface="Segoe UI"/>
                <a:ea typeface="맑은 고딕"/>
                <a:cs typeface="맑은 고딕"/>
              </a:rPr>
              <a:t>–  각 PE는 호스트로부터 독립 디바이스처럼 동작하고, 최대 4개 PE까지 융합해 하나의 더 큰 PE를 만들 수 있다 (제3장)</a:t>
            </a:r>
          </a:p>
          <a:p>
            <a:pPr algn="l">
              <a:lnSpc>
                <a:spcPct val="118000"/>
              </a:lnSpc>
              <a:spcBef>
                <a:spcPts val="200"/>
              </a:spcBef>
              <a:spcAft>
                <a:spcPts val="100"/>
              </a:spcAft>
            </a:pPr>
            <a:r>
              <a:rPr sz="1380" b="0" i="0">
                <a:solidFill>
                  <a:srgbClr val="2C3A4B"/>
                </a:solidFill>
                <a:latin typeface="Segoe UI"/>
                <a:ea typeface="맑은 고딕"/>
                <a:cs typeface="맑은 고딕"/>
              </a:rPr>
              <a:t>–  명령 처리기는 명령을 순차 실행하므로, 동적 제어 흐름의 책임은 CPU 코어가 진다 (제5장 A절)</a:t>
            </a:r>
          </a:p>
          <a:p>
            <a:pPr algn="l">
              <a:lnSpc>
                <a:spcPct val="118000"/>
              </a:lnSpc>
              <a:spcBef>
                <a:spcPts val="200"/>
              </a:spcBef>
              <a:spcAft>
                <a:spcPts val="100"/>
              </a:spcAft>
            </a:pPr>
            <a:r>
              <a:rPr sz="1380" b="0" i="0">
                <a:solidFill>
                  <a:srgbClr val="2C3A4B"/>
                </a:solidFill>
                <a:latin typeface="Segoe UI"/>
                <a:ea typeface="맑은 고딕"/>
                <a:cs typeface="맑은 고딕"/>
              </a:rPr>
              <a:t>–  CPU 코어의 가장 중요한 역할은 64엔트리 명령 큐가 비지 않게 해서 TU를 계속 굴리는 것이다 (제5장 A절)</a:t>
            </a:r>
          </a:p>
          <a:p>
            <a:pPr algn="l">
              <a:lnSpc>
                <a:spcPct val="118000"/>
              </a:lnSpc>
              <a:spcBef>
                <a:spcPts val="600"/>
              </a:spcBef>
              <a:spcAft>
                <a:spcPts val="200"/>
              </a:spcAft>
            </a:pPr>
            <a:r>
              <a:rPr sz="1500" b="1" i="0">
                <a:solidFill>
                  <a:srgbClr val="083F80"/>
                </a:solidFill>
                <a:latin typeface="Segoe UI"/>
                <a:ea typeface="맑은 고딕"/>
                <a:cs typeface="맑은 고딕"/>
              </a:rPr>
              <a:t>▪  함의</a:t>
            </a:r>
          </a:p>
          <a:p>
            <a:pPr algn="l">
              <a:lnSpc>
                <a:spcPct val="118000"/>
              </a:lnSpc>
              <a:spcBef>
                <a:spcPts val="200"/>
              </a:spcBef>
              <a:spcAft>
                <a:spcPts val="100"/>
              </a:spcAft>
            </a:pPr>
            <a:r>
              <a:rPr sz="1380" b="0" i="0">
                <a:solidFill>
                  <a:srgbClr val="2C3A4B"/>
                </a:solidFill>
                <a:latin typeface="Segoe UI"/>
                <a:ea typeface="맑은 고딕"/>
                <a:cs typeface="맑은 고딕"/>
              </a:rPr>
              <a:t>–  '가속기 옆에 범용 CPU를 붙인다'는 선택이 면적 낭비가 아니라 동적 워크로드 대응의 필수 조건이었다는 것이 이 교훈의 진짜 메시지다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제어 레지스터(형상) + CPU 코어(제어 흐름) + fetch network 재구성(자원 융합) = 동적 대응 3종 세트</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5 — 매핑의 복잡도 (1/2)</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Complexities of Mapping — 문제를 어떻게 쪼갰나</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261</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700" b="1" i="0">
                <a:solidFill>
                  <a:srgbClr val="083F80"/>
                </a:solidFill>
                <a:latin typeface="Segoe UI"/>
                <a:ea typeface="맑은 고딕"/>
                <a:cs typeface="맑은 고딕"/>
              </a:rPr>
              <a:t>▪  원문 주장 — 문제 정의</a:t>
            </a:r>
          </a:p>
          <a:p>
            <a:pPr algn="l">
              <a:lnSpc>
                <a:spcPct val="118000"/>
              </a:lnSpc>
              <a:spcBef>
                <a:spcPts val="200"/>
              </a:spcBef>
              <a:spcAft>
                <a:spcPts val="100"/>
              </a:spcAft>
            </a:pPr>
            <a:r>
              <a:rPr sz="1580" b="0" i="0">
                <a:solidFill>
                  <a:srgbClr val="2C3A4B"/>
                </a:solidFill>
                <a:latin typeface="Segoe UI"/>
                <a:ea typeface="맑은 고딕"/>
                <a:cs typeface="맑은 고딕"/>
              </a:rPr>
              <a:t>–  contraction은 임의의(any) 축을 따라 가능하기 때문에, 이 고복잡도 공간을 항해하는 데 어려움이 있다</a:t>
            </a:r>
          </a:p>
          <a:p>
            <a:pPr algn="l">
              <a:lnSpc>
                <a:spcPct val="118000"/>
              </a:lnSpc>
              <a:spcBef>
                <a:spcPts val="200"/>
              </a:spcBef>
              <a:spcAft>
                <a:spcPts val="100"/>
              </a:spcAft>
            </a:pPr>
            <a:r>
              <a:rPr sz="1580" b="0" i="0">
                <a:solidFill>
                  <a:srgbClr val="2C3A4B"/>
                </a:solidFill>
                <a:latin typeface="Segoe UI"/>
                <a:ea typeface="맑은 고딕"/>
                <a:cs typeface="맑은 고딕"/>
              </a:rPr>
              <a:t>–  TCP의 근본 장점(축약 축을 자유롭게 고를 수 있음)이 그대로 컴파일러의 부담이 된다</a:t>
            </a:r>
          </a:p>
          <a:p>
            <a:pPr algn="l">
              <a:lnSpc>
                <a:spcPct val="118000"/>
              </a:lnSpc>
              <a:spcBef>
                <a:spcPts val="600"/>
              </a:spcBef>
              <a:spcAft>
                <a:spcPts val="200"/>
              </a:spcAft>
            </a:pPr>
            <a:r>
              <a:rPr sz="1700" b="1" i="0">
                <a:solidFill>
                  <a:srgbClr val="083F80"/>
                </a:solidFill>
                <a:latin typeface="Segoe UI"/>
                <a:ea typeface="맑은 고딕"/>
                <a:cs typeface="맑은 고딕"/>
              </a:rPr>
              <a:t>▪  원문 주장 — 문제 분할</a:t>
            </a:r>
          </a:p>
          <a:p>
            <a:pPr algn="l">
              <a:lnSpc>
                <a:spcPct val="118000"/>
              </a:lnSpc>
              <a:spcBef>
                <a:spcPts val="200"/>
              </a:spcBef>
              <a:spcAft>
                <a:spcPts val="100"/>
              </a:spcAft>
            </a:pPr>
            <a:r>
              <a:rPr sz="1580" b="0" i="0">
                <a:solidFill>
                  <a:srgbClr val="2C3A4B"/>
                </a:solidFill>
                <a:latin typeface="Segoe UI"/>
                <a:ea typeface="맑은 고딕"/>
                <a:cs typeface="맑은 고딕"/>
              </a:rPr>
              <a:t>–  우리는 문제를 둘로 나눈다</a:t>
            </a:r>
          </a:p>
          <a:p>
            <a:pPr algn="l">
              <a:lnSpc>
                <a:spcPct val="118000"/>
              </a:lnSpc>
              <a:spcBef>
                <a:spcPts val="200"/>
              </a:spcBef>
              <a:spcAft>
                <a:spcPts val="100"/>
              </a:spcAft>
            </a:pPr>
            <a:r>
              <a:rPr sz="1580" b="0" i="0">
                <a:solidFill>
                  <a:srgbClr val="2C3A4B"/>
                </a:solidFill>
                <a:latin typeface="Segoe UI"/>
                <a:ea typeface="맑은 고딕"/>
                <a:cs typeface="맑은 고딕"/>
              </a:rPr>
              <a:t>–  (1) 주어진 lowered shape 안에서 tactic을 최적화하는 문제</a:t>
            </a:r>
          </a:p>
          <a:p>
            <a:pPr algn="l">
              <a:lnSpc>
                <a:spcPct val="118000"/>
              </a:lnSpc>
              <a:spcBef>
                <a:spcPts val="200"/>
              </a:spcBef>
              <a:spcAft>
                <a:spcPts val="100"/>
              </a:spcAft>
            </a:pPr>
            <a:r>
              <a:rPr sz="1580" b="0" i="0">
                <a:solidFill>
                  <a:srgbClr val="2C3A4B"/>
                </a:solidFill>
                <a:latin typeface="Segoe UI"/>
                <a:ea typeface="맑은 고딕"/>
                <a:cs typeface="맑은 고딕"/>
              </a:rPr>
              <a:t>–  (2) 모델 전체 최적화 관점에서 lowered shape을 매핑하는 문제</a:t>
            </a:r>
          </a:p>
          <a:p>
            <a:pPr algn="l">
              <a:lnSpc>
                <a:spcPct val="118000"/>
              </a:lnSpc>
              <a:spcBef>
                <a:spcPts val="600"/>
              </a:spcBef>
              <a:spcAft>
                <a:spcPts val="200"/>
              </a:spcAft>
            </a:pPr>
            <a:r>
              <a:rPr sz="1700" b="1" i="0">
                <a:solidFill>
                  <a:srgbClr val="083F80"/>
                </a:solidFill>
                <a:latin typeface="Segoe UI"/>
                <a:ea typeface="맑은 고딕"/>
                <a:cs typeface="맑은 고딕"/>
              </a:rPr>
              <a:t>▪  (1)에 대한 답 — 성능 추정기</a:t>
            </a:r>
          </a:p>
          <a:p>
            <a:pPr algn="l">
              <a:lnSpc>
                <a:spcPct val="118000"/>
              </a:lnSpc>
              <a:spcBef>
                <a:spcPts val="200"/>
              </a:spcBef>
              <a:spcAft>
                <a:spcPts val="100"/>
              </a:spcAft>
            </a:pPr>
            <a:r>
              <a:rPr sz="1580" b="0" i="0">
                <a:solidFill>
                  <a:srgbClr val="2C3A4B"/>
                </a:solidFill>
                <a:latin typeface="Segoe UI"/>
                <a:ea typeface="맑은 고딕"/>
                <a:cs typeface="맑은 고딕"/>
              </a:rPr>
              <a:t>–  주어진 lowered shape에 대해 수많은 tactic을 탐색할 때, Fig. 14가 보여주듯 성능 추정기(performance estimator)가 의미 있는 tactic으로 좁히는 데 실질적으로(practically) 기여한다</a:t>
            </a:r>
          </a:p>
          <a:p>
            <a:pPr algn="l">
              <a:lnSpc>
                <a:spcPct val="118000"/>
              </a:lnSpc>
              <a:spcBef>
                <a:spcPts val="200"/>
              </a:spcBef>
              <a:spcAft>
                <a:spcPts val="100"/>
              </a:spcAft>
            </a:pPr>
            <a:r>
              <a:rPr sz="1580" b="0" i="0">
                <a:solidFill>
                  <a:srgbClr val="2C3A4B"/>
                </a:solidFill>
                <a:latin typeface="Segoe UI"/>
                <a:ea typeface="맑은 고딕"/>
                <a:cs typeface="맑은 고딕"/>
              </a:rPr>
              <a:t>–  즉 교훈 3(정확한 비용 모델)이 여기서 곧바로 회수된다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'아무 축이나 축약 가능'이라는 자유가 곧 탐색 공간 폭발이다 — 그래서 문제를 두 층으로 쪼갠다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교훈 5 — 매핑의 복잡도 (2/2)</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전역 탐색 공간을 줄이는 세 가지 장치</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262</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500" b="1" i="0">
                <a:solidFill>
                  <a:srgbClr val="083F80"/>
                </a:solidFill>
                <a:latin typeface="Segoe UI"/>
                <a:ea typeface="맑은 고딕"/>
                <a:cs typeface="맑은 고딕"/>
              </a:rPr>
              <a:t>▪  원문 주장 — (2) 전역 매핑에 대한 답</a:t>
            </a:r>
          </a:p>
          <a:p>
            <a:pPr algn="l">
              <a:lnSpc>
                <a:spcPct val="118000"/>
              </a:lnSpc>
              <a:spcBef>
                <a:spcPts val="200"/>
              </a:spcBef>
              <a:spcAft>
                <a:spcPts val="100"/>
              </a:spcAft>
            </a:pPr>
            <a:r>
              <a:rPr sz="1380" b="0" i="0">
                <a:solidFill>
                  <a:srgbClr val="2C3A4B"/>
                </a:solidFill>
                <a:latin typeface="Segoe UI"/>
                <a:ea typeface="맑은 고딕"/>
                <a:cs typeface="맑은 고딕"/>
              </a:rPr>
              <a:t>–  모델 레이어 간 데이터 이동을 최소화하는 설계 공간은 다음을 포함한다</a:t>
            </a:r>
          </a:p>
          <a:p>
            <a:pPr algn="l">
              <a:lnSpc>
                <a:spcPct val="118000"/>
              </a:lnSpc>
              <a:spcBef>
                <a:spcPts val="200"/>
              </a:spcBef>
              <a:spcAft>
                <a:spcPts val="100"/>
              </a:spcAft>
            </a:pPr>
            <a:r>
              <a:rPr sz="1380" b="0" i="0">
                <a:solidFill>
                  <a:srgbClr val="2C3A4B"/>
                </a:solidFill>
                <a:latin typeface="Segoe UI"/>
                <a:ea typeface="맑은 고딕"/>
                <a:cs typeface="맑은 고딕"/>
              </a:rPr>
              <a:t>–  1) 공간을 가지치기(prune)하는 다양한 휴리스틱</a:t>
            </a:r>
          </a:p>
          <a:p>
            <a:pPr algn="l">
              <a:lnSpc>
                <a:spcPct val="118000"/>
              </a:lnSpc>
              <a:spcBef>
                <a:spcPts val="200"/>
              </a:spcBef>
              <a:spcAft>
                <a:spcPts val="100"/>
              </a:spcAft>
            </a:pPr>
            <a:r>
              <a:rPr sz="1380" b="0" i="0">
                <a:solidFill>
                  <a:srgbClr val="2C3A4B"/>
                </a:solidFill>
                <a:latin typeface="Segoe UI"/>
                <a:ea typeface="맑은 고딕"/>
                <a:cs typeface="맑은 고딕"/>
              </a:rPr>
              <a:t>–  2) 동적 계획법(dynamic programming)을 포함한 여러 매핑 최적화 기법</a:t>
            </a:r>
          </a:p>
          <a:p>
            <a:pPr algn="l">
              <a:lnSpc>
                <a:spcPct val="118000"/>
              </a:lnSpc>
              <a:spcBef>
                <a:spcPts val="600"/>
              </a:spcBef>
              <a:spcAft>
                <a:spcPts val="200"/>
              </a:spcAft>
            </a:pPr>
            <a:r>
              <a:rPr sz="1500" b="1" i="0">
                <a:solidFill>
                  <a:srgbClr val="083F80"/>
                </a:solidFill>
                <a:latin typeface="Segoe UI"/>
                <a:ea typeface="맑은 고딕"/>
                <a:cs typeface="맑은 고딕"/>
              </a:rPr>
              <a:t>▪  원문 주장 — 구조가 주는 선물</a:t>
            </a:r>
          </a:p>
          <a:p>
            <a:pPr algn="l">
              <a:lnSpc>
                <a:spcPct val="118000"/>
              </a:lnSpc>
              <a:spcBef>
                <a:spcPts val="200"/>
              </a:spcBef>
              <a:spcAft>
                <a:spcPts val="100"/>
              </a:spcAft>
            </a:pPr>
            <a:r>
              <a:rPr sz="1380" b="0" i="0">
                <a:solidFill>
                  <a:srgbClr val="2C3A4B"/>
                </a:solidFill>
                <a:latin typeface="Segoe UI"/>
                <a:ea typeface="맑은 고딕"/>
                <a:cs typeface="맑은 고딕"/>
              </a:rPr>
              <a:t>–  transformer처럼 반복되는 블록(repetitive blocks)을 가진 모델은 전역 최적화의 탐색 공간을 크게(significantly) 줄이는 데 기여한다</a:t>
            </a:r>
          </a:p>
          <a:p>
            <a:pPr algn="l">
              <a:lnSpc>
                <a:spcPct val="118000"/>
              </a:lnSpc>
              <a:spcBef>
                <a:spcPts val="200"/>
              </a:spcBef>
              <a:spcAft>
                <a:spcPts val="100"/>
              </a:spcAft>
            </a:pPr>
            <a:r>
              <a:rPr sz="1380" b="0" i="0">
                <a:solidFill>
                  <a:srgbClr val="2C3A4B"/>
                </a:solidFill>
                <a:latin typeface="Segoe UI"/>
                <a:ea typeface="맑은 고딕"/>
                <a:cs typeface="맑은 고딕"/>
              </a:rPr>
              <a:t>–  블록이 동일하면 한 블록의 매핑 해를 나머지에 재활용할 수 있기 때문이다</a:t>
            </a:r>
          </a:p>
          <a:p>
            <a:pPr algn="l">
              <a:lnSpc>
                <a:spcPct val="118000"/>
              </a:lnSpc>
              <a:spcBef>
                <a:spcPts val="600"/>
              </a:spcBef>
              <a:spcAft>
                <a:spcPts val="200"/>
              </a:spcAft>
            </a:pPr>
            <a:r>
              <a:rPr sz="1500" b="1" i="0">
                <a:solidFill>
                  <a:srgbClr val="083F80"/>
                </a:solidFill>
                <a:latin typeface="Segoe UI"/>
                <a:ea typeface="맑은 고딕"/>
                <a:cs typeface="맑은 고딕"/>
              </a:rPr>
              <a:t>▪  관련 근거 — 컴파일러 5단계의 스케줄링 (제5장 C절)</a:t>
            </a:r>
          </a:p>
          <a:p>
            <a:pPr algn="l">
              <a:lnSpc>
                <a:spcPct val="118000"/>
              </a:lnSpc>
              <a:spcBef>
                <a:spcPts val="200"/>
              </a:spcBef>
              <a:spcAft>
                <a:spcPts val="100"/>
              </a:spcAft>
            </a:pPr>
            <a:r>
              <a:rPr sz="1380" b="0" i="0">
                <a:solidFill>
                  <a:srgbClr val="2C3A4B"/>
                </a:solidFill>
                <a:latin typeface="Segoe UI"/>
                <a:ea typeface="맑은 고딕"/>
                <a:cs typeface="맑은 고딕"/>
              </a:rPr>
              <a:t>–  스케줄링 알고리즘은 휴리스틱, ILP(정수 선형 계획법), 유전 알고리즘을 섞어 쓴다</a:t>
            </a:r>
          </a:p>
          <a:p>
            <a:pPr algn="l">
              <a:lnSpc>
                <a:spcPct val="118000"/>
              </a:lnSpc>
              <a:spcBef>
                <a:spcPts val="200"/>
              </a:spcBef>
              <a:spcAft>
                <a:spcPts val="100"/>
              </a:spcAft>
            </a:pPr>
            <a:r>
              <a:rPr sz="1380" b="0" i="0">
                <a:solidFill>
                  <a:srgbClr val="2C3A4B"/>
                </a:solidFill>
                <a:latin typeface="Segoe UI"/>
                <a:ea typeface="맑은 고딕"/>
                <a:cs typeface="맑은 고딕"/>
              </a:rPr>
              <a:t>–  교훈 5의 '동적 계획법'은 매핑 단계의 기법이고, ILP·유전 알고리즘은 스케줄링·자원 할당 단계의 기법이다 — 층이 다르다</a:t>
            </a:r>
          </a:p>
          <a:p>
            <a:pPr algn="l">
              <a:lnSpc>
                <a:spcPct val="118000"/>
              </a:lnSpc>
              <a:spcBef>
                <a:spcPts val="200"/>
              </a:spcBef>
              <a:spcAft>
                <a:spcPts val="100"/>
              </a:spcAft>
            </a:pPr>
            <a:r>
              <a:rPr sz="1380" b="1" i="0">
                <a:solidFill>
                  <a:srgbClr val="2C3A4B"/>
                </a:solidFill>
                <a:latin typeface="Segoe UI"/>
                <a:ea typeface="맑은 고딕"/>
                <a:cs typeface="맑은 고딕"/>
              </a:rPr>
              <a:t>–  논문은 휴리스틱의 종류, 동적 계획법의 상태 정의, 탐색 공간의 크기, 컴파일 소요 시간을 모두 밝히지 않는다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휴리스틱 가지치기 + 동적 계획법 + 반복 블록 구조 = 전역 매핑을 실용적으로 만드는 세 축</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다섯 교훈 총정리</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263</a:t>
            </a:r>
          </a:p>
        </p:txBody>
      </p:sp>
      <p:graphicFrame>
        <p:nvGraphicFramePr>
          <p:cNvPr id="8" name="Table 7"/>
          <p:cNvGraphicFramePr>
            <a:graphicFrameLocks noGrp="1"/>
          </p:cNvGraphicFramePr>
          <p:nvPr/>
        </p:nvGraphicFramePr>
        <p:xfrm>
          <a:off x="566928" y="1517904"/>
          <a:ext cx="11057840" cy="2304288"/>
        </p:xfrm>
        <a:graphic>
          <a:graphicData uri="http://schemas.openxmlformats.org/drawingml/2006/table">
            <a:tbl>
              <a:tblPr firstRow="1" bandRow="1">
                <a:tableStyleId>{5C22544A-7EE6-4342-B048-85BDC9FD1C3A}</a:tableStyleId>
              </a:tblPr>
              <a:tblGrid>
                <a:gridCol w="1202945"/>
                <a:gridCol w="2822294"/>
                <a:gridCol w="4164040"/>
                <a:gridCol w="2868561"/>
              </a:tblGrid>
              <a:tr h="384048">
                <a:tc>
                  <a:txBody>
                    <a:bodyPr wrap="square"/>
                    <a:lstStyle/>
                    <a:p>
                      <a:r>
                        <a:rPr sz="900" b="1" i="0">
                          <a:solidFill>
                            <a:srgbClr val="FFFFFF"/>
                          </a:solidFill>
                          <a:latin typeface="Segoe UI"/>
                          <a:ea typeface="맑은 고딕"/>
                          <a:cs typeface="맑은 고딕"/>
                        </a:rPr>
                        <a:t>교훈</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저자가 지목한 문제</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TCP의 대응</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 안 근거</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1. 재사용 패턴의 다양성</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연산자마다 재사용 양상이 달라 하나의 전략으로 못 덮는다</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tensor contraction을 프리미티브로, weight/input/output stationary 세 방식을 소프트웨어로 선택</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제3장 B절, 제6장 (attention 256회 재사용, FFN F=2.7배·padding)</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2. SRAM 지역성과 텐서 이동</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앞 레이어 출력과 뒤 레이어 입력의 레이아웃 불일치 → 비싼 변환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bridge operator 삽입 + 전역 최적화기, 그리고 slice당 2개 컨텍스트로 이동 오버헤드 은닉</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제2장 B절, 제3장 B절(main/sub context), 제5장 C절, Fig. 13</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3. 정확한 비용 모델</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tactic이 성능·전력에 주는 영향을 모르면 최적화 자체가 불가능</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결정론적 실행 → 예측 가능한 성능 → 정확한 성능·에너지 비용 모델</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제1장, Fig. 14/15 (전력은 SpyGlass 추정)</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4. 동적 형상·제어 흐름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LLM 추론은 문맥 길이와 배치 크기가 실행 중 변한다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제어 레지스터를 on the fly 수정, CPU 코어가 동적 프로그램 담당, fetch network 재구성으로 PE 동적 융합(최대 4개)</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제2장 B절, 제3장, 제5장 A절</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5. 매핑 복잡도</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임의 축 축약 → 탐색 공간 폭발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 lowered shape 내 tactic 최적화는 성능 추정기로 압축 (2) 전역 매핑은 휴리스틱 가지치기 + 동적 계획법, 반복 블록 활용</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제7장 본문, Fig. 14, 제5장 C절</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다섯 교훈은 서로 독립이 아니다 — 3번(비용 모델)이 1·2·5번을 떠받친다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VIII. 결론 (1/2) — 아키텍처 요약</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저자들이 스스로 뽑은 핵심</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264</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우리는 AI 워크로드를 위한 새로운 가속기 TCP(Tensor Contraction Processor, 텐서 축약 프로세서)를 제시했다</a:t>
            </a:r>
          </a:p>
          <a:p>
            <a:pPr algn="l">
              <a:lnSpc>
                <a:spcPct val="118000"/>
              </a:lnSpc>
              <a:spcBef>
                <a:spcPts val="600"/>
              </a:spcBef>
              <a:spcAft>
                <a:spcPts val="200"/>
              </a:spcAft>
            </a:pPr>
            <a:r>
              <a:rPr sz="1400" b="0" i="0">
                <a:solidFill>
                  <a:srgbClr val="16202C"/>
                </a:solidFill>
                <a:latin typeface="Segoe UI"/>
                <a:ea typeface="맑은 고딕"/>
                <a:cs typeface="맑은 고딕"/>
              </a:rPr>
              <a:t>▪  제안한 SoC는 8개의 PE와 2개의 HBM 스택으로 구성된다</a:t>
            </a:r>
          </a:p>
          <a:p>
            <a:pPr algn="l">
              <a:lnSpc>
                <a:spcPct val="118000"/>
              </a:lnSpc>
              <a:spcBef>
                <a:spcPts val="600"/>
              </a:spcBef>
              <a:spcAft>
                <a:spcPts val="200"/>
              </a:spcAft>
            </a:pPr>
            <a:r>
              <a:rPr sz="1400" b="1" i="0">
                <a:solidFill>
                  <a:srgbClr val="083F80"/>
                </a:solidFill>
                <a:latin typeface="Segoe UI"/>
                <a:ea typeface="맑은 고딕"/>
                <a:cs typeface="맑은 고딕"/>
              </a:rPr>
              <a:t>▪  PE 아키텍처를 특징짓는 네 단어</a:t>
            </a:r>
          </a:p>
          <a:p>
            <a:pPr algn="l">
              <a:lnSpc>
                <a:spcPct val="118000"/>
              </a:lnSpc>
              <a:spcBef>
                <a:spcPts val="200"/>
              </a:spcBef>
              <a:spcAft>
                <a:spcPts val="100"/>
              </a:spcAft>
            </a:pPr>
            <a:r>
              <a:rPr sz="1280" b="0" i="0">
                <a:solidFill>
                  <a:srgbClr val="2C3A4B"/>
                </a:solidFill>
                <a:latin typeface="Segoe UI"/>
                <a:ea typeface="맑은 고딕"/>
                <a:cs typeface="맑은 고딕"/>
              </a:rPr>
              <a:t>–  tensor contraction (텐서 축약) — 행렬곱이 아니라 축약이 프리미티브다</a:t>
            </a:r>
          </a:p>
          <a:p>
            <a:pPr algn="l">
              <a:lnSpc>
                <a:spcPct val="118000"/>
              </a:lnSpc>
              <a:spcBef>
                <a:spcPts val="200"/>
              </a:spcBef>
              <a:spcAft>
                <a:spcPts val="100"/>
              </a:spcAft>
            </a:pPr>
            <a:r>
              <a:rPr sz="1280" b="0" i="0">
                <a:solidFill>
                  <a:srgbClr val="2C3A4B"/>
                </a:solidFill>
                <a:latin typeface="Segoe UI"/>
                <a:ea typeface="맑은 고딕"/>
                <a:cs typeface="맑은 고딕"/>
              </a:rPr>
              <a:t>–  flexibility (유연성) — 하나의 큰 유닛으로도, 독립된 작은 유닛들로도 쓸 수 있다</a:t>
            </a:r>
          </a:p>
          <a:p>
            <a:pPr algn="l">
              <a:lnSpc>
                <a:spcPct val="118000"/>
              </a:lnSpc>
              <a:spcBef>
                <a:spcPts val="200"/>
              </a:spcBef>
              <a:spcAft>
                <a:spcPts val="100"/>
              </a:spcAft>
            </a:pPr>
            <a:r>
              <a:rPr sz="1280" b="0" i="0">
                <a:solidFill>
                  <a:srgbClr val="2C3A4B"/>
                </a:solidFill>
                <a:latin typeface="Segoe UI"/>
                <a:ea typeface="맑은 고딕"/>
                <a:cs typeface="맑은 고딕"/>
              </a:rPr>
              <a:t>–  concurrency (동시성) — 다중 컨텍스트로 텐서 연산과 나머지를 겹친다</a:t>
            </a:r>
          </a:p>
          <a:p>
            <a:pPr algn="l">
              <a:lnSpc>
                <a:spcPct val="118000"/>
              </a:lnSpc>
              <a:spcBef>
                <a:spcPts val="200"/>
              </a:spcBef>
              <a:spcAft>
                <a:spcPts val="100"/>
              </a:spcAft>
            </a:pPr>
            <a:r>
              <a:rPr sz="1280" b="0" i="0">
                <a:solidFill>
                  <a:srgbClr val="2C3A4B"/>
                </a:solidFill>
                <a:latin typeface="Segoe UI"/>
                <a:ea typeface="맑은 고딕"/>
                <a:cs typeface="맑은 고딕"/>
              </a:rPr>
              <a:t>–  data reuse (데이터 재사용) — slice 사이와 slice 내부 양쪽에서 재사용한다</a:t>
            </a:r>
          </a:p>
          <a:p>
            <a:pPr algn="l">
              <a:lnSpc>
                <a:spcPct val="118000"/>
              </a:lnSpc>
              <a:spcBef>
                <a:spcPts val="600"/>
              </a:spcBef>
              <a:spcAft>
                <a:spcPts val="200"/>
              </a:spcAft>
            </a:pPr>
            <a:r>
              <a:rPr sz="1400" b="0" i="0">
                <a:solidFill>
                  <a:srgbClr val="16202C"/>
                </a:solidFill>
                <a:latin typeface="Segoe UI"/>
                <a:ea typeface="맑은 고딕"/>
                <a:cs typeface="맑은 고딕"/>
              </a:rPr>
              <a:t>▪  각 slice는 contraction engine과 vector engine 위에서 여러 컨텍스트를 동시에 돌려, 텐서 축약과 벡터 연산을 함께 수행한다</a:t>
            </a:r>
          </a:p>
          <a:p>
            <a:pPr algn="l">
              <a:lnSpc>
                <a:spcPct val="118000"/>
              </a:lnSpc>
              <a:spcBef>
                <a:spcPts val="600"/>
              </a:spcBef>
              <a:spcAft>
                <a:spcPts val="200"/>
              </a:spcAft>
            </a:pPr>
            <a:r>
              <a:rPr sz="1400" b="0" i="0">
                <a:solidFill>
                  <a:srgbClr val="16202C"/>
                </a:solidFill>
                <a:latin typeface="Segoe UI"/>
                <a:ea typeface="맑은 고딕"/>
                <a:cs typeface="맑은 고딕"/>
              </a:rPr>
              <a:t>▪  fetch network(페치 네트워크)가 여러 slice에 걸친 데이터 재사용을 가능하게 하며, 이것이 PE를 대규모 병렬 연산용 coarse-grained processor(조립도 큰 프로세서)로 만들어 준다</a:t>
            </a:r>
          </a:p>
          <a:p>
            <a:pPr algn="l">
              <a:lnSpc>
                <a:spcPct val="118000"/>
              </a:lnSpc>
              <a:spcBef>
                <a:spcPts val="600"/>
              </a:spcBef>
              <a:spcAft>
                <a:spcPts val="200"/>
              </a:spcAft>
            </a:pPr>
            <a:r>
              <a:rPr sz="1400" b="0" i="0">
                <a:solidFill>
                  <a:srgbClr val="16202C"/>
                </a:solidFill>
                <a:latin typeface="Segoe UI"/>
                <a:ea typeface="맑은 고딕"/>
                <a:cs typeface="맑은 고딕"/>
              </a:rPr>
              <a:t>▪  slice 내부에서도 재사용한다 — 여러 contraction engine으로의 input broadcast(입력 브로드캐스트), 그리고 feed unit(공급 유닛)에서의 input reuse</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축약을 프리미티브로, 유연하게, 동시에, 그리고 재사용을 최대로</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VIII. 결론 (2/2) — 컴파일러와 성과</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와트당 성능 2.7배 / 4.1배, 그리고 그 수치가 성립하는 조건</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265</a:t>
            </a:r>
          </a:p>
        </p:txBody>
      </p:sp>
      <p:grpSp>
        <p:nvGrpSpPr>
          <p:cNvPr id="9" name="도해 A9#16"/>
          <p:cNvGrpSpPr/>
          <p:nvPr/>
        </p:nvGrpSpPr>
        <p:grpSpPr>
          <a:xfrm>
            <a:off x="1316273" y="1463040"/>
            <a:ext cx="9559149" cy="4078224"/>
            <a:chOff x="1316273" y="1463040"/>
            <a:chExt cx="9559149" cy="4078224"/>
          </a:xfrm>
        </p:grpSpPr>
        <p:sp>
          <p:nvSpPr>
            <p:cNvPr id="10" name="TextBox 9"/>
            <p:cNvSpPr txBox="1"/>
            <p:nvPr/>
          </p:nvSpPr>
          <p:spPr>
            <a:xfrm>
              <a:off x="1316273" y="1463040"/>
              <a:ext cx="1111121" cy="188066"/>
            </a:xfrm>
            <a:prstGeom prst="rect">
              <a:avLst/>
            </a:prstGeom>
            <a:noFill/>
          </p:spPr>
          <p:txBody>
            <a:bodyPr wrap="none" anchor="ctr" lIns="0" rIns="0" tIns="0" bIns="0">
              <a:noAutofit/>
            </a:bodyPr>
            <a:lstStyle/>
            <a:p>
              <a:pPr algn="l"/>
              <a:r>
                <a:rPr sz="1019" b="1">
                  <a:solidFill>
                    <a:srgbClr val="16202C"/>
                  </a:solidFill>
                  <a:latin typeface="맑은 고딕"/>
                  <a:ea typeface="맑은 고딕"/>
                  <a:cs typeface="맑은 고딕"/>
                </a:rPr>
                <a:t>TDP — 비교의 분모</a:t>
              </a:r>
            </a:p>
          </p:txBody>
        </p:sp>
        <p:sp>
          <p:nvSpPr>
            <p:cNvPr id="11" name="TextBox 10"/>
            <p:cNvSpPr txBox="1"/>
            <p:nvPr/>
          </p:nvSpPr>
          <p:spPr>
            <a:xfrm>
              <a:off x="1316273" y="1828366"/>
              <a:ext cx="272077" cy="173021"/>
            </a:xfrm>
            <a:prstGeom prst="rect">
              <a:avLst/>
            </a:prstGeom>
            <a:noFill/>
          </p:spPr>
          <p:txBody>
            <a:bodyPr wrap="none" anchor="ctr" lIns="0" rIns="0" tIns="0" bIns="0">
              <a:noAutofit/>
            </a:bodyPr>
            <a:lstStyle/>
            <a:p>
              <a:pPr algn="l"/>
              <a:r>
                <a:rPr sz="940" b="1">
                  <a:solidFill>
                    <a:srgbClr val="083F80"/>
                  </a:solidFill>
                  <a:latin typeface="맑은 고딕"/>
                  <a:ea typeface="맑은 고딕"/>
                  <a:cs typeface="맑은 고딕"/>
                </a:rPr>
                <a:t>TCP</a:t>
              </a:r>
            </a:p>
          </p:txBody>
        </p:sp>
        <p:sp>
          <p:nvSpPr>
            <p:cNvPr id="12" name="Rounded Rectangle 11"/>
            <p:cNvSpPr/>
            <p:nvPr/>
          </p:nvSpPr>
          <p:spPr>
            <a:xfrm>
              <a:off x="2355311" y="1779947"/>
              <a:ext cx="664984" cy="270150"/>
            </a:xfrm>
            <a:prstGeom prst="roundRect">
              <a:avLst>
                <a:gd name="adj" fmla="val 11538"/>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3418" y="1838756"/>
              <a:ext cx="390969" cy="173021"/>
            </a:xfrm>
            <a:prstGeom prst="rect">
              <a:avLst/>
            </a:prstGeom>
            <a:noFill/>
          </p:spPr>
          <p:txBody>
            <a:bodyPr wrap="none" anchor="ctr" lIns="0" rIns="0" tIns="0" bIns="0">
              <a:noAutofit/>
            </a:bodyPr>
            <a:lstStyle/>
            <a:p>
              <a:pPr algn="l"/>
              <a:r>
                <a:rPr sz="940" b="1">
                  <a:solidFill>
                    <a:srgbClr val="083F80"/>
                  </a:solidFill>
                  <a:latin typeface="맑은 고딕"/>
                  <a:ea typeface="맑은 고딕"/>
                  <a:cs typeface="맑은 고딕"/>
                </a:rPr>
                <a:t>150 W</a:t>
              </a:r>
            </a:p>
          </p:txBody>
        </p:sp>
        <p:sp>
          <p:nvSpPr>
            <p:cNvPr id="14" name="TextBox 13"/>
            <p:cNvSpPr txBox="1"/>
            <p:nvPr/>
          </p:nvSpPr>
          <p:spPr>
            <a:xfrm>
              <a:off x="1316273" y="2243981"/>
              <a:ext cx="312226" cy="173021"/>
            </a:xfrm>
            <a:prstGeom prst="rect">
              <a:avLst/>
            </a:prstGeom>
            <a:noFill/>
          </p:spPr>
          <p:txBody>
            <a:bodyPr wrap="none" anchor="ctr" lIns="0" rIns="0" tIns="0" bIns="0">
              <a:noAutofit/>
            </a:bodyPr>
            <a:lstStyle/>
            <a:p>
              <a:pPr algn="l"/>
              <a:r>
                <a:rPr sz="940" b="1">
                  <a:solidFill>
                    <a:srgbClr val="5B6B7B"/>
                  </a:solidFill>
                  <a:latin typeface="맑은 고딕"/>
                  <a:ea typeface="맑은 고딕"/>
                  <a:cs typeface="맑은 고딕"/>
                </a:rPr>
                <a:t>L40s</a:t>
              </a:r>
            </a:p>
          </p:txBody>
        </p:sp>
        <p:sp>
          <p:nvSpPr>
            <p:cNvPr id="15" name="Rounded Rectangle 14"/>
            <p:cNvSpPr/>
            <p:nvPr/>
          </p:nvSpPr>
          <p:spPr>
            <a:xfrm>
              <a:off x="2355311" y="2195562"/>
              <a:ext cx="1558557" cy="270150"/>
            </a:xfrm>
            <a:prstGeom prst="roundRect">
              <a:avLst>
                <a:gd name="adj" fmla="val 11538"/>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6991" y="2254371"/>
              <a:ext cx="390969" cy="173021"/>
            </a:xfrm>
            <a:prstGeom prst="rect">
              <a:avLst/>
            </a:prstGeom>
            <a:noFill/>
          </p:spPr>
          <p:txBody>
            <a:bodyPr wrap="none" anchor="ctr" lIns="0" rIns="0" tIns="0" bIns="0">
              <a:noAutofit/>
            </a:bodyPr>
            <a:lstStyle/>
            <a:p>
              <a:pPr algn="l"/>
              <a:r>
                <a:rPr sz="940" b="1">
                  <a:solidFill>
                    <a:srgbClr val="5B6B7B"/>
                  </a:solidFill>
                  <a:latin typeface="맑은 고딕"/>
                  <a:ea typeface="맑은 고딕"/>
                  <a:cs typeface="맑은 고딕"/>
                </a:rPr>
                <a:t>350 W</a:t>
              </a:r>
            </a:p>
          </p:txBody>
        </p:sp>
        <p:sp>
          <p:nvSpPr>
            <p:cNvPr id="17" name="TextBox 16"/>
            <p:cNvSpPr txBox="1"/>
            <p:nvPr/>
          </p:nvSpPr>
          <p:spPr>
            <a:xfrm>
              <a:off x="1316273" y="2659596"/>
              <a:ext cx="344966" cy="173021"/>
            </a:xfrm>
            <a:prstGeom prst="rect">
              <a:avLst/>
            </a:prstGeom>
            <a:noFill/>
          </p:spPr>
          <p:txBody>
            <a:bodyPr wrap="none" anchor="ctr" lIns="0" rIns="0" tIns="0" bIns="0">
              <a:noAutofit/>
            </a:bodyPr>
            <a:lstStyle/>
            <a:p>
              <a:pPr algn="l"/>
              <a:r>
                <a:rPr sz="940" b="1">
                  <a:solidFill>
                    <a:srgbClr val="5B6B7B"/>
                  </a:solidFill>
                  <a:latin typeface="맑은 고딕"/>
                  <a:ea typeface="맑은 고딕"/>
                  <a:cs typeface="맑은 고딕"/>
                </a:rPr>
                <a:t>H100</a:t>
              </a:r>
            </a:p>
          </p:txBody>
        </p:sp>
        <p:sp>
          <p:nvSpPr>
            <p:cNvPr id="18" name="Rounded Rectangle 17"/>
            <p:cNvSpPr/>
            <p:nvPr/>
          </p:nvSpPr>
          <p:spPr>
            <a:xfrm>
              <a:off x="2355311" y="2611177"/>
              <a:ext cx="3117114" cy="270150"/>
            </a:xfrm>
            <a:prstGeom prst="roundRect">
              <a:avLst>
                <a:gd name="adj" fmla="val 11538"/>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55548" y="2669986"/>
              <a:ext cx="390969" cy="173021"/>
            </a:xfrm>
            <a:prstGeom prst="rect">
              <a:avLst/>
            </a:prstGeom>
            <a:noFill/>
          </p:spPr>
          <p:txBody>
            <a:bodyPr wrap="none" anchor="ctr" lIns="0" rIns="0" tIns="0" bIns="0">
              <a:noAutofit/>
            </a:bodyPr>
            <a:lstStyle/>
            <a:p>
              <a:pPr algn="l"/>
              <a:r>
                <a:rPr sz="940" b="1">
                  <a:solidFill>
                    <a:srgbClr val="5B6B7B"/>
                  </a:solidFill>
                  <a:latin typeface="맑은 고딕"/>
                  <a:ea typeface="맑은 고딕"/>
                  <a:cs typeface="맑은 고딕"/>
                </a:rPr>
                <a:t>700 W</a:t>
              </a:r>
            </a:p>
          </p:txBody>
        </p:sp>
        <p:sp>
          <p:nvSpPr>
            <p:cNvPr id="20" name="TextBox 19"/>
            <p:cNvSpPr txBox="1"/>
            <p:nvPr/>
          </p:nvSpPr>
          <p:spPr>
            <a:xfrm>
              <a:off x="2355311" y="2995413"/>
              <a:ext cx="969022" cy="142930"/>
            </a:xfrm>
            <a:prstGeom prst="rect">
              <a:avLst/>
            </a:prstGeom>
            <a:noFill/>
          </p:spPr>
          <p:txBody>
            <a:bodyPr wrap="none" anchor="ctr" lIns="0" rIns="0" tIns="0" bIns="0">
              <a:noAutofit/>
            </a:bodyPr>
            <a:lstStyle/>
            <a:p>
              <a:pPr algn="l"/>
              <a:r>
                <a:rPr sz="780" b="0">
                  <a:solidFill>
                    <a:srgbClr val="5B6B7B"/>
                  </a:solidFill>
                  <a:latin typeface="맑은 고딕"/>
                  <a:ea typeface="맑은 고딕"/>
                  <a:cs typeface="맑은 고딕"/>
                </a:rPr>
                <a:t>막대 길이 = TDP (표 II)</a:t>
              </a:r>
            </a:p>
          </p:txBody>
        </p:sp>
        <p:sp>
          <p:nvSpPr>
            <p:cNvPr id="21" name="TextBox 20"/>
            <p:cNvSpPr txBox="1"/>
            <p:nvPr/>
          </p:nvSpPr>
          <p:spPr>
            <a:xfrm>
              <a:off x="6407559" y="1463040"/>
              <a:ext cx="1590767" cy="188066"/>
            </a:xfrm>
            <a:prstGeom prst="rect">
              <a:avLst/>
            </a:prstGeom>
            <a:noFill/>
          </p:spPr>
          <p:txBody>
            <a:bodyPr wrap="none" anchor="ctr" lIns="0" rIns="0" tIns="0" bIns="0">
              <a:noAutofit/>
            </a:bodyPr>
            <a:lstStyle/>
            <a:p>
              <a:pPr algn="l"/>
              <a:r>
                <a:rPr sz="1019" b="1">
                  <a:solidFill>
                    <a:srgbClr val="16202C"/>
                  </a:solidFill>
                  <a:latin typeface="맑은 고딕"/>
                  <a:ea typeface="맑은 고딕"/>
                  <a:cs typeface="맑은 고딕"/>
                </a:rPr>
                <a:t>와트당 성능 — LLaMA-2 7B</a:t>
              </a:r>
            </a:p>
          </p:txBody>
        </p:sp>
        <p:sp>
          <p:nvSpPr>
            <p:cNvPr id="22" name="Rounded Rectangle 21"/>
            <p:cNvSpPr/>
            <p:nvPr/>
          </p:nvSpPr>
          <p:spPr>
            <a:xfrm>
              <a:off x="6407559" y="1800727"/>
              <a:ext cx="41562" cy="748107"/>
            </a:xfrm>
            <a:prstGeom prst="roundRect">
              <a:avLst>
                <a:gd name="adj" fmla="val 50000"/>
              </a:avLst>
            </a:prstGeom>
            <a:solidFill>
              <a:srgbClr val="B8D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73805" y="1969467"/>
              <a:ext cx="314652" cy="16549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H100</a:t>
              </a:r>
            </a:p>
          </p:txBody>
        </p:sp>
        <p:sp>
          <p:nvSpPr>
            <p:cNvPr id="24" name="Rounded Rectangle 23"/>
            <p:cNvSpPr/>
            <p:nvPr/>
          </p:nvSpPr>
          <p:spPr>
            <a:xfrm>
              <a:off x="7030982" y="1925412"/>
              <a:ext cx="685765" cy="249369"/>
            </a:xfrm>
            <a:prstGeom prst="roundRect">
              <a:avLst>
                <a:gd name="adj" fmla="val 125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0651" y="1985884"/>
              <a:ext cx="489636" cy="157975"/>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1.0 (기준)</a:t>
              </a:r>
            </a:p>
          </p:txBody>
        </p:sp>
        <p:sp>
          <p:nvSpPr>
            <p:cNvPr id="26" name="TextBox 25"/>
            <p:cNvSpPr txBox="1"/>
            <p:nvPr/>
          </p:nvSpPr>
          <p:spPr>
            <a:xfrm>
              <a:off x="6573805" y="2281178"/>
              <a:ext cx="260248" cy="165498"/>
            </a:xfrm>
            <a:prstGeom prst="rect">
              <a:avLst/>
            </a:prstGeom>
            <a:noFill/>
          </p:spPr>
          <p:txBody>
            <a:bodyPr wrap="none" anchor="ctr" lIns="0" rIns="0" tIns="0" bIns="0">
              <a:noAutofit/>
            </a:bodyPr>
            <a:lstStyle/>
            <a:p>
              <a:pPr algn="l"/>
              <a:r>
                <a:rPr sz="900" b="1">
                  <a:solidFill>
                    <a:srgbClr val="083F80"/>
                  </a:solidFill>
                  <a:latin typeface="맑은 고딕"/>
                  <a:ea typeface="맑은 고딕"/>
                  <a:cs typeface="맑은 고딕"/>
                </a:rPr>
                <a:t>TCP</a:t>
              </a:r>
            </a:p>
          </p:txBody>
        </p:sp>
        <p:sp>
          <p:nvSpPr>
            <p:cNvPr id="27" name="Rounded Rectangle 26"/>
            <p:cNvSpPr/>
            <p:nvPr/>
          </p:nvSpPr>
          <p:spPr>
            <a:xfrm>
              <a:off x="7030982" y="2237123"/>
              <a:ext cx="1849488" cy="249369"/>
            </a:xfrm>
            <a:prstGeom prst="roundRect">
              <a:avLst>
                <a:gd name="adj" fmla="val 125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84373" y="2277854"/>
              <a:ext cx="386990" cy="195589"/>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2.7×</a:t>
              </a:r>
            </a:p>
          </p:txBody>
        </p:sp>
        <p:sp>
          <p:nvSpPr>
            <p:cNvPr id="29" name="Rounded Rectangle 28"/>
            <p:cNvSpPr/>
            <p:nvPr/>
          </p:nvSpPr>
          <p:spPr>
            <a:xfrm>
              <a:off x="6407559" y="2652738"/>
              <a:ext cx="41562" cy="748107"/>
            </a:xfrm>
            <a:prstGeom prst="roundRect">
              <a:avLst>
                <a:gd name="adj" fmla="val 50000"/>
              </a:avLst>
            </a:prstGeom>
            <a:solidFill>
              <a:srgbClr val="B8D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73805" y="2821478"/>
              <a:ext cx="283564" cy="16549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L40s</a:t>
              </a:r>
            </a:p>
          </p:txBody>
        </p:sp>
        <p:sp>
          <p:nvSpPr>
            <p:cNvPr id="31" name="Rounded Rectangle 30"/>
            <p:cNvSpPr/>
            <p:nvPr/>
          </p:nvSpPr>
          <p:spPr>
            <a:xfrm>
              <a:off x="7030982" y="2777423"/>
              <a:ext cx="685765" cy="249369"/>
            </a:xfrm>
            <a:prstGeom prst="roundRect">
              <a:avLst>
                <a:gd name="adj" fmla="val 125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0651" y="2837895"/>
              <a:ext cx="489636" cy="157975"/>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1.0 (기준)</a:t>
              </a:r>
            </a:p>
          </p:txBody>
        </p:sp>
        <p:sp>
          <p:nvSpPr>
            <p:cNvPr id="33" name="TextBox 32"/>
            <p:cNvSpPr txBox="1"/>
            <p:nvPr/>
          </p:nvSpPr>
          <p:spPr>
            <a:xfrm>
              <a:off x="6573805" y="3133190"/>
              <a:ext cx="260248" cy="165498"/>
            </a:xfrm>
            <a:prstGeom prst="rect">
              <a:avLst/>
            </a:prstGeom>
            <a:noFill/>
          </p:spPr>
          <p:txBody>
            <a:bodyPr wrap="none" anchor="ctr" lIns="0" rIns="0" tIns="0" bIns="0">
              <a:noAutofit/>
            </a:bodyPr>
            <a:lstStyle/>
            <a:p>
              <a:pPr algn="l"/>
              <a:r>
                <a:rPr sz="900" b="1">
                  <a:solidFill>
                    <a:srgbClr val="083F80"/>
                  </a:solidFill>
                  <a:latin typeface="맑은 고딕"/>
                  <a:ea typeface="맑은 고딕"/>
                  <a:cs typeface="맑은 고딕"/>
                </a:rPr>
                <a:t>TCP</a:t>
              </a:r>
            </a:p>
          </p:txBody>
        </p:sp>
        <p:sp>
          <p:nvSpPr>
            <p:cNvPr id="34" name="Rounded Rectangle 33"/>
            <p:cNvSpPr/>
            <p:nvPr/>
          </p:nvSpPr>
          <p:spPr>
            <a:xfrm>
              <a:off x="7030982" y="3089134"/>
              <a:ext cx="2815793" cy="249369"/>
            </a:xfrm>
            <a:prstGeom prst="roundRect">
              <a:avLst>
                <a:gd name="adj" fmla="val 12500"/>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50678" y="3129865"/>
              <a:ext cx="386990" cy="195589"/>
            </a:xfrm>
            <a:prstGeom prst="rect">
              <a:avLst/>
            </a:prstGeom>
            <a:noFill/>
          </p:spPr>
          <p:txBody>
            <a:bodyPr wrap="none" anchor="ctr" lIns="0" rIns="0" tIns="0" bIns="0">
              <a:noAutofit/>
            </a:bodyPr>
            <a:lstStyle/>
            <a:p>
              <a:pPr algn="l"/>
              <a:r>
                <a:rPr sz="1060" b="1">
                  <a:solidFill>
                    <a:srgbClr val="083F80"/>
                  </a:solidFill>
                  <a:latin typeface="맑은 고딕"/>
                  <a:ea typeface="맑은 고딕"/>
                  <a:cs typeface="맑은 고딕"/>
                </a:rPr>
                <a:t>4.1×</a:t>
              </a:r>
            </a:p>
          </p:txBody>
        </p:sp>
        <p:sp>
          <p:nvSpPr>
            <p:cNvPr id="36" name="TextBox 35"/>
            <p:cNvSpPr txBox="1"/>
            <p:nvPr/>
          </p:nvSpPr>
          <p:spPr>
            <a:xfrm>
              <a:off x="7030982" y="3452590"/>
              <a:ext cx="1199803" cy="142930"/>
            </a:xfrm>
            <a:prstGeom prst="rect">
              <a:avLst/>
            </a:prstGeom>
            <a:noFill/>
          </p:spPr>
          <p:txBody>
            <a:bodyPr wrap="none" anchor="ctr" lIns="0" rIns="0" tIns="0" bIns="0">
              <a:noAutofit/>
            </a:bodyPr>
            <a:lstStyle/>
            <a:p>
              <a:pPr algn="l"/>
              <a:r>
                <a:rPr sz="780" b="0">
                  <a:solidFill>
                    <a:srgbClr val="5B6B7B"/>
                  </a:solidFill>
                  <a:latin typeface="맑은 고딕"/>
                  <a:ea typeface="맑은 고딕"/>
                  <a:cs typeface="맑은 고딕"/>
                </a:rPr>
                <a:t>막대 길이 = 와트당 성능 배수</a:t>
              </a:r>
            </a:p>
          </p:txBody>
        </p:sp>
        <p:cxnSp>
          <p:nvCxnSpPr>
            <p:cNvPr id="37" name="Connector 36"/>
            <p:cNvCxnSpPr/>
            <p:nvPr/>
          </p:nvCxnSpPr>
          <p:spPr>
            <a:xfrm>
              <a:off x="1316273" y="3774899"/>
              <a:ext cx="9559149" cy="0"/>
            </a:xfrm>
            <a:prstGeom prst="line">
              <a:avLst/>
            </a:prstGeom>
            <a:ln w="14546">
              <a:solidFill>
                <a:srgbClr val="D6DEE7"/>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316273" y="3894389"/>
              <a:ext cx="3386225" cy="188066"/>
            </a:xfrm>
            <a:prstGeom prst="rect">
              <a:avLst/>
            </a:prstGeom>
            <a:noFill/>
          </p:spPr>
          <p:txBody>
            <a:bodyPr wrap="none" anchor="ctr" lIns="0" rIns="0" tIns="0" bIns="0">
              <a:noAutofit/>
            </a:bodyPr>
            <a:lstStyle/>
            <a:p>
              <a:pPr algn="l"/>
              <a:r>
                <a:rPr sz="1019" b="1">
                  <a:solidFill>
                    <a:srgbClr val="B45409"/>
                  </a:solidFill>
                  <a:latin typeface="맑은 고딕"/>
                  <a:ea typeface="맑은 고딕"/>
                  <a:cs typeface="맑은 고딕"/>
                </a:rPr>
                <a:t>이 수치를 읽을 때 함께 말해야 하는 것 — 논문이 직접 밝힌 조건</a:t>
              </a:r>
            </a:p>
          </p:txBody>
        </p:sp>
        <p:sp>
          <p:nvSpPr>
            <p:cNvPr id="39" name="Rounded Rectangle 38"/>
            <p:cNvSpPr/>
            <p:nvPr/>
          </p:nvSpPr>
          <p:spPr>
            <a:xfrm>
              <a:off x="1316273" y="4169734"/>
              <a:ext cx="3117114" cy="1371530"/>
            </a:xfrm>
            <a:prstGeom prst="roundRect">
              <a:avLst>
                <a:gd name="adj" fmla="val 6060"/>
              </a:avLst>
            </a:prstGeom>
            <a:solidFill>
              <a:srgbClr val="FDEBD3"/>
            </a:solidFill>
            <a:ln w="1870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24080" y="4295250"/>
              <a:ext cx="1039869" cy="180543"/>
            </a:xfrm>
            <a:prstGeom prst="rect">
              <a:avLst/>
            </a:prstGeom>
            <a:noFill/>
          </p:spPr>
          <p:txBody>
            <a:bodyPr wrap="none" anchor="ctr" lIns="0" rIns="0" tIns="0" bIns="0">
              <a:noAutofit/>
            </a:bodyPr>
            <a:lstStyle/>
            <a:p>
              <a:pPr algn="l"/>
              <a:r>
                <a:rPr sz="980" b="1">
                  <a:solidFill>
                    <a:srgbClr val="B45409"/>
                  </a:solidFill>
                  <a:latin typeface="맑은 고딕"/>
                  <a:ea typeface="맑은 고딕"/>
                  <a:cs typeface="맑은 고딕"/>
                </a:rPr>
                <a:t>전력은 TDP 값이다</a:t>
              </a:r>
            </a:p>
          </p:txBody>
        </p:sp>
        <p:sp>
          <p:nvSpPr>
            <p:cNvPr id="41" name="TextBox 40"/>
            <p:cNvSpPr txBox="1"/>
            <p:nvPr/>
          </p:nvSpPr>
          <p:spPr>
            <a:xfrm>
              <a:off x="1524080" y="4562698"/>
              <a:ext cx="1015930"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양쪽 다 실측이 아니다</a:t>
              </a:r>
            </a:p>
          </p:txBody>
        </p:sp>
        <p:sp>
          <p:nvSpPr>
            <p:cNvPr id="42" name="TextBox 41"/>
            <p:cNvSpPr txBox="1"/>
            <p:nvPr/>
          </p:nvSpPr>
          <p:spPr>
            <a:xfrm>
              <a:off x="1524080" y="4780896"/>
              <a:ext cx="1214381"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GPU 실측이 어려워서라고</a:t>
              </a:r>
            </a:p>
          </p:txBody>
        </p:sp>
        <p:sp>
          <p:nvSpPr>
            <p:cNvPr id="43" name="TextBox 42"/>
            <p:cNvSpPr txBox="1"/>
            <p:nvPr/>
          </p:nvSpPr>
          <p:spPr>
            <a:xfrm>
              <a:off x="1524080" y="4999094"/>
              <a:ext cx="991492"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논문이 스스로 적는다</a:t>
              </a:r>
            </a:p>
          </p:txBody>
        </p:sp>
        <p:sp>
          <p:nvSpPr>
            <p:cNvPr id="44" name="Rounded Rectangle 43"/>
            <p:cNvSpPr/>
            <p:nvPr/>
          </p:nvSpPr>
          <p:spPr>
            <a:xfrm>
              <a:off x="4537291" y="4169734"/>
              <a:ext cx="3117114" cy="1371530"/>
            </a:xfrm>
            <a:prstGeom prst="roundRect">
              <a:avLst>
                <a:gd name="adj" fmla="val 6060"/>
              </a:avLst>
            </a:prstGeom>
            <a:solidFill>
              <a:srgbClr val="FDEBD3"/>
            </a:solidFill>
            <a:ln w="1870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45098" y="4295250"/>
              <a:ext cx="876158" cy="180543"/>
            </a:xfrm>
            <a:prstGeom prst="rect">
              <a:avLst/>
            </a:prstGeom>
            <a:noFill/>
          </p:spPr>
          <p:txBody>
            <a:bodyPr wrap="none" anchor="ctr" lIns="0" rIns="0" tIns="0" bIns="0">
              <a:noAutofit/>
            </a:bodyPr>
            <a:lstStyle/>
            <a:p>
              <a:pPr algn="l"/>
              <a:r>
                <a:rPr sz="980" b="1">
                  <a:solidFill>
                    <a:srgbClr val="B45409"/>
                  </a:solidFill>
                  <a:latin typeface="맑은 고딕"/>
                  <a:ea typeface="맑은 고딕"/>
                  <a:cs typeface="맑은 고딕"/>
                </a:rPr>
                <a:t>정밀도가 다르다</a:t>
              </a:r>
            </a:p>
          </p:txBody>
        </p:sp>
        <p:sp>
          <p:nvSpPr>
            <p:cNvPr id="46" name="TextBox 45"/>
            <p:cNvSpPr txBox="1"/>
            <p:nvPr/>
          </p:nvSpPr>
          <p:spPr>
            <a:xfrm>
              <a:off x="4745098" y="4562698"/>
              <a:ext cx="1367119"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TCP 는 INT8, NVIDIA 는 FP8</a:t>
              </a:r>
            </a:p>
          </p:txBody>
        </p:sp>
        <p:sp>
          <p:nvSpPr>
            <p:cNvPr id="47" name="TextBox 46"/>
            <p:cNvSpPr txBox="1"/>
            <p:nvPr/>
          </p:nvSpPr>
          <p:spPr>
            <a:xfrm>
              <a:off x="4745098" y="4780896"/>
              <a:ext cx="1293805"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LLaMA-2 7B 용 FP8 모델이</a:t>
              </a:r>
            </a:p>
          </p:txBody>
        </p:sp>
        <p:sp>
          <p:nvSpPr>
            <p:cNvPr id="48" name="TextBox 47"/>
            <p:cNvSpPr txBox="1"/>
            <p:nvPr/>
          </p:nvSpPr>
          <p:spPr>
            <a:xfrm>
              <a:off x="4745098" y="4999094"/>
              <a:ext cx="891121"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아직 없기 때문이다</a:t>
              </a:r>
            </a:p>
          </p:txBody>
        </p:sp>
        <p:sp>
          <p:nvSpPr>
            <p:cNvPr id="49" name="TextBox 48"/>
            <p:cNvSpPr txBox="1"/>
            <p:nvPr/>
          </p:nvSpPr>
          <p:spPr>
            <a:xfrm>
              <a:off x="4745098" y="5217292"/>
              <a:ext cx="1516149"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TCP 는 FP8 과 INT8 성능이 같다</a:t>
              </a:r>
            </a:p>
          </p:txBody>
        </p:sp>
        <p:sp>
          <p:nvSpPr>
            <p:cNvPr id="50" name="Rounded Rectangle 49"/>
            <p:cNvSpPr/>
            <p:nvPr/>
          </p:nvSpPr>
          <p:spPr>
            <a:xfrm>
              <a:off x="7758308" y="4169734"/>
              <a:ext cx="3117114" cy="1371530"/>
            </a:xfrm>
            <a:prstGeom prst="roundRect">
              <a:avLst>
                <a:gd name="adj" fmla="val 6060"/>
              </a:avLst>
            </a:prstGeom>
            <a:solidFill>
              <a:srgbClr val="E3EEFB"/>
            </a:solidFill>
            <a:ln w="1870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66116" y="4295250"/>
              <a:ext cx="532029" cy="180543"/>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최선의 뜻</a:t>
              </a:r>
            </a:p>
          </p:txBody>
        </p:sp>
        <p:sp>
          <p:nvSpPr>
            <p:cNvPr id="52" name="TextBox 51"/>
            <p:cNvSpPr txBox="1"/>
            <p:nvPr/>
          </p:nvSpPr>
          <p:spPr>
            <a:xfrm>
              <a:off x="7966116" y="4562698"/>
              <a:ext cx="891121"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성능 최대가 아니라</a:t>
              </a:r>
            </a:p>
          </p:txBody>
        </p:sp>
        <p:sp>
          <p:nvSpPr>
            <p:cNvPr id="53" name="TextBox 52"/>
            <p:cNvSpPr txBox="1"/>
            <p:nvPr/>
          </p:nvSpPr>
          <p:spPr>
            <a:xfrm>
              <a:off x="7966116" y="4780896"/>
              <a:ext cx="1153067"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주어진 성능·전력 요구를</a:t>
              </a:r>
            </a:p>
          </p:txBody>
        </p:sp>
        <p:sp>
          <p:nvSpPr>
            <p:cNvPr id="54" name="TextBox 53"/>
            <p:cNvSpPr txBox="1"/>
            <p:nvPr/>
          </p:nvSpPr>
          <p:spPr>
            <a:xfrm>
              <a:off x="7966116" y="4999094"/>
              <a:ext cx="1091863" cy="157975"/>
            </a:xfrm>
            <a:prstGeom prst="rect">
              <a:avLst/>
            </a:prstGeom>
            <a:noFill/>
          </p:spPr>
          <p:txBody>
            <a:bodyPr wrap="none" anchor="ctr" lIns="0" rIns="0" tIns="0" bIns="0">
              <a:noAutofit/>
            </a:bodyPr>
            <a:lstStyle/>
            <a:p>
              <a:pPr algn="l"/>
              <a:r>
                <a:rPr sz="860" b="0">
                  <a:solidFill>
                    <a:srgbClr val="16202C"/>
                  </a:solidFill>
                  <a:latin typeface="맑은 고딕"/>
                  <a:ea typeface="맑은 고딕"/>
                  <a:cs typeface="맑은 고딕"/>
                </a:rPr>
                <a:t>만족하는 구성을 고른다</a:t>
              </a:r>
            </a:p>
          </p:txBody>
        </p:sp>
        <p:sp>
          <p:nvSpPr>
            <p:cNvPr id="55" name="TextBox 54"/>
            <p:cNvSpPr txBox="1"/>
            <p:nvPr/>
          </p:nvSpPr>
          <p:spPr>
            <a:xfrm>
              <a:off x="7966116" y="5217292"/>
              <a:ext cx="1360792" cy="157975"/>
            </a:xfrm>
            <a:prstGeom prst="rect">
              <a:avLst/>
            </a:prstGeom>
            <a:noFill/>
          </p:spPr>
          <p:txBody>
            <a:bodyPr wrap="none" anchor="ctr" lIns="0" rIns="0" tIns="0" bIns="0">
              <a:noAutofit/>
            </a:bodyPr>
            <a:lstStyle/>
            <a:p>
              <a:pPr algn="l"/>
              <a:r>
                <a:rPr sz="860" b="0">
                  <a:solidFill>
                    <a:srgbClr val="0B5FC0"/>
                  </a:solidFill>
                  <a:latin typeface="맑은 고딕"/>
                  <a:ea typeface="맑은 고딕"/>
                  <a:cs typeface="맑은 고딕"/>
                </a:rPr>
                <a:t>→ Fig. 14 의 Opt.1/2/3 논리</a:t>
              </a:r>
            </a:p>
          </p:txBody>
        </p:sp>
      </p:grpSp>
      <p:sp>
        <p:nvSpPr>
          <p:cNvPr id="56" name="Rectangle 5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결론의 2.7배·4.1배는 TDP 기준 와트당 성능이며, 논문이 그 한계를 직접 인정한다</a:t>
            </a:r>
          </a:p>
        </p:txBody>
      </p:sp>
      <p:sp>
        <p:nvSpPr>
          <p:cNvPr id="57" name="Rectangle 5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VIII. 결론 (2/2) — 컴파일러와 성과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와트당 성능 2.7배 / 4.1배, 그리고 그 수치가 성립하는 조건</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266</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2.7배·4.1배는 LLaMA-2 7B 사례 연구의 와트당 성능이며, 결론의 마지막 문장이다</a:t>
            </a:r>
          </a:p>
          <a:p>
            <a:pPr algn="l">
              <a:lnSpc>
                <a:spcPct val="118000"/>
              </a:lnSpc>
              <a:spcBef>
                <a:spcPts val="600"/>
              </a:spcBef>
              <a:spcAft>
                <a:spcPts val="200"/>
              </a:spcAft>
            </a:pPr>
            <a:r>
              <a:rPr sz="1900" b="1" i="0">
                <a:solidFill>
                  <a:srgbClr val="083F80"/>
                </a:solidFill>
                <a:latin typeface="Segoe UI"/>
                <a:ea typeface="맑은 고딕"/>
                <a:cs typeface="맑은 고딕"/>
              </a:rPr>
              <a:t>▪  논문 각주가 비교의 한계를 직접 적는다 — GPU 실측이 어려워 양쪽 모두 TDP 를 썼고, 정확하지는 않지만 실제 소비 전력의 합리적 근사로 본다고 밝힌다</a:t>
            </a:r>
          </a:p>
          <a:p>
            <a:pPr algn="l">
              <a:lnSpc>
                <a:spcPct val="118000"/>
              </a:lnSpc>
              <a:spcBef>
                <a:spcPts val="600"/>
              </a:spcBef>
              <a:spcAft>
                <a:spcPts val="200"/>
              </a:spcAft>
            </a:pPr>
            <a:r>
              <a:rPr sz="1900" b="0" i="0">
                <a:solidFill>
                  <a:srgbClr val="16202C"/>
                </a:solidFill>
                <a:latin typeface="Segoe UI"/>
                <a:ea typeface="맑은 고딕"/>
                <a:cs typeface="맑은 고딕"/>
              </a:rPr>
              <a:t>▪  TCP 는 FP8 과 INT8 성능이 같으므로 정밀도 차이가 TCP 쪽에 유리하게 작용하지는 않는다는 것이 논문의 주장이다</a:t>
            </a:r>
          </a:p>
          <a:p>
            <a:pPr algn="l">
              <a:lnSpc>
                <a:spcPct val="118000"/>
              </a:lnSpc>
              <a:spcBef>
                <a:spcPts val="600"/>
              </a:spcBef>
              <a:spcAft>
                <a:spcPts val="200"/>
              </a:spcAft>
            </a:pPr>
            <a:r>
              <a:rPr sz="1900" b="0" i="0">
                <a:solidFill>
                  <a:srgbClr val="16202C"/>
                </a:solidFill>
                <a:latin typeface="Segoe UI"/>
                <a:ea typeface="맑은 고딕"/>
                <a:cs typeface="맑은 고딕"/>
              </a:rPr>
              <a:t>▪  컴파일러는 텐서 형상 선택지와 그 순서를 탐색해 '주어진 요구를 만족하는' 구성을 내놓는다. 최대 성능이 목표가 아니다</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267</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H100 대비 2.7× / L40s 대비 4.1×</a:t>
            </a:r>
          </a:p>
        </p:txBody>
      </p:sp>
      <p:sp>
        <p:nvSpPr>
          <p:cNvPr id="9" name="TextBox 8"/>
          <p:cNvSpPr txBox="1"/>
          <p:nvPr/>
        </p:nvSpPr>
        <p:spPr>
          <a:xfrm>
            <a:off x="1097280" y="4206240"/>
            <a:ext cx="9997135" cy="914400"/>
          </a:xfrm>
          <a:prstGeom prst="rect">
            <a:avLst/>
          </a:prstGeom>
          <a:noFill/>
        </p:spPr>
        <p:txBody>
          <a:bodyPr wrap="square" anchor="t" lIns="0" rIns="0" tIns="0" bIns="0">
            <a:spAutoFit/>
          </a:bodyPr>
          <a:lstStyle/>
          <a:p>
            <a:pPr algn="ctr">
              <a:lnSpc>
                <a:spcPct val="118000"/>
              </a:lnSpc>
              <a:spcBef>
                <a:spcPts val="0"/>
              </a:spcBef>
              <a:spcAft>
                <a:spcPts val="0"/>
              </a:spcAft>
            </a:pPr>
            <a:r>
              <a:rPr sz="1600" b="0" i="0">
                <a:solidFill>
                  <a:srgbClr val="5B6B7B"/>
                </a:solidFill>
                <a:latin typeface="Segoe UI"/>
                <a:ea typeface="맑은 고딕"/>
                <a:cs typeface="맑은 고딕"/>
              </a:rPr>
              <a:t>LLaMA-2 7B, 와트당 성능 (TDP 기준) — 논문의 마지막 문장</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감사의 글, 그리고 논문이 밝히지 않은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268</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Acknowledgements (감사의 글) — 원문</a:t>
            </a:r>
          </a:p>
          <a:p>
            <a:pPr algn="l">
              <a:lnSpc>
                <a:spcPct val="118000"/>
              </a:lnSpc>
              <a:spcBef>
                <a:spcPts val="200"/>
              </a:spcBef>
              <a:spcAft>
                <a:spcPts val="100"/>
              </a:spcAft>
            </a:pPr>
            <a:r>
              <a:rPr sz="1480" b="0" i="0">
                <a:solidFill>
                  <a:srgbClr val="2C3A4B"/>
                </a:solidFill>
                <a:latin typeface="Segoe UI"/>
                <a:ea typeface="맑은 고딕"/>
                <a:cs typeface="맑은 고딕"/>
              </a:rPr>
              <a:t>–  칩 개발에 팀으로 기여한 FuriosaAI의 모든 구성원에게 감사한다</a:t>
            </a:r>
          </a:p>
          <a:p>
            <a:pPr algn="l">
              <a:lnSpc>
                <a:spcPct val="118000"/>
              </a:lnSpc>
              <a:spcBef>
                <a:spcPts val="200"/>
              </a:spcBef>
              <a:spcAft>
                <a:spcPts val="100"/>
              </a:spcAft>
            </a:pPr>
            <a:r>
              <a:rPr sz="1480" b="0" i="0">
                <a:solidFill>
                  <a:srgbClr val="2C3A4B"/>
                </a:solidFill>
                <a:latin typeface="Segoe UI"/>
                <a:ea typeface="맑은 고딕"/>
                <a:cs typeface="맑은 고딕"/>
              </a:rPr>
              <a:t>–  특히 Algorithm Team — 중요한 아키텍처 결정을 도왔고 성능 평가용 모델을 준비했다</a:t>
            </a:r>
          </a:p>
          <a:p>
            <a:pPr algn="l">
              <a:lnSpc>
                <a:spcPct val="118000"/>
              </a:lnSpc>
              <a:spcBef>
                <a:spcPts val="200"/>
              </a:spcBef>
              <a:spcAft>
                <a:spcPts val="100"/>
              </a:spcAft>
            </a:pPr>
            <a:r>
              <a:rPr sz="1480" b="0" i="0">
                <a:solidFill>
                  <a:srgbClr val="2C3A4B"/>
                </a:solidFill>
                <a:latin typeface="Segoe UI"/>
                <a:ea typeface="맑은 고딕"/>
                <a:cs typeface="맑은 고딕"/>
              </a:rPr>
              <a:t>–  그리고 Platform Team — 확장 가능한 인프라를 통한 검증을 포함해 소프트웨어·하드웨어 개발 전 영역을 지원했다</a:t>
            </a:r>
          </a:p>
          <a:p>
            <a:pPr algn="l">
              <a:lnSpc>
                <a:spcPct val="118000"/>
              </a:lnSpc>
              <a:spcBef>
                <a:spcPts val="200"/>
              </a:spcBef>
              <a:spcAft>
                <a:spcPts val="100"/>
              </a:spcAft>
            </a:pPr>
            <a:r>
              <a:rPr sz="1480" b="0" i="0">
                <a:solidFill>
                  <a:srgbClr val="2C3A4B"/>
                </a:solidFill>
                <a:latin typeface="Segoe UI"/>
                <a:ea typeface="맑은 고딕"/>
                <a:cs typeface="맑은 고딕"/>
              </a:rPr>
              <a:t>–  초고에 피드백과 제안을 준 익명의 ISCA 리뷰어들에게도 감사한다</a:t>
            </a:r>
          </a:p>
          <a:p>
            <a:pPr algn="l">
              <a:lnSpc>
                <a:spcPct val="118000"/>
              </a:lnSpc>
              <a:spcBef>
                <a:spcPts val="200"/>
              </a:spcBef>
              <a:spcAft>
                <a:spcPts val="100"/>
              </a:spcAft>
            </a:pPr>
            <a:r>
              <a:rPr sz="1480" b="0" i="0">
                <a:solidFill>
                  <a:srgbClr val="2C3A4B"/>
                </a:solidFill>
                <a:latin typeface="Segoe UI"/>
                <a:ea typeface="맑은 고딕"/>
                <a:cs typeface="맑은 고딕"/>
              </a:rPr>
              <a:t>–  저자가 51명이고 소속은 FuriosaAI, 리스본대(INESC-ID/IST), 서울대 세 곳이다</a:t>
            </a:r>
          </a:p>
          <a:p>
            <a:pPr algn="l">
              <a:lnSpc>
                <a:spcPct val="118000"/>
              </a:lnSpc>
              <a:spcBef>
                <a:spcPts val="600"/>
              </a:spcBef>
              <a:spcAft>
                <a:spcPts val="200"/>
              </a:spcAft>
            </a:pPr>
            <a:r>
              <a:rPr sz="1600" b="1" i="0">
                <a:solidFill>
                  <a:srgbClr val="083F80"/>
                </a:solidFill>
                <a:latin typeface="Segoe UI"/>
                <a:ea typeface="맑은 고딕"/>
                <a:cs typeface="맑은 고딕"/>
              </a:rPr>
              <a:t>▪  제7·8장이 답하지 않는 것들 (정직하게 짚고 갈 부분)</a:t>
            </a:r>
          </a:p>
          <a:p>
            <a:pPr algn="l">
              <a:lnSpc>
                <a:spcPct val="118000"/>
              </a:lnSpc>
              <a:spcBef>
                <a:spcPts val="200"/>
              </a:spcBef>
              <a:spcAft>
                <a:spcPts val="100"/>
              </a:spcAft>
            </a:pPr>
            <a:r>
              <a:rPr sz="1480" b="0" i="0">
                <a:solidFill>
                  <a:srgbClr val="2C3A4B"/>
                </a:solidFill>
                <a:latin typeface="Segoe UI"/>
                <a:ea typeface="맑은 고딕"/>
                <a:cs typeface="맑은 고딕"/>
              </a:rPr>
              <a:t>–  비용 모델의 예측 정확도(오차율)를 밝히지 않는다</a:t>
            </a:r>
          </a:p>
          <a:p>
            <a:pPr algn="l">
              <a:lnSpc>
                <a:spcPct val="118000"/>
              </a:lnSpc>
              <a:spcBef>
                <a:spcPts val="200"/>
              </a:spcBef>
              <a:spcAft>
                <a:spcPts val="100"/>
              </a:spcAft>
            </a:pPr>
            <a:r>
              <a:rPr sz="1480" b="0" i="0">
                <a:solidFill>
                  <a:srgbClr val="2C3A4B"/>
                </a:solidFill>
                <a:latin typeface="Segoe UI"/>
                <a:ea typeface="맑은 고딕"/>
                <a:cs typeface="맑은 고딕"/>
              </a:rPr>
              <a:t>–  다중 컨텍스트가 데이터 이동 오버헤드를 얼마나 숨기는지 정량 수치가 없다</a:t>
            </a:r>
          </a:p>
          <a:p>
            <a:pPr algn="l">
              <a:lnSpc>
                <a:spcPct val="118000"/>
              </a:lnSpc>
              <a:spcBef>
                <a:spcPts val="200"/>
              </a:spcBef>
              <a:spcAft>
                <a:spcPts val="100"/>
              </a:spcAft>
            </a:pPr>
            <a:r>
              <a:rPr sz="1480" b="0" i="0">
                <a:solidFill>
                  <a:srgbClr val="2C3A4B"/>
                </a:solidFill>
                <a:latin typeface="Segoe UI"/>
                <a:ea typeface="맑은 고딕"/>
                <a:cs typeface="맑은 고딕"/>
              </a:rPr>
              <a:t>–  bridge operator의 실제 비용, 전역 최적화의 탐색 공간 크기, 컴파일 소요 시간이 없다</a:t>
            </a:r>
          </a:p>
          <a:p>
            <a:pPr algn="l">
              <a:lnSpc>
                <a:spcPct val="118000"/>
              </a:lnSpc>
              <a:spcBef>
                <a:spcPts val="200"/>
              </a:spcBef>
              <a:spcAft>
                <a:spcPts val="100"/>
              </a:spcAft>
            </a:pPr>
            <a:r>
              <a:rPr sz="1480" b="0" i="0">
                <a:solidFill>
                  <a:srgbClr val="2C3A4B"/>
                </a:solidFill>
                <a:latin typeface="Segoe UI"/>
                <a:ea typeface="맑은 고딕"/>
                <a:cs typeface="맑은 고딕"/>
              </a:rPr>
              <a:t>–  교훈 절 전체에 실패 사례나 '이렇게 했다가 되돌렸다'는 서술이 없다 — 성공한 설계 결정만 회고한다</a:t>
            </a:r>
          </a:p>
          <a:p>
            <a:pPr algn="l">
              <a:lnSpc>
                <a:spcPct val="118000"/>
              </a:lnSpc>
              <a:spcBef>
                <a:spcPts val="200"/>
              </a:spcBef>
              <a:spcAft>
                <a:spcPts val="100"/>
              </a:spcAft>
            </a:pPr>
            <a:r>
              <a:rPr sz="1480" b="0" i="0">
                <a:solidFill>
                  <a:srgbClr val="2C3A4B"/>
                </a:solidFill>
                <a:latin typeface="Segoe UI"/>
                <a:ea typeface="맑은 고딕"/>
                <a:cs typeface="맑은 고딕"/>
              </a:rPr>
              <a:t>–  세밀 희소성(fine-grained sparsity)은 면적·전력 오버헤드 때문에 지원하지 않기로 했다고 제3장에서 밝히지만, 교훈 절에서는 다루지 않는다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논문이 말한 것과 말하지 않은 것을 구분해 두는 것이 이 절을 제대로 쓰는 법이다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9부 · LESSONS LEARNED · CONCLUSION</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정리 — 이 다섯 문단에서 실무자가 가져갈 것</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이하는 발표자 해석이며 논문 본문의 주장이 아니다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269</a:t>
            </a:r>
          </a:p>
        </p:txBody>
      </p:sp>
      <p:sp>
        <p:nvSpPr>
          <p:cNvPr id="9" name="TextBox 8"/>
          <p:cNvSpPr txBox="1"/>
          <p:nvPr/>
        </p:nvSpPr>
        <p:spPr>
          <a:xfrm>
            <a:off x="566928" y="1828800"/>
            <a:ext cx="11057839" cy="3730752"/>
          </a:xfrm>
          <a:prstGeom prst="rect">
            <a:avLst/>
          </a:prstGeom>
          <a:noFill/>
        </p:spPr>
        <p:txBody>
          <a:bodyPr wrap="square" anchor="t" lIns="0" rIns="0" tIns="0" bIns="0">
            <a:spAutoFit/>
          </a:bodyPr>
          <a:lstStyle/>
          <a:p>
            <a:pPr algn="l">
              <a:lnSpc>
                <a:spcPct val="118000"/>
              </a:lnSpc>
              <a:spcBef>
                <a:spcPts val="200"/>
              </a:spcBef>
              <a:spcAft>
                <a:spcPts val="200"/>
              </a:spcAft>
            </a:pPr>
            <a:r>
              <a:rPr sz="1600" b="1" i="0">
                <a:solidFill>
                  <a:srgbClr val="083F80"/>
                </a:solidFill>
                <a:latin typeface="Segoe UI"/>
                <a:ea typeface="맑은 고딕"/>
                <a:cs typeface="맑은 고딕"/>
              </a:rPr>
              <a:t>▪  1. 하드웨어의 결정론이 소프트웨어의 최적화 가능성을 만든다</a:t>
            </a:r>
          </a:p>
          <a:p>
            <a:pPr algn="l">
              <a:lnSpc>
                <a:spcPct val="118000"/>
              </a:lnSpc>
              <a:spcBef>
                <a:spcPts val="200"/>
              </a:spcBef>
              <a:spcAft>
                <a:spcPts val="100"/>
              </a:spcAft>
            </a:pPr>
            <a:r>
              <a:rPr sz="1480" b="0" i="0">
                <a:solidFill>
                  <a:srgbClr val="2C3A4B"/>
                </a:solidFill>
                <a:latin typeface="Segoe UI"/>
                <a:ea typeface="맑은 고딕"/>
                <a:cs typeface="맑은 고딕"/>
              </a:rPr>
              <a:t>–  캐시 대신 스크래치패드, 투기적 실행 대신 소프트웨어 정의 시퀀서 — 예측 가능성이 곧 컴파일러의 재료다</a:t>
            </a:r>
          </a:p>
          <a:p>
            <a:pPr algn="l">
              <a:lnSpc>
                <a:spcPct val="118000"/>
              </a:lnSpc>
              <a:spcBef>
                <a:spcPts val="600"/>
              </a:spcBef>
              <a:spcAft>
                <a:spcPts val="200"/>
              </a:spcAft>
            </a:pPr>
            <a:r>
              <a:rPr sz="1600" b="1" i="0">
                <a:solidFill>
                  <a:srgbClr val="083F80"/>
                </a:solidFill>
                <a:latin typeface="Segoe UI"/>
                <a:ea typeface="맑은 고딕"/>
                <a:cs typeface="맑은 고딕"/>
              </a:rPr>
              <a:t>▪  2. 유연성은 공짜가 아니라 컴파일러 부채로 청구된다</a:t>
            </a:r>
          </a:p>
          <a:p>
            <a:pPr algn="l">
              <a:lnSpc>
                <a:spcPct val="118000"/>
              </a:lnSpc>
              <a:spcBef>
                <a:spcPts val="200"/>
              </a:spcBef>
              <a:spcAft>
                <a:spcPts val="100"/>
              </a:spcAft>
            </a:pPr>
            <a:r>
              <a:rPr sz="1480" b="0" i="0">
                <a:solidFill>
                  <a:srgbClr val="2C3A4B"/>
                </a:solidFill>
                <a:latin typeface="Segoe UI"/>
                <a:ea typeface="맑은 고딕"/>
                <a:cs typeface="맑은 고딕"/>
              </a:rPr>
              <a:t>–  '아무 축이나 축약 가능'의 대가가 교훈 5의 탐색 공간 폭발이다. 하드웨어 자유도를 늘릴 때마다 매핑 문제가 커진다</a:t>
            </a:r>
          </a:p>
          <a:p>
            <a:pPr algn="l">
              <a:lnSpc>
                <a:spcPct val="118000"/>
              </a:lnSpc>
              <a:spcBef>
                <a:spcPts val="600"/>
              </a:spcBef>
              <a:spcAft>
                <a:spcPts val="200"/>
              </a:spcAft>
            </a:pPr>
            <a:r>
              <a:rPr sz="1600" b="1" i="0">
                <a:solidFill>
                  <a:srgbClr val="083F80"/>
                </a:solidFill>
                <a:latin typeface="Segoe UI"/>
                <a:ea typeface="맑은 고딕"/>
                <a:cs typeface="맑은 고딕"/>
              </a:rPr>
              <a:t>▪  3. 레이어 경계가 진짜 전장이다</a:t>
            </a:r>
          </a:p>
          <a:p>
            <a:pPr algn="l">
              <a:lnSpc>
                <a:spcPct val="118000"/>
              </a:lnSpc>
              <a:spcBef>
                <a:spcPts val="200"/>
              </a:spcBef>
              <a:spcAft>
                <a:spcPts val="100"/>
              </a:spcAft>
            </a:pPr>
            <a:r>
              <a:rPr sz="1480" b="0" i="0">
                <a:solidFill>
                  <a:srgbClr val="2C3A4B"/>
                </a:solidFill>
                <a:latin typeface="Segoe UI"/>
                <a:ea typeface="맑은 고딕"/>
                <a:cs typeface="맑은 고딕"/>
              </a:rPr>
              <a:t>–  연산자 하나를 아무리 잘 돌려도 레이어 사이 레이아웃 변환에서 다 까먹는다. 전역 최적화기와 bridge 비용 관리가 성능을 가른다</a:t>
            </a:r>
          </a:p>
          <a:p>
            <a:pPr algn="l">
              <a:lnSpc>
                <a:spcPct val="118000"/>
              </a:lnSpc>
              <a:spcBef>
                <a:spcPts val="600"/>
              </a:spcBef>
              <a:spcAft>
                <a:spcPts val="200"/>
              </a:spcAft>
            </a:pPr>
            <a:r>
              <a:rPr sz="1600" b="1" i="0">
                <a:solidFill>
                  <a:srgbClr val="083F80"/>
                </a:solidFill>
                <a:latin typeface="Segoe UI"/>
                <a:ea typeface="맑은 고딕"/>
                <a:cs typeface="맑은 고딕"/>
              </a:rPr>
              <a:t>▪  4. LLM 서빙 가속기라면 동적 형상은 옵션이 아니라 요건이다</a:t>
            </a:r>
          </a:p>
          <a:p>
            <a:pPr algn="l">
              <a:lnSpc>
                <a:spcPct val="118000"/>
              </a:lnSpc>
              <a:spcBef>
                <a:spcPts val="200"/>
              </a:spcBef>
              <a:spcAft>
                <a:spcPts val="100"/>
              </a:spcAft>
            </a:pPr>
            <a:r>
              <a:rPr sz="1480" b="0" i="0">
                <a:solidFill>
                  <a:srgbClr val="2C3A4B"/>
                </a:solidFill>
                <a:latin typeface="Segoe UI"/>
                <a:ea typeface="맑은 고딕"/>
                <a:cs typeface="맑은 고딕"/>
              </a:rPr>
              <a:t>–  형상을 제어 레지스터로 빼두고, 제어 흐름을 담당할 프로그래머블 코어를 함께 둔다</a:t>
            </a:r>
          </a:p>
          <a:p>
            <a:pPr algn="l">
              <a:lnSpc>
                <a:spcPct val="118000"/>
              </a:lnSpc>
              <a:spcBef>
                <a:spcPts val="600"/>
              </a:spcBef>
              <a:spcAft>
                <a:spcPts val="200"/>
              </a:spcAft>
            </a:pPr>
            <a:r>
              <a:rPr sz="1600" b="1" i="0">
                <a:solidFill>
                  <a:srgbClr val="083F80"/>
                </a:solidFill>
                <a:latin typeface="Segoe UI"/>
                <a:ea typeface="맑은 고딕"/>
                <a:cs typeface="맑은 고딕"/>
              </a:rPr>
              <a:t>▪  5. 트랜스포머의 반복 구조가 컴파일러를 구해 준다</a:t>
            </a:r>
          </a:p>
          <a:p>
            <a:pPr algn="l">
              <a:lnSpc>
                <a:spcPct val="118000"/>
              </a:lnSpc>
              <a:spcBef>
                <a:spcPts val="200"/>
              </a:spcBef>
              <a:spcAft>
                <a:spcPts val="100"/>
              </a:spcAft>
            </a:pPr>
            <a:r>
              <a:rPr sz="1480" b="0" i="0">
                <a:solidFill>
                  <a:srgbClr val="2C3A4B"/>
                </a:solidFill>
                <a:latin typeface="Segoe UI"/>
                <a:ea typeface="맑은 고딕"/>
                <a:cs typeface="맑은 고딕"/>
              </a:rPr>
              <a:t>–  바꿔 말하면 구조가 불규칙한 모델일수록 이 접근의 컴파일 난도가 올라간다는 뜻이기도 하다</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결정론 · 유연성의 대가 · 레이어 경계 · 동적 형상 · 구조의 규칙성</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6000" b="1" i="0">
                <a:solidFill>
                  <a:srgbClr val="C3D4E8"/>
                </a:solidFill>
                <a:latin typeface="Segoe UI"/>
                <a:ea typeface="맑은 고딕"/>
                <a:cs typeface="맑은 고딕"/>
              </a:rPr>
              <a:t>부록</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우리 서버 실측과의 대조</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논문이 말한 것과 우리가 측정한 것</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이 부록을 읽는 규칙 — 근거의 층위</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같은 숫자라도 무게가 다르다</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270</a:t>
            </a:r>
          </a:p>
        </p:txBody>
      </p:sp>
      <p:grpSp>
        <p:nvGrpSpPr>
          <p:cNvPr id="9" name="도해 A10#01"/>
          <p:cNvGrpSpPr/>
          <p:nvPr/>
        </p:nvGrpSpPr>
        <p:grpSpPr>
          <a:xfrm>
            <a:off x="1091785" y="1463040"/>
            <a:ext cx="10008126" cy="4078224"/>
            <a:chOff x="1091785" y="1463040"/>
            <a:chExt cx="10008126" cy="4078224"/>
          </a:xfrm>
        </p:grpSpPr>
        <p:sp>
          <p:nvSpPr>
            <p:cNvPr id="10" name="TextBox 9"/>
            <p:cNvSpPr txBox="1"/>
            <p:nvPr/>
          </p:nvSpPr>
          <p:spPr>
            <a:xfrm>
              <a:off x="1357680" y="1463040"/>
              <a:ext cx="2506608" cy="220911"/>
            </a:xfrm>
            <a:prstGeom prst="rect">
              <a:avLst/>
            </a:prstGeom>
            <a:noFill/>
          </p:spPr>
          <p:txBody>
            <a:bodyPr wrap="none" anchor="ctr" lIns="0" rIns="0" tIns="0" bIns="0">
              <a:noAutofit/>
            </a:bodyPr>
            <a:lstStyle/>
            <a:p>
              <a:pPr algn="l"/>
              <a:r>
                <a:rPr sz="1200" b="1">
                  <a:solidFill>
                    <a:srgbClr val="16202C"/>
                  </a:solidFill>
                  <a:latin typeface="맑은 고딕"/>
                  <a:ea typeface="맑은 고딕"/>
                  <a:cs typeface="맑은 고딕"/>
                </a:rPr>
                <a:t>근거의 층위 — 위로 갈수록 강한 근거다</a:t>
              </a:r>
            </a:p>
          </p:txBody>
        </p:sp>
        <p:cxnSp>
          <p:nvCxnSpPr>
            <p:cNvPr id="11" name="Connector 10"/>
            <p:cNvCxnSpPr/>
            <p:nvPr/>
          </p:nvCxnSpPr>
          <p:spPr>
            <a:xfrm>
              <a:off x="1161528" y="1966933"/>
              <a:ext cx="0" cy="2593570"/>
            </a:xfrm>
            <a:prstGeom prst="line">
              <a:avLst/>
            </a:prstGeom>
            <a:ln w="17435">
              <a:solidFill>
                <a:srgbClr val="5B6B7B"/>
              </a:solidFill>
            </a:ln>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1096144" y="4516913"/>
              <a:ext cx="130768" cy="217947"/>
            </a:xfrm>
            <a:custGeom>
              <a:avLst/>
              <a:gdLst/>
              <a:ahLst/>
              <a:cxnLst/>
              <a:rect l="l" t="t" r="r" b="b"/>
              <a:pathLst>
                <a:path w="130768" h="217947">
                  <a:moveTo>
                    <a:pt x="0" y="0"/>
                  </a:moveTo>
                  <a:lnTo>
                    <a:pt x="65384" y="217947"/>
                  </a:lnTo>
                  <a:lnTo>
                    <a:pt x="130768" y="0"/>
                  </a:lnTo>
                  <a:close/>
                </a:path>
              </a:pathLst>
            </a:cu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1785" y="1775140"/>
              <a:ext cx="139486" cy="157794"/>
            </a:xfrm>
            <a:prstGeom prst="rect">
              <a:avLst/>
            </a:prstGeom>
            <a:noFill/>
          </p:spPr>
          <p:txBody>
            <a:bodyPr wrap="none" anchor="ctr" lIns="0" rIns="0" tIns="0" bIns="0">
              <a:noAutofit/>
            </a:bodyPr>
            <a:lstStyle/>
            <a:p>
              <a:pPr algn="ctr"/>
              <a:r>
                <a:rPr sz="860" b="0">
                  <a:solidFill>
                    <a:srgbClr val="1A7F37"/>
                  </a:solidFill>
                  <a:latin typeface="맑은 고딕"/>
                  <a:ea typeface="맑은 고딕"/>
                  <a:cs typeface="맑은 고딕"/>
                </a:rPr>
                <a:t>강</a:t>
              </a:r>
            </a:p>
          </p:txBody>
        </p:sp>
        <p:sp>
          <p:nvSpPr>
            <p:cNvPr id="14" name="TextBox 13"/>
            <p:cNvSpPr txBox="1"/>
            <p:nvPr/>
          </p:nvSpPr>
          <p:spPr>
            <a:xfrm>
              <a:off x="1091785" y="4804603"/>
              <a:ext cx="139486" cy="157794"/>
            </a:xfrm>
            <a:prstGeom prst="rect">
              <a:avLst/>
            </a:prstGeom>
            <a:noFill/>
          </p:spPr>
          <p:txBody>
            <a:bodyPr wrap="none" anchor="ctr" lIns="0" rIns="0" tIns="0" bIns="0">
              <a:noAutofit/>
            </a:bodyPr>
            <a:lstStyle/>
            <a:p>
              <a:pPr algn="ctr"/>
              <a:r>
                <a:rPr sz="860" b="0">
                  <a:solidFill>
                    <a:srgbClr val="B4222A"/>
                  </a:solidFill>
                  <a:latin typeface="맑은 고딕"/>
                  <a:ea typeface="맑은 고딕"/>
                  <a:cs typeface="맑은 고딕"/>
                </a:rPr>
                <a:t>약</a:t>
              </a:r>
            </a:p>
          </p:txBody>
        </p:sp>
        <p:sp>
          <p:nvSpPr>
            <p:cNvPr id="15" name="Rounded Rectangle 14"/>
            <p:cNvSpPr/>
            <p:nvPr/>
          </p:nvSpPr>
          <p:spPr>
            <a:xfrm>
              <a:off x="1357680" y="1836165"/>
              <a:ext cx="6320463" cy="523073"/>
            </a:xfrm>
            <a:prstGeom prst="roundRect">
              <a:avLst>
                <a:gd name="adj" fmla="val 14583"/>
              </a:avLst>
            </a:prstGeom>
            <a:solidFill>
              <a:srgbClr val="E2F4E8"/>
            </a:solidFill>
            <a:ln w="1743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5627" y="1998754"/>
              <a:ext cx="311664" cy="205132"/>
            </a:xfrm>
            <a:prstGeom prst="rect">
              <a:avLst/>
            </a:prstGeom>
            <a:noFill/>
          </p:spPr>
          <p:txBody>
            <a:bodyPr wrap="none" anchor="ctr" lIns="0" rIns="0" tIns="0" bIns="0">
              <a:noAutofit/>
            </a:bodyPr>
            <a:lstStyle/>
            <a:p>
              <a:pPr algn="l"/>
              <a:r>
                <a:rPr sz="1120" b="1">
                  <a:solidFill>
                    <a:srgbClr val="1A7F37"/>
                  </a:solidFill>
                  <a:latin typeface="맑은 고딕"/>
                  <a:ea typeface="맑은 고딕"/>
                  <a:cs typeface="맑은 고딕"/>
                </a:rPr>
                <a:t>실측</a:t>
              </a:r>
            </a:p>
          </p:txBody>
        </p:sp>
        <p:cxnSp>
          <p:nvCxnSpPr>
            <p:cNvPr id="17" name="Connector 16"/>
            <p:cNvCxnSpPr/>
            <p:nvPr/>
          </p:nvCxnSpPr>
          <p:spPr>
            <a:xfrm>
              <a:off x="2883309" y="1923344"/>
              <a:ext cx="0" cy="348715"/>
            </a:xfrm>
            <a:prstGeom prst="line">
              <a:avLst/>
            </a:prstGeom>
            <a:ln w="10897">
              <a:solidFill>
                <a:srgbClr val="1A7F3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035872" y="1925959"/>
              <a:ext cx="1694494" cy="173573"/>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실제 하드웨어에서 돌려 관측한 것</a:t>
              </a:r>
            </a:p>
          </p:txBody>
        </p:sp>
        <p:sp>
          <p:nvSpPr>
            <p:cNvPr id="19" name="TextBox 18"/>
            <p:cNvSpPr txBox="1"/>
            <p:nvPr/>
          </p:nvSpPr>
          <p:spPr>
            <a:xfrm>
              <a:off x="3035872" y="2134753"/>
              <a:ext cx="2693171" cy="157794"/>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예 — 테스트 89개 격리 실행 → 80 통과 · MNIST 10장 정답</a:t>
              </a:r>
            </a:p>
          </p:txBody>
        </p:sp>
        <p:sp>
          <p:nvSpPr>
            <p:cNvPr id="20" name="Rounded Rectangle 19"/>
            <p:cNvSpPr/>
            <p:nvPr/>
          </p:nvSpPr>
          <p:spPr>
            <a:xfrm>
              <a:off x="1357680" y="2446417"/>
              <a:ext cx="6320463" cy="523073"/>
            </a:xfrm>
            <a:prstGeom prst="roundRect">
              <a:avLst>
                <a:gd name="adj" fmla="val 14583"/>
              </a:avLst>
            </a:prstGeom>
            <a:solidFill>
              <a:srgbClr val="E3EEFB"/>
            </a:solidFill>
            <a:ln w="17435">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5627" y="2609005"/>
              <a:ext cx="604487" cy="205132"/>
            </a:xfrm>
            <a:prstGeom prst="rect">
              <a:avLst/>
            </a:prstGeom>
            <a:noFill/>
          </p:spPr>
          <p:txBody>
            <a:bodyPr wrap="none" anchor="ctr" lIns="0" rIns="0" tIns="0" bIns="0">
              <a:noAutofit/>
            </a:bodyPr>
            <a:lstStyle/>
            <a:p>
              <a:pPr algn="l"/>
              <a:r>
                <a:rPr sz="1120" b="1">
                  <a:solidFill>
                    <a:srgbClr val="0B5FC0"/>
                  </a:solidFill>
                  <a:latin typeface="맑은 고딕"/>
                  <a:ea typeface="맑은 고딕"/>
                  <a:cs typeface="맑은 고딕"/>
                </a:rPr>
                <a:t>도구 산출</a:t>
              </a:r>
            </a:p>
          </p:txBody>
        </p:sp>
        <p:cxnSp>
          <p:nvCxnSpPr>
            <p:cNvPr id="22" name="Connector 21"/>
            <p:cNvCxnSpPr/>
            <p:nvPr/>
          </p:nvCxnSpPr>
          <p:spPr>
            <a:xfrm>
              <a:off x="2883309" y="2533596"/>
              <a:ext cx="0" cy="348715"/>
            </a:xfrm>
            <a:prstGeom prst="line">
              <a:avLst/>
            </a:prstGeom>
            <a:ln w="10897">
              <a:solidFill>
                <a:srgbClr val="0B5FC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35872" y="2536211"/>
              <a:ext cx="1487477" cy="173573"/>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컴파일러·드라이버가 뱉은 값</a:t>
              </a:r>
            </a:p>
          </p:txBody>
        </p:sp>
        <p:sp>
          <p:nvSpPr>
            <p:cNvPr id="24" name="TextBox 23"/>
            <p:cNvSpPr txBox="1"/>
            <p:nvPr/>
          </p:nvSpPr>
          <p:spPr>
            <a:xfrm>
              <a:off x="3035872" y="2745004"/>
              <a:ext cx="2804651" cy="157794"/>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예 — 커널 200개 중 137 컴파일 성공 · furiosa-smi 카드 정보</a:t>
              </a:r>
            </a:p>
          </p:txBody>
        </p:sp>
        <p:sp>
          <p:nvSpPr>
            <p:cNvPr id="25" name="Rounded Rectangle 24"/>
            <p:cNvSpPr/>
            <p:nvPr/>
          </p:nvSpPr>
          <p:spPr>
            <a:xfrm>
              <a:off x="1357680" y="3056668"/>
              <a:ext cx="6320463" cy="523073"/>
            </a:xfrm>
            <a:prstGeom prst="roundRect">
              <a:avLst>
                <a:gd name="adj" fmla="val 14583"/>
              </a:avLst>
            </a:prstGeom>
            <a:solidFill>
              <a:srgbClr val="FDEBD3"/>
            </a:solidFill>
            <a:ln w="21794">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75627" y="3219257"/>
              <a:ext cx="604487" cy="205132"/>
            </a:xfrm>
            <a:prstGeom prst="rect">
              <a:avLst/>
            </a:prstGeom>
            <a:noFill/>
          </p:spPr>
          <p:txBody>
            <a:bodyPr wrap="none" anchor="ctr" lIns="0" rIns="0" tIns="0" bIns="0">
              <a:noAutofit/>
            </a:bodyPr>
            <a:lstStyle/>
            <a:p>
              <a:pPr algn="l"/>
              <a:r>
                <a:rPr sz="1120" b="1">
                  <a:solidFill>
                    <a:srgbClr val="B45409"/>
                  </a:solidFill>
                  <a:latin typeface="맑은 고딕"/>
                  <a:ea typeface="맑은 고딕"/>
                  <a:cs typeface="맑은 고딕"/>
                </a:rPr>
                <a:t>모델 예측</a:t>
              </a:r>
            </a:p>
          </p:txBody>
        </p:sp>
        <p:cxnSp>
          <p:nvCxnSpPr>
            <p:cNvPr id="27" name="Connector 26"/>
            <p:cNvCxnSpPr/>
            <p:nvPr/>
          </p:nvCxnSpPr>
          <p:spPr>
            <a:xfrm>
              <a:off x="2883309" y="3143847"/>
              <a:ext cx="0" cy="348715"/>
            </a:xfrm>
            <a:prstGeom prst="line">
              <a:avLst/>
            </a:prstGeom>
            <a:ln w="10897">
              <a:solidFill>
                <a:srgbClr val="B4540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035872" y="3146463"/>
              <a:ext cx="1948381" cy="173573"/>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스케줄 모델의 계산값. 벽시계가 아니다</a:t>
              </a:r>
            </a:p>
          </p:txBody>
        </p:sp>
        <p:sp>
          <p:nvSpPr>
            <p:cNvPr id="29" name="TextBox 28"/>
            <p:cNvSpPr txBox="1"/>
            <p:nvPr/>
          </p:nvSpPr>
          <p:spPr>
            <a:xfrm>
              <a:off x="3035872" y="3355256"/>
              <a:ext cx="1402053" cy="157794"/>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예 — 사이클의 96.5% 가 DMA</a:t>
              </a:r>
            </a:p>
          </p:txBody>
        </p:sp>
        <p:sp>
          <p:nvSpPr>
            <p:cNvPr id="30" name="Rounded Rectangle 29"/>
            <p:cNvSpPr/>
            <p:nvPr/>
          </p:nvSpPr>
          <p:spPr>
            <a:xfrm>
              <a:off x="1357680" y="3666920"/>
              <a:ext cx="6320463" cy="523073"/>
            </a:xfrm>
            <a:prstGeom prst="roundRect">
              <a:avLst>
                <a:gd name="adj" fmla="val 14583"/>
              </a:avLst>
            </a:prstGeom>
            <a:solidFill>
              <a:srgbClr val="EEF2F7"/>
            </a:solidFill>
            <a:ln w="1743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75627" y="3829508"/>
              <a:ext cx="604487" cy="205132"/>
            </a:xfrm>
            <a:prstGeom prst="rect">
              <a:avLst/>
            </a:prstGeom>
            <a:noFill/>
          </p:spPr>
          <p:txBody>
            <a:bodyPr wrap="none" anchor="ctr" lIns="0" rIns="0" tIns="0" bIns="0">
              <a:noAutofit/>
            </a:bodyPr>
            <a:lstStyle/>
            <a:p>
              <a:pPr algn="l"/>
              <a:r>
                <a:rPr sz="1120" b="1">
                  <a:solidFill>
                    <a:srgbClr val="5B6B7B"/>
                  </a:solidFill>
                  <a:latin typeface="맑은 고딕"/>
                  <a:ea typeface="맑은 고딕"/>
                  <a:cs typeface="맑은 고딕"/>
                </a:rPr>
                <a:t>문서 서술</a:t>
              </a:r>
            </a:p>
          </p:txBody>
        </p:sp>
        <p:cxnSp>
          <p:nvCxnSpPr>
            <p:cNvPr id="32" name="Connector 31"/>
            <p:cNvCxnSpPr/>
            <p:nvPr/>
          </p:nvCxnSpPr>
          <p:spPr>
            <a:xfrm>
              <a:off x="2883309" y="3754099"/>
              <a:ext cx="0" cy="348715"/>
            </a:xfrm>
            <a:prstGeom prst="line">
              <a:avLst/>
            </a:prstGeom>
            <a:ln w="10897">
              <a:solidFill>
                <a:srgbClr val="5B6B7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035872" y="3756714"/>
              <a:ext cx="1611064" cy="173573"/>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벤더 책이 그렇게 적었을 뿐인 것</a:t>
              </a:r>
            </a:p>
          </p:txBody>
        </p:sp>
        <p:sp>
          <p:nvSpPr>
            <p:cNvPr id="34" name="TextBox 33"/>
            <p:cNvSpPr txBox="1"/>
            <p:nvPr/>
          </p:nvSpPr>
          <p:spPr>
            <a:xfrm>
              <a:off x="3035872" y="3965507"/>
              <a:ext cx="1352252" cy="157794"/>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소스·실기와 대조하지 않았다</a:t>
              </a:r>
            </a:p>
          </p:txBody>
        </p:sp>
        <p:sp>
          <p:nvSpPr>
            <p:cNvPr id="35" name="Rounded Rectangle 34"/>
            <p:cNvSpPr/>
            <p:nvPr/>
          </p:nvSpPr>
          <p:spPr>
            <a:xfrm>
              <a:off x="1357680" y="4277171"/>
              <a:ext cx="6320463" cy="523073"/>
            </a:xfrm>
            <a:prstGeom prst="roundRect">
              <a:avLst>
                <a:gd name="adj" fmla="val 14583"/>
              </a:avLst>
            </a:prstGeom>
            <a:solidFill>
              <a:srgbClr val="FDE8E8"/>
            </a:solidFill>
            <a:ln w="17435">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575627" y="4439760"/>
              <a:ext cx="441996" cy="205132"/>
            </a:xfrm>
            <a:prstGeom prst="rect">
              <a:avLst/>
            </a:prstGeom>
            <a:noFill/>
          </p:spPr>
          <p:txBody>
            <a:bodyPr wrap="none" anchor="ctr" lIns="0" rIns="0" tIns="0" bIns="0">
              <a:noAutofit/>
            </a:bodyPr>
            <a:lstStyle/>
            <a:p>
              <a:pPr algn="l"/>
              <a:r>
                <a:rPr sz="1120" b="1">
                  <a:solidFill>
                    <a:srgbClr val="B4222A"/>
                  </a:solidFill>
                  <a:latin typeface="맑은 고딕"/>
                  <a:ea typeface="맑은 고딕"/>
                  <a:cs typeface="맑은 고딕"/>
                </a:rPr>
                <a:t>미확인</a:t>
              </a:r>
            </a:p>
          </p:txBody>
        </p:sp>
        <p:cxnSp>
          <p:nvCxnSpPr>
            <p:cNvPr id="37" name="Connector 36"/>
            <p:cNvCxnSpPr/>
            <p:nvPr/>
          </p:nvCxnSpPr>
          <p:spPr>
            <a:xfrm>
              <a:off x="2883309" y="4364350"/>
              <a:ext cx="0" cy="348715"/>
            </a:xfrm>
            <a:prstGeom prst="line">
              <a:avLst/>
            </a:prstGeom>
            <a:ln w="10897">
              <a:solidFill>
                <a:srgbClr val="B4222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035872" y="4366966"/>
              <a:ext cx="1447081" cy="173573"/>
            </a:xfrm>
            <a:prstGeom prst="rect">
              <a:avLst/>
            </a:prstGeom>
            <a:noFill/>
          </p:spPr>
          <p:txBody>
            <a:bodyPr wrap="none" anchor="ctr" lIns="0" rIns="0" tIns="0" bIns="0">
              <a:noAutofit/>
            </a:bodyPr>
            <a:lstStyle/>
            <a:p>
              <a:pPr algn="l"/>
              <a:r>
                <a:rPr sz="940" b="0">
                  <a:solidFill>
                    <a:srgbClr val="16202C"/>
                  </a:solidFill>
                  <a:latin typeface="맑은 고딕"/>
                  <a:ea typeface="맑은 고딕"/>
                  <a:cs typeface="맑은 고딕"/>
                </a:rPr>
                <a:t>확인하지 못했다고 명시한 것</a:t>
              </a:r>
            </a:p>
          </p:txBody>
        </p:sp>
        <p:sp>
          <p:nvSpPr>
            <p:cNvPr id="39" name="TextBox 38"/>
            <p:cNvSpPr txBox="1"/>
            <p:nvPr/>
          </p:nvSpPr>
          <p:spPr>
            <a:xfrm>
              <a:off x="3035872" y="4575759"/>
              <a:ext cx="2339443" cy="157794"/>
            </a:xfrm>
            <a:prstGeom prst="rect">
              <a:avLst/>
            </a:prstGeom>
            <a:noFill/>
          </p:spPr>
          <p:txBody>
            <a:bodyPr wrap="none" anchor="ctr" lIns="0" rIns="0" tIns="0" bIns="0">
              <a:noAutofit/>
            </a:bodyPr>
            <a:lstStyle/>
            <a:p>
              <a:pPr algn="l"/>
              <a:r>
                <a:rPr sz="860" b="0">
                  <a:solidFill>
                    <a:srgbClr val="5B6B7B"/>
                  </a:solidFill>
                  <a:latin typeface="맑은 고딕"/>
                  <a:ea typeface="맑은 고딕"/>
                  <a:cs typeface="맑은 고딕"/>
                </a:rPr>
                <a:t>예 — SRAM 384 TB/s 산출 근거 · 다이 크기 · TDP</a:t>
              </a:r>
            </a:p>
          </p:txBody>
        </p:sp>
        <p:cxnSp>
          <p:nvCxnSpPr>
            <p:cNvPr id="40" name="Connector 39"/>
            <p:cNvCxnSpPr/>
            <p:nvPr/>
          </p:nvCxnSpPr>
          <p:spPr>
            <a:xfrm>
              <a:off x="7721732" y="3318205"/>
              <a:ext cx="174358" cy="0"/>
            </a:xfrm>
            <a:prstGeom prst="line">
              <a:avLst/>
            </a:prstGeom>
            <a:ln w="21794">
              <a:solidFill>
                <a:srgbClr val="B45409"/>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7874295" y="3252821"/>
              <a:ext cx="130768" cy="130768"/>
            </a:xfrm>
            <a:custGeom>
              <a:avLst/>
              <a:gdLst/>
              <a:ahLst/>
              <a:cxnLst/>
              <a:rect l="l" t="t" r="r" b="b"/>
              <a:pathLst>
                <a:path w="130768" h="130768">
                  <a:moveTo>
                    <a:pt x="0" y="0"/>
                  </a:moveTo>
                  <a:lnTo>
                    <a:pt x="130768" y="65384"/>
                  </a:lnTo>
                  <a:lnTo>
                    <a:pt x="0" y="130768"/>
                  </a:lnTo>
                  <a:close/>
                </a:path>
              </a:pathLst>
            </a:cu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26858" y="2446417"/>
              <a:ext cx="3073053" cy="1852549"/>
            </a:xfrm>
            <a:prstGeom prst="roundRect">
              <a:avLst>
                <a:gd name="adj" fmla="val 4705"/>
              </a:avLst>
            </a:prstGeom>
            <a:solidFill>
              <a:srgbClr val="FFF7E6"/>
            </a:solidFill>
            <a:ln w="174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39097" y="2556262"/>
              <a:ext cx="1248575" cy="189352"/>
            </a:xfrm>
            <a:prstGeom prst="rect">
              <a:avLst/>
            </a:prstGeom>
            <a:noFill/>
          </p:spPr>
          <p:txBody>
            <a:bodyPr wrap="none" anchor="ctr" lIns="0" rIns="0" tIns="0" bIns="0">
              <a:noAutofit/>
            </a:bodyPr>
            <a:lstStyle/>
            <a:p>
              <a:pPr algn="ctr"/>
              <a:r>
                <a:rPr sz="1030" b="1">
                  <a:solidFill>
                    <a:srgbClr val="B45409"/>
                  </a:solidFill>
                  <a:latin typeface="맑은 고딕"/>
                  <a:ea typeface="맑은 고딕"/>
                  <a:cs typeface="맑은 고딕"/>
                </a:rPr>
                <a:t>이 층에 걸려 있는 것들</a:t>
              </a:r>
            </a:p>
          </p:txBody>
        </p:sp>
        <p:sp>
          <p:nvSpPr>
            <p:cNvPr id="44" name="TextBox 43"/>
            <p:cNvSpPr txBox="1"/>
            <p:nvPr/>
          </p:nvSpPr>
          <p:spPr>
            <a:xfrm>
              <a:off x="8201215" y="2858555"/>
              <a:ext cx="1654773" cy="165683"/>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우리 — DMA 96.5% (스케줄 모델)</a:t>
              </a:r>
            </a:p>
          </p:txBody>
        </p:sp>
        <p:sp>
          <p:nvSpPr>
            <p:cNvPr id="45" name="TextBox 44"/>
            <p:cNvSpPr txBox="1"/>
            <p:nvPr/>
          </p:nvSpPr>
          <p:spPr>
            <a:xfrm>
              <a:off x="8201215" y="3120091"/>
              <a:ext cx="1566783" cy="165683"/>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논문 — 전력: SpyGlass + TSMC</a:t>
              </a:r>
            </a:p>
          </p:txBody>
        </p:sp>
        <p:sp>
          <p:nvSpPr>
            <p:cNvPr id="46" name="TextBox 45"/>
            <p:cNvSpPr txBox="1"/>
            <p:nvPr/>
          </p:nvSpPr>
          <p:spPr>
            <a:xfrm>
              <a:off x="8201215" y="3294449"/>
              <a:ext cx="1355674" cy="165683"/>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라이브러리 추정이라고 명시</a:t>
              </a:r>
            </a:p>
          </p:txBody>
        </p:sp>
        <p:sp>
          <p:nvSpPr>
            <p:cNvPr id="47" name="TextBox 46"/>
            <p:cNvSpPr txBox="1"/>
            <p:nvPr/>
          </p:nvSpPr>
          <p:spPr>
            <a:xfrm>
              <a:off x="8201215" y="3555985"/>
              <a:ext cx="1327526" cy="165683"/>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논문 — Fig. 11(b) 대역폭 =</a:t>
              </a:r>
            </a:p>
          </p:txBody>
        </p:sp>
        <p:sp>
          <p:nvSpPr>
            <p:cNvPr id="48" name="TextBox 47"/>
            <p:cNvSpPr txBox="1"/>
            <p:nvPr/>
          </p:nvSpPr>
          <p:spPr>
            <a:xfrm>
              <a:off x="8201215" y="3730342"/>
              <a:ext cx="1464375" cy="165683"/>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(가중치+KV 캐시) ÷ 1.5 TB/s</a:t>
              </a:r>
            </a:p>
          </p:txBody>
        </p:sp>
        <p:sp>
          <p:nvSpPr>
            <p:cNvPr id="49" name="TextBox 48"/>
            <p:cNvSpPr txBox="1"/>
            <p:nvPr/>
          </p:nvSpPr>
          <p:spPr>
            <a:xfrm>
              <a:off x="8880839" y="4007353"/>
              <a:ext cx="1365089" cy="173573"/>
            </a:xfrm>
            <a:prstGeom prst="rect">
              <a:avLst/>
            </a:prstGeom>
            <a:noFill/>
          </p:spPr>
          <p:txBody>
            <a:bodyPr wrap="none" anchor="ctr" lIns="0" rIns="0" tIns="0" bIns="0">
              <a:noAutofit/>
            </a:bodyPr>
            <a:lstStyle/>
            <a:p>
              <a:pPr algn="ctr"/>
              <a:r>
                <a:rPr sz="940" b="1">
                  <a:solidFill>
                    <a:srgbClr val="B45409"/>
                  </a:solidFill>
                  <a:latin typeface="맑은 고딕"/>
                  <a:ea typeface="맑은 고딕"/>
                  <a:cs typeface="맑은 고딕"/>
                </a:rPr>
                <a:t>양쪽 다 모델값이 섞여 있다</a:t>
              </a:r>
            </a:p>
          </p:txBody>
        </p:sp>
        <p:sp>
          <p:nvSpPr>
            <p:cNvPr id="50" name="Rounded Rectangle 49"/>
            <p:cNvSpPr/>
            <p:nvPr/>
          </p:nvSpPr>
          <p:spPr>
            <a:xfrm>
              <a:off x="1357680" y="4952807"/>
              <a:ext cx="9742230" cy="588457"/>
            </a:xfrm>
            <a:prstGeom prst="roundRect">
              <a:avLst>
                <a:gd name="adj" fmla="val 14814"/>
              </a:avLst>
            </a:prstGeom>
            <a:solidFill>
              <a:srgbClr val="EEF2F7"/>
            </a:solidFill>
            <a:ln w="15256">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53832" y="5058076"/>
              <a:ext cx="3268834" cy="181463"/>
            </a:xfrm>
            <a:prstGeom prst="rect">
              <a:avLst/>
            </a:prstGeom>
            <a:noFill/>
          </p:spPr>
          <p:txBody>
            <a:bodyPr wrap="none" anchor="ctr" lIns="0" rIns="0" tIns="0" bIns="0">
              <a:noAutofit/>
            </a:bodyPr>
            <a:lstStyle/>
            <a:p>
              <a:pPr algn="l"/>
              <a:r>
                <a:rPr sz="990" b="1">
                  <a:solidFill>
                    <a:srgbClr val="16202C"/>
                  </a:solidFill>
                  <a:latin typeface="맑은 고딕"/>
                  <a:ea typeface="맑은 고딕"/>
                  <a:cs typeface="맑은 고딕"/>
                </a:rPr>
                <a:t>층위를 섞으면 대조가 무너진다 — 강한 근거끼리만 맞대야 한다</a:t>
              </a:r>
            </a:p>
          </p:txBody>
        </p:sp>
        <p:sp>
          <p:nvSpPr>
            <p:cNvPr id="52" name="TextBox 51"/>
            <p:cNvSpPr txBox="1"/>
            <p:nvPr/>
          </p:nvSpPr>
          <p:spPr>
            <a:xfrm>
              <a:off x="1553832" y="5282343"/>
              <a:ext cx="3786720" cy="173573"/>
            </a:xfrm>
            <a:prstGeom prst="rect">
              <a:avLst/>
            </a:prstGeom>
            <a:noFill/>
          </p:spPr>
          <p:txBody>
            <a:bodyPr wrap="none" anchor="ctr" lIns="0" rIns="0" tIns="0" bIns="0">
              <a:noAutofit/>
            </a:bodyPr>
            <a:lstStyle/>
            <a:p>
              <a:pPr algn="l"/>
              <a:r>
                <a:rPr sz="940" b="0">
                  <a:solidFill>
                    <a:srgbClr val="5B6B7B"/>
                  </a:solidFill>
                  <a:latin typeface="맑은 고딕"/>
                  <a:ea typeface="맑은 고딕"/>
                  <a:cs typeface="맑은 고딕"/>
                </a:rPr>
                <a:t>그리고 ‘확인 수단 없음’은 ‘불일치’가 아니다. 판정하지 않는 칸은 그대로 둔다</a:t>
              </a:r>
            </a:p>
          </p:txBody>
        </p:sp>
      </p:grpSp>
      <p:sp>
        <p:nvSpPr>
          <p:cNvPr id="53" name="Rectangle 52"/>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양쪽 다 ‘실측’과 ‘모델값’이 섞여 있다. 층위를 섞으면 대조가 무너진다.</a:t>
            </a:r>
          </a:p>
        </p:txBody>
      </p:sp>
      <p:sp>
        <p:nvSpPr>
          <p:cNvPr id="54" name="Rectangle 53"/>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이 부록을 읽는 규칙 — 근거의 층위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숫자라도 무게가 다르다</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271</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이 층위를 부록 맨 앞에 두는 이유는, 뒤에 나오는 ‘96.5%’ 같은 강한 숫자가 벽시계 실측이 아님을 미리 못 박기 위해서다.</a:t>
            </a:r>
          </a:p>
          <a:p>
            <a:pPr algn="l">
              <a:lnSpc>
                <a:spcPct val="118000"/>
              </a:lnSpc>
              <a:spcBef>
                <a:spcPts val="600"/>
              </a:spcBef>
              <a:spcAft>
                <a:spcPts val="200"/>
              </a:spcAft>
            </a:pPr>
            <a:r>
              <a:rPr sz="1900" b="0" i="0">
                <a:solidFill>
                  <a:srgbClr val="16202C"/>
                </a:solidFill>
                <a:latin typeface="Segoe UI"/>
                <a:ea typeface="맑은 고딕"/>
                <a:cs typeface="맑은 고딕"/>
              </a:rPr>
              <a:t>▪  성능과 관련된 우리 수치는 거의 전부 ‘모델 예측’ 층에 있다.</a:t>
            </a:r>
          </a:p>
          <a:p>
            <a:pPr algn="l">
              <a:lnSpc>
                <a:spcPct val="118000"/>
              </a:lnSpc>
              <a:spcBef>
                <a:spcPts val="600"/>
              </a:spcBef>
              <a:spcAft>
                <a:spcPts val="200"/>
              </a:spcAft>
            </a:pPr>
            <a:r>
              <a:rPr sz="1900" b="0" i="0">
                <a:solidFill>
                  <a:srgbClr val="16202C"/>
                </a:solidFill>
                <a:latin typeface="Segoe UI"/>
                <a:ea typeface="맑은 고딕"/>
                <a:cs typeface="맑은 고딕"/>
              </a:rPr>
              <a:t>▪  논문 쪽도 Table II 수치의 획득 방법(실리콘 실측인지 시뮬레이션인지)을 밝히지 않는다. 전력만 추정이라고 명시한다.</a:t>
            </a:r>
          </a:p>
          <a:p>
            <a:pPr algn="l">
              <a:lnSpc>
                <a:spcPct val="118000"/>
              </a:lnSpc>
              <a:spcBef>
                <a:spcPts val="600"/>
              </a:spcBef>
              <a:spcAft>
                <a:spcPts val="200"/>
              </a:spcAft>
            </a:pPr>
            <a:r>
              <a:rPr sz="1900" b="0" i="0">
                <a:solidFill>
                  <a:srgbClr val="16202C"/>
                </a:solidFill>
                <a:latin typeface="Segoe UI"/>
                <a:ea typeface="맑은 고딕"/>
                <a:cs typeface="맑은 고딕"/>
              </a:rPr>
              <a:t>▪  근거 문서는 vISA/book_guide 의 _GROUND_TRUTH.md, 13-NPU-실기-매트릭스.md, README.md, RESEARCH-TOPICS.md 네 개이며, 논문 수치는 isca24 원문에서만 가져온다.</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대조 상대 — 우리 서버 구성 (2026-07 실측)</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272</a:t>
            </a:r>
          </a:p>
        </p:txBody>
      </p:sp>
      <p:graphicFrame>
        <p:nvGraphicFramePr>
          <p:cNvPr id="8" name="Table 7"/>
          <p:cNvGraphicFramePr>
            <a:graphicFrameLocks noGrp="1"/>
          </p:cNvGraphicFramePr>
          <p:nvPr/>
        </p:nvGraphicFramePr>
        <p:xfrm>
          <a:off x="566928" y="1517904"/>
          <a:ext cx="11057839" cy="4041648"/>
        </p:xfrm>
        <a:graphic>
          <a:graphicData uri="http://schemas.openxmlformats.org/drawingml/2006/table">
            <a:tbl>
              <a:tblPr firstRow="1" bandRow="1">
                <a:tableStyleId>{5C22544A-7EE6-4342-B048-85BDC9FD1C3A}</a:tableStyleId>
              </a:tblPr>
              <a:tblGrid>
                <a:gridCol w="1093439"/>
                <a:gridCol w="7936248"/>
                <a:gridCol w="2028152"/>
              </a:tblGrid>
              <a:tr h="367422">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실측값</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근거 층위</a:t>
                      </a:r>
                    </a:p>
                  </a:txBody>
                  <a:tcPr marL="73152" marR="73152" marT="27432" marB="27432">
                    <a:solidFill>
                      <a:srgbClr val="0B5FC0"/>
                    </a:solidFill>
                  </a:tcPr>
                </a:tc>
              </a:tr>
              <a:tr h="367422">
                <a:tc>
                  <a:txBody>
                    <a:bodyPr wrap="square"/>
                    <a:lstStyle/>
                    <a:p>
                      <a:r>
                        <a:rPr sz="900" b="0" i="0">
                          <a:solidFill>
                            <a:srgbClr val="16202C"/>
                          </a:solidFill>
                          <a:latin typeface="Segoe UI"/>
                          <a:ea typeface="맑은 고딕"/>
                          <a:cs typeface="맑은 고딕"/>
                        </a:rPr>
                        <a:t>카드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RNGD 4장 (npu0~npu3)</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도구 산출 (furiosa-smi)</a:t>
                      </a:r>
                    </a:p>
                  </a:txBody>
                  <a:tcPr marL="73152" marR="73152" marT="27432" marB="27432">
                    <a:solidFill>
                      <a:srgbClr val="FFFFFF"/>
                    </a:solidFill>
                  </a:tcPr>
                </a:tc>
              </a:tr>
              <a:tr h="367422">
                <a:tc>
                  <a:txBody>
                    <a:bodyPr wrap="square"/>
                    <a:lstStyle/>
                    <a:p>
                      <a:r>
                        <a:rPr sz="900" b="0" i="0">
                          <a:solidFill>
                            <a:srgbClr val="16202C"/>
                          </a:solidFill>
                          <a:latin typeface="Segoe UI"/>
                          <a:ea typeface="맑은 고딕"/>
                          <a:cs typeface="맑은 고딕"/>
                        </a:rPr>
                        <a:t>PCI BDF</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0000:0b:00.0 / 0000:59:00.0 / 0000:b4:00.0 / 0000:c6:00.0</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6F9FC"/>
                    </a:solidFill>
                  </a:tcPr>
                </a:tc>
              </a:tr>
              <a:tr h="367422">
                <a:tc>
                  <a:txBody>
                    <a:bodyPr wrap="square"/>
                    <a:lstStyle/>
                    <a:p>
                      <a:r>
                        <a:rPr sz="900" b="0" i="0">
                          <a:solidFill>
                            <a:srgbClr val="16202C"/>
                          </a:solidFill>
                          <a:latin typeface="Segoe UI"/>
                          <a:ea typeface="맑은 고딕"/>
                          <a:cs typeface="맑은 고딕"/>
                        </a:rPr>
                        <a:t>카드당 PE</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8</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FFFFF"/>
                    </a:solidFill>
                  </a:tcPr>
                </a:tc>
              </a:tr>
              <a:tr h="367422">
                <a:tc>
                  <a:txBody>
                    <a:bodyPr wrap="square"/>
                    <a:lstStyle/>
                    <a:p>
                      <a:r>
                        <a:rPr sz="900" b="0" i="0">
                          <a:solidFill>
                            <a:srgbClr val="16202C"/>
                          </a:solidFill>
                          <a:latin typeface="Segoe UI"/>
                          <a:ea typeface="맑은 고딕"/>
                          <a:cs typeface="맑은 고딕"/>
                        </a:rPr>
                        <a:t>총 PE</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32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6F9FC"/>
                    </a:solidFill>
                  </a:tcPr>
                </a:tc>
              </a:tr>
              <a:tr h="367422">
                <a:tc>
                  <a:txBody>
                    <a:bodyPr wrap="square"/>
                    <a:lstStyle/>
                    <a:p>
                      <a:r>
                        <a:rPr sz="900" b="0" i="0">
                          <a:solidFill>
                            <a:srgbClr val="16202C"/>
                          </a:solidFill>
                          <a:latin typeface="Segoe UI"/>
                          <a:ea typeface="맑은 고딕"/>
                          <a:cs typeface="맑은 고딕"/>
                        </a:rPr>
                        <a:t>카드당 HBM</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furiosa-smi info 는 48 GiB, status 는 0.00 / 47.50 GiB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FFFFF"/>
                    </a:solidFill>
                  </a:tcPr>
                </a:tc>
              </a:tr>
              <a:tr h="367422">
                <a:tc>
                  <a:txBody>
                    <a:bodyPr wrap="square"/>
                    <a:lstStyle/>
                    <a:p>
                      <a:r>
                        <a:rPr sz="900" b="0" i="0">
                          <a:solidFill>
                            <a:srgbClr val="16202C"/>
                          </a:solidFill>
                          <a:latin typeface="Segoe UI"/>
                          <a:ea typeface="맑은 고딕"/>
                          <a:cs typeface="맑은 고딕"/>
                        </a:rPr>
                        <a:t>총 HBM</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약 190 GiB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6F9FC"/>
                    </a:solidFill>
                  </a:tcPr>
                </a:tc>
              </a:tr>
              <a:tr h="367422">
                <a:tc>
                  <a:txBody>
                    <a:bodyPr wrap="square"/>
                    <a:lstStyle/>
                    <a:p>
                      <a:r>
                        <a:rPr sz="900" b="0" i="0">
                          <a:solidFill>
                            <a:srgbClr val="16202C"/>
                          </a:solidFill>
                          <a:latin typeface="Segoe UI"/>
                          <a:ea typeface="맑은 고딕"/>
                          <a:cs typeface="맑은 고딕"/>
                        </a:rPr>
                        <a:t>펌웨어</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2026.3.0, 2d3f72a</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FFFFF"/>
                    </a:solidFill>
                  </a:tcPr>
                </a:tc>
              </a:tr>
              <a:tr h="367422">
                <a:tc>
                  <a:txBody>
                    <a:bodyPr wrap="square"/>
                    <a:lstStyle/>
                    <a:p>
                      <a:r>
                        <a:rPr sz="900" b="0" i="0">
                          <a:solidFill>
                            <a:srgbClr val="16202C"/>
                          </a:solidFill>
                          <a:latin typeface="Segoe UI"/>
                          <a:ea typeface="맑은 고딕"/>
                          <a:cs typeface="맑은 고딕"/>
                        </a:rPr>
                        <a:t>SDK</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furiosa-llm 2026.3.0 (furiosa-models·native-runtime·torch 는 2026.2.0, smi-py 2026.1.2)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도구 산출</a:t>
                      </a:r>
                    </a:p>
                  </a:txBody>
                  <a:tcPr marL="73152" marR="73152" marT="27432" marB="27432">
                    <a:solidFill>
                      <a:srgbClr val="F6F9FC"/>
                    </a:solidFill>
                  </a:tcPr>
                </a:tc>
              </a:tr>
              <a:tr h="367422">
                <a:tc>
                  <a:txBody>
                    <a:bodyPr wrap="square"/>
                    <a:lstStyle/>
                    <a:p>
                      <a:r>
                        <a:rPr sz="900" b="0" i="0">
                          <a:solidFill>
                            <a:srgbClr val="16202C"/>
                          </a:solidFill>
                          <a:latin typeface="Segoe UI"/>
                          <a:ea typeface="맑은 고딕"/>
                          <a:cs typeface="맑은 고딕"/>
                        </a:rPr>
                        <a:t>vISA 툴체인</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cargo-furiosa-opt 0.4 세대 (--version 은 0.3.0 을 출력하지만 바이너리 md5 가 v0.4.0 타르볼과 동일)</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실측</a:t>
                      </a:r>
                    </a:p>
                  </a:txBody>
                  <a:tcPr marL="73152" marR="73152" marT="27432" marB="27432">
                    <a:solidFill>
                      <a:srgbClr val="FFFFFF"/>
                    </a:solidFill>
                  </a:tcPr>
                </a:tc>
              </a:tr>
              <a:tr h="367428">
                <a:tc>
                  <a:txBody>
                    <a:bodyPr wrap="square"/>
                    <a:lstStyle/>
                    <a:p>
                      <a:r>
                        <a:rPr sz="900" b="0" i="0">
                          <a:solidFill>
                            <a:srgbClr val="16202C"/>
                          </a:solidFill>
                          <a:latin typeface="Segoe UI"/>
                          <a:ea typeface="맑은 고딕"/>
                          <a:cs typeface="맑은 고딕"/>
                        </a:rPr>
                        <a:t>백엔드</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typecheck / emulation / npu (기본 emulation). simulation 백엔드는 없다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실측</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논문이 말하는 칩 1개 = 우리 카드 1장. 우리는 그것이 4장 꽂힌 서버를 본다.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1-a · Table I 逐項 대조</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273</a:t>
            </a:r>
          </a:p>
        </p:txBody>
      </p:sp>
      <p:graphicFrame>
        <p:nvGraphicFramePr>
          <p:cNvPr id="8" name="Table 7"/>
          <p:cNvGraphicFramePr>
            <a:graphicFrameLocks noGrp="1"/>
          </p:cNvGraphicFramePr>
          <p:nvPr/>
        </p:nvGraphicFramePr>
        <p:xfrm>
          <a:off x="566928" y="1517904"/>
          <a:ext cx="11057839" cy="3840480"/>
        </p:xfrm>
        <a:graphic>
          <a:graphicData uri="http://schemas.openxmlformats.org/drawingml/2006/table">
            <a:tbl>
              <a:tblPr firstRow="1" bandRow="1">
                <a:tableStyleId>{5C22544A-7EE6-4342-B048-85BDC9FD1C3A}</a:tableStyleId>
              </a:tblPr>
              <a:tblGrid>
                <a:gridCol w="1104500"/>
                <a:gridCol w="4173981"/>
                <a:gridCol w="5779358"/>
              </a:tblGrid>
              <a:tr h="384048">
                <a:tc>
                  <a:txBody>
                    <a:bodyPr wrap="square"/>
                    <a:lstStyle/>
                    <a:p>
                      <a:r>
                        <a:rPr sz="900" b="1" i="0">
                          <a:solidFill>
                            <a:srgbClr val="FFFFFF"/>
                          </a:solidFill>
                          <a:latin typeface="Segoe UI"/>
                          <a:ea typeface="맑은 고딕"/>
                          <a:cs typeface="맑은 고딕"/>
                        </a:rPr>
                        <a:t>Table I 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 값</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우리 쪽</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Technology</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TSMC 5nm</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확인 수단 없음</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Frequency</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 GHz</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일치. 우리 문서도 DMA·코어 예제를 1 GHz 기준으로 쓰고, 사이클→시간 환산도 1 GHz 로 했다 (중앙값 10,532 cycle ≈ 10.5 µs)</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Dimensions</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24.59 × 25.71 mm (632.1 mm²)</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확인 수단 없음</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TDP</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150 W</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우리 기록에 없다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DRAM</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2x HBM3 stack, 48GB, 1.5 TB/s</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용량: info 48 GiB / status 47.50 GiB 가용. 대역폭: 우리 문서의 32채널 × 48 GB/s = 1.5 TB/s 와 일치</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On-Chip SRAM</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256 MB, 384 TB/s</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용량 256 MB 일치 (slice당 512 KB × 512 slice). 384 TB/s 는 미확인</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Host Connectivity</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PCIe Gen5 x16 (128 GB/s)</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카드 4개의 BDF 만 확인. 링크 세대·폭은 우리 기록에 없다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MACs</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512 TOPS INT8 · 1024 TOPS INT4 · 256 TFLOPS BF16 · 512 TFLOPS FP8</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우리는 성능 측정을 하지 않았다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Vector Engine</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512 ways per PE, 초월함수 (exp, cos, tanh 등)</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 §IV-D 의 slice당 8-way INT32 × 64 slice = 512 로 자기정합. 우리 문서의 'Vector Engine(VE)은 i32/f32 만' 과도 정합</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Table I 9개 항목 중 우리가 대조 가능한 것은 4개(Frequency, DRAM, SRAM 용량, VE 성격)이고 전부 일치한다.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질문 1-b · 칩 조직 대조 — 이름은 달라도 바닥의 수가 같다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논문 chip→PE→slice→DPE vs vISA Chip→Cluster→Slice→Lane</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274</a:t>
            </a:r>
          </a:p>
        </p:txBody>
      </p:sp>
      <p:grpSp>
        <p:nvGrpSpPr>
          <p:cNvPr id="9" name="도해 A10#04"/>
          <p:cNvGrpSpPr/>
          <p:nvPr/>
        </p:nvGrpSpPr>
        <p:grpSpPr>
          <a:xfrm>
            <a:off x="2157871" y="1463040"/>
            <a:ext cx="7875953" cy="4078224"/>
            <a:chOff x="2157871" y="1463040"/>
            <a:chExt cx="7875953" cy="4078224"/>
          </a:xfrm>
        </p:grpSpPr>
        <p:sp>
          <p:nvSpPr>
            <p:cNvPr id="10" name="TextBox 9"/>
            <p:cNvSpPr txBox="1"/>
            <p:nvPr/>
          </p:nvSpPr>
          <p:spPr>
            <a:xfrm>
              <a:off x="3098702" y="1463040"/>
              <a:ext cx="1330898" cy="175067"/>
            </a:xfrm>
            <a:prstGeom prst="rect">
              <a:avLst/>
            </a:prstGeom>
            <a:noFill/>
          </p:spPr>
          <p:txBody>
            <a:bodyPr wrap="none" anchor="ctr" lIns="0" rIns="0" tIns="0" bIns="0">
              <a:noAutofit/>
            </a:bodyPr>
            <a:lstStyle/>
            <a:p>
              <a:pPr algn="ctr"/>
              <a:r>
                <a:rPr sz="950" b="1">
                  <a:solidFill>
                    <a:srgbClr val="083F80"/>
                  </a:solidFill>
                  <a:latin typeface="맑은 고딕"/>
                  <a:ea typeface="맑은 고딕"/>
                  <a:cs typeface="맑은 고딕"/>
                </a:rPr>
                <a:t>논문의 어휘 (ISCA 2024)</a:t>
              </a:r>
            </a:p>
          </p:txBody>
        </p:sp>
        <p:sp>
          <p:nvSpPr>
            <p:cNvPr id="11" name="TextBox 10"/>
            <p:cNvSpPr txBox="1"/>
            <p:nvPr/>
          </p:nvSpPr>
          <p:spPr>
            <a:xfrm>
              <a:off x="5922421" y="1483075"/>
              <a:ext cx="346853" cy="150058"/>
            </a:xfrm>
            <a:prstGeom prst="rect">
              <a:avLst/>
            </a:prstGeom>
            <a:noFill/>
          </p:spPr>
          <p:txBody>
            <a:bodyPr wrap="none" anchor="ctr" lIns="0" rIns="0" tIns="0" bIns="0">
              <a:noAutofit/>
            </a:bodyPr>
            <a:lstStyle/>
            <a:p>
              <a:pPr algn="ctr"/>
              <a:r>
                <a:rPr sz="819" b="1">
                  <a:solidFill>
                    <a:srgbClr val="1A7F37"/>
                  </a:solidFill>
                  <a:latin typeface="맑은 고딕"/>
                  <a:ea typeface="맑은 고딕"/>
                  <a:cs typeface="맑은 고딕"/>
                </a:rPr>
                <a:t>맞는 값</a:t>
              </a:r>
            </a:p>
          </p:txBody>
        </p:sp>
        <p:sp>
          <p:nvSpPr>
            <p:cNvPr id="12" name="TextBox 11"/>
            <p:cNvSpPr txBox="1"/>
            <p:nvPr/>
          </p:nvSpPr>
          <p:spPr>
            <a:xfrm>
              <a:off x="7794558" y="1463040"/>
              <a:ext cx="1265973" cy="175067"/>
            </a:xfrm>
            <a:prstGeom prst="rect">
              <a:avLst/>
            </a:prstGeom>
            <a:noFill/>
          </p:spPr>
          <p:txBody>
            <a:bodyPr wrap="none" anchor="ctr" lIns="0" rIns="0" tIns="0" bIns="0">
              <a:noAutofit/>
            </a:bodyPr>
            <a:lstStyle/>
            <a:p>
              <a:pPr algn="ctr"/>
              <a:r>
                <a:rPr sz="950" b="1">
                  <a:solidFill>
                    <a:srgbClr val="B45409"/>
                  </a:solidFill>
                  <a:latin typeface="맑은 고딕"/>
                  <a:ea typeface="맑은 고딕"/>
                  <a:cs typeface="맑은 고딕"/>
                </a:rPr>
                <a:t>vISA · 우리 실측의 어휘</a:t>
              </a:r>
            </a:p>
          </p:txBody>
        </p:sp>
        <p:sp>
          <p:nvSpPr>
            <p:cNvPr id="13" name="Rounded Rectangle 12"/>
            <p:cNvSpPr/>
            <p:nvPr/>
          </p:nvSpPr>
          <p:spPr>
            <a:xfrm>
              <a:off x="2157871" y="1724190"/>
              <a:ext cx="3212560" cy="518155"/>
            </a:xfrm>
            <a:prstGeom prst="roundRect">
              <a:avLst>
                <a:gd name="adj" fmla="val 11666"/>
              </a:avLst>
            </a:prstGeom>
            <a:solidFill>
              <a:srgbClr val="E3EEFB"/>
            </a:solidFill>
            <a:ln w="13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6045" y="1814867"/>
              <a:ext cx="750029" cy="156310"/>
            </a:xfrm>
            <a:prstGeom prst="rect">
              <a:avLst/>
            </a:prstGeom>
            <a:noFill/>
          </p:spPr>
          <p:txBody>
            <a:bodyPr wrap="none" anchor="ctr" lIns="0" rIns="0" tIns="0" bIns="0">
              <a:noAutofit/>
            </a:bodyPr>
            <a:lstStyle/>
            <a:p>
              <a:pPr algn="l"/>
              <a:r>
                <a:rPr sz="850" b="1">
                  <a:solidFill>
                    <a:srgbClr val="083F80"/>
                  </a:solidFill>
                  <a:latin typeface="맑은 고딕"/>
                  <a:ea typeface="맑은 고딕"/>
                  <a:cs typeface="맑은 고딕"/>
                </a:rPr>
                <a:t>chip → PE 8개</a:t>
              </a:r>
            </a:p>
          </p:txBody>
        </p:sp>
        <p:sp>
          <p:nvSpPr>
            <p:cNvPr id="15" name="TextBox 14"/>
            <p:cNvSpPr txBox="1"/>
            <p:nvPr/>
          </p:nvSpPr>
          <p:spPr>
            <a:xfrm>
              <a:off x="2296045" y="2007621"/>
              <a:ext cx="1551213"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논문 §III — TCP consists of eight PEs</a:t>
              </a:r>
            </a:p>
          </p:txBody>
        </p:sp>
        <p:cxnSp>
          <p:nvCxnSpPr>
            <p:cNvPr id="16" name="Connector 15"/>
            <p:cNvCxnSpPr/>
            <p:nvPr/>
          </p:nvCxnSpPr>
          <p:spPr>
            <a:xfrm>
              <a:off x="5370431" y="1983267"/>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25877" y="1793277"/>
              <a:ext cx="1139941" cy="379980"/>
            </a:xfrm>
            <a:prstGeom prst="roundRect">
              <a:avLst>
                <a:gd name="adj" fmla="val 13636"/>
              </a:avLst>
            </a:prstGeom>
            <a:solidFill>
              <a:srgbClr val="E2F4E8"/>
            </a:solidFill>
            <a:ln w="13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4317" y="1850274"/>
              <a:ext cx="123062" cy="187572"/>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8</a:t>
              </a:r>
            </a:p>
          </p:txBody>
        </p:sp>
        <p:sp>
          <p:nvSpPr>
            <p:cNvPr id="19" name="TextBox 18"/>
            <p:cNvSpPr txBox="1"/>
            <p:nvPr/>
          </p:nvSpPr>
          <p:spPr>
            <a:xfrm>
              <a:off x="6005602" y="2043546"/>
              <a:ext cx="180491" cy="118796"/>
            </a:xfrm>
            <a:prstGeom prst="rect">
              <a:avLst/>
            </a:prstGeom>
            <a:noFill/>
          </p:spPr>
          <p:txBody>
            <a:bodyPr wrap="none" anchor="ctr" lIns="0" rIns="0" tIns="0" bIns="0">
              <a:noAutofit/>
            </a:bodyPr>
            <a:lstStyle/>
            <a:p>
              <a:pPr algn="ctr"/>
              <a:r>
                <a:rPr sz="650" b="0">
                  <a:solidFill>
                    <a:srgbClr val="1A7F37"/>
                  </a:solidFill>
                  <a:latin typeface="맑은 고딕"/>
                  <a:ea typeface="맑은 고딕"/>
                  <a:cs typeface="맑은 고딕"/>
                </a:rPr>
                <a:t>일치</a:t>
              </a:r>
            </a:p>
          </p:txBody>
        </p:sp>
        <p:cxnSp>
          <p:nvCxnSpPr>
            <p:cNvPr id="20" name="Connector 19"/>
            <p:cNvCxnSpPr/>
            <p:nvPr/>
          </p:nvCxnSpPr>
          <p:spPr>
            <a:xfrm>
              <a:off x="6665818" y="1983267"/>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21264" y="1724190"/>
              <a:ext cx="3212560" cy="518155"/>
            </a:xfrm>
            <a:prstGeom prst="roundRect">
              <a:avLst>
                <a:gd name="adj" fmla="val 11666"/>
              </a:avLst>
            </a:prstGeom>
            <a:solidFill>
              <a:srgbClr val="FDEBD3"/>
            </a:solidFill>
            <a:ln w="13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9439" y="1814867"/>
              <a:ext cx="899862" cy="156310"/>
            </a:xfrm>
            <a:prstGeom prst="rect">
              <a:avLst/>
            </a:prstGeom>
            <a:noFill/>
          </p:spPr>
          <p:txBody>
            <a:bodyPr wrap="none" anchor="ctr" lIns="0" rIns="0" tIns="0" bIns="0">
              <a:noAutofit/>
            </a:bodyPr>
            <a:lstStyle/>
            <a:p>
              <a:pPr algn="l"/>
              <a:r>
                <a:rPr sz="850" b="1">
                  <a:solidFill>
                    <a:srgbClr val="B45409"/>
                  </a:solidFill>
                  <a:latin typeface="맑은 고딕"/>
                  <a:ea typeface="맑은 고딕"/>
                  <a:cs typeface="맑은 고딕"/>
                </a:rPr>
                <a:t>카드 1장 → core 8</a:t>
              </a:r>
            </a:p>
          </p:txBody>
        </p:sp>
        <p:sp>
          <p:nvSpPr>
            <p:cNvPr id="23" name="TextBox 22"/>
            <p:cNvSpPr txBox="1"/>
            <p:nvPr/>
          </p:nvSpPr>
          <p:spPr>
            <a:xfrm>
              <a:off x="6959439" y="2007621"/>
              <a:ext cx="1544322"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furiosa-smi 가 보고하는 카드당 core 수</a:t>
              </a:r>
            </a:p>
          </p:txBody>
        </p:sp>
        <p:sp>
          <p:nvSpPr>
            <p:cNvPr id="24" name="Rounded Rectangle 23"/>
            <p:cNvSpPr/>
            <p:nvPr/>
          </p:nvSpPr>
          <p:spPr>
            <a:xfrm>
              <a:off x="2157871" y="2311432"/>
              <a:ext cx="3212560" cy="518155"/>
            </a:xfrm>
            <a:prstGeom prst="roundRect">
              <a:avLst>
                <a:gd name="adj" fmla="val 11666"/>
              </a:avLst>
            </a:prstGeom>
            <a:solidFill>
              <a:srgbClr val="E3EEFB"/>
            </a:solidFill>
            <a:ln w="13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96045" y="2402109"/>
              <a:ext cx="1170706" cy="156310"/>
            </a:xfrm>
            <a:prstGeom prst="rect">
              <a:avLst/>
            </a:prstGeom>
            <a:noFill/>
          </p:spPr>
          <p:txBody>
            <a:bodyPr wrap="none" anchor="ctr" lIns="0" rIns="0" tIns="0" bIns="0">
              <a:noAutofit/>
            </a:bodyPr>
            <a:lstStyle/>
            <a:p>
              <a:pPr algn="l"/>
              <a:r>
                <a:rPr sz="850" b="1">
                  <a:solidFill>
                    <a:srgbClr val="083F80"/>
                  </a:solidFill>
                  <a:latin typeface="맑은 고딕"/>
                  <a:ea typeface="맑은 고딕"/>
                  <a:cs typeface="맑은 고딕"/>
                </a:rPr>
                <a:t>PE당 slice 64 + 1 (예비)</a:t>
              </a:r>
            </a:p>
          </p:txBody>
        </p:sp>
        <p:sp>
          <p:nvSpPr>
            <p:cNvPr id="26" name="TextBox 25"/>
            <p:cNvSpPr txBox="1"/>
            <p:nvPr/>
          </p:nvSpPr>
          <p:spPr>
            <a:xfrm>
              <a:off x="2296045" y="2594863"/>
              <a:ext cx="1609428"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chip당 8 × 64 = 512 · 1개는 수율용 예비</a:t>
              </a:r>
            </a:p>
          </p:txBody>
        </p:sp>
        <p:cxnSp>
          <p:nvCxnSpPr>
            <p:cNvPr id="27" name="Connector 26"/>
            <p:cNvCxnSpPr/>
            <p:nvPr/>
          </p:nvCxnSpPr>
          <p:spPr>
            <a:xfrm>
              <a:off x="5370431" y="2570510"/>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525877" y="2380519"/>
              <a:ext cx="1139941" cy="379980"/>
            </a:xfrm>
            <a:prstGeom prst="roundRect">
              <a:avLst>
                <a:gd name="adj" fmla="val 13636"/>
              </a:avLst>
            </a:prstGeom>
            <a:solidFill>
              <a:srgbClr val="E2F4E8"/>
            </a:solidFill>
            <a:ln w="13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57889" y="2437517"/>
              <a:ext cx="275917" cy="187572"/>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512</a:t>
              </a:r>
            </a:p>
          </p:txBody>
        </p:sp>
        <p:sp>
          <p:nvSpPr>
            <p:cNvPr id="30" name="TextBox 29"/>
            <p:cNvSpPr txBox="1"/>
            <p:nvPr/>
          </p:nvSpPr>
          <p:spPr>
            <a:xfrm>
              <a:off x="6005602" y="2630788"/>
              <a:ext cx="180491" cy="118796"/>
            </a:xfrm>
            <a:prstGeom prst="rect">
              <a:avLst/>
            </a:prstGeom>
            <a:noFill/>
          </p:spPr>
          <p:txBody>
            <a:bodyPr wrap="none" anchor="ctr" lIns="0" rIns="0" tIns="0" bIns="0">
              <a:noAutofit/>
            </a:bodyPr>
            <a:lstStyle/>
            <a:p>
              <a:pPr algn="ctr"/>
              <a:r>
                <a:rPr sz="650" b="0">
                  <a:solidFill>
                    <a:srgbClr val="1A7F37"/>
                  </a:solidFill>
                  <a:latin typeface="맑은 고딕"/>
                  <a:ea typeface="맑은 고딕"/>
                  <a:cs typeface="맑은 고딕"/>
                </a:rPr>
                <a:t>일치</a:t>
              </a:r>
            </a:p>
          </p:txBody>
        </p:sp>
        <p:cxnSp>
          <p:nvCxnSpPr>
            <p:cNvPr id="31" name="Connector 30"/>
            <p:cNvCxnSpPr/>
            <p:nvPr/>
          </p:nvCxnSpPr>
          <p:spPr>
            <a:xfrm>
              <a:off x="6665818" y="2570510"/>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821264" y="2311432"/>
              <a:ext cx="3212560" cy="518155"/>
            </a:xfrm>
            <a:prstGeom prst="roundRect">
              <a:avLst>
                <a:gd name="adj" fmla="val 11666"/>
              </a:avLst>
            </a:prstGeom>
            <a:solidFill>
              <a:srgbClr val="FDEBD3"/>
            </a:solidFill>
            <a:ln w="13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59439" y="2402109"/>
              <a:ext cx="1127850" cy="156310"/>
            </a:xfrm>
            <a:prstGeom prst="rect">
              <a:avLst/>
            </a:prstGeom>
            <a:noFill/>
          </p:spPr>
          <p:txBody>
            <a:bodyPr wrap="none" anchor="ctr" lIns="0" rIns="0" tIns="0" bIns="0">
              <a:noAutofit/>
            </a:bodyPr>
            <a:lstStyle/>
            <a:p>
              <a:pPr algn="l"/>
              <a:r>
                <a:rPr sz="850" b="1">
                  <a:solidFill>
                    <a:srgbClr val="B45409"/>
                  </a:solidFill>
                  <a:latin typeface="맑은 고딕"/>
                  <a:ea typeface="맑은 고딕"/>
                  <a:cs typeface="맑은 고딕"/>
                </a:rPr>
                <a:t>Cluster 2 × Slice 256</a:t>
              </a:r>
            </a:p>
          </p:txBody>
        </p:sp>
        <p:sp>
          <p:nvSpPr>
            <p:cNvPr id="34" name="TextBox 33"/>
            <p:cNvSpPr txBox="1"/>
            <p:nvPr/>
          </p:nvSpPr>
          <p:spPr>
            <a:xfrm>
              <a:off x="6959439" y="2594863"/>
              <a:ext cx="1152234"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vISA 공간축 · 2 × 256 = 512</a:t>
              </a:r>
            </a:p>
          </p:txBody>
        </p:sp>
        <p:sp>
          <p:nvSpPr>
            <p:cNvPr id="35" name="Rounded Rectangle 34"/>
            <p:cNvSpPr/>
            <p:nvPr/>
          </p:nvSpPr>
          <p:spPr>
            <a:xfrm>
              <a:off x="2157871" y="2898674"/>
              <a:ext cx="3212560" cy="518155"/>
            </a:xfrm>
            <a:prstGeom prst="roundRect">
              <a:avLst>
                <a:gd name="adj" fmla="val 11666"/>
              </a:avLst>
            </a:prstGeom>
            <a:solidFill>
              <a:srgbClr val="E3EEFB"/>
            </a:solidFill>
            <a:ln w="13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96045" y="2989351"/>
              <a:ext cx="1106908" cy="156310"/>
            </a:xfrm>
            <a:prstGeom prst="rect">
              <a:avLst/>
            </a:prstGeom>
            <a:noFill/>
          </p:spPr>
          <p:txBody>
            <a:bodyPr wrap="none" anchor="ctr" lIns="0" rIns="0" tIns="0" bIns="0">
              <a:noAutofit/>
            </a:bodyPr>
            <a:lstStyle/>
            <a:p>
              <a:pPr algn="l"/>
              <a:r>
                <a:rPr sz="850" b="1">
                  <a:solidFill>
                    <a:srgbClr val="083F80"/>
                  </a:solidFill>
                  <a:latin typeface="맑은 고딕"/>
                  <a:ea typeface="맑은 고딕"/>
                  <a:cs typeface="맑은 고딕"/>
                </a:rPr>
                <a:t>CE(축약 엔진)당 DPE 8</a:t>
              </a:r>
            </a:p>
          </p:txBody>
        </p:sp>
        <p:sp>
          <p:nvSpPr>
            <p:cNvPr id="37" name="TextBox 36"/>
            <p:cNvSpPr txBox="1"/>
            <p:nvPr/>
          </p:nvSpPr>
          <p:spPr>
            <a:xfrm>
              <a:off x="2296045" y="3182105"/>
              <a:ext cx="1248170"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dot-product engine, 내적 엔진</a:t>
              </a:r>
            </a:p>
          </p:txBody>
        </p:sp>
        <p:cxnSp>
          <p:nvCxnSpPr>
            <p:cNvPr id="38" name="Connector 37"/>
            <p:cNvCxnSpPr/>
            <p:nvPr/>
          </p:nvCxnSpPr>
          <p:spPr>
            <a:xfrm>
              <a:off x="5370431" y="3157752"/>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525877" y="2967762"/>
              <a:ext cx="1139941" cy="379980"/>
            </a:xfrm>
            <a:prstGeom prst="roundRect">
              <a:avLst>
                <a:gd name="adj" fmla="val 13636"/>
              </a:avLst>
            </a:prstGeom>
            <a:solidFill>
              <a:srgbClr val="E2F4E8"/>
            </a:solidFill>
            <a:ln w="13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34317" y="3024759"/>
              <a:ext cx="123062" cy="187572"/>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8</a:t>
              </a:r>
            </a:p>
          </p:txBody>
        </p:sp>
        <p:sp>
          <p:nvSpPr>
            <p:cNvPr id="41" name="TextBox 40"/>
            <p:cNvSpPr txBox="1"/>
            <p:nvPr/>
          </p:nvSpPr>
          <p:spPr>
            <a:xfrm>
              <a:off x="6005602" y="3218030"/>
              <a:ext cx="180491" cy="118796"/>
            </a:xfrm>
            <a:prstGeom prst="rect">
              <a:avLst/>
            </a:prstGeom>
            <a:noFill/>
          </p:spPr>
          <p:txBody>
            <a:bodyPr wrap="none" anchor="ctr" lIns="0" rIns="0" tIns="0" bIns="0">
              <a:noAutofit/>
            </a:bodyPr>
            <a:lstStyle/>
            <a:p>
              <a:pPr algn="ctr"/>
              <a:r>
                <a:rPr sz="650" b="0">
                  <a:solidFill>
                    <a:srgbClr val="1A7F37"/>
                  </a:solidFill>
                  <a:latin typeface="맑은 고딕"/>
                  <a:ea typeface="맑은 고딕"/>
                  <a:cs typeface="맑은 고딕"/>
                </a:rPr>
                <a:t>일치</a:t>
              </a:r>
            </a:p>
          </p:txBody>
        </p:sp>
        <p:cxnSp>
          <p:nvCxnSpPr>
            <p:cNvPr id="42" name="Connector 41"/>
            <p:cNvCxnSpPr/>
            <p:nvPr/>
          </p:nvCxnSpPr>
          <p:spPr>
            <a:xfrm>
              <a:off x="6665818" y="3157752"/>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821264" y="2898674"/>
              <a:ext cx="3212560" cy="518155"/>
            </a:xfrm>
            <a:prstGeom prst="roundRect">
              <a:avLst>
                <a:gd name="adj" fmla="val 11666"/>
              </a:avLst>
            </a:prstGeom>
            <a:solidFill>
              <a:srgbClr val="FDEBD3"/>
            </a:solidFill>
            <a:ln w="13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59439" y="2989351"/>
              <a:ext cx="840059" cy="156310"/>
            </a:xfrm>
            <a:prstGeom prst="rect">
              <a:avLst/>
            </a:prstGeom>
            <a:noFill/>
          </p:spPr>
          <p:txBody>
            <a:bodyPr wrap="none" anchor="ctr" lIns="0" rIns="0" tIns="0" bIns="0">
              <a:noAutofit/>
            </a:bodyPr>
            <a:lstStyle/>
            <a:p>
              <a:pPr algn="l"/>
              <a:r>
                <a:rPr sz="850" b="1">
                  <a:solidFill>
                    <a:srgbClr val="B45409"/>
                  </a:solidFill>
                  <a:latin typeface="맑은 고딕"/>
                  <a:ea typeface="맑은 고딕"/>
                  <a:cs typeface="맑은 고딕"/>
                </a:rPr>
                <a:t>공간축 Lane ≤ 8</a:t>
              </a:r>
            </a:p>
          </p:txBody>
        </p:sp>
        <p:sp>
          <p:nvSpPr>
            <p:cNvPr id="45" name="TextBox 44"/>
            <p:cNvSpPr txBox="1"/>
            <p:nvPr/>
          </p:nvSpPr>
          <p:spPr>
            <a:xfrm>
              <a:off x="6959439" y="3182105"/>
              <a:ext cx="1318264"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vISA 가 노출하는 슬라이스 내부 축</a:t>
              </a:r>
            </a:p>
          </p:txBody>
        </p:sp>
        <p:sp>
          <p:nvSpPr>
            <p:cNvPr id="46" name="Rounded Rectangle 45"/>
            <p:cNvSpPr/>
            <p:nvPr/>
          </p:nvSpPr>
          <p:spPr>
            <a:xfrm>
              <a:off x="2157871" y="3485916"/>
              <a:ext cx="3212560" cy="518155"/>
            </a:xfrm>
            <a:prstGeom prst="roundRect">
              <a:avLst>
                <a:gd name="adj" fmla="val 11666"/>
              </a:avLst>
            </a:prstGeom>
            <a:solidFill>
              <a:srgbClr val="E3EEFB"/>
            </a:solidFill>
            <a:ln w="13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96045" y="3576594"/>
              <a:ext cx="1141020" cy="156310"/>
            </a:xfrm>
            <a:prstGeom prst="rect">
              <a:avLst/>
            </a:prstGeom>
            <a:noFill/>
          </p:spPr>
          <p:txBody>
            <a:bodyPr wrap="none" anchor="ctr" lIns="0" rIns="0" tIns="0" bIns="0">
              <a:noAutofit/>
            </a:bodyPr>
            <a:lstStyle/>
            <a:p>
              <a:pPr algn="l"/>
              <a:r>
                <a:rPr sz="850" b="1">
                  <a:solidFill>
                    <a:srgbClr val="083F80"/>
                  </a:solidFill>
                  <a:latin typeface="맑은 고딕"/>
                  <a:ea typeface="맑은 고딕"/>
                  <a:cs typeface="맑은 고딕"/>
                </a:rPr>
                <a:t>DPE 입력 벡터 32 BF16</a:t>
              </a:r>
            </a:p>
          </p:txBody>
        </p:sp>
        <p:sp>
          <p:nvSpPr>
            <p:cNvPr id="48" name="TextBox 47"/>
            <p:cNvSpPr txBox="1"/>
            <p:nvPr/>
          </p:nvSpPr>
          <p:spPr>
            <a:xfrm>
              <a:off x="2296045" y="3769347"/>
              <a:ext cx="1698201"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 64 FP8 / 64 INT8 / 128 INT4 와 같은 크기</a:t>
              </a:r>
            </a:p>
          </p:txBody>
        </p:sp>
        <p:cxnSp>
          <p:nvCxnSpPr>
            <p:cNvPr id="49" name="Connector 48"/>
            <p:cNvCxnSpPr/>
            <p:nvPr/>
          </p:nvCxnSpPr>
          <p:spPr>
            <a:xfrm>
              <a:off x="5370431" y="3744994"/>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5525877" y="3555004"/>
              <a:ext cx="1139941" cy="379980"/>
            </a:xfrm>
            <a:prstGeom prst="roundRect">
              <a:avLst>
                <a:gd name="adj" fmla="val 13636"/>
              </a:avLst>
            </a:prstGeom>
            <a:solidFill>
              <a:srgbClr val="E2F4E8"/>
            </a:solidFill>
            <a:ln w="13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37292" y="3612001"/>
              <a:ext cx="317111" cy="187572"/>
            </a:xfrm>
            <a:prstGeom prst="rect">
              <a:avLst/>
            </a:prstGeom>
            <a:noFill/>
          </p:spPr>
          <p:txBody>
            <a:bodyPr wrap="none" anchor="ctr" lIns="0" rIns="0" tIns="0" bIns="0">
              <a:noAutofit/>
            </a:bodyPr>
            <a:lstStyle/>
            <a:p>
              <a:pPr algn="ctr"/>
              <a:r>
                <a:rPr sz="1019" b="1">
                  <a:solidFill>
                    <a:srgbClr val="1A7F37"/>
                  </a:solidFill>
                  <a:latin typeface="맑은 고딕"/>
                  <a:ea typeface="맑은 고딕"/>
                  <a:cs typeface="맑은 고딕"/>
                </a:rPr>
                <a:t>64 B</a:t>
              </a:r>
            </a:p>
          </p:txBody>
        </p:sp>
        <p:sp>
          <p:nvSpPr>
            <p:cNvPr id="52" name="TextBox 51"/>
            <p:cNvSpPr txBox="1"/>
            <p:nvPr/>
          </p:nvSpPr>
          <p:spPr>
            <a:xfrm>
              <a:off x="6005602" y="3805273"/>
              <a:ext cx="180491" cy="118796"/>
            </a:xfrm>
            <a:prstGeom prst="rect">
              <a:avLst/>
            </a:prstGeom>
            <a:noFill/>
          </p:spPr>
          <p:txBody>
            <a:bodyPr wrap="none" anchor="ctr" lIns="0" rIns="0" tIns="0" bIns="0">
              <a:noAutofit/>
            </a:bodyPr>
            <a:lstStyle/>
            <a:p>
              <a:pPr algn="ctr"/>
              <a:r>
                <a:rPr sz="650" b="0">
                  <a:solidFill>
                    <a:srgbClr val="1A7F37"/>
                  </a:solidFill>
                  <a:latin typeface="맑은 고딕"/>
                  <a:ea typeface="맑은 고딕"/>
                  <a:cs typeface="맑은 고딕"/>
                </a:rPr>
                <a:t>일치</a:t>
              </a:r>
            </a:p>
          </p:txBody>
        </p:sp>
        <p:cxnSp>
          <p:nvCxnSpPr>
            <p:cNvPr id="53" name="Connector 52"/>
            <p:cNvCxnSpPr/>
            <p:nvPr/>
          </p:nvCxnSpPr>
          <p:spPr>
            <a:xfrm>
              <a:off x="6665818" y="3744994"/>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821264" y="3485916"/>
              <a:ext cx="3212560" cy="518155"/>
            </a:xfrm>
            <a:prstGeom prst="roundRect">
              <a:avLst>
                <a:gd name="adj" fmla="val 11666"/>
              </a:avLst>
            </a:prstGeom>
            <a:solidFill>
              <a:srgbClr val="FDEBD3"/>
            </a:solidFill>
            <a:ln w="13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59439" y="3576594"/>
              <a:ext cx="778420" cy="156310"/>
            </a:xfrm>
            <a:prstGeom prst="rect">
              <a:avLst/>
            </a:prstGeom>
            <a:noFill/>
          </p:spPr>
          <p:txBody>
            <a:bodyPr wrap="none" anchor="ctr" lIns="0" rIns="0" tIns="0" bIns="0">
              <a:noAutofit/>
            </a:bodyPr>
            <a:lstStyle/>
            <a:p>
              <a:pPr algn="l"/>
              <a:r>
                <a:rPr sz="850" b="1">
                  <a:solidFill>
                    <a:srgbClr val="B45409"/>
                  </a:solidFill>
                  <a:latin typeface="맑은 고딕"/>
                  <a:ea typeface="맑은 고딕"/>
                  <a:cs typeface="맑은 고딕"/>
                </a:rPr>
                <a:t>Packet ≤ 64 B</a:t>
              </a:r>
            </a:p>
          </p:txBody>
        </p:sp>
        <p:sp>
          <p:nvSpPr>
            <p:cNvPr id="56" name="TextBox 55"/>
            <p:cNvSpPr txBox="1"/>
            <p:nvPr/>
          </p:nvSpPr>
          <p:spPr>
            <a:xfrm>
              <a:off x="6959439" y="3769347"/>
              <a:ext cx="493827"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 bf16 32개</a:t>
              </a:r>
            </a:p>
          </p:txBody>
        </p:sp>
        <p:sp>
          <p:nvSpPr>
            <p:cNvPr id="57" name="Rounded Rectangle 56"/>
            <p:cNvSpPr/>
            <p:nvPr/>
          </p:nvSpPr>
          <p:spPr>
            <a:xfrm>
              <a:off x="2157871" y="4073159"/>
              <a:ext cx="3212560" cy="518155"/>
            </a:xfrm>
            <a:prstGeom prst="roundRect">
              <a:avLst>
                <a:gd name="adj" fmla="val 11666"/>
              </a:avLst>
            </a:prstGeom>
            <a:solidFill>
              <a:srgbClr val="E3EEFB"/>
            </a:solidFill>
            <a:ln w="13817">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96045" y="4163836"/>
              <a:ext cx="1117163" cy="156310"/>
            </a:xfrm>
            <a:prstGeom prst="rect">
              <a:avLst/>
            </a:prstGeom>
            <a:noFill/>
          </p:spPr>
          <p:txBody>
            <a:bodyPr wrap="none" anchor="ctr" lIns="0" rIns="0" tIns="0" bIns="0">
              <a:noAutofit/>
            </a:bodyPr>
            <a:lstStyle/>
            <a:p>
              <a:pPr algn="l"/>
              <a:r>
                <a:rPr sz="850" b="1">
                  <a:solidFill>
                    <a:srgbClr val="083F80"/>
                  </a:solidFill>
                  <a:latin typeface="맑은 고딕"/>
                  <a:ea typeface="맑은 고딕"/>
                  <a:cs typeface="맑은 고딕"/>
                </a:rPr>
                <a:t>PE당 TU SRAM 32 MB</a:t>
              </a:r>
            </a:p>
          </p:txBody>
        </p:sp>
        <p:sp>
          <p:nvSpPr>
            <p:cNvPr id="59" name="TextBox 58"/>
            <p:cNvSpPr txBox="1"/>
            <p:nvPr/>
          </p:nvSpPr>
          <p:spPr>
            <a:xfrm>
              <a:off x="2296045" y="4356589"/>
              <a:ext cx="992824"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PE 최대 전송률 256 GB/s</a:t>
              </a:r>
            </a:p>
          </p:txBody>
        </p:sp>
        <p:cxnSp>
          <p:nvCxnSpPr>
            <p:cNvPr id="60" name="Connector 59"/>
            <p:cNvCxnSpPr/>
            <p:nvPr/>
          </p:nvCxnSpPr>
          <p:spPr>
            <a:xfrm>
              <a:off x="5370431" y="4332236"/>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5525877" y="4142246"/>
              <a:ext cx="1139941" cy="379980"/>
            </a:xfrm>
            <a:prstGeom prst="roundRect">
              <a:avLst>
                <a:gd name="adj" fmla="val 13636"/>
              </a:avLst>
            </a:prstGeom>
            <a:solidFill>
              <a:srgbClr val="E2F4E8"/>
            </a:solidFill>
            <a:ln w="13817">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894847" y="4198379"/>
              <a:ext cx="402002" cy="156310"/>
            </a:xfrm>
            <a:prstGeom prst="rect">
              <a:avLst/>
            </a:prstGeom>
            <a:noFill/>
          </p:spPr>
          <p:txBody>
            <a:bodyPr wrap="none" anchor="ctr" lIns="0" rIns="0" tIns="0" bIns="0">
              <a:noAutofit/>
            </a:bodyPr>
            <a:lstStyle/>
            <a:p>
              <a:pPr algn="ctr"/>
              <a:r>
                <a:rPr sz="850" b="1">
                  <a:solidFill>
                    <a:srgbClr val="1A7F37"/>
                  </a:solidFill>
                  <a:latin typeface="맑은 고딕"/>
                  <a:ea typeface="맑은 고딕"/>
                  <a:cs typeface="맑은 고딕"/>
                </a:rPr>
                <a:t>512 KB</a:t>
              </a:r>
            </a:p>
          </p:txBody>
        </p:sp>
        <p:sp>
          <p:nvSpPr>
            <p:cNvPr id="63" name="TextBox 62"/>
            <p:cNvSpPr txBox="1"/>
            <p:nvPr/>
          </p:nvSpPr>
          <p:spPr>
            <a:xfrm>
              <a:off x="5845568" y="4353826"/>
              <a:ext cx="500559" cy="156310"/>
            </a:xfrm>
            <a:prstGeom prst="rect">
              <a:avLst/>
            </a:prstGeom>
            <a:noFill/>
          </p:spPr>
          <p:txBody>
            <a:bodyPr wrap="none" anchor="ctr" lIns="0" rIns="0" tIns="0" bIns="0">
              <a:noAutofit/>
            </a:bodyPr>
            <a:lstStyle/>
            <a:p>
              <a:pPr algn="ctr"/>
              <a:r>
                <a:rPr sz="850" b="1">
                  <a:solidFill>
                    <a:srgbClr val="1A7F37"/>
                  </a:solidFill>
                  <a:latin typeface="맑은 고딕"/>
                  <a:ea typeface="맑은 고딕"/>
                  <a:cs typeface="맑은 고딕"/>
                </a:rPr>
                <a:t>256 GB/s</a:t>
              </a:r>
            </a:p>
          </p:txBody>
        </p:sp>
        <p:cxnSp>
          <p:nvCxnSpPr>
            <p:cNvPr id="64" name="Connector 63"/>
            <p:cNvCxnSpPr/>
            <p:nvPr/>
          </p:nvCxnSpPr>
          <p:spPr>
            <a:xfrm>
              <a:off x="6665818" y="4332236"/>
              <a:ext cx="155446" cy="0"/>
            </a:xfrm>
            <a:prstGeom prst="line">
              <a:avLst/>
            </a:prstGeom>
            <a:ln w="15544">
              <a:solidFill>
                <a:srgbClr val="1A7F37"/>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821264" y="4073159"/>
              <a:ext cx="3212560" cy="518155"/>
            </a:xfrm>
            <a:prstGeom prst="roundRect">
              <a:avLst>
                <a:gd name="adj" fmla="val 11666"/>
              </a:avLst>
            </a:prstGeom>
            <a:solidFill>
              <a:srgbClr val="FDEBD3"/>
            </a:solidFill>
            <a:ln w="138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959439" y="4163836"/>
              <a:ext cx="1793571" cy="156310"/>
            </a:xfrm>
            <a:prstGeom prst="rect">
              <a:avLst/>
            </a:prstGeom>
            <a:noFill/>
          </p:spPr>
          <p:txBody>
            <a:bodyPr wrap="none" anchor="ctr" lIns="0" rIns="0" tIns="0" bIns="0">
              <a:noAutofit/>
            </a:bodyPr>
            <a:lstStyle/>
            <a:p>
              <a:pPr algn="l"/>
              <a:r>
                <a:rPr sz="850" b="1">
                  <a:solidFill>
                    <a:srgbClr val="B45409"/>
                  </a:solidFill>
                  <a:latin typeface="맑은 고딕"/>
                  <a:ea typeface="맑은 고딕"/>
                  <a:cs typeface="맑은 고딕"/>
                </a:rPr>
                <a:t>DM slice당 512 KB · DMA 256 GB/s</a:t>
              </a:r>
            </a:p>
          </p:txBody>
        </p:sp>
        <p:sp>
          <p:nvSpPr>
            <p:cNvPr id="67" name="TextBox 66"/>
            <p:cNvSpPr txBox="1"/>
            <p:nvPr/>
          </p:nvSpPr>
          <p:spPr>
            <a:xfrm>
              <a:off x="6959439" y="4356589"/>
              <a:ext cx="1580955"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 512 slice = 256 MB — 두 값 모두 일치</a:t>
              </a:r>
            </a:p>
          </p:txBody>
        </p:sp>
        <p:sp>
          <p:nvSpPr>
            <p:cNvPr id="68" name="Rounded Rectangle 67"/>
            <p:cNvSpPr/>
            <p:nvPr/>
          </p:nvSpPr>
          <p:spPr>
            <a:xfrm>
              <a:off x="2157871" y="4712216"/>
              <a:ext cx="3937977" cy="829048"/>
            </a:xfrm>
            <a:prstGeom prst="roundRect">
              <a:avLst>
                <a:gd name="adj" fmla="val 7291"/>
              </a:avLst>
            </a:prstGeom>
            <a:solidFill>
              <a:srgbClr val="F4F8FD"/>
            </a:solidFill>
            <a:ln w="12090">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13317" y="4781994"/>
              <a:ext cx="751739" cy="150058"/>
            </a:xfrm>
            <a:prstGeom prst="rect">
              <a:avLst/>
            </a:prstGeom>
            <a:noFill/>
          </p:spPr>
          <p:txBody>
            <a:bodyPr wrap="none" anchor="ctr" lIns="0" rIns="0" tIns="0" bIns="0">
              <a:noAutofit/>
            </a:bodyPr>
            <a:lstStyle/>
            <a:p>
              <a:pPr algn="l"/>
              <a:r>
                <a:rPr sz="819" b="1">
                  <a:solidFill>
                    <a:srgbClr val="083F80"/>
                  </a:solidFill>
                  <a:latin typeface="맑은 고딕"/>
                  <a:ea typeface="맑은 고딕"/>
                  <a:cs typeface="맑은 고딕"/>
                </a:rPr>
                <a:t>논문에만 있는 것</a:t>
              </a:r>
            </a:p>
          </p:txBody>
        </p:sp>
        <p:sp>
          <p:nvSpPr>
            <p:cNvPr id="70" name="TextBox 69"/>
            <p:cNvSpPr txBox="1"/>
            <p:nvPr/>
          </p:nvSpPr>
          <p:spPr>
            <a:xfrm>
              <a:off x="2313317" y="4987011"/>
              <a:ext cx="1971139"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DM slice 내부 16 bank × 8 B → slice당 128 GB/s</a:t>
              </a:r>
            </a:p>
          </p:txBody>
        </p:sp>
        <p:sp>
          <p:nvSpPr>
            <p:cNvPr id="71" name="TextBox 70"/>
            <p:cNvSpPr txBox="1"/>
            <p:nvPr/>
          </p:nvSpPr>
          <p:spPr>
            <a:xfrm>
              <a:off x="2313317" y="5151093"/>
              <a:ext cx="2175978"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accumulation unit — slice당 누산기 1024개 (unit당 4)</a:t>
              </a:r>
            </a:p>
          </p:txBody>
        </p:sp>
        <p:sp>
          <p:nvSpPr>
            <p:cNvPr id="72" name="TextBox 71"/>
            <p:cNvSpPr txBox="1"/>
            <p:nvPr/>
          </p:nvSpPr>
          <p:spPr>
            <a:xfrm>
              <a:off x="2313317" y="5315176"/>
              <a:ext cx="2060728"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예비 slice 1개가 소프트웨어에 어떻게 보이는지는 없다</a:t>
              </a:r>
            </a:p>
          </p:txBody>
        </p:sp>
        <p:sp>
          <p:nvSpPr>
            <p:cNvPr id="73" name="Rounded Rectangle 72"/>
            <p:cNvSpPr/>
            <p:nvPr/>
          </p:nvSpPr>
          <p:spPr>
            <a:xfrm>
              <a:off x="6199478" y="4712216"/>
              <a:ext cx="3834346" cy="829048"/>
            </a:xfrm>
            <a:prstGeom prst="roundRect">
              <a:avLst>
                <a:gd name="adj" fmla="val 7291"/>
              </a:avLst>
            </a:prstGeom>
            <a:solidFill>
              <a:srgbClr val="FDF7F0"/>
            </a:solidFill>
            <a:ln w="12090">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54925" y="4781994"/>
              <a:ext cx="1393111" cy="150058"/>
            </a:xfrm>
            <a:prstGeom prst="rect">
              <a:avLst/>
            </a:prstGeom>
            <a:noFill/>
          </p:spPr>
          <p:txBody>
            <a:bodyPr wrap="none" anchor="ctr" lIns="0" rIns="0" tIns="0" bIns="0">
              <a:noAutofit/>
            </a:bodyPr>
            <a:lstStyle/>
            <a:p>
              <a:pPr algn="l"/>
              <a:r>
                <a:rPr sz="819" b="1">
                  <a:solidFill>
                    <a:srgbClr val="B45409"/>
                  </a:solidFill>
                  <a:latin typeface="맑은 고딕"/>
                  <a:ea typeface="맑은 고딕"/>
                  <a:cs typeface="맑은 고딕"/>
                </a:rPr>
                <a:t>어긋나는 한 곳 — 레지스터 파일</a:t>
              </a:r>
            </a:p>
          </p:txBody>
        </p:sp>
        <p:sp>
          <p:nvSpPr>
            <p:cNvPr id="75" name="TextBox 74"/>
            <p:cNvSpPr txBox="1"/>
            <p:nvPr/>
          </p:nvSpPr>
          <p:spPr>
            <a:xfrm>
              <a:off x="6354925" y="4987011"/>
              <a:ext cx="1822700"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논문: slice당 80 KB + 소형 캐시 (하나로 다룬다)</a:t>
              </a:r>
            </a:p>
          </p:txBody>
        </p:sp>
        <p:sp>
          <p:nvSpPr>
            <p:cNvPr id="76" name="TextBox 75"/>
            <p:cNvSpPr txBox="1"/>
            <p:nvPr/>
          </p:nvSpPr>
          <p:spPr>
            <a:xfrm>
              <a:off x="6354925" y="5151093"/>
              <a:ext cx="1790238"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우리: TRF 8 KB × 8 lane + VRF 8 KB = 72 KB</a:t>
              </a:r>
            </a:p>
          </p:txBody>
        </p:sp>
        <p:sp>
          <p:nvSpPr>
            <p:cNvPr id="77" name="TextBox 76"/>
            <p:cNvSpPr txBox="1"/>
            <p:nvPr/>
          </p:nvSpPr>
          <p:spPr>
            <a:xfrm>
              <a:off x="6354925" y="5315176"/>
              <a:ext cx="1890436" cy="131300"/>
            </a:xfrm>
            <a:prstGeom prst="rect">
              <a:avLst/>
            </a:prstGeom>
            <a:noFill/>
          </p:spPr>
          <p:txBody>
            <a:bodyPr wrap="none" anchor="ctr" lIns="0" rIns="0" tIns="0" bIns="0">
              <a:noAutofit/>
            </a:bodyPr>
            <a:lstStyle/>
            <a:p>
              <a:pPr algn="l"/>
              <a:r>
                <a:rPr sz="710" b="0">
                  <a:solidFill>
                    <a:srgbClr val="16202C"/>
                  </a:solidFill>
                  <a:latin typeface="맑은 고딕"/>
                  <a:ea typeface="맑은 고딕"/>
                  <a:cs typeface="맑은 고딕"/>
                </a:rPr>
                <a:t>8 KB 차. 논문이 나누지 않아 대응 자체가 불명이다</a:t>
              </a:r>
            </a:p>
          </p:txBody>
        </p:sp>
      </p:grpSp>
      <p:sp>
        <p:nvSpPr>
          <p:cNvPr id="78" name="Rectangle 7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slice 512개, DPE 8개, packet 64 B, DM 512 KB, DMA 256 GB/s — 다섯 지점이 정확히 맞는다.</a:t>
            </a:r>
          </a:p>
        </p:txBody>
      </p:sp>
      <p:sp>
        <p:nvSpPr>
          <p:cNvPr id="79" name="Rectangle 7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1-b · 칩 조직 대조 — 이름은 달라도 바닥의 수가 같다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논문 chip→PE→slice→DPE vs vISA Chip→Cluster→Slice→Lane</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275</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이 다섯 지점이 ‘같은 칩이다’라고 말할 수 있는 근거 전부다. PE 융합 단위는 실기 HAL 오류의 ClusterId(npu0pe0-3)로만 간접 확인된다.</a:t>
            </a:r>
          </a:p>
          <a:p>
            <a:pPr algn="l">
              <a:lnSpc>
                <a:spcPct val="118000"/>
              </a:lnSpc>
              <a:spcBef>
                <a:spcPts val="600"/>
              </a:spcBef>
              <a:spcAft>
                <a:spcPts val="200"/>
              </a:spcAft>
            </a:pPr>
            <a:r>
              <a:rPr sz="1900" b="0" i="0">
                <a:solidFill>
                  <a:srgbClr val="16202C"/>
                </a:solidFill>
                <a:latin typeface="Segoe UI"/>
                <a:ea typeface="맑은 고딕"/>
                <a:cs typeface="맑은 고딕"/>
              </a:rPr>
              <a:t>▪  두 계층 체계를 잇는 공식 대응표는 논문에도 벤더 문서에도 없다. 이 대조는 우리가 만든 것이다.</a:t>
            </a:r>
          </a:p>
          <a:p>
            <a:pPr algn="l">
              <a:lnSpc>
                <a:spcPct val="118000"/>
              </a:lnSpc>
              <a:spcBef>
                <a:spcPts val="200"/>
              </a:spcBef>
              <a:spcAft>
                <a:spcPts val="100"/>
              </a:spcAft>
            </a:pPr>
            <a:r>
              <a:rPr sz="1780" b="0" i="0">
                <a:solidFill>
                  <a:srgbClr val="2C3A4B"/>
                </a:solidFill>
                <a:latin typeface="Segoe UI"/>
                <a:ea typeface="맑은 고딕"/>
                <a:cs typeface="맑은 고딕"/>
              </a:rPr>
              <a:t>–  vISA 문서는 PE 라는 단어를 쓰지 않고, 논문은 Cluster 라는 단어를 쓰지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Lane ≤ 8 과 DPE 8개, Packet 64 B 와 32 BF16 입력은 같은 하드웨어를 다른 이름으로 부른 것으로 읽힌다.</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1-c · 'Cluster' 의 정체 — 산수가 맞는다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276</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0" i="0">
                <a:solidFill>
                  <a:srgbClr val="16202C"/>
                </a:solidFill>
                <a:latin typeface="Segoe UI"/>
                <a:ea typeface="맑은 고딕"/>
                <a:cs typeface="맑은 고딕"/>
              </a:rPr>
              <a:t>▪  vISA 는 Cluster 라는 공간축을 노출한다. chip당 2개, Cluster당 slice 256개다.</a:t>
            </a:r>
          </a:p>
          <a:p>
            <a:pPr algn="l">
              <a:lnSpc>
                <a:spcPct val="118000"/>
              </a:lnSpc>
              <a:spcBef>
                <a:spcPts val="600"/>
              </a:spcBef>
              <a:spcAft>
                <a:spcPts val="200"/>
              </a:spcAft>
            </a:pPr>
            <a:r>
              <a:rPr sz="1700" b="0" i="0">
                <a:solidFill>
                  <a:srgbClr val="16202C"/>
                </a:solidFill>
                <a:latin typeface="Segoe UI"/>
                <a:ea typeface="맑은 고딕"/>
                <a:cs typeface="맑은 고딕"/>
              </a:rPr>
              <a:t>▪  논문에는 Cluster 라는 단어가 없다. 대신 이렇게 적혀 있다 — 'up to four PEs can be fused to form a single, larger PE'.</a:t>
            </a:r>
          </a:p>
          <a:p>
            <a:pPr algn="l">
              <a:lnSpc>
                <a:spcPct val="118000"/>
              </a:lnSpc>
              <a:spcBef>
                <a:spcPts val="600"/>
              </a:spcBef>
              <a:spcAft>
                <a:spcPts val="200"/>
              </a:spcAft>
            </a:pPr>
            <a:r>
              <a:rPr sz="1700" b="1" i="0">
                <a:solidFill>
                  <a:srgbClr val="083F80"/>
                </a:solidFill>
                <a:latin typeface="Segoe UI"/>
                <a:ea typeface="맑은 고딕"/>
                <a:cs typeface="맑은 고딕"/>
              </a:rPr>
              <a:t>▪  산수:</a:t>
            </a:r>
          </a:p>
          <a:p>
            <a:pPr algn="l">
              <a:lnSpc>
                <a:spcPct val="118000"/>
              </a:lnSpc>
              <a:spcBef>
                <a:spcPts val="200"/>
              </a:spcBef>
              <a:spcAft>
                <a:spcPts val="100"/>
              </a:spcAft>
            </a:pPr>
            <a:r>
              <a:rPr sz="1580" b="0" i="0">
                <a:solidFill>
                  <a:srgbClr val="2C3A4B"/>
                </a:solidFill>
                <a:latin typeface="Segoe UI"/>
                <a:ea typeface="맑은 고딕"/>
                <a:cs typeface="맑은 고딕"/>
              </a:rPr>
              <a:t>–  4 PE × 64 slice = 256 slice = vISA 의 Cluster당 slice 수</a:t>
            </a:r>
          </a:p>
          <a:p>
            <a:pPr algn="l">
              <a:lnSpc>
                <a:spcPct val="118000"/>
              </a:lnSpc>
              <a:spcBef>
                <a:spcPts val="200"/>
              </a:spcBef>
              <a:spcAft>
                <a:spcPts val="100"/>
              </a:spcAft>
            </a:pPr>
            <a:r>
              <a:rPr sz="1580" b="0" i="0">
                <a:solidFill>
                  <a:srgbClr val="2C3A4B"/>
                </a:solidFill>
                <a:latin typeface="Segoe UI"/>
                <a:ea typeface="맑은 고딕"/>
                <a:cs typeface="맑은 고딕"/>
              </a:rPr>
              <a:t>–  chip당 2 Cluster × 4 PE = 8 PE = 논문의 chip당 PE 수</a:t>
            </a:r>
          </a:p>
          <a:p>
            <a:pPr algn="l">
              <a:lnSpc>
                <a:spcPct val="118000"/>
              </a:lnSpc>
              <a:spcBef>
                <a:spcPts val="600"/>
              </a:spcBef>
              <a:spcAft>
                <a:spcPts val="200"/>
              </a:spcAft>
            </a:pPr>
            <a:r>
              <a:rPr sz="1700" b="1" i="0">
                <a:solidFill>
                  <a:srgbClr val="083F80"/>
                </a:solidFill>
                <a:latin typeface="Segoe UI"/>
                <a:ea typeface="맑은 고딕"/>
                <a:cs typeface="맑은 고딕"/>
              </a:rPr>
              <a:t>▪  실기 로그가 같은 방향을 가리킨다 — HAL 오류 메시지가 ClusterId(npu0pe0-3) 로 찍힌다. PE 0~3 을 묶은 단위다.</a:t>
            </a:r>
          </a:p>
          <a:p>
            <a:pPr algn="l">
              <a:lnSpc>
                <a:spcPct val="118000"/>
              </a:lnSpc>
              <a:spcBef>
                <a:spcPts val="600"/>
              </a:spcBef>
              <a:spcAft>
                <a:spcPts val="200"/>
              </a:spcAft>
            </a:pPr>
            <a:r>
              <a:rPr sz="1700" b="0" i="0">
                <a:solidFill>
                  <a:srgbClr val="16202C"/>
                </a:solidFill>
                <a:latin typeface="Segoe UI"/>
                <a:ea typeface="맑은 고딕"/>
                <a:cs typeface="맑은 고딕"/>
              </a:rPr>
              <a:t>▪  즉 vISA 의 Cluster 는 논문의 '4 PE 융합' 단위로 읽으면 모든 수가 맞는다.</a:t>
            </a:r>
          </a:p>
          <a:p>
            <a:pPr algn="l">
              <a:lnSpc>
                <a:spcPct val="118000"/>
              </a:lnSpc>
              <a:spcBef>
                <a:spcPts val="600"/>
              </a:spcBef>
              <a:spcAft>
                <a:spcPts val="200"/>
              </a:spcAft>
            </a:pPr>
            <a:r>
              <a:rPr sz="1700" b="1" i="0">
                <a:solidFill>
                  <a:srgbClr val="083F80"/>
                </a:solidFill>
                <a:latin typeface="Segoe UI"/>
                <a:ea typeface="맑은 고딕"/>
                <a:cs typeface="맑은 고딕"/>
              </a:rPr>
              <a:t>▪  단, 이것은 우리 해석이다. 논문은 Cluster 라는 이름도, 융합 단위가 소프트웨어에 어떻게 보이는지도 쓰지 않았다. vISA 문서도 PE 라는 단어를 쓰지 않는다. 두 계층 체계를 잇는 공식 대응표는 어디에도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세 숫자(256, 2, pe0-3)가 동시에 맞는다. 그러나 '맞는다'는 것과 '논문이 그렇게 말했다'는 것은 다르다.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1-d · 맞지 않는 세 곳</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277</a:t>
            </a:r>
          </a:p>
        </p:txBody>
      </p:sp>
      <p:graphicFrame>
        <p:nvGraphicFramePr>
          <p:cNvPr id="8" name="Table 7"/>
          <p:cNvGraphicFramePr>
            <a:graphicFrameLocks noGrp="1"/>
          </p:cNvGraphicFramePr>
          <p:nvPr/>
        </p:nvGraphicFramePr>
        <p:xfrm>
          <a:off x="566928" y="1517904"/>
          <a:ext cx="11057839" cy="1536192"/>
        </p:xfrm>
        <a:graphic>
          <a:graphicData uri="http://schemas.openxmlformats.org/drawingml/2006/table">
            <a:tbl>
              <a:tblPr firstRow="1" bandRow="1">
                <a:tableStyleId>{5C22544A-7EE6-4342-B048-85BDC9FD1C3A}</a:tableStyleId>
              </a:tblPr>
              <a:tblGrid>
                <a:gridCol w="1137378"/>
                <a:gridCol w="1832442"/>
                <a:gridCol w="3412133"/>
                <a:gridCol w="4675886"/>
              </a:tblGrid>
              <a:tr h="384048">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우리 쪽</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차이의 정체</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HBM 용량</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48GB (Table I, Table II 모두)</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furiosa-smi info 48 GiB / status 는 0.00 / 47.50 GiB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0.5 GiB 가 사용자에게 안 보인다. 예약 영역으로 보이지만 논문에 근거가 없다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SRAM 대역폭</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384 TB/s (Table I)</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 §IV-A 의 slice당 128 GB/s × 512 slice = 65.5 TB/s</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 내부의 두 수치를 잇는 설명이 논문에 없다. 우리가 확인할 방법도 없다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레지스터 파일 크기</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slice당 80 KB + 소형 캐시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TRF 8 KB × 8 lane + VRF 8 KB = 72 KB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8 KB 차이. 논문이 RF 를 TRF/VRF 로 나누지 않으므로 대응 자체가 불명이다</a:t>
                      </a:r>
                    </a:p>
                  </a:txBody>
                  <a:tcPr marL="73152" marR="73152" marT="27432" marB="27432">
                    <a:solidFill>
                      <a:srgbClr val="FFFFFF"/>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세 건 모두 '논문이 설명하지 않았다'로 끝난다. 추정하지 않는다.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278</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질문 1 결론 — 같은 칩이다</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2-a · 논문의 소프트웨어 스택은 어디까지인가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279</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논문 §V-A 프로그래밍 인터페이스: CPU 코어가 TU(Tensor Unit, 텐서 유닛)를 코프로세서로 제어한다. 접근 지연이 있으므로 TU 는 비동기로 동작한다. 텐서 shape 과 tactic(전술)을 기술하는 대량의 제어 레지스터가 있고, slice 마다 자기 제어 레지스터를 갖지만 보통은 TU 안의 모든 slice 를 같은 설정으로 제어한다.</a:t>
            </a:r>
          </a:p>
          <a:p>
            <a:pPr algn="l">
              <a:lnSpc>
                <a:spcPct val="118000"/>
              </a:lnSpc>
              <a:spcBef>
                <a:spcPts val="600"/>
              </a:spcBef>
              <a:spcAft>
                <a:spcPts val="200"/>
              </a:spcAft>
            </a:pPr>
            <a:r>
              <a:rPr sz="1800" b="1" i="0">
                <a:solidFill>
                  <a:srgbClr val="083F80"/>
                </a:solidFill>
                <a:latin typeface="Segoe UI"/>
                <a:ea typeface="맑은 고딕"/>
                <a:cs typeface="맑은 고딕"/>
              </a:rPr>
              <a:t>▪  논문 §V-C 엔드투엔드 컴파일러 — 모델 그래프 전체를 입력으로 받아 5단계로 낮춘다.</a:t>
            </a:r>
          </a:p>
          <a:p>
            <a:pPr algn="l">
              <a:lnSpc>
                <a:spcPct val="118000"/>
              </a:lnSpc>
              <a:spcBef>
                <a:spcPts val="200"/>
              </a:spcBef>
              <a:spcAft>
                <a:spcPts val="100"/>
              </a:spcAft>
            </a:pPr>
            <a:r>
              <a:rPr sz="1680" b="0" i="0">
                <a:solidFill>
                  <a:srgbClr val="2C3A4B"/>
                </a:solidFill>
                <a:latin typeface="Segoe UI"/>
                <a:ea typeface="맑은 고딕"/>
                <a:cs typeface="맑은 고딕"/>
              </a:rPr>
              <a:t>–  1) 입력 모델을 primitive operator(원시 연산자)로 분해</a:t>
            </a:r>
          </a:p>
          <a:p>
            <a:pPr algn="l">
              <a:lnSpc>
                <a:spcPct val="118000"/>
              </a:lnSpc>
              <a:spcBef>
                <a:spcPts val="200"/>
              </a:spcBef>
              <a:spcAft>
                <a:spcPts val="100"/>
              </a:spcAft>
            </a:pPr>
            <a:r>
              <a:rPr sz="1680" b="0" i="0">
                <a:solidFill>
                  <a:srgbClr val="2C3A4B"/>
                </a:solidFill>
                <a:latin typeface="Segoe UI"/>
                <a:ea typeface="맑은 고딕"/>
                <a:cs typeface="맑은 고딕"/>
              </a:rPr>
              <a:t>–  2) primitive operator 를 묶어 kernel 로 clustering — 데이터 재사용 극대화, 중복 텐서 제거</a:t>
            </a:r>
          </a:p>
          <a:p>
            <a:pPr algn="l">
              <a:lnSpc>
                <a:spcPct val="118000"/>
              </a:lnSpc>
              <a:spcBef>
                <a:spcPts val="200"/>
              </a:spcBef>
              <a:spcAft>
                <a:spcPts val="100"/>
              </a:spcAft>
            </a:pPr>
            <a:r>
              <a:rPr sz="1680" b="0" i="0">
                <a:solidFill>
                  <a:srgbClr val="2C3A4B"/>
                </a:solidFill>
                <a:latin typeface="Segoe UI"/>
                <a:ea typeface="맑은 고딕"/>
                <a:cs typeface="맑은 고딕"/>
              </a:rPr>
              <a:t>–  3) cost function 으로 tactic 선택 → low-level operator 생성. shape 이 안 맞는 인접 레이어 사이에는 bridge operator 를 넣는다</a:t>
            </a:r>
          </a:p>
          <a:p>
            <a:pPr algn="l">
              <a:lnSpc>
                <a:spcPct val="118000"/>
              </a:lnSpc>
              <a:spcBef>
                <a:spcPts val="200"/>
              </a:spcBef>
              <a:spcAft>
                <a:spcPts val="100"/>
              </a:spcAft>
            </a:pPr>
            <a:r>
              <a:rPr sz="1680" b="0" i="0">
                <a:solidFill>
                  <a:srgbClr val="2C3A4B"/>
                </a:solidFill>
                <a:latin typeface="Segoe UI"/>
                <a:ea typeface="맑은 고딕"/>
                <a:cs typeface="맑은 고딕"/>
              </a:rPr>
              <a:t>–  4) command 생성 — command 하나가 TU 실행 한 번. 버퍼·RF 크기를 고려해 더 잘게 나눈다</a:t>
            </a:r>
          </a:p>
          <a:p>
            <a:pPr algn="l">
              <a:lnSpc>
                <a:spcPct val="118000"/>
              </a:lnSpc>
              <a:spcBef>
                <a:spcPts val="200"/>
              </a:spcBef>
              <a:spcAft>
                <a:spcPts val="100"/>
              </a:spcAft>
            </a:pPr>
            <a:r>
              <a:rPr sz="1680" b="0" i="0">
                <a:solidFill>
                  <a:srgbClr val="2C3A4B"/>
                </a:solidFill>
                <a:latin typeface="Segoe UI"/>
                <a:ea typeface="맑은 고딕"/>
                <a:cs typeface="맑은 고딕"/>
              </a:rPr>
              <a:t>–  5) 스케줄링 + 자원 할당 → 실행 바이너리. 휴리스틱 + ILP(정수선형계획) + 유전 알고리즘 혼합</a:t>
            </a:r>
          </a:p>
          <a:p>
            <a:pPr algn="l">
              <a:lnSpc>
                <a:spcPct val="118000"/>
              </a:lnSpc>
              <a:spcBef>
                <a:spcPts val="600"/>
              </a:spcBef>
              <a:spcAft>
                <a:spcPts val="200"/>
              </a:spcAft>
            </a:pPr>
            <a:r>
              <a:rPr sz="1800" b="1" i="0">
                <a:solidFill>
                  <a:srgbClr val="083F80"/>
                </a:solidFill>
                <a:latin typeface="Segoe UI"/>
                <a:ea typeface="맑은 고딕"/>
                <a:cs typeface="맑은 고딕"/>
              </a:rPr>
              <a:t>▪  논문이 다루는 것은 여기까지다. 이 경로는 PyTorch 모델 → 바이너리 경로다.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논문의 소프트웨어는 '모델 그래프를 받는 컴파일러'다. 손으로 커널을 쓰는 이야기가 아니다.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2-b · 논문이 저수준 API 에 쓴 분량 — §V-D 전부</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280</a:t>
            </a:r>
          </a:p>
        </p:txBody>
      </p:sp>
      <p:sp>
        <p:nvSpPr>
          <p:cNvPr id="8" name="TextBox 7"/>
          <p:cNvSpPr txBox="1"/>
          <p:nvPr/>
        </p:nvSpPr>
        <p:spPr>
          <a:xfrm>
            <a:off x="566928" y="1517904"/>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isca24 §V-D Low-Level API — 이 절의 전부가 이 여섯 문장이다</a:t>
            </a:r>
          </a:p>
        </p:txBody>
      </p:sp>
      <p:sp>
        <p:nvSpPr>
          <p:cNvPr id="9" name="Rectangle 8"/>
          <p:cNvSpPr/>
          <p:nvPr/>
        </p:nvSpPr>
        <p:spPr>
          <a:xfrm>
            <a:off x="566928" y="1810512"/>
            <a:ext cx="11057839" cy="37490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100" b="0" i="0">
                <a:solidFill>
                  <a:srgbClr val="E6EDF3"/>
                </a:solidFill>
                <a:latin typeface="Consolas"/>
                <a:ea typeface="Consolas"/>
                <a:cs typeface="Consolas"/>
              </a:rPr>
              <a:t>Although most users only interact with AI accelerators through</a:t>
            </a:r>
          </a:p>
          <a:p>
            <a:pPr algn="l">
              <a:lnSpc>
                <a:spcPct val="124000"/>
              </a:lnSpc>
              <a:spcAft>
                <a:spcPts val="0"/>
              </a:spcAft>
            </a:pPr>
            <a:r>
              <a:rPr sz="1100" b="0" i="0">
                <a:solidFill>
                  <a:srgbClr val="E6EDF3"/>
                </a:solidFill>
                <a:latin typeface="Consolas"/>
                <a:ea typeface="Consolas"/>
                <a:cs typeface="Consolas"/>
              </a:rPr>
              <a:t>frameworks like PyTorch and TensorFlow, there are use cases that</a:t>
            </a:r>
          </a:p>
          <a:p>
            <a:pPr algn="l">
              <a:lnSpc>
                <a:spcPct val="124000"/>
              </a:lnSpc>
              <a:spcAft>
                <a:spcPts val="0"/>
              </a:spcAft>
            </a:pPr>
            <a:r>
              <a:rPr sz="1100" b="0" i="0">
                <a:solidFill>
                  <a:srgbClr val="E6EDF3"/>
                </a:solidFill>
                <a:latin typeface="Consolas"/>
                <a:ea typeface="Consolas"/>
                <a:cs typeface="Consolas"/>
              </a:rPr>
              <a:t>require a low-level API.</a:t>
            </a:r>
          </a:p>
          <a:p>
            <a:pPr algn="l">
              <a:lnSpc>
                <a:spcPct val="124000"/>
              </a:lnSpc>
              <a:spcAft>
                <a:spcPts val="0"/>
              </a:spcAft>
            </a:pPr>
            <a:r>
              <a:rPr sz="1100" b="0" i="0">
                <a:solidFill>
                  <a:srgbClr val="E6EDF3"/>
                </a:solidFill>
                <a:latin typeface="Consolas"/>
                <a:ea typeface="Consolas"/>
                <a:cs typeface="Consolas"/>
              </a:rPr>
              <a:t> </a:t>
            </a:r>
          </a:p>
          <a:p>
            <a:pPr algn="l">
              <a:lnSpc>
                <a:spcPct val="124000"/>
              </a:lnSpc>
              <a:spcAft>
                <a:spcPts val="0"/>
              </a:spcAft>
            </a:pPr>
            <a:r>
              <a:rPr sz="1100" b="0" i="0">
                <a:solidFill>
                  <a:srgbClr val="E6EDF3"/>
                </a:solidFill>
                <a:latin typeface="Consolas"/>
                <a:ea typeface="Consolas"/>
                <a:cs typeface="Consolas"/>
              </a:rPr>
              <a:t>For example, the user may try running a completely new AI operation</a:t>
            </a:r>
          </a:p>
          <a:p>
            <a:pPr algn="l">
              <a:lnSpc>
                <a:spcPct val="124000"/>
              </a:lnSpc>
              <a:spcAft>
                <a:spcPts val="0"/>
              </a:spcAft>
            </a:pPr>
            <a:r>
              <a:rPr sz="1100" b="0" i="0">
                <a:solidFill>
                  <a:srgbClr val="E6EDF3"/>
                </a:solidFill>
                <a:latin typeface="Consolas"/>
                <a:ea typeface="Consolas"/>
                <a:cs typeface="Consolas"/>
              </a:rPr>
              <a:t>for which the compiler may not produce good-enough code.</a:t>
            </a:r>
          </a:p>
          <a:p>
            <a:pPr algn="l">
              <a:lnSpc>
                <a:spcPct val="124000"/>
              </a:lnSpc>
              <a:spcAft>
                <a:spcPts val="0"/>
              </a:spcAft>
            </a:pPr>
            <a:r>
              <a:rPr sz="1100" b="0" i="0">
                <a:solidFill>
                  <a:srgbClr val="E6EDF3"/>
                </a:solidFill>
                <a:latin typeface="Consolas"/>
                <a:ea typeface="Consolas"/>
                <a:cs typeface="Consolas"/>
              </a:rPr>
              <a:t> </a:t>
            </a:r>
          </a:p>
          <a:p>
            <a:pPr algn="l">
              <a:lnSpc>
                <a:spcPct val="124000"/>
              </a:lnSpc>
              <a:spcAft>
                <a:spcPts val="0"/>
              </a:spcAft>
            </a:pPr>
            <a:r>
              <a:rPr sz="1100" b="0" i="0">
                <a:solidFill>
                  <a:srgbClr val="E6EDF3"/>
                </a:solidFill>
                <a:latin typeface="Consolas"/>
                <a:ea typeface="Consolas"/>
                <a:cs typeface="Consolas"/>
              </a:rPr>
              <a:t>Compiler and runtime researchers also require low-level access to</a:t>
            </a:r>
          </a:p>
          <a:p>
            <a:pPr algn="l">
              <a:lnSpc>
                <a:spcPct val="124000"/>
              </a:lnSpc>
              <a:spcAft>
                <a:spcPts val="0"/>
              </a:spcAft>
            </a:pPr>
            <a:r>
              <a:rPr sz="1100" b="0" i="0">
                <a:solidFill>
                  <a:srgbClr val="E6EDF3"/>
                </a:solidFill>
                <a:latin typeface="Consolas"/>
                <a:ea typeface="Consolas"/>
                <a:cs typeface="Consolas"/>
              </a:rPr>
              <a:t>the hardware.</a:t>
            </a:r>
          </a:p>
          <a:p>
            <a:pPr algn="l">
              <a:lnSpc>
                <a:spcPct val="124000"/>
              </a:lnSpc>
              <a:spcAft>
                <a:spcPts val="0"/>
              </a:spcAft>
            </a:pPr>
            <a:r>
              <a:rPr sz="1100" b="0" i="0">
                <a:solidFill>
                  <a:srgbClr val="E6EDF3"/>
                </a:solidFill>
                <a:latin typeface="Consolas"/>
                <a:ea typeface="Consolas"/>
                <a:cs typeface="Consolas"/>
              </a:rPr>
              <a:t> </a:t>
            </a:r>
          </a:p>
          <a:p>
            <a:pPr algn="l">
              <a:lnSpc>
                <a:spcPct val="124000"/>
              </a:lnSpc>
              <a:spcAft>
                <a:spcPts val="0"/>
              </a:spcAft>
            </a:pPr>
            <a:r>
              <a:rPr sz="1100" b="0" i="0">
                <a:solidFill>
                  <a:srgbClr val="E6EDF3"/>
                </a:solidFill>
                <a:latin typeface="Consolas"/>
                <a:ea typeface="Consolas"/>
                <a:cs typeface="Consolas"/>
              </a:rPr>
              <a:t>We observe that in the case of GPUs, academic researchers have</a:t>
            </a:r>
          </a:p>
          <a:p>
            <a:pPr algn="l">
              <a:lnSpc>
                <a:spcPct val="124000"/>
              </a:lnSpc>
              <a:spcAft>
                <a:spcPts val="0"/>
              </a:spcAft>
            </a:pPr>
            <a:r>
              <a:rPr sz="1100" b="0" i="0">
                <a:solidFill>
                  <a:srgbClr val="E6EDF3"/>
                </a:solidFill>
                <a:latin typeface="Consolas"/>
                <a:ea typeface="Consolas"/>
                <a:cs typeface="Consolas"/>
              </a:rPr>
              <a:t>regularly beaten the vendor's software, which then incorporates</a:t>
            </a:r>
          </a:p>
          <a:p>
            <a:pPr algn="l">
              <a:lnSpc>
                <a:spcPct val="124000"/>
              </a:lnSpc>
              <a:spcAft>
                <a:spcPts val="0"/>
              </a:spcAft>
            </a:pPr>
            <a:r>
              <a:rPr sz="1100" b="0" i="0">
                <a:solidFill>
                  <a:srgbClr val="E6EDF3"/>
                </a:solidFill>
                <a:latin typeface="Consolas"/>
                <a:ea typeface="Consolas"/>
                <a:cs typeface="Consolas"/>
              </a:rPr>
              <a:t>those novelties.</a:t>
            </a:r>
          </a:p>
          <a:p>
            <a:pPr algn="l">
              <a:lnSpc>
                <a:spcPct val="124000"/>
              </a:lnSpc>
              <a:spcAft>
                <a:spcPts val="0"/>
              </a:spcAft>
            </a:pPr>
            <a:r>
              <a:rPr sz="1100" b="0" i="0">
                <a:solidFill>
                  <a:srgbClr val="E6EDF3"/>
                </a:solidFill>
                <a:latin typeface="Consolas"/>
                <a:ea typeface="Consolas"/>
                <a:cs typeface="Consolas"/>
              </a:rPr>
              <a:t> </a:t>
            </a:r>
          </a:p>
          <a:p>
            <a:pPr algn="l">
              <a:lnSpc>
                <a:spcPct val="124000"/>
              </a:lnSpc>
              <a:spcAft>
                <a:spcPts val="0"/>
              </a:spcAft>
            </a:pPr>
            <a:r>
              <a:rPr sz="1100" b="0" i="0">
                <a:solidFill>
                  <a:srgbClr val="E6EDF3"/>
                </a:solidFill>
                <a:latin typeface="Consolas"/>
                <a:ea typeface="Consolas"/>
                <a:cs typeface="Consolas"/>
              </a:rPr>
              <a:t>Another important use case is large-scale deployments, where it</a:t>
            </a:r>
          </a:p>
          <a:p>
            <a:pPr algn="l">
              <a:lnSpc>
                <a:spcPct val="124000"/>
              </a:lnSpc>
              <a:spcAft>
                <a:spcPts val="0"/>
              </a:spcAft>
            </a:pPr>
            <a:r>
              <a:rPr sz="1100" b="0" i="0">
                <a:solidFill>
                  <a:srgbClr val="E6EDF3"/>
                </a:solidFill>
                <a:latin typeface="Consolas"/>
                <a:ea typeface="Consolas"/>
                <a:cs typeface="Consolas"/>
              </a:rPr>
              <a:t>becomes financially viable to optimize models by hand.</a:t>
            </a:r>
          </a:p>
          <a:p>
            <a:pPr algn="l">
              <a:lnSpc>
                <a:spcPct val="124000"/>
              </a:lnSpc>
              <a:spcAft>
                <a:spcPts val="0"/>
              </a:spcAft>
            </a:pPr>
            <a:r>
              <a:rPr sz="1100" b="0" i="0">
                <a:solidFill>
                  <a:srgbClr val="E6EDF3"/>
                </a:solidFill>
                <a:latin typeface="Consolas"/>
                <a:ea typeface="Consolas"/>
                <a:cs typeface="Consolas"/>
              </a:rPr>
              <a:t> </a:t>
            </a:r>
          </a:p>
          <a:p>
            <a:pPr algn="l">
              <a:lnSpc>
                <a:spcPct val="124000"/>
              </a:lnSpc>
              <a:spcAft>
                <a:spcPts val="0"/>
              </a:spcAft>
            </a:pPr>
            <a:r>
              <a:rPr sz="1100" b="0" i="0">
                <a:solidFill>
                  <a:srgbClr val="E6EDF3"/>
                </a:solidFill>
                <a:latin typeface="Consolas"/>
                <a:ea typeface="Consolas"/>
                <a:cs typeface="Consolas"/>
              </a:rPr>
              <a:t>For these use cases, we offer an API similar to the low-level</a:t>
            </a:r>
          </a:p>
          <a:p>
            <a:pPr algn="l">
              <a:lnSpc>
                <a:spcPct val="124000"/>
              </a:lnSpc>
              <a:spcAft>
                <a:spcPts val="0"/>
              </a:spcAft>
            </a:pPr>
            <a:r>
              <a:rPr sz="1100" b="0" i="0">
                <a:solidFill>
                  <a:srgbClr val="E6EDF3"/>
                </a:solidFill>
                <a:latin typeface="Consolas"/>
                <a:ea typeface="Consolas"/>
                <a:cs typeface="Consolas"/>
              </a:rPr>
              <a:t>einsum notation used in this paper.</a:t>
            </a:r>
          </a:p>
        </p:txBody>
      </p:sp>
      <p:sp>
        <p:nvSpPr>
          <p:cNvPr id="10" name="Rectangle 9"/>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저수준 API 가 '있다'는 선언이 전부다. 이름도, 문법도, 커버리지도, 제약도 없다.</a:t>
            </a:r>
          </a:p>
        </p:txBody>
      </p:sp>
      <p:sp>
        <p:nvSpPr>
          <p:cNvPr id="11" name="Rectangle 10"/>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2-c · 두 어휘 체계는 이어지지 않는다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281</a:t>
            </a:r>
          </a:p>
        </p:txBody>
      </p:sp>
      <p:sp>
        <p:nvSpPr>
          <p:cNvPr id="8" name="Rectangle 7"/>
          <p:cNvSpPr/>
          <p:nvPr/>
        </p:nvSpPr>
        <p:spPr>
          <a:xfrm>
            <a:off x="566928" y="1517904"/>
            <a:ext cx="5373472" cy="329184"/>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논문의 어휘</a:t>
            </a:r>
          </a:p>
        </p:txBody>
      </p:sp>
      <p:sp>
        <p:nvSpPr>
          <p:cNvPr id="9" name="Rectangle 8"/>
          <p:cNvSpPr/>
          <p:nvPr/>
        </p:nvSpPr>
        <p:spPr>
          <a:xfrm>
            <a:off x="566928"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13232"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lowered shape(낮춰진 형상) — 'inter-slice partitioning shape | intra-slice shape' 표기</a:t>
            </a:r>
          </a:p>
          <a:p>
            <a:pPr algn="l">
              <a:lnSpc>
                <a:spcPct val="118000"/>
              </a:lnSpc>
              <a:spcBef>
                <a:spcPts val="200"/>
              </a:spcBef>
              <a:spcAft>
                <a:spcPts val="100"/>
              </a:spcAft>
            </a:pPr>
            <a:r>
              <a:rPr sz="1280" b="0" i="0">
                <a:solidFill>
                  <a:srgbClr val="2C3A4B"/>
                </a:solidFill>
                <a:latin typeface="Segoe UI"/>
                <a:ea typeface="맑은 고딕"/>
                <a:cs typeface="맑은 고딕"/>
              </a:rPr>
              <a:t>–  예: eE/s[s] | b1[B] l1[L] e1[E/s]</a:t>
            </a:r>
          </a:p>
          <a:p>
            <a:pPr algn="l">
              <a:lnSpc>
                <a:spcPct val="118000"/>
              </a:lnSpc>
              <a:spcBef>
                <a:spcPts val="600"/>
              </a:spcBef>
              <a:spcAft>
                <a:spcPts val="200"/>
              </a:spcAft>
            </a:pPr>
            <a:r>
              <a:rPr sz="1400" b="1" i="0">
                <a:solidFill>
                  <a:srgbClr val="083F80"/>
                </a:solidFill>
                <a:latin typeface="Segoe UI"/>
                <a:ea typeface="맑은 고딕"/>
                <a:cs typeface="맑은 고딕"/>
              </a:rPr>
              <a:t>▪  tactic(전술) — 축약 계산 순서. 예: eE/s[s] | b1[B] l1[L] f1[F] e1[E/s]</a:t>
            </a:r>
          </a:p>
          <a:p>
            <a:pPr algn="l">
              <a:lnSpc>
                <a:spcPct val="118000"/>
              </a:lnSpc>
              <a:spcBef>
                <a:spcPts val="200"/>
              </a:spcBef>
              <a:spcAft>
                <a:spcPts val="100"/>
              </a:spcAft>
            </a:pPr>
            <a:r>
              <a:rPr sz="1280" b="0" i="0">
                <a:solidFill>
                  <a:srgbClr val="2C3A4B"/>
                </a:solidFill>
                <a:latin typeface="Segoe UI"/>
                <a:ea typeface="맑은 고딕"/>
                <a:cs typeface="맑은 고딕"/>
              </a:rPr>
              <a:t>–  첫 항이 최외곽 루프, 뒤 묶음이 slice tactic</a:t>
            </a:r>
          </a:p>
          <a:p>
            <a:pPr algn="l">
              <a:lnSpc>
                <a:spcPct val="118000"/>
              </a:lnSpc>
              <a:spcBef>
                <a:spcPts val="600"/>
              </a:spcBef>
              <a:spcAft>
                <a:spcPts val="200"/>
              </a:spcAft>
            </a:pPr>
            <a:r>
              <a:rPr sz="1400" b="0" i="0">
                <a:solidFill>
                  <a:srgbClr val="16202C"/>
                </a:solidFill>
                <a:latin typeface="Segoe UI"/>
                <a:ea typeface="맑은 고딕"/>
                <a:cs typeface="맑은 고딕"/>
              </a:rPr>
              <a:t>▪  bridge operator — 인접 레이어의 lowered shape 이 안 맞을 때 컴파일러가 끼워 넣는 변환</a:t>
            </a:r>
          </a:p>
          <a:p>
            <a:pPr algn="l">
              <a:lnSpc>
                <a:spcPct val="118000"/>
              </a:lnSpc>
              <a:spcBef>
                <a:spcPts val="600"/>
              </a:spcBef>
              <a:spcAft>
                <a:spcPts val="200"/>
              </a:spcAft>
            </a:pPr>
            <a:r>
              <a:rPr sz="1400" b="0" i="0">
                <a:solidFill>
                  <a:srgbClr val="16202C"/>
                </a:solidFill>
                <a:latin typeface="Segoe UI"/>
                <a:ea typeface="맑은 고딕"/>
                <a:cs typeface="맑은 고딕"/>
              </a:rPr>
              <a:t>▪  low-level einsum notation — 논문이 새로 정의한 표기. 축 이름·stride·slice 분할을 einsum 에 얹었다</a:t>
            </a:r>
          </a:p>
          <a:p>
            <a:pPr algn="l">
              <a:lnSpc>
                <a:spcPct val="118000"/>
              </a:lnSpc>
              <a:spcBef>
                <a:spcPts val="600"/>
              </a:spcBef>
              <a:spcAft>
                <a:spcPts val="200"/>
              </a:spcAft>
            </a:pPr>
            <a:r>
              <a:rPr sz="1400" b="0" i="0">
                <a:solidFill>
                  <a:srgbClr val="16202C"/>
                </a:solidFill>
                <a:latin typeface="Segoe UI"/>
                <a:ea typeface="맑은 고딕"/>
                <a:cs typeface="맑은 고딕"/>
              </a:rPr>
              <a:t>▪  컴파일러가 tactic 후보를 탐색하고 cost function 으로 고른다</a:t>
            </a:r>
          </a:p>
        </p:txBody>
      </p:sp>
      <p:sp>
        <p:nvSpPr>
          <p:cNvPr id="11" name="Rectangle 10"/>
          <p:cNvSpPr/>
          <p:nvPr/>
        </p:nvSpPr>
        <p:spPr>
          <a:xfrm>
            <a:off x="6251296" y="1517904"/>
            <a:ext cx="5373472" cy="329184"/>
          </a:xfrm>
          <a:prstGeom prst="rect">
            <a:avLst/>
          </a:prstGeom>
          <a:solidFill>
            <a:srgbClr val="4B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50" b="1" i="0">
                <a:solidFill>
                  <a:srgbClr val="FFFFFF"/>
                </a:solidFill>
                <a:latin typeface="Segoe UI"/>
                <a:ea typeface="맑은 고딕"/>
                <a:cs typeface="맑은 고딕"/>
              </a:rPr>
              <a:t>vISA 의 어휘</a:t>
            </a:r>
          </a:p>
        </p:txBody>
      </p:sp>
      <p:sp>
        <p:nvSpPr>
          <p:cNvPr id="12" name="Rectangle 11"/>
          <p:cNvSpPr/>
          <p:nvPr/>
        </p:nvSpPr>
        <p:spPr>
          <a:xfrm>
            <a:off x="6251296" y="1901952"/>
            <a:ext cx="5373472" cy="3657600"/>
          </a:xfrm>
          <a:prstGeom prst="rect">
            <a:avLst/>
          </a:prstGeom>
          <a:solidFill>
            <a:srgbClr val="FAFCFE"/>
          </a:solidFill>
          <a:ln w="12700">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397600" y="2029968"/>
            <a:ext cx="5080864" cy="340156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m![] 매핑 표현식 — Rust 타입 수준에 인코딩된다</a:t>
            </a:r>
          </a:p>
          <a:p>
            <a:pPr algn="l">
              <a:lnSpc>
                <a:spcPct val="118000"/>
              </a:lnSpc>
              <a:spcBef>
                <a:spcPts val="200"/>
              </a:spcBef>
              <a:spcAft>
                <a:spcPts val="100"/>
              </a:spcAft>
            </a:pPr>
            <a:r>
              <a:rPr sz="1280" b="0" i="0">
                <a:solidFill>
                  <a:srgbClr val="2C3A4B"/>
                </a:solidFill>
                <a:latin typeface="Segoe UI"/>
                <a:ea typeface="맑은 고딕"/>
                <a:cs typeface="맑은 고딕"/>
              </a:rPr>
              <a:t>–  예: m![I/32, J/32] (Slice 격자), m![I%32, J%32] (타일)</a:t>
            </a:r>
          </a:p>
          <a:p>
            <a:pPr algn="l">
              <a:lnSpc>
                <a:spcPct val="118000"/>
              </a:lnSpc>
              <a:spcBef>
                <a:spcPts val="600"/>
              </a:spcBef>
              <a:spcAft>
                <a:spcPts val="200"/>
              </a:spcAft>
            </a:pPr>
            <a:r>
              <a:rPr sz="1400" b="1" i="0">
                <a:solidFill>
                  <a:srgbClr val="083F80"/>
                </a:solidFill>
                <a:latin typeface="Segoe UI"/>
                <a:ea typeface="맑은 고딕"/>
                <a:cs typeface="맑은 고딕"/>
              </a:rPr>
              <a:t>▪  Mapping enum 7종 — Symbol · Stride · Modulo · Resize · Padding · Pair · Broadcast</a:t>
            </a:r>
          </a:p>
          <a:p>
            <a:pPr algn="l">
              <a:lnSpc>
                <a:spcPct val="118000"/>
              </a:lnSpc>
              <a:spcBef>
                <a:spcPts val="600"/>
              </a:spcBef>
              <a:spcAft>
                <a:spcPts val="200"/>
              </a:spcAft>
            </a:pPr>
            <a:r>
              <a:rPr sz="1400" b="0" i="0">
                <a:solidFill>
                  <a:srgbClr val="16202C"/>
                </a:solidFill>
                <a:latin typeface="Segoe UI"/>
                <a:ea typeface="맑은 고딕"/>
                <a:cs typeface="맑은 고딕"/>
              </a:rPr>
              <a:t>▪  공간축 Chip / Cluster(2) / Slice(256) / Lane(≤8) + 시간축</a:t>
            </a:r>
          </a:p>
          <a:p>
            <a:pPr algn="l">
              <a:lnSpc>
                <a:spcPct val="118000"/>
              </a:lnSpc>
              <a:spcBef>
                <a:spcPts val="600"/>
              </a:spcBef>
              <a:spcAft>
                <a:spcPts val="200"/>
              </a:spcAft>
            </a:pPr>
            <a:r>
              <a:rPr sz="1400" b="0" i="0">
                <a:solidFill>
                  <a:srgbClr val="16202C"/>
                </a:solidFill>
                <a:latin typeface="Segoe UI"/>
                <a:ea typeface="맑은 고딕"/>
                <a:cs typeface="맑은 고딕"/>
              </a:rPr>
              <a:t>▪  to_dm / to_hbm / to_trf / contract_outer / commit — 데이터 이동과 축약을 사람이 직접 쓴다</a:t>
            </a:r>
          </a:p>
          <a:p>
            <a:pPr algn="l">
              <a:lnSpc>
                <a:spcPct val="118000"/>
              </a:lnSpc>
              <a:spcBef>
                <a:spcPts val="600"/>
              </a:spcBef>
              <a:spcAft>
                <a:spcPts val="200"/>
              </a:spcAft>
            </a:pPr>
            <a:r>
              <a:rPr sz="1400" b="0" i="0">
                <a:solidFill>
                  <a:srgbClr val="16202C"/>
                </a:solidFill>
                <a:latin typeface="Segoe UI"/>
                <a:ea typeface="맑은 고딕"/>
                <a:cs typeface="맑은 고딕"/>
              </a:rPr>
              <a:t>▪  분배는 to_dm 의 Slice 타입 파라미터가 한다 (switch() 호출이 아니다)</a:t>
            </a:r>
          </a:p>
          <a:p>
            <a:pPr algn="l">
              <a:lnSpc>
                <a:spcPct val="118000"/>
              </a:lnSpc>
              <a:spcBef>
                <a:spcPts val="600"/>
              </a:spcBef>
              <a:spcAft>
                <a:spcPts val="200"/>
              </a:spcAft>
            </a:pPr>
            <a:r>
              <a:rPr sz="1400" b="1" i="0">
                <a:solidFill>
                  <a:srgbClr val="083F80"/>
                </a:solidFill>
                <a:latin typeface="Segoe UI"/>
                <a:ea typeface="맑은 고딕"/>
                <a:cs typeface="맑은 고딕"/>
              </a:rPr>
              <a:t>▪  tactic 탐색이 없다. 사람이 매핑을 고정해서 쓴다</a:t>
            </a:r>
          </a:p>
        </p:txBody>
      </p:sp>
      <p:sp>
        <p:nvSpPr>
          <p:cNvPr id="14" name="Rectangle 13"/>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논문의 tactic 과 vISA 의 m![] 이 어떻게 대응하는지 논문에 없다. 추정하지 않는다.</a:t>
            </a:r>
          </a:p>
        </p:txBody>
      </p:sp>
      <p:sp>
        <p:nvSpPr>
          <p:cNvPr id="15" name="Rectangle 14"/>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2-d · 매핑 연산자 — 논문 조사 중에 우리 문서를 고쳤다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282</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700" b="0" i="0">
                <a:solidFill>
                  <a:srgbClr val="16202C"/>
                </a:solidFill>
                <a:latin typeface="Segoe UI"/>
                <a:ea typeface="맑은 고딕"/>
                <a:cs typeface="맑은 고딕"/>
              </a:rPr>
              <a:t>▪  논문 주제를 검증하려고 벤더 크레이트 소스를 뒤진 결과, 우리 학습 문서의 틀린 서술 하나가 잡혔다.</a:t>
            </a:r>
          </a:p>
          <a:p>
            <a:pPr algn="l">
              <a:lnSpc>
                <a:spcPct val="118000"/>
              </a:lnSpc>
              <a:spcBef>
                <a:spcPts val="600"/>
              </a:spcBef>
              <a:spcAft>
                <a:spcPts val="200"/>
              </a:spcAft>
            </a:pPr>
            <a:r>
              <a:rPr sz="1700" b="1" i="0">
                <a:solidFill>
                  <a:srgbClr val="083F80"/>
                </a:solidFill>
                <a:latin typeface="Segoe UI"/>
                <a:ea typeface="맑은 고딕"/>
                <a:cs typeface="맑은 고딕"/>
              </a:rPr>
              <a:t>▪  실측: furiosa-mapping-types 0.4.0 의 Mapping enum 변종은 7개다 — Symbol · Stride · Modulo · Resize · Padding · Pair · Broadcast</a:t>
            </a:r>
          </a:p>
          <a:p>
            <a:pPr algn="l">
              <a:lnSpc>
                <a:spcPct val="118000"/>
              </a:lnSpc>
              <a:spcBef>
                <a:spcPts val="600"/>
              </a:spcBef>
              <a:spcAft>
                <a:spcPts val="200"/>
              </a:spcAft>
            </a:pPr>
            <a:r>
              <a:rPr sz="1700" b="1" i="0">
                <a:solidFill>
                  <a:srgbClr val="083F80"/>
                </a:solidFill>
                <a:latin typeface="Segoe UI"/>
                <a:ea typeface="맑은 고딕"/>
                <a:cs typeface="맑은 고딕"/>
              </a:rPr>
              <a:t>▪  Skew(대각 접근) 와 Sliding(겹치는 블록) 은 0.3.0 · 0.4.0 어디에도 구현이 없다. 문자열 0건, 매크로 렉서에 $ 토큰이 없다.</a:t>
            </a:r>
          </a:p>
          <a:p>
            <a:pPr algn="l">
              <a:lnSpc>
                <a:spcPct val="118000"/>
              </a:lnSpc>
              <a:spcBef>
                <a:spcPts val="200"/>
              </a:spcBef>
              <a:spcAft>
                <a:spcPts val="100"/>
              </a:spcAft>
            </a:pPr>
            <a:r>
              <a:rPr sz="1580" b="0" i="0">
                <a:solidFill>
                  <a:srgbClr val="2C3A4B"/>
                </a:solidFill>
                <a:latin typeface="Segoe UI"/>
                <a:ea typeface="맑은 고딕"/>
                <a:cs typeface="맑은 고딕"/>
              </a:rPr>
              <a:t>–  현재 벤더 책 46개 절도 Skew·Sliding 을 다루지 않는다. 옛 영문 스냅샷 reference/book/mapping-expressions.md:379 의 'Skewed axis' 절이 출처였다.</a:t>
            </a:r>
          </a:p>
          <a:p>
            <a:pPr algn="l">
              <a:lnSpc>
                <a:spcPct val="118000"/>
              </a:lnSpc>
              <a:spcBef>
                <a:spcPts val="200"/>
              </a:spcBef>
              <a:spcAft>
                <a:spcPts val="100"/>
              </a:spcAft>
            </a:pPr>
            <a:r>
              <a:rPr sz="1580" b="0" i="0">
                <a:solidFill>
                  <a:srgbClr val="2C3A4B"/>
                </a:solidFill>
                <a:latin typeface="Segoe UI"/>
                <a:ea typeface="맑은 고딕"/>
                <a:cs typeface="맑은 고딕"/>
              </a:rPr>
              <a:t>–  고쳐야 할 우리 파일: vISA/GLOSSARY.md:38, CHEATSHEET.md, curriculum/02_mapping.md, curriculum/06_computing_engines_1.md. GLOSSARY.md:36 의 연산자 목록에는 Broadcast 가 빠져 있다.</a:t>
            </a:r>
          </a:p>
          <a:p>
            <a:pPr algn="l">
              <a:lnSpc>
                <a:spcPct val="118000"/>
              </a:lnSpc>
              <a:spcBef>
                <a:spcPts val="600"/>
              </a:spcBef>
              <a:spcAft>
                <a:spcPts val="200"/>
              </a:spcAft>
            </a:pPr>
            <a:r>
              <a:rPr sz="1700" b="1" i="0">
                <a:solidFill>
                  <a:srgbClr val="083F80"/>
                </a:solidFill>
                <a:latin typeface="Segoe UI"/>
                <a:ea typeface="맑은 고딕"/>
                <a:cs typeface="맑은 고딕"/>
              </a:rPr>
              <a:t>▪  논문 쪽은 어떤가 — 논문에도 Skew·Sliding 은 없다. 다만 하드웨어에는 겹침 재사용 기능이 있다.</a:t>
            </a:r>
          </a:p>
          <a:p>
            <a:pPr algn="l">
              <a:lnSpc>
                <a:spcPct val="118000"/>
              </a:lnSpc>
              <a:spcBef>
                <a:spcPts val="200"/>
              </a:spcBef>
              <a:spcAft>
                <a:spcPts val="100"/>
              </a:spcAft>
            </a:pPr>
            <a:r>
              <a:rPr sz="1580" b="0" i="0">
                <a:solidFill>
                  <a:srgbClr val="2C3A4B"/>
                </a:solidFill>
                <a:latin typeface="Segoe UI"/>
                <a:ea typeface="맑은 고딕"/>
                <a:cs typeface="맑은 고딕"/>
              </a:rPr>
              <a:t>–  논문 §IV-C: feed unit 은 convolution 같은 연산의 데이터 재사용을 위해 shift 를 쓸 수 있고, 텐서를 전치할 수도 있다.</a:t>
            </a:r>
          </a:p>
          <a:p>
            <a:pPr algn="l">
              <a:lnSpc>
                <a:spcPct val="118000"/>
              </a:lnSpc>
              <a:spcBef>
                <a:spcPts val="200"/>
              </a:spcBef>
              <a:spcAft>
                <a:spcPts val="100"/>
              </a:spcAft>
            </a:pPr>
            <a:r>
              <a:rPr sz="1580" b="0" i="0">
                <a:solidFill>
                  <a:srgbClr val="2C3A4B"/>
                </a:solidFill>
                <a:latin typeface="Segoe UI"/>
                <a:ea typeface="맑은 고딕"/>
                <a:cs typeface="맑은 고딕"/>
              </a:rPr>
              <a:t>–  즉 겹침 재사용은 하드웨어에 있다. 그것이 매핑 연산자로 노출되는지는 논문에 없고, 소스에도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하드웨어에 기능이 있다는 것과, 프로그래밍 모델에 연산자가 있다는 것은 별개다.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질문 3-a · 커널 200개 중 137 — 실패 63의 내역</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논문에 대응 수치가 없는 경로의 첫 측정</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283</a:t>
            </a:r>
          </a:p>
        </p:txBody>
      </p:sp>
      <p:grpSp>
        <p:nvGrpSpPr>
          <p:cNvPr id="9" name="도해 A10#12"/>
          <p:cNvGrpSpPr/>
          <p:nvPr/>
        </p:nvGrpSpPr>
        <p:grpSpPr>
          <a:xfrm>
            <a:off x="727195" y="1463040"/>
            <a:ext cx="10737306" cy="4078224"/>
            <a:chOff x="727195" y="1463040"/>
            <a:chExt cx="10737306" cy="4078224"/>
          </a:xfrm>
        </p:grpSpPr>
        <p:sp>
          <p:nvSpPr>
            <p:cNvPr id="10" name="TextBox 9"/>
            <p:cNvSpPr txBox="1"/>
            <p:nvPr/>
          </p:nvSpPr>
          <p:spPr>
            <a:xfrm>
              <a:off x="727195" y="1463040"/>
              <a:ext cx="4902385" cy="247348"/>
            </a:xfrm>
            <a:prstGeom prst="rect">
              <a:avLst/>
            </a:prstGeom>
            <a:noFill/>
          </p:spPr>
          <p:txBody>
            <a:bodyPr wrap="none" anchor="ctr" lIns="0" rIns="0" tIns="0" bIns="0">
              <a:noAutofit/>
            </a:bodyPr>
            <a:lstStyle/>
            <a:p>
              <a:pPr algn="l"/>
              <a:r>
                <a:rPr sz="1350" b="1">
                  <a:solidFill>
                    <a:srgbClr val="16202C"/>
                  </a:solidFill>
                  <a:latin typeface="맑은 고딕"/>
                  <a:ea typeface="맑은 고딕"/>
                  <a:cs typeface="맑은 고딕"/>
                </a:rPr>
                <a:t>소스에서 추출한 #[device] 커널 200개 — 실기 바이너리까지 가는가</a:t>
              </a:r>
            </a:p>
          </p:txBody>
        </p:sp>
        <p:sp>
          <p:nvSpPr>
            <p:cNvPr id="11" name="Rounded Rectangle 10"/>
            <p:cNvSpPr/>
            <p:nvPr/>
          </p:nvSpPr>
          <p:spPr>
            <a:xfrm>
              <a:off x="727195" y="1880819"/>
              <a:ext cx="7357495" cy="658880"/>
            </a:xfrm>
            <a:prstGeom prst="roundRect">
              <a:avLst>
                <a:gd name="adj" fmla="val 11111"/>
              </a:avLst>
            </a:prstGeom>
            <a:solidFill>
              <a:srgbClr val="E2F4E8"/>
            </a:solidFill>
            <a:ln w="2196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2425" y="1985752"/>
              <a:ext cx="1314832" cy="265016"/>
            </a:xfrm>
            <a:prstGeom prst="rect">
              <a:avLst/>
            </a:prstGeom>
            <a:noFill/>
          </p:spPr>
          <p:txBody>
            <a:bodyPr wrap="none" anchor="ctr" lIns="0" rIns="0" tIns="0" bIns="0">
              <a:noAutofit/>
            </a:bodyPr>
            <a:lstStyle/>
            <a:p>
              <a:pPr algn="ctr"/>
              <a:r>
                <a:rPr sz="1440" b="1">
                  <a:solidFill>
                    <a:srgbClr val="1A7F37"/>
                  </a:solidFill>
                  <a:latin typeface="맑은 고딕"/>
                  <a:ea typeface="맑은 고딕"/>
                  <a:cs typeface="맑은 고딕"/>
                </a:rPr>
                <a:t>컴파일 성공 137</a:t>
              </a:r>
            </a:p>
          </p:txBody>
        </p:sp>
        <p:sp>
          <p:nvSpPr>
            <p:cNvPr id="13" name="TextBox 12"/>
            <p:cNvSpPr txBox="1"/>
            <p:nvPr/>
          </p:nvSpPr>
          <p:spPr>
            <a:xfrm>
              <a:off x="3391541" y="2286396"/>
              <a:ext cx="2016600" cy="194345"/>
            </a:xfrm>
            <a:prstGeom prst="rect">
              <a:avLst/>
            </a:prstGeom>
            <a:noFill/>
          </p:spPr>
          <p:txBody>
            <a:bodyPr wrap="none" anchor="ctr" lIns="0" rIns="0" tIns="0" bIns="0">
              <a:noAutofit/>
            </a:bodyPr>
            <a:lstStyle/>
            <a:p>
              <a:pPr algn="ctr"/>
              <a:r>
                <a:rPr sz="1060" b="0">
                  <a:solidFill>
                    <a:srgbClr val="1A7F37"/>
                  </a:solidFill>
                  <a:latin typeface="맑은 고딕"/>
                  <a:ea typeface="맑은 고딕"/>
                  <a:cs typeface="맑은 고딕"/>
                </a:rPr>
                <a:t>실기 바이너리로 낮춰진 것 · 68.5%</a:t>
              </a:r>
            </a:p>
          </p:txBody>
        </p:sp>
        <p:sp>
          <p:nvSpPr>
            <p:cNvPr id="14" name="Rounded Rectangle 13"/>
            <p:cNvSpPr/>
            <p:nvPr/>
          </p:nvSpPr>
          <p:spPr>
            <a:xfrm>
              <a:off x="8084689" y="1880819"/>
              <a:ext cx="3379811" cy="658880"/>
            </a:xfrm>
            <a:prstGeom prst="roundRect">
              <a:avLst>
                <a:gd name="adj" fmla="val 11111"/>
              </a:avLst>
            </a:prstGeom>
            <a:solidFill>
              <a:srgbClr val="FDE8E8"/>
            </a:solidFill>
            <a:ln w="2196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65070" y="1985752"/>
              <a:ext cx="1206849" cy="265016"/>
            </a:xfrm>
            <a:prstGeom prst="rect">
              <a:avLst/>
            </a:prstGeom>
            <a:noFill/>
          </p:spPr>
          <p:txBody>
            <a:bodyPr wrap="none" anchor="ctr" lIns="0" rIns="0" tIns="0" bIns="0">
              <a:noAutofit/>
            </a:bodyPr>
            <a:lstStyle/>
            <a:p>
              <a:pPr algn="ctr"/>
              <a:r>
                <a:rPr sz="1440" b="1">
                  <a:solidFill>
                    <a:srgbClr val="B4222A"/>
                  </a:solidFill>
                  <a:latin typeface="맑은 고딕"/>
                  <a:ea typeface="맑은 고딕"/>
                  <a:cs typeface="맑은 고딕"/>
                </a:rPr>
                <a:t>컴파일 실패 63</a:t>
              </a:r>
            </a:p>
          </p:txBody>
        </p:sp>
        <p:sp>
          <p:nvSpPr>
            <p:cNvPr id="16" name="TextBox 15"/>
            <p:cNvSpPr txBox="1"/>
            <p:nvPr/>
          </p:nvSpPr>
          <p:spPr>
            <a:xfrm>
              <a:off x="9552137" y="2286396"/>
              <a:ext cx="432713" cy="194345"/>
            </a:xfrm>
            <a:prstGeom prst="rect">
              <a:avLst/>
            </a:prstGeom>
            <a:noFill/>
          </p:spPr>
          <p:txBody>
            <a:bodyPr wrap="none" anchor="ctr" lIns="0" rIns="0" tIns="0" bIns="0">
              <a:noAutofit/>
            </a:bodyPr>
            <a:lstStyle/>
            <a:p>
              <a:pPr algn="ctr"/>
              <a:r>
                <a:rPr sz="1060" b="0">
                  <a:solidFill>
                    <a:srgbClr val="B4222A"/>
                  </a:solidFill>
                  <a:latin typeface="맑은 고딕"/>
                  <a:ea typeface="맑은 고딕"/>
                  <a:cs typeface="맑은 고딕"/>
                </a:rPr>
                <a:t>31.5%</a:t>
              </a:r>
            </a:p>
          </p:txBody>
        </p:sp>
        <p:cxnSp>
          <p:nvCxnSpPr>
            <p:cNvPr id="17" name="Connector 16"/>
            <p:cNvCxnSpPr/>
            <p:nvPr/>
          </p:nvCxnSpPr>
          <p:spPr>
            <a:xfrm>
              <a:off x="9768494" y="2564102"/>
              <a:ext cx="0" cy="317238"/>
            </a:xfrm>
            <a:prstGeom prst="line">
              <a:avLst/>
            </a:prstGeom>
            <a:ln w="24402">
              <a:solidFill>
                <a:srgbClr val="B4222A"/>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9695285" y="2832535"/>
              <a:ext cx="146418" cy="170820"/>
            </a:xfrm>
            <a:custGeom>
              <a:avLst/>
              <a:gdLst/>
              <a:ahLst/>
              <a:cxnLst/>
              <a:rect l="l" t="t" r="r" b="b"/>
              <a:pathLst>
                <a:path w="146418" h="170820">
                  <a:moveTo>
                    <a:pt x="0" y="0"/>
                  </a:moveTo>
                  <a:lnTo>
                    <a:pt x="73209" y="170820"/>
                  </a:lnTo>
                  <a:lnTo>
                    <a:pt x="146418" y="0"/>
                  </a:lnTo>
                  <a:close/>
                </a:path>
              </a:pathLst>
            </a:cu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7195" y="2732726"/>
              <a:ext cx="3329468" cy="185511"/>
            </a:xfrm>
            <a:prstGeom prst="rect">
              <a:avLst/>
            </a:prstGeom>
            <a:noFill/>
          </p:spPr>
          <p:txBody>
            <a:bodyPr wrap="none" anchor="ctr" lIns="0" rIns="0" tIns="0" bIns="0">
              <a:noAutofit/>
            </a:bodyPr>
            <a:lstStyle/>
            <a:p>
              <a:pPr algn="l"/>
              <a:r>
                <a:rPr sz="1010" b="0">
                  <a:solidFill>
                    <a:srgbClr val="5B6B7B"/>
                  </a:solidFill>
                  <a:latin typeface="맑은 고딕"/>
                  <a:ea typeface="맑은 고딕"/>
                  <a:cs typeface="맑은 고딕"/>
                </a:rPr>
                <a:t>실패의 내역 — 아래 막대는 게이팅 목록 기준 64 를 나눈 것이다</a:t>
              </a:r>
            </a:p>
          </p:txBody>
        </p:sp>
        <p:sp>
          <p:nvSpPr>
            <p:cNvPr id="20" name="Rounded Rectangle 19"/>
            <p:cNvSpPr/>
            <p:nvPr/>
          </p:nvSpPr>
          <p:spPr>
            <a:xfrm>
              <a:off x="727195" y="3052161"/>
              <a:ext cx="4026490" cy="536865"/>
            </a:xfrm>
            <a:prstGeom prst="roundRect">
              <a:avLst>
                <a:gd name="adj" fmla="val 11363"/>
              </a:avLst>
            </a:prstGeom>
            <a:solidFill>
              <a:srgbClr val="FDE8E8"/>
            </a:solidFill>
            <a:ln w="1952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07099" y="3138548"/>
              <a:ext cx="1866681" cy="212013"/>
            </a:xfrm>
            <a:prstGeom prst="rect">
              <a:avLst/>
            </a:prstGeom>
            <a:noFill/>
          </p:spPr>
          <p:txBody>
            <a:bodyPr wrap="none" anchor="ctr" lIns="0" rIns="0" tIns="0" bIns="0">
              <a:noAutofit/>
            </a:bodyPr>
            <a:lstStyle/>
            <a:p>
              <a:pPr algn="ctr"/>
              <a:r>
                <a:rPr sz="1150" b="1">
                  <a:solidFill>
                    <a:srgbClr val="B4222A"/>
                  </a:solidFill>
                  <a:latin typeface="맑은 고딕"/>
                  <a:ea typeface="맑은 고딕"/>
                  <a:cs typeface="맑은 고딕"/>
                </a:rPr>
                <a:t>REAL_LOWERING_GAP 24</a:t>
              </a:r>
            </a:p>
          </p:txBody>
        </p:sp>
        <p:sp>
          <p:nvSpPr>
            <p:cNvPr id="22" name="TextBox 21"/>
            <p:cNvSpPr txBox="1"/>
            <p:nvPr/>
          </p:nvSpPr>
          <p:spPr>
            <a:xfrm>
              <a:off x="1796167" y="3362079"/>
              <a:ext cx="1888546" cy="176677"/>
            </a:xfrm>
            <a:prstGeom prst="rect">
              <a:avLst/>
            </a:prstGeom>
            <a:noFill/>
          </p:spPr>
          <p:txBody>
            <a:bodyPr wrap="none" anchor="ctr" lIns="0" rIns="0" tIns="0" bIns="0">
              <a:noAutofit/>
            </a:bodyPr>
            <a:lstStyle/>
            <a:p>
              <a:pPr algn="ctr"/>
              <a:r>
                <a:rPr sz="960" b="0">
                  <a:solidFill>
                    <a:srgbClr val="B4222A"/>
                  </a:solidFill>
                  <a:latin typeface="맑은 고딕"/>
                  <a:ea typeface="맑은 고딕"/>
                  <a:cs typeface="맑은 고딕"/>
                </a:rPr>
                <a:t>백엔드가 아직 못 낮춘다 — 진짜 공백</a:t>
              </a:r>
            </a:p>
          </p:txBody>
        </p:sp>
        <p:sp>
          <p:nvSpPr>
            <p:cNvPr id="23" name="Rounded Rectangle 22"/>
            <p:cNvSpPr/>
            <p:nvPr/>
          </p:nvSpPr>
          <p:spPr>
            <a:xfrm>
              <a:off x="4753684" y="3052161"/>
              <a:ext cx="3855669" cy="536865"/>
            </a:xfrm>
            <a:prstGeom prst="roundRect">
              <a:avLst>
                <a:gd name="adj" fmla="val 11363"/>
              </a:avLst>
            </a:prstGeom>
            <a:solidFill>
              <a:srgbClr val="EEF2F7"/>
            </a:solidFill>
            <a:ln w="1952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2378" y="3138548"/>
              <a:ext cx="2038282" cy="212013"/>
            </a:xfrm>
            <a:prstGeom prst="rect">
              <a:avLst/>
            </a:prstGeom>
            <a:noFill/>
          </p:spPr>
          <p:txBody>
            <a:bodyPr wrap="none" anchor="ctr" lIns="0" rIns="0" tIns="0" bIns="0">
              <a:noAutofit/>
            </a:bodyPr>
            <a:lstStyle/>
            <a:p>
              <a:pPr algn="ctr"/>
              <a:r>
                <a:rPr sz="1150" b="1">
                  <a:solidFill>
                    <a:srgbClr val="5B6B7B"/>
                  </a:solidFill>
                  <a:latin typeface="맑은 고딕"/>
                  <a:ea typeface="맑은 고딕"/>
                  <a:cs typeface="맑은 고딕"/>
                </a:rPr>
                <a:t>INTENTIONAL_NEGATIVE 23</a:t>
              </a:r>
            </a:p>
          </p:txBody>
        </p:sp>
        <p:sp>
          <p:nvSpPr>
            <p:cNvPr id="25" name="TextBox 24"/>
            <p:cNvSpPr txBox="1"/>
            <p:nvPr/>
          </p:nvSpPr>
          <p:spPr>
            <a:xfrm>
              <a:off x="5807038" y="3362079"/>
              <a:ext cx="1748961" cy="176677"/>
            </a:xfrm>
            <a:prstGeom prst="rect">
              <a:avLst/>
            </a:prstGeom>
            <a:noFill/>
          </p:spPr>
          <p:txBody>
            <a:bodyPr wrap="none" anchor="ctr" lIns="0" rIns="0" tIns="0" bIns="0">
              <a:noAutofit/>
            </a:bodyPr>
            <a:lstStyle/>
            <a:p>
              <a:pPr algn="ctr"/>
              <a:r>
                <a:rPr sz="960" b="0">
                  <a:solidFill>
                    <a:srgbClr val="5B6B7B"/>
                  </a:solidFill>
                  <a:latin typeface="맑은 고딕"/>
                  <a:ea typeface="맑은 고딕"/>
                  <a:cs typeface="맑은 고딕"/>
                </a:rPr>
                <a:t>잘못된 매핑의 표본 — 실패가 정상</a:t>
              </a:r>
            </a:p>
          </p:txBody>
        </p:sp>
        <p:sp>
          <p:nvSpPr>
            <p:cNvPr id="26" name="Rounded Rectangle 25"/>
            <p:cNvSpPr/>
            <p:nvPr/>
          </p:nvSpPr>
          <p:spPr>
            <a:xfrm>
              <a:off x="8609353" y="3052161"/>
              <a:ext cx="2184066" cy="536865"/>
            </a:xfrm>
            <a:prstGeom prst="roundRect">
              <a:avLst>
                <a:gd name="adj" fmla="val 11363"/>
              </a:avLst>
            </a:prstGeom>
            <a:solidFill>
              <a:srgbClr val="FDEBD3"/>
            </a:solidFill>
            <a:ln w="19522">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2964" y="3138548"/>
              <a:ext cx="1324642" cy="212013"/>
            </a:xfrm>
            <a:prstGeom prst="rect">
              <a:avLst/>
            </a:prstGeom>
            <a:noFill/>
          </p:spPr>
          <p:txBody>
            <a:bodyPr wrap="none" anchor="ctr" lIns="0" rIns="0" tIns="0" bIns="0">
              <a:noAutofit/>
            </a:bodyPr>
            <a:lstStyle/>
            <a:p>
              <a:pPr algn="ctr"/>
              <a:r>
                <a:rPr sz="1150" b="1">
                  <a:solidFill>
                    <a:srgbClr val="B45409"/>
                  </a:solidFill>
                  <a:latin typeface="맑은 고딕"/>
                  <a:ea typeface="맑은 고딕"/>
                  <a:cs typeface="맑은 고딕"/>
                </a:rPr>
                <a:t>COMPILER_ICE 13</a:t>
              </a:r>
            </a:p>
          </p:txBody>
        </p:sp>
        <p:sp>
          <p:nvSpPr>
            <p:cNvPr id="28" name="TextBox 27"/>
            <p:cNvSpPr txBox="1"/>
            <p:nvPr/>
          </p:nvSpPr>
          <p:spPr>
            <a:xfrm>
              <a:off x="9029938" y="3362079"/>
              <a:ext cx="1330694" cy="176677"/>
            </a:xfrm>
            <a:prstGeom prst="rect">
              <a:avLst/>
            </a:prstGeom>
            <a:noFill/>
          </p:spPr>
          <p:txBody>
            <a:bodyPr wrap="none" anchor="ctr" lIns="0" rIns="0" tIns="0" bIns="0">
              <a:noAutofit/>
            </a:bodyPr>
            <a:lstStyle/>
            <a:p>
              <a:pPr algn="ctr"/>
              <a:r>
                <a:rPr sz="960" b="0">
                  <a:solidFill>
                    <a:srgbClr val="B45409"/>
                  </a:solidFill>
                  <a:latin typeface="맑은 고딕"/>
                  <a:ea typeface="맑은 고딕"/>
                  <a:cs typeface="맑은 고딕"/>
                </a:rPr>
                <a:t>internal compiler error</a:t>
              </a:r>
            </a:p>
          </p:txBody>
        </p:sp>
        <p:sp>
          <p:nvSpPr>
            <p:cNvPr id="29" name="Rounded Rectangle 28"/>
            <p:cNvSpPr/>
            <p:nvPr/>
          </p:nvSpPr>
          <p:spPr>
            <a:xfrm>
              <a:off x="10793419" y="3052161"/>
              <a:ext cx="329440" cy="536865"/>
            </a:xfrm>
            <a:prstGeom prst="roundRect">
              <a:avLst>
                <a:gd name="adj" fmla="val 11111"/>
              </a:avLst>
            </a:prstGeom>
            <a:solidFill>
              <a:srgbClr val="E3EEFB"/>
            </a:solidFill>
            <a:ln w="14641">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1122859" y="3052161"/>
              <a:ext cx="341642" cy="536865"/>
            </a:xfrm>
            <a:prstGeom prst="roundRect">
              <a:avLst>
                <a:gd name="adj" fmla="val 10714"/>
              </a:avLst>
            </a:prstGeom>
            <a:solidFill>
              <a:srgbClr val="F4F8FD"/>
            </a:solidFill>
            <a:ln w="14641">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0952038" y="3589027"/>
              <a:ext cx="0" cy="97611"/>
            </a:xfrm>
            <a:prstGeom prst="line">
              <a:avLst/>
            </a:prstGeom>
            <a:ln w="14641">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293680" y="3589027"/>
              <a:ext cx="0" cy="97611"/>
            </a:xfrm>
            <a:prstGeom prst="line">
              <a:avLst/>
            </a:prstGeom>
            <a:ln w="14641">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414129" y="3686638"/>
              <a:ext cx="2879551" cy="0"/>
            </a:xfrm>
            <a:prstGeom prst="line">
              <a:avLst/>
            </a:prstGeom>
            <a:ln w="14641">
              <a:solidFill>
                <a:srgbClr val="5B6B7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414129" y="3740325"/>
              <a:ext cx="2948977" cy="176677"/>
            </a:xfrm>
            <a:prstGeom prst="rect">
              <a:avLst/>
            </a:prstGeom>
            <a:noFill/>
          </p:spPr>
          <p:txBody>
            <a:bodyPr wrap="none" anchor="ctr" lIns="0" rIns="0" tIns="0" bIns="0">
              <a:noAutofit/>
            </a:bodyPr>
            <a:lstStyle/>
            <a:p>
              <a:pPr algn="l"/>
              <a:r>
                <a:rPr sz="960" b="0">
                  <a:solidFill>
                    <a:srgbClr val="16202C"/>
                  </a:solidFill>
                  <a:latin typeface="맑은 고딕"/>
                  <a:ea typeface="맑은 고딕"/>
                  <a:cs typeface="맑은 고딕"/>
                </a:rPr>
                <a:t>GENERIC_NOT_MONOMORPHIZED 2 · 구체 래퍼 필요</a:t>
              </a:r>
            </a:p>
          </p:txBody>
        </p:sp>
        <p:sp>
          <p:nvSpPr>
            <p:cNvPr id="35" name="TextBox 34"/>
            <p:cNvSpPr txBox="1"/>
            <p:nvPr/>
          </p:nvSpPr>
          <p:spPr>
            <a:xfrm>
              <a:off x="8414129" y="3959952"/>
              <a:ext cx="1282254" cy="176677"/>
            </a:xfrm>
            <a:prstGeom prst="rect">
              <a:avLst/>
            </a:prstGeom>
            <a:noFill/>
          </p:spPr>
          <p:txBody>
            <a:bodyPr wrap="none" anchor="ctr" lIns="0" rIns="0" tIns="0" bIns="0">
              <a:noAutofit/>
            </a:bodyPr>
            <a:lstStyle/>
            <a:p>
              <a:pPr algn="l"/>
              <a:r>
                <a:rPr sz="960" b="0">
                  <a:solidFill>
                    <a:srgbClr val="16202C"/>
                  </a:solidFill>
                  <a:latin typeface="맑은 고딕"/>
                  <a:ea typeface="맑은 고딕"/>
                  <a:cs typeface="맑은 고딕"/>
                </a:rPr>
                <a:t>UNCLEAR 2 · 근거 부족</a:t>
              </a:r>
            </a:p>
          </p:txBody>
        </p:sp>
        <p:sp>
          <p:nvSpPr>
            <p:cNvPr id="36" name="TextBox 35"/>
            <p:cNvSpPr txBox="1"/>
            <p:nvPr/>
          </p:nvSpPr>
          <p:spPr>
            <a:xfrm>
              <a:off x="727195" y="4245710"/>
              <a:ext cx="6444342" cy="185511"/>
            </a:xfrm>
            <a:prstGeom prst="rect">
              <a:avLst/>
            </a:prstGeom>
            <a:noFill/>
          </p:spPr>
          <p:txBody>
            <a:bodyPr wrap="none" anchor="ctr" lIns="0" rIns="0" tIns="0" bIns="0">
              <a:noAutofit/>
            </a:bodyPr>
            <a:lstStyle/>
            <a:p>
              <a:pPr algn="l"/>
              <a:r>
                <a:rPr sz="1010" b="0">
                  <a:solidFill>
                    <a:srgbClr val="5B6B7B"/>
                  </a:solidFill>
                  <a:latin typeface="맑은 고딕"/>
                  <a:ea typeface="맑은 고딕"/>
                  <a:cs typeface="맑은 고딕"/>
                </a:rPr>
                <a:t>합이 64 인 것은 부분문자열 매칭이 만든 거짓 FAIL 1건이 섞여 있기 때문이다. 그것을 빼면 63 이다 — 억지로 맞추지 않는다</a:t>
              </a:r>
            </a:p>
          </p:txBody>
        </p:sp>
        <p:sp>
          <p:nvSpPr>
            <p:cNvPr id="37" name="Rounded Rectangle 36"/>
            <p:cNvSpPr/>
            <p:nvPr/>
          </p:nvSpPr>
          <p:spPr>
            <a:xfrm>
              <a:off x="727195" y="4613951"/>
              <a:ext cx="5246638" cy="927313"/>
            </a:xfrm>
            <a:prstGeom prst="roundRect">
              <a:avLst>
                <a:gd name="adj" fmla="val 9210"/>
              </a:avLst>
            </a:prstGeom>
            <a:solidFill>
              <a:srgbClr val="EEF2F7"/>
            </a:solidFill>
            <a:ln w="17082">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418" y="4719616"/>
              <a:ext cx="1597931" cy="203179"/>
            </a:xfrm>
            <a:prstGeom prst="rect">
              <a:avLst/>
            </a:prstGeom>
            <a:noFill/>
          </p:spPr>
          <p:txBody>
            <a:bodyPr wrap="none" anchor="ctr" lIns="0" rIns="0" tIns="0" bIns="0">
              <a:noAutofit/>
            </a:bodyPr>
            <a:lstStyle/>
            <a:p>
              <a:pPr algn="l"/>
              <a:r>
                <a:rPr sz="1100" b="1">
                  <a:solidFill>
                    <a:srgbClr val="5B6B7B"/>
                  </a:solidFill>
                  <a:latin typeface="맑은 고딕"/>
                  <a:ea typeface="맑은 고딕"/>
                  <a:cs typeface="맑은 고딕"/>
                </a:rPr>
                <a:t>툴 자체 집계는 수가 다르다</a:t>
              </a:r>
            </a:p>
          </p:txBody>
        </p:sp>
        <p:sp>
          <p:nvSpPr>
            <p:cNvPr id="39" name="TextBox 38"/>
            <p:cNvSpPr txBox="1"/>
            <p:nvPr/>
          </p:nvSpPr>
          <p:spPr>
            <a:xfrm>
              <a:off x="922418" y="5002202"/>
              <a:ext cx="2595365" cy="185511"/>
            </a:xfrm>
            <a:prstGeom prst="rect">
              <a:avLst/>
            </a:prstGeom>
            <a:noFill/>
          </p:spPr>
          <p:txBody>
            <a:bodyPr wrap="none" anchor="ctr" lIns="0" rIns="0" tIns="0" bIns="0">
              <a:noAutofit/>
            </a:bodyPr>
            <a:lstStyle/>
            <a:p>
              <a:pPr algn="l"/>
              <a:r>
                <a:rPr sz="1010" b="0">
                  <a:solidFill>
                    <a:srgbClr val="16202C"/>
                  </a:solidFill>
                  <a:latin typeface="맑은 고딕"/>
                  <a:ea typeface="맑은 고딕"/>
                  <a:cs typeface="맑은 고딕"/>
                </a:rPr>
                <a:t>207 — Finished 1 compiled, 206 filtered out</a:t>
              </a:r>
            </a:p>
          </p:txBody>
        </p:sp>
        <p:sp>
          <p:nvSpPr>
            <p:cNvPr id="40" name="TextBox 39"/>
            <p:cNvSpPr txBox="1"/>
            <p:nvPr/>
          </p:nvSpPr>
          <p:spPr>
            <a:xfrm>
              <a:off x="922418" y="5246232"/>
              <a:ext cx="2311974" cy="185511"/>
            </a:xfrm>
            <a:prstGeom prst="rect">
              <a:avLst/>
            </a:prstGeom>
            <a:noFill/>
          </p:spPr>
          <p:txBody>
            <a:bodyPr wrap="none" anchor="ctr" lIns="0" rIns="0" tIns="0" bIns="0">
              <a:noAutofit/>
            </a:bodyPr>
            <a:lstStyle/>
            <a:p>
              <a:pPr algn="l"/>
              <a:r>
                <a:rPr sz="1010" b="0">
                  <a:solidFill>
                    <a:srgbClr val="16202C"/>
                  </a:solidFill>
                  <a:latin typeface="맑은 고딕"/>
                  <a:ea typeface="맑은 고딕"/>
                  <a:cs typeface="맑은 고딕"/>
                </a:rPr>
                <a:t>게이팅 후 실기 빌드 143 = 207 − 게이트 64</a:t>
              </a:r>
            </a:p>
          </p:txBody>
        </p:sp>
        <p:sp>
          <p:nvSpPr>
            <p:cNvPr id="41" name="Rounded Rectangle 40"/>
            <p:cNvSpPr/>
            <p:nvPr/>
          </p:nvSpPr>
          <p:spPr>
            <a:xfrm>
              <a:off x="6217862" y="4613951"/>
              <a:ext cx="5246638" cy="927313"/>
            </a:xfrm>
            <a:prstGeom prst="roundRect">
              <a:avLst>
                <a:gd name="adj" fmla="val 9210"/>
              </a:avLst>
            </a:prstGeom>
            <a:solidFill>
              <a:srgbClr val="E3EEFB"/>
            </a:solidFill>
            <a:ln w="17082">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3086" y="4719616"/>
              <a:ext cx="856916" cy="203179"/>
            </a:xfrm>
            <a:prstGeom prst="rect">
              <a:avLst/>
            </a:prstGeom>
            <a:noFill/>
          </p:spPr>
          <p:txBody>
            <a:bodyPr wrap="none" anchor="ctr" lIns="0" rIns="0" tIns="0" bIns="0">
              <a:noAutofit/>
            </a:bodyPr>
            <a:lstStyle/>
            <a:p>
              <a:pPr algn="l"/>
              <a:r>
                <a:rPr sz="1100" b="1">
                  <a:solidFill>
                    <a:srgbClr val="083F80"/>
                  </a:solidFill>
                  <a:latin typeface="맑은 고딕"/>
                  <a:ea typeface="맑은 고딕"/>
                  <a:cs typeface="맑은 고딕"/>
                </a:rPr>
                <a:t>논문과의 관계</a:t>
              </a:r>
            </a:p>
          </p:txBody>
        </p:sp>
        <p:sp>
          <p:nvSpPr>
            <p:cNvPr id="43" name="TextBox 42"/>
            <p:cNvSpPr txBox="1"/>
            <p:nvPr/>
          </p:nvSpPr>
          <p:spPr>
            <a:xfrm>
              <a:off x="6413086" y="5002202"/>
              <a:ext cx="2682997" cy="185511"/>
            </a:xfrm>
            <a:prstGeom prst="rect">
              <a:avLst/>
            </a:prstGeom>
            <a:noFill/>
          </p:spPr>
          <p:txBody>
            <a:bodyPr wrap="none" anchor="ctr" lIns="0" rIns="0" tIns="0" bIns="0">
              <a:noAutofit/>
            </a:bodyPr>
            <a:lstStyle/>
            <a:p>
              <a:pPr algn="l"/>
              <a:r>
                <a:rPr sz="1010" b="0">
                  <a:solidFill>
                    <a:srgbClr val="16202C"/>
                  </a:solidFill>
                  <a:latin typeface="맑은 고딕"/>
                  <a:ea typeface="맑은 고딕"/>
                  <a:cs typeface="맑은 고딕"/>
                </a:rPr>
                <a:t>논문은 저수준 API 의 커버리지를 주장한 적이 없다</a:t>
              </a:r>
            </a:p>
          </p:txBody>
        </p:sp>
        <p:sp>
          <p:nvSpPr>
            <p:cNvPr id="44" name="TextBox 43"/>
            <p:cNvSpPr txBox="1"/>
            <p:nvPr/>
          </p:nvSpPr>
          <p:spPr>
            <a:xfrm>
              <a:off x="6413086" y="5246232"/>
              <a:ext cx="2810856" cy="185511"/>
            </a:xfrm>
            <a:prstGeom prst="rect">
              <a:avLst/>
            </a:prstGeom>
            <a:noFill/>
          </p:spPr>
          <p:txBody>
            <a:bodyPr wrap="none" anchor="ctr" lIns="0" rIns="0" tIns="0" bIns="0">
              <a:noAutofit/>
            </a:bodyPr>
            <a:lstStyle/>
            <a:p>
              <a:pPr algn="l"/>
              <a:r>
                <a:rPr sz="1010" b="0">
                  <a:solidFill>
                    <a:srgbClr val="16202C"/>
                  </a:solidFill>
                  <a:latin typeface="맑은 고딕"/>
                  <a:ea typeface="맑은 고딕"/>
                  <a:cs typeface="맑은 고딕"/>
                </a:rPr>
                <a:t>63 은 반증이 아니라, 비어 있던 자리의 첫 측정값이다</a:t>
              </a:r>
            </a:p>
          </p:txBody>
        </p:sp>
      </p:grpSp>
      <p:sp>
        <p:nvSpPr>
          <p:cNvPr id="45" name="Rectangle 44"/>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63 은 논문 주장의 반증이 아니다. 논문이 아무 말도 하지 않은 경로의 실측이다.</a:t>
            </a:r>
          </a:p>
        </p:txBody>
      </p:sp>
      <p:sp>
        <p:nvSpPr>
          <p:cNvPr id="46" name="Rectangle 45"/>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3-a · 커널 200개 중 137 — 실패 63의 내역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논문에 대응 수치가 없는 경로의 첫 측정</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284</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200 은 소스에서 추출한 #[device] 커널 수다. 논문에 대응 수치가 없고, 로워링 실패·컴파일러 오류 이야기도 없다.</a:t>
            </a:r>
          </a:p>
          <a:p>
            <a:pPr algn="l">
              <a:lnSpc>
                <a:spcPct val="118000"/>
              </a:lnSpc>
              <a:spcBef>
                <a:spcPts val="600"/>
              </a:spcBef>
              <a:spcAft>
                <a:spcPts val="200"/>
              </a:spcAft>
            </a:pPr>
            <a:r>
              <a:rPr sz="1900" b="0" i="0">
                <a:solidFill>
                  <a:srgbClr val="16202C"/>
                </a:solidFill>
                <a:latin typeface="Segoe UI"/>
                <a:ea typeface="맑은 고딕"/>
                <a:cs typeface="맑은 고딕"/>
              </a:rPr>
              <a:t>▪  63 중 진짜 결함은 24(백엔드 미구현) + 13(ICE) 이고, 23 은 잘못된 매핑을 문서화하려 일부러 만든 표본이라 실패가 정상이다.</a:t>
            </a:r>
          </a:p>
          <a:p>
            <a:pPr algn="l">
              <a:lnSpc>
                <a:spcPct val="118000"/>
              </a:lnSpc>
              <a:spcBef>
                <a:spcPts val="600"/>
              </a:spcBef>
              <a:spcAft>
                <a:spcPts val="200"/>
              </a:spcAft>
            </a:pPr>
            <a:r>
              <a:rPr sz="1900" b="1" i="0">
                <a:solidFill>
                  <a:srgbClr val="083F80"/>
                </a:solidFill>
                <a:latin typeface="Segoe UI"/>
                <a:ea typeface="맑은 고딕"/>
                <a:cs typeface="맑은 고딕"/>
              </a:rPr>
              <a:t>▪  논문 §V-C 의 5단계 컴파일러는 모델 그래프를 받는 다른 진입점이다. 우리가 친 것은 §V-D 가 한 문장으로 언급하고 끝낸 저수준 API 다.</a:t>
            </a:r>
          </a:p>
          <a:p>
            <a:pPr algn="l">
              <a:lnSpc>
                <a:spcPct val="118000"/>
              </a:lnSpc>
              <a:spcBef>
                <a:spcPts val="200"/>
              </a:spcBef>
              <a:spcAft>
                <a:spcPts val="100"/>
              </a:spcAft>
            </a:pPr>
            <a:r>
              <a:rPr sz="1780" b="0" i="0">
                <a:solidFill>
                  <a:srgbClr val="2C3A4B"/>
                </a:solidFill>
                <a:latin typeface="Segoe UI"/>
                <a:ea typeface="맑은 고딕"/>
                <a:cs typeface="맑은 고딕"/>
              </a:rPr>
              <a:t>–  층위는 ‘도구 산출’이다. 컴파일러가 뱉은 결과이지 성능 실측이 아니다.</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3-b · 실기 89 / 통과 80 — 매트릭스</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285</a:t>
            </a:r>
          </a:p>
        </p:txBody>
      </p:sp>
      <p:graphicFrame>
        <p:nvGraphicFramePr>
          <p:cNvPr id="8" name="Table 7"/>
          <p:cNvGraphicFramePr>
            <a:graphicFrameLocks noGrp="1"/>
          </p:cNvGraphicFramePr>
          <p:nvPr/>
        </p:nvGraphicFramePr>
        <p:xfrm>
          <a:off x="566928" y="1517904"/>
          <a:ext cx="11057839" cy="3456432"/>
        </p:xfrm>
        <a:graphic>
          <a:graphicData uri="http://schemas.openxmlformats.org/drawingml/2006/table">
            <a:tbl>
              <a:tblPr firstRow="1" bandRow="1">
                <a:tableStyleId>{5C22544A-7EE6-4342-B048-85BDC9FD1C3A}</a:tableStyleId>
              </a:tblPr>
              <a:tblGrid>
                <a:gridCol w="2027270"/>
                <a:gridCol w="5528920"/>
                <a:gridCol w="3501649"/>
              </a:tblGrid>
              <a:tr h="384048">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값</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비고</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NPU 백엔드에 존재하는 테스트</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89</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게이팅으로 확보. 서브셋 패키지 방식은 21개에 그친다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그대로 통과</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80 (89.9%)</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커널은 옳으나 테스트 기준이 과함</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+2</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 ULP 반올림 1건, 리듀스 순서 1건</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#[ignore] 지만 강제 실행하면 통과</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test_ve_elementwise_vrf — 사유 'Failing on cpu' 가 낡았다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실기 정상 동작으로 봐야 하는 수</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83 / 89 (93.3%)</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진짜 결함에 걸린 것</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6 (4개 기전)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바이너리별</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switch_assertions 18/18 · contract_outer_assertions 13/13 · at_primitives 4/4 · fetch_assertions·memory_op·param 각 2/2 · mnist 1/1 · binary_add·contract_element_types_answer·fetch_commit·scatter_gather·transpose 각 1/1 · vector_engine 32/36 · tile 1/2 · broadcast 0/1 · reshape 0/2 · shuffle_slice 0/1</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논문과의 관계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논문은 런타임 결함·테스트 커버리지를 다루지 않는다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MNIST 는 실기에서 이미지 10장 전부 정답이다. 논문이 말한 칩이 실제로 우리 손에서 돌았다.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질문 3-b(계속) · 실기 결함 4유형</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286</a:t>
            </a:r>
          </a:p>
        </p:txBody>
      </p:sp>
      <p:graphicFrame>
        <p:nvGraphicFramePr>
          <p:cNvPr id="8" name="Table 7"/>
          <p:cNvGraphicFramePr>
            <a:graphicFrameLocks noGrp="1"/>
          </p:cNvGraphicFramePr>
          <p:nvPr/>
        </p:nvGraphicFramePr>
        <p:xfrm>
          <a:off x="566928" y="1517904"/>
          <a:ext cx="11057839" cy="2688336"/>
        </p:xfrm>
        <a:graphic>
          <a:graphicData uri="http://schemas.openxmlformats.org/drawingml/2006/table">
            <a:tbl>
              <a:tblPr firstRow="1" bandRow="1">
                <a:tableStyleId>{5C22544A-7EE6-4342-B048-85BDC9FD1C3A}</a:tableStyleId>
              </a:tblPr>
              <a:tblGrid>
                <a:gridCol w="2005654"/>
                <a:gridCol w="1029569"/>
                <a:gridCol w="4011308"/>
                <a:gridCol w="4011308"/>
              </a:tblGrid>
              <a:tr h="384048">
                <a:tc>
                  <a:txBody>
                    <a:bodyPr wrap="square"/>
                    <a:lstStyle/>
                    <a:p>
                      <a:r>
                        <a:rPr sz="900" b="1" i="0">
                          <a:solidFill>
                            <a:srgbClr val="FFFFFF"/>
                          </a:solidFill>
                          <a:latin typeface="Segoe UI"/>
                          <a:ea typeface="맑은 고딕"/>
                          <a:cs typeface="맑은 고딕"/>
                        </a:rPr>
                        <a:t>유형</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건수</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정체</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논문과의 접점</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① 커널 로더 범위초과 → 프로세스 abort</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3</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reshape ×2 (50,560 vs 33,792), chip_shuffle (56,576 vs 37,888). 셋 다 요구 크기가 실제의 약 1.5배 — 단일 크기계산 결함의 서명. device-runtime-c/src/kernel.rs:137</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 커널 로더·런타임 세부는 논문 밖이다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② 조용한 데이터 오배치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에러도 크래시도 없이 틀린 값을 돌려준다. 가장 위험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②(a) broadcast::test_view_broadcast</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HBM→HBM 브로드캐스트 DMA 가 목적지에 아무것도 쓰지 않는다. 2048/2048 전부 불일치, 2회 실행 값 동일(결정적), f32 로 재해석하면 −0.283, 0.251, … → 묵은 잔류 데이터를 읽는다</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②(b) tile_tests::test_tile_window_commit_host</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데이터는 온전한데 위치만 틀렸다. result[32..64] 에 갈 input[0..32] 가 result[8..40] 에 착지. 32 elem × 4 B = 128 B 여야 하는데 실제는 32 B — 요소 수가 바이트 수로 해석됐다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 §IV-F 의 commit sequencer 는 8B/16B/32B 단위로 주소를 만든다. 같은 지점의 소프트웨어 계산이지만 정황일 뿐이고, 논문이 이 결함을 다루지는 않는다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③ 커널 hang → HAL 타임아웃</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vector_engine::normal::test_ve_stash_fp_fp. 단독 실행에서도 60초 타임아웃. os error −110 (ETIMEDOUT). NPU 자체는 안 죽는다 — 직후 alive / 0.00 GiB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④ 반올림·순서 차이 (버그 아님)</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(2)</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 ULP 1건 (512개 중 489 비트 동일, 최대 상대오차 1.742e-07) + 리듀스 순서 1건 (saturating_add 가 결합법칙 불성립 → 포화 불가능한 −50..50 을 넣으니 실기에서 0.12s 에 통과)</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 §IV-C 는 DPE 가 리덕션 트리로 공간 합산한다고 적는다. 하드웨어 병렬 리듀스 순서가 호스트 순차와 다른 것은 이 구조와 정합적이다</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①③ 는 시끄럽게 죽는다. ② 는 조용히 틀린다 — 값 검증이 없으면 그냥 지나간다.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3-c · 정렬 — 논문은 성능 문제로, 우리 실측은 컴파일 실패로</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287</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100" b="1" i="0">
                <a:solidFill>
                  <a:srgbClr val="083F80"/>
                </a:solidFill>
                <a:latin typeface="Segoe UI"/>
                <a:ea typeface="맑은 고딕"/>
                <a:cs typeface="맑은 고딕"/>
              </a:rPr>
              <a:t>▪  우리가 본 컴파일 실패 문구들</a:t>
            </a:r>
          </a:p>
          <a:p>
            <a:pPr algn="l">
              <a:lnSpc>
                <a:spcPct val="118000"/>
              </a:lnSpc>
              <a:spcBef>
                <a:spcPts val="200"/>
              </a:spcBef>
              <a:spcAft>
                <a:spcPts val="100"/>
              </a:spcAft>
            </a:pPr>
            <a:r>
              <a:rPr sz="980" b="0" i="0">
                <a:solidFill>
                  <a:srgbClr val="2C3A4B"/>
                </a:solidFill>
                <a:latin typeface="Segoe UI"/>
                <a:ea typeface="맑은 고딕"/>
                <a:cs typeface="맑은 고딕"/>
              </a:rPr>
              <a:t>–  strides([8,128,4,...]) is not aligned by 8 — DMA 시퀀서가 8 B 정렬을 요구 (matmul_chip_reduce)</a:t>
            </a:r>
          </a:p>
          <a:p>
            <a:pPr algn="l">
              <a:lnSpc>
                <a:spcPct val="118000"/>
              </a:lnSpc>
              <a:spcBef>
                <a:spcPts val="200"/>
              </a:spcBef>
              <a:spcAft>
                <a:spcPts val="100"/>
              </a:spcAft>
            </a:pPr>
            <a:r>
              <a:rPr sz="980" b="0" i="0">
                <a:solidFill>
                  <a:srgbClr val="2C3A4B"/>
                </a:solidFill>
                <a:latin typeface="Segoe UI"/>
                <a:ea typeface="맑은 고딕"/>
                <a:cs typeface="맑은 고딕"/>
              </a:rPr>
              <a:t>–  tail_size % min_align (1) != 0 — i8 4개 꼬리가 8 B flit 정렬에 안 맞음 (matmul_cluster_reduce)</a:t>
            </a:r>
          </a:p>
          <a:p>
            <a:pPr algn="l">
              <a:lnSpc>
                <a:spcPct val="118000"/>
              </a:lnSpc>
              <a:spcBef>
                <a:spcPts val="200"/>
              </a:spcBef>
              <a:spcAft>
                <a:spcPts val="100"/>
              </a:spcAft>
            </a:pPr>
            <a:r>
              <a:rPr sz="980" b="0" i="0">
                <a:solidFill>
                  <a:srgbClr val="2C3A4B"/>
                </a:solidFill>
                <a:latin typeface="Segoe UI"/>
                <a:ea typeface="맑은 고딕"/>
                <a:cs typeface="맑은 고딕"/>
              </a:rPr>
              <a:t>–  tail_size % min_align (4) != 0 — 대표 VRF 예제 vrf_add 가 실기에 못 올라간다</a:t>
            </a:r>
          </a:p>
          <a:p>
            <a:pPr algn="l">
              <a:lnSpc>
                <a:spcPct val="118000"/>
              </a:lnSpc>
              <a:spcBef>
                <a:spcPts val="200"/>
              </a:spcBef>
              <a:spcAft>
                <a:spcPts val="100"/>
              </a:spcAft>
            </a:pPr>
            <a:r>
              <a:rPr sz="980" b="0" i="0">
                <a:solidFill>
                  <a:srgbClr val="2C3A4B"/>
                </a:solidFill>
                <a:latin typeface="Segoe UI"/>
                <a:ea typeface="맑은 고딕"/>
                <a:cs typeface="맑은 고딕"/>
              </a:rPr>
              <a:t>–  incorrect buffer size — 부분 충전된 레인 그룹의 꼬리 패딩을 DRAM 크기 계산이 누락 (lane_size::valid_size_{1,2,4}). 완전 충전된 8레인 변형만 낮춰진다</a:t>
            </a:r>
          </a:p>
          <a:p>
            <a:pPr algn="l">
              <a:lnSpc>
                <a:spcPct val="118000"/>
              </a:lnSpc>
              <a:spcBef>
                <a:spcPts val="200"/>
              </a:spcBef>
              <a:spcAft>
                <a:spcPts val="100"/>
              </a:spcAft>
            </a:pPr>
            <a:r>
              <a:rPr sz="980" b="0" i="0">
                <a:solidFill>
                  <a:srgbClr val="2C3A4B"/>
                </a:solidFill>
                <a:latin typeface="Segoe UI"/>
                <a:ea typeface="맑은 고딕"/>
                <a:cs typeface="맑은 고딕"/>
              </a:rPr>
              <a:t>–  i4 서브바이트 DRAM 크기 오산 256 vs 240 (aligned_fetch_packet_i4). 같은 구조의 i8·bf16 커널은 정상</a:t>
            </a:r>
          </a:p>
          <a:p>
            <a:pPr algn="l">
              <a:lnSpc>
                <a:spcPct val="118000"/>
              </a:lnSpc>
              <a:spcBef>
                <a:spcPts val="200"/>
              </a:spcBef>
              <a:spcAft>
                <a:spcPts val="100"/>
              </a:spcAft>
            </a:pPr>
            <a:r>
              <a:rPr sz="980" b="0" i="0">
                <a:solidFill>
                  <a:srgbClr val="2C3A4B"/>
                </a:solidFill>
                <a:latin typeface="Segoe UI"/>
                <a:ea typeface="맑은 고딕"/>
                <a:cs typeface="맑은 고딕"/>
              </a:rPr>
              <a:t>–  그 밖: IndexAccess … must have axis with given tag(matmul_4096), commit_trim packet mismatch(split_reduce), Collect time mismatch(wo_broadcast), Branch conversion is not yet implemented(matmul_16384)</a:t>
            </a:r>
          </a:p>
          <a:p>
            <a:pPr algn="l">
              <a:lnSpc>
                <a:spcPct val="118000"/>
              </a:lnSpc>
              <a:spcBef>
                <a:spcPts val="600"/>
              </a:spcBef>
              <a:spcAft>
                <a:spcPts val="200"/>
              </a:spcAft>
            </a:pPr>
            <a:r>
              <a:rPr sz="1100" b="1" i="0">
                <a:solidFill>
                  <a:srgbClr val="083F80"/>
                </a:solidFill>
                <a:latin typeface="Segoe UI"/>
                <a:ea typeface="맑은 고딕"/>
                <a:cs typeface="맑은 고딕"/>
              </a:rPr>
              <a:t>▪  논문이 정렬에 대해 하는 말</a:t>
            </a:r>
          </a:p>
          <a:p>
            <a:pPr algn="l">
              <a:lnSpc>
                <a:spcPct val="118000"/>
              </a:lnSpc>
              <a:spcBef>
                <a:spcPts val="200"/>
              </a:spcBef>
              <a:spcAft>
                <a:spcPts val="100"/>
              </a:spcAft>
            </a:pPr>
            <a:r>
              <a:rPr sz="980" b="0" i="0">
                <a:solidFill>
                  <a:srgbClr val="2C3A4B"/>
                </a:solidFill>
                <a:latin typeface="Segoe UI"/>
                <a:ea typeface="맑은 고딕"/>
                <a:cs typeface="맑은 고딕"/>
              </a:rPr>
              <a:t>–  §IV-F: commit sequencer 는 8B / 16B / 32B per cycle 중에서 저장 대역폭을 고른다</a:t>
            </a:r>
          </a:p>
          <a:p>
            <a:pPr algn="l">
              <a:lnSpc>
                <a:spcPct val="118000"/>
              </a:lnSpc>
              <a:spcBef>
                <a:spcPts val="200"/>
              </a:spcBef>
              <a:spcAft>
                <a:spcPts val="100"/>
              </a:spcAft>
            </a:pPr>
            <a:r>
              <a:rPr sz="980" b="0" i="0">
                <a:solidFill>
                  <a:srgbClr val="2C3A4B"/>
                </a:solidFill>
                <a:latin typeface="Segoe UI"/>
                <a:ea typeface="맑은 고딕"/>
                <a:cs typeface="맑은 고딕"/>
              </a:rPr>
              <a:t>–  §IV-C: DPE 입력 벡터는 32 BF16 = 64 B</a:t>
            </a:r>
          </a:p>
          <a:p>
            <a:pPr algn="l">
              <a:lnSpc>
                <a:spcPct val="118000"/>
              </a:lnSpc>
              <a:spcBef>
                <a:spcPts val="200"/>
              </a:spcBef>
              <a:spcAft>
                <a:spcPts val="100"/>
              </a:spcAft>
            </a:pPr>
            <a:r>
              <a:rPr sz="980" b="0" i="0">
                <a:solidFill>
                  <a:srgbClr val="2C3A4B"/>
                </a:solidFill>
                <a:latin typeface="Segoe UI"/>
                <a:ea typeface="맑은 고딕"/>
                <a:cs typeface="맑은 고딕"/>
              </a:rPr>
              <a:t>–  §IV-B: slice 안에서 마지막 차원이 DPE 폭에 맞지 않으면 utilization 이 그만큼 떨어진다. 다른 축의 정렬은 utilization 에 영향이 없다</a:t>
            </a:r>
          </a:p>
          <a:p>
            <a:pPr algn="l">
              <a:lnSpc>
                <a:spcPct val="118000"/>
              </a:lnSpc>
              <a:spcBef>
                <a:spcPts val="200"/>
              </a:spcBef>
              <a:spcAft>
                <a:spcPts val="100"/>
              </a:spcAft>
            </a:pPr>
            <a:r>
              <a:rPr sz="980" b="0" i="0">
                <a:solidFill>
                  <a:srgbClr val="2C3A4B"/>
                </a:solidFill>
                <a:latin typeface="Segoe UI"/>
                <a:ea typeface="맑은 고딕"/>
                <a:cs typeface="맑은 고딕"/>
              </a:rPr>
              <a:t>–  §IV-B: 분할 축은 편의상 2의 거듭제곱으로 나눈다. 2의 거듭제곱이 아니면 성능이 나빠질 수 있고, 그럴 때 컴파일러는 그 축을 slice 내부의 비마지막 차원으로 보내는 lowered shape 을 고를 수 있다</a:t>
            </a:r>
          </a:p>
          <a:p>
            <a:pPr algn="l">
              <a:lnSpc>
                <a:spcPct val="118000"/>
              </a:lnSpc>
              <a:spcBef>
                <a:spcPts val="200"/>
              </a:spcBef>
              <a:spcAft>
                <a:spcPts val="100"/>
              </a:spcAft>
            </a:pPr>
            <a:r>
              <a:rPr sz="980" b="0" i="0">
                <a:solidFill>
                  <a:srgbClr val="2C3A4B"/>
                </a:solidFill>
                <a:latin typeface="Segoe UI"/>
                <a:ea typeface="맑은 고딕"/>
                <a:cs typeface="맑은 고딕"/>
              </a:rPr>
              <a:t>–  §VI-C: LLaMA-2 의 FFN 중간 차원 F 가 2의 거듭제곱이 아니라 패딩이 필요하고, 그만큼 하드웨어 utilization 이 떨어진다</a:t>
            </a:r>
          </a:p>
          <a:p>
            <a:pPr algn="l">
              <a:lnSpc>
                <a:spcPct val="118000"/>
              </a:lnSpc>
              <a:spcBef>
                <a:spcPts val="600"/>
              </a:spcBef>
              <a:spcAft>
                <a:spcPts val="200"/>
              </a:spcAft>
            </a:pPr>
            <a:r>
              <a:rPr sz="1100" b="1" i="0">
                <a:solidFill>
                  <a:srgbClr val="083F80"/>
                </a:solidFill>
                <a:latin typeface="Segoe UI"/>
                <a:ea typeface="맑은 고딕"/>
                <a:cs typeface="맑은 고딕"/>
              </a:rPr>
              <a:t>▪  어긋남: 논문에서 정렬 불일치는 성능 저하다. 우리 실측에서는 컴파일 실패다.</a:t>
            </a:r>
          </a:p>
          <a:p>
            <a:pPr algn="l">
              <a:lnSpc>
                <a:spcPct val="118000"/>
              </a:lnSpc>
              <a:spcBef>
                <a:spcPts val="200"/>
              </a:spcBef>
              <a:spcAft>
                <a:spcPts val="100"/>
              </a:spcAft>
            </a:pPr>
            <a:r>
              <a:rPr sz="980" b="0" i="0">
                <a:solidFill>
                  <a:srgbClr val="2C3A4B"/>
                </a:solidFill>
                <a:latin typeface="Segoe UI"/>
                <a:ea typeface="맑은 고딕"/>
                <a:cs typeface="맑은 고딕"/>
              </a:rPr>
              <a:t>–  단 경로가 다르다. 논문의 컴파일러는 정렬을 못 맞추면 다른 lowered shape 으로 우회한다고 적혀 있다. vISA 는 사람이 매핑을 고정하므로 우회할 자리가 없다. 저수준 API 에서 정렬을 어떻게 강제하는지는 논문에 없다.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같은 8 B · 32 B 가 논문에서는 대역폭 선택지로, 우리 로그에서는 거부 사유로 나타난다.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질문 3-d · 사이클은 DMA, 인스트럭션은 PeCore</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커널 130개 스케줄 합산 (--dump-schedule)</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288</a:t>
            </a:r>
          </a:p>
        </p:txBody>
      </p:sp>
      <p:grpSp>
        <p:nvGrpSpPr>
          <p:cNvPr id="9" name="도해 A10#16"/>
          <p:cNvGrpSpPr/>
          <p:nvPr/>
        </p:nvGrpSpPr>
        <p:grpSpPr>
          <a:xfrm>
            <a:off x="1521050" y="1463040"/>
            <a:ext cx="9149595" cy="4078224"/>
            <a:chOff x="1521050" y="1463040"/>
            <a:chExt cx="9149595" cy="4078224"/>
          </a:xfrm>
        </p:grpSpPr>
        <p:sp>
          <p:nvSpPr>
            <p:cNvPr id="10" name="TextBox 9"/>
            <p:cNvSpPr txBox="1"/>
            <p:nvPr/>
          </p:nvSpPr>
          <p:spPr>
            <a:xfrm>
              <a:off x="1521050" y="1463040"/>
              <a:ext cx="2816183" cy="210773"/>
            </a:xfrm>
            <a:prstGeom prst="rect">
              <a:avLst/>
            </a:prstGeom>
            <a:noFill/>
          </p:spPr>
          <p:txBody>
            <a:bodyPr wrap="none" anchor="ctr" lIns="0" rIns="0" tIns="0" bIns="0">
              <a:noAutofit/>
            </a:bodyPr>
            <a:lstStyle/>
            <a:p>
              <a:pPr algn="l"/>
              <a:r>
                <a:rPr sz="1150" b="1">
                  <a:solidFill>
                    <a:srgbClr val="16202C"/>
                  </a:solidFill>
                  <a:latin typeface="맑은 고딕"/>
                  <a:ea typeface="맑은 고딕"/>
                  <a:cs typeface="맑은 고딕"/>
                </a:rPr>
                <a:t>커널 130개 스케줄 합산 — 두 순위가 뒤바뀐다</a:t>
              </a:r>
            </a:p>
          </p:txBody>
        </p:sp>
        <p:cxnSp>
          <p:nvCxnSpPr>
            <p:cNvPr id="11" name="Connector 10"/>
            <p:cNvCxnSpPr/>
            <p:nvPr/>
          </p:nvCxnSpPr>
          <p:spPr>
            <a:xfrm>
              <a:off x="7291533" y="1860631"/>
              <a:ext cx="0" cy="2744879"/>
            </a:xfrm>
            <a:prstGeom prst="line">
              <a:avLst/>
            </a:prstGeom>
            <a:ln w="14556">
              <a:solidFill>
                <a:srgbClr val="D6DE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40546" y="1855433"/>
              <a:ext cx="823204" cy="188191"/>
            </a:xfrm>
            <a:prstGeom prst="rect">
              <a:avLst/>
            </a:prstGeom>
            <a:noFill/>
          </p:spPr>
          <p:txBody>
            <a:bodyPr wrap="none" anchor="ctr" lIns="0" rIns="0" tIns="0" bIns="0">
              <a:noAutofit/>
            </a:bodyPr>
            <a:lstStyle/>
            <a:p>
              <a:pPr algn="ctr"/>
              <a:r>
                <a:rPr sz="1019" b="1">
                  <a:solidFill>
                    <a:srgbClr val="B4222A"/>
                  </a:solidFill>
                  <a:latin typeface="맑은 고딕"/>
                  <a:ea typeface="맑은 고딕"/>
                  <a:cs typeface="맑은 고딕"/>
                </a:rPr>
                <a:t>총 사이클 비중</a:t>
              </a:r>
            </a:p>
          </p:txBody>
        </p:sp>
        <p:sp>
          <p:nvSpPr>
            <p:cNvPr id="13" name="TextBox 12"/>
            <p:cNvSpPr txBox="1"/>
            <p:nvPr/>
          </p:nvSpPr>
          <p:spPr>
            <a:xfrm>
              <a:off x="8766191" y="1855433"/>
              <a:ext cx="793701" cy="188191"/>
            </a:xfrm>
            <a:prstGeom prst="rect">
              <a:avLst/>
            </a:prstGeom>
            <a:noFill/>
          </p:spPr>
          <p:txBody>
            <a:bodyPr wrap="none" anchor="ctr" lIns="0" rIns="0" tIns="0" bIns="0">
              <a:noAutofit/>
            </a:bodyPr>
            <a:lstStyle/>
            <a:p>
              <a:pPr algn="ctr"/>
              <a:r>
                <a:rPr sz="1019" b="1">
                  <a:solidFill>
                    <a:srgbClr val="0B5FC0"/>
                  </a:solidFill>
                  <a:latin typeface="맑은 고딕"/>
                  <a:ea typeface="맑은 고딕"/>
                  <a:cs typeface="맑은 고딕"/>
                </a:rPr>
                <a:t>인스트럭션 수</a:t>
              </a:r>
            </a:p>
          </p:txBody>
        </p:sp>
        <p:sp>
          <p:nvSpPr>
            <p:cNvPr id="14" name="TextBox 13"/>
            <p:cNvSpPr txBox="1"/>
            <p:nvPr/>
          </p:nvSpPr>
          <p:spPr>
            <a:xfrm>
              <a:off x="2112738" y="2179412"/>
              <a:ext cx="718368" cy="173135"/>
            </a:xfrm>
            <a:prstGeom prst="rect">
              <a:avLst/>
            </a:prstGeom>
            <a:noFill/>
          </p:spPr>
          <p:txBody>
            <a:bodyPr wrap="none" anchor="ctr" lIns="0" rIns="0" tIns="0" bIns="0">
              <a:noAutofit/>
            </a:bodyPr>
            <a:lstStyle/>
            <a:p>
              <a:pPr algn="r"/>
              <a:r>
                <a:rPr sz="940" b="1">
                  <a:solidFill>
                    <a:srgbClr val="16202C"/>
                  </a:solidFill>
                  <a:latin typeface="맑은 고딕"/>
                  <a:ea typeface="맑은 고딕"/>
                  <a:cs typeface="맑은 고딕"/>
                </a:rPr>
                <a:t>DmaEngine</a:t>
              </a:r>
            </a:p>
          </p:txBody>
        </p:sp>
        <p:sp>
          <p:nvSpPr>
            <p:cNvPr id="15" name="Rounded Rectangle 14"/>
            <p:cNvSpPr/>
            <p:nvPr/>
          </p:nvSpPr>
          <p:spPr>
            <a:xfrm>
              <a:off x="2976667" y="2151755"/>
              <a:ext cx="3950961" cy="228740"/>
            </a:xfrm>
            <a:prstGeom prst="roundRect">
              <a:avLst>
                <a:gd name="adj" fmla="val 13636"/>
              </a:avLst>
            </a:pr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80640" y="2173381"/>
              <a:ext cx="1569571" cy="180663"/>
            </a:xfrm>
            <a:prstGeom prst="rect">
              <a:avLst/>
            </a:prstGeom>
            <a:noFill/>
          </p:spPr>
          <p:txBody>
            <a:bodyPr wrap="none" anchor="ctr" lIns="0" rIns="0" tIns="0" bIns="0">
              <a:noAutofit/>
            </a:bodyPr>
            <a:lstStyle/>
            <a:p>
              <a:pPr algn="l"/>
              <a:r>
                <a:rPr sz="980" b="1">
                  <a:solidFill>
                    <a:srgbClr val="FFFFFF"/>
                  </a:solidFill>
                  <a:latin typeface="맑은 고딕"/>
                  <a:ea typeface="맑은 고딕"/>
                  <a:cs typeface="맑은 고딕"/>
                </a:rPr>
                <a:t>75,464,336 cycle · 96.5%</a:t>
              </a:r>
            </a:p>
          </p:txBody>
        </p:sp>
        <p:sp>
          <p:nvSpPr>
            <p:cNvPr id="17" name="Rounded Rectangle 16"/>
            <p:cNvSpPr/>
            <p:nvPr/>
          </p:nvSpPr>
          <p:spPr>
            <a:xfrm>
              <a:off x="7655438" y="2151755"/>
              <a:ext cx="914959" cy="228740"/>
            </a:xfrm>
            <a:prstGeom prst="roundRect">
              <a:avLst>
                <a:gd name="adj" fmla="val 13636"/>
              </a:avLst>
            </a:prstGeom>
            <a:solidFill>
              <a:srgbClr val="B42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3178" y="2185442"/>
              <a:ext cx="231599" cy="165608"/>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470</a:t>
              </a:r>
            </a:p>
          </p:txBody>
        </p:sp>
        <p:sp>
          <p:nvSpPr>
            <p:cNvPr id="19" name="TextBox 18"/>
            <p:cNvSpPr txBox="1"/>
            <p:nvPr/>
          </p:nvSpPr>
          <p:spPr>
            <a:xfrm>
              <a:off x="2368375" y="2616097"/>
              <a:ext cx="462730" cy="173135"/>
            </a:xfrm>
            <a:prstGeom prst="rect">
              <a:avLst/>
            </a:prstGeom>
            <a:noFill/>
          </p:spPr>
          <p:txBody>
            <a:bodyPr wrap="none" anchor="ctr" lIns="0" rIns="0" tIns="0" bIns="0">
              <a:noAutofit/>
            </a:bodyPr>
            <a:lstStyle/>
            <a:p>
              <a:pPr algn="r"/>
              <a:r>
                <a:rPr sz="940" b="1">
                  <a:solidFill>
                    <a:srgbClr val="16202C"/>
                  </a:solidFill>
                  <a:latin typeface="맑은 고딕"/>
                  <a:ea typeface="맑은 고딕"/>
                  <a:cs typeface="맑은 고딕"/>
                </a:rPr>
                <a:t>PeCore</a:t>
              </a:r>
            </a:p>
          </p:txBody>
        </p:sp>
        <p:sp>
          <p:nvSpPr>
            <p:cNvPr id="20" name="Rounded Rectangle 19"/>
            <p:cNvSpPr/>
            <p:nvPr/>
          </p:nvSpPr>
          <p:spPr>
            <a:xfrm>
              <a:off x="2976667" y="2588440"/>
              <a:ext cx="135164" cy="228740"/>
            </a:xfrm>
            <a:prstGeom prst="roundRect">
              <a:avLst>
                <a:gd name="adj" fmla="val 15384"/>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84613" y="2622127"/>
              <a:ext cx="928570" cy="165608"/>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2,586,167 · 3.3%</a:t>
              </a:r>
            </a:p>
          </p:txBody>
        </p:sp>
        <p:sp>
          <p:nvSpPr>
            <p:cNvPr id="22" name="Rounded Rectangle 21"/>
            <p:cNvSpPr/>
            <p:nvPr/>
          </p:nvSpPr>
          <p:spPr>
            <a:xfrm>
              <a:off x="7655438" y="2588440"/>
              <a:ext cx="3015207" cy="228740"/>
            </a:xfrm>
            <a:prstGeom prst="roundRect">
              <a:avLst>
                <a:gd name="adj" fmla="val 13636"/>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9410" y="2610066"/>
              <a:ext cx="379916" cy="180663"/>
            </a:xfrm>
            <a:prstGeom prst="rect">
              <a:avLst/>
            </a:prstGeom>
            <a:noFill/>
          </p:spPr>
          <p:txBody>
            <a:bodyPr wrap="none" anchor="ctr" lIns="0" rIns="0" tIns="0" bIns="0">
              <a:noAutofit/>
            </a:bodyPr>
            <a:lstStyle/>
            <a:p>
              <a:pPr algn="l"/>
              <a:r>
                <a:rPr sz="980" b="1">
                  <a:solidFill>
                    <a:srgbClr val="FFFFFF"/>
                  </a:solidFill>
                  <a:latin typeface="맑은 고딕"/>
                  <a:ea typeface="맑은 고딕"/>
                  <a:cs typeface="맑은 고딕"/>
                </a:rPr>
                <a:t>1,557</a:t>
              </a:r>
            </a:p>
          </p:txBody>
        </p:sp>
        <p:sp>
          <p:nvSpPr>
            <p:cNvPr id="24" name="TextBox 23"/>
            <p:cNvSpPr txBox="1"/>
            <p:nvPr/>
          </p:nvSpPr>
          <p:spPr>
            <a:xfrm>
              <a:off x="2118581" y="3058813"/>
              <a:ext cx="712525" cy="165608"/>
            </a:xfrm>
            <a:prstGeom prst="rect">
              <a:avLst/>
            </a:prstGeom>
            <a:noFill/>
          </p:spPr>
          <p:txBody>
            <a:bodyPr wrap="none" anchor="ctr" lIns="0" rIns="0" tIns="0" bIns="0">
              <a:noAutofit/>
            </a:bodyPr>
            <a:lstStyle/>
            <a:p>
              <a:pPr algn="r"/>
              <a:r>
                <a:rPr sz="900" b="0">
                  <a:solidFill>
                    <a:srgbClr val="5B6B7B"/>
                  </a:solidFill>
                  <a:latin typeface="맑은 고딕"/>
                  <a:ea typeface="맑은 고딕"/>
                  <a:cs typeface="맑은 고딕"/>
                </a:rPr>
                <a:t>MainContext</a:t>
              </a:r>
            </a:p>
          </p:txBody>
        </p:sp>
        <p:sp>
          <p:nvSpPr>
            <p:cNvPr id="25" name="Rectangle 24"/>
            <p:cNvSpPr/>
            <p:nvPr/>
          </p:nvSpPr>
          <p:spPr>
            <a:xfrm>
              <a:off x="2976667" y="3025125"/>
              <a:ext cx="31192" cy="22874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80640" y="3058813"/>
              <a:ext cx="769824"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58,883 · 0.1%</a:t>
              </a:r>
            </a:p>
          </p:txBody>
        </p:sp>
        <p:sp>
          <p:nvSpPr>
            <p:cNvPr id="27" name="Rounded Rectangle 26"/>
            <p:cNvSpPr/>
            <p:nvPr/>
          </p:nvSpPr>
          <p:spPr>
            <a:xfrm>
              <a:off x="7655438" y="3025125"/>
              <a:ext cx="207945" cy="228740"/>
            </a:xfrm>
            <a:prstGeom prst="roundRect">
              <a:avLst>
                <a:gd name="adj" fmla="val 10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6561" y="3058813"/>
              <a:ext cx="231599"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108</a:t>
              </a:r>
            </a:p>
          </p:txBody>
        </p:sp>
        <p:sp>
          <p:nvSpPr>
            <p:cNvPr id="29" name="TextBox 28"/>
            <p:cNvSpPr txBox="1"/>
            <p:nvPr/>
          </p:nvSpPr>
          <p:spPr>
            <a:xfrm>
              <a:off x="1864908" y="3495498"/>
              <a:ext cx="966197" cy="165608"/>
            </a:xfrm>
            <a:prstGeom prst="rect">
              <a:avLst/>
            </a:prstGeom>
            <a:noFill/>
          </p:spPr>
          <p:txBody>
            <a:bodyPr wrap="none" anchor="ctr" lIns="0" rIns="0" tIns="0" bIns="0">
              <a:noAutofit/>
            </a:bodyPr>
            <a:lstStyle/>
            <a:p>
              <a:pPr algn="r"/>
              <a:r>
                <a:rPr sz="900" b="0">
                  <a:solidFill>
                    <a:srgbClr val="5B6B7B"/>
                  </a:solidFill>
                  <a:latin typeface="맑은 고딕"/>
                  <a:ea typeface="맑은 고딕"/>
                  <a:cs typeface="맑은 고딕"/>
                </a:rPr>
                <a:t>InterChipTransfer</a:t>
              </a:r>
            </a:p>
          </p:txBody>
        </p:sp>
        <p:sp>
          <p:nvSpPr>
            <p:cNvPr id="30" name="Rectangle 29"/>
            <p:cNvSpPr/>
            <p:nvPr/>
          </p:nvSpPr>
          <p:spPr>
            <a:xfrm>
              <a:off x="2976667" y="3461811"/>
              <a:ext cx="31192" cy="22874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80640" y="3495498"/>
              <a:ext cx="769824"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38,018 · 0.0%</a:t>
              </a:r>
            </a:p>
          </p:txBody>
        </p:sp>
        <p:sp>
          <p:nvSpPr>
            <p:cNvPr id="32" name="Rectangle 31"/>
            <p:cNvSpPr/>
            <p:nvPr/>
          </p:nvSpPr>
          <p:spPr>
            <a:xfrm>
              <a:off x="7655438" y="3461811"/>
              <a:ext cx="31192" cy="22874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69807" y="3495498"/>
              <a:ext cx="104648"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2</a:t>
              </a:r>
            </a:p>
          </p:txBody>
        </p:sp>
        <p:sp>
          <p:nvSpPr>
            <p:cNvPr id="34" name="TextBox 33"/>
            <p:cNvSpPr txBox="1"/>
            <p:nvPr/>
          </p:nvSpPr>
          <p:spPr>
            <a:xfrm>
              <a:off x="2084384" y="3932183"/>
              <a:ext cx="746721" cy="165608"/>
            </a:xfrm>
            <a:prstGeom prst="rect">
              <a:avLst/>
            </a:prstGeom>
            <a:noFill/>
          </p:spPr>
          <p:txBody>
            <a:bodyPr wrap="none" anchor="ctr" lIns="0" rIns="0" tIns="0" bIns="0">
              <a:noAutofit/>
            </a:bodyPr>
            <a:lstStyle/>
            <a:p>
              <a:pPr algn="r"/>
              <a:r>
                <a:rPr sz="900" b="0">
                  <a:solidFill>
                    <a:srgbClr val="5B6B7B"/>
                  </a:solidFill>
                  <a:latin typeface="맑은 고딕"/>
                  <a:ea typeface="맑은 고딕"/>
                  <a:cs typeface="맑은 고딕"/>
                </a:rPr>
                <a:t>VectorEngine</a:t>
              </a:r>
            </a:p>
          </p:txBody>
        </p:sp>
        <p:sp>
          <p:nvSpPr>
            <p:cNvPr id="35" name="Rectangle 34"/>
            <p:cNvSpPr/>
            <p:nvPr/>
          </p:nvSpPr>
          <p:spPr>
            <a:xfrm>
              <a:off x="2976667" y="3898496"/>
              <a:ext cx="31192" cy="22874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80640" y="3932183"/>
              <a:ext cx="769824"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14,770 · 0.0%</a:t>
              </a:r>
            </a:p>
          </p:txBody>
        </p:sp>
        <p:sp>
          <p:nvSpPr>
            <p:cNvPr id="37" name="Rounded Rectangle 36"/>
            <p:cNvSpPr/>
            <p:nvPr/>
          </p:nvSpPr>
          <p:spPr>
            <a:xfrm>
              <a:off x="7655438" y="3898496"/>
              <a:ext cx="93575" cy="228740"/>
            </a:xfrm>
            <a:prstGeom prst="roundRect">
              <a:avLst>
                <a:gd name="adj" fmla="val 22222"/>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32191" y="3932183"/>
              <a:ext cx="168124"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50</a:t>
              </a:r>
            </a:p>
          </p:txBody>
        </p:sp>
        <p:sp>
          <p:nvSpPr>
            <p:cNvPr id="39" name="TextBox 38"/>
            <p:cNvSpPr txBox="1"/>
            <p:nvPr/>
          </p:nvSpPr>
          <p:spPr>
            <a:xfrm>
              <a:off x="2168789" y="4368868"/>
              <a:ext cx="662316" cy="165608"/>
            </a:xfrm>
            <a:prstGeom prst="rect">
              <a:avLst/>
            </a:prstGeom>
            <a:noFill/>
          </p:spPr>
          <p:txBody>
            <a:bodyPr wrap="none" anchor="ctr" lIns="0" rIns="0" tIns="0" bIns="0">
              <a:noAutofit/>
            </a:bodyPr>
            <a:lstStyle/>
            <a:p>
              <a:pPr algn="r"/>
              <a:r>
                <a:rPr sz="900" b="0">
                  <a:solidFill>
                    <a:srgbClr val="5B6B7B"/>
                  </a:solidFill>
                  <a:latin typeface="맑은 고딕"/>
                  <a:ea typeface="맑은 고딕"/>
                  <a:cs typeface="맑은 고딕"/>
                </a:rPr>
                <a:t>SubContext</a:t>
              </a:r>
            </a:p>
          </p:txBody>
        </p:sp>
        <p:sp>
          <p:nvSpPr>
            <p:cNvPr id="40" name="Rectangle 39"/>
            <p:cNvSpPr/>
            <p:nvPr/>
          </p:nvSpPr>
          <p:spPr>
            <a:xfrm>
              <a:off x="2976667" y="4335181"/>
              <a:ext cx="31192" cy="22874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80640" y="4368868"/>
              <a:ext cx="706349"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9,737 · 0.0%</a:t>
              </a:r>
            </a:p>
          </p:txBody>
        </p:sp>
        <p:sp>
          <p:nvSpPr>
            <p:cNvPr id="42" name="Rounded Rectangle 41"/>
            <p:cNvSpPr/>
            <p:nvPr/>
          </p:nvSpPr>
          <p:spPr>
            <a:xfrm>
              <a:off x="7655438" y="4335181"/>
              <a:ext cx="51986" cy="228740"/>
            </a:xfrm>
            <a:prstGeom prst="roundRect">
              <a:avLst>
                <a:gd name="adj" fmla="val 40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90602" y="4368868"/>
              <a:ext cx="168124" cy="165608"/>
            </a:xfrm>
            <a:prstGeom prst="rect">
              <a:avLst/>
            </a:prstGeom>
            <a:noFill/>
          </p:spPr>
          <p:txBody>
            <a:bodyPr wrap="none" anchor="ctr" lIns="0" rIns="0" tIns="0" bIns="0">
              <a:noAutofit/>
            </a:bodyPr>
            <a:lstStyle/>
            <a:p>
              <a:pPr algn="l"/>
              <a:r>
                <a:rPr sz="900" b="0">
                  <a:solidFill>
                    <a:srgbClr val="5B6B7B"/>
                  </a:solidFill>
                  <a:latin typeface="맑은 고딕"/>
                  <a:ea typeface="맑은 고딕"/>
                  <a:cs typeface="맑은 고딕"/>
                </a:rPr>
                <a:t>27</a:t>
              </a:r>
            </a:p>
          </p:txBody>
        </p:sp>
        <p:sp>
          <p:nvSpPr>
            <p:cNvPr id="44" name="Rounded Rectangle 43"/>
            <p:cNvSpPr/>
            <p:nvPr/>
          </p:nvSpPr>
          <p:spPr>
            <a:xfrm>
              <a:off x="1521050" y="4751072"/>
              <a:ext cx="9149595" cy="790192"/>
            </a:xfrm>
            <a:prstGeom prst="roundRect">
              <a:avLst>
                <a:gd name="adj" fmla="val 10526"/>
              </a:avLst>
            </a:prstGeom>
            <a:solidFill>
              <a:srgbClr val="FFF7E6"/>
            </a:solidFill>
            <a:ln w="16635">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08201" y="4849846"/>
              <a:ext cx="3573671" cy="188191"/>
            </a:xfrm>
            <a:prstGeom prst="rect">
              <a:avLst/>
            </a:prstGeom>
            <a:noFill/>
          </p:spPr>
          <p:txBody>
            <a:bodyPr wrap="none" anchor="ctr" lIns="0" rIns="0" tIns="0" bIns="0">
              <a:noAutofit/>
            </a:bodyPr>
            <a:lstStyle/>
            <a:p>
              <a:pPr algn="l"/>
              <a:r>
                <a:rPr sz="1019" b="1">
                  <a:solidFill>
                    <a:srgbClr val="B45409"/>
                  </a:solidFill>
                  <a:latin typeface="맑은 고딕"/>
                  <a:ea typeface="맑은 고딕"/>
                  <a:cs typeface="맑은 고딕"/>
                </a:rPr>
                <a:t>인스트럭션은 PeCore 가 1,557개로 최다인데, 사이클은 3.3% 다</a:t>
              </a:r>
            </a:p>
          </p:txBody>
        </p:sp>
        <p:sp>
          <p:nvSpPr>
            <p:cNvPr id="46" name="TextBox 45"/>
            <p:cNvSpPr txBox="1"/>
            <p:nvPr/>
          </p:nvSpPr>
          <p:spPr>
            <a:xfrm>
              <a:off x="1708201" y="5096677"/>
              <a:ext cx="3459004" cy="165608"/>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DMA 인스트럭션 하나가 연산 인스트럭션 하나보다 두 자릿수 이상 비싸다</a:t>
              </a:r>
            </a:p>
          </p:txBody>
        </p:sp>
        <p:sp>
          <p:nvSpPr>
            <p:cNvPr id="47" name="TextBox 46"/>
            <p:cNvSpPr txBox="1"/>
            <p:nvPr/>
          </p:nvSpPr>
          <p:spPr>
            <a:xfrm>
              <a:off x="1708201" y="5304622"/>
              <a:ext cx="4977951" cy="165608"/>
            </a:xfrm>
            <a:prstGeom prst="rect">
              <a:avLst/>
            </a:prstGeom>
            <a:noFill/>
          </p:spPr>
          <p:txBody>
            <a:bodyPr wrap="none" anchor="ctr" lIns="0" rIns="0" tIns="0" bIns="0">
              <a:noAutofit/>
            </a:bodyPr>
            <a:lstStyle/>
            <a:p>
              <a:pPr algn="l"/>
              <a:r>
                <a:rPr sz="900" b="0">
                  <a:solidFill>
                    <a:srgbClr val="16202C"/>
                  </a:solidFill>
                  <a:latin typeface="맑은 고딕"/>
                  <a:ea typeface="맑은 고딕"/>
                  <a:cs typeface="맑은 고딕"/>
                </a:rPr>
                <a:t>합산의 착시가 아니다 — 130개 중 107개(82%)가 DMA 에 50% 이상 · 54개는 90% 이상 · 중앙값 82.8%</a:t>
              </a:r>
            </a:p>
          </p:txBody>
        </p:sp>
      </p:grpSp>
      <p:sp>
        <p:nvSpPr>
          <p:cNvPr id="48" name="Rectangle 47"/>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명령 수와 비용은 비례하지 않는다. 실기에서 중요한 것은 데이터가 어떻게 놓이고 움직이는가다.</a:t>
            </a:r>
          </a:p>
        </p:txBody>
      </p:sp>
      <p:sp>
        <p:nvSpPr>
          <p:cNvPr id="49" name="Rectangle 48"/>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3-d · 사이클은 DMA, 인스트럭션은 PeCore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커널 130개 스케줄 합산 (--dump-schedule)</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289</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cargo furiosa-opt compile --dump-schedule 로 커널 130개의 스케줄을 떠서 합산한 값이다. 벽시계가 아니라 스케줄 모델 예측이다.</a:t>
            </a:r>
          </a:p>
          <a:p>
            <a:pPr algn="l">
              <a:lnSpc>
                <a:spcPct val="118000"/>
              </a:lnSpc>
              <a:spcBef>
                <a:spcPts val="600"/>
              </a:spcBef>
              <a:spcAft>
                <a:spcPts val="200"/>
              </a:spcAft>
            </a:pPr>
            <a:r>
              <a:rPr sz="1900" b="0" i="0">
                <a:solidFill>
                  <a:srgbClr val="16202C"/>
                </a:solidFill>
                <a:latin typeface="Segoe UI"/>
                <a:ea typeface="맑은 고딕"/>
                <a:cs typeface="맑은 고딕"/>
              </a:rPr>
              <a:t>▪  사이클 스팬은 min 16 / p25 4,612 / median 10,532 / p75 23,503 / max 10,845,036 이고, 최대 커널 at_primitives::vrf::multi_vrf_at 은 인스트럭션 12개로 1,080만 사이클을 쓴다.</a:t>
            </a:r>
          </a:p>
          <a:p>
            <a:pPr algn="l">
              <a:lnSpc>
                <a:spcPct val="118000"/>
              </a:lnSpc>
              <a:spcBef>
                <a:spcPts val="200"/>
              </a:spcBef>
              <a:spcAft>
                <a:spcPts val="100"/>
              </a:spcAft>
            </a:pPr>
            <a:r>
              <a:rPr sz="1780" b="0" i="0">
                <a:solidFill>
                  <a:srgbClr val="2C3A4B"/>
                </a:solidFill>
                <a:latin typeface="Segoe UI"/>
                <a:ea typeface="맑은 고딕"/>
                <a:cs typeface="맑은 고딕"/>
              </a:rPr>
              <a:t>–  --dump-schedule 은 NPU 를 점유하지 않아 실기 테스트와 동시에 돌릴 수 있었다.</a:t>
            </a:r>
          </a:p>
          <a:p>
            <a:pPr algn="l">
              <a:lnSpc>
                <a:spcPct val="118000"/>
              </a:lnSpc>
              <a:spcBef>
                <a:spcPts val="600"/>
              </a:spcBef>
              <a:spcAft>
                <a:spcPts val="200"/>
              </a:spcAft>
            </a:pPr>
            <a:r>
              <a:rPr sz="1900" b="1" i="0">
                <a:solidFill>
                  <a:srgbClr val="083F80"/>
                </a:solidFill>
                <a:latin typeface="Segoe UI"/>
                <a:ea typeface="맑은 고딕"/>
                <a:cs typeface="맑은 고딕"/>
              </a:rPr>
              <a:t>▪  함의: vISA 가 배타적으로 노출하는 슬라이스 내부 데이터패스(Lane/Packet/TRF/DPE/VE) 최적화의 상한은 3.3% 다.</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3-d(계속) · 96.5% 를 논문 위에 얹을 때 지킬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290</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200" b="1" i="0">
                <a:solidFill>
                  <a:srgbClr val="083F80"/>
                </a:solidFill>
                <a:latin typeface="Segoe UI"/>
                <a:ea typeface="맑은 고딕"/>
                <a:cs typeface="맑은 고딕"/>
              </a:rPr>
              <a:t>▪  방향은 같다. 논문도 데이터 이동이 지배적일 수 있음을 전제한다.</a:t>
            </a:r>
          </a:p>
          <a:p>
            <a:pPr algn="l">
              <a:lnSpc>
                <a:spcPct val="118000"/>
              </a:lnSpc>
              <a:spcBef>
                <a:spcPts val="200"/>
              </a:spcBef>
              <a:spcAft>
                <a:spcPts val="100"/>
              </a:spcAft>
            </a:pPr>
            <a:r>
              <a:rPr sz="1080" b="0" i="0">
                <a:solidFill>
                  <a:srgbClr val="2C3A4B"/>
                </a:solidFill>
                <a:latin typeface="Segoe UI"/>
                <a:ea typeface="맑은 고딕"/>
                <a:cs typeface="맑은 고딕"/>
              </a:rPr>
              <a:t>–  §VI-D: decode 단계는 가중치 읽기 트래픽 때문에 기본적으로 메모리 대역폭에 묶인다</a:t>
            </a:r>
          </a:p>
          <a:p>
            <a:pPr algn="l">
              <a:lnSpc>
                <a:spcPct val="118000"/>
              </a:lnSpc>
              <a:spcBef>
                <a:spcPts val="200"/>
              </a:spcBef>
              <a:spcAft>
                <a:spcPts val="100"/>
              </a:spcAft>
            </a:pPr>
            <a:r>
              <a:rPr sz="1080" b="0" i="0">
                <a:solidFill>
                  <a:srgbClr val="2C3A4B"/>
                </a:solidFill>
                <a:latin typeface="Segoe UI"/>
                <a:ea typeface="맑은 고딕"/>
                <a:cs typeface="맑은 고딕"/>
              </a:rPr>
              <a:t>–  Fig. 11(b): L=128 일 때 모델 전체가 상대적으로 메모리 바운드라 MAC utilization 이 낮다. L 이 커지면 MAC utilization 이 올라가고, 2k 를 넘으면 attention score 가 SRAM 에 다 안 들어가 다시 조금 떨어진다</a:t>
            </a:r>
          </a:p>
          <a:p>
            <a:pPr algn="l">
              <a:lnSpc>
                <a:spcPct val="118000"/>
              </a:lnSpc>
              <a:spcBef>
                <a:spcPts val="200"/>
              </a:spcBef>
              <a:spcAft>
                <a:spcPts val="100"/>
              </a:spcAft>
            </a:pPr>
            <a:r>
              <a:rPr sz="1080" b="0" i="0">
                <a:solidFill>
                  <a:srgbClr val="2C3A4B"/>
                </a:solidFill>
                <a:latin typeface="Segoe UI"/>
                <a:ea typeface="맑은 고딕"/>
                <a:cs typeface="맑은 고딕"/>
              </a:rPr>
              <a:t>–  Fig. 13: TU 와 TDMA 활동 트레이스 — 시퀀스가 짧으면 연산이 가중치 전송 뒤에 숨고, 길면 가중치 전송이 연산 뒤에 숨는다</a:t>
            </a:r>
          </a:p>
          <a:p>
            <a:pPr algn="l">
              <a:lnSpc>
                <a:spcPct val="118000"/>
              </a:lnSpc>
              <a:spcBef>
                <a:spcPts val="600"/>
              </a:spcBef>
              <a:spcAft>
                <a:spcPts val="200"/>
              </a:spcAft>
            </a:pPr>
            <a:r>
              <a:rPr sz="1200" b="1" i="0">
                <a:solidFill>
                  <a:srgbClr val="083F80"/>
                </a:solidFill>
                <a:latin typeface="Segoe UI"/>
                <a:ea typeface="맑은 고딕"/>
                <a:cs typeface="맑은 고딕"/>
              </a:rPr>
              <a:t>▪  논문의 주장은 '데이터 이동이 크다'가 아니라 '데이터 이동을 연산 뒤에 숨긴다'이다. 우리 96.5% 는 그 숨김이 실패한 상태가 아니라, 애초에 숨길 연산이 거의 없는 마이크로커널들의 합이다.</a:t>
            </a:r>
          </a:p>
          <a:p>
            <a:pPr algn="l">
              <a:lnSpc>
                <a:spcPct val="118000"/>
              </a:lnSpc>
              <a:spcBef>
                <a:spcPts val="600"/>
              </a:spcBef>
              <a:spcAft>
                <a:spcPts val="200"/>
              </a:spcAft>
            </a:pPr>
            <a:r>
              <a:rPr sz="1200" b="1" i="0">
                <a:solidFill>
                  <a:srgbClr val="083F80"/>
                </a:solidFill>
                <a:latin typeface="Segoe UI"/>
                <a:ea typeface="맑은 고딕"/>
                <a:cs typeface="맑은 고딕"/>
              </a:rPr>
              <a:t>▪  직접 대조가 불가능한 이유 네 가지</a:t>
            </a:r>
          </a:p>
          <a:p>
            <a:pPr algn="l">
              <a:lnSpc>
                <a:spcPct val="118000"/>
              </a:lnSpc>
              <a:spcBef>
                <a:spcPts val="200"/>
              </a:spcBef>
              <a:spcAft>
                <a:spcPts val="100"/>
              </a:spcAft>
            </a:pPr>
            <a:r>
              <a:rPr sz="1080" b="0" i="0">
                <a:solidFill>
                  <a:srgbClr val="2C3A4B"/>
                </a:solidFill>
                <a:latin typeface="Segoe UI"/>
                <a:ea typeface="맑은 고딕"/>
                <a:cs typeface="맑은 고딕"/>
              </a:rPr>
              <a:t>–  워크로드가 다르다 — 논문은 LLaMA-2 7B 엔드투엔드, 우리는 벤더 예제 마이크로커널 130개</a:t>
            </a:r>
          </a:p>
          <a:p>
            <a:pPr algn="l">
              <a:lnSpc>
                <a:spcPct val="118000"/>
              </a:lnSpc>
              <a:spcBef>
                <a:spcPts val="200"/>
              </a:spcBef>
              <a:spcAft>
                <a:spcPts val="100"/>
              </a:spcAft>
            </a:pPr>
            <a:r>
              <a:rPr sz="1080" b="0" i="0">
                <a:solidFill>
                  <a:srgbClr val="2C3A4B"/>
                </a:solidFill>
                <a:latin typeface="Segoe UI"/>
                <a:ea typeface="맑은 고딕"/>
                <a:cs typeface="맑은 고딕"/>
              </a:rPr>
              <a:t>–  경로가 다르다 — 논문은 §V-C 컴파일러, 우리는 §V-D 저수준 API</a:t>
            </a:r>
          </a:p>
          <a:p>
            <a:pPr algn="l">
              <a:lnSpc>
                <a:spcPct val="118000"/>
              </a:lnSpc>
              <a:spcBef>
                <a:spcPts val="200"/>
              </a:spcBef>
              <a:spcAft>
                <a:spcPts val="100"/>
              </a:spcAft>
            </a:pPr>
            <a:r>
              <a:rPr sz="1080" b="0" i="0">
                <a:solidFill>
                  <a:srgbClr val="2C3A4B"/>
                </a:solidFill>
                <a:latin typeface="Segoe UI"/>
                <a:ea typeface="맑은 고딕"/>
                <a:cs typeface="맑은 고딕"/>
              </a:rPr>
              <a:t>–  층위가 다르다 — 우리 96.5% 는 컴파일러 스케줄 모델 예측이지 벽시계가 아니다</a:t>
            </a:r>
          </a:p>
          <a:p>
            <a:pPr algn="l">
              <a:lnSpc>
                <a:spcPct val="118000"/>
              </a:lnSpc>
              <a:spcBef>
                <a:spcPts val="200"/>
              </a:spcBef>
              <a:spcAft>
                <a:spcPts val="100"/>
              </a:spcAft>
            </a:pPr>
            <a:r>
              <a:rPr sz="1080" b="0" i="0">
                <a:solidFill>
                  <a:srgbClr val="2C3A4B"/>
                </a:solidFill>
                <a:latin typeface="Segoe UI"/>
                <a:ea typeface="맑은 고딕"/>
                <a:cs typeface="맑은 고딕"/>
              </a:rPr>
              <a:t>–  규모가 다르다 — 우리는 배치 1, 단일 칩</a:t>
            </a:r>
          </a:p>
          <a:p>
            <a:pPr algn="l">
              <a:lnSpc>
                <a:spcPct val="118000"/>
              </a:lnSpc>
              <a:spcBef>
                <a:spcPts val="600"/>
              </a:spcBef>
              <a:spcAft>
                <a:spcPts val="200"/>
              </a:spcAft>
            </a:pPr>
            <a:r>
              <a:rPr sz="1200" b="0" i="0">
                <a:solidFill>
                  <a:srgbClr val="16202C"/>
                </a:solidFill>
                <a:latin typeface="Segoe UI"/>
                <a:ea typeface="맑은 고딕"/>
                <a:cs typeface="맑은 고딕"/>
              </a:rPr>
              <a:t>▪  검증은 했다 — 분석기가 mnist::forward 에 대해 17,953 cycle / 22 instruction (DmaEngine 12,365 = 68.9%)을 내놓았고 독립 기록과 정확히 일치한다. 다만 두 기록이 같은 스케줄 모델 산출물이므로 벽시계 대조는 아니다.</a:t>
            </a:r>
          </a:p>
          <a:p>
            <a:pPr algn="l">
              <a:lnSpc>
                <a:spcPct val="118000"/>
              </a:lnSpc>
              <a:spcBef>
                <a:spcPts val="600"/>
              </a:spcBef>
              <a:spcAft>
                <a:spcPts val="200"/>
              </a:spcAft>
            </a:pPr>
            <a:r>
              <a:rPr sz="1200" b="1" i="0">
                <a:solidFill>
                  <a:srgbClr val="083F80"/>
                </a:solidFill>
                <a:latin typeface="Segoe UI"/>
                <a:ea typeface="맑은 고딕"/>
                <a:cs typeface="맑은 고딕"/>
              </a:rPr>
              <a:t>▪  함의: vISA 가 배타적으로 노출하는 슬라이스 내부 데이터패스(Lane / Packet / TRF / DPE / Vector Engine) 최적화의 상한은 3.3% 다. 실기에서 중요한 것은 데이터가 어떻게 놓이고 움직이는가다.</a:t>
            </a:r>
          </a:p>
          <a:p>
            <a:pPr algn="l">
              <a:lnSpc>
                <a:spcPct val="118000"/>
              </a:lnSpc>
              <a:spcBef>
                <a:spcPts val="200"/>
              </a:spcBef>
              <a:spcAft>
                <a:spcPts val="100"/>
              </a:spcAft>
            </a:pPr>
            <a:r>
              <a:rPr sz="1080" b="0" i="0">
                <a:solidFill>
                  <a:srgbClr val="2C3A4B"/>
                </a:solidFill>
                <a:latin typeface="Segoe UI"/>
                <a:ea typeface="맑은 고딕"/>
                <a:cs typeface="맑은 고딕"/>
              </a:rPr>
              <a:t>–  보강 근거: 이전 세션 실측에서 64 B → 256 B 정렬 변경만으로 DmaStore 가 72,731 → 1,552 cycle 로 46.9배 줄었다.</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'DMA 가 지배한다'는 논문의 반증이 아니라, 논문이 다루지 않은 경로에서 같은 물리를 다시 본 것이다.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1945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475488"/>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질문 3-e · 같은 하드웨어, 두 경로가 정반대 결과를 낸다</a:t>
            </a:r>
          </a:p>
        </p:txBody>
      </p:sp>
      <p:sp>
        <p:nvSpPr>
          <p:cNvPr id="5" name="TextBox 4"/>
          <p:cNvSpPr txBox="1"/>
          <p:nvPr/>
        </p:nvSpPr>
        <p:spPr>
          <a:xfrm>
            <a:off x="566928" y="93268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250" b="0" i="0">
                <a:solidFill>
                  <a:srgbClr val="5B6B7B"/>
                </a:solidFill>
                <a:latin typeface="Segoe UI"/>
                <a:ea typeface="맑은 고딕"/>
                <a:cs typeface="맑은 고딕"/>
              </a:rPr>
              <a:t>vISA 저수준 API 경로 vs furiosa-llm 제품 경로</a:t>
            </a:r>
          </a:p>
        </p:txBody>
      </p:sp>
      <p:cxnSp>
        <p:nvCxnSpPr>
          <p:cNvPr id="6" name="Connector 5"/>
          <p:cNvCxnSpPr/>
          <p:nvPr/>
        </p:nvCxnSpPr>
        <p:spPr>
          <a:xfrm>
            <a:off x="566928" y="124358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291</a:t>
            </a:r>
          </a:p>
        </p:txBody>
      </p:sp>
      <p:grpSp>
        <p:nvGrpSpPr>
          <p:cNvPr id="9" name="도해 A10#18"/>
          <p:cNvGrpSpPr/>
          <p:nvPr/>
        </p:nvGrpSpPr>
        <p:grpSpPr>
          <a:xfrm>
            <a:off x="1730425" y="1463040"/>
            <a:ext cx="8730846" cy="4078224"/>
            <a:chOff x="1730425" y="1463040"/>
            <a:chExt cx="8730846" cy="4078224"/>
          </a:xfrm>
        </p:grpSpPr>
        <p:sp>
          <p:nvSpPr>
            <p:cNvPr id="10" name="Rounded Rectangle 9"/>
            <p:cNvSpPr/>
            <p:nvPr/>
          </p:nvSpPr>
          <p:spPr>
            <a:xfrm>
              <a:off x="1730425" y="1463040"/>
              <a:ext cx="8730846" cy="727570"/>
            </a:xfrm>
            <a:prstGeom prst="roundRect">
              <a:avLst>
                <a:gd name="adj" fmla="val 10526"/>
              </a:avLst>
            </a:prstGeom>
            <a:solidFill>
              <a:srgbClr val="E3EEFB"/>
            </a:solidFill>
            <a:ln w="19146">
              <a:solidFill>
                <a:srgbClr val="0B5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02744" y="1548434"/>
              <a:ext cx="2649726" cy="180208"/>
            </a:xfrm>
            <a:prstGeom prst="rect">
              <a:avLst/>
            </a:prstGeom>
            <a:noFill/>
          </p:spPr>
          <p:txBody>
            <a:bodyPr wrap="none" anchor="ctr" lIns="0" rIns="0" tIns="0" bIns="0">
              <a:noAutofit/>
            </a:bodyPr>
            <a:lstStyle/>
            <a:p>
              <a:pPr algn="l"/>
              <a:r>
                <a:rPr sz="980" b="1">
                  <a:solidFill>
                    <a:srgbClr val="083F80"/>
                  </a:solidFill>
                  <a:latin typeface="맑은 고딕"/>
                  <a:ea typeface="맑은 고딕"/>
                  <a:cs typeface="맑은 고딕"/>
                </a:rPr>
                <a:t>논문이 말하는 하드웨어 — 다중 PE·다중 칩은 된다</a:t>
              </a:r>
            </a:p>
          </p:txBody>
        </p:sp>
        <p:sp>
          <p:nvSpPr>
            <p:cNvPr id="12" name="TextBox 11"/>
            <p:cNvSpPr txBox="1"/>
            <p:nvPr/>
          </p:nvSpPr>
          <p:spPr>
            <a:xfrm>
              <a:off x="1902744" y="1786809"/>
              <a:ext cx="4515944"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chip당 PE 8 · 최대 4 PE 융합 · NoC 는 PE 간 전송을 경합 없이 지원 · PE ↔ HBM / 다른 PE 최대 256 GB/s</a:t>
              </a:r>
            </a:p>
          </p:txBody>
        </p:sp>
        <p:sp>
          <p:nvSpPr>
            <p:cNvPr id="13" name="TextBox 12"/>
            <p:cNvSpPr txBox="1"/>
            <p:nvPr/>
          </p:nvSpPr>
          <p:spPr>
            <a:xfrm>
              <a:off x="1902744" y="1978275"/>
              <a:ext cx="4744525"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칩 간 PCIe Gen5 P2P 방향당 최대 64 GB/s · PE 주소공간 통합 · 레이어 후 텐서 동기화와 IPC 로 tensor parallel</a:t>
              </a:r>
            </a:p>
          </p:txBody>
        </p:sp>
        <p:cxnSp>
          <p:nvCxnSpPr>
            <p:cNvPr id="14" name="Connector 13"/>
            <p:cNvCxnSpPr/>
            <p:nvPr/>
          </p:nvCxnSpPr>
          <p:spPr>
            <a:xfrm>
              <a:off x="3855696" y="2190610"/>
              <a:ext cx="0" cy="134027"/>
            </a:xfrm>
            <a:prstGeom prst="line">
              <a:avLst/>
            </a:prstGeom>
            <a:ln w="21061">
              <a:solidFill>
                <a:srgbClr val="0B5FC0"/>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3798257" y="2286343"/>
              <a:ext cx="114879" cy="134027"/>
            </a:xfrm>
            <a:custGeom>
              <a:avLst/>
              <a:gdLst/>
              <a:ahLst/>
              <a:cxnLst/>
              <a:rect l="l" t="t" r="r" b="b"/>
              <a:pathLst>
                <a:path w="114879" h="134027">
                  <a:moveTo>
                    <a:pt x="0" y="0"/>
                  </a:moveTo>
                  <a:lnTo>
                    <a:pt x="57439" y="134027"/>
                  </a:lnTo>
                  <a:lnTo>
                    <a:pt x="114879"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335999" y="2190610"/>
              <a:ext cx="0" cy="134027"/>
            </a:xfrm>
            <a:prstGeom prst="line">
              <a:avLst/>
            </a:prstGeom>
            <a:ln w="21061">
              <a:solidFill>
                <a:srgbClr val="0B5FC0"/>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8278559" y="2286343"/>
              <a:ext cx="114879" cy="134027"/>
            </a:xfrm>
            <a:custGeom>
              <a:avLst/>
              <a:gdLst/>
              <a:ahLst/>
              <a:cxnLst/>
              <a:rect l="l" t="t" r="r" b="b"/>
              <a:pathLst>
                <a:path w="114879" h="134027">
                  <a:moveTo>
                    <a:pt x="0" y="0"/>
                  </a:moveTo>
                  <a:lnTo>
                    <a:pt x="57440" y="134027"/>
                  </a:lnTo>
                  <a:lnTo>
                    <a:pt x="114879" y="0"/>
                  </a:lnTo>
                  <a:close/>
                </a:path>
              </a:pathLst>
            </a:cu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730425" y="2439516"/>
              <a:ext cx="4250543" cy="2221005"/>
            </a:xfrm>
            <a:prstGeom prst="roundRect">
              <a:avLst>
                <a:gd name="adj" fmla="val 3448"/>
              </a:avLst>
            </a:prstGeom>
            <a:solidFill>
              <a:srgbClr val="FDE8E8"/>
            </a:solidFill>
            <a:ln w="19146">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2537" y="2524910"/>
              <a:ext cx="1946318" cy="180208"/>
            </a:xfrm>
            <a:prstGeom prst="rect">
              <a:avLst/>
            </a:prstGeom>
            <a:noFill/>
          </p:spPr>
          <p:txBody>
            <a:bodyPr wrap="none" anchor="ctr" lIns="0" rIns="0" tIns="0" bIns="0">
              <a:noAutofit/>
            </a:bodyPr>
            <a:lstStyle/>
            <a:p>
              <a:pPr algn="ctr"/>
              <a:r>
                <a:rPr sz="980" b="1">
                  <a:solidFill>
                    <a:srgbClr val="B4222A"/>
                  </a:solidFill>
                  <a:latin typeface="맑은 고딕"/>
                  <a:ea typeface="맑은 고딕"/>
                  <a:cs typeface="맑은 고딕"/>
                </a:rPr>
                <a:t>vISA 저수준 API 경로 — 전부 막힌다</a:t>
              </a:r>
            </a:p>
          </p:txBody>
        </p:sp>
        <p:sp>
          <p:nvSpPr>
            <p:cNvPr id="20" name="TextBox 19"/>
            <p:cNvSpPr txBox="1"/>
            <p:nvPr/>
          </p:nvSpPr>
          <p:spPr>
            <a:xfrm>
              <a:off x="3285348" y="2744138"/>
              <a:ext cx="1140696" cy="145552"/>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다중 칩·클러스터 예제 6종</a:t>
              </a:r>
            </a:p>
          </p:txBody>
        </p:sp>
        <p:sp>
          <p:nvSpPr>
            <p:cNvPr id="21" name="TextBox 20"/>
            <p:cNvSpPr txBox="1"/>
            <p:nvPr/>
          </p:nvSpPr>
          <p:spPr>
            <a:xfrm>
              <a:off x="1921891" y="2968345"/>
              <a:ext cx="946809" cy="152483"/>
            </a:xfrm>
            <a:prstGeom prst="rect">
              <a:avLst/>
            </a:prstGeom>
            <a:noFill/>
          </p:spPr>
          <p:txBody>
            <a:bodyPr wrap="none" anchor="ctr" lIns="0" rIns="0" tIns="0" bIns="0">
              <a:noAutofit/>
            </a:bodyPr>
            <a:lstStyle/>
            <a:p>
              <a:pPr algn="l"/>
              <a:r>
                <a:rPr sz="830" b="1">
                  <a:solidFill>
                    <a:srgbClr val="B4222A"/>
                  </a:solidFill>
                  <a:latin typeface="맑은 고딕"/>
                  <a:ea typeface="맑은 고딕"/>
                  <a:cs typeface="맑은 고딕"/>
                </a:rPr>
                <a:t>실기 컴파일 실패 5종</a:t>
              </a:r>
            </a:p>
          </p:txBody>
        </p:sp>
        <p:sp>
          <p:nvSpPr>
            <p:cNvPr id="22" name="TextBox 21"/>
            <p:cNvSpPr txBox="1"/>
            <p:nvPr/>
          </p:nvSpPr>
          <p:spPr>
            <a:xfrm>
              <a:off x="1921891" y="3161343"/>
              <a:ext cx="2149779"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matmul_chip_reduce — strides not aligned by 8</a:t>
              </a:r>
            </a:p>
          </p:txBody>
        </p:sp>
        <p:sp>
          <p:nvSpPr>
            <p:cNvPr id="23" name="TextBox 22"/>
            <p:cNvSpPr txBox="1"/>
            <p:nvPr/>
          </p:nvSpPr>
          <p:spPr>
            <a:xfrm>
              <a:off x="1921891" y="3314515"/>
              <a:ext cx="2169979"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matmul_cluster_reduce — tail_size % min_align</a:t>
              </a:r>
            </a:p>
          </p:txBody>
        </p:sp>
        <p:sp>
          <p:nvSpPr>
            <p:cNvPr id="24" name="TextBox 23"/>
            <p:cNvSpPr txBox="1"/>
            <p:nvPr/>
          </p:nvSpPr>
          <p:spPr>
            <a:xfrm>
              <a:off x="1921891" y="3467688"/>
              <a:ext cx="1882780"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cluster_shuffle · chip_slice · cluster_slice</a:t>
              </a:r>
            </a:p>
          </p:txBody>
        </p:sp>
        <p:sp>
          <p:nvSpPr>
            <p:cNvPr id="25" name="TextBox 24"/>
            <p:cNvSpPr txBox="1"/>
            <p:nvPr/>
          </p:nvSpPr>
          <p:spPr>
            <a:xfrm>
              <a:off x="1921891" y="3695916"/>
              <a:ext cx="1862130" cy="152483"/>
            </a:xfrm>
            <a:prstGeom prst="rect">
              <a:avLst/>
            </a:prstGeom>
            <a:noFill/>
          </p:spPr>
          <p:txBody>
            <a:bodyPr wrap="none" anchor="ctr" lIns="0" rIns="0" tIns="0" bIns="0">
              <a:noAutofit/>
            </a:bodyPr>
            <a:lstStyle/>
            <a:p>
              <a:pPr algn="l"/>
              <a:r>
                <a:rPr sz="830" b="1">
                  <a:solidFill>
                    <a:srgbClr val="B4222A"/>
                  </a:solidFill>
                  <a:latin typeface="맑은 고딕"/>
                  <a:ea typeface="맑은 고딕"/>
                  <a:cs typeface="맑은 고딕"/>
                </a:rPr>
                <a:t>컴파일은 되지만 실기 로드에서 abort 1종</a:t>
              </a:r>
            </a:p>
          </p:txBody>
        </p:sp>
        <p:sp>
          <p:nvSpPr>
            <p:cNvPr id="26" name="TextBox 25"/>
            <p:cNvSpPr txBox="1"/>
            <p:nvPr/>
          </p:nvSpPr>
          <p:spPr>
            <a:xfrm>
              <a:off x="1921891" y="3888913"/>
              <a:ext cx="1792312"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cluster_chip_shuffle_slice::chip_shuffle</a:t>
              </a:r>
            </a:p>
          </p:txBody>
        </p:sp>
        <p:sp>
          <p:nvSpPr>
            <p:cNvPr id="27" name="TextBox 26"/>
            <p:cNvSpPr txBox="1"/>
            <p:nvPr/>
          </p:nvSpPr>
          <p:spPr>
            <a:xfrm>
              <a:off x="1921891" y="4042086"/>
              <a:ext cx="2027720"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커널 로더 범위초과 — 요구 56,576 vs 실제 37,888</a:t>
              </a:r>
            </a:p>
          </p:txBody>
        </p:sp>
        <p:sp>
          <p:nvSpPr>
            <p:cNvPr id="28" name="Rounded Rectangle 27"/>
            <p:cNvSpPr/>
            <p:nvPr/>
          </p:nvSpPr>
          <p:spPr>
            <a:xfrm>
              <a:off x="1921891" y="4258442"/>
              <a:ext cx="3867611" cy="325492"/>
            </a:xfrm>
            <a:prstGeom prst="roundRect">
              <a:avLst>
                <a:gd name="adj" fmla="val 17647"/>
              </a:avLst>
            </a:prstGeom>
            <a:solidFill>
              <a:srgbClr val="FFFFFF"/>
            </a:solidFill>
            <a:ln w="13402">
              <a:solidFill>
                <a:srgbClr val="B42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8309" y="4341347"/>
              <a:ext cx="2174775" cy="159415"/>
            </a:xfrm>
            <a:prstGeom prst="rect">
              <a:avLst/>
            </a:prstGeom>
            <a:noFill/>
          </p:spPr>
          <p:txBody>
            <a:bodyPr wrap="none" anchor="ctr" lIns="0" rIns="0" tIns="0" bIns="0">
              <a:noAutofit/>
            </a:bodyPr>
            <a:lstStyle/>
            <a:p>
              <a:pPr algn="ctr"/>
              <a:r>
                <a:rPr sz="869" b="1">
                  <a:solidFill>
                    <a:srgbClr val="B4222A"/>
                  </a:solidFill>
                  <a:latin typeface="맑은 고딕"/>
                  <a:ea typeface="맑은 고딕"/>
                  <a:cs typeface="맑은 고딕"/>
                </a:rPr>
                <a:t>RNGD 4장을 vISA 로 함께 쓰는 예제: 실기 0종</a:t>
              </a:r>
            </a:p>
          </p:txBody>
        </p:sp>
        <p:sp>
          <p:nvSpPr>
            <p:cNvPr id="30" name="Rounded Rectangle 29"/>
            <p:cNvSpPr/>
            <p:nvPr/>
          </p:nvSpPr>
          <p:spPr>
            <a:xfrm>
              <a:off x="6210727" y="2439516"/>
              <a:ext cx="4250543" cy="2221005"/>
            </a:xfrm>
            <a:prstGeom prst="roundRect">
              <a:avLst>
                <a:gd name="adj" fmla="val 3448"/>
              </a:avLst>
            </a:prstGeom>
            <a:solidFill>
              <a:srgbClr val="E2F4E8"/>
            </a:solidFill>
            <a:ln w="19146">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33967" y="2524910"/>
              <a:ext cx="2004064" cy="180208"/>
            </a:xfrm>
            <a:prstGeom prst="rect">
              <a:avLst/>
            </a:prstGeom>
            <a:noFill/>
          </p:spPr>
          <p:txBody>
            <a:bodyPr wrap="none" anchor="ctr" lIns="0" rIns="0" tIns="0" bIns="0">
              <a:noAutofit/>
            </a:bodyPr>
            <a:lstStyle/>
            <a:p>
              <a:pPr algn="ctr"/>
              <a:r>
                <a:rPr sz="980" b="1">
                  <a:solidFill>
                    <a:srgbClr val="1A7F37"/>
                  </a:solidFill>
                  <a:latin typeface="맑은 고딕"/>
                  <a:ea typeface="맑은 고딕"/>
                  <a:cs typeface="맑은 고딕"/>
                </a:rPr>
                <a:t>furiosa-llm 제품 경로 — 실제로 된다</a:t>
              </a:r>
            </a:p>
          </p:txBody>
        </p:sp>
        <p:sp>
          <p:nvSpPr>
            <p:cNvPr id="32" name="TextBox 31"/>
            <p:cNvSpPr txBox="1"/>
            <p:nvPr/>
          </p:nvSpPr>
          <p:spPr>
            <a:xfrm>
              <a:off x="7856369" y="2744138"/>
              <a:ext cx="959259" cy="145552"/>
            </a:xfrm>
            <a:prstGeom prst="rect">
              <a:avLst/>
            </a:prstGeom>
            <a:noFill/>
          </p:spPr>
          <p:txBody>
            <a:bodyPr wrap="none" anchor="ctr" lIns="0" rIns="0" tIns="0" bIns="0">
              <a:noAutofit/>
            </a:bodyPr>
            <a:lstStyle/>
            <a:p>
              <a:pPr algn="ctr"/>
              <a:r>
                <a:rPr sz="790" b="0">
                  <a:solidFill>
                    <a:srgbClr val="5B6B7B"/>
                  </a:solidFill>
                  <a:latin typeface="맑은 고딕"/>
                  <a:ea typeface="맑은 고딕"/>
                  <a:cs typeface="맑은 고딕"/>
                </a:rPr>
                <a:t>furiosa-llm 2026.3.0</a:t>
              </a:r>
            </a:p>
          </p:txBody>
        </p:sp>
        <p:sp>
          <p:nvSpPr>
            <p:cNvPr id="33" name="TextBox 32"/>
            <p:cNvSpPr txBox="1"/>
            <p:nvPr/>
          </p:nvSpPr>
          <p:spPr>
            <a:xfrm>
              <a:off x="6402193" y="2968345"/>
              <a:ext cx="1034318" cy="152483"/>
            </a:xfrm>
            <a:prstGeom prst="rect">
              <a:avLst/>
            </a:prstGeom>
            <a:noFill/>
          </p:spPr>
          <p:txBody>
            <a:bodyPr wrap="none" anchor="ctr" lIns="0" rIns="0" tIns="0" bIns="0">
              <a:noAutofit/>
            </a:bodyPr>
            <a:lstStyle/>
            <a:p>
              <a:pPr algn="l"/>
              <a:r>
                <a:rPr sz="830" b="1">
                  <a:solidFill>
                    <a:srgbClr val="1A7F37"/>
                  </a:solidFill>
                  <a:latin typeface="맑은 고딕"/>
                  <a:ea typeface="맑은 고딕"/>
                  <a:cs typeface="맑은 고딕"/>
                </a:rPr>
                <a:t>tp=32 (4장) 서빙 성공</a:t>
              </a:r>
            </a:p>
          </p:txBody>
        </p:sp>
        <p:sp>
          <p:nvSpPr>
            <p:cNvPr id="34" name="TextBox 33"/>
            <p:cNvSpPr txBox="1"/>
            <p:nvPr/>
          </p:nvSpPr>
          <p:spPr>
            <a:xfrm>
              <a:off x="6402193" y="3161343"/>
              <a:ext cx="1959366"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gpt-oss-120b · Solar-Open-100B-NVFP4A16</a:t>
              </a:r>
            </a:p>
          </p:txBody>
        </p:sp>
        <p:sp>
          <p:nvSpPr>
            <p:cNvPr id="35" name="TextBox 34"/>
            <p:cNvSpPr txBox="1"/>
            <p:nvPr/>
          </p:nvSpPr>
          <p:spPr>
            <a:xfrm>
              <a:off x="6402193" y="3314515"/>
              <a:ext cx="1496306"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K-EXAONE-236B-A23B-NVFP4A16</a:t>
              </a:r>
            </a:p>
          </p:txBody>
        </p:sp>
        <p:sp>
          <p:nvSpPr>
            <p:cNvPr id="36" name="TextBox 35"/>
            <p:cNvSpPr txBox="1"/>
            <p:nvPr/>
          </p:nvSpPr>
          <p:spPr>
            <a:xfrm>
              <a:off x="6402193" y="3467688"/>
              <a:ext cx="1866888"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Llama-3.3-70B-Instruct · Qwen3-32B-FP8</a:t>
              </a:r>
            </a:p>
          </p:txBody>
        </p:sp>
        <p:sp>
          <p:nvSpPr>
            <p:cNvPr id="37" name="TextBox 36"/>
            <p:cNvSpPr txBox="1"/>
            <p:nvPr/>
          </p:nvSpPr>
          <p:spPr>
            <a:xfrm>
              <a:off x="6402193" y="3695916"/>
              <a:ext cx="1363611" cy="152483"/>
            </a:xfrm>
            <a:prstGeom prst="rect">
              <a:avLst/>
            </a:prstGeom>
            <a:noFill/>
          </p:spPr>
          <p:txBody>
            <a:bodyPr wrap="none" anchor="ctr" lIns="0" rIns="0" tIns="0" bIns="0">
              <a:noAutofit/>
            </a:bodyPr>
            <a:lstStyle/>
            <a:p>
              <a:pPr algn="l"/>
              <a:r>
                <a:rPr sz="830" b="1">
                  <a:solidFill>
                    <a:srgbClr val="1A7F37"/>
                  </a:solidFill>
                  <a:latin typeface="맑은 고딕"/>
                  <a:ea typeface="맑은 고딕"/>
                  <a:cs typeface="맑은 고딕"/>
                </a:rPr>
                <a:t>tp=8 (1장) · tp=4 (1장 부분)</a:t>
              </a:r>
            </a:p>
          </p:txBody>
        </p:sp>
        <p:sp>
          <p:nvSpPr>
            <p:cNvPr id="38" name="TextBox 37"/>
            <p:cNvSpPr txBox="1"/>
            <p:nvPr/>
          </p:nvSpPr>
          <p:spPr>
            <a:xfrm>
              <a:off x="6402193" y="3888913"/>
              <a:ext cx="1760625"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Llama-3.1-8B-Instruct · Qwen3-8B-FP8</a:t>
              </a:r>
            </a:p>
          </p:txBody>
        </p:sp>
        <p:sp>
          <p:nvSpPr>
            <p:cNvPr id="39" name="TextBox 38"/>
            <p:cNvSpPr txBox="1"/>
            <p:nvPr/>
          </p:nvSpPr>
          <p:spPr>
            <a:xfrm>
              <a:off x="6402193" y="4042086"/>
              <a:ext cx="1032767" cy="138621"/>
            </a:xfrm>
            <a:prstGeom prst="rect">
              <a:avLst/>
            </a:prstGeom>
            <a:noFill/>
          </p:spPr>
          <p:txBody>
            <a:bodyPr wrap="none" anchor="ctr" lIns="0" rIns="0" tIns="0" bIns="0">
              <a:noAutofit/>
            </a:bodyPr>
            <a:lstStyle/>
            <a:p>
              <a:pPr algn="l"/>
              <a:r>
                <a:rPr sz="750" b="0">
                  <a:solidFill>
                    <a:srgbClr val="16202C"/>
                  </a:solidFill>
                  <a:latin typeface="맑은 고딕"/>
                  <a:ea typeface="맑은 고딕"/>
                  <a:cs typeface="맑은 고딕"/>
                </a:rPr>
                <a:t>Qwen2.5-0.5B-Instruct</a:t>
              </a:r>
            </a:p>
          </p:txBody>
        </p:sp>
        <p:sp>
          <p:nvSpPr>
            <p:cNvPr id="40" name="Rounded Rectangle 39"/>
            <p:cNvSpPr/>
            <p:nvPr/>
          </p:nvSpPr>
          <p:spPr>
            <a:xfrm>
              <a:off x="6402193" y="4258442"/>
              <a:ext cx="3867611" cy="325492"/>
            </a:xfrm>
            <a:prstGeom prst="roundRect">
              <a:avLst>
                <a:gd name="adj" fmla="val 17647"/>
              </a:avLst>
            </a:prstGeom>
            <a:solidFill>
              <a:srgbClr val="FFFFFF"/>
            </a:solidFill>
            <a:ln w="13402">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80557" y="4341347"/>
              <a:ext cx="1910882" cy="159415"/>
            </a:xfrm>
            <a:prstGeom prst="rect">
              <a:avLst/>
            </a:prstGeom>
            <a:noFill/>
          </p:spPr>
          <p:txBody>
            <a:bodyPr wrap="none" anchor="ctr" lIns="0" rIns="0" tIns="0" bIns="0">
              <a:noAutofit/>
            </a:bodyPr>
            <a:lstStyle/>
            <a:p>
              <a:pPr algn="ctr"/>
              <a:r>
                <a:rPr sz="869" b="1">
                  <a:solidFill>
                    <a:srgbClr val="1A7F37"/>
                  </a:solidFill>
                  <a:latin typeface="맑은 고딕"/>
                  <a:ea typeface="맑은 고딕"/>
                  <a:cs typeface="맑은 고딕"/>
                </a:rPr>
                <a:t>같은 서버, 같은 4장에서 묶어 쓰기가 된다</a:t>
              </a:r>
            </a:p>
          </p:txBody>
        </p:sp>
        <p:sp>
          <p:nvSpPr>
            <p:cNvPr id="42" name="Rounded Rectangle 41"/>
            <p:cNvSpPr/>
            <p:nvPr/>
          </p:nvSpPr>
          <p:spPr>
            <a:xfrm>
              <a:off x="1730425" y="4775400"/>
              <a:ext cx="8730846" cy="765864"/>
            </a:xfrm>
            <a:prstGeom prst="roundRect">
              <a:avLst>
                <a:gd name="adj" fmla="val 10000"/>
              </a:avLst>
            </a:prstGeom>
            <a:solidFill>
              <a:srgbClr val="FFF7E6"/>
            </a:solidFill>
            <a:ln w="15317">
              <a:solidFill>
                <a:srgbClr val="B454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2744" y="4866347"/>
              <a:ext cx="2187737" cy="173277"/>
            </a:xfrm>
            <a:prstGeom prst="rect">
              <a:avLst/>
            </a:prstGeom>
            <a:noFill/>
          </p:spPr>
          <p:txBody>
            <a:bodyPr wrap="none" anchor="ctr" lIns="0" rIns="0" tIns="0" bIns="0">
              <a:noAutofit/>
            </a:bodyPr>
            <a:lstStyle/>
            <a:p>
              <a:pPr algn="l"/>
              <a:r>
                <a:rPr sz="940" b="1">
                  <a:solidFill>
                    <a:srgbClr val="B45409"/>
                  </a:solidFill>
                  <a:latin typeface="맑은 고딕"/>
                  <a:ea typeface="맑은 고딕"/>
                  <a:cs typeface="맑은 고딕"/>
                </a:rPr>
                <a:t>논문은 두 경로의 기능 차이를 다루지 않는다</a:t>
              </a:r>
            </a:p>
          </p:txBody>
        </p:sp>
        <p:sp>
          <p:nvSpPr>
            <p:cNvPr id="44" name="TextBox 43"/>
            <p:cNvSpPr txBox="1"/>
            <p:nvPr/>
          </p:nvSpPr>
          <p:spPr>
            <a:xfrm>
              <a:off x="1902744" y="5099169"/>
              <a:ext cx="5209328"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논문 §VI 도입 — “In this paper, we focus on parallelism within a single chip” · 평가도 단일 칩 안의 병렬성에 한정된다</a:t>
              </a:r>
            </a:p>
          </p:txBody>
        </p:sp>
        <p:sp>
          <p:nvSpPr>
            <p:cNvPr id="45" name="TextBox 44"/>
            <p:cNvSpPr txBox="1"/>
            <p:nvPr/>
          </p:nvSpPr>
          <p:spPr>
            <a:xfrm>
              <a:off x="1902744" y="5290635"/>
              <a:ext cx="4364762" cy="145552"/>
            </a:xfrm>
            <a:prstGeom prst="rect">
              <a:avLst/>
            </a:prstGeom>
            <a:noFill/>
          </p:spPr>
          <p:txBody>
            <a:bodyPr wrap="none" anchor="ctr" lIns="0" rIns="0" tIns="0" bIns="0">
              <a:noAutofit/>
            </a:bodyPr>
            <a:lstStyle/>
            <a:p>
              <a:pPr algn="l"/>
              <a:r>
                <a:rPr sz="790" b="0">
                  <a:solidFill>
                    <a:srgbClr val="16202C"/>
                  </a:solidFill>
                  <a:latin typeface="맑은 고딕"/>
                  <a:ea typeface="맑은 고딕"/>
                  <a:cs typeface="맑은 고딕"/>
                </a:rPr>
                <a:t>‘4장을 vISA 로 묶어 쓰면 되겠다’도 틀리고 ‘이 칩은 4장 못 묶는다’도 틀린다. 경로를 지정해서 말해야 한다</a:t>
              </a:r>
            </a:p>
          </p:txBody>
        </p:sp>
      </p:grpSp>
      <p:sp>
        <p:nvSpPr>
          <p:cNvPr id="46" name="Rectangle 45"/>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하드웨어가 되는 것과, 손으로 쓰는 API 에서 되는 것은 다르다.</a:t>
            </a:r>
          </a:p>
        </p:txBody>
      </p:sp>
      <p:sp>
        <p:nvSpPr>
          <p:cNvPr id="47" name="Rectangle 46"/>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3-e · 같은 하드웨어, 두 경로가 정반대 결과를 낸다 — 설명</a:t>
            </a:r>
          </a:p>
        </p:txBody>
      </p:sp>
      <p:sp>
        <p:nvSpPr>
          <p:cNvPr id="5" name="TextBox 4"/>
          <p:cNvSpPr txBox="1"/>
          <p:nvPr/>
        </p:nvSpPr>
        <p:spPr>
          <a:xfrm>
            <a:off x="566928" y="1243584"/>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vISA 저수준 API 경로 vs furiosa-llm 제품 경로</a:t>
            </a:r>
          </a:p>
        </p:txBody>
      </p:sp>
      <p:cxnSp>
        <p:nvCxnSpPr>
          <p:cNvPr id="6" name="Connector 5"/>
          <p:cNvCxnSpPr/>
          <p:nvPr/>
        </p:nvCxnSpPr>
        <p:spPr>
          <a:xfrm>
            <a:off x="566928" y="1609344"/>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8" name="TextBox 7"/>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292</a:t>
            </a:r>
          </a:p>
        </p:txBody>
      </p:sp>
      <p:sp>
        <p:nvSpPr>
          <p:cNvPr id="9" name="TextBox 8"/>
          <p:cNvSpPr txBox="1"/>
          <p:nvPr/>
        </p:nvSpPr>
        <p:spPr>
          <a:xfrm>
            <a:off x="566928" y="1828800"/>
            <a:ext cx="11057839" cy="4443984"/>
          </a:xfrm>
          <a:prstGeom prst="rect">
            <a:avLst/>
          </a:prstGeom>
          <a:noFill/>
        </p:spPr>
        <p:txBody>
          <a:bodyPr wrap="square" anchor="t" lIns="0" rIns="0" tIns="0" bIns="0">
            <a:spAutoFit/>
          </a:bodyPr>
          <a:lstStyle/>
          <a:p>
            <a:pPr algn="l">
              <a:lnSpc>
                <a:spcPct val="118000"/>
              </a:lnSpc>
              <a:spcBef>
                <a:spcPts val="200"/>
              </a:spcBef>
              <a:spcAft>
                <a:spcPts val="200"/>
              </a:spcAft>
            </a:pPr>
            <a:r>
              <a:rPr sz="1900" b="1" i="0">
                <a:solidFill>
                  <a:srgbClr val="083F80"/>
                </a:solidFill>
                <a:latin typeface="Segoe UI"/>
                <a:ea typeface="맑은 고딕"/>
                <a:cs typeface="맑은 고딕"/>
              </a:rPr>
              <a:t>▪  논문의 다중 PE·다중 칩 주장은 §V-C 컴파일러 경로에서 성립하고, §V-D 저수준 API 경로에서는 성립하지 않는다.</a:t>
            </a:r>
          </a:p>
          <a:p>
            <a:pPr algn="l">
              <a:lnSpc>
                <a:spcPct val="118000"/>
              </a:lnSpc>
              <a:spcBef>
                <a:spcPts val="600"/>
              </a:spcBef>
              <a:spcAft>
                <a:spcPts val="200"/>
              </a:spcAft>
            </a:pPr>
            <a:r>
              <a:rPr sz="1900" b="0" i="0">
                <a:solidFill>
                  <a:srgbClr val="16202C"/>
                </a:solidFill>
                <a:latin typeface="Segoe UI"/>
                <a:ea typeface="맑은 고딕"/>
                <a:cs typeface="맑은 고딕"/>
              </a:rPr>
              <a:t>▪  ‘전부 컴파일이 안 된다’고 쓰면 틀린다. 5종은 컴파일 실패, 1종은 컴파일 성공 후 실기 커널 로드에서 abort 다.</a:t>
            </a:r>
          </a:p>
          <a:p>
            <a:pPr algn="l">
              <a:lnSpc>
                <a:spcPct val="118000"/>
              </a:lnSpc>
              <a:spcBef>
                <a:spcPts val="200"/>
              </a:spcBef>
              <a:spcAft>
                <a:spcPts val="100"/>
              </a:spcAft>
            </a:pPr>
            <a:r>
              <a:rPr sz="1780" b="0" i="0">
                <a:solidFill>
                  <a:srgbClr val="2C3A4B"/>
                </a:solidFill>
                <a:latin typeface="Segoe UI"/>
                <a:ea typeface="맑은 고딕"/>
                <a:cs typeface="맑은 고딕"/>
              </a:rPr>
              <a:t>–  matmul_chip_reduce·matmul_cluster_reduce 의 실패 사유는 DMA 정렬이다(질문 3-c). 나머지 3종의 사유는 따로 분류하지 않았다.</a:t>
            </a:r>
          </a:p>
          <a:p>
            <a:pPr algn="l">
              <a:lnSpc>
                <a:spcPct val="118000"/>
              </a:lnSpc>
              <a:spcBef>
                <a:spcPts val="200"/>
              </a:spcBef>
              <a:spcAft>
                <a:spcPts val="100"/>
              </a:spcAft>
            </a:pPr>
            <a:r>
              <a:rPr sz="1780" b="0" i="0">
                <a:solidFill>
                  <a:srgbClr val="2C3A4B"/>
                </a:solidFill>
                <a:latin typeface="Segoe UI"/>
                <a:ea typeface="맑은 고딕"/>
                <a:cs typeface="맑은 고딕"/>
              </a:rPr>
              <a:t>–  제품 경로 성공은 서빙이 떴다는 사실까지이며, 우리가 성능을 측정한 것은 아니다.</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4 · 논문에 없어서 우리가 확인할 수 없는 것</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293</a:t>
            </a:r>
          </a:p>
        </p:txBody>
      </p:sp>
      <p:graphicFrame>
        <p:nvGraphicFramePr>
          <p:cNvPr id="8" name="Table 7"/>
          <p:cNvGraphicFramePr>
            <a:graphicFrameLocks noGrp="1"/>
          </p:cNvGraphicFramePr>
          <p:nvPr/>
        </p:nvGraphicFramePr>
        <p:xfrm>
          <a:off x="566928" y="1517904"/>
          <a:ext cx="11057839" cy="4041648"/>
        </p:xfrm>
        <a:graphic>
          <a:graphicData uri="http://schemas.openxmlformats.org/drawingml/2006/table">
            <a:tbl>
              <a:tblPr firstRow="1" bandRow="1">
                <a:tableStyleId>{5C22544A-7EE6-4342-B048-85BDC9FD1C3A}</a:tableStyleId>
              </a:tblPr>
              <a:tblGrid>
                <a:gridCol w="3871602"/>
                <a:gridCol w="6113056"/>
                <a:gridCol w="1073181"/>
              </a:tblGrid>
              <a:tr h="310896">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논문의 서술</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판정</a:t>
                      </a:r>
                    </a:p>
                  </a:txBody>
                  <a:tcPr marL="73152" marR="73152" marT="27432" marB="27432">
                    <a:solidFill>
                      <a:srgbClr val="0B5FC0"/>
                    </a:solidFill>
                  </a:tcPr>
                </a:tc>
              </a:tr>
              <a:tr h="310896">
                <a:tc>
                  <a:txBody>
                    <a:bodyPr wrap="square"/>
                    <a:lstStyle/>
                    <a:p>
                      <a:r>
                        <a:rPr sz="900" b="0" i="0">
                          <a:solidFill>
                            <a:srgbClr val="16202C"/>
                          </a:solidFill>
                          <a:latin typeface="Segoe UI"/>
                          <a:ea typeface="맑은 고딕"/>
                          <a:cs typeface="맑은 고딕"/>
                        </a:rPr>
                        <a:t>vISA · furiosa-opt · m![] · Rust eDSL</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단어 자체가 원문에 0건</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저수준 API 의 이름·문법·커버리지·제약</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§V-D 여섯 문장. 'low-level einsum 표기와 비슷한 API 를 제공한다'가 전부</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--backend npu 로워링 실패율, 컴파일러 ICE</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언급 없음</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스케줄 모델(비용 함수)의 구조와 정확도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cost function, performance estimator, 휴리스틱+ILP+유전 알고리즘 이라고만 적는다. 우리 --dump-schedule 이 그 모델과 같은 것인지 알 수 없다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Table II · Fig. 11~12 수치의 획득 방법</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실리콘 실측인지 시뮬레이션인지 밝히지 않는다. 전력만 Synopsys SpyGlass + TSMC 라이브러리 추정이라고 명시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카드당 47.5 GiB 가용의 근거</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Table I·II 모두 48GB 로만 적는다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SRAM 384 TB/s 의 산출 근거</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§IV-A 의 slice당 128 GB/s 와 연결되는 설명이 없다</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RF 80 KB 의 TRF / VRF 분할</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RF 를 하나로 다룬다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'Cluster' 라는 이름, 4 PE 융합 단위의 소프트웨어 노출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'up to four PEs can be fused' 한 문장뿐</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예비 slice 1개(64+1)가 소프트웨어에 어떻게 보이는가</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수율 개선용 예비라는 사실만</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10896">
                <a:tc>
                  <a:txBody>
                    <a:bodyPr wrap="square"/>
                    <a:lstStyle/>
                    <a:p>
                      <a:r>
                        <a:rPr sz="900" b="0" i="0">
                          <a:solidFill>
                            <a:srgbClr val="16202C"/>
                          </a:solidFill>
                          <a:latin typeface="Segoe UI"/>
                          <a:ea typeface="맑은 고딕"/>
                          <a:cs typeface="맑은 고딕"/>
                        </a:rPr>
                        <a:t>HBM 채널 수</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1.5 TB/s 총합만. 우리 문서의 32채널 × 48 GB/s 는 벤더 책 서술</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10896">
                <a:tc>
                  <a:txBody>
                    <a:bodyPr wrap="square"/>
                    <a:lstStyle/>
                    <a:p>
                      <a:r>
                        <a:rPr sz="900" b="0" i="0">
                          <a:solidFill>
                            <a:srgbClr val="16202C"/>
                          </a:solidFill>
                          <a:latin typeface="Segoe UI"/>
                          <a:ea typeface="맑은 고딕"/>
                          <a:cs typeface="맑은 고딕"/>
                        </a:rPr>
                        <a:t>펌웨어·SDK 버전 체계(2026.3.0), furiosa-smi, HAL 오류코드</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언급 없음</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bl>
          </a:graphicData>
        </a:graphic>
      </p:graphicFrame>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열여섯 항목. 전부 '추정하지 않는다'로 끝난다.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2600" b="1" i="0">
                <a:solidFill>
                  <a:srgbClr val="16202C"/>
                </a:solidFill>
                <a:latin typeface="Segoe UI"/>
                <a:ea typeface="맑은 고딕"/>
                <a:cs typeface="맑은 고딕"/>
              </a:rPr>
              <a:t>질문 4 · 논문에 없어서 우리가 확인할 수 없는 것 (계속 2)</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294</a:t>
            </a:r>
          </a:p>
        </p:txBody>
      </p:sp>
      <p:graphicFrame>
        <p:nvGraphicFramePr>
          <p:cNvPr id="8" name="Table 7"/>
          <p:cNvGraphicFramePr>
            <a:graphicFrameLocks noGrp="1"/>
          </p:cNvGraphicFramePr>
          <p:nvPr/>
        </p:nvGraphicFramePr>
        <p:xfrm>
          <a:off x="566928" y="1517904"/>
          <a:ext cx="11057839" cy="1920240"/>
        </p:xfrm>
        <a:graphic>
          <a:graphicData uri="http://schemas.openxmlformats.org/drawingml/2006/table">
            <a:tbl>
              <a:tblPr firstRow="1" bandRow="1">
                <a:tableStyleId>{5C22544A-7EE6-4342-B048-85BDC9FD1C3A}</a:tableStyleId>
              </a:tblPr>
              <a:tblGrid>
                <a:gridCol w="3471395"/>
                <a:gridCol w="6508865"/>
                <a:gridCol w="1077579"/>
              </a:tblGrid>
              <a:tr h="384048">
                <a:tc>
                  <a:txBody>
                    <a:bodyPr wrap="square"/>
                    <a:lstStyle/>
                    <a:p>
                      <a:r>
                        <a:rPr sz="900" b="1" i="0">
                          <a:solidFill>
                            <a:srgbClr val="FFFFFF"/>
                          </a:solidFill>
                          <a:latin typeface="Segoe UI"/>
                          <a:ea typeface="맑은 고딕"/>
                          <a:cs typeface="맑은 고딕"/>
                        </a:rPr>
                        <a:t>항목</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논문의 서술</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판정</a:t>
                      </a:r>
                    </a:p>
                  </a:txBody>
                  <a:tcPr marL="73152" marR="73152" marT="27432" marB="27432">
                    <a:solidFill>
                      <a:srgbClr val="0B5FC0"/>
                    </a:solidFill>
                  </a:tcPr>
                </a:tc>
              </a:tr>
              <a:tr h="384048">
                <a:tc>
                  <a:txBody>
                    <a:bodyPr wrap="square"/>
                    <a:lstStyle/>
                    <a:p>
                      <a:r>
                        <a:rPr sz="900" b="0" i="0">
                          <a:solidFill>
                            <a:srgbClr val="16202C"/>
                          </a:solidFill>
                          <a:latin typeface="Segoe UI"/>
                          <a:ea typeface="맑은 고딕"/>
                          <a:cs typeface="맑은 고딕"/>
                        </a:rPr>
                        <a:t>4장 구성 서버, 카드 간 토폴로지</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P2P 방향당 64 GB/s 만</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커널 로더의 크기 계산, commit window 오프셋 단위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런타임 구현은 다루지 않는다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r h="384048">
                <a:tc>
                  <a:txBody>
                    <a:bodyPr wrap="square"/>
                    <a:lstStyle/>
                    <a:p>
                      <a:r>
                        <a:rPr sz="900" b="0" i="0">
                          <a:solidFill>
                            <a:srgbClr val="16202C"/>
                          </a:solidFill>
                          <a:latin typeface="Segoe UI"/>
                          <a:ea typeface="맑은 고딕"/>
                          <a:cs typeface="맑은 고딕"/>
                        </a:rPr>
                        <a:t>MLPerf 등 표준 벤치마크 결과</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평가는 LLaMA-2 7B 하나. Table II 는 L40s·H100 과의 latency / throughput / perf-per-watt 비교</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FFFFF"/>
                    </a:solidFill>
                  </a:tcPr>
                </a:tc>
              </a:tr>
              <a:tr h="384048">
                <a:tc>
                  <a:txBody>
                    <a:bodyPr wrap="square"/>
                    <a:lstStyle/>
                    <a:p>
                      <a:r>
                        <a:rPr sz="900" b="0" i="0">
                          <a:solidFill>
                            <a:srgbClr val="16202C"/>
                          </a:solidFill>
                          <a:latin typeface="Segoe UI"/>
                          <a:ea typeface="맑은 고딕"/>
                          <a:cs typeface="맑은 고딕"/>
                        </a:rPr>
                        <a:t>제품명 RNGD</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원문에 0건. 시종 TCP 로 부른다</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논문에 없다</a:t>
                      </a:r>
                    </a:p>
                  </a:txBody>
                  <a:tcPr marL="73152" marR="73152" marT="27432" marB="27432">
                    <a:solidFill>
                      <a:srgbClr val="F6F9FC"/>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우리 쪽 한계 — 대조가 못 미치는 곳</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295</a:t>
            </a:r>
          </a:p>
        </p:txBody>
      </p:sp>
      <p:sp>
        <p:nvSpPr>
          <p:cNvPr id="8" name="TextBox 7"/>
          <p:cNvSpPr txBox="1"/>
          <p:nvPr/>
        </p:nvSpPr>
        <p:spPr>
          <a:xfrm>
            <a:off x="566928" y="1517904"/>
            <a:ext cx="11057839" cy="4041648"/>
          </a:xfrm>
          <a:prstGeom prst="rect">
            <a:avLst/>
          </a:prstGeom>
          <a:noFill/>
        </p:spPr>
        <p:txBody>
          <a:bodyPr wrap="square" anchor="t" lIns="0" rIns="0" tIns="0" bIns="0">
            <a:spAutoFit/>
          </a:bodyPr>
          <a:lstStyle/>
          <a:p>
            <a:pPr algn="l">
              <a:lnSpc>
                <a:spcPct val="118000"/>
              </a:lnSpc>
              <a:spcBef>
                <a:spcPts val="200"/>
              </a:spcBef>
              <a:spcAft>
                <a:spcPts val="200"/>
              </a:spcAft>
            </a:pPr>
            <a:r>
              <a:rPr sz="1400" b="1" i="0">
                <a:solidFill>
                  <a:srgbClr val="083F80"/>
                </a:solidFill>
                <a:latin typeface="Segoe UI"/>
                <a:ea typeface="맑은 고딕"/>
                <a:cs typeface="맑은 고딕"/>
              </a:rPr>
              <a:t>▪  성능 비교를 하지 않았다. 논문의 2.7×(H100 대비) · 4.1×(L40s 대비) perf-per-watt 를 우리는 재현하지 않았고 재현할 준비도 없다.</a:t>
            </a:r>
          </a:p>
          <a:p>
            <a:pPr algn="l">
              <a:lnSpc>
                <a:spcPct val="118000"/>
              </a:lnSpc>
              <a:spcBef>
                <a:spcPts val="200"/>
              </a:spcBef>
              <a:spcAft>
                <a:spcPts val="100"/>
              </a:spcAft>
            </a:pPr>
            <a:r>
              <a:rPr sz="1280" b="0" i="0">
                <a:solidFill>
                  <a:srgbClr val="2C3A4B"/>
                </a:solidFill>
                <a:latin typeface="Segoe UI"/>
                <a:ea typeface="맑은 고딕"/>
                <a:cs typeface="맑은 고딕"/>
              </a:rPr>
              <a:t>–  실기 벽시계는 cargo 오버헤드(최소 3.5초)에 묻혀 커널 시간을 분리하지 못했다.</a:t>
            </a:r>
          </a:p>
          <a:p>
            <a:pPr algn="l">
              <a:lnSpc>
                <a:spcPct val="118000"/>
              </a:lnSpc>
              <a:spcBef>
                <a:spcPts val="600"/>
              </a:spcBef>
              <a:spcAft>
                <a:spcPts val="200"/>
              </a:spcAft>
            </a:pPr>
            <a:r>
              <a:rPr sz="1400" b="0" i="0">
                <a:solidFill>
                  <a:srgbClr val="16202C"/>
                </a:solidFill>
                <a:latin typeface="Segoe UI"/>
                <a:ea typeface="맑은 고딕"/>
                <a:cs typeface="맑은 고딕"/>
              </a:rPr>
              <a:t>▪  사이클은 정적 예측이다. 실제 하드웨어 성능 카운터를 읽은 것이 아니다.</a:t>
            </a:r>
          </a:p>
          <a:p>
            <a:pPr algn="l">
              <a:lnSpc>
                <a:spcPct val="118000"/>
              </a:lnSpc>
              <a:spcBef>
                <a:spcPts val="600"/>
              </a:spcBef>
              <a:spcAft>
                <a:spcPts val="200"/>
              </a:spcAft>
            </a:pPr>
            <a:r>
              <a:rPr sz="1400" b="0" i="0">
                <a:solidFill>
                  <a:srgbClr val="16202C"/>
                </a:solidFill>
                <a:latin typeface="Segoe UI"/>
                <a:ea typeface="맑은 고딕"/>
                <a:cs typeface="맑은 고딕"/>
              </a:rPr>
              <a:t>▪  게이팅한 64개 커널을 고쳐보지 않았다. 실기로 못 간다는 것까지만 확인했다.</a:t>
            </a:r>
          </a:p>
          <a:p>
            <a:pPr algn="l">
              <a:lnSpc>
                <a:spcPct val="118000"/>
              </a:lnSpc>
              <a:spcBef>
                <a:spcPts val="600"/>
              </a:spcBef>
              <a:spcAft>
                <a:spcPts val="200"/>
              </a:spcAft>
            </a:pPr>
            <a:r>
              <a:rPr sz="1400" b="0" i="0">
                <a:solidFill>
                  <a:srgbClr val="16202C"/>
                </a:solidFill>
                <a:latin typeface="Segoe UI"/>
                <a:ea typeface="맑은 고딕"/>
                <a:cs typeface="맑은 고딕"/>
              </a:rPr>
              <a:t>▪  test_ve_stash_fp_fp 의 hang 원인을 소스 수준에서 규명하지 않았다. 어느 매핑이 하드웨어를 멈추는지는 후속 과제다.</a:t>
            </a:r>
          </a:p>
          <a:p>
            <a:pPr algn="l">
              <a:lnSpc>
                <a:spcPct val="118000"/>
              </a:lnSpc>
              <a:spcBef>
                <a:spcPts val="600"/>
              </a:spcBef>
              <a:spcAft>
                <a:spcPts val="200"/>
              </a:spcAft>
            </a:pPr>
            <a:r>
              <a:rPr sz="1400" b="0" i="0">
                <a:solidFill>
                  <a:srgbClr val="16202C"/>
                </a:solidFill>
                <a:latin typeface="Segoe UI"/>
                <a:ea typeface="맑은 고딕"/>
                <a:cs typeface="맑은 고딕"/>
              </a:rPr>
              <a:t>▪  조용한 오배치 2건이 같은 뿌리인지 확인하지 않았다. broadcast 는 DMA 목적지 미기록, tile 은 오프셋 단위 혼동으로 증상이 다르다.</a:t>
            </a:r>
          </a:p>
          <a:p>
            <a:pPr algn="l">
              <a:lnSpc>
                <a:spcPct val="118000"/>
              </a:lnSpc>
              <a:spcBef>
                <a:spcPts val="600"/>
              </a:spcBef>
              <a:spcAft>
                <a:spcPts val="200"/>
              </a:spcAft>
            </a:pPr>
            <a:r>
              <a:rPr sz="1400" b="0" i="0">
                <a:solidFill>
                  <a:srgbClr val="16202C"/>
                </a:solidFill>
                <a:latin typeface="Segoe UI"/>
                <a:ea typeface="맑은 고딕"/>
                <a:cs typeface="맑은 고딕"/>
              </a:rPr>
              <a:t>▪  tile 의 '바이트 vs 요소' 해석은 산술 정황이지 런타임 소스 확인이 아니다.</a:t>
            </a:r>
          </a:p>
          <a:p>
            <a:pPr algn="l">
              <a:lnSpc>
                <a:spcPct val="118000"/>
              </a:lnSpc>
              <a:spcBef>
                <a:spcPts val="600"/>
              </a:spcBef>
              <a:spcAft>
                <a:spcPts val="200"/>
              </a:spcAft>
            </a:pPr>
            <a:r>
              <a:rPr sz="1400" b="0" i="0">
                <a:solidFill>
                  <a:srgbClr val="16202C"/>
                </a:solidFill>
                <a:latin typeface="Segoe UI"/>
                <a:ea typeface="맑은 고딕"/>
                <a:cs typeface="맑은 고딕"/>
              </a:rPr>
              <a:t>▪  배치=1, 단일 칩이다. 논문의 평가 조건(LLaMA-2 7B, B=1~32, L=128~4K)과 겹치는 지점이 없다.</a:t>
            </a:r>
          </a:p>
          <a:p>
            <a:pPr algn="l">
              <a:lnSpc>
                <a:spcPct val="118000"/>
              </a:lnSpc>
              <a:spcBef>
                <a:spcPts val="600"/>
              </a:spcBef>
              <a:spcAft>
                <a:spcPts val="200"/>
              </a:spcAft>
            </a:pPr>
            <a:r>
              <a:rPr sz="1400" b="0" i="0">
                <a:solidFill>
                  <a:srgbClr val="16202C"/>
                </a:solidFill>
                <a:latin typeface="Segoe UI"/>
                <a:ea typeface="맑은 고딕"/>
                <a:cs typeface="맑은 고딕"/>
              </a:rPr>
              <a:t>▪  컴파일 실패 63개의 분류는 에이전트 조사 + 적대적 재검증 결과이고, 개별 커널 사유를 전수 수작업 재확인하지는 않았다.</a:t>
            </a:r>
          </a:p>
          <a:p>
            <a:pPr algn="l">
              <a:lnSpc>
                <a:spcPct val="118000"/>
              </a:lnSpc>
              <a:spcBef>
                <a:spcPts val="600"/>
              </a:spcBef>
              <a:spcAft>
                <a:spcPts val="200"/>
              </a:spcAft>
            </a:pPr>
            <a:r>
              <a:rPr sz="1400" b="1" i="0">
                <a:solidFill>
                  <a:srgbClr val="083F80"/>
                </a:solidFill>
                <a:latin typeface="Segoe UI"/>
                <a:ea typeface="맑은 고딕"/>
                <a:cs typeface="맑은 고딕"/>
              </a:rPr>
              <a:t>▪  상류(FuriosaAI)에 보고하지 않았다. 보고 가치가 있는 실측: 커널 로더 범위초과, 브로드캐스트 DMA 목적지 미기록, 커밋 창 오프셋 단위 혼동, 커널 hang(HAL −110), 낡은 #[ignore] 사유 3건, 컴파일러 ICE 13건.</a:t>
            </a:r>
          </a:p>
        </p:txBody>
      </p:sp>
      <p:sp>
        <p:nvSpPr>
          <p:cNvPr id="9" name="Rectangle 8"/>
          <p:cNvSpPr/>
          <p:nvPr/>
        </p:nvSpPr>
        <p:spPr>
          <a:xfrm>
            <a:off x="566928" y="5724144"/>
            <a:ext cx="11057839" cy="566928"/>
          </a:xfrm>
          <a:prstGeom prst="rect">
            <a:avLst/>
          </a:prstGeom>
          <a:solidFill>
            <a:srgbClr val="FFF7E6"/>
          </a:solidFill>
          <a:ln w="12700">
            <a:solidFill>
              <a:srgbClr val="F0D29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tIns="36576" bIns="36576"/>
          <a:lstStyle/>
          <a:p>
            <a:pPr algn="l"/>
            <a:r>
              <a:rPr sz="1400" b="1" i="0">
                <a:solidFill>
                  <a:srgbClr val="B45409"/>
                </a:solidFill>
                <a:latin typeface="Segoe UI"/>
                <a:ea typeface="맑은 고딕"/>
                <a:cs typeface="맑은 고딕"/>
              </a:rPr>
              <a:t>핵심   논문의 성능 주장은 우리가 검증도 반박도 하지 않았다.</a:t>
            </a:r>
          </a:p>
        </p:txBody>
      </p:sp>
      <p:sp>
        <p:nvSpPr>
          <p:cNvPr id="10" name="Rectangle 9"/>
          <p:cNvSpPr/>
          <p:nvPr/>
        </p:nvSpPr>
        <p:spPr>
          <a:xfrm>
            <a:off x="566928" y="5724144"/>
            <a:ext cx="64008" cy="566928"/>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274320"/>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150" b="1" i="0">
                <a:solidFill>
                  <a:srgbClr val="0B5FC0"/>
                </a:solidFill>
                <a:latin typeface="Segoe UI"/>
                <a:ea typeface="맑은 고딕"/>
                <a:cs typeface="맑은 고딕"/>
              </a:rPr>
              <a:t>부록 · 우리 서버 실측과의 대조</a:t>
            </a:r>
          </a:p>
        </p:txBody>
      </p:sp>
      <p:sp>
        <p:nvSpPr>
          <p:cNvPr id="4" name="TextBox 3"/>
          <p:cNvSpPr txBox="1"/>
          <p:nvPr/>
        </p:nvSpPr>
        <p:spPr>
          <a:xfrm>
            <a:off x="566928" y="585216"/>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 </a:t>
            </a:r>
          </a:p>
        </p:txBody>
      </p:sp>
      <p:cxnSp>
        <p:nvCxnSpPr>
          <p:cNvPr id="5" name="Connector 4"/>
          <p:cNvCxnSpPr/>
          <p:nvPr/>
        </p:nvCxnSpPr>
        <p:spPr>
          <a:xfrm>
            <a:off x="566928" y="1298448"/>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논문 전문 + 그림 15개 · 표 2개 전량 수록 · 2026-07</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296</a:t>
            </a:r>
          </a:p>
        </p:txBody>
      </p:sp>
      <p:sp>
        <p:nvSpPr>
          <p:cNvPr id="8" name="TextBox 7"/>
          <p:cNvSpPr txBox="1"/>
          <p:nvPr/>
        </p:nvSpPr>
        <p:spPr>
          <a:xfrm>
            <a:off x="1097280" y="2194560"/>
            <a:ext cx="9997135" cy="2011680"/>
          </a:xfrm>
          <a:prstGeom prst="rect">
            <a:avLst/>
          </a:prstGeom>
          <a:noFill/>
        </p:spPr>
        <p:txBody>
          <a:bodyPr wrap="square" anchor="ctr" lIns="0" rIns="0" tIns="0" bIns="0">
            <a:spAutoFit/>
          </a:bodyPr>
          <a:lstStyle/>
          <a:p>
            <a:pPr algn="ctr">
              <a:lnSpc>
                <a:spcPct val="118000"/>
              </a:lnSpc>
              <a:spcBef>
                <a:spcPts val="0"/>
              </a:spcBef>
              <a:spcAft>
                <a:spcPts val="0"/>
              </a:spcAft>
            </a:pPr>
            <a:r>
              <a:rPr sz="4000" b="1" i="0">
                <a:solidFill>
                  <a:srgbClr val="083F80"/>
                </a:solidFill>
                <a:latin typeface="Segoe UI"/>
                <a:ea typeface="맑은 고딕"/>
                <a:cs typeface="맑은 고딕"/>
              </a:rPr>
              <a:t>한 줄 결론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