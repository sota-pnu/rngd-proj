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Where Vision Breaks First</a:t>
            </a:r>
          </a:p>
          <a:p>
            <a:pPr>
              <a:spcBef>
                <a:spcPts val="1000"/>
              </a:spcBef>
            </a:pPr>
            <a:r>
              <a:rPr sz="1900" b="0">
                <a:solidFill>
                  <a:srgbClr val="C7D0E6"/>
                </a:solidFill>
                <a:latin typeface="Malgun Gothic"/>
              </a:rPr>
              <a:t>상용 NPU의 강제 저정밀 경로에서 비전 트랜스포머가 '먼저' 붕괴하는 현상의 진단·국소화·복구</a:t>
            </a:r>
          </a:p>
          <a:p>
            <a:pPr>
              <a:spcBef>
                <a:spcPts val="1600"/>
              </a:spcBef>
            </a:pPr>
            <a:r>
              <a:rPr sz="1400" b="0">
                <a:solidFill>
                  <a:srgbClr val="8C99B8"/>
                </a:solidFill>
                <a:latin typeface="Malgun Gothic"/>
              </a:rPr>
              <a:t>실제 닫힌-컴파일러 상용 NPU(FuriosaAI RNGD) 실측  ·  ACCV 2026 (오사카) 본 트랙</a:t>
            </a:r>
          </a:p>
          <a:p>
            <a:pPr>
              <a:spcBef>
                <a:spcPts val="1800"/>
              </a:spcBef>
            </a:pPr>
            <a:r>
              <a:rPr sz="1300" b="0">
                <a:solidFill>
                  <a:srgbClr val="E63946"/>
                </a:solidFill>
                <a:latin typeface="Malgun Gothic"/>
              </a:rPr>
              <a:t>핵심 한 줄 — 학습된 비전 모델을 닫힌-컴파일러 NPU에 올리면 정확도가 '조용히' 붕괴한다.
남들은 시뮬레이션으로 보지만, 우리는 실제 실리콘에서 어디가 먼저 깨지는지 측정·복구한다.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500" b="1">
                <a:solidFill>
                  <a:srgbClr val="FFFFFF"/>
                </a:solidFill>
                <a:latin typeface="Malgun Gothic"/>
              </a:rPr>
              <a:t>배경과 간극 — 왜 이 문제인가</a:t>
            </a:r>
          </a:p>
          <a:p>
            <a:r>
              <a:rPr sz="1100" b="0">
                <a:solidFill>
                  <a:srgbClr val="A9B4CC"/>
                </a:solidFill>
                <a:latin typeface="Malgun Gothic"/>
              </a:rPr>
              <a:t>RNGD = LLM·트랜스포머용 2세대 추론 NPU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Malgun Gothic"/>
              </a:rPr>
              <a:t>•  RNGD NPU에는 정밀도를 끄는 손잡이가 없다 → 저정밀이 강제된다.</a:t>
            </a:r>
          </a:p>
          <a:p>
            <a:pPr lvl="1"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algun Gothic"/>
              </a:rPr>
              <a:t>–  compiler_config에 정밀도/양자화 필드 0개. Config(implicit_type_casting=False)를 주면 컴파일 자체가 실패.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Malgun Gothic"/>
              </a:rPr>
              <a:t>•  그런데 양자화·정밀도 연구는 대부분 시뮬레이션 bit-op으로 측정한다.</a:t>
            </a:r>
          </a:p>
          <a:p>
            <a:pPr lvl="1"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algun Gothic"/>
              </a:rPr>
              <a:t>–  → 실제 닫힌-컴파일러 상용 실리콘에서의 측정은 '공백'. 우리는 이 공백을 정통으로 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Malgun Gothic"/>
              </a:rPr>
              <a:t>역설: 연산 하나하나는 멀쩡한데(아래), 모델 전체는 붕괴한다.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206240"/>
          <a:ext cx="749808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per-op 정밀도 (실측, op_support.md)</a:t>
                      </a:r>
                    </a:p>
                  </a:txBody>
                  <a:tcPr marT="25400" marB="25400" marL="76200" anchor="ctr">
                    <a:solidFill>
                      <a:srgbClr val="101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상대오차</a:t>
                      </a:r>
                    </a:p>
                  </a:txBody>
                  <a:tcPr marT="25400" marB="25400" marL="76200" anchor="ctr">
                    <a:solidFill>
                      <a:srgbClr val="101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코사인 유사도</a:t>
                      </a:r>
                    </a:p>
                  </a:txBody>
                  <a:tcPr marT="25400" marB="25400" marL="76200" anchor="ctr">
                    <a:solidFill>
                      <a:srgbClr val="1018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conv / matmul / bmm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≈ 0.23%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0.9999975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500" b="1">
                <a:solidFill>
                  <a:srgbClr val="FFFFFF"/>
                </a:solidFill>
                <a:latin typeface="Malgun Gothic"/>
              </a:rPr>
              <a:t>문제 ①  Silent Precision Collapse — 학습된 ViT 실측</a:t>
            </a:r>
          </a:p>
          <a:p>
            <a:r>
              <a:rPr sz="1100" b="0">
                <a:solidFill>
                  <a:srgbClr val="A9B4CC"/>
                </a:solidFill>
                <a:latin typeface="Malgun Gothic"/>
              </a:rPr>
              <a:t>ViT-B/16, RNGD NPU에서 컴파일·실행 OK(9.5ms) … 그러나</a:t>
            </a:r>
          </a:p>
        </p:txBody>
      </p:sp>
      <p:pic>
        <p:nvPicPr>
          <p:cNvPr id="3" name="Picture 2" descr="col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8503920" cy="38999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52560" y="137160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D3557"/>
                </a:solidFill>
                <a:latin typeface="Malgun Gothic"/>
              </a:rPr>
              <a:t>CPU: 6장 모두 정답, 클래스도 다양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63946"/>
                </a:solidFill>
                <a:latin typeface="Malgun Gothic"/>
              </a:rPr>
              <a:t>NPU: 6장 모두 'window screen' 한 클래스로 붕괴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22222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새·고양이·차·과일·개·사람 — 전혀 다른 입력인데 NPU는 같은 오답.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랜덤 가중치로 검증하면 NPU=CPU로 멀쩡 → '거짓 양성 함정'. 학습 가중치에서만 붕괴.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22222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Malgun Gothic"/>
              </a:rPr>
              <a:t>실리콘 증거: NPU 6.8ms vs CPU 54.4ms (8× 빠름)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→ CPU 폴백 아닌 진짜 온칩 연산(EDF에 CPU 노드 0개).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500" b="1">
                <a:solidFill>
                  <a:srgbClr val="FFFFFF"/>
                </a:solidFill>
                <a:latin typeface="Malgun Gothic"/>
              </a:rPr>
              <a:t>핵심 발견 — 구조가 달라도 '같은' 붕괴</a:t>
            </a:r>
          </a:p>
          <a:p>
            <a:r>
              <a:rPr sz="1100" b="0">
                <a:solidFill>
                  <a:srgbClr val="A9B4CC"/>
                </a:solidFill>
                <a:latin typeface="Malgun Gothic"/>
              </a:rPr>
              <a:t>conv망(CNN)과 트랜스포머(ViT)가 동일한 attractor로 수렴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3444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4023360"/>
                <a:gridCol w="2103120"/>
              </a:tblGrid>
              <a:tr h="731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T="25400" marB="25400" marL="76200" anchor="ctr">
                    <a:solidFill>
                      <a:srgbClr val="101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구조</a:t>
                      </a:r>
                    </a:p>
                  </a:txBody>
                  <a:tcPr marT="25400" marB="25400" marL="76200" anchor="ctr">
                    <a:solidFill>
                      <a:srgbClr val="101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CPU (정답)</a:t>
                      </a:r>
                    </a:p>
                  </a:txBody>
                  <a:tcPr marT="25400" marB="25400" marL="76200" anchor="ctr">
                    <a:solidFill>
                      <a:srgbClr val="101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NPU (붕괴)</a:t>
                      </a:r>
                    </a:p>
                  </a:txBody>
                  <a:tcPr marT="25400" marB="25400" marL="76200" anchor="ctr">
                    <a:solidFill>
                      <a:srgbClr val="1018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"/>
                        </a:rPr>
                        <a:t>MobileNetV2 (CNN)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"/>
                        </a:rPr>
                        <a:t>convolution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"/>
                        </a:rPr>
                        <a:t>Samoyed / Egyptian cat / giant panda …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63946"/>
                          </a:solidFill>
                          <a:latin typeface="Malgun Gothic"/>
                        </a:rPr>
                        <a:t>전부 → window screen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"/>
                        </a:rPr>
                        <a:t>ViT-B/16 (Transformer)</a:t>
                      </a:r>
                    </a:p>
                  </a:txBody>
                  <a:tcPr marT="25400" marB="25400" marL="76200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"/>
                        </a:rPr>
                        <a:t>self-attention</a:t>
                      </a:r>
                    </a:p>
                  </a:txBody>
                  <a:tcPr marT="25400" marB="25400" marL="76200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"/>
                        </a:rPr>
                        <a:t>brambling / convertible / orange …</a:t>
                      </a:r>
                    </a:p>
                  </a:txBody>
                  <a:tcPr marT="25400" marB="25400" marL="76200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63946"/>
                          </a:solidFill>
                          <a:latin typeface="Malgun Gothic"/>
                        </a:rPr>
                        <a:t>전부 → window screen</a:t>
                      </a:r>
                    </a:p>
                  </a:txBody>
                  <a:tcPr marT="25400" marB="25400" marL="76200" anchor="ctr">
                    <a:solidFill>
                      <a:srgbClr val="F2F3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Malgun Gothic"/>
              </a:rPr>
              <a:t>•  완전히 다른 두 구조가 정확히 같은 한 클래스('window screen')로 붕괴한다.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Malgun Gothic"/>
              </a:rPr>
              <a:t>•  → 붕괴는 '모델 구조'의 문제가 아니라 하드웨어 저정밀 경로의 체계적 성질이다.</a:t>
            </a:r>
          </a:p>
          <a:p>
            <a:pPr lvl="1"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algun Gothic"/>
              </a:rPr>
              <a:t>–  만약 무작위 누적 오차였다면 이미지·구조마다 제각각 틀려야 한다. 한 곳으로 쏠린다 = 체계적 편향.</a:t>
            </a:r>
          </a:p>
          <a:p>
            <a:pPr lvl="1"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algun Gothic"/>
              </a:rPr>
              <a:t>–  논문적 가치: 일반성(여러 구조) + 메커니즘(operand cast) 을 동시에 입증하는 강한 증거.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500" b="1">
                <a:solidFill>
                  <a:srgbClr val="FFFFFF"/>
                </a:solidFill>
                <a:latin typeface="Malgun Gothic"/>
              </a:rPr>
              <a:t>왜 그런가 — 메커니즘 + 정직한 미해결점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Malgun Gothic"/>
              </a:rPr>
              <a:t>•  누적기는 범인이 아니다. 손실은 '곱하기 직전 operand를 좁게 깎는 cast'에서 난다.</a:t>
            </a:r>
          </a:p>
          <a:p>
            <a:pPr lvl="1"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algun Gothic"/>
              </a:rPr>
              <a:t>–  Contraction 엔진: 저정밀 operand(i8/bf16) → 넓은 누적기(i8→i32, bf16→f32). 누적기는 안 좁다. (furiosa-opt book 검증)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Malgun Gothic"/>
              </a:rPr>
              <a:t>•  방아쇠 = 학습 가중치의 heavy-tailed(쏠린) 분포.</a:t>
            </a:r>
          </a:p>
          <a:p>
            <a:pPr lvl="1"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algun Gothic"/>
              </a:rPr>
              <a:t>–  큰 값 옆에서 작은 값이 cast로 뭉개진다. 랜덤·정조건 망은 분포가 안정적이라 오차 1e-11로 멀쩡.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Malgun Gothic"/>
              </a:rPr>
              <a:t>•  ⚠️ 정직한 미해결점 (측정으로 확정):</a:t>
            </a:r>
          </a:p>
          <a:p>
            <a:pPr lvl="1"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algun Gothic"/>
              </a:rPr>
              <a:t>–  per-op는 0.23%(누적 안 됨)인데 어떻게 100% 단일클래스 붕괴가 되나? 실제 cast 포맷(bf16/int8/fp8)과 주범(라운딩 vs 클립/오버플로)을 측정으로 확정 → 복구 PoC가 곧 진단(아래 ablation).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500" b="1">
                <a:solidFill>
                  <a:srgbClr val="FFFFFF"/>
                </a:solidFill>
                <a:latin typeface="Malgun Gothic"/>
              </a:rPr>
              <a:t>어디서 '먼저' 깨지나 — 국소화</a:t>
            </a:r>
          </a:p>
          <a:p>
            <a:r>
              <a:rPr sz="1100" b="0">
                <a:solidFill>
                  <a:srgbClr val="A9B4CC"/>
                </a:solidFill>
                <a:latin typeface="Malgun Gothic"/>
              </a:rPr>
              <a:t>학습 ViT-B/16 층별 weight kurtosis (실측)</a:t>
            </a:r>
          </a:p>
        </p:txBody>
      </p:sp>
      <p:pic>
        <p:nvPicPr>
          <p:cNvPr id="3" name="Picture 2" descr="kurt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8503920" cy="3918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52560" y="137160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63946"/>
                </a:solidFill>
                <a:latin typeface="Malgun Gothic"/>
              </a:rPr>
              <a:t>앞단이 취약하다: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algun Gothic"/>
              </a:rPr>
              <a:t>CLS 토큰(k=393), 초기 MLP, patch-embed conv, QKV 가 heavy-tailed.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A9D8F"/>
                </a:solidFill>
                <a:latin typeface="Malgun Gothic"/>
              </a:rPr>
              <a:t>후기 attention 투영은 정상(k≈0).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22222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유력 단서: 분류는 CLS 토큰에서 읽는데, cast가 k=393짜리 CLS를 뭉개면 출력이 한 logit으로 쏠릴 수 있다 → 동일 attractor 설명.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222222"/>
                </a:solidFill>
                <a:latin typeface="Malgun Gothic"/>
              </a:rPr>
              <a:t>kurtosis = 붕괴 예측자(진단 지표).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500" b="1">
                <a:solidFill>
                  <a:srgbClr val="FFFFFF"/>
                </a:solidFill>
                <a:latin typeface="Malgun Gothic"/>
              </a:rPr>
              <a:t>해결방법 — per-channel 스케일 접기 + outlier 클립</a:t>
            </a:r>
          </a:p>
          <a:p>
            <a:r>
              <a:rPr sz="1100" b="0">
                <a:solidFill>
                  <a:srgbClr val="A9B4CC"/>
                </a:solidFill>
                <a:latin typeface="Malgun Gothic"/>
              </a:rPr>
              <a:t>재학습·라벨 없음 · FP32 출력 불변 · 재컴파일 0초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Malgun Gothic"/>
              </a:rPr>
              <a:t>•  레버 1) per-channel 스케일을 인접 affine에 '접기'(equalization).</a:t>
            </a:r>
          </a:p>
          <a:p>
            <a:pPr lvl="1"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–  연속 선형 사이에 대각 S와 S⁻¹를 끼우면 FP32 출력 불변(DFQ/SmoothQuant). ViT 접기 지점: LayerNorm ↔ Linear(QKV·MLP).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Malgun Gothic"/>
              </a:rPr>
              <a:t>•  레버 2) outlier 클립 — heavy tail을 cast 전에 잘라 작은 값이 안 뭉개지게.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33756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91840"/>
                <a:gridCol w="2468880"/>
                <a:gridCol w="237744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cast 포맷 (측정 대상)</a:t>
                      </a:r>
                    </a:p>
                  </a:txBody>
                  <a:tcPr marT="25400" marB="25400" marL="76200" anchor="ctr">
                    <a:solidFill>
                      <a:srgbClr val="101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단순 float 재스케일</a:t>
                      </a:r>
                    </a:p>
                  </a:txBody>
                  <a:tcPr marT="25400" marB="25400" marL="76200" anchor="ctr">
                    <a:solidFill>
                      <a:srgbClr val="101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스케일 접기</a:t>
                      </a:r>
                    </a:p>
                  </a:txBody>
                  <a:tcPr marT="25400" marB="25400" marL="76200" anchor="ctr">
                    <a:solidFill>
                      <a:srgbClr val="101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클립</a:t>
                      </a:r>
                    </a:p>
                  </a:txBody>
                  <a:tcPr marT="25400" marB="25400" marL="76200" anchor="ctr">
                    <a:solidFill>
                      <a:srgbClr val="1018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bf16 (부동소수)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무효 (상대정밀도 스케일 불변)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무효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유효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int8 / fp8 (고정소수)</a:t>
                      </a:r>
                    </a:p>
                  </a:txBody>
                  <a:tcPr marT="25400" marB="25400" marL="76200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T="25400" marB="25400" marL="76200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유효</a:t>
                      </a:r>
                    </a:p>
                  </a:txBody>
                  <a:tcPr marT="25400" marB="25400" marL="76200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유효</a:t>
                      </a:r>
                    </a:p>
                  </a:txBody>
                  <a:tcPr marT="25400" marB="25400" marL="76200" anchor="ctr">
                    <a:solidFill>
                      <a:srgbClr val="F2F3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63946"/>
                </a:solidFill>
                <a:latin typeface="Malgun Gothic"/>
              </a:rPr>
              <a:t>∴ 어느 레버가 듣는지로 cast 포맷·주범을 역추론 → 복구가 곧 메커니즘 ablation.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EDF는 가중치 독립(런타임 입력) → 접은 가중치를 같은 프로그램에 끼워 재컴파일 0초로 sweep.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500" b="1">
                <a:solidFill>
                  <a:srgbClr val="FFFFFF"/>
                </a:solidFill>
                <a:latin typeface="Malgun Gothic"/>
              </a:rPr>
              <a:t>결과 현황 — 무엇이 확정됐고, 무엇이 진행 중인가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3444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766560"/>
                <a:gridCol w="2286000"/>
              </a:tblGrid>
              <a:tr h="4441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 marT="25400" marB="25400" marL="76200" anchor="ctr">
                    <a:solidFill>
                      <a:srgbClr val="101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T="25400" marB="25400" marL="76200" anchor="ctr">
                    <a:solidFill>
                      <a:srgbClr val="101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상태</a:t>
                      </a:r>
                    </a:p>
                  </a:txBody>
                  <a:tcPr marT="25400" marB="25400" marL="76200" anchor="ctr">
                    <a:solidFill>
                      <a:srgbClr val="10182B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Malgun Gothic"/>
                        </a:rPr>
                        <a:t>문제 확정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63946"/>
                          </a:solidFill>
                          <a:latin typeface="Malgun Gothic"/>
                        </a:rPr>
                        <a:t>학습 CNN·ViT가 NPU에서 붕괴, 동일 attractor (실측)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Malgun Gothic"/>
                        </a:rPr>
                        <a:t>✓ 완료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Malgun Gothic"/>
                        </a:rPr>
                        <a:t>진단·국소화</a:t>
                      </a:r>
                    </a:p>
                  </a:txBody>
                  <a:tcPr marT="25400" marB="25400" marL="76200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Malgun Gothic"/>
                        </a:rPr>
                        <a:t>층별 kurtosis → 앞단(CLS·초기 MLP·patch-embed)이 취약</a:t>
                      </a:r>
                    </a:p>
                  </a:txBody>
                  <a:tcPr marT="25400" marB="25400" marL="76200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Malgun Gothic"/>
                        </a:rPr>
                        <a:t>✓ 완료</a:t>
                      </a:r>
                    </a:p>
                  </a:txBody>
                  <a:tcPr marT="25400" marB="25400" marL="76200" anchor="ctr">
                    <a:solidFill>
                      <a:srgbClr val="F2F3F7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Malgun Gothic"/>
                        </a:rPr>
                        <a:t>메커니즘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Malgun Gothic"/>
                        </a:rPr>
                        <a:t>operand cast + heavy-tailed weights, 거짓양성 함정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Malgun Gothic"/>
                        </a:rPr>
                        <a:t>✓ (정량 분해는 측정 예정)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Malgun Gothic"/>
                        </a:rPr>
                        <a:t>해결방법 설계</a:t>
                      </a:r>
                    </a:p>
                  </a:txBody>
                  <a:tcPr marT="25400" marB="25400" marL="76200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Malgun Gothic"/>
                        </a:rPr>
                        <a:t>per-channel 스케일 접기 + 클립, FP32 불변·저비용</a:t>
                      </a:r>
                    </a:p>
                  </a:txBody>
                  <a:tcPr marT="25400" marB="25400" marL="76200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Malgun Gothic"/>
                        </a:rPr>
                        <a:t>✓ 완료</a:t>
                      </a:r>
                    </a:p>
                  </a:txBody>
                  <a:tcPr marT="25400" marB="25400" marL="76200" anchor="ctr">
                    <a:solidFill>
                      <a:srgbClr val="F2F3F7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Malgun Gothic"/>
                        </a:rPr>
                        <a:t>복구 결과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63946"/>
                          </a:solidFill>
                          <a:latin typeface="Malgun Gothic"/>
                        </a:rPr>
                        <a:t>window screen → 정답 회복 + top-1 회복량 + 비용곡선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Malgun Gothic"/>
                        </a:rPr>
                        <a:t>진행 중</a:t>
                      </a:r>
                    </a:p>
                  </a:txBody>
                  <a:tcPr marT="25400" marB="25400" marL="76200" anchor="ctr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Malgun Gothic"/>
                        </a:rPr>
                        <a:t>일반화</a:t>
                      </a:r>
                    </a:p>
                  </a:txBody>
                  <a:tcPr marT="25400" marB="25400" marL="76200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63946"/>
                          </a:solidFill>
                          <a:latin typeface="Malgun Gothic"/>
                        </a:rPr>
                        <a:t>현대 foundation 인코더(DINOv2/SigLIP2) 붕괴·복구</a:t>
                      </a:r>
                    </a:p>
                  </a:txBody>
                  <a:tcPr marT="25400" marB="25400" marL="76200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Malgun Gothic"/>
                        </a:rPr>
                        <a:t>진행 중</a:t>
                      </a:r>
                    </a:p>
                  </a:txBody>
                  <a:tcPr marT="25400" marB="25400" marL="76200" anchor="ctr">
                    <a:solidFill>
                      <a:srgbClr val="F2F3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Malgun Gothic"/>
              </a:rPr>
              <a:t>정직성: '문제·진단·방법'은 실측으로 확정. '복구 결과'는 다음 단계의 핵심 실험(논문 payoff).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500" b="1">
                <a:solidFill>
                  <a:srgbClr val="FFFFFF"/>
                </a:solidFill>
                <a:latin typeface="Malgun Gothic"/>
              </a:rPr>
              <a:t>기여 · 학회 적합성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182B"/>
                </a:solidFill>
                <a:latin typeface="Malgun Gothic"/>
              </a:rPr>
              <a:t>새로움(해자)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algun Gothic"/>
              </a:rPr>
              <a:t>•  실제 닫힌-컴파일러 상용 NPU '실리콘' 측정(남들은 시뮬).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algun Gothic"/>
              </a:rPr>
              <a:t>•  구조 일반성 — CNN·ViT 동일 붕괴.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algun Gothic"/>
              </a:rPr>
              <a:t>•  Silent collapse + 진단 + FP32-불변 복구.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algun Gothic"/>
              </a:rPr>
              <a:t>•  정밀도 손잡이 0인 닫힌 컴파일러라는 미개척 영역.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182B"/>
                </a:solidFill>
                <a:latin typeface="Malgun Gothic"/>
              </a:rPr>
              <a:t>결정권자 직격 (ACCV 2026 체어)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algun Gothic"/>
              </a:rPr>
              <a:t>•  Jiwen Lu — 양자화·efficient ViT·HW 공동설계.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algun Gothic"/>
              </a:rPr>
              <a:t>•  Hyunjung Shim — DGQ '진단 먼저 → 고치기'. 우리 구조와 동일.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222222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형식: 본 트랙 7/5, 이중맹검(벤더 익명: 'a commercial reduced-precision NPU'), 14쪽 LNCS.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500" b="1">
                <a:solidFill>
                  <a:srgbClr val="FFFFFF"/>
                </a:solidFill>
                <a:latin typeface="Malgun Gothic"/>
              </a:rPr>
              <a:t>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Malgun Gothic"/>
              </a:rPr>
              <a:t>•  복구 PoC — 스케일만 / 클립만 / 둘다 sweep → window screen이 정답으로 돌아오나 + 회복 top-1.</a:t>
            </a:r>
          </a:p>
          <a:p>
            <a:pPr lvl="1"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–  (동시에 cast 포맷·주범을 역추론 = 메커니즘 ablation)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Malgun Gothic"/>
              </a:rPr>
              <a:t>•  현대 foundation 인코더로 일반화 — DINOv2 / SigLIP2(고정해상도 forward-only) 붕괴·복구.</a:t>
            </a:r>
          </a:p>
          <a:p>
            <a:pPr lvl="1"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–  (2026급 현재성: 실제 프로덕션 VLM의 '눈'을 측정)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Malgun Gothic"/>
              </a:rPr>
              <a:t>•  정량화 — ImageNet 다수 이미지 top-1 붕괴율/회복량 + 비용 곡선 + 베이스라인 대비.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Malgun Gothic"/>
              </a:rPr>
              <a:t>•  목표 — 진단 → 국소화 → 복구로 완결되는 본 트랙 논문.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